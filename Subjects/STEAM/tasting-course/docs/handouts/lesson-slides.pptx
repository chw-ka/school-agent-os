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 snapToObjects="1">
      <p:cViewPr varScale="1">
        <p:scale>
          <a:sx n="104" d="100"/>
          <a:sy n="104" d="100"/>
        </p:scale>
        <p:origin x="232" y="5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6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349240"/>
            <a:ext cx="12188952" cy="1508760"/>
          </a:xfrm>
          <a:prstGeom prst="rect">
            <a:avLst/>
          </a:prstGeom>
          <a:solidFill>
            <a:srgbClr val="17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0"/>
            <a:ext cx="1145743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200" b="1" i="0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AI x</a:t>
            </a:r>
            <a:r>
              <a:rPr sz="5200" b="1" i="0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 STEAM </a:t>
            </a:r>
            <a:r>
              <a:rPr lang="en-US" sz="5200" b="1" dirty="0" err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體驗</a:t>
            </a:r>
            <a:r>
              <a:rPr sz="5200" b="1" i="0" dirty="0" err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課</a:t>
            </a:r>
            <a:endParaRPr sz="5200" b="1" i="0" dirty="0">
              <a:solidFill>
                <a:srgbClr val="FFFFFF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2697480"/>
            <a:ext cx="1145743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HK" sz="3400" b="1" i="0" dirty="0" err="1">
                <a:solidFill>
                  <a:srgbClr val="BFDBFF"/>
                </a:solidFill>
                <a:latin typeface="微軟正黑體"/>
                <a:ea typeface="微軟正黑體"/>
                <a:cs typeface="微軟正黑體"/>
              </a:rPr>
              <a:t>迦密聖道中學</a:t>
            </a:r>
            <a:endParaRPr sz="3400" b="1" i="0" dirty="0">
              <a:solidFill>
                <a:srgbClr val="BFDBFF"/>
              </a:solidFill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354787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93C5FD"/>
                </a:solidFill>
                <a:latin typeface="微軟正黑體"/>
                <a:ea typeface="微軟正黑體"/>
                <a:cs typeface="微軟正黑體"/>
              </a:rPr>
              <a:t>UIFlow 2.0  ×  Gemini  ×  M5StickS3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760720"/>
            <a:ext cx="114574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93C5FD"/>
                </a:solidFill>
                <a:latin typeface="微軟正黑體"/>
                <a:ea typeface="微軟正黑體"/>
                <a:cs typeface="微軟正黑體"/>
              </a:rPr>
              <a:t>CHW  ·  STEAM 嘗鮮課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今天的學習目標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3727703" cy="4160520"/>
          </a:xfrm>
          <a:prstGeom prst="rect">
            <a:avLst/>
          </a:prstGeom>
          <a:solidFill>
            <a:srgbClr val="1C6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345338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34533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迷你 Emoji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31720"/>
            <a:ext cx="345338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UI 編輯器
畫 Emoji 臉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0624" y="1143000"/>
            <a:ext cx="3727703" cy="41605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67784" y="1261872"/>
            <a:ext cx="345338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7784" y="1691640"/>
            <a:ext cx="34533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積木計分器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7784" y="2331720"/>
            <a:ext cx="345338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Blocks 砌積木
按鈕計分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5488" y="1143000"/>
            <a:ext cx="3727703" cy="4160520"/>
          </a:xfrm>
          <a:prstGeom prst="rect">
            <a:avLst/>
          </a:prstGeom>
          <a:solidFill>
            <a:srgbClr val="7E3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32648" y="1261872"/>
            <a:ext cx="345338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2648" y="1691640"/>
            <a:ext cx="34533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Gemini 反應遊戲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2648" y="2331720"/>
            <a:ext cx="345338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告訴 AI 你的設計
生成遊戲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486400"/>
            <a:ext cx="11457432" cy="868680"/>
          </a:xfrm>
          <a:prstGeom prst="rect">
            <a:avLst/>
          </a:prstGeom>
          <a:solidFill>
            <a:srgbClr val="FFF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5550408"/>
            <a:ext cx="1118311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微軟正黑體"/>
                <a:ea typeface="微軟正黑體"/>
                <a:cs typeface="微軟正黑體"/>
              </a:rPr>
              <a:t>🏆  最佳表現獎：小智 AI 語音助手 — 最出色的同學可帶走 M5StickS3！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今天的主角：M5StickS3</a:t>
            </a:r>
          </a:p>
        </p:txBody>
      </p:sp>
      <p:pic>
        <p:nvPicPr>
          <p:cNvPr id="4" name="Picture 3" descr="WhatsApp Image 2026-06-30 at 01.12.10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200400" cy="40716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977639" y="118872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937"/>
                </a:solidFill>
                <a:latin typeface="微軟正黑體"/>
                <a:ea typeface="微軟正黑體"/>
                <a:cs typeface="微軟正黑體"/>
              </a:rPr>
              <a:t>M5StickS3 是什麼？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828800"/>
            <a:ext cx="7863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</a:pPr>
            <a:r>
              <a:rPr sz="20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🖥️  1.14" 彩色螢幕（135 × 240 像素）</a:t>
            </a:r>
          </a:p>
          <a:p>
            <a:pPr algn="l">
              <a:spcBef>
                <a:spcPts val="900"/>
              </a:spcBef>
            </a:pPr>
            <a:r>
              <a:rPr sz="20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📶  內建 WiFi 及藍牙</a:t>
            </a:r>
          </a:p>
          <a:p>
            <a:pPr algn="l">
              <a:spcBef>
                <a:spcPts val="900"/>
              </a:spcBef>
            </a:pPr>
            <a:r>
              <a:rPr sz="20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🎙️  麥克風 + 喇叭</a:t>
            </a:r>
          </a:p>
          <a:p>
            <a:pPr algn="l">
              <a:spcBef>
                <a:spcPts val="900"/>
              </a:spcBef>
            </a:pPr>
            <a:r>
              <a:rPr sz="20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💡  RGB LED 指示燈</a:t>
            </a:r>
          </a:p>
          <a:p>
            <a:pPr algn="l">
              <a:spcBef>
                <a:spcPts val="900"/>
              </a:spcBef>
            </a:pPr>
            <a:r>
              <a:rPr sz="20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⚡  ESP32-S3 處理器（支援 AI 加速）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977639" y="5212080"/>
            <a:ext cx="7863840" cy="10972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0" y="5303520"/>
            <a:ext cx="7589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🔵 </a:t>
            </a:r>
            <a:r>
              <a:rPr sz="1800" b="0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BtnA</a:t>
            </a:r>
            <a:r>
              <a:rPr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zh-TW" altLang="en-US"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 正面藍色按鈕</a:t>
            </a:r>
            <a:r>
              <a:rPr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）—— </a:t>
            </a:r>
            <a:r>
              <a:rPr sz="1800" b="0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主要操作按鈕</a:t>
            </a:r>
            <a:r>
              <a:rPr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
🔵 </a:t>
            </a:r>
            <a:r>
              <a:rPr sz="1800" b="0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BtnB</a:t>
            </a:r>
            <a:r>
              <a:rPr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zh-TW" altLang="en-US"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 右側鍵 </a:t>
            </a:r>
            <a:r>
              <a:rPr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）—— </a:t>
            </a:r>
            <a:r>
              <a:rPr sz="1800" b="0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次要按鈕</a:t>
            </a:r>
            <a:r>
              <a:rPr sz="1800" b="0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 / </a:t>
            </a:r>
            <a:r>
              <a:rPr sz="1800" b="0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重設</a:t>
            </a:r>
            <a:endParaRPr sz="1800" b="0" i="0" dirty="0">
              <a:solidFill>
                <a:srgbClr val="1C64F2"/>
              </a:solidFill>
              <a:latin typeface="微軟正黑體"/>
              <a:ea typeface="微軟正黑體"/>
              <a:cs typeface="微軟正黑體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6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175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0"/>
            <a:ext cx="114574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377440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BFDBFF"/>
                </a:solidFill>
                <a:latin typeface="微軟正黑體"/>
                <a:ea typeface="微軟正黑體"/>
                <a:cs typeface="微軟正黑體"/>
              </a:rPr>
              <a:t>在螢幕上製作迷你 Emoji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7355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BFDBFF"/>
                </a:solidFill>
                <a:latin typeface="微軟正黑體"/>
                <a:ea typeface="微軟正黑體"/>
                <a:cs typeface="微軟正黑體"/>
              </a:rPr>
              <a:t>學習：連接裝置  ·  UI 編輯器  ·  Run Once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C6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任務一  ·  第一步：連接裝置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①  開啟 Chrome → uiflow2.m5stack.com → 按「Select Your Controller」</a:t>
            </a:r>
          </a:p>
        </p:txBody>
      </p:sp>
      <p:pic>
        <p:nvPicPr>
          <p:cNvPr id="5" name="Picture 4" descr="Screenshot 2026-06-30 at 12.29.16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4023360" cy="1975800"/>
          </a:xfrm>
          <a:prstGeom prst="rect">
            <a:avLst/>
          </a:prstGeom>
        </p:spPr>
      </p:pic>
      <p:pic>
        <p:nvPicPr>
          <p:cNvPr id="6" name="Picture 5" descr="Screenshot 2026-06-30 at 12.29.28 AM.png"/>
          <p:cNvPicPr>
            <a:picLocks noChangeAspect="1"/>
          </p:cNvPicPr>
          <p:nvPr/>
        </p:nvPicPr>
        <p:blipFill rotWithShape="1">
          <a:blip r:embed="rId3"/>
          <a:srcRect l="17838" t="1004" r="25000" b="90696"/>
          <a:stretch/>
        </p:blipFill>
        <p:spPr>
          <a:xfrm>
            <a:off x="4806778" y="1492049"/>
            <a:ext cx="1913640" cy="4389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657600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②  輸入裝置存取碼 → 選 StickS3 → Confirm（如有警告選 Create but don't save）</a:t>
            </a:r>
          </a:p>
        </p:txBody>
      </p:sp>
      <p:pic>
        <p:nvPicPr>
          <p:cNvPr id="8" name="Picture 7" descr="Screenshot 2026-06-30 at 12.29.43 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114800"/>
            <a:ext cx="2560320" cy="776355"/>
          </a:xfrm>
          <a:prstGeom prst="rect">
            <a:avLst/>
          </a:prstGeom>
        </p:spPr>
      </p:pic>
      <p:pic>
        <p:nvPicPr>
          <p:cNvPr id="9" name="Picture 8" descr="Screenshot 2026-06-30 at 12.30.11 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4114800"/>
            <a:ext cx="2560320" cy="2017222"/>
          </a:xfrm>
          <a:prstGeom prst="rect">
            <a:avLst/>
          </a:prstGeom>
        </p:spPr>
      </p:pic>
      <p:pic>
        <p:nvPicPr>
          <p:cNvPr id="10" name="Picture 9" descr="Screenshot 2026-06-30 at 12.30.32 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114800"/>
            <a:ext cx="3200400" cy="1739219"/>
          </a:xfrm>
          <a:prstGeom prst="rect">
            <a:avLst/>
          </a:prstGeom>
        </p:spPr>
      </p:pic>
      <p:pic>
        <p:nvPicPr>
          <p:cNvPr id="11" name="Picture 10" descr="Screenshot 2026-06-30 at 12.30.48 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4114800"/>
            <a:ext cx="2560320" cy="54058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40080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💡  裝置螢幕的「CLOUD」畫面顯示 6 位存取碼</a:t>
            </a:r>
          </a:p>
        </p:txBody>
      </p:sp>
      <p:pic>
        <p:nvPicPr>
          <p:cNvPr id="13" name="Picture 12" descr="WhatsApp Image 2026-06-30 at 01.12.10 (2).jpeg"/>
          <p:cNvPicPr>
            <a:picLocks noChangeAspect="1"/>
          </p:cNvPicPr>
          <p:nvPr/>
        </p:nvPicPr>
        <p:blipFill rotWithShape="1">
          <a:blip r:embed="rId8"/>
          <a:srcRect l="20649" t="37744" r="39892" b="18408"/>
          <a:stretch/>
        </p:blipFill>
        <p:spPr>
          <a:xfrm>
            <a:off x="7138076" y="1481328"/>
            <a:ext cx="1313523" cy="2096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C6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任務一  ·  第二步：用 UI 編輯器畫 Emoji 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③  按右上角鉛筆 ✏️ 開啟 UI 編輯器</a:t>
            </a:r>
          </a:p>
        </p:txBody>
      </p:sp>
      <p:pic>
        <p:nvPicPr>
          <p:cNvPr id="5" name="Picture 4" descr="Screenshot 2026-06-30 at 12.31.03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94960" cy="26891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57316" y="1042416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④  </a:t>
            </a:r>
            <a:r>
              <a:rPr sz="1900" b="1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拖入</a:t>
            </a:r>
            <a:r>
              <a:rPr sz="1900" b="1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 2 </a:t>
            </a:r>
            <a:r>
              <a:rPr sz="1900" b="1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個</a:t>
            </a:r>
            <a:r>
              <a:rPr sz="1900" b="1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 Circle + 1 </a:t>
            </a:r>
            <a:r>
              <a:rPr sz="1900" b="1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條</a:t>
            </a:r>
            <a:r>
              <a:rPr sz="1900" b="1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 Line</a:t>
            </a:r>
          </a:p>
        </p:txBody>
      </p:sp>
      <p:pic>
        <p:nvPicPr>
          <p:cNvPr id="8" name="Picture 7" descr="Screenshot 2026-06-30 at 12.31.40 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518664"/>
            <a:ext cx="5394960" cy="4296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9476" y="4553712"/>
            <a:ext cx="5577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⑤  </a:t>
            </a:r>
            <a:r>
              <a:rPr sz="1900" b="1" i="0" dirty="0" err="1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關閉</a:t>
            </a:r>
            <a:r>
              <a:rPr sz="1900" b="1" i="0" dirty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 → ▶ Run Once</a:t>
            </a:r>
          </a:p>
        </p:txBody>
      </p:sp>
      <p:pic>
        <p:nvPicPr>
          <p:cNvPr id="11" name="Picture 10" descr="Screenshot 2026-06-30 at 12.47.53 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" y="5140189"/>
            <a:ext cx="2194560" cy="69368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C6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任務一完成！✅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114574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裝置螢幕顯示你畫的 Emoji 臉！</a:t>
            </a:r>
          </a:p>
        </p:txBody>
      </p:sp>
      <p:pic>
        <p:nvPicPr>
          <p:cNvPr id="5" name="Picture 4" descr="WhatsApp Image 2026-06-30 at 01.12.10 (1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1691640"/>
            <a:ext cx="3291840" cy="4187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879632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🎉  做得好！你已成功連接裝置並製作了第一個 UI 介面！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7A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04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0"/>
            <a:ext cx="114574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377440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A7F3D0"/>
                </a:solidFill>
                <a:latin typeface="微軟正黑體"/>
                <a:ea typeface="微軟正黑體"/>
                <a:cs typeface="微軟正黑體"/>
              </a:rPr>
              <a:t>用積木製作計分器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7355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A7F3D0"/>
                </a:solidFill>
                <a:latin typeface="微軟正黑體"/>
                <a:ea typeface="微軟正黑體"/>
                <a:cs typeface="微軟正黑體"/>
              </a:rPr>
              <a:t>學習：變數  ·  事件積木  ·  按鈕控制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任務二  ·  第一步：在 UI 編輯器加入元件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</a:pPr>
            <a:r>
              <a:rPr sz="19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① 確認已選取「Blocks」積木模式</a:t>
            </a:r>
          </a:p>
          <a:p>
            <a:pPr algn="l">
              <a:spcBef>
                <a:spcPts val="500"/>
              </a:spcBef>
            </a:pPr>
            <a:r>
              <a:rPr sz="19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② 按鉛筆 ✏️ 開啟 UI 編輯器</a:t>
            </a:r>
          </a:p>
          <a:p>
            <a:pPr algn="l">
              <a:spcBef>
                <a:spcPts val="500"/>
              </a:spcBef>
            </a:pPr>
            <a:endParaRPr sz="1900">
              <a:solidFill>
                <a:srgbClr val="374151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spcBef>
                <a:spcPts val="500"/>
              </a:spcBef>
            </a:pPr>
            <a:r>
              <a:rPr sz="19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    • 選「Title」→ 拖到頂部</a:t>
            </a:r>
          </a:p>
          <a:p>
            <a:pPr algn="l">
              <a:spcBef>
                <a:spcPts val="500"/>
              </a:spcBef>
            </a:pPr>
            <a:r>
              <a:rPr sz="19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         在右側屬性欄改文字為「Counter」</a:t>
            </a:r>
          </a:p>
          <a:p>
            <a:pPr algn="l">
              <a:spcBef>
                <a:spcPts val="500"/>
              </a:spcBef>
            </a:pPr>
            <a:endParaRPr sz="1900">
              <a:solidFill>
                <a:srgbClr val="374151"/>
              </a:solidFill>
              <a:latin typeface="微軟正黑體"/>
              <a:ea typeface="微軟正黑體"/>
              <a:cs typeface="微軟正黑體"/>
            </a:endParaRPr>
          </a:p>
          <a:p>
            <a:pPr algn="l">
              <a:spcBef>
                <a:spcPts val="500"/>
              </a:spcBef>
            </a:pPr>
            <a:r>
              <a:rPr sz="19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    • 選「Label」→ 拖到中央</a:t>
            </a:r>
          </a:p>
          <a:p>
            <a:pPr algn="l">
              <a:spcBef>
                <a:spcPts val="500"/>
              </a:spcBef>
            </a:pPr>
            <a:r>
              <a:rPr sz="19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         在右側屬性欄改名稱為「count」</a:t>
            </a:r>
          </a:p>
        </p:txBody>
      </p:sp>
      <p:pic>
        <p:nvPicPr>
          <p:cNvPr id="5" name="Picture 4" descr="Screenshot 2026-06-30 at 12.36.32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87552"/>
            <a:ext cx="6217920" cy="31262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任務二  ·  第二步：建立變數並砌積木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57A55"/>
                </a:solidFill>
                <a:latin typeface="微軟正黑體"/>
                <a:ea typeface="微軟正黑體"/>
                <a:cs typeface="微軟正黑體"/>
              </a:rPr>
              <a:t>③  Variables → Create a Variable → 輸入「c」→ OK</a:t>
            </a:r>
          </a:p>
        </p:txBody>
      </p:sp>
      <p:pic>
        <p:nvPicPr>
          <p:cNvPr id="5" name="Picture 4" descr="Screenshot 2026-06-30 at 12.39.34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3200400" cy="12183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4278719"/>
            <a:ext cx="523185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>
                <a:solidFill>
                  <a:srgbClr val="057A55"/>
                </a:solidFill>
                <a:latin typeface="微軟正黑體"/>
                <a:ea typeface="微軟正黑體"/>
                <a:cs typeface="微軟正黑體"/>
              </a:rPr>
              <a:t>④  </a:t>
            </a:r>
            <a:r>
              <a:rPr sz="1900" b="1" i="0" dirty="0" err="1">
                <a:solidFill>
                  <a:srgbClr val="057A55"/>
                </a:solidFill>
                <a:latin typeface="微軟正黑體"/>
                <a:ea typeface="微軟正黑體"/>
                <a:cs typeface="微軟正黑體"/>
              </a:rPr>
              <a:t>按以下方式砌積木</a:t>
            </a:r>
            <a:r>
              <a:rPr sz="1900" b="1" i="0" dirty="0">
                <a:solidFill>
                  <a:srgbClr val="057A55"/>
                </a:solidFill>
                <a:latin typeface="微軟正黑體"/>
                <a:ea typeface="微軟正黑體"/>
                <a:cs typeface="微軟正黑體"/>
              </a:rPr>
              <a:t>：</a:t>
            </a:r>
          </a:p>
        </p:txBody>
      </p:sp>
      <p:pic>
        <p:nvPicPr>
          <p:cNvPr id="7" name="Picture 6" descr="Screenshot 2026-06-30 at 12.43.25 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8714" y="1181161"/>
            <a:ext cx="2033922" cy="37824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212080"/>
            <a:ext cx="11457432" cy="141732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28523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【Setup】  set c to 0   →   Set count text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68756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【BtnA clicked】  change c by 1   →   Set count text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8990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【BtnB clicked】  set c to 0   →   Set count text 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任務二完成！✅  按 ▶ Run Once 後測試：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43000"/>
            <a:ext cx="5486400" cy="2057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👉  按 BtnA（橙色側鍵）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→  數字每次上升 +1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143000"/>
            <a:ext cx="5486400" cy="20574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28016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👉  按 BtnB（正面按鈕）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74519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57A55"/>
                </a:solidFill>
                <a:latin typeface="微軟正黑體"/>
                <a:ea typeface="微軟正黑體"/>
                <a:cs typeface="微軟正黑體"/>
              </a:rPr>
              <a:t>→  數字立即歸零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💡  如果數字沒變化，檢查積木的 Set count text 是否正確連接。</a:t>
            </a:r>
          </a:p>
        </p:txBody>
      </p:sp>
      <p:pic>
        <p:nvPicPr>
          <p:cNvPr id="11" name="Picture 10" descr="Screenshot 2026-06-30 at 12.47.53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476" y="3840480"/>
            <a:ext cx="2286000" cy="7225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80076" y="576072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按 ▶ Run Once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E3A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188720"/>
            <a:ext cx="114574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377440"/>
            <a:ext cx="114574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8B4FE"/>
                </a:solidFill>
                <a:latin typeface="微軟正黑體"/>
                <a:ea typeface="微軟正黑體"/>
                <a:cs typeface="微軟正黑體"/>
              </a:rPr>
              <a:t>用 Gemini 製作考反應遊戲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7355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D8B4FE"/>
                </a:solidFill>
                <a:latin typeface="微軟正黑體"/>
                <a:ea typeface="微軟正黑體"/>
                <a:cs typeface="微軟正黑體"/>
              </a:rPr>
              <a:t>學習：Python 模式  ·  設計遊戲邏輯  ·  AI Vibe Coding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7E3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任務三  ·  第一步：切換至 Python 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①  按上方模式選擇器，切換至「&lt;/&gt; Python」</a:t>
            </a:r>
          </a:p>
        </p:txBody>
      </p:sp>
      <p:pic>
        <p:nvPicPr>
          <p:cNvPr id="5" name="Picture 4" descr="Screenshot 2026-06-30 at 12.47.19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1328"/>
            <a:ext cx="3749039" cy="490427"/>
          </a:xfrm>
          <a:prstGeom prst="rect">
            <a:avLst/>
          </a:prstGeom>
        </p:spPr>
      </p:pic>
      <p:pic>
        <p:nvPicPr>
          <p:cNvPr id="6" name="Picture 5" descr="Screenshot 2026-06-30 at 12.47.25 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481328"/>
            <a:ext cx="3749039" cy="4809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566160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②  右上角切換鈕調為「Custom Edit」（才可貼入程式碼）</a:t>
            </a:r>
          </a:p>
        </p:txBody>
      </p:sp>
      <p:pic>
        <p:nvPicPr>
          <p:cNvPr id="8" name="Picture 7" descr="Screenshot 2026-06-30 at 12.47.30 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041648"/>
            <a:ext cx="3108960" cy="1083858"/>
          </a:xfrm>
          <a:prstGeom prst="rect">
            <a:avLst/>
          </a:prstGeom>
        </p:spPr>
      </p:pic>
      <p:pic>
        <p:nvPicPr>
          <p:cNvPr id="9" name="Picture 8" descr="Screenshot 2026-06-30 at 12.47.34 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4041648"/>
            <a:ext cx="3108960" cy="1036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59612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Read Mode（不可編輯）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59612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Custom Edit ✅（可貼程式碼）</a:t>
            </a:r>
          </a:p>
        </p:txBody>
      </p:sp>
      <p:pic>
        <p:nvPicPr>
          <p:cNvPr id="12" name="Picture 11" descr="Screenshot 2026-06-30 at 12.47.48 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1417320"/>
            <a:ext cx="5029200" cy="578544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49440" y="512064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Python 編輯器（Custom Edit 已開啟）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7E3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任務三  ·  第二步：先設計遊戲畫面！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告訴 Gemini 前，先填好下表：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36192"/>
            <a:ext cx="1042415" cy="603503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609344"/>
            <a:ext cx="960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畫面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536192"/>
            <a:ext cx="2734056" cy="603503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60934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螢幕顯示什麼？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4526280" y="1536192"/>
            <a:ext cx="3008376" cy="603503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29260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64F2"/>
                </a:solidFill>
                <a:latin typeface="微軟正黑體"/>
                <a:ea typeface="微軟正黑體"/>
                <a:cs typeface="微軟正黑體"/>
              </a:rPr>
              <a:t>接下來怎樣？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94560"/>
            <a:ext cx="1042415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00200" y="2194560"/>
            <a:ext cx="2734056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26280" y="2194560"/>
            <a:ext cx="3008376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1480" y="2322576"/>
            <a:ext cx="1005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① 開始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52928"/>
            <a:ext cx="1042415" cy="6035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600200" y="2852928"/>
            <a:ext cx="2734056" cy="6035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26280" y="2852928"/>
            <a:ext cx="3008376" cy="6035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980944"/>
            <a:ext cx="1005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② 等待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511296"/>
            <a:ext cx="1042415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00200" y="3511296"/>
            <a:ext cx="2734056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26280" y="3511296"/>
            <a:ext cx="3008376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3639312"/>
            <a:ext cx="1005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③ GO！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169663"/>
            <a:ext cx="1042415" cy="6035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600200" y="4169663"/>
            <a:ext cx="2734056" cy="6035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26280" y="4169663"/>
            <a:ext cx="3008376" cy="60350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4297679"/>
            <a:ext cx="1005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④ 結果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28031"/>
            <a:ext cx="1042415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600200" y="4828031"/>
            <a:ext cx="2734056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26280" y="4828031"/>
            <a:ext cx="3008376" cy="603503"/>
          </a:xfrm>
          <a:prstGeom prst="rect">
            <a:avLst/>
          </a:prstGeom>
          <a:solidFill>
            <a:srgbClr val="F8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4956047"/>
            <a:ext cx="1005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⑤ 太早了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60920" y="1024128"/>
            <a:ext cx="4590288" cy="5623560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79" y="1078992"/>
            <a:ext cx="43159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24009"/>
                </a:solidFill>
                <a:latin typeface="微軟正黑體"/>
                <a:ea typeface="微軟正黑體"/>
                <a:cs typeface="微軟正黑體"/>
              </a:rPr>
              <a:t>📋  5 句話公式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1536192"/>
            <a:ext cx="4361688" cy="8138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43800" y="1591056"/>
            <a:ext cx="4178808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① M5StickS3 + UIFlow 2.0
    MicroPython 寫___遊戲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52360" y="2423160"/>
            <a:ext cx="4361688" cy="8138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543800" y="2478024"/>
            <a:ext cx="4178808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② 開始畫面：顯示___，
    按 BtnA 進入等待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60" y="3310128"/>
            <a:ext cx="4361688" cy="8138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43800" y="3364991"/>
            <a:ext cx="4178808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③ 等待___秒，LED 閃，
    螢幕顯示___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52360" y="4197096"/>
            <a:ext cx="4361688" cy="8138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43800" y="4251960"/>
            <a:ext cx="4178808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④ 按 BtnA 記錄毫秒，
    螢幕顯示反應時間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52360" y="5084064"/>
            <a:ext cx="4361688" cy="8138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543800" y="5138928"/>
            <a:ext cx="4178808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⑤ 等待時按 BtnA 顯示___，
    BtnB 重設遊戲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7E3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任務三  ·  第三步：告訴 Gemini + 貼上執行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24128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③  前往 gemini.google.com → 按麥克風 → 用 5 句話說出設計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7315200" cy="239572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600200"/>
            <a:ext cx="7040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🎙️  語音提示範例：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29968"/>
            <a:ext cx="6949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「用 UIFlow 2.0 MicroPython 為 M5StickS3 寫考反應遊戲。請參考 API：https://docs.m5stack.com/en/uiflow2。開始顯示『按 A 開始』，按 BtnA 後隨機等 1–3 秒，LED 閃顯示『NOW！』，按 BtnA 記反應時間（毫秒）並顯示。等待時按下顯示『太早了！』；BtnB 重設。」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005072"/>
            <a:ext cx="114574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④  複製全部程式碼 → 貼入 UIFlow 2.0 Python 編輯器 → 按「▶ Run Once」</a:t>
            </a:r>
          </a:p>
        </p:txBody>
      </p:sp>
      <p:pic>
        <p:nvPicPr>
          <p:cNvPr id="9" name="Picture 8" descr="Screenshot 2026-06-30 at 12.47.48 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480560"/>
            <a:ext cx="5120640" cy="5890633"/>
          </a:xfrm>
          <a:prstGeom prst="rect">
            <a:avLst/>
          </a:prstGeom>
        </p:spPr>
      </p:pic>
      <p:pic>
        <p:nvPicPr>
          <p:cNvPr id="10" name="Picture 9" descr="Screenshot 2026-06-30 at 12.47.53 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4480560"/>
            <a:ext cx="2194560" cy="69368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💡  有錯誤？複製錯誤訊息後告訴 Gemini：「我遇到這個錯誤：[訊息]，請修復。」</a:t>
            </a:r>
          </a:p>
        </p:txBody>
      </p:sp>
      <p:pic>
        <p:nvPicPr>
          <p:cNvPr id="12" name="Picture 11" descr="Screenshot 2026-06-30 at 9.42.07 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1463040"/>
            <a:ext cx="4160520" cy="248333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7E3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任務三完成！✅  遊戲畫面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裝置螢幕依次出現：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024128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7E3AF2"/>
                </a:solidFill>
                <a:latin typeface="微軟正黑體"/>
                <a:ea typeface="微軟正黑體"/>
                <a:cs typeface="微軟正黑體"/>
              </a:rPr>
              <a:t>🎮  試玩！看看誰的反應最快！</a:t>
            </a:r>
          </a:p>
        </p:txBody>
      </p:sp>
      <p:pic>
        <p:nvPicPr>
          <p:cNvPr id="6" name="Picture 5" descr="WhatsApp Image 2026-06-30 at 01.12.09 (3)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2331720" cy="39146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892040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準備中
READY</a:t>
            </a:r>
          </a:p>
        </p:txBody>
      </p:sp>
      <p:pic>
        <p:nvPicPr>
          <p:cNvPr id="8" name="Picture 7" descr="WhatsApp Image 2026-06-30 at 01.12.07 (2)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7664" y="1600200"/>
            <a:ext cx="2331720" cy="38358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07664" y="4892040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等待信號
WAIT FOR IT..</a:t>
            </a:r>
          </a:p>
        </p:txBody>
      </p:sp>
      <p:pic>
        <p:nvPicPr>
          <p:cNvPr id="10" name="Picture 9" descr="WhatsApp Image 2026-06-30 at 01.12.07 (3)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9568" y="1600200"/>
            <a:ext cx="2331720" cy="38733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9568" y="4892040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立即按！
PRESS!!!</a:t>
            </a:r>
          </a:p>
        </p:txBody>
      </p:sp>
      <p:pic>
        <p:nvPicPr>
          <p:cNvPr id="12" name="Picture 11" descr="WhatsApp Image 2026-06-30 at 01.12.07 (5)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1472" y="1600200"/>
            <a:ext cx="2331720" cy="38441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91472" y="4892040"/>
            <a:ext cx="2331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成功！
SUCCESS!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🏆  最佳表現獎：小智 AI 語音助手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114574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表現最出色的同學可帶走 M5StickS3，回家安裝小智！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5029200" cy="416052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891B2"/>
                </a:solidFill>
                <a:latin typeface="微軟正黑體"/>
                <a:ea typeface="微軟正黑體"/>
                <a:cs typeface="微軟正黑體"/>
              </a:rPr>
              <a:t>小智（Xiaozhi）是什麼？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12848"/>
            <a:ext cx="475488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</a:pPr>
            <a:r>
              <a:rPr sz="18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🤖  AI 語音助手，安裝在 M5StickS3</a:t>
            </a:r>
          </a:p>
          <a:p>
            <a:pPr algn="l">
              <a:spcBef>
                <a:spcPts val="900"/>
              </a:spcBef>
            </a:pPr>
            <a:r>
              <a:rPr sz="18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🎙️  說「你好，小智」即可對話</a:t>
            </a:r>
          </a:p>
          <a:p>
            <a:pPr algn="l">
              <a:spcBef>
                <a:spcPts val="900"/>
              </a:spcBef>
            </a:pPr>
            <a:r>
              <a:rPr sz="18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🌐  連接雲端 AI（小智 Lite 模型）</a:t>
            </a:r>
          </a:p>
          <a:p>
            <a:pPr algn="l">
              <a:spcBef>
                <a:spcPts val="900"/>
              </a:spcBef>
            </a:pPr>
            <a:r>
              <a:rPr sz="18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📱  透過 xiaozhi.me 綁定及管理</a:t>
            </a:r>
          </a:p>
          <a:p>
            <a:pPr algn="l">
              <a:spcBef>
                <a:spcPts val="900"/>
              </a:spcBef>
            </a:pPr>
            <a:r>
              <a:rPr sz="1800">
                <a:solidFill>
                  <a:srgbClr val="374151"/>
                </a:solidFill>
                <a:latin typeface="微軟正黑體"/>
                <a:ea typeface="微軟正黑體"/>
                <a:cs typeface="微軟正黑體"/>
              </a:rPr>
              <a:t>💬  支援廣東話 / 普通話</a:t>
            </a:r>
          </a:p>
        </p:txBody>
      </p:sp>
      <p:pic>
        <p:nvPicPr>
          <p:cNvPr id="8" name="Picture 7" descr="WhatsApp Image 2026-06-30 at 09.46.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72768"/>
            <a:ext cx="2468880" cy="43852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5166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待機畫面：「待命」</a:t>
            </a:r>
          </a:p>
        </p:txBody>
      </p:sp>
      <p:pic>
        <p:nvPicPr>
          <p:cNvPr id="10" name="Picture 9" descr="Screenshot 2026-06-30 at 9.44.38 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72768"/>
            <a:ext cx="3977639" cy="20790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01000" y="5166360"/>
            <a:ext cx="39776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微軟正黑體"/>
                <a:ea typeface="微軟正黑體"/>
                <a:cs typeface="微軟正黑體"/>
              </a:rPr>
              <a:t>xiaozhi.me 控制台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833872"/>
            <a:ext cx="11457432" cy="777240"/>
          </a:xfrm>
          <a:prstGeom prst="rect">
            <a:avLst/>
          </a:prstGeom>
          <a:solidFill>
            <a:srgbClr val="FFF7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5916168"/>
            <a:ext cx="1118311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微軟正黑體"/>
                <a:ea typeface="微軟正黑體"/>
                <a:cs typeface="微軟正黑體"/>
              </a:rPr>
              <a:t>📄  設定指引：xiaozhi-setup.docx（帶走 M5StickS3 的同學會獲贈）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696</Words>
  <Application>Microsoft Macintosh PowerPoint</Application>
  <PresentationFormat>Custom</PresentationFormat>
  <Paragraphs>111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微軟正黑體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KA</cp:lastModifiedBy>
  <cp:revision>2</cp:revision>
  <dcterms:created xsi:type="dcterms:W3CDTF">2013-01-27T09:14:16Z</dcterms:created>
  <dcterms:modified xsi:type="dcterms:W3CDTF">2026-06-30T03:56:05Z</dcterms:modified>
  <cp:category/>
</cp:coreProperties>
</file>