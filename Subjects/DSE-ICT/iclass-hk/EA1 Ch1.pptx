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6" r:id="rId2"/>
    <p:sldId id="263" r:id="rId3"/>
    <p:sldId id="280" r:id="rId4"/>
    <p:sldId id="279" r:id="rId5"/>
    <p:sldId id="283" r:id="rId6"/>
    <p:sldId id="284" r:id="rId7"/>
    <p:sldId id="285" r:id="rId8"/>
    <p:sldId id="286" r:id="rId9"/>
    <p:sldId id="287" r:id="rId10"/>
    <p:sldId id="289" r:id="rId11"/>
    <p:sldId id="290" r:id="rId12"/>
    <p:sldId id="291" r:id="rId13"/>
    <p:sldId id="292" r:id="rId14"/>
    <p:sldId id="293" r:id="rId15"/>
    <p:sldId id="294" r:id="rId16"/>
    <p:sldId id="295" r:id="rId17"/>
    <p:sldId id="288"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13" r:id="rId31"/>
    <p:sldId id="282" r:id="rId32"/>
    <p:sldId id="308" r:id="rId33"/>
    <p:sldId id="309" r:id="rId34"/>
    <p:sldId id="310" r:id="rId35"/>
    <p:sldId id="311" r:id="rId36"/>
    <p:sldId id="31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5DA8"/>
    <a:srgbClr val="FFFFFF"/>
    <a:srgbClr val="3B7CC0"/>
    <a:srgbClr val="4F4EA1"/>
    <a:srgbClr val="37A3D4"/>
    <a:srgbClr val="C6993D"/>
    <a:srgbClr val="7570B3"/>
    <a:srgbClr val="84AD40"/>
    <a:srgbClr val="D838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5" d="100"/>
          <a:sy n="65" d="100"/>
        </p:scale>
        <p:origin x="1446" y="78"/>
      </p:cViewPr>
      <p:guideLst/>
    </p:cSldViewPr>
  </p:slideViewPr>
  <p:notesTextViewPr>
    <p:cViewPr>
      <p:scale>
        <a:sx n="3" d="2"/>
        <a:sy n="3" d="2"/>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97C56F-506D-1CBF-DAEA-5491D0196718}"/>
              </a:ext>
            </a:extLst>
          </p:cNvPr>
          <p:cNvPicPr>
            <a:picLocks noChangeAspect="1"/>
          </p:cNvPicPr>
          <p:nvPr/>
        </p:nvPicPr>
        <p:blipFill>
          <a:blip r:embed="rId2"/>
          <a:stretch>
            <a:fillRect/>
          </a:stretch>
        </p:blipFill>
        <p:spPr>
          <a:xfrm>
            <a:off x="4880448" y="2853016"/>
            <a:ext cx="3145542" cy="505969"/>
          </a:xfrm>
          <a:prstGeom prst="rect">
            <a:avLst/>
          </a:prstGeom>
        </p:spPr>
      </p:pic>
      <p:pic>
        <p:nvPicPr>
          <p:cNvPr id="5" name="Picture 4">
            <a:extLst>
              <a:ext uri="{FF2B5EF4-FFF2-40B4-BE49-F238E27FC236}">
                <a16:creationId xmlns:a16="http://schemas.microsoft.com/office/drawing/2014/main" id="{9D8FD09F-D8A1-E336-3B87-044CB68F4B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id="{069BCDB6-856A-6319-8C9A-5031698A31C3}"/>
              </a:ext>
            </a:extLst>
          </p:cNvPr>
          <p:cNvPicPr>
            <a:picLocks noChangeAspect="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32BE4C03-EDAE-8A34-CB24-BDAA03524E5E}"/>
              </a:ext>
            </a:extLst>
          </p:cNvPr>
          <p:cNvPicPr>
            <a:picLocks noChangeAspect="1"/>
          </p:cNvPicPr>
          <p:nvPr/>
        </p:nvPicPr>
        <p:blipFill>
          <a:blip r:embed="rId2"/>
          <a:stretch>
            <a:fillRect/>
          </a:stretch>
        </p:blipFill>
        <p:spPr>
          <a:xfrm>
            <a:off x="4880448" y="2853016"/>
            <a:ext cx="4093472" cy="505969"/>
          </a:xfrm>
          <a:prstGeom prst="rect">
            <a:avLst/>
          </a:prstGeom>
        </p:spPr>
      </p:pic>
      <p:pic>
        <p:nvPicPr>
          <p:cNvPr id="8" name="Picture 7">
            <a:extLst>
              <a:ext uri="{FF2B5EF4-FFF2-40B4-BE49-F238E27FC236}">
                <a16:creationId xmlns:a16="http://schemas.microsoft.com/office/drawing/2014/main" id="{E2DAD781-428A-67D8-7C55-666DFF21CBBC}"/>
              </a:ext>
            </a:extLst>
          </p:cNvPr>
          <p:cNvPicPr>
            <a:picLocks noChangeAspect="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736497C4-9FC9-151F-62D2-FB395805F0B0}"/>
              </a:ext>
            </a:extLst>
          </p:cNvPr>
          <p:cNvPicPr>
            <a:picLocks noChangeAspect="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8" name="Picture 7">
            <a:extLst>
              <a:ext uri="{FF2B5EF4-FFF2-40B4-BE49-F238E27FC236}">
                <a16:creationId xmlns:a16="http://schemas.microsoft.com/office/drawing/2014/main" id="{217E881E-670F-B298-11FD-7D2AE51F6D8C}"/>
              </a:ext>
            </a:extLst>
          </p:cNvPr>
          <p:cNvPicPr>
            <a:picLocks noChangeAspect="1"/>
          </p:cNvPicPr>
          <p:nvPr/>
        </p:nvPicPr>
        <p:blipFill>
          <a:blip r:embed="rId2"/>
          <a:stretch>
            <a:fillRect/>
          </a:stretch>
        </p:blipFill>
        <p:spPr>
          <a:xfrm>
            <a:off x="0" y="1898909"/>
            <a:ext cx="4744800" cy="4744800"/>
          </a:xfrm>
          <a:prstGeom prst="rect">
            <a:avLst/>
          </a:prstGeom>
        </p:spPr>
      </p:pic>
      <p:pic>
        <p:nvPicPr>
          <p:cNvPr id="18" name="Picture 17">
            <a:extLst>
              <a:ext uri="{FF2B5EF4-FFF2-40B4-BE49-F238E27FC236}">
                <a16:creationId xmlns:a16="http://schemas.microsoft.com/office/drawing/2014/main" id="{097C5F1C-1E54-2755-BD09-8B53BEC6CE1A}"/>
              </a:ext>
            </a:extLst>
          </p:cNvPr>
          <p:cNvPicPr>
            <a:picLocks noChangeAspect="1"/>
          </p:cNvPicPr>
          <p:nvPr/>
        </p:nvPicPr>
        <p:blipFill>
          <a:blip r:embed="rId3"/>
          <a:stretch>
            <a:fillRect/>
          </a:stretch>
        </p:blipFill>
        <p:spPr>
          <a:xfrm>
            <a:off x="4880448" y="2853016"/>
            <a:ext cx="3642367" cy="505969"/>
          </a:xfrm>
          <a:prstGeom prst="rect">
            <a:avLst/>
          </a:prstGeom>
        </p:spPr>
      </p:pic>
      <p:pic>
        <p:nvPicPr>
          <p:cNvPr id="16" name="Picture 15">
            <a:extLst>
              <a:ext uri="{FF2B5EF4-FFF2-40B4-BE49-F238E27FC236}">
                <a16:creationId xmlns:a16="http://schemas.microsoft.com/office/drawing/2014/main" id="{A97AA30C-B131-11B2-D159-FECF538D59B6}"/>
              </a:ext>
            </a:extLst>
          </p:cNvPr>
          <p:cNvPicPr>
            <a:picLocks noChangeAspect="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0B2444-920A-39A5-579B-B54FCADA5674}"/>
              </a:ext>
            </a:extLst>
          </p:cNvPr>
          <p:cNvPicPr>
            <a:picLocks noChangeAspect="1"/>
          </p:cNvPicPr>
          <p:nvPr/>
        </p:nvPicPr>
        <p:blipFill>
          <a:blip r:embed="rId2"/>
          <a:stretch>
            <a:fillRect/>
          </a:stretch>
        </p:blipFill>
        <p:spPr>
          <a:xfrm>
            <a:off x="4880448" y="2853016"/>
            <a:ext cx="5117602" cy="505969"/>
          </a:xfrm>
          <a:prstGeom prst="rect">
            <a:avLst/>
          </a:prstGeom>
        </p:spPr>
      </p:pic>
      <p:pic>
        <p:nvPicPr>
          <p:cNvPr id="5" name="Picture 4">
            <a:extLst>
              <a:ext uri="{FF2B5EF4-FFF2-40B4-BE49-F238E27FC236}">
                <a16:creationId xmlns:a16="http://schemas.microsoft.com/office/drawing/2014/main" id="{07506DF5-D585-C85A-7378-578CF95524AA}"/>
              </a:ext>
            </a:extLst>
          </p:cNvPr>
          <p:cNvPicPr>
            <a:picLocks noChangeAspect="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F6743423-DF9F-5DF4-442D-BF34F62A7AC6}"/>
              </a:ext>
            </a:extLst>
          </p:cNvPr>
          <p:cNvPicPr>
            <a:picLocks noChangeAspect="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B161E0BB-AC62-05F4-05B8-418A002D64E0}"/>
              </a:ext>
            </a:extLst>
          </p:cNvPr>
          <p:cNvPicPr>
            <a:picLocks noChangeAspect="1"/>
          </p:cNvPicPr>
          <p:nvPr/>
        </p:nvPicPr>
        <p:blipFill>
          <a:blip r:embed="rId2"/>
          <a:stretch>
            <a:fillRect/>
          </a:stretch>
        </p:blipFill>
        <p:spPr>
          <a:xfrm>
            <a:off x="4880448" y="2853016"/>
            <a:ext cx="2660909" cy="505969"/>
          </a:xfrm>
          <a:prstGeom prst="rect">
            <a:avLst/>
          </a:prstGeom>
        </p:spPr>
      </p:pic>
      <p:pic>
        <p:nvPicPr>
          <p:cNvPr id="8" name="Picture 7">
            <a:extLst>
              <a:ext uri="{FF2B5EF4-FFF2-40B4-BE49-F238E27FC236}">
                <a16:creationId xmlns:a16="http://schemas.microsoft.com/office/drawing/2014/main" id="{3CC61186-C2CB-33BF-880D-468C0FE8B484}"/>
              </a:ext>
            </a:extLst>
          </p:cNvPr>
          <p:cNvPicPr>
            <a:picLocks noChangeAspect="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0390D0C5-32B0-F4A3-8473-6945918A77E3}"/>
              </a:ext>
            </a:extLst>
          </p:cNvPr>
          <p:cNvPicPr>
            <a:picLocks noChangeAspect="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amp;C_orange-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C0BD9D-B8ED-5511-960F-8CA63E3A33D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383162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amp;C_blu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117F345-65C2-2CD1-DC0D-64AC50F134C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428324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A&amp;C_gree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11348A-7A65-4D63-9999-43FC28C9E5E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2452894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red-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6142E-F691-EA8F-3DCD-7E4A78F2E4F1}"/>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373773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cya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C15972-37F2-DAE7-8C10-98E52C044C25}"/>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620414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8/24/2022</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43E5F49B-381C-E3BB-6C95-D82DA7176FED}"/>
              </a:ext>
            </a:extLst>
          </p:cNvPr>
          <p:cNvSpPr>
            <a:spLocks noGrp="1"/>
          </p:cNvSpPr>
          <p:nvPr>
            <p:ph type="body" sz="quarter" idx="13"/>
          </p:nvPr>
        </p:nvSpPr>
        <p:spPr>
          <a:xfrm>
            <a:off x="838200" y="1609200"/>
            <a:ext cx="10515600" cy="469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Snip Diagonal Corner Rectangle 3">
            <a:extLst>
              <a:ext uri="{FF2B5EF4-FFF2-40B4-BE49-F238E27FC236}">
                <a16:creationId xmlns:a16="http://schemas.microsoft.com/office/drawing/2014/main" id="{0E087661-DCFF-A520-8695-3EFF510FB9F8}"/>
              </a:ext>
            </a:extLst>
          </p:cNvPr>
          <p:cNvSpPr>
            <a:spLocks noChangeAspect="1"/>
          </p:cNvSpPr>
          <p:nvPr/>
        </p:nvSpPr>
        <p:spPr>
          <a:xfrm flipH="1">
            <a:off x="814200" y="669190"/>
            <a:ext cx="1020001" cy="612000"/>
          </a:xfrm>
          <a:prstGeom prst="snip2DiagRect">
            <a:avLst>
              <a:gd name="adj1" fmla="val 0"/>
              <a:gd name="adj2" fmla="val 24507"/>
            </a:avLst>
          </a:prstGeom>
          <a:solidFill>
            <a:srgbClr val="3B7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721514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Exampl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BB63A3-9AB5-EBAC-F6F9-327B22130DC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id="{EB0149AE-399E-56CA-418B-96532FF191D9}"/>
              </a:ext>
            </a:extLst>
          </p:cNvPr>
          <p:cNvSpPr>
            <a:spLocks noGrp="1" noRot="1" noMove="1" noResize="1" noEditPoints="1" noAdjustHandles="1" noChangeArrowheads="1" noChangeShapeType="1"/>
          </p:cNvSpPr>
          <p:nvPr>
            <p:ph type="body" sz="quarter" idx="13" hasCustomPrompt="1"/>
          </p:nvPr>
        </p:nvSpPr>
        <p:spPr>
          <a:xfrm>
            <a:off x="3212307" y="755092"/>
            <a:ext cx="864000" cy="288000"/>
          </a:xfr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heckpoint-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F9B736-CC97-6F5A-03D8-7FA0AF198B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704400" y="755092"/>
            <a:ext cx="864000" cy="288000"/>
          </a:xfr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Activity-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3E1F40-9013-EBB0-F98A-0AFCFACA220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170999" y="755092"/>
            <a:ext cx="864000" cy="288000"/>
          </a:xfr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Lab-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9646B7-AEA6-E416-7BF3-052FDD7D201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2467612" y="755092"/>
            <a:ext cx="864000" cy="288000"/>
          </a:xfr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94735F-B64E-887A-0584-E2B7E148B655}"/>
              </a:ext>
            </a:extLst>
          </p:cNvPr>
          <p:cNvPicPr>
            <a:picLocks noChangeAspect="1"/>
          </p:cNvPicPr>
          <p:nvPr userDrawn="1"/>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8/24/2022</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43E5F49B-381C-E3BB-6C95-D82DA7176FED}"/>
              </a:ext>
            </a:extLst>
          </p:cNvPr>
          <p:cNvSpPr>
            <a:spLocks noGrp="1"/>
          </p:cNvSpPr>
          <p:nvPr>
            <p:ph type="body" sz="quarter" idx="13"/>
          </p:nvPr>
        </p:nvSpPr>
        <p:spPr>
          <a:xfrm>
            <a:off x="838200" y="1609200"/>
            <a:ext cx="10515600" cy="469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itle 1">
            <a:extLst>
              <a:ext uri="{FF2B5EF4-FFF2-40B4-BE49-F238E27FC236}">
                <a16:creationId xmlns:a16="http://schemas.microsoft.com/office/drawing/2014/main" id="{C355F62B-CCB7-A2A4-99C8-EBF589561E42}"/>
              </a:ext>
            </a:extLst>
          </p:cNvPr>
          <p:cNvSpPr txBox="1">
            <a:spLocks/>
          </p:cNvSpPr>
          <p:nvPr userDrawn="1"/>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THINK ABOUT</a:t>
            </a:r>
          </a:p>
        </p:txBody>
      </p:sp>
    </p:spTree>
    <p:extLst>
      <p:ext uri="{BB962C8B-B14F-4D97-AF65-F5344CB8AC3E}">
        <p14:creationId xmlns:p14="http://schemas.microsoft.com/office/powerpoint/2010/main" val="34810290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F49635-7B62-1BF0-3627-0DEF2D36B20A}"/>
              </a:ext>
            </a:extLst>
          </p:cNvPr>
          <p:cNvPicPr>
            <a:picLocks noChangeAspect="1"/>
          </p:cNvPicPr>
          <p:nvPr userDrawn="1"/>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8/24/2022</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43E5F49B-381C-E3BB-6C95-D82DA7176FED}"/>
              </a:ext>
            </a:extLst>
          </p:cNvPr>
          <p:cNvSpPr>
            <a:spLocks noGrp="1"/>
          </p:cNvSpPr>
          <p:nvPr>
            <p:ph type="body" sz="quarter" idx="13"/>
          </p:nvPr>
        </p:nvSpPr>
        <p:spPr>
          <a:xfrm>
            <a:off x="838200" y="1609200"/>
            <a:ext cx="10515600" cy="469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itle 1">
            <a:extLst>
              <a:ext uri="{FF2B5EF4-FFF2-40B4-BE49-F238E27FC236}">
                <a16:creationId xmlns:a16="http://schemas.microsoft.com/office/drawing/2014/main" id="{C355F62B-CCB7-A2A4-99C8-EBF589561E42}"/>
              </a:ext>
            </a:extLst>
          </p:cNvPr>
          <p:cNvSpPr txBox="1">
            <a:spLocks/>
          </p:cNvSpPr>
          <p:nvPr userDrawn="1"/>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84AD40"/>
                </a:solidFill>
              </a:rPr>
              <a:t>TIP</a:t>
            </a:r>
          </a:p>
        </p:txBody>
      </p:sp>
    </p:spTree>
    <p:extLst>
      <p:ext uri="{BB962C8B-B14F-4D97-AF65-F5344CB8AC3E}">
        <p14:creationId xmlns:p14="http://schemas.microsoft.com/office/powerpoint/2010/main" val="42129095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6276F9-8CAE-0301-EC9B-559DB9D0878D}"/>
              </a:ext>
            </a:extLst>
          </p:cNvPr>
          <p:cNvPicPr>
            <a:picLocks noChangeAspect="1"/>
          </p:cNvPicPr>
          <p:nvPr userDrawn="1"/>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8/24/2022</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43E5F49B-381C-E3BB-6C95-D82DA7176FED}"/>
              </a:ext>
            </a:extLst>
          </p:cNvPr>
          <p:cNvSpPr>
            <a:spLocks noGrp="1"/>
          </p:cNvSpPr>
          <p:nvPr>
            <p:ph type="body" sz="quarter" idx="13"/>
          </p:nvPr>
        </p:nvSpPr>
        <p:spPr>
          <a:xfrm>
            <a:off x="838200" y="1609200"/>
            <a:ext cx="10515600" cy="469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itle 1">
            <a:extLst>
              <a:ext uri="{FF2B5EF4-FFF2-40B4-BE49-F238E27FC236}">
                <a16:creationId xmlns:a16="http://schemas.microsoft.com/office/drawing/2014/main" id="{C355F62B-CCB7-A2A4-99C8-EBF589561E42}"/>
              </a:ext>
            </a:extLst>
          </p:cNvPr>
          <p:cNvSpPr txBox="1">
            <a:spLocks/>
          </p:cNvSpPr>
          <p:nvPr userDrawn="1"/>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ANALOGY</a:t>
            </a:r>
          </a:p>
        </p:txBody>
      </p:sp>
    </p:spTree>
    <p:extLst>
      <p:ext uri="{BB962C8B-B14F-4D97-AF65-F5344CB8AC3E}">
        <p14:creationId xmlns:p14="http://schemas.microsoft.com/office/powerpoint/2010/main" val="777470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C24769-7557-7417-69AD-C7D98D6EF87C}"/>
              </a:ext>
            </a:extLst>
          </p:cNvPr>
          <p:cNvPicPr>
            <a:picLocks noChangeAspect="1"/>
          </p:cNvPicPr>
          <p:nvPr userDrawn="1"/>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8/24/2022</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43E5F49B-381C-E3BB-6C95-D82DA7176FED}"/>
              </a:ext>
            </a:extLst>
          </p:cNvPr>
          <p:cNvSpPr>
            <a:spLocks noGrp="1"/>
          </p:cNvSpPr>
          <p:nvPr>
            <p:ph type="body" sz="quarter" idx="13"/>
          </p:nvPr>
        </p:nvSpPr>
        <p:spPr>
          <a:xfrm>
            <a:off x="838200" y="1609200"/>
            <a:ext cx="10515600" cy="469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itle 1">
            <a:extLst>
              <a:ext uri="{FF2B5EF4-FFF2-40B4-BE49-F238E27FC236}">
                <a16:creationId xmlns:a16="http://schemas.microsoft.com/office/drawing/2014/main" id="{C355F62B-CCB7-A2A4-99C8-EBF589561E42}"/>
              </a:ext>
            </a:extLst>
          </p:cNvPr>
          <p:cNvSpPr txBox="1">
            <a:spLocks/>
          </p:cNvSpPr>
          <p:nvPr userDrawn="1"/>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ENRICHMENT</a:t>
            </a:r>
          </a:p>
        </p:txBody>
      </p:sp>
    </p:spTree>
    <p:extLst>
      <p:ext uri="{BB962C8B-B14F-4D97-AF65-F5344CB8AC3E}">
        <p14:creationId xmlns:p14="http://schemas.microsoft.com/office/powerpoint/2010/main" val="13612345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365613-9A6E-EC8F-CC4F-45C6843B5D0D}"/>
              </a:ext>
            </a:extLst>
          </p:cNvPr>
          <p:cNvPicPr>
            <a:picLocks noChangeAspect="1"/>
          </p:cNvPicPr>
          <p:nvPr userDrawn="1"/>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8/24/2022</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43E5F49B-381C-E3BB-6C95-D82DA7176FED}"/>
              </a:ext>
            </a:extLst>
          </p:cNvPr>
          <p:cNvSpPr>
            <a:spLocks noGrp="1"/>
          </p:cNvSpPr>
          <p:nvPr>
            <p:ph type="body" sz="quarter" idx="13"/>
          </p:nvPr>
        </p:nvSpPr>
        <p:spPr>
          <a:xfrm>
            <a:off x="838200" y="1609200"/>
            <a:ext cx="10515600" cy="469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itle 1">
            <a:extLst>
              <a:ext uri="{FF2B5EF4-FFF2-40B4-BE49-F238E27FC236}">
                <a16:creationId xmlns:a16="http://schemas.microsoft.com/office/drawing/2014/main" id="{C355F62B-CCB7-A2A4-99C8-EBF589561E42}"/>
              </a:ext>
            </a:extLst>
          </p:cNvPr>
          <p:cNvSpPr txBox="1">
            <a:spLocks/>
          </p:cNvSpPr>
          <p:nvPr userDrawn="1"/>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HISTORICAL NOTE</a:t>
            </a:r>
          </a:p>
        </p:txBody>
      </p:sp>
    </p:spTree>
    <p:extLst>
      <p:ext uri="{BB962C8B-B14F-4D97-AF65-F5344CB8AC3E}">
        <p14:creationId xmlns:p14="http://schemas.microsoft.com/office/powerpoint/2010/main" val="41311021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F6A893-6ACD-62D2-E506-31CE1C78BC6A}"/>
              </a:ext>
            </a:extLst>
          </p:cNvPr>
          <p:cNvPicPr>
            <a:picLocks noChangeAspect="1"/>
          </p:cNvPicPr>
          <p:nvPr userDrawn="1"/>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8/24/2022</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43E5F49B-381C-E3BB-6C95-D82DA7176FED}"/>
              </a:ext>
            </a:extLst>
          </p:cNvPr>
          <p:cNvSpPr>
            <a:spLocks noGrp="1"/>
          </p:cNvSpPr>
          <p:nvPr>
            <p:ph type="body" sz="quarter" idx="13"/>
          </p:nvPr>
        </p:nvSpPr>
        <p:spPr>
          <a:xfrm>
            <a:off x="838200" y="1609200"/>
            <a:ext cx="10515600" cy="469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itle 1">
            <a:extLst>
              <a:ext uri="{FF2B5EF4-FFF2-40B4-BE49-F238E27FC236}">
                <a16:creationId xmlns:a16="http://schemas.microsoft.com/office/drawing/2014/main" id="{C355F62B-CCB7-A2A4-99C8-EBF589561E42}"/>
              </a:ext>
            </a:extLst>
          </p:cNvPr>
          <p:cNvSpPr txBox="1">
            <a:spLocks/>
          </p:cNvSpPr>
          <p:nvPr userDrawn="1"/>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Tree>
    <p:extLst>
      <p:ext uri="{BB962C8B-B14F-4D97-AF65-F5344CB8AC3E}">
        <p14:creationId xmlns:p14="http://schemas.microsoft.com/office/powerpoint/2010/main" val="35975974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52B39E-570D-BB77-3EC2-68BF2DA341F5}"/>
              </a:ext>
            </a:extLst>
          </p:cNvPr>
          <p:cNvPicPr>
            <a:picLocks noChangeAspect="1"/>
          </p:cNvPicPr>
          <p:nvPr userDrawn="1"/>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8/24/2022</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43E5F49B-381C-E3BB-6C95-D82DA7176FED}"/>
              </a:ext>
            </a:extLst>
          </p:cNvPr>
          <p:cNvSpPr>
            <a:spLocks noGrp="1"/>
          </p:cNvSpPr>
          <p:nvPr>
            <p:ph type="body" sz="quarter" idx="13"/>
          </p:nvPr>
        </p:nvSpPr>
        <p:spPr>
          <a:xfrm>
            <a:off x="838200" y="1609200"/>
            <a:ext cx="7848600" cy="4680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itle 1">
            <a:extLst>
              <a:ext uri="{FF2B5EF4-FFF2-40B4-BE49-F238E27FC236}">
                <a16:creationId xmlns:a16="http://schemas.microsoft.com/office/drawing/2014/main" id="{C355F62B-CCB7-A2A4-99C8-EBF589561E42}"/>
              </a:ext>
            </a:extLst>
          </p:cNvPr>
          <p:cNvSpPr txBox="1">
            <a:spLocks/>
          </p:cNvSpPr>
          <p:nvPr userDrawn="1"/>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C6993D"/>
                </a:solidFill>
              </a:rPr>
              <a:t>RESOURCE</a:t>
            </a:r>
          </a:p>
        </p:txBody>
      </p:sp>
      <p:sp>
        <p:nvSpPr>
          <p:cNvPr id="10" name="Picture Placeholder 9">
            <a:extLst>
              <a:ext uri="{FF2B5EF4-FFF2-40B4-BE49-F238E27FC236}">
                <a16:creationId xmlns:a16="http://schemas.microsoft.com/office/drawing/2014/main" id="{D221140A-902D-C446-8456-B18F8CA15108}"/>
              </a:ext>
            </a:extLst>
          </p:cNvPr>
          <p:cNvSpPr>
            <a:spLocks noGrp="1"/>
          </p:cNvSpPr>
          <p:nvPr>
            <p:ph type="pic" sz="quarter" idx="14"/>
          </p:nvPr>
        </p:nvSpPr>
        <p:spPr>
          <a:xfrm>
            <a:off x="8833800" y="1609200"/>
            <a:ext cx="2520000" cy="3283200"/>
          </a:xfrm>
        </p:spPr>
        <p:txBody>
          <a:bodyPr/>
          <a:lstStyle/>
          <a:p>
            <a:endParaRPr lang="en-GB"/>
          </a:p>
        </p:txBody>
      </p:sp>
    </p:spTree>
    <p:extLst>
      <p:ext uri="{BB962C8B-B14F-4D97-AF65-F5344CB8AC3E}">
        <p14:creationId xmlns:p14="http://schemas.microsoft.com/office/powerpoint/2010/main" val="9121314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210F294E-2671-69F2-AD8E-91EF65CCF609}"/>
              </a:ext>
            </a:extLst>
          </p:cNvPr>
          <p:cNvSpPr>
            <a:spLocks noGrp="1"/>
          </p:cNvSpPr>
          <p:nvPr>
            <p:ph type="dt" sz="half" idx="10"/>
          </p:nvPr>
        </p:nvSpPr>
        <p:spPr/>
        <p:txBody>
          <a:bodyPr/>
          <a:lstStyle/>
          <a:p>
            <a:fld id="{F07CE581-C706-43BB-9E93-1B4DA785C440}" type="datetime1">
              <a:rPr lang="en-US" smtClean="0"/>
              <a:t>8/24/2022</a:t>
            </a:fld>
            <a:endParaRPr lang="en-US" dirty="0"/>
          </a:p>
        </p:txBody>
      </p:sp>
      <p:sp>
        <p:nvSpPr>
          <p:cNvPr id="12" name="Footer Placeholder 11">
            <a:extLst>
              <a:ext uri="{FF2B5EF4-FFF2-40B4-BE49-F238E27FC236}">
                <a16:creationId xmlns:a16="http://schemas.microsoft.com/office/drawing/2014/main"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5CB804-96AA-A5E1-7170-B54411166665}"/>
              </a:ext>
            </a:extLst>
          </p:cNvPr>
          <p:cNvPicPr>
            <a:picLocks noChangeAspect="1"/>
          </p:cNvPicPr>
          <p:nvPr userDrawn="1"/>
        </p:nvPicPr>
        <p:blipFill>
          <a:blip r:embed="rId26"/>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38200" y="1609200"/>
            <a:ext cx="10515600" cy="4694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8/24/2022</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4" r:id="rId16"/>
    <p:sldLayoutId id="2147483715" r:id="rId17"/>
    <p:sldLayoutId id="2147483716" r:id="rId18"/>
    <p:sldLayoutId id="2147483717" r:id="rId19"/>
    <p:sldLayoutId id="2147483718" r:id="rId20"/>
    <p:sldLayoutId id="2147483719" r:id="rId21"/>
    <p:sldLayoutId id="2147483720" r:id="rId22"/>
    <p:sldLayoutId id="2147483710" r:id="rId23"/>
    <p:sldLayoutId id="2147483711" r:id="rId24"/>
  </p:sldLayoutIdLst>
  <p:hf hdr="0" ftr="0" dt="0"/>
  <p:txStyles>
    <p:titleStyle>
      <a:lvl1pPr algn="l" defTabSz="914400" rtl="0" eaLnBrk="1" latinLnBrk="0" hangingPunct="1">
        <a:lnSpc>
          <a:spcPct val="90000"/>
        </a:lnSpc>
        <a:spcBef>
          <a:spcPct val="0"/>
        </a:spcBef>
        <a:buNone/>
        <a:defRPr sz="3200" b="1" kern="1200" cap="none" baseline="0">
          <a:solidFill>
            <a:srgbClr val="606060"/>
          </a:solidFill>
          <a:latin typeface="Myriad Pro" panose="020B0503030403020204" pitchFamily="34" charset="0"/>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1.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1.xml"/><Relationship Id="rId5" Type="http://schemas.openxmlformats.org/officeDocument/2006/relationships/image" Target="../media/image59.png"/><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1.xml"/><Relationship Id="rId4" Type="http://schemas.openxmlformats.org/officeDocument/2006/relationships/image" Target="../media/image6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1.xml"/><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85B6D-7791-0403-0CCB-5F4042215E87}"/>
              </a:ext>
            </a:extLst>
          </p:cNvPr>
          <p:cNvSpPr>
            <a:spLocks noGrp="1"/>
          </p:cNvSpPr>
          <p:nvPr>
            <p:ph type="title"/>
          </p:nvPr>
        </p:nvSpPr>
        <p:spPr/>
        <p:txBody>
          <a:bodyPr/>
          <a:lstStyle/>
          <a:p>
            <a:r>
              <a:rPr lang="en-GB" dirty="0"/>
              <a:t>Introduction to Information Processing</a:t>
            </a:r>
          </a:p>
        </p:txBody>
      </p:sp>
    </p:spTree>
    <p:extLst>
      <p:ext uri="{BB962C8B-B14F-4D97-AF65-F5344CB8AC3E}">
        <p14:creationId xmlns:p14="http://schemas.microsoft.com/office/powerpoint/2010/main" val="2835008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8D819E-D669-66CD-7D4B-2618B8684799}"/>
              </a:ext>
            </a:extLst>
          </p:cNvPr>
          <p:cNvSpPr>
            <a:spLocks noGrp="1"/>
          </p:cNvSpPr>
          <p:nvPr>
            <p:ph idx="1"/>
          </p:nvPr>
        </p:nvSpPr>
        <p:spPr/>
        <p:txBody>
          <a:bodyPr/>
          <a:lstStyle/>
          <a:p>
            <a:pPr marL="0" indent="0" algn="ctr">
              <a:buNone/>
            </a:pPr>
            <a:r>
              <a:rPr lang="en-GB" b="1" dirty="0"/>
              <a:t>What is the use if analysing data on the general population?</a:t>
            </a:r>
          </a:p>
          <a:p>
            <a:pPr marL="0" indent="0">
              <a:buNone/>
            </a:pPr>
            <a:r>
              <a:rPr lang="en-GB" sz="2400" dirty="0"/>
              <a:t>Do you know that most people prefer apples over oranges? However, data shows that an average Ethiopian prefers oranges over apples. What will happen if no data is collected and analysed?</a:t>
            </a:r>
          </a:p>
        </p:txBody>
      </p:sp>
      <p:pic>
        <p:nvPicPr>
          <p:cNvPr id="5" name="Picture Placeholder 4"/>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5761" r="5761"/>
          <a:stretch>
            <a:fillRect/>
          </a:stretch>
        </p:blipFill>
        <p:spPr/>
      </p:pic>
    </p:spTree>
    <p:extLst>
      <p:ext uri="{BB962C8B-B14F-4D97-AF65-F5344CB8AC3E}">
        <p14:creationId xmlns:p14="http://schemas.microsoft.com/office/powerpoint/2010/main" val="3465282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61718-5E9B-FAC3-A919-8268A8504D9F}"/>
              </a:ext>
            </a:extLst>
          </p:cNvPr>
          <p:cNvSpPr>
            <a:spLocks noGrp="1"/>
          </p:cNvSpPr>
          <p:nvPr>
            <p:ph type="title"/>
          </p:nvPr>
        </p:nvSpPr>
        <p:spPr/>
        <p:txBody>
          <a:bodyPr/>
          <a:lstStyle/>
          <a:p>
            <a:r>
              <a:rPr lang="en-GB" dirty="0"/>
              <a:t>Information System</a:t>
            </a:r>
          </a:p>
        </p:txBody>
      </p:sp>
      <p:sp>
        <p:nvSpPr>
          <p:cNvPr id="3" name="Slide Number Placeholder 2">
            <a:extLst>
              <a:ext uri="{FF2B5EF4-FFF2-40B4-BE49-F238E27FC236}">
                <a16:creationId xmlns:a16="http://schemas.microsoft.com/office/drawing/2014/main" id="{255A8ABF-2B71-9E8F-47FE-BBFDD4AE8F5F}"/>
              </a:ext>
            </a:extLst>
          </p:cNvPr>
          <p:cNvSpPr>
            <a:spLocks noGrp="1"/>
          </p:cNvSpPr>
          <p:nvPr>
            <p:ph type="sldNum" sz="quarter" idx="12"/>
          </p:nvPr>
        </p:nvSpPr>
        <p:spPr/>
        <p:txBody>
          <a:bodyPr/>
          <a:lstStyle/>
          <a:p>
            <a:fld id="{6D22F896-40B5-4ADD-8801-0D06FADFA095}" type="slidenum">
              <a:rPr lang="en-US" smtClean="0"/>
              <a:pPr/>
              <a:t>3</a:t>
            </a:fld>
            <a:endParaRPr lang="en-US" dirty="0"/>
          </a:p>
        </p:txBody>
      </p:sp>
      <p:sp>
        <p:nvSpPr>
          <p:cNvPr id="4" name="Text Placeholder 3">
            <a:extLst>
              <a:ext uri="{FF2B5EF4-FFF2-40B4-BE49-F238E27FC236}">
                <a16:creationId xmlns:a16="http://schemas.microsoft.com/office/drawing/2014/main" id="{82D52FCD-AF63-DD43-6BF1-978471240BCA}"/>
              </a:ext>
            </a:extLst>
          </p:cNvPr>
          <p:cNvSpPr>
            <a:spLocks noGrp="1"/>
          </p:cNvSpPr>
          <p:nvPr>
            <p:ph type="body" sz="quarter" idx="13"/>
          </p:nvPr>
        </p:nvSpPr>
        <p:spPr/>
        <p:txBody>
          <a:bodyPr/>
          <a:lstStyle/>
          <a:p>
            <a:pPr marL="0" indent="0">
              <a:buNone/>
            </a:pPr>
            <a:r>
              <a:rPr lang="en-GB" dirty="0">
                <a:latin typeface="Minion Pro" panose="02040503050306020203" pitchFamily="18" charset="0"/>
              </a:rPr>
              <a:t>Do you know how libraries keep track of the status of the huge amount of books? How the status of books are updated when borrowed or returned?</a:t>
            </a:r>
          </a:p>
          <a:p>
            <a:pPr marL="0" indent="0">
              <a:buNone/>
            </a:pPr>
            <a:endParaRPr lang="en-GB" dirty="0">
              <a:latin typeface="Minion Pro" panose="02040503050306020203" pitchFamily="18" charset="0"/>
            </a:endParaRPr>
          </a:p>
          <a:p>
            <a:pPr marL="0" indent="0">
              <a:buNone/>
            </a:pPr>
            <a:r>
              <a:rPr lang="en-GB" dirty="0">
                <a:latin typeface="Minion Pro" panose="02040503050306020203" pitchFamily="18" charset="0"/>
              </a:rPr>
              <a:t>Libraries can achieve this with the help of </a:t>
            </a:r>
            <a:r>
              <a:rPr lang="en-GB" b="1" dirty="0">
                <a:solidFill>
                  <a:srgbClr val="4F4EA1"/>
                </a:solidFill>
                <a:latin typeface="Minion Pro" panose="02040503050306020203" pitchFamily="18" charset="0"/>
              </a:rPr>
              <a:t>information systems</a:t>
            </a:r>
            <a:r>
              <a:rPr lang="en-GB" dirty="0">
                <a:latin typeface="Minion Pro" panose="02040503050306020203" pitchFamily="18" charset="0"/>
              </a:rPr>
              <a:t>.</a:t>
            </a:r>
          </a:p>
        </p:txBody>
      </p:sp>
      <p:sp>
        <p:nvSpPr>
          <p:cNvPr id="5" name="Text Placeholder 4">
            <a:extLst>
              <a:ext uri="{FF2B5EF4-FFF2-40B4-BE49-F238E27FC236}">
                <a16:creationId xmlns:a16="http://schemas.microsoft.com/office/drawing/2014/main" id="{A7D44E17-0C0C-F10F-E22A-BC01E0215E72}"/>
              </a:ext>
            </a:extLst>
          </p:cNvPr>
          <p:cNvSpPr>
            <a:spLocks noGrp="1"/>
          </p:cNvSpPr>
          <p:nvPr>
            <p:ph type="body" sz="quarter" idx="14"/>
          </p:nvPr>
        </p:nvSpPr>
        <p:spPr/>
        <p:txBody>
          <a:bodyPr/>
          <a:lstStyle/>
          <a:p>
            <a:r>
              <a:rPr lang="en-US" dirty="0"/>
              <a:t>1.1</a:t>
            </a:r>
            <a:endParaRPr lang="en-GB" dirty="0"/>
          </a:p>
        </p:txBody>
      </p:sp>
      <p:pic>
        <p:nvPicPr>
          <p:cNvPr id="6" name="Picture 5"/>
          <p:cNvPicPr>
            <a:picLocks noChangeAspect="1"/>
          </p:cNvPicPr>
          <p:nvPr/>
        </p:nvPicPr>
        <p:blipFill>
          <a:blip r:embed="rId2"/>
          <a:stretch>
            <a:fillRect/>
          </a:stretch>
        </p:blipFill>
        <p:spPr>
          <a:xfrm>
            <a:off x="3800999" y="3619145"/>
            <a:ext cx="4590001" cy="2684455"/>
          </a:xfrm>
          <a:prstGeom prst="rect">
            <a:avLst/>
          </a:prstGeom>
        </p:spPr>
      </p:pic>
    </p:spTree>
    <p:extLst>
      <p:ext uri="{BB962C8B-B14F-4D97-AF65-F5344CB8AC3E}">
        <p14:creationId xmlns:p14="http://schemas.microsoft.com/office/powerpoint/2010/main" val="2848284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783A29D-BAEB-7DBE-6125-5C6D32AA9B93}"/>
              </a:ext>
            </a:extLst>
          </p:cNvPr>
          <p:cNvSpPr>
            <a:spLocks noGrp="1"/>
          </p:cNvSpPr>
          <p:nvPr>
            <p:ph type="title"/>
          </p:nvPr>
        </p:nvSpPr>
        <p:spPr/>
        <p:txBody>
          <a:bodyPr/>
          <a:lstStyle/>
          <a:p>
            <a:r>
              <a:rPr lang="en-GB" dirty="0"/>
              <a:t>Purpose</a:t>
            </a:r>
          </a:p>
        </p:txBody>
      </p:sp>
      <p:sp>
        <p:nvSpPr>
          <p:cNvPr id="3" name="Slide Number Placeholder 2">
            <a:extLst>
              <a:ext uri="{FF2B5EF4-FFF2-40B4-BE49-F238E27FC236}">
                <a16:creationId xmlns:a16="http://schemas.microsoft.com/office/drawing/2014/main" id="{7F694108-91C8-632D-01CB-CB64180EB84F}"/>
              </a:ext>
            </a:extLst>
          </p:cNvPr>
          <p:cNvSpPr>
            <a:spLocks noGrp="1"/>
          </p:cNvSpPr>
          <p:nvPr>
            <p:ph type="sldNum" sz="quarter" idx="12"/>
          </p:nvPr>
        </p:nvSpPr>
        <p:spPr/>
        <p:txBody>
          <a:bodyPr/>
          <a:lstStyle/>
          <a:p>
            <a:fld id="{6D22F896-40B5-4ADD-8801-0D06FADFA095}" type="slidenum">
              <a:rPr lang="en-US" smtClean="0"/>
              <a:t>4</a:t>
            </a:fld>
            <a:endParaRPr lang="en-US" dirty="0"/>
          </a:p>
        </p:txBody>
      </p:sp>
      <p:sp>
        <p:nvSpPr>
          <p:cNvPr id="2" name="Text Placeholder 1">
            <a:extLst>
              <a:ext uri="{FF2B5EF4-FFF2-40B4-BE49-F238E27FC236}">
                <a16:creationId xmlns:a16="http://schemas.microsoft.com/office/drawing/2014/main" id="{C479A33A-A8A5-5576-D4F6-063C4D5E8692}"/>
              </a:ext>
            </a:extLst>
          </p:cNvPr>
          <p:cNvSpPr>
            <a:spLocks noGrp="1"/>
          </p:cNvSpPr>
          <p:nvPr>
            <p:ph type="body" sz="quarter" idx="13"/>
          </p:nvPr>
        </p:nvSpPr>
        <p:spPr/>
        <p:txBody>
          <a:bodyPr/>
          <a:lstStyle/>
          <a:p>
            <a:pPr marL="0" indent="0">
              <a:buNone/>
            </a:pPr>
            <a:r>
              <a:rPr lang="en-GB" b="1" dirty="0"/>
              <a:t>Information systems </a:t>
            </a:r>
            <a:r>
              <a:rPr lang="en-GB" dirty="0"/>
              <a:t>are implemented to:</a:t>
            </a:r>
          </a:p>
          <a:p>
            <a:r>
              <a:rPr lang="en-GB" sz="2000" dirty="0"/>
              <a:t>Automate processes</a:t>
            </a:r>
          </a:p>
          <a:p>
            <a:r>
              <a:rPr lang="en-GB" sz="2000" dirty="0"/>
              <a:t>Reduce human errors</a:t>
            </a:r>
          </a:p>
          <a:p>
            <a:r>
              <a:rPr lang="en-GB" sz="2000" dirty="0"/>
              <a:t>Improve efficiency</a:t>
            </a:r>
          </a:p>
        </p:txBody>
      </p:sp>
      <p:sp>
        <p:nvSpPr>
          <p:cNvPr id="7" name="Text Placeholder 6">
            <a:extLst>
              <a:ext uri="{FF2B5EF4-FFF2-40B4-BE49-F238E27FC236}">
                <a16:creationId xmlns:a16="http://schemas.microsoft.com/office/drawing/2014/main" id="{16992336-9319-79DE-A603-3866379F2AAA}"/>
              </a:ext>
            </a:extLst>
          </p:cNvPr>
          <p:cNvSpPr>
            <a:spLocks noGrp="1"/>
          </p:cNvSpPr>
          <p:nvPr>
            <p:ph type="body" sz="quarter" idx="14"/>
          </p:nvPr>
        </p:nvSpPr>
        <p:spPr/>
        <p:txBody>
          <a:bodyPr/>
          <a:lstStyle/>
          <a:p>
            <a:r>
              <a:rPr lang="en-US" dirty="0"/>
              <a:t>A</a:t>
            </a:r>
            <a:endParaRPr lang="en-GB" dirty="0"/>
          </a:p>
        </p:txBody>
      </p:sp>
    </p:spTree>
    <p:extLst>
      <p:ext uri="{BB962C8B-B14F-4D97-AF65-F5344CB8AC3E}">
        <p14:creationId xmlns:p14="http://schemas.microsoft.com/office/powerpoint/2010/main" val="2786308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a:t>
            </a:fld>
            <a:endParaRPr lang="en-US" dirty="0"/>
          </a:p>
        </p:txBody>
      </p:sp>
      <p:sp>
        <p:nvSpPr>
          <p:cNvPr id="4" name="Text Placeholder 3"/>
          <p:cNvSpPr>
            <a:spLocks noGrp="1"/>
          </p:cNvSpPr>
          <p:nvPr>
            <p:ph type="body" sz="quarter" idx="13"/>
          </p:nvPr>
        </p:nvSpPr>
        <p:spPr/>
        <p:txBody>
          <a:bodyPr/>
          <a:lstStyle/>
          <a:p>
            <a:pPr marL="0" indent="0">
              <a:buNone/>
            </a:pPr>
            <a:r>
              <a:rPr lang="en-US" b="1" dirty="0">
                <a:solidFill>
                  <a:srgbClr val="4F4EA1"/>
                </a:solidFill>
              </a:rPr>
              <a:t>Data</a:t>
            </a:r>
            <a:r>
              <a:rPr lang="en-US" dirty="0"/>
              <a:t> is stored in computer storage devices, it can be used by programs for input or output.</a:t>
            </a:r>
          </a:p>
          <a:p>
            <a:pPr marL="0" indent="0">
              <a:buNone/>
            </a:pPr>
            <a:endParaRPr lang="en-US" dirty="0"/>
          </a:p>
          <a:p>
            <a:pPr marL="0" indent="0">
              <a:buNone/>
            </a:pPr>
            <a:r>
              <a:rPr lang="en-US" dirty="0"/>
              <a:t>Examples of data include:</a:t>
            </a:r>
          </a:p>
          <a:p>
            <a:r>
              <a:rPr lang="en-US" dirty="0"/>
              <a:t>Medical history of a patient</a:t>
            </a:r>
          </a:p>
          <a:p>
            <a:r>
              <a:rPr lang="en-US" dirty="0"/>
              <a:t>Weather data</a:t>
            </a:r>
          </a:p>
          <a:p>
            <a:endParaRPr lang="en-US" dirty="0"/>
          </a:p>
        </p:txBody>
      </p:sp>
      <p:sp>
        <p:nvSpPr>
          <p:cNvPr id="5" name="Text Placeholder 4"/>
          <p:cNvSpPr>
            <a:spLocks noGrp="1"/>
          </p:cNvSpPr>
          <p:nvPr>
            <p:ph type="body" sz="quarter" idx="14"/>
          </p:nvPr>
        </p:nvSpPr>
        <p:spPr/>
        <p:txBody>
          <a:bodyPr/>
          <a:lstStyle/>
          <a:p>
            <a:r>
              <a:rPr lang="en-US" dirty="0"/>
              <a:t>B</a:t>
            </a:r>
          </a:p>
        </p:txBody>
      </p:sp>
      <p:pic>
        <p:nvPicPr>
          <p:cNvPr id="6" name="Picture 5"/>
          <p:cNvPicPr>
            <a:picLocks noChangeAspect="1"/>
          </p:cNvPicPr>
          <p:nvPr/>
        </p:nvPicPr>
        <p:blipFill>
          <a:blip r:embed="rId2"/>
          <a:stretch>
            <a:fillRect/>
          </a:stretch>
        </p:blipFill>
        <p:spPr>
          <a:xfrm>
            <a:off x="7424460" y="2757296"/>
            <a:ext cx="3543795" cy="2381582"/>
          </a:xfrm>
          <a:prstGeom prst="rect">
            <a:avLst/>
          </a:prstGeom>
        </p:spPr>
      </p:pic>
    </p:spTree>
    <p:extLst>
      <p:ext uri="{BB962C8B-B14F-4D97-AF65-F5344CB8AC3E}">
        <p14:creationId xmlns:p14="http://schemas.microsoft.com/office/powerpoint/2010/main" val="2510422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a:t>
            </a:fld>
            <a:endParaRPr lang="en-US" dirty="0"/>
          </a:p>
        </p:txBody>
      </p:sp>
      <p:sp>
        <p:nvSpPr>
          <p:cNvPr id="4" name="Text Placeholder 3"/>
          <p:cNvSpPr>
            <a:spLocks noGrp="1"/>
          </p:cNvSpPr>
          <p:nvPr>
            <p:ph type="body" sz="quarter" idx="13"/>
          </p:nvPr>
        </p:nvSpPr>
        <p:spPr/>
        <p:txBody>
          <a:bodyPr/>
          <a:lstStyle/>
          <a:p>
            <a:pPr marL="0" indent="0">
              <a:buClr>
                <a:schemeClr val="tx1"/>
              </a:buClr>
              <a:buNone/>
            </a:pPr>
            <a:r>
              <a:rPr lang="en-US" b="1" dirty="0">
                <a:solidFill>
                  <a:srgbClr val="4F4EA1"/>
                </a:solidFill>
              </a:rPr>
              <a:t>Hardware</a:t>
            </a:r>
            <a:r>
              <a:rPr lang="en-US" dirty="0"/>
              <a:t> refers to the physical devices used in an information system: </a:t>
            </a:r>
          </a:p>
          <a:p>
            <a:pPr>
              <a:buClr>
                <a:schemeClr val="tx1"/>
              </a:buClr>
            </a:pPr>
            <a:endParaRPr lang="en-US" dirty="0"/>
          </a:p>
          <a:p>
            <a:pPr>
              <a:buClr>
                <a:schemeClr val="tx1"/>
              </a:buClr>
            </a:pPr>
            <a:endParaRPr lang="en-US" dirty="0"/>
          </a:p>
        </p:txBody>
      </p:sp>
      <p:sp>
        <p:nvSpPr>
          <p:cNvPr id="5" name="Text Placeholder 4"/>
          <p:cNvSpPr>
            <a:spLocks noGrp="1"/>
          </p:cNvSpPr>
          <p:nvPr>
            <p:ph type="body" sz="quarter" idx="14"/>
          </p:nvPr>
        </p:nvSpPr>
        <p:spPr/>
        <p:txBody>
          <a:bodyPr/>
          <a:lstStyle/>
          <a:p>
            <a:r>
              <a:rPr lang="en-US" dirty="0"/>
              <a:t>C</a:t>
            </a:r>
          </a:p>
        </p:txBody>
      </p:sp>
      <p:graphicFrame>
        <p:nvGraphicFramePr>
          <p:cNvPr id="7" name="Table 6"/>
          <p:cNvGraphicFramePr>
            <a:graphicFrameLocks noGrp="1"/>
          </p:cNvGraphicFramePr>
          <p:nvPr>
            <p:extLst>
              <p:ext uri="{D42A27DB-BD31-4B8C-83A1-F6EECF244321}">
                <p14:modId xmlns:p14="http://schemas.microsoft.com/office/powerpoint/2010/main" val="177326191"/>
              </p:ext>
            </p:extLst>
          </p:nvPr>
        </p:nvGraphicFramePr>
        <p:xfrm>
          <a:off x="746770" y="2681469"/>
          <a:ext cx="10758045" cy="2904684"/>
        </p:xfrm>
        <a:graphic>
          <a:graphicData uri="http://schemas.openxmlformats.org/drawingml/2006/table">
            <a:tbl>
              <a:tblPr firstRow="1" bandRow="1">
                <a:tableStyleId>{5940675A-B579-460E-94D1-54222C63F5DA}</a:tableStyleId>
              </a:tblPr>
              <a:tblGrid>
                <a:gridCol w="2151609">
                  <a:extLst>
                    <a:ext uri="{9D8B030D-6E8A-4147-A177-3AD203B41FA5}">
                      <a16:colId xmlns:a16="http://schemas.microsoft.com/office/drawing/2014/main" val="20000"/>
                    </a:ext>
                  </a:extLst>
                </a:gridCol>
                <a:gridCol w="2151609">
                  <a:extLst>
                    <a:ext uri="{9D8B030D-6E8A-4147-A177-3AD203B41FA5}">
                      <a16:colId xmlns:a16="http://schemas.microsoft.com/office/drawing/2014/main" val="20001"/>
                    </a:ext>
                  </a:extLst>
                </a:gridCol>
                <a:gridCol w="2151609">
                  <a:extLst>
                    <a:ext uri="{9D8B030D-6E8A-4147-A177-3AD203B41FA5}">
                      <a16:colId xmlns:a16="http://schemas.microsoft.com/office/drawing/2014/main" val="20002"/>
                    </a:ext>
                  </a:extLst>
                </a:gridCol>
                <a:gridCol w="2151609">
                  <a:extLst>
                    <a:ext uri="{9D8B030D-6E8A-4147-A177-3AD203B41FA5}">
                      <a16:colId xmlns:a16="http://schemas.microsoft.com/office/drawing/2014/main" val="20003"/>
                    </a:ext>
                  </a:extLst>
                </a:gridCol>
                <a:gridCol w="2151609">
                  <a:extLst>
                    <a:ext uri="{9D8B030D-6E8A-4147-A177-3AD203B41FA5}">
                      <a16:colId xmlns:a16="http://schemas.microsoft.com/office/drawing/2014/main" val="20004"/>
                    </a:ext>
                  </a:extLst>
                </a:gridCol>
              </a:tblGrid>
              <a:tr h="764613">
                <a:tc>
                  <a:txBody>
                    <a:bodyPr/>
                    <a:lstStyle/>
                    <a:p>
                      <a:pPr algn="ctr"/>
                      <a:r>
                        <a:rPr lang="en-US" b="1" dirty="0">
                          <a:solidFill>
                            <a:srgbClr val="FFFFFF"/>
                          </a:solidFill>
                        </a:rPr>
                        <a:t>Processing</a:t>
                      </a: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US" b="1" dirty="0">
                          <a:solidFill>
                            <a:srgbClr val="FFFFFF"/>
                          </a:solidFill>
                        </a:rPr>
                        <a:t>Connection of system</a:t>
                      </a:r>
                      <a:r>
                        <a:rPr lang="en-US" b="1" baseline="0" dirty="0">
                          <a:solidFill>
                            <a:srgbClr val="FFFFFF"/>
                          </a:solidFill>
                        </a:rPr>
                        <a:t> units</a:t>
                      </a:r>
                      <a:endParaRPr lang="en-US" b="1" dirty="0">
                        <a:solidFill>
                          <a:srgbClr val="FFFFFF"/>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US" b="1" dirty="0">
                          <a:solidFill>
                            <a:srgbClr val="FFFFFF"/>
                          </a:solidFill>
                        </a:rPr>
                        <a:t>Network</a:t>
                      </a:r>
                      <a:r>
                        <a:rPr lang="en-US" b="1" baseline="0" dirty="0">
                          <a:solidFill>
                            <a:srgbClr val="FFFFFF"/>
                          </a:solidFill>
                        </a:rPr>
                        <a:t> communication</a:t>
                      </a:r>
                      <a:endParaRPr lang="en-US" b="1" dirty="0">
                        <a:solidFill>
                          <a:srgbClr val="FFFFFF"/>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US" b="1" dirty="0">
                          <a:solidFill>
                            <a:srgbClr val="FFFFFF"/>
                          </a:solidFill>
                        </a:rPr>
                        <a:t>Input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US" b="1" dirty="0">
                          <a:solidFill>
                            <a:srgbClr val="FFFFFF"/>
                          </a:solidFill>
                        </a:rPr>
                        <a:t>Output</a:t>
                      </a: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2140071">
                <a:tc>
                  <a:txBody>
                    <a:bodyPr/>
                    <a:lstStyle/>
                    <a:p>
                      <a:pPr algn="ctr"/>
                      <a:r>
                        <a:rPr lang="en-US" dirty="0"/>
                        <a:t>Central processing unit (CPU)</a:t>
                      </a:r>
                    </a:p>
                  </a:txBody>
                  <a:tcPr anchor="b">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ctr"/>
                      <a:r>
                        <a:rPr lang="en-US" dirty="0"/>
                        <a:t>Motherboard</a:t>
                      </a:r>
                    </a:p>
                  </a:txBody>
                  <a:tcPr anchor="b">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ctr"/>
                      <a:r>
                        <a:rPr lang="en-US" dirty="0"/>
                        <a:t>Home</a:t>
                      </a:r>
                      <a:r>
                        <a:rPr lang="en-US" baseline="0" dirty="0"/>
                        <a:t> router</a:t>
                      </a:r>
                      <a:endParaRPr lang="en-US" dirty="0"/>
                    </a:p>
                  </a:txBody>
                  <a:tcPr anchor="b">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ctr"/>
                      <a:r>
                        <a:rPr lang="en-US" dirty="0"/>
                        <a:t>Microphone</a:t>
                      </a:r>
                    </a:p>
                  </a:txBody>
                  <a:tcPr anchor="b">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ctr"/>
                      <a:r>
                        <a:rPr lang="en-US" dirty="0"/>
                        <a:t>Monitor</a:t>
                      </a:r>
                    </a:p>
                  </a:txBody>
                  <a:tcPr anchor="b">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9" name="Picture 8"/>
          <p:cNvPicPr>
            <a:picLocks noChangeAspect="1"/>
          </p:cNvPicPr>
          <p:nvPr/>
        </p:nvPicPr>
        <p:blipFill>
          <a:blip r:embed="rId2"/>
          <a:stretch>
            <a:fillRect/>
          </a:stretch>
        </p:blipFill>
        <p:spPr>
          <a:xfrm>
            <a:off x="953430" y="3642275"/>
            <a:ext cx="1714739" cy="1219370"/>
          </a:xfrm>
          <a:prstGeom prst="rect">
            <a:avLst/>
          </a:prstGeom>
        </p:spPr>
      </p:pic>
      <p:pic>
        <p:nvPicPr>
          <p:cNvPr id="10" name="Picture 9"/>
          <p:cNvPicPr>
            <a:picLocks noChangeAspect="1"/>
          </p:cNvPicPr>
          <p:nvPr/>
        </p:nvPicPr>
        <p:blipFill>
          <a:blip r:embed="rId3"/>
          <a:stretch>
            <a:fillRect/>
          </a:stretch>
        </p:blipFill>
        <p:spPr>
          <a:xfrm>
            <a:off x="3141667" y="3709990"/>
            <a:ext cx="1648055" cy="1209844"/>
          </a:xfrm>
          <a:prstGeom prst="rect">
            <a:avLst/>
          </a:prstGeom>
        </p:spPr>
      </p:pic>
      <p:pic>
        <p:nvPicPr>
          <p:cNvPr id="11" name="Picture 10"/>
          <p:cNvPicPr>
            <a:picLocks noChangeAspect="1"/>
          </p:cNvPicPr>
          <p:nvPr/>
        </p:nvPicPr>
        <p:blipFill>
          <a:blip r:embed="rId4"/>
          <a:stretch>
            <a:fillRect/>
          </a:stretch>
        </p:blipFill>
        <p:spPr>
          <a:xfrm>
            <a:off x="5257683" y="3480327"/>
            <a:ext cx="1676634" cy="1543265"/>
          </a:xfrm>
          <a:prstGeom prst="rect">
            <a:avLst/>
          </a:prstGeom>
        </p:spPr>
      </p:pic>
      <p:pic>
        <p:nvPicPr>
          <p:cNvPr id="12" name="Picture 11"/>
          <p:cNvPicPr>
            <a:picLocks noChangeAspect="1"/>
          </p:cNvPicPr>
          <p:nvPr/>
        </p:nvPicPr>
        <p:blipFill>
          <a:blip r:embed="rId5"/>
          <a:stretch>
            <a:fillRect/>
          </a:stretch>
        </p:blipFill>
        <p:spPr>
          <a:xfrm>
            <a:off x="7522750" y="3533753"/>
            <a:ext cx="1352739" cy="1562318"/>
          </a:xfrm>
          <a:prstGeom prst="rect">
            <a:avLst/>
          </a:prstGeom>
        </p:spPr>
      </p:pic>
      <p:pic>
        <p:nvPicPr>
          <p:cNvPr id="13" name="Picture 12"/>
          <p:cNvPicPr>
            <a:picLocks noChangeAspect="1"/>
          </p:cNvPicPr>
          <p:nvPr/>
        </p:nvPicPr>
        <p:blipFill>
          <a:blip r:embed="rId6"/>
          <a:stretch>
            <a:fillRect/>
          </a:stretch>
        </p:blipFill>
        <p:spPr>
          <a:xfrm>
            <a:off x="9709937" y="3556537"/>
            <a:ext cx="1533739" cy="1390844"/>
          </a:xfrm>
          <a:prstGeom prst="rect">
            <a:avLst/>
          </a:prstGeom>
        </p:spPr>
      </p:pic>
    </p:spTree>
    <p:extLst>
      <p:ext uri="{BB962C8B-B14F-4D97-AF65-F5344CB8AC3E}">
        <p14:creationId xmlns:p14="http://schemas.microsoft.com/office/powerpoint/2010/main" val="2631005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a:t>
            </a:fld>
            <a:endParaRPr lang="en-US" dirty="0"/>
          </a:p>
        </p:txBody>
      </p:sp>
      <p:sp>
        <p:nvSpPr>
          <p:cNvPr id="4" name="Text Placeholder 3"/>
          <p:cNvSpPr>
            <a:spLocks noGrp="1"/>
          </p:cNvSpPr>
          <p:nvPr>
            <p:ph type="body" sz="quarter" idx="13"/>
          </p:nvPr>
        </p:nvSpPr>
        <p:spPr/>
        <p:txBody>
          <a:bodyPr/>
          <a:lstStyle/>
          <a:p>
            <a:pPr marL="0" indent="0">
              <a:buNone/>
            </a:pPr>
            <a:r>
              <a:rPr lang="en-US" b="1" dirty="0">
                <a:solidFill>
                  <a:srgbClr val="5E5DA8"/>
                </a:solidFill>
              </a:rPr>
              <a:t>Software</a:t>
            </a:r>
            <a:r>
              <a:rPr lang="en-US" dirty="0"/>
              <a:t> refers to the programs running in an information s</a:t>
            </a:r>
            <a:r>
              <a:rPr lang="en-US" altLang="zh-CN" dirty="0"/>
              <a:t>ystem</a:t>
            </a:r>
            <a:r>
              <a:rPr lang="en-HK" altLang="zh-CN" dirty="0"/>
              <a:t>:</a:t>
            </a:r>
            <a:endParaRPr lang="en-US" dirty="0"/>
          </a:p>
        </p:txBody>
      </p:sp>
      <p:sp>
        <p:nvSpPr>
          <p:cNvPr id="5" name="Text Placeholder 4"/>
          <p:cNvSpPr>
            <a:spLocks noGrp="1"/>
          </p:cNvSpPr>
          <p:nvPr>
            <p:ph type="body" sz="quarter" idx="14"/>
          </p:nvPr>
        </p:nvSpPr>
        <p:spPr/>
        <p:txBody>
          <a:bodyPr/>
          <a:lstStyle/>
          <a:p>
            <a:r>
              <a:rPr lang="en-US" dirty="0"/>
              <a:t>C</a:t>
            </a:r>
          </a:p>
        </p:txBody>
      </p:sp>
      <p:graphicFrame>
        <p:nvGraphicFramePr>
          <p:cNvPr id="6" name="Table 5"/>
          <p:cNvGraphicFramePr>
            <a:graphicFrameLocks noGrp="1"/>
          </p:cNvGraphicFramePr>
          <p:nvPr>
            <p:extLst>
              <p:ext uri="{D42A27DB-BD31-4B8C-83A1-F6EECF244321}">
                <p14:modId xmlns:p14="http://schemas.microsoft.com/office/powerpoint/2010/main" val="3040040613"/>
              </p:ext>
            </p:extLst>
          </p:nvPr>
        </p:nvGraphicFramePr>
        <p:xfrm>
          <a:off x="921272" y="2415461"/>
          <a:ext cx="10309224" cy="3374693"/>
        </p:xfrm>
        <a:graphic>
          <a:graphicData uri="http://schemas.openxmlformats.org/drawingml/2006/table">
            <a:tbl>
              <a:tblPr firstRow="1" bandRow="1">
                <a:tableStyleId>{5940675A-B579-460E-94D1-54222C63F5DA}</a:tableStyleId>
              </a:tblPr>
              <a:tblGrid>
                <a:gridCol w="1913368">
                  <a:extLst>
                    <a:ext uri="{9D8B030D-6E8A-4147-A177-3AD203B41FA5}">
                      <a16:colId xmlns:a16="http://schemas.microsoft.com/office/drawing/2014/main" val="20000"/>
                    </a:ext>
                  </a:extLst>
                </a:gridCol>
                <a:gridCol w="1886989">
                  <a:extLst>
                    <a:ext uri="{9D8B030D-6E8A-4147-A177-3AD203B41FA5}">
                      <a16:colId xmlns:a16="http://schemas.microsoft.com/office/drawing/2014/main" val="20001"/>
                    </a:ext>
                  </a:extLst>
                </a:gridCol>
                <a:gridCol w="6508867">
                  <a:extLst>
                    <a:ext uri="{9D8B030D-6E8A-4147-A177-3AD203B41FA5}">
                      <a16:colId xmlns:a16="http://schemas.microsoft.com/office/drawing/2014/main" val="20002"/>
                    </a:ext>
                  </a:extLst>
                </a:gridCol>
              </a:tblGrid>
              <a:tr h="485681">
                <a:tc gridSpan="2">
                  <a:txBody>
                    <a:bodyPr/>
                    <a:lstStyle/>
                    <a:p>
                      <a:pPr algn="ctr"/>
                      <a:r>
                        <a:rPr lang="en-HK" b="1" dirty="0">
                          <a:solidFill>
                            <a:schemeClr val="bg1"/>
                          </a:solidFill>
                        </a:rPr>
                        <a:t>Types</a:t>
                      </a:r>
                      <a:r>
                        <a:rPr lang="en-HK" b="1" baseline="0" dirty="0">
                          <a:solidFill>
                            <a:schemeClr val="bg1"/>
                          </a:solidFill>
                        </a:rPr>
                        <a:t> of software</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hMerge="1">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Software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722253">
                <a:tc rowSpan="3">
                  <a:txBody>
                    <a:bodyPr/>
                    <a:lstStyle/>
                    <a:p>
                      <a:pPr algn="ctr"/>
                      <a:r>
                        <a:rPr lang="en-HK" dirty="0"/>
                        <a:t>System</a:t>
                      </a:r>
                      <a:r>
                        <a:rPr lang="en-HK" baseline="0" dirty="0"/>
                        <a:t> software</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ctr"/>
                      <a:r>
                        <a:rPr lang="en-HK" dirty="0"/>
                        <a:t>Operating</a:t>
                      </a:r>
                      <a:r>
                        <a:rPr lang="en-HK" baseline="0" dirty="0"/>
                        <a:t> system</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US" dirty="0"/>
                        <a:t> Microsoft Windows</a:t>
                      </a:r>
                      <a:r>
                        <a:rPr lang="en-US" baseline="0" dirty="0"/>
                        <a:t> and</a:t>
                      </a:r>
                      <a:r>
                        <a:rPr lang="zh-CN" altLang="en-US" dirty="0"/>
                        <a:t> </a:t>
                      </a:r>
                      <a:r>
                        <a:rPr lang="en-US" dirty="0" err="1"/>
                        <a:t>macOS</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r h="722253">
                <a:tc vMerge="1">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ctr"/>
                      <a:r>
                        <a:rPr lang="en-HK" dirty="0"/>
                        <a:t>Utility</a:t>
                      </a:r>
                      <a:r>
                        <a:rPr lang="en-HK" baseline="0" dirty="0"/>
                        <a:t> program</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Task</a:t>
                      </a:r>
                      <a:r>
                        <a:rPr lang="en-HK" baseline="0" dirty="0"/>
                        <a:t> Manager and anti-virus software</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2"/>
                  </a:ext>
                </a:extLst>
              </a:tr>
              <a:tr h="722253">
                <a:tc vMerge="1">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ctr"/>
                      <a:r>
                        <a:rPr lang="en-HK" dirty="0"/>
                        <a:t>Driver</a:t>
                      </a:r>
                      <a:r>
                        <a:rPr lang="en-HK" baseline="0" dirty="0"/>
                        <a:t> program</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Driver</a:t>
                      </a:r>
                      <a:r>
                        <a:rPr lang="en-HK" baseline="0" dirty="0"/>
                        <a:t> programs for a sound card, a USB flash drive or a printer</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3"/>
                  </a:ext>
                </a:extLst>
              </a:tr>
              <a:tr h="722253">
                <a:tc gridSpan="2">
                  <a:txBody>
                    <a:bodyPr/>
                    <a:lstStyle/>
                    <a:p>
                      <a:pPr algn="ctr"/>
                      <a:r>
                        <a:rPr lang="en-HK" dirty="0"/>
                        <a:t>Application</a:t>
                      </a:r>
                      <a:r>
                        <a:rPr lang="en-HK" baseline="0" dirty="0"/>
                        <a:t> software</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hMerge="1">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US" dirty="0"/>
                        <a:t>Word processor and database management software (DBMS)</a:t>
                      </a:r>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57610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Process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a:t>
            </a:fld>
            <a:endParaRPr lang="en-US" dirty="0"/>
          </a:p>
        </p:txBody>
      </p:sp>
      <p:sp>
        <p:nvSpPr>
          <p:cNvPr id="4" name="Text Placeholder 3"/>
          <p:cNvSpPr>
            <a:spLocks noGrp="1"/>
          </p:cNvSpPr>
          <p:nvPr>
            <p:ph type="body" sz="quarter" idx="13"/>
          </p:nvPr>
        </p:nvSpPr>
        <p:spPr/>
        <p:txBody>
          <a:bodyPr/>
          <a:lstStyle/>
          <a:p>
            <a:pPr marL="0" indent="0">
              <a:buNone/>
            </a:pPr>
            <a:r>
              <a:rPr lang="en-HK" b="1" dirty="0">
                <a:solidFill>
                  <a:srgbClr val="5E5DA8"/>
                </a:solidFill>
              </a:rPr>
              <a:t>Process</a:t>
            </a:r>
            <a:r>
              <a:rPr lang="en-HK" dirty="0"/>
              <a:t> is the series of steps to </a:t>
            </a:r>
            <a:r>
              <a:rPr lang="en-US" dirty="0"/>
              <a:t>ensure the data and the related analysis can achieve the purpose precisely.</a:t>
            </a:r>
          </a:p>
          <a:p>
            <a:pPr marL="0" indent="0">
              <a:buNone/>
            </a:pPr>
            <a:endParaRPr lang="en-HK" dirty="0"/>
          </a:p>
          <a:p>
            <a:pPr marL="0" indent="0">
              <a:buNone/>
            </a:pPr>
            <a:r>
              <a:rPr lang="en-HK" b="1" dirty="0"/>
              <a:t>Data</a:t>
            </a:r>
            <a:r>
              <a:rPr lang="en-HK" b="1" dirty="0">
                <a:solidFill>
                  <a:srgbClr val="5E5DA8"/>
                </a:solidFill>
              </a:rPr>
              <a:t> </a:t>
            </a:r>
            <a:r>
              <a:rPr lang="en-HK" dirty="0"/>
              <a:t>should be processed in a meaningful way to convert it into useful </a:t>
            </a:r>
            <a:r>
              <a:rPr lang="en-HK" b="1" dirty="0"/>
              <a:t>information</a:t>
            </a:r>
            <a:r>
              <a:rPr lang="en-HK" dirty="0"/>
              <a:t>.</a:t>
            </a:r>
            <a:endParaRPr lang="en-US" dirty="0"/>
          </a:p>
        </p:txBody>
      </p:sp>
      <p:sp>
        <p:nvSpPr>
          <p:cNvPr id="5" name="Text Placeholder 4"/>
          <p:cNvSpPr>
            <a:spLocks noGrp="1"/>
          </p:cNvSpPr>
          <p:nvPr>
            <p:ph type="body" sz="quarter" idx="14"/>
          </p:nvPr>
        </p:nvSpPr>
        <p:spPr/>
        <p:txBody>
          <a:bodyPr/>
          <a:lstStyle/>
          <a:p>
            <a:r>
              <a:rPr lang="en-US" altLang="zh-CN" dirty="0"/>
              <a:t>D</a:t>
            </a:r>
            <a:endParaRPr lang="en-US" dirty="0"/>
          </a:p>
        </p:txBody>
      </p:sp>
    </p:spTree>
    <p:extLst>
      <p:ext uri="{BB962C8B-B14F-4D97-AF65-F5344CB8AC3E}">
        <p14:creationId xmlns:p14="http://schemas.microsoft.com/office/powerpoint/2010/main" val="252620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Personnel</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a:t>
            </a:fld>
            <a:endParaRPr lang="en-US" dirty="0"/>
          </a:p>
        </p:txBody>
      </p:sp>
      <p:sp>
        <p:nvSpPr>
          <p:cNvPr id="4" name="Text Placeholder 3"/>
          <p:cNvSpPr>
            <a:spLocks noGrp="1"/>
          </p:cNvSpPr>
          <p:nvPr>
            <p:ph type="body" sz="quarter" idx="13"/>
          </p:nvPr>
        </p:nvSpPr>
        <p:spPr/>
        <p:txBody>
          <a:bodyPr/>
          <a:lstStyle/>
          <a:p>
            <a:pPr marL="0" indent="0">
              <a:buNone/>
            </a:pPr>
            <a:r>
              <a:rPr lang="en-HK" dirty="0"/>
              <a:t>Information systems are managed by different </a:t>
            </a:r>
            <a:r>
              <a:rPr lang="en-HK" dirty="0" err="1"/>
              <a:t>personnels</a:t>
            </a:r>
            <a:r>
              <a:rPr lang="en-HK" dirty="0"/>
              <a:t>:</a:t>
            </a:r>
            <a:endParaRPr lang="en-US" dirty="0"/>
          </a:p>
        </p:txBody>
      </p:sp>
      <p:sp>
        <p:nvSpPr>
          <p:cNvPr id="5" name="Text Placeholder 4"/>
          <p:cNvSpPr>
            <a:spLocks noGrp="1"/>
          </p:cNvSpPr>
          <p:nvPr>
            <p:ph type="body" sz="quarter" idx="14"/>
          </p:nvPr>
        </p:nvSpPr>
        <p:spPr/>
        <p:txBody>
          <a:bodyPr/>
          <a:lstStyle/>
          <a:p>
            <a:r>
              <a:rPr lang="en-US" altLang="zh-CN" dirty="0"/>
              <a:t>1.1</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555685578"/>
              </p:ext>
            </p:extLst>
          </p:nvPr>
        </p:nvGraphicFramePr>
        <p:xfrm>
          <a:off x="382387" y="2481961"/>
          <a:ext cx="11546377" cy="3029377"/>
        </p:xfrm>
        <a:graphic>
          <a:graphicData uri="http://schemas.openxmlformats.org/drawingml/2006/table">
            <a:tbl>
              <a:tblPr firstRow="1" bandRow="1">
                <a:tableStyleId>{5940675A-B579-460E-94D1-54222C63F5DA}</a:tableStyleId>
              </a:tblPr>
              <a:tblGrid>
                <a:gridCol w="1795909">
                  <a:extLst>
                    <a:ext uri="{9D8B030D-6E8A-4147-A177-3AD203B41FA5}">
                      <a16:colId xmlns:a16="http://schemas.microsoft.com/office/drawing/2014/main" val="20000"/>
                    </a:ext>
                  </a:extLst>
                </a:gridCol>
                <a:gridCol w="2233935">
                  <a:extLst>
                    <a:ext uri="{9D8B030D-6E8A-4147-A177-3AD203B41FA5}">
                      <a16:colId xmlns:a16="http://schemas.microsoft.com/office/drawing/2014/main" val="20001"/>
                    </a:ext>
                  </a:extLst>
                </a:gridCol>
                <a:gridCol w="1821456">
                  <a:extLst>
                    <a:ext uri="{9D8B030D-6E8A-4147-A177-3AD203B41FA5}">
                      <a16:colId xmlns:a16="http://schemas.microsoft.com/office/drawing/2014/main" val="20002"/>
                    </a:ext>
                  </a:extLst>
                </a:gridCol>
                <a:gridCol w="1898359">
                  <a:extLst>
                    <a:ext uri="{9D8B030D-6E8A-4147-A177-3AD203B41FA5}">
                      <a16:colId xmlns:a16="http://schemas.microsoft.com/office/drawing/2014/main" val="20003"/>
                    </a:ext>
                  </a:extLst>
                </a:gridCol>
                <a:gridCol w="1898359">
                  <a:extLst>
                    <a:ext uri="{9D8B030D-6E8A-4147-A177-3AD203B41FA5}">
                      <a16:colId xmlns:a16="http://schemas.microsoft.com/office/drawing/2014/main" val="20004"/>
                    </a:ext>
                  </a:extLst>
                </a:gridCol>
                <a:gridCol w="1898359">
                  <a:extLst>
                    <a:ext uri="{9D8B030D-6E8A-4147-A177-3AD203B41FA5}">
                      <a16:colId xmlns:a16="http://schemas.microsoft.com/office/drawing/2014/main" val="20005"/>
                    </a:ext>
                  </a:extLst>
                </a:gridCol>
              </a:tblGrid>
              <a:tr h="743377">
                <a:tc>
                  <a:txBody>
                    <a:bodyPr/>
                    <a:lstStyle/>
                    <a:p>
                      <a:pPr algn="ctr"/>
                      <a:r>
                        <a:rPr lang="en-HK" b="1" dirty="0">
                          <a:solidFill>
                            <a:schemeClr val="bg1"/>
                          </a:solidFill>
                        </a:rPr>
                        <a:t>Computer</a:t>
                      </a:r>
                      <a:r>
                        <a:rPr lang="en-HK" b="1" baseline="0" dirty="0">
                          <a:solidFill>
                            <a:schemeClr val="bg1"/>
                          </a:solidFill>
                        </a:rPr>
                        <a:t> Engineer</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System</a:t>
                      </a:r>
                      <a:r>
                        <a:rPr lang="en-HK" b="1" baseline="0" dirty="0">
                          <a:solidFill>
                            <a:schemeClr val="bg1"/>
                          </a:solidFill>
                        </a:rPr>
                        <a:t> Analyst</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Programmer</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Technical</a:t>
                      </a:r>
                      <a:r>
                        <a:rPr lang="en-HK" b="1" baseline="0" dirty="0">
                          <a:solidFill>
                            <a:schemeClr val="bg1"/>
                          </a:solidFill>
                        </a:rPr>
                        <a:t> Support</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Network</a:t>
                      </a:r>
                      <a:r>
                        <a:rPr lang="en-HK" b="1" baseline="0" dirty="0">
                          <a:solidFill>
                            <a:schemeClr val="bg1"/>
                          </a:solidFill>
                        </a:rPr>
                        <a:t> Manager</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Database</a:t>
                      </a:r>
                      <a:r>
                        <a:rPr lang="en-HK" b="1" baseline="0" dirty="0">
                          <a:solidFill>
                            <a:schemeClr val="bg1"/>
                          </a:solidFill>
                        </a:rPr>
                        <a:t> Administrator</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1720898">
                <a:tc>
                  <a:txBody>
                    <a:bodyPr/>
                    <a:lstStyle/>
                    <a:p>
                      <a:pPr algn="l"/>
                      <a:r>
                        <a:rPr lang="en-US" dirty="0"/>
                        <a:t>Design, build and integrate the hardware,</a:t>
                      </a:r>
                      <a:r>
                        <a:rPr lang="en-US" baseline="0" dirty="0"/>
                        <a:t> </a:t>
                      </a:r>
                      <a:r>
                        <a:rPr lang="en-US" dirty="0"/>
                        <a:t>software and</a:t>
                      </a:r>
                      <a:r>
                        <a:rPr lang="en-US" baseline="0" dirty="0"/>
                        <a:t> </a:t>
                      </a:r>
                      <a:r>
                        <a:rPr lang="en-US" dirty="0"/>
                        <a:t>network</a:t>
                      </a:r>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l"/>
                      <a:r>
                        <a:rPr lang="en-US" altLang="zh-TW" dirty="0"/>
                        <a:t>Design a system to </a:t>
                      </a:r>
                      <a:r>
                        <a:rPr lang="en-US" altLang="zh-TW" dirty="0" err="1"/>
                        <a:t>fulil</a:t>
                      </a:r>
                      <a:r>
                        <a:rPr lang="en-US" altLang="zh-TW" dirty="0"/>
                        <a:t> the</a:t>
                      </a:r>
                      <a:r>
                        <a:rPr lang="en-US" altLang="zh-TW" baseline="0" dirty="0"/>
                        <a:t> </a:t>
                      </a:r>
                      <a:r>
                        <a:rPr lang="en-US" altLang="zh-TW" dirty="0"/>
                        <a:t>business needs and the</a:t>
                      </a:r>
                      <a:r>
                        <a:rPr lang="en-US" altLang="zh-TW" baseline="0" dirty="0"/>
                        <a:t> </a:t>
                      </a:r>
                      <a:r>
                        <a:rPr lang="en-US" altLang="zh-TW" dirty="0"/>
                        <a:t>requirements</a:t>
                      </a:r>
                      <a:r>
                        <a:rPr lang="en-US" altLang="zh-TW" baseline="0" dirty="0"/>
                        <a:t> </a:t>
                      </a:r>
                      <a:r>
                        <a:rPr lang="en-US" altLang="zh-TW" dirty="0"/>
                        <a:t>provided by end</a:t>
                      </a:r>
                      <a:r>
                        <a:rPr lang="en-US" altLang="zh-TW" baseline="0" dirty="0"/>
                        <a:t> </a:t>
                      </a:r>
                      <a:r>
                        <a:rPr lang="en-US" altLang="zh-TW" dirty="0"/>
                        <a:t>users</a:t>
                      </a:r>
                    </a:p>
                    <a:p>
                      <a:pPr algn="l"/>
                      <a:endParaRPr lang="en-US" altLang="zh-TW" dirty="0"/>
                    </a:p>
                    <a:p>
                      <a:pPr algn="l"/>
                      <a:r>
                        <a:rPr lang="en-US" altLang="zh-TW" dirty="0" err="1"/>
                        <a:t>Analyse</a:t>
                      </a:r>
                      <a:r>
                        <a:rPr lang="en-US" altLang="zh-TW" dirty="0"/>
                        <a:t> the time, cost and</a:t>
                      </a:r>
                      <a:r>
                        <a:rPr lang="en-US" altLang="zh-TW" baseline="0" dirty="0"/>
                        <a:t> </a:t>
                      </a:r>
                      <a:r>
                        <a:rPr lang="en-US" altLang="zh-TW" dirty="0"/>
                        <a:t>feasibility of building the</a:t>
                      </a:r>
                      <a:r>
                        <a:rPr lang="en-US" altLang="zh-TW" baseline="0" dirty="0"/>
                        <a:t> </a:t>
                      </a:r>
                      <a:r>
                        <a:rPr lang="en-US" altLang="zh-TW" dirty="0"/>
                        <a:t>system</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l"/>
                      <a:r>
                        <a:rPr lang="en-US" dirty="0"/>
                        <a:t>Develop the system according to the design given by systems analysts</a:t>
                      </a:r>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l"/>
                      <a:r>
                        <a:rPr lang="en-US" altLang="zh-TW" dirty="0"/>
                        <a:t>Assist the end users in using the information system</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l"/>
                      <a:r>
                        <a:rPr lang="en-US" altLang="zh-TW" dirty="0"/>
                        <a:t>Monitor the network</a:t>
                      </a:r>
                      <a:r>
                        <a:rPr lang="en-US" altLang="zh-TW" baseline="0" dirty="0"/>
                        <a:t> </a:t>
                      </a:r>
                      <a:r>
                        <a:rPr lang="en-US" altLang="zh-TW" dirty="0"/>
                        <a:t>communication between computer systems</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l"/>
                      <a:r>
                        <a:rPr lang="en-US" dirty="0"/>
                        <a:t>Design and manage the databases</a:t>
                      </a:r>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732104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HK" dirty="0"/>
              <a:t>Answer the question on P. 8 of the textbook.</a:t>
            </a:r>
          </a:p>
          <a:p>
            <a:pPr marL="0" indent="0">
              <a:buNone/>
            </a:pPr>
            <a:endParaRPr lang="en-HK" dirty="0"/>
          </a:p>
          <a:p>
            <a:pPr marL="457200" indent="-457200">
              <a:buSzPct val="100000"/>
              <a:buFont typeface="+mj-lt"/>
              <a:buAutoNum type="arabicPeriod"/>
            </a:pPr>
            <a:r>
              <a:rPr lang="en-HK" dirty="0">
                <a:solidFill>
                  <a:srgbClr val="FF0000"/>
                </a:solidFill>
              </a:rPr>
              <a:t>D</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10</a:t>
            </a:fld>
            <a:endParaRPr lang="en-US" dirty="0"/>
          </a:p>
        </p:txBody>
      </p:sp>
      <p:sp>
        <p:nvSpPr>
          <p:cNvPr id="4" name="Text Placeholder 3"/>
          <p:cNvSpPr>
            <a:spLocks noGrp="1"/>
          </p:cNvSpPr>
          <p:nvPr>
            <p:ph type="body" sz="quarter" idx="13"/>
          </p:nvPr>
        </p:nvSpPr>
        <p:spPr/>
        <p:txBody>
          <a:bodyPr/>
          <a:lstStyle/>
          <a:p>
            <a:r>
              <a:rPr lang="en-HK" dirty="0"/>
              <a:t>1.1</a:t>
            </a:r>
            <a:endParaRPr lang="en-US" dirty="0"/>
          </a:p>
        </p:txBody>
      </p:sp>
    </p:spTree>
    <p:extLst>
      <p:ext uri="{BB962C8B-B14F-4D97-AF65-F5344CB8AC3E}">
        <p14:creationId xmlns:p14="http://schemas.microsoft.com/office/powerpoint/2010/main" val="3585769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Data and Information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11</a:t>
            </a:fld>
            <a:endParaRPr lang="en-US" dirty="0"/>
          </a:p>
        </p:txBody>
      </p:sp>
      <p:sp>
        <p:nvSpPr>
          <p:cNvPr id="4" name="Text Placeholder 3"/>
          <p:cNvSpPr>
            <a:spLocks noGrp="1"/>
          </p:cNvSpPr>
          <p:nvPr>
            <p:ph type="body" sz="quarter" idx="13"/>
          </p:nvPr>
        </p:nvSpPr>
        <p:spPr/>
        <p:txBody>
          <a:bodyPr/>
          <a:lstStyle/>
          <a:p>
            <a:pPr marL="0" indent="0">
              <a:buNone/>
            </a:pPr>
            <a:r>
              <a:rPr lang="en-HK" dirty="0"/>
              <a:t>Do you know what is the meaning of the data below?</a:t>
            </a:r>
            <a:endParaRPr lang="en-US" dirty="0"/>
          </a:p>
        </p:txBody>
      </p:sp>
      <p:sp>
        <p:nvSpPr>
          <p:cNvPr id="5" name="Text Placeholder 4"/>
          <p:cNvSpPr>
            <a:spLocks noGrp="1"/>
          </p:cNvSpPr>
          <p:nvPr>
            <p:ph type="body" sz="quarter" idx="14"/>
          </p:nvPr>
        </p:nvSpPr>
        <p:spPr/>
        <p:txBody>
          <a:bodyPr/>
          <a:lstStyle/>
          <a:p>
            <a:r>
              <a:rPr lang="en-HK" dirty="0"/>
              <a:t>1.2</a:t>
            </a:r>
            <a:endParaRPr lang="en-US" dirty="0"/>
          </a:p>
        </p:txBody>
      </p:sp>
      <p:sp>
        <p:nvSpPr>
          <p:cNvPr id="6" name="TextBox 5"/>
          <p:cNvSpPr txBox="1"/>
          <p:nvPr/>
        </p:nvSpPr>
        <p:spPr>
          <a:xfrm>
            <a:off x="1424914" y="3351339"/>
            <a:ext cx="987771" cy="369332"/>
          </a:xfrm>
          <a:prstGeom prst="rect">
            <a:avLst/>
          </a:prstGeom>
          <a:noFill/>
        </p:spPr>
        <p:txBody>
          <a:bodyPr wrap="none" rtlCol="0">
            <a:spAutoFit/>
          </a:bodyPr>
          <a:lstStyle/>
          <a:p>
            <a:r>
              <a:rPr lang="en-US" altLang="zh-CN" dirty="0"/>
              <a:t>Olympia</a:t>
            </a:r>
            <a:endParaRPr lang="en-US" dirty="0"/>
          </a:p>
        </p:txBody>
      </p:sp>
      <p:sp>
        <p:nvSpPr>
          <p:cNvPr id="7" name="TextBox 6"/>
          <p:cNvSpPr txBox="1"/>
          <p:nvPr/>
        </p:nvSpPr>
        <p:spPr>
          <a:xfrm>
            <a:off x="2832536" y="4310073"/>
            <a:ext cx="1043491" cy="369332"/>
          </a:xfrm>
          <a:prstGeom prst="rect">
            <a:avLst/>
          </a:prstGeom>
          <a:noFill/>
        </p:spPr>
        <p:txBody>
          <a:bodyPr wrap="none" rtlCol="0">
            <a:spAutoFit/>
          </a:bodyPr>
          <a:lstStyle/>
          <a:p>
            <a:r>
              <a:rPr lang="en-US" altLang="zh-CN" dirty="0"/>
              <a:t>Merchant</a:t>
            </a:r>
            <a:endParaRPr lang="en-US" dirty="0"/>
          </a:p>
        </p:txBody>
      </p:sp>
      <p:sp>
        <p:nvSpPr>
          <p:cNvPr id="8" name="TextBox 7"/>
          <p:cNvSpPr txBox="1"/>
          <p:nvPr/>
        </p:nvSpPr>
        <p:spPr>
          <a:xfrm>
            <a:off x="4677962" y="2897234"/>
            <a:ext cx="986167" cy="369332"/>
          </a:xfrm>
          <a:prstGeom prst="rect">
            <a:avLst/>
          </a:prstGeom>
          <a:noFill/>
        </p:spPr>
        <p:txBody>
          <a:bodyPr wrap="none" rtlCol="0">
            <a:spAutoFit/>
          </a:bodyPr>
          <a:lstStyle/>
          <a:p>
            <a:r>
              <a:rPr lang="en-US" altLang="zh-CN" dirty="0"/>
              <a:t>Boatman</a:t>
            </a:r>
            <a:endParaRPr lang="en-US" dirty="0"/>
          </a:p>
        </p:txBody>
      </p:sp>
      <p:sp>
        <p:nvSpPr>
          <p:cNvPr id="9" name="TextBox 8"/>
          <p:cNvSpPr txBox="1"/>
          <p:nvPr/>
        </p:nvSpPr>
        <p:spPr>
          <a:xfrm>
            <a:off x="4012943" y="3536005"/>
            <a:ext cx="618054" cy="369332"/>
          </a:xfrm>
          <a:prstGeom prst="rect">
            <a:avLst/>
          </a:prstGeom>
          <a:noFill/>
        </p:spPr>
        <p:txBody>
          <a:bodyPr wrap="none" rtlCol="0">
            <a:spAutoFit/>
          </a:bodyPr>
          <a:lstStyle/>
          <a:p>
            <a:r>
              <a:rPr lang="en-US" altLang="zh-CN" dirty="0"/>
              <a:t>Paris</a:t>
            </a:r>
            <a:endParaRPr lang="en-US" dirty="0"/>
          </a:p>
        </p:txBody>
      </p:sp>
      <p:sp>
        <p:nvSpPr>
          <p:cNvPr id="10" name="TextBox 9"/>
          <p:cNvSpPr txBox="1"/>
          <p:nvPr/>
        </p:nvSpPr>
        <p:spPr>
          <a:xfrm>
            <a:off x="6879525" y="4785083"/>
            <a:ext cx="707245" cy="369332"/>
          </a:xfrm>
          <a:prstGeom prst="rect">
            <a:avLst/>
          </a:prstGeom>
          <a:noFill/>
        </p:spPr>
        <p:txBody>
          <a:bodyPr wrap="none" rtlCol="0">
            <a:spAutoFit/>
          </a:bodyPr>
          <a:lstStyle/>
          <a:p>
            <a:r>
              <a:rPr lang="en-US" altLang="zh-CN" dirty="0"/>
              <a:t>Fisher</a:t>
            </a:r>
            <a:endParaRPr lang="en-US" dirty="0"/>
          </a:p>
        </p:txBody>
      </p:sp>
      <p:sp>
        <p:nvSpPr>
          <p:cNvPr id="11" name="TextBox 10"/>
          <p:cNvSpPr txBox="1"/>
          <p:nvPr/>
        </p:nvSpPr>
        <p:spPr>
          <a:xfrm>
            <a:off x="3257973" y="2820303"/>
            <a:ext cx="437940" cy="369332"/>
          </a:xfrm>
          <a:prstGeom prst="rect">
            <a:avLst/>
          </a:prstGeom>
          <a:noFill/>
        </p:spPr>
        <p:txBody>
          <a:bodyPr wrap="none" rtlCol="0">
            <a:spAutoFit/>
          </a:bodyPr>
          <a:lstStyle/>
          <a:p>
            <a:r>
              <a:rPr lang="en-US" altLang="zh-CN" dirty="0"/>
              <a:t>81</a:t>
            </a:r>
            <a:endParaRPr lang="en-US" dirty="0"/>
          </a:p>
        </p:txBody>
      </p:sp>
      <p:sp>
        <p:nvSpPr>
          <p:cNvPr id="12" name="TextBox 11"/>
          <p:cNvSpPr txBox="1"/>
          <p:nvPr/>
        </p:nvSpPr>
        <p:spPr>
          <a:xfrm>
            <a:off x="4733105" y="3905337"/>
            <a:ext cx="437940" cy="369332"/>
          </a:xfrm>
          <a:prstGeom prst="rect">
            <a:avLst/>
          </a:prstGeom>
          <a:noFill/>
        </p:spPr>
        <p:txBody>
          <a:bodyPr wrap="none" rtlCol="0">
            <a:spAutoFit/>
          </a:bodyPr>
          <a:lstStyle/>
          <a:p>
            <a:r>
              <a:rPr lang="en-US" altLang="zh-CN" dirty="0"/>
              <a:t>73</a:t>
            </a:r>
            <a:endParaRPr lang="en-US" dirty="0"/>
          </a:p>
        </p:txBody>
      </p:sp>
      <p:sp>
        <p:nvSpPr>
          <p:cNvPr id="13" name="TextBox 12"/>
          <p:cNvSpPr txBox="1"/>
          <p:nvPr/>
        </p:nvSpPr>
        <p:spPr>
          <a:xfrm>
            <a:off x="5333199" y="4513617"/>
            <a:ext cx="437940" cy="369332"/>
          </a:xfrm>
          <a:prstGeom prst="rect">
            <a:avLst/>
          </a:prstGeom>
          <a:noFill/>
        </p:spPr>
        <p:txBody>
          <a:bodyPr wrap="none" rtlCol="0">
            <a:spAutoFit/>
          </a:bodyPr>
          <a:lstStyle/>
          <a:p>
            <a:r>
              <a:rPr lang="en-US" altLang="zh-CN" dirty="0"/>
              <a:t>49</a:t>
            </a:r>
            <a:endParaRPr lang="en-US" dirty="0"/>
          </a:p>
        </p:txBody>
      </p:sp>
      <p:sp>
        <p:nvSpPr>
          <p:cNvPr id="14" name="TextBox 13"/>
          <p:cNvSpPr txBox="1"/>
          <p:nvPr/>
        </p:nvSpPr>
        <p:spPr>
          <a:xfrm>
            <a:off x="7312656" y="3711698"/>
            <a:ext cx="437940" cy="369332"/>
          </a:xfrm>
          <a:prstGeom prst="rect">
            <a:avLst/>
          </a:prstGeom>
          <a:noFill/>
        </p:spPr>
        <p:txBody>
          <a:bodyPr wrap="none" rtlCol="0">
            <a:spAutoFit/>
          </a:bodyPr>
          <a:lstStyle/>
          <a:p>
            <a:r>
              <a:rPr lang="en-US" altLang="zh-CN" dirty="0"/>
              <a:t>45</a:t>
            </a:r>
            <a:endParaRPr lang="en-US" dirty="0"/>
          </a:p>
        </p:txBody>
      </p:sp>
      <p:sp>
        <p:nvSpPr>
          <p:cNvPr id="15" name="TextBox 14"/>
          <p:cNvSpPr txBox="1"/>
          <p:nvPr/>
        </p:nvSpPr>
        <p:spPr>
          <a:xfrm>
            <a:off x="7586770" y="3266566"/>
            <a:ext cx="437940" cy="369332"/>
          </a:xfrm>
          <a:prstGeom prst="rect">
            <a:avLst/>
          </a:prstGeom>
          <a:noFill/>
        </p:spPr>
        <p:txBody>
          <a:bodyPr wrap="none" rtlCol="0">
            <a:spAutoFit/>
          </a:bodyPr>
          <a:lstStyle/>
          <a:p>
            <a:r>
              <a:rPr lang="en-US" altLang="zh-CN" dirty="0"/>
              <a:t>70</a:t>
            </a:r>
            <a:endParaRPr lang="en-US" dirty="0"/>
          </a:p>
        </p:txBody>
      </p:sp>
      <p:sp>
        <p:nvSpPr>
          <p:cNvPr id="16" name="TextBox 15"/>
          <p:cNvSpPr txBox="1"/>
          <p:nvPr/>
        </p:nvSpPr>
        <p:spPr>
          <a:xfrm>
            <a:off x="9694313" y="3451232"/>
            <a:ext cx="986167" cy="369332"/>
          </a:xfrm>
          <a:prstGeom prst="rect">
            <a:avLst/>
          </a:prstGeom>
          <a:noFill/>
        </p:spPr>
        <p:txBody>
          <a:bodyPr wrap="none" rtlCol="0">
            <a:spAutoFit/>
          </a:bodyPr>
          <a:lstStyle/>
          <a:p>
            <a:r>
              <a:rPr lang="en-US" altLang="zh-CN" dirty="0"/>
              <a:t>Hamilton</a:t>
            </a:r>
            <a:endParaRPr lang="en-US" dirty="0"/>
          </a:p>
        </p:txBody>
      </p:sp>
      <p:sp>
        <p:nvSpPr>
          <p:cNvPr id="17" name="TextBox 16"/>
          <p:cNvSpPr txBox="1"/>
          <p:nvPr/>
        </p:nvSpPr>
        <p:spPr>
          <a:xfrm>
            <a:off x="8832560" y="3956400"/>
            <a:ext cx="715452" cy="369332"/>
          </a:xfrm>
          <a:prstGeom prst="rect">
            <a:avLst/>
          </a:prstGeom>
          <a:noFill/>
        </p:spPr>
        <p:txBody>
          <a:bodyPr wrap="none" rtlCol="0">
            <a:spAutoFit/>
          </a:bodyPr>
          <a:lstStyle/>
          <a:p>
            <a:r>
              <a:rPr lang="en-US" altLang="zh-CN" dirty="0"/>
              <a:t>Baker</a:t>
            </a:r>
            <a:endParaRPr lang="en-US" dirty="0"/>
          </a:p>
        </p:txBody>
      </p:sp>
    </p:spTree>
    <p:extLst>
      <p:ext uri="{BB962C8B-B14F-4D97-AF65-F5344CB8AC3E}">
        <p14:creationId xmlns:p14="http://schemas.microsoft.com/office/powerpoint/2010/main" val="3772452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Data</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a:t>
            </a:fld>
            <a:endParaRPr lang="en-US" dirty="0"/>
          </a:p>
        </p:txBody>
      </p:sp>
      <p:sp>
        <p:nvSpPr>
          <p:cNvPr id="4" name="Text Placeholder 3"/>
          <p:cNvSpPr>
            <a:spLocks noGrp="1"/>
          </p:cNvSpPr>
          <p:nvPr>
            <p:ph type="body" sz="quarter" idx="13"/>
          </p:nvPr>
        </p:nvSpPr>
        <p:spPr/>
        <p:txBody>
          <a:bodyPr/>
          <a:lstStyle/>
          <a:p>
            <a:pPr marL="0" indent="0">
              <a:buNone/>
            </a:pPr>
            <a:r>
              <a:rPr lang="en-US" b="1" dirty="0">
                <a:solidFill>
                  <a:srgbClr val="5E5DA8"/>
                </a:solidFill>
              </a:rPr>
              <a:t>Data </a:t>
            </a:r>
            <a:r>
              <a:rPr lang="en-US" dirty="0"/>
              <a:t>is a collection of </a:t>
            </a:r>
            <a:r>
              <a:rPr lang="en-US" dirty="0" err="1"/>
              <a:t>unorganised</a:t>
            </a:r>
            <a:r>
              <a:rPr lang="en-US" dirty="0"/>
              <a:t> facts which usually has no meaning on its own.</a:t>
            </a:r>
          </a:p>
        </p:txBody>
      </p:sp>
      <p:sp>
        <p:nvSpPr>
          <p:cNvPr id="5" name="Text Placeholder 4"/>
          <p:cNvSpPr>
            <a:spLocks noGrp="1"/>
          </p:cNvSpPr>
          <p:nvPr>
            <p:ph type="body" sz="quarter" idx="14"/>
          </p:nvPr>
        </p:nvSpPr>
        <p:spPr/>
        <p:txBody>
          <a:bodyPr/>
          <a:lstStyle/>
          <a:p>
            <a:r>
              <a:rPr lang="en-HK" dirty="0"/>
              <a:t>A</a:t>
            </a:r>
            <a:endParaRPr lang="en-US" dirty="0"/>
          </a:p>
        </p:txBody>
      </p:sp>
      <p:sp>
        <p:nvSpPr>
          <p:cNvPr id="6" name="TextBox 5"/>
          <p:cNvSpPr txBox="1"/>
          <p:nvPr/>
        </p:nvSpPr>
        <p:spPr>
          <a:xfrm>
            <a:off x="1424914" y="3351339"/>
            <a:ext cx="987771" cy="369332"/>
          </a:xfrm>
          <a:prstGeom prst="rect">
            <a:avLst/>
          </a:prstGeom>
          <a:noFill/>
        </p:spPr>
        <p:txBody>
          <a:bodyPr wrap="none" rtlCol="0">
            <a:spAutoFit/>
          </a:bodyPr>
          <a:lstStyle/>
          <a:p>
            <a:r>
              <a:rPr lang="en-US" altLang="zh-CN" dirty="0"/>
              <a:t>Olympia</a:t>
            </a:r>
            <a:endParaRPr lang="en-US" dirty="0"/>
          </a:p>
        </p:txBody>
      </p:sp>
      <p:sp>
        <p:nvSpPr>
          <p:cNvPr id="7" name="TextBox 6"/>
          <p:cNvSpPr txBox="1"/>
          <p:nvPr/>
        </p:nvSpPr>
        <p:spPr>
          <a:xfrm>
            <a:off x="2832536" y="4310073"/>
            <a:ext cx="1043491" cy="369332"/>
          </a:xfrm>
          <a:prstGeom prst="rect">
            <a:avLst/>
          </a:prstGeom>
          <a:noFill/>
        </p:spPr>
        <p:txBody>
          <a:bodyPr wrap="none" rtlCol="0">
            <a:spAutoFit/>
          </a:bodyPr>
          <a:lstStyle/>
          <a:p>
            <a:r>
              <a:rPr lang="en-US" altLang="zh-CN" dirty="0"/>
              <a:t>Merchant</a:t>
            </a:r>
            <a:endParaRPr lang="en-US" dirty="0"/>
          </a:p>
        </p:txBody>
      </p:sp>
      <p:sp>
        <p:nvSpPr>
          <p:cNvPr id="8" name="TextBox 7"/>
          <p:cNvSpPr txBox="1"/>
          <p:nvPr/>
        </p:nvSpPr>
        <p:spPr>
          <a:xfrm>
            <a:off x="4677962" y="2897234"/>
            <a:ext cx="986167" cy="369332"/>
          </a:xfrm>
          <a:prstGeom prst="rect">
            <a:avLst/>
          </a:prstGeom>
          <a:noFill/>
        </p:spPr>
        <p:txBody>
          <a:bodyPr wrap="none" rtlCol="0">
            <a:spAutoFit/>
          </a:bodyPr>
          <a:lstStyle/>
          <a:p>
            <a:r>
              <a:rPr lang="en-US" altLang="zh-CN" dirty="0"/>
              <a:t>Boatman</a:t>
            </a:r>
            <a:endParaRPr lang="en-US" dirty="0"/>
          </a:p>
        </p:txBody>
      </p:sp>
      <p:sp>
        <p:nvSpPr>
          <p:cNvPr id="9" name="TextBox 8"/>
          <p:cNvSpPr txBox="1"/>
          <p:nvPr/>
        </p:nvSpPr>
        <p:spPr>
          <a:xfrm>
            <a:off x="4012943" y="3536005"/>
            <a:ext cx="618054" cy="369332"/>
          </a:xfrm>
          <a:prstGeom prst="rect">
            <a:avLst/>
          </a:prstGeom>
          <a:noFill/>
        </p:spPr>
        <p:txBody>
          <a:bodyPr wrap="none" rtlCol="0">
            <a:spAutoFit/>
          </a:bodyPr>
          <a:lstStyle/>
          <a:p>
            <a:r>
              <a:rPr lang="en-US" altLang="zh-CN" dirty="0"/>
              <a:t>Paris</a:t>
            </a:r>
            <a:endParaRPr lang="en-US" dirty="0"/>
          </a:p>
        </p:txBody>
      </p:sp>
      <p:sp>
        <p:nvSpPr>
          <p:cNvPr id="10" name="TextBox 9"/>
          <p:cNvSpPr txBox="1"/>
          <p:nvPr/>
        </p:nvSpPr>
        <p:spPr>
          <a:xfrm>
            <a:off x="6879525" y="4785083"/>
            <a:ext cx="707245" cy="369332"/>
          </a:xfrm>
          <a:prstGeom prst="rect">
            <a:avLst/>
          </a:prstGeom>
          <a:noFill/>
        </p:spPr>
        <p:txBody>
          <a:bodyPr wrap="none" rtlCol="0">
            <a:spAutoFit/>
          </a:bodyPr>
          <a:lstStyle/>
          <a:p>
            <a:r>
              <a:rPr lang="en-US" altLang="zh-CN" dirty="0"/>
              <a:t>Fisher</a:t>
            </a:r>
            <a:endParaRPr lang="en-US" dirty="0"/>
          </a:p>
        </p:txBody>
      </p:sp>
      <p:sp>
        <p:nvSpPr>
          <p:cNvPr id="11" name="TextBox 10"/>
          <p:cNvSpPr txBox="1"/>
          <p:nvPr/>
        </p:nvSpPr>
        <p:spPr>
          <a:xfrm>
            <a:off x="3257973" y="2820303"/>
            <a:ext cx="437940" cy="369332"/>
          </a:xfrm>
          <a:prstGeom prst="rect">
            <a:avLst/>
          </a:prstGeom>
          <a:noFill/>
        </p:spPr>
        <p:txBody>
          <a:bodyPr wrap="none" rtlCol="0">
            <a:spAutoFit/>
          </a:bodyPr>
          <a:lstStyle/>
          <a:p>
            <a:r>
              <a:rPr lang="en-US" altLang="zh-CN" dirty="0"/>
              <a:t>81</a:t>
            </a:r>
            <a:endParaRPr lang="en-US" dirty="0"/>
          </a:p>
        </p:txBody>
      </p:sp>
      <p:sp>
        <p:nvSpPr>
          <p:cNvPr id="12" name="TextBox 11"/>
          <p:cNvSpPr txBox="1"/>
          <p:nvPr/>
        </p:nvSpPr>
        <p:spPr>
          <a:xfrm>
            <a:off x="4733105" y="3905337"/>
            <a:ext cx="437940" cy="369332"/>
          </a:xfrm>
          <a:prstGeom prst="rect">
            <a:avLst/>
          </a:prstGeom>
          <a:noFill/>
        </p:spPr>
        <p:txBody>
          <a:bodyPr wrap="none" rtlCol="0">
            <a:spAutoFit/>
          </a:bodyPr>
          <a:lstStyle/>
          <a:p>
            <a:r>
              <a:rPr lang="en-US" altLang="zh-CN" dirty="0"/>
              <a:t>73</a:t>
            </a:r>
            <a:endParaRPr lang="en-US" dirty="0"/>
          </a:p>
        </p:txBody>
      </p:sp>
      <p:sp>
        <p:nvSpPr>
          <p:cNvPr id="13" name="TextBox 12"/>
          <p:cNvSpPr txBox="1"/>
          <p:nvPr/>
        </p:nvSpPr>
        <p:spPr>
          <a:xfrm>
            <a:off x="5333199" y="4513617"/>
            <a:ext cx="437940" cy="369332"/>
          </a:xfrm>
          <a:prstGeom prst="rect">
            <a:avLst/>
          </a:prstGeom>
          <a:noFill/>
        </p:spPr>
        <p:txBody>
          <a:bodyPr wrap="none" rtlCol="0">
            <a:spAutoFit/>
          </a:bodyPr>
          <a:lstStyle/>
          <a:p>
            <a:r>
              <a:rPr lang="en-US" altLang="zh-CN" dirty="0"/>
              <a:t>49</a:t>
            </a:r>
            <a:endParaRPr lang="en-US" dirty="0"/>
          </a:p>
        </p:txBody>
      </p:sp>
      <p:sp>
        <p:nvSpPr>
          <p:cNvPr id="14" name="TextBox 13"/>
          <p:cNvSpPr txBox="1"/>
          <p:nvPr/>
        </p:nvSpPr>
        <p:spPr>
          <a:xfrm>
            <a:off x="7312656" y="3711698"/>
            <a:ext cx="437940" cy="369332"/>
          </a:xfrm>
          <a:prstGeom prst="rect">
            <a:avLst/>
          </a:prstGeom>
          <a:noFill/>
        </p:spPr>
        <p:txBody>
          <a:bodyPr wrap="none" rtlCol="0">
            <a:spAutoFit/>
          </a:bodyPr>
          <a:lstStyle/>
          <a:p>
            <a:r>
              <a:rPr lang="en-US" altLang="zh-CN" dirty="0"/>
              <a:t>45</a:t>
            </a:r>
            <a:endParaRPr lang="en-US" dirty="0"/>
          </a:p>
        </p:txBody>
      </p:sp>
      <p:sp>
        <p:nvSpPr>
          <p:cNvPr id="15" name="TextBox 14"/>
          <p:cNvSpPr txBox="1"/>
          <p:nvPr/>
        </p:nvSpPr>
        <p:spPr>
          <a:xfrm>
            <a:off x="7586770" y="3266566"/>
            <a:ext cx="437940" cy="369332"/>
          </a:xfrm>
          <a:prstGeom prst="rect">
            <a:avLst/>
          </a:prstGeom>
          <a:noFill/>
        </p:spPr>
        <p:txBody>
          <a:bodyPr wrap="none" rtlCol="0">
            <a:spAutoFit/>
          </a:bodyPr>
          <a:lstStyle/>
          <a:p>
            <a:r>
              <a:rPr lang="en-US" altLang="zh-CN" dirty="0"/>
              <a:t>70</a:t>
            </a:r>
            <a:endParaRPr lang="en-US" dirty="0"/>
          </a:p>
        </p:txBody>
      </p:sp>
      <p:sp>
        <p:nvSpPr>
          <p:cNvPr id="16" name="TextBox 15"/>
          <p:cNvSpPr txBox="1"/>
          <p:nvPr/>
        </p:nvSpPr>
        <p:spPr>
          <a:xfrm>
            <a:off x="9694313" y="3451232"/>
            <a:ext cx="986167" cy="369332"/>
          </a:xfrm>
          <a:prstGeom prst="rect">
            <a:avLst/>
          </a:prstGeom>
          <a:noFill/>
        </p:spPr>
        <p:txBody>
          <a:bodyPr wrap="none" rtlCol="0">
            <a:spAutoFit/>
          </a:bodyPr>
          <a:lstStyle/>
          <a:p>
            <a:r>
              <a:rPr lang="en-US" altLang="zh-CN" dirty="0"/>
              <a:t>Hamilton</a:t>
            </a:r>
            <a:endParaRPr lang="en-US" dirty="0"/>
          </a:p>
        </p:txBody>
      </p:sp>
      <p:sp>
        <p:nvSpPr>
          <p:cNvPr id="17" name="TextBox 16"/>
          <p:cNvSpPr txBox="1"/>
          <p:nvPr/>
        </p:nvSpPr>
        <p:spPr>
          <a:xfrm>
            <a:off x="8832560" y="3956400"/>
            <a:ext cx="715452" cy="369332"/>
          </a:xfrm>
          <a:prstGeom prst="rect">
            <a:avLst/>
          </a:prstGeom>
          <a:noFill/>
        </p:spPr>
        <p:txBody>
          <a:bodyPr wrap="none" rtlCol="0">
            <a:spAutoFit/>
          </a:bodyPr>
          <a:lstStyle/>
          <a:p>
            <a:r>
              <a:rPr lang="en-US" altLang="zh-CN" dirty="0"/>
              <a:t>Baker</a:t>
            </a:r>
            <a:endParaRPr lang="en-US" dirty="0"/>
          </a:p>
        </p:txBody>
      </p:sp>
    </p:spTree>
    <p:extLst>
      <p:ext uri="{BB962C8B-B14F-4D97-AF65-F5344CB8AC3E}">
        <p14:creationId xmlns:p14="http://schemas.microsoft.com/office/powerpoint/2010/main" val="2955532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6D22F896-40B5-4ADD-8801-0D06FADFA095}" type="slidenum">
              <a:rPr lang="en-US" smtClean="0"/>
              <a:pPr/>
              <a:t>13</a:t>
            </a:fld>
            <a:endParaRPr lang="en-US" dirty="0"/>
          </a:p>
        </p:txBody>
      </p:sp>
      <p:sp>
        <p:nvSpPr>
          <p:cNvPr id="4" name="Text Placeholder 3"/>
          <p:cNvSpPr>
            <a:spLocks noGrp="1"/>
          </p:cNvSpPr>
          <p:nvPr>
            <p:ph type="body" sz="quarter" idx="13"/>
          </p:nvPr>
        </p:nvSpPr>
        <p:spPr/>
        <p:txBody>
          <a:bodyPr/>
          <a:lstStyle/>
          <a:p>
            <a:pPr marL="0" indent="0">
              <a:buNone/>
            </a:pPr>
            <a:r>
              <a:rPr lang="en-US" dirty="0"/>
              <a:t>After processing, data is put into context and converted into </a:t>
            </a:r>
            <a:r>
              <a:rPr lang="en-US" b="1" dirty="0">
                <a:solidFill>
                  <a:srgbClr val="5E5DA8"/>
                </a:solidFill>
              </a:rPr>
              <a:t>information</a:t>
            </a:r>
            <a:r>
              <a:rPr lang="en-US" dirty="0"/>
              <a:t>.</a:t>
            </a:r>
          </a:p>
          <a:p>
            <a:pPr marL="0" indent="0">
              <a:buNone/>
            </a:pPr>
            <a:endParaRPr lang="en-HK" dirty="0"/>
          </a:p>
          <a:p>
            <a:pPr marL="0" indent="0">
              <a:buNone/>
            </a:pPr>
            <a:r>
              <a:rPr lang="en-HK" dirty="0"/>
              <a:t>For example:</a:t>
            </a:r>
            <a:endParaRPr lang="en-US" dirty="0"/>
          </a:p>
        </p:txBody>
      </p:sp>
      <p:sp>
        <p:nvSpPr>
          <p:cNvPr id="5" name="Text Placeholder 4"/>
          <p:cNvSpPr>
            <a:spLocks noGrp="1"/>
          </p:cNvSpPr>
          <p:nvPr>
            <p:ph type="body" sz="quarter" idx="14"/>
          </p:nvPr>
        </p:nvSpPr>
        <p:spPr/>
        <p:txBody>
          <a:bodyPr/>
          <a:lstStyle/>
          <a:p>
            <a:r>
              <a:rPr lang="en-HK" dirty="0"/>
              <a:t>B</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047384154"/>
              </p:ext>
            </p:extLst>
          </p:nvPr>
        </p:nvGraphicFramePr>
        <p:xfrm>
          <a:off x="507072" y="3196858"/>
          <a:ext cx="11272059" cy="1983165"/>
        </p:xfrm>
        <a:graphic>
          <a:graphicData uri="http://schemas.openxmlformats.org/drawingml/2006/table">
            <a:tbl>
              <a:tblPr firstRow="1" bandRow="1">
                <a:tableStyleId>{5940675A-B579-460E-94D1-54222C63F5DA}</a:tableStyleId>
              </a:tblPr>
              <a:tblGrid>
                <a:gridCol w="1252451">
                  <a:extLst>
                    <a:ext uri="{9D8B030D-6E8A-4147-A177-3AD203B41FA5}">
                      <a16:colId xmlns:a16="http://schemas.microsoft.com/office/drawing/2014/main" val="20000"/>
                    </a:ext>
                  </a:extLst>
                </a:gridCol>
                <a:gridCol w="1252451">
                  <a:extLst>
                    <a:ext uri="{9D8B030D-6E8A-4147-A177-3AD203B41FA5}">
                      <a16:colId xmlns:a16="http://schemas.microsoft.com/office/drawing/2014/main" val="20001"/>
                    </a:ext>
                  </a:extLst>
                </a:gridCol>
                <a:gridCol w="1252451">
                  <a:extLst>
                    <a:ext uri="{9D8B030D-6E8A-4147-A177-3AD203B41FA5}">
                      <a16:colId xmlns:a16="http://schemas.microsoft.com/office/drawing/2014/main" val="20002"/>
                    </a:ext>
                  </a:extLst>
                </a:gridCol>
                <a:gridCol w="1252451">
                  <a:extLst>
                    <a:ext uri="{9D8B030D-6E8A-4147-A177-3AD203B41FA5}">
                      <a16:colId xmlns:a16="http://schemas.microsoft.com/office/drawing/2014/main" val="20003"/>
                    </a:ext>
                  </a:extLst>
                </a:gridCol>
                <a:gridCol w="1252451">
                  <a:extLst>
                    <a:ext uri="{9D8B030D-6E8A-4147-A177-3AD203B41FA5}">
                      <a16:colId xmlns:a16="http://schemas.microsoft.com/office/drawing/2014/main" val="20004"/>
                    </a:ext>
                  </a:extLst>
                </a:gridCol>
                <a:gridCol w="1327269">
                  <a:extLst>
                    <a:ext uri="{9D8B030D-6E8A-4147-A177-3AD203B41FA5}">
                      <a16:colId xmlns:a16="http://schemas.microsoft.com/office/drawing/2014/main" val="20005"/>
                    </a:ext>
                  </a:extLst>
                </a:gridCol>
                <a:gridCol w="1177633">
                  <a:extLst>
                    <a:ext uri="{9D8B030D-6E8A-4147-A177-3AD203B41FA5}">
                      <a16:colId xmlns:a16="http://schemas.microsoft.com/office/drawing/2014/main" val="20006"/>
                    </a:ext>
                  </a:extLst>
                </a:gridCol>
                <a:gridCol w="1252451">
                  <a:extLst>
                    <a:ext uri="{9D8B030D-6E8A-4147-A177-3AD203B41FA5}">
                      <a16:colId xmlns:a16="http://schemas.microsoft.com/office/drawing/2014/main" val="20007"/>
                    </a:ext>
                  </a:extLst>
                </a:gridCol>
                <a:gridCol w="1252451">
                  <a:extLst>
                    <a:ext uri="{9D8B030D-6E8A-4147-A177-3AD203B41FA5}">
                      <a16:colId xmlns:a16="http://schemas.microsoft.com/office/drawing/2014/main" val="20008"/>
                    </a:ext>
                  </a:extLst>
                </a:gridCol>
              </a:tblGrid>
              <a:tr h="447695">
                <a:tc>
                  <a:txBody>
                    <a:bodyPr/>
                    <a:lstStyle/>
                    <a:p>
                      <a:pPr algn="ctr"/>
                      <a:r>
                        <a:rPr lang="en-HK" b="1" dirty="0">
                          <a:solidFill>
                            <a:schemeClr val="bg1"/>
                          </a:solidFill>
                        </a:rPr>
                        <a:t>First</a:t>
                      </a:r>
                      <a:r>
                        <a:rPr lang="en-HK" b="1" baseline="0" dirty="0">
                          <a:solidFill>
                            <a:schemeClr val="bg1"/>
                          </a:solidFill>
                        </a:rPr>
                        <a:t> name</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Last</a:t>
                      </a:r>
                      <a:r>
                        <a:rPr lang="en-HK" b="1" baseline="0" dirty="0">
                          <a:solidFill>
                            <a:schemeClr val="bg1"/>
                          </a:solidFill>
                        </a:rPr>
                        <a:t> name</a:t>
                      </a:r>
                      <a:endParaRPr lang="en-US" b="1" dirty="0">
                        <a:solidFill>
                          <a:schemeClr val="bg1"/>
                        </a:solidFil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Gender</a:t>
                      </a:r>
                      <a:endParaRPr lang="en-US" b="1" dirty="0">
                        <a:solidFill>
                          <a:schemeClr val="bg1"/>
                        </a:solidFil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Age</a:t>
                      </a:r>
                      <a:endParaRPr lang="en-US" b="1" dirty="0">
                        <a:solidFill>
                          <a:schemeClr val="bg1"/>
                        </a:solidFil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City</a:t>
                      </a:r>
                      <a:r>
                        <a:rPr lang="en-HK" b="1" baseline="0" dirty="0">
                          <a:solidFill>
                            <a:schemeClr val="bg1"/>
                          </a:solidFill>
                        </a:rPr>
                        <a:t> of Residence</a:t>
                      </a:r>
                      <a:endParaRPr lang="en-US" b="1" dirty="0">
                        <a:solidFill>
                          <a:schemeClr val="bg1"/>
                        </a:solidFil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Occupation</a:t>
                      </a:r>
                      <a:endParaRPr lang="en-US" b="1" dirty="0">
                        <a:solidFill>
                          <a:schemeClr val="bg1"/>
                        </a:solidFil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Weight</a:t>
                      </a:r>
                      <a:endParaRPr lang="en-US" b="1" dirty="0">
                        <a:solidFill>
                          <a:schemeClr val="bg1"/>
                        </a:solidFil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Score</a:t>
                      </a:r>
                      <a:endParaRPr lang="en-US" b="1" dirty="0">
                        <a:solidFill>
                          <a:schemeClr val="bg1"/>
                        </a:solidFill>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Grade</a:t>
                      </a:r>
                      <a:endParaRPr lang="en-US" b="1" dirty="0">
                        <a:solidFill>
                          <a:schemeClr val="bg1"/>
                        </a:solidFill>
                      </a:endParaRPr>
                    </a:p>
                  </a:txBody>
                  <a:tcPr anchor="ctr">
                    <a:lnL w="12700" cap="flat" cmpd="sng" algn="ctr">
                      <a:solidFill>
                        <a:srgbClr val="FFFFFF"/>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447695">
                <a:tc>
                  <a:txBody>
                    <a:bodyPr/>
                    <a:lstStyle/>
                    <a:p>
                      <a:r>
                        <a:rPr lang="en-HK" dirty="0"/>
                        <a:t>Brooklyn</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Fisher</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M</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45</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Sydney</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Boatman</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49</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44</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F</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r h="447695">
                <a:tc>
                  <a:txBody>
                    <a:bodyPr/>
                    <a:lstStyle/>
                    <a:p>
                      <a:r>
                        <a:rPr lang="en-HK" dirty="0"/>
                        <a:t>Paris</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Merchant</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F</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24</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Olympia</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Baker</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62</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81</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B</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2"/>
                  </a:ext>
                </a:extLst>
              </a:tr>
              <a:tr h="447695">
                <a:tc>
                  <a:txBody>
                    <a:bodyPr/>
                    <a:lstStyle/>
                    <a:p>
                      <a:r>
                        <a:rPr lang="en-HK" dirty="0"/>
                        <a:t>Hamilton</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Miller</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M</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37</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Richmond</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Blacksmith</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70</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73</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C</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78335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Input-process-output cycle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14</a:t>
            </a:fld>
            <a:endParaRPr lang="en-US" dirty="0"/>
          </a:p>
        </p:txBody>
      </p:sp>
      <p:sp>
        <p:nvSpPr>
          <p:cNvPr id="4" name="Text Placeholder 3"/>
          <p:cNvSpPr>
            <a:spLocks noGrp="1"/>
          </p:cNvSpPr>
          <p:nvPr>
            <p:ph type="body" sz="quarter" idx="13"/>
          </p:nvPr>
        </p:nvSpPr>
        <p:spPr/>
        <p:txBody>
          <a:bodyPr/>
          <a:lstStyle/>
          <a:p>
            <a:pPr marL="0" indent="0">
              <a:buNone/>
            </a:pPr>
            <a:r>
              <a:rPr lang="en-HK" b="1" dirty="0">
                <a:solidFill>
                  <a:srgbClr val="5E5DA8"/>
                </a:solidFill>
              </a:rPr>
              <a:t>Input-process-output cycle</a:t>
            </a:r>
            <a:r>
              <a:rPr lang="en-HK" dirty="0"/>
              <a:t> (IPO cycle):</a:t>
            </a:r>
          </a:p>
          <a:p>
            <a:pPr marL="0" indent="0">
              <a:buNone/>
            </a:pPr>
            <a:endParaRPr lang="en-HK" dirty="0"/>
          </a:p>
          <a:p>
            <a:pPr marL="457200" indent="-457200">
              <a:buFont typeface="+mj-lt"/>
              <a:buAutoNum type="arabicPeriod"/>
            </a:pPr>
            <a:r>
              <a:rPr lang="en-HK" dirty="0"/>
              <a:t>Data is input into the computer.</a:t>
            </a:r>
          </a:p>
          <a:p>
            <a:pPr marL="457200" indent="-457200">
              <a:buFont typeface="+mj-lt"/>
              <a:buAutoNum type="arabicPeriod"/>
            </a:pPr>
            <a:r>
              <a:rPr lang="en-HK" dirty="0"/>
              <a:t>The computer processes the input data.</a:t>
            </a:r>
          </a:p>
          <a:p>
            <a:pPr marL="457200" indent="-457200">
              <a:buFont typeface="+mj-lt"/>
              <a:buAutoNum type="arabicPeriod"/>
            </a:pPr>
            <a:r>
              <a:rPr lang="en-HK" dirty="0"/>
              <a:t>Meaningful information is output from the computer.</a:t>
            </a:r>
            <a:endParaRPr lang="en-US" dirty="0"/>
          </a:p>
        </p:txBody>
      </p:sp>
      <p:sp>
        <p:nvSpPr>
          <p:cNvPr id="5" name="Text Placeholder 4"/>
          <p:cNvSpPr>
            <a:spLocks noGrp="1"/>
          </p:cNvSpPr>
          <p:nvPr>
            <p:ph type="body" sz="quarter" idx="14"/>
          </p:nvPr>
        </p:nvSpPr>
        <p:spPr/>
        <p:txBody>
          <a:bodyPr/>
          <a:lstStyle/>
          <a:p>
            <a:r>
              <a:rPr lang="en-HK" dirty="0"/>
              <a:t>C</a:t>
            </a:r>
            <a:endParaRPr lang="en-US" dirty="0"/>
          </a:p>
        </p:txBody>
      </p:sp>
    </p:spTree>
    <p:extLst>
      <p:ext uri="{BB962C8B-B14F-4D97-AF65-F5344CB8AC3E}">
        <p14:creationId xmlns:p14="http://schemas.microsoft.com/office/powerpoint/2010/main" val="3348051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pPr/>
              <a:t>15</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4086" y="1648307"/>
            <a:ext cx="9484416" cy="3682810"/>
          </a:xfrm>
          <a:prstGeom prst="rect">
            <a:avLst/>
          </a:prstGeom>
        </p:spPr>
      </p:pic>
    </p:spTree>
    <p:extLst>
      <p:ext uri="{BB962C8B-B14F-4D97-AF65-F5344CB8AC3E}">
        <p14:creationId xmlns:p14="http://schemas.microsoft.com/office/powerpoint/2010/main" val="2831557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Write down which is data and which is information on P. 9 of the textbook.</a:t>
            </a:r>
          </a:p>
        </p:txBody>
      </p:sp>
      <p:sp>
        <p:nvSpPr>
          <p:cNvPr id="3" name="Slide Number Placeholder 2"/>
          <p:cNvSpPr>
            <a:spLocks noGrp="1"/>
          </p:cNvSpPr>
          <p:nvPr>
            <p:ph type="sldNum" sz="quarter" idx="12"/>
          </p:nvPr>
        </p:nvSpPr>
        <p:spPr/>
        <p:txBody>
          <a:bodyPr/>
          <a:lstStyle/>
          <a:p>
            <a:fld id="{6D22F896-40B5-4ADD-8801-0D06FADFA095}" type="slidenum">
              <a:rPr lang="en-US" smtClean="0"/>
              <a:t>16</a:t>
            </a:fld>
            <a:endParaRPr lang="en-US" dirty="0"/>
          </a:p>
        </p:txBody>
      </p:sp>
      <p:sp>
        <p:nvSpPr>
          <p:cNvPr id="4" name="Text Placeholder 3"/>
          <p:cNvSpPr>
            <a:spLocks noGrp="1"/>
          </p:cNvSpPr>
          <p:nvPr>
            <p:ph type="body" sz="quarter" idx="13"/>
          </p:nvPr>
        </p:nvSpPr>
        <p:spPr/>
        <p:txBody>
          <a:bodyPr/>
          <a:lstStyle/>
          <a:p>
            <a:r>
              <a:rPr lang="en-HK" dirty="0"/>
              <a:t>1.3</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700180427"/>
              </p:ext>
            </p:extLst>
          </p:nvPr>
        </p:nvGraphicFramePr>
        <p:xfrm>
          <a:off x="926407" y="2170699"/>
          <a:ext cx="10296000" cy="3703320"/>
        </p:xfrm>
        <a:graphic>
          <a:graphicData uri="http://schemas.openxmlformats.org/drawingml/2006/table">
            <a:tbl>
              <a:tblPr firstRow="1" bandRow="1">
                <a:tableStyleId>{5940675A-B579-460E-94D1-54222C63F5DA}</a:tableStyleId>
              </a:tblPr>
              <a:tblGrid>
                <a:gridCol w="1183141">
                  <a:extLst>
                    <a:ext uri="{9D8B030D-6E8A-4147-A177-3AD203B41FA5}">
                      <a16:colId xmlns:a16="http://schemas.microsoft.com/office/drawing/2014/main" val="20000"/>
                    </a:ext>
                  </a:extLst>
                </a:gridCol>
                <a:gridCol w="4456835">
                  <a:extLst>
                    <a:ext uri="{9D8B030D-6E8A-4147-A177-3AD203B41FA5}">
                      <a16:colId xmlns:a16="http://schemas.microsoft.com/office/drawing/2014/main" val="20001"/>
                    </a:ext>
                  </a:extLst>
                </a:gridCol>
                <a:gridCol w="4656024">
                  <a:extLst>
                    <a:ext uri="{9D8B030D-6E8A-4147-A177-3AD203B41FA5}">
                      <a16:colId xmlns:a16="http://schemas.microsoft.com/office/drawing/2014/main" val="20002"/>
                    </a:ext>
                  </a:extLst>
                </a:gridCol>
              </a:tblGrid>
              <a:tr h="0">
                <a:tc rowSpan="2">
                  <a:txBody>
                    <a:bodyPr/>
                    <a:lstStyle/>
                    <a:p>
                      <a:pPr algn="ctr"/>
                      <a:r>
                        <a:rPr lang="en-US" altLang="zh-CN" b="1" dirty="0">
                          <a:solidFill>
                            <a:schemeClr val="bg1"/>
                          </a:solidFill>
                        </a:rPr>
                        <a:t>Item</a:t>
                      </a:r>
                      <a:endParaRPr lang="en-US" b="1" dirty="0">
                        <a:solidFill>
                          <a:schemeClr val="bg1"/>
                        </a:solidFill>
                      </a:endParaRPr>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4AD40"/>
                    </a:solidFill>
                  </a:tcPr>
                </a:tc>
                <a:tc>
                  <a:txBody>
                    <a:bodyPr/>
                    <a:lstStyle/>
                    <a:p>
                      <a:pPr algn="ctr"/>
                      <a:r>
                        <a:rPr lang="en-HK" dirty="0"/>
                        <a:t>Net income of a company</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tc>
                  <a:txBody>
                    <a:bodyPr/>
                    <a:lstStyle/>
                    <a:p>
                      <a:pPr algn="ctr"/>
                      <a:r>
                        <a:rPr lang="en-HK" dirty="0"/>
                        <a:t>Growth rate of the net</a:t>
                      </a:r>
                      <a:r>
                        <a:rPr lang="en-HK" baseline="0" dirty="0"/>
                        <a:t> income of a company</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extLst>
                  <a:ext uri="{0D108BD9-81ED-4DB2-BD59-A6C34878D82A}">
                    <a16:rowId xmlns:a16="http://schemas.microsoft.com/office/drawing/2014/main" val="10000"/>
                  </a:ext>
                </a:extLst>
              </a:tr>
              <a:tr h="370840">
                <a:tc vMerge="1">
                  <a:txBody>
                    <a:bodyPr/>
                    <a:lstStyle/>
                    <a:p>
                      <a:endParaRPr lang="en-US" dirty="0"/>
                    </a:p>
                  </a:txBody>
                  <a:tcP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4AD40"/>
                    </a:solidFill>
                  </a:tcPr>
                </a:tc>
                <a:tc>
                  <a:txBody>
                    <a:bodyPr/>
                    <a:lstStyle/>
                    <a:p>
                      <a:pPr algn="ctr"/>
                      <a:r>
                        <a:rPr lang="en-HK" dirty="0"/>
                        <a:t>Data</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tc>
                  <a:txBody>
                    <a:bodyPr/>
                    <a:lstStyle/>
                    <a:p>
                      <a:pPr algn="ctr"/>
                      <a:r>
                        <a:rPr lang="en-HK" dirty="0"/>
                        <a:t>Information</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extLst>
                  <a:ext uri="{0D108BD9-81ED-4DB2-BD59-A6C34878D82A}">
                    <a16:rowId xmlns:a16="http://schemas.microsoft.com/office/drawing/2014/main" val="10001"/>
                  </a:ext>
                </a:extLst>
              </a:tr>
              <a:tr h="370840">
                <a:tc rowSpan="2">
                  <a:txBody>
                    <a:bodyPr/>
                    <a:lstStyle/>
                    <a:p>
                      <a:pPr algn="ctr"/>
                      <a:r>
                        <a:rPr lang="en-US" altLang="zh-CN" b="1" dirty="0">
                          <a:solidFill>
                            <a:schemeClr val="bg1"/>
                          </a:solidFill>
                        </a:rPr>
                        <a:t>Item</a:t>
                      </a:r>
                      <a:endParaRPr lang="en-US" b="1" dirty="0">
                        <a:solidFill>
                          <a:schemeClr val="bg1"/>
                        </a:solidFill>
                      </a:endParaRPr>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4AD40"/>
                    </a:solidFill>
                  </a:tcPr>
                </a:tc>
                <a:tc>
                  <a:txBody>
                    <a:bodyPr/>
                    <a:lstStyle/>
                    <a:p>
                      <a:pPr algn="ctr"/>
                      <a:r>
                        <a:rPr lang="en-HK" dirty="0"/>
                        <a:t>Heights of the students in</a:t>
                      </a:r>
                      <a:r>
                        <a:rPr lang="en-HK" baseline="0" dirty="0"/>
                        <a:t> Class 1A</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tc>
                  <a:txBody>
                    <a:bodyPr/>
                    <a:lstStyle/>
                    <a:p>
                      <a:pPr algn="ctr"/>
                      <a:r>
                        <a:rPr lang="en-HK" dirty="0"/>
                        <a:t>Name of the tallest student in Class 1A</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extLst>
                  <a:ext uri="{0D108BD9-81ED-4DB2-BD59-A6C34878D82A}">
                    <a16:rowId xmlns:a16="http://schemas.microsoft.com/office/drawing/2014/main" val="10002"/>
                  </a:ext>
                </a:extLst>
              </a:tr>
              <a:tr h="370840">
                <a:tc vMerge="1">
                  <a:txBody>
                    <a:bodyPr/>
                    <a:lstStyle/>
                    <a:p>
                      <a:endParaRPr lang="en-US" dirty="0"/>
                    </a:p>
                  </a:txBody>
                  <a:tcP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4AD40"/>
                    </a:solidFill>
                  </a:tcPr>
                </a:tc>
                <a:tc>
                  <a:txBody>
                    <a:bodyPr/>
                    <a:lstStyle/>
                    <a:p>
                      <a:pPr algn="ct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tc>
                  <a:txBody>
                    <a:bodyPr/>
                    <a:lstStyle/>
                    <a:p>
                      <a:pPr algn="ct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extLst>
                  <a:ext uri="{0D108BD9-81ED-4DB2-BD59-A6C34878D82A}">
                    <a16:rowId xmlns:a16="http://schemas.microsoft.com/office/drawing/2014/main" val="10003"/>
                  </a:ext>
                </a:extLst>
              </a:tr>
              <a:tr h="370840">
                <a:tc rowSpan="2">
                  <a:txBody>
                    <a:bodyPr/>
                    <a:lstStyle/>
                    <a:p>
                      <a:pPr algn="ctr"/>
                      <a:r>
                        <a:rPr lang="en-US" altLang="zh-CN" b="1" dirty="0">
                          <a:solidFill>
                            <a:schemeClr val="bg1"/>
                          </a:solidFill>
                        </a:rPr>
                        <a:t>Item</a:t>
                      </a:r>
                      <a:endParaRPr lang="en-US" b="1" dirty="0">
                        <a:solidFill>
                          <a:schemeClr val="bg1"/>
                        </a:solidFill>
                      </a:endParaRPr>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4AD40"/>
                    </a:solidFill>
                  </a:tcPr>
                </a:tc>
                <a:tc>
                  <a:txBody>
                    <a:bodyPr/>
                    <a:lstStyle/>
                    <a:p>
                      <a:pPr algn="ctr"/>
                      <a:r>
                        <a:rPr lang="en-HK" dirty="0"/>
                        <a:t>Average temperature</a:t>
                      </a:r>
                      <a:r>
                        <a:rPr lang="en-HK" baseline="0" dirty="0"/>
                        <a:t> of room 101</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tc>
                  <a:txBody>
                    <a:bodyPr/>
                    <a:lstStyle/>
                    <a:p>
                      <a:pPr algn="ctr"/>
                      <a:r>
                        <a:rPr lang="en-HK" dirty="0"/>
                        <a:t>Hourly temperature of room 101</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extLst>
                  <a:ext uri="{0D108BD9-81ED-4DB2-BD59-A6C34878D82A}">
                    <a16:rowId xmlns:a16="http://schemas.microsoft.com/office/drawing/2014/main" val="10004"/>
                  </a:ext>
                </a:extLst>
              </a:tr>
              <a:tr h="370840">
                <a:tc vMerge="1">
                  <a:txBody>
                    <a:bodyPr/>
                    <a:lstStyle/>
                    <a:p>
                      <a:endParaRPr lang="en-US" dirty="0"/>
                    </a:p>
                  </a:txBody>
                  <a:tcP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4AD40"/>
                    </a:solidFill>
                  </a:tcPr>
                </a:tc>
                <a:tc>
                  <a:txBody>
                    <a:bodyPr/>
                    <a:lstStyle/>
                    <a:p>
                      <a:pPr algn="ct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tc>
                  <a:txBody>
                    <a:bodyPr/>
                    <a:lstStyle/>
                    <a:p>
                      <a:pPr algn="ct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extLst>
                  <a:ext uri="{0D108BD9-81ED-4DB2-BD59-A6C34878D82A}">
                    <a16:rowId xmlns:a16="http://schemas.microsoft.com/office/drawing/2014/main" val="10005"/>
                  </a:ext>
                </a:extLst>
              </a:tr>
              <a:tr h="370840">
                <a:tc rowSpan="2">
                  <a:txBody>
                    <a:bodyPr/>
                    <a:lstStyle/>
                    <a:p>
                      <a:pPr algn="ctr"/>
                      <a:r>
                        <a:rPr lang="en-US" altLang="zh-CN" b="1" dirty="0">
                          <a:solidFill>
                            <a:schemeClr val="bg1"/>
                          </a:solidFill>
                        </a:rPr>
                        <a:t>Item</a:t>
                      </a:r>
                      <a:endParaRPr lang="en-US" b="1" dirty="0">
                        <a:solidFill>
                          <a:schemeClr val="bg1"/>
                        </a:solidFill>
                      </a:endParaRPr>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4AD40"/>
                    </a:solidFill>
                  </a:tcPr>
                </a:tc>
                <a:tc>
                  <a:txBody>
                    <a:bodyPr/>
                    <a:lstStyle/>
                    <a:p>
                      <a:pPr algn="ctr"/>
                      <a:r>
                        <a:rPr lang="en-HK" dirty="0"/>
                        <a:t>Raw footage of a speech</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tc>
                  <a:txBody>
                    <a:bodyPr/>
                    <a:lstStyle/>
                    <a:p>
                      <a:pPr algn="ctr"/>
                      <a:r>
                        <a:rPr lang="en-HK" dirty="0"/>
                        <a:t>Transcript of a speech</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extLst>
                  <a:ext uri="{0D108BD9-81ED-4DB2-BD59-A6C34878D82A}">
                    <a16:rowId xmlns:a16="http://schemas.microsoft.com/office/drawing/2014/main" val="10006"/>
                  </a:ext>
                </a:extLst>
              </a:tr>
              <a:tr h="370840">
                <a:tc vMerge="1">
                  <a:txBody>
                    <a:bodyPr/>
                    <a:lstStyle/>
                    <a:p>
                      <a:endParaRPr lang="en-US" dirty="0"/>
                    </a:p>
                  </a:txBody>
                  <a:tcP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4AD40"/>
                    </a:solidFill>
                  </a:tcPr>
                </a:tc>
                <a:tc>
                  <a:txBody>
                    <a:bodyPr/>
                    <a:lstStyle/>
                    <a:p>
                      <a:pPr algn="ct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tc>
                  <a:txBody>
                    <a:bodyPr/>
                    <a:lstStyle/>
                    <a:p>
                      <a:pPr algn="ct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extLst>
                  <a:ext uri="{0D108BD9-81ED-4DB2-BD59-A6C34878D82A}">
                    <a16:rowId xmlns:a16="http://schemas.microsoft.com/office/drawing/2014/main" val="10007"/>
                  </a:ext>
                </a:extLst>
              </a:tr>
              <a:tr h="370840">
                <a:tc rowSpan="2">
                  <a:txBody>
                    <a:bodyPr/>
                    <a:lstStyle/>
                    <a:p>
                      <a:pPr algn="ctr"/>
                      <a:r>
                        <a:rPr lang="en-US" altLang="zh-CN" b="1" dirty="0">
                          <a:solidFill>
                            <a:schemeClr val="bg1"/>
                          </a:solidFill>
                        </a:rPr>
                        <a:t>Item</a:t>
                      </a:r>
                      <a:endParaRPr lang="en-US" b="1" dirty="0">
                        <a:solidFill>
                          <a:schemeClr val="bg1"/>
                        </a:solidFill>
                      </a:endParaRPr>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84AD40"/>
                      </a:solidFill>
                      <a:prstDash val="solid"/>
                      <a:round/>
                      <a:headEnd type="none" w="med" len="med"/>
                      <a:tailEnd type="none" w="med" len="med"/>
                    </a:lnB>
                    <a:solidFill>
                      <a:srgbClr val="84AD40"/>
                    </a:solidFill>
                  </a:tcPr>
                </a:tc>
                <a:tc>
                  <a:txBody>
                    <a:bodyPr/>
                    <a:lstStyle/>
                    <a:p>
                      <a:pPr algn="ctr"/>
                      <a:r>
                        <a:rPr lang="en-HK" dirty="0"/>
                        <a:t>Number of cats</a:t>
                      </a:r>
                      <a:r>
                        <a:rPr lang="en-HK" baseline="0" dirty="0"/>
                        <a:t> in a real life photo</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tc>
                  <a:txBody>
                    <a:bodyPr/>
                    <a:lstStyle/>
                    <a:p>
                      <a:pPr algn="ctr"/>
                      <a:r>
                        <a:rPr lang="en-HK" dirty="0"/>
                        <a:t>A real</a:t>
                      </a:r>
                      <a:r>
                        <a:rPr lang="en-HK" baseline="0" dirty="0"/>
                        <a:t> life photo of cats</a:t>
                      </a:r>
                      <a:endParaRPr lang="en-US" dirty="0"/>
                    </a:p>
                  </a:txBody>
                  <a:tcPr anchor="ct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extLst>
                  <a:ext uri="{0D108BD9-81ED-4DB2-BD59-A6C34878D82A}">
                    <a16:rowId xmlns:a16="http://schemas.microsoft.com/office/drawing/2014/main" val="10008"/>
                  </a:ext>
                </a:extLst>
              </a:tr>
              <a:tr h="370840">
                <a:tc vMerge="1">
                  <a:txBody>
                    <a:bodyPr/>
                    <a:lstStyle/>
                    <a:p>
                      <a:endParaRPr lang="en-US" dirty="0"/>
                    </a:p>
                  </a:txBody>
                  <a:tcP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84AD40"/>
                      </a:solidFill>
                      <a:prstDash val="solid"/>
                      <a:round/>
                      <a:headEnd type="none" w="med" len="med"/>
                      <a:tailEnd type="none" w="med" len="med"/>
                    </a:lnB>
                    <a:solidFill>
                      <a:srgbClr val="84AD40"/>
                    </a:solidFill>
                  </a:tcPr>
                </a:tc>
                <a:tc>
                  <a:txBody>
                    <a:bodyPr/>
                    <a:lstStyle/>
                    <a:p>
                      <a:endParaRPr lang="en-US"/>
                    </a:p>
                  </a:txBody>
                  <a:tcP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tc>
                  <a:txBody>
                    <a:bodyPr/>
                    <a:lstStyle/>
                    <a:p>
                      <a:endParaRPr lang="en-US" dirty="0"/>
                    </a:p>
                  </a:txBody>
                  <a:tcPr>
                    <a:lnL w="12700" cap="flat" cmpd="sng" algn="ctr">
                      <a:solidFill>
                        <a:srgbClr val="84AD40"/>
                      </a:solidFill>
                      <a:prstDash val="solid"/>
                      <a:round/>
                      <a:headEnd type="none" w="med" len="med"/>
                      <a:tailEnd type="none" w="med" len="med"/>
                    </a:lnL>
                    <a:lnR w="12700" cap="flat" cmpd="sng" algn="ctr">
                      <a:solidFill>
                        <a:srgbClr val="84AD40"/>
                      </a:solidFill>
                      <a:prstDash val="solid"/>
                      <a:round/>
                      <a:headEnd type="none" w="med" len="med"/>
                      <a:tailEnd type="none" w="med" len="med"/>
                    </a:lnR>
                    <a:lnT w="12700" cap="flat" cmpd="sng" algn="ctr">
                      <a:solidFill>
                        <a:srgbClr val="84AD40"/>
                      </a:solidFill>
                      <a:prstDash val="solid"/>
                      <a:round/>
                      <a:headEnd type="none" w="med" len="med"/>
                      <a:tailEnd type="none" w="med" len="med"/>
                    </a:lnT>
                    <a:lnB w="12700" cap="flat" cmpd="sng" algn="ctr">
                      <a:solidFill>
                        <a:srgbClr val="84AD4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TextBox 5"/>
          <p:cNvSpPr txBox="1"/>
          <p:nvPr/>
        </p:nvSpPr>
        <p:spPr>
          <a:xfrm>
            <a:off x="4034999" y="3290474"/>
            <a:ext cx="639919" cy="369332"/>
          </a:xfrm>
          <a:prstGeom prst="rect">
            <a:avLst/>
          </a:prstGeom>
          <a:noFill/>
        </p:spPr>
        <p:txBody>
          <a:bodyPr wrap="none" rtlCol="0">
            <a:spAutoFit/>
          </a:bodyPr>
          <a:lstStyle/>
          <a:p>
            <a:r>
              <a:rPr lang="en-HK" dirty="0">
                <a:solidFill>
                  <a:srgbClr val="FF0000"/>
                </a:solidFill>
              </a:rPr>
              <a:t>Data</a:t>
            </a:r>
            <a:endParaRPr lang="en-US" dirty="0">
              <a:solidFill>
                <a:srgbClr val="FF0000"/>
              </a:solidFill>
            </a:endParaRPr>
          </a:p>
        </p:txBody>
      </p:sp>
      <p:sp>
        <p:nvSpPr>
          <p:cNvPr id="7" name="TextBox 6"/>
          <p:cNvSpPr txBox="1"/>
          <p:nvPr/>
        </p:nvSpPr>
        <p:spPr>
          <a:xfrm>
            <a:off x="7812530" y="3248951"/>
            <a:ext cx="2316211" cy="369332"/>
          </a:xfrm>
          <a:prstGeom prst="rect">
            <a:avLst/>
          </a:prstGeom>
          <a:noFill/>
        </p:spPr>
        <p:txBody>
          <a:bodyPr wrap="none" rtlCol="0">
            <a:spAutoFit/>
          </a:bodyPr>
          <a:lstStyle/>
          <a:p>
            <a:r>
              <a:rPr lang="en-HK" dirty="0">
                <a:solidFill>
                  <a:srgbClr val="FF0000"/>
                </a:solidFill>
              </a:rPr>
              <a:t>Information (by sorting)</a:t>
            </a:r>
            <a:endParaRPr lang="en-US" dirty="0">
              <a:solidFill>
                <a:srgbClr val="FF0000"/>
              </a:solidFill>
            </a:endParaRPr>
          </a:p>
        </p:txBody>
      </p:sp>
      <p:sp>
        <p:nvSpPr>
          <p:cNvPr id="8" name="TextBox 7"/>
          <p:cNvSpPr txBox="1"/>
          <p:nvPr/>
        </p:nvSpPr>
        <p:spPr>
          <a:xfrm>
            <a:off x="3022828" y="3967586"/>
            <a:ext cx="2664255" cy="369332"/>
          </a:xfrm>
          <a:prstGeom prst="rect">
            <a:avLst/>
          </a:prstGeom>
          <a:noFill/>
        </p:spPr>
        <p:txBody>
          <a:bodyPr wrap="none" rtlCol="0">
            <a:spAutoFit/>
          </a:bodyPr>
          <a:lstStyle/>
          <a:p>
            <a:r>
              <a:rPr lang="en-HK" dirty="0">
                <a:solidFill>
                  <a:srgbClr val="FF0000"/>
                </a:solidFill>
              </a:rPr>
              <a:t>Information (by calculation)</a:t>
            </a:r>
            <a:endParaRPr lang="en-US" dirty="0">
              <a:solidFill>
                <a:srgbClr val="FF0000"/>
              </a:solidFill>
            </a:endParaRPr>
          </a:p>
        </p:txBody>
      </p:sp>
      <p:sp>
        <p:nvSpPr>
          <p:cNvPr id="9" name="TextBox 8"/>
          <p:cNvSpPr txBox="1"/>
          <p:nvPr/>
        </p:nvSpPr>
        <p:spPr>
          <a:xfrm>
            <a:off x="8650679" y="4022414"/>
            <a:ext cx="639919" cy="369332"/>
          </a:xfrm>
          <a:prstGeom prst="rect">
            <a:avLst/>
          </a:prstGeom>
          <a:noFill/>
        </p:spPr>
        <p:txBody>
          <a:bodyPr wrap="none" rtlCol="0">
            <a:spAutoFit/>
          </a:bodyPr>
          <a:lstStyle/>
          <a:p>
            <a:r>
              <a:rPr lang="en-HK" dirty="0">
                <a:solidFill>
                  <a:srgbClr val="FF0000"/>
                </a:solidFill>
              </a:rPr>
              <a:t>Data</a:t>
            </a:r>
            <a:endParaRPr lang="en-US" dirty="0">
              <a:solidFill>
                <a:srgbClr val="FF0000"/>
              </a:solidFill>
            </a:endParaRPr>
          </a:p>
        </p:txBody>
      </p:sp>
      <p:sp>
        <p:nvSpPr>
          <p:cNvPr id="10" name="TextBox 9"/>
          <p:cNvSpPr txBox="1"/>
          <p:nvPr/>
        </p:nvSpPr>
        <p:spPr>
          <a:xfrm>
            <a:off x="7132590" y="4752428"/>
            <a:ext cx="3835665" cy="369332"/>
          </a:xfrm>
          <a:prstGeom prst="rect">
            <a:avLst/>
          </a:prstGeom>
          <a:noFill/>
        </p:spPr>
        <p:txBody>
          <a:bodyPr wrap="none" rtlCol="0">
            <a:spAutoFit/>
          </a:bodyPr>
          <a:lstStyle/>
          <a:p>
            <a:r>
              <a:rPr lang="en-HK" dirty="0">
                <a:solidFill>
                  <a:srgbClr val="FF0000"/>
                </a:solidFill>
              </a:rPr>
              <a:t>Information (by speech recognition, etc.)</a:t>
            </a:r>
            <a:endParaRPr lang="en-US" dirty="0">
              <a:solidFill>
                <a:srgbClr val="FF0000"/>
              </a:solidFill>
            </a:endParaRPr>
          </a:p>
        </p:txBody>
      </p:sp>
      <p:sp>
        <p:nvSpPr>
          <p:cNvPr id="11" name="TextBox 10"/>
          <p:cNvSpPr txBox="1"/>
          <p:nvPr/>
        </p:nvSpPr>
        <p:spPr>
          <a:xfrm>
            <a:off x="4034998" y="4764506"/>
            <a:ext cx="639919" cy="369332"/>
          </a:xfrm>
          <a:prstGeom prst="rect">
            <a:avLst/>
          </a:prstGeom>
          <a:noFill/>
        </p:spPr>
        <p:txBody>
          <a:bodyPr wrap="none" rtlCol="0">
            <a:spAutoFit/>
          </a:bodyPr>
          <a:lstStyle/>
          <a:p>
            <a:r>
              <a:rPr lang="en-HK" dirty="0">
                <a:solidFill>
                  <a:srgbClr val="FF0000"/>
                </a:solidFill>
              </a:rPr>
              <a:t>Data</a:t>
            </a:r>
            <a:endParaRPr lang="en-US" dirty="0">
              <a:solidFill>
                <a:srgbClr val="FF0000"/>
              </a:solidFill>
            </a:endParaRPr>
          </a:p>
        </p:txBody>
      </p:sp>
      <p:sp>
        <p:nvSpPr>
          <p:cNvPr id="12" name="Rectangle 11"/>
          <p:cNvSpPr/>
          <p:nvPr/>
        </p:nvSpPr>
        <p:spPr>
          <a:xfrm>
            <a:off x="2494543" y="5506680"/>
            <a:ext cx="3720827" cy="369332"/>
          </a:xfrm>
          <a:prstGeom prst="rect">
            <a:avLst/>
          </a:prstGeom>
        </p:spPr>
        <p:txBody>
          <a:bodyPr wrap="none">
            <a:spAutoFit/>
          </a:bodyPr>
          <a:lstStyle/>
          <a:p>
            <a:r>
              <a:rPr lang="en-HK" dirty="0">
                <a:solidFill>
                  <a:srgbClr val="FF0000"/>
                </a:solidFill>
              </a:rPr>
              <a:t>Information (by image recognition, </a:t>
            </a:r>
            <a:r>
              <a:rPr lang="en-HK" dirty="0" err="1">
                <a:solidFill>
                  <a:srgbClr val="FF0000"/>
                </a:solidFill>
              </a:rPr>
              <a:t>etc</a:t>
            </a:r>
            <a:r>
              <a:rPr lang="en-HK" dirty="0">
                <a:solidFill>
                  <a:srgbClr val="FF0000"/>
                </a:solidFill>
              </a:rPr>
              <a:t>)</a:t>
            </a:r>
            <a:endParaRPr lang="en-US" dirty="0">
              <a:solidFill>
                <a:srgbClr val="FF0000"/>
              </a:solidFill>
            </a:endParaRPr>
          </a:p>
        </p:txBody>
      </p:sp>
      <p:sp>
        <p:nvSpPr>
          <p:cNvPr id="13" name="TextBox 12"/>
          <p:cNvSpPr txBox="1"/>
          <p:nvPr/>
        </p:nvSpPr>
        <p:spPr>
          <a:xfrm>
            <a:off x="8650677" y="5506680"/>
            <a:ext cx="639919" cy="369332"/>
          </a:xfrm>
          <a:prstGeom prst="rect">
            <a:avLst/>
          </a:prstGeom>
          <a:noFill/>
        </p:spPr>
        <p:txBody>
          <a:bodyPr wrap="none" rtlCol="0">
            <a:spAutoFit/>
          </a:bodyPr>
          <a:lstStyle/>
          <a:p>
            <a:r>
              <a:rPr lang="en-HK" dirty="0">
                <a:solidFill>
                  <a:srgbClr val="FF0000"/>
                </a:solidFill>
              </a:rPr>
              <a:t>Data</a:t>
            </a:r>
            <a:endParaRPr lang="en-US" dirty="0">
              <a:solidFill>
                <a:srgbClr val="FF0000"/>
              </a:solidFill>
            </a:endParaRPr>
          </a:p>
        </p:txBody>
      </p:sp>
    </p:spTree>
    <p:extLst>
      <p:ext uri="{BB962C8B-B14F-4D97-AF65-F5344CB8AC3E}">
        <p14:creationId xmlns:p14="http://schemas.microsoft.com/office/powerpoint/2010/main" val="376759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Data Type in</a:t>
            </a:r>
            <a:r>
              <a:rPr lang="en-HK" altLang="zh-CN" dirty="0"/>
              <a:t> Multimedia</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17</a:t>
            </a:fld>
            <a:endParaRPr lang="en-US" dirty="0"/>
          </a:p>
        </p:txBody>
      </p:sp>
      <p:sp>
        <p:nvSpPr>
          <p:cNvPr id="4" name="Text Placeholder 3"/>
          <p:cNvSpPr>
            <a:spLocks noGrp="1"/>
          </p:cNvSpPr>
          <p:nvPr>
            <p:ph type="body" sz="quarter" idx="13"/>
          </p:nvPr>
        </p:nvSpPr>
        <p:spPr/>
        <p:txBody>
          <a:bodyPr/>
          <a:lstStyle/>
          <a:p>
            <a:pPr marL="0" indent="0">
              <a:buNone/>
            </a:pPr>
            <a:r>
              <a:rPr lang="en-HK" b="1" dirty="0">
                <a:solidFill>
                  <a:srgbClr val="5E5DA8"/>
                </a:solidFill>
              </a:rPr>
              <a:t>Text</a:t>
            </a:r>
            <a:r>
              <a:rPr lang="en-HK" dirty="0"/>
              <a:t> includes various types of characters:</a:t>
            </a:r>
          </a:p>
          <a:p>
            <a:r>
              <a:rPr lang="en-HK" dirty="0"/>
              <a:t>numbers</a:t>
            </a:r>
          </a:p>
          <a:p>
            <a:r>
              <a:rPr lang="en-HK" dirty="0"/>
              <a:t>letters</a:t>
            </a:r>
          </a:p>
          <a:p>
            <a:r>
              <a:rPr lang="en-HK" dirty="0"/>
              <a:t>symbols</a:t>
            </a:r>
          </a:p>
          <a:p>
            <a:endParaRPr lang="en-HK" dirty="0"/>
          </a:p>
          <a:p>
            <a:pPr marL="0" indent="0">
              <a:buNone/>
            </a:pPr>
            <a:r>
              <a:rPr lang="en-HK" dirty="0"/>
              <a:t>Text in different languages may use different </a:t>
            </a:r>
            <a:r>
              <a:rPr lang="en-HK" b="1" dirty="0"/>
              <a:t>encoding systems</a:t>
            </a:r>
            <a:r>
              <a:rPr lang="en-HK" dirty="0"/>
              <a:t>.</a:t>
            </a:r>
            <a:endParaRPr lang="en-US" dirty="0"/>
          </a:p>
        </p:txBody>
      </p:sp>
      <p:sp>
        <p:nvSpPr>
          <p:cNvPr id="5" name="Text Placeholder 4"/>
          <p:cNvSpPr>
            <a:spLocks noGrp="1"/>
          </p:cNvSpPr>
          <p:nvPr>
            <p:ph type="body" sz="quarter" idx="14"/>
          </p:nvPr>
        </p:nvSpPr>
        <p:spPr/>
        <p:txBody>
          <a:bodyPr/>
          <a:lstStyle/>
          <a:p>
            <a:r>
              <a:rPr lang="en-US" altLang="zh-CN" dirty="0"/>
              <a:t>D</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054894718"/>
              </p:ext>
            </p:extLst>
          </p:nvPr>
        </p:nvGraphicFramePr>
        <p:xfrm>
          <a:off x="6939280" y="2119740"/>
          <a:ext cx="3812540" cy="1655160"/>
        </p:xfrm>
        <a:graphic>
          <a:graphicData uri="http://schemas.openxmlformats.org/drawingml/2006/table">
            <a:tbl>
              <a:tblPr firstRow="1" bandRow="1">
                <a:tableStyleId>{5940675A-B579-460E-94D1-54222C63F5DA}</a:tableStyleId>
              </a:tblPr>
              <a:tblGrid>
                <a:gridCol w="1906270">
                  <a:extLst>
                    <a:ext uri="{9D8B030D-6E8A-4147-A177-3AD203B41FA5}">
                      <a16:colId xmlns:a16="http://schemas.microsoft.com/office/drawing/2014/main" val="20000"/>
                    </a:ext>
                  </a:extLst>
                </a:gridCol>
                <a:gridCol w="1906270">
                  <a:extLst>
                    <a:ext uri="{9D8B030D-6E8A-4147-A177-3AD203B41FA5}">
                      <a16:colId xmlns:a16="http://schemas.microsoft.com/office/drawing/2014/main" val="20001"/>
                    </a:ext>
                  </a:extLst>
                </a:gridCol>
              </a:tblGrid>
              <a:tr h="507540">
                <a:tc>
                  <a:txBody>
                    <a:bodyPr/>
                    <a:lstStyle/>
                    <a:p>
                      <a:pPr algn="ctr"/>
                      <a:r>
                        <a:rPr lang="en-HK" b="1" dirty="0">
                          <a:solidFill>
                            <a:schemeClr val="bg1"/>
                          </a:solidFill>
                        </a:rPr>
                        <a:t>Character encoding system</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Language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507540">
                <a:tc>
                  <a:txBody>
                    <a:bodyPr/>
                    <a:lstStyle/>
                    <a:p>
                      <a:pPr algn="ctr"/>
                      <a:r>
                        <a:rPr lang="en-US" dirty="0"/>
                        <a:t>ASCII</a:t>
                      </a:r>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ctr"/>
                      <a:r>
                        <a:rPr lang="en-HK" dirty="0"/>
                        <a:t>English</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r h="507540">
                <a:tc>
                  <a:txBody>
                    <a:bodyPr/>
                    <a:lstStyle/>
                    <a:p>
                      <a:pPr algn="ctr"/>
                      <a:r>
                        <a:rPr lang="en-US" dirty="0"/>
                        <a:t>Big5</a:t>
                      </a:r>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ctr"/>
                      <a:r>
                        <a:rPr lang="zh-CN" altLang="en-US" dirty="0"/>
                        <a:t>繁體中文</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29312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 in Multimedia</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18</a:t>
            </a:fld>
            <a:endParaRPr lang="en-US" dirty="0"/>
          </a:p>
        </p:txBody>
      </p:sp>
      <p:sp>
        <p:nvSpPr>
          <p:cNvPr id="4" name="Text Placeholder 3"/>
          <p:cNvSpPr>
            <a:spLocks noGrp="1"/>
          </p:cNvSpPr>
          <p:nvPr>
            <p:ph type="body" sz="quarter" idx="13"/>
          </p:nvPr>
        </p:nvSpPr>
        <p:spPr/>
        <p:txBody>
          <a:bodyPr/>
          <a:lstStyle/>
          <a:p>
            <a:pPr marL="0" indent="0">
              <a:buNone/>
            </a:pPr>
            <a:r>
              <a:rPr lang="en-HK" dirty="0"/>
              <a:t>There are two types of text:</a:t>
            </a:r>
            <a:endParaRPr lang="en-US" dirty="0"/>
          </a:p>
        </p:txBody>
      </p:sp>
      <p:sp>
        <p:nvSpPr>
          <p:cNvPr id="5" name="Text Placeholder 4"/>
          <p:cNvSpPr>
            <a:spLocks noGrp="1"/>
          </p:cNvSpPr>
          <p:nvPr>
            <p:ph type="body" sz="quarter" idx="14"/>
          </p:nvPr>
        </p:nvSpPr>
        <p:spPr/>
        <p:txBody>
          <a:bodyPr/>
          <a:lstStyle/>
          <a:p>
            <a:r>
              <a:rPr lang="en-HK" dirty="0"/>
              <a:t>D</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44784461"/>
              </p:ext>
            </p:extLst>
          </p:nvPr>
        </p:nvGraphicFramePr>
        <p:xfrm>
          <a:off x="1338580" y="2418926"/>
          <a:ext cx="9786620" cy="3623734"/>
        </p:xfrm>
        <a:graphic>
          <a:graphicData uri="http://schemas.openxmlformats.org/drawingml/2006/table">
            <a:tbl>
              <a:tblPr firstRow="1" bandRow="1">
                <a:tableStyleId>{5940675A-B579-460E-94D1-54222C63F5DA}</a:tableStyleId>
              </a:tblPr>
              <a:tblGrid>
                <a:gridCol w="4893310">
                  <a:extLst>
                    <a:ext uri="{9D8B030D-6E8A-4147-A177-3AD203B41FA5}">
                      <a16:colId xmlns:a16="http://schemas.microsoft.com/office/drawing/2014/main" val="20000"/>
                    </a:ext>
                  </a:extLst>
                </a:gridCol>
                <a:gridCol w="4893310">
                  <a:extLst>
                    <a:ext uri="{9D8B030D-6E8A-4147-A177-3AD203B41FA5}">
                      <a16:colId xmlns:a16="http://schemas.microsoft.com/office/drawing/2014/main" val="20001"/>
                    </a:ext>
                  </a:extLst>
                </a:gridCol>
              </a:tblGrid>
              <a:tr h="499534">
                <a:tc>
                  <a:txBody>
                    <a:bodyPr/>
                    <a:lstStyle/>
                    <a:p>
                      <a:pPr algn="ctr"/>
                      <a:r>
                        <a:rPr lang="en-HK" b="1" dirty="0">
                          <a:solidFill>
                            <a:schemeClr val="bg1"/>
                          </a:solidFill>
                        </a:rPr>
                        <a:t>Plain</a:t>
                      </a:r>
                      <a:r>
                        <a:rPr lang="en-HK" b="1" baseline="0" dirty="0">
                          <a:solidFill>
                            <a:schemeClr val="bg1"/>
                          </a:solidFill>
                        </a:rPr>
                        <a:t> text</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Formatted</a:t>
                      </a:r>
                      <a:r>
                        <a:rPr lang="en-HK" b="1" baseline="0" dirty="0">
                          <a:solidFill>
                            <a:schemeClr val="bg1"/>
                          </a:solidFill>
                        </a:rPr>
                        <a:t> text</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518018">
                <a:tc>
                  <a:txBody>
                    <a:bodyPr/>
                    <a:lstStyle/>
                    <a:p>
                      <a:pPr algn="ctr"/>
                      <a:r>
                        <a:rPr lang="en-HK" dirty="0"/>
                        <a:t>Stores</a:t>
                      </a:r>
                      <a:r>
                        <a:rPr lang="en-HK" baseline="0" dirty="0"/>
                        <a:t> characters only</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ctr"/>
                      <a:r>
                        <a:rPr lang="en-HK" dirty="0"/>
                        <a:t>Stores</a:t>
                      </a:r>
                      <a:r>
                        <a:rPr lang="en-HK" baseline="0" dirty="0"/>
                        <a:t> characters and their formatting data</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r h="2606182">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7" name="Picture 6"/>
          <p:cNvPicPr>
            <a:picLocks noChangeAspect="1"/>
          </p:cNvPicPr>
          <p:nvPr/>
        </p:nvPicPr>
        <p:blipFill>
          <a:blip r:embed="rId2"/>
          <a:stretch>
            <a:fillRect/>
          </a:stretch>
        </p:blipFill>
        <p:spPr>
          <a:xfrm>
            <a:off x="2368593" y="3558540"/>
            <a:ext cx="2797835" cy="2262656"/>
          </a:xfrm>
          <a:prstGeom prst="rect">
            <a:avLst/>
          </a:prstGeom>
          <a:ln>
            <a:solidFill>
              <a:schemeClr val="bg1">
                <a:lumMod val="85000"/>
              </a:schemeClr>
            </a:solidFill>
          </a:ln>
        </p:spPr>
      </p:pic>
      <p:pic>
        <p:nvPicPr>
          <p:cNvPr id="8" name="Picture 7"/>
          <p:cNvPicPr>
            <a:picLocks noChangeAspect="1"/>
          </p:cNvPicPr>
          <p:nvPr/>
        </p:nvPicPr>
        <p:blipFill>
          <a:blip r:embed="rId3"/>
          <a:stretch>
            <a:fillRect/>
          </a:stretch>
        </p:blipFill>
        <p:spPr>
          <a:xfrm>
            <a:off x="7421160" y="3558540"/>
            <a:ext cx="2652480" cy="2312911"/>
          </a:xfrm>
          <a:prstGeom prst="rect">
            <a:avLst/>
          </a:prstGeom>
        </p:spPr>
      </p:pic>
    </p:spTree>
    <p:extLst>
      <p:ext uri="{BB962C8B-B14F-4D97-AF65-F5344CB8AC3E}">
        <p14:creationId xmlns:p14="http://schemas.microsoft.com/office/powerpoint/2010/main" val="2129071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 in Multimedia</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19</a:t>
            </a:fld>
            <a:endParaRPr lang="en-US" dirty="0"/>
          </a:p>
        </p:txBody>
      </p:sp>
      <p:sp>
        <p:nvSpPr>
          <p:cNvPr id="4" name="Text Placeholder 3"/>
          <p:cNvSpPr>
            <a:spLocks noGrp="1"/>
          </p:cNvSpPr>
          <p:nvPr>
            <p:ph type="body" sz="quarter" idx="13"/>
          </p:nvPr>
        </p:nvSpPr>
        <p:spPr/>
        <p:txBody>
          <a:bodyPr/>
          <a:lstStyle/>
          <a:p>
            <a:pPr marL="0" indent="0">
              <a:buNone/>
            </a:pPr>
            <a:r>
              <a:rPr lang="en-US" b="1" dirty="0">
                <a:solidFill>
                  <a:srgbClr val="5E5DA8"/>
                </a:solidFill>
              </a:rPr>
              <a:t>Digital images </a:t>
            </a:r>
            <a:r>
              <a:rPr lang="en-US" dirty="0"/>
              <a:t>are images captured by digital cameras or made with image editing software.</a:t>
            </a:r>
          </a:p>
          <a:p>
            <a:pPr marL="0" indent="0">
              <a:buNone/>
            </a:pPr>
            <a:r>
              <a:rPr lang="en-HK" dirty="0"/>
              <a:t>There are two types of images:</a:t>
            </a:r>
            <a:endParaRPr lang="en-US" dirty="0"/>
          </a:p>
        </p:txBody>
      </p:sp>
      <p:sp>
        <p:nvSpPr>
          <p:cNvPr id="5" name="Text Placeholder 4"/>
          <p:cNvSpPr>
            <a:spLocks noGrp="1"/>
          </p:cNvSpPr>
          <p:nvPr>
            <p:ph type="body" sz="quarter" idx="14"/>
          </p:nvPr>
        </p:nvSpPr>
        <p:spPr/>
        <p:txBody>
          <a:bodyPr/>
          <a:lstStyle/>
          <a:p>
            <a:r>
              <a:rPr lang="en-HK" dirty="0"/>
              <a:t>D</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366530441"/>
              </p:ext>
            </p:extLst>
          </p:nvPr>
        </p:nvGraphicFramePr>
        <p:xfrm>
          <a:off x="1041400" y="2679866"/>
          <a:ext cx="9786620" cy="3623734"/>
        </p:xfrm>
        <a:graphic>
          <a:graphicData uri="http://schemas.openxmlformats.org/drawingml/2006/table">
            <a:tbl>
              <a:tblPr firstRow="1" bandRow="1">
                <a:tableStyleId>{5940675A-B579-460E-94D1-54222C63F5DA}</a:tableStyleId>
              </a:tblPr>
              <a:tblGrid>
                <a:gridCol w="4893310">
                  <a:extLst>
                    <a:ext uri="{9D8B030D-6E8A-4147-A177-3AD203B41FA5}">
                      <a16:colId xmlns:a16="http://schemas.microsoft.com/office/drawing/2014/main" val="20000"/>
                    </a:ext>
                  </a:extLst>
                </a:gridCol>
                <a:gridCol w="4893310">
                  <a:extLst>
                    <a:ext uri="{9D8B030D-6E8A-4147-A177-3AD203B41FA5}">
                      <a16:colId xmlns:a16="http://schemas.microsoft.com/office/drawing/2014/main" val="20001"/>
                    </a:ext>
                  </a:extLst>
                </a:gridCol>
              </a:tblGrid>
              <a:tr h="499534">
                <a:tc>
                  <a:txBody>
                    <a:bodyPr/>
                    <a:lstStyle/>
                    <a:p>
                      <a:pPr algn="ctr"/>
                      <a:r>
                        <a:rPr lang="en-HK" sz="2000" b="1" kern="1200" dirty="0">
                          <a:solidFill>
                            <a:schemeClr val="bg1"/>
                          </a:solidFill>
                          <a:latin typeface="+mn-lt"/>
                          <a:ea typeface="+mn-ea"/>
                          <a:cs typeface="+mn-cs"/>
                        </a:rPr>
                        <a:t>Bitmap</a:t>
                      </a:r>
                      <a:r>
                        <a:rPr lang="en-HK" sz="2000" b="1" kern="1200" baseline="0" dirty="0">
                          <a:solidFill>
                            <a:schemeClr val="bg1"/>
                          </a:solidFill>
                          <a:latin typeface="+mn-lt"/>
                          <a:ea typeface="+mn-ea"/>
                          <a:cs typeface="+mn-cs"/>
                        </a:rPr>
                        <a:t> images</a:t>
                      </a:r>
                      <a:endParaRPr lang="en-US" sz="2000" b="1" kern="1200" dirty="0">
                        <a:solidFill>
                          <a:schemeClr val="bg1"/>
                        </a:solidFill>
                        <a:latin typeface="+mn-lt"/>
                        <a:ea typeface="+mn-ea"/>
                        <a:cs typeface="+mn-cs"/>
                      </a:endParaRP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sz="2000" b="1" kern="1200" dirty="0">
                          <a:solidFill>
                            <a:schemeClr val="bg1"/>
                          </a:solidFill>
                          <a:latin typeface="+mn-lt"/>
                          <a:ea typeface="+mn-ea"/>
                          <a:cs typeface="+mn-cs"/>
                        </a:rPr>
                        <a:t>Vector</a:t>
                      </a:r>
                      <a:r>
                        <a:rPr lang="en-HK" sz="2000" b="1" kern="1200" baseline="0" dirty="0">
                          <a:solidFill>
                            <a:schemeClr val="bg1"/>
                          </a:solidFill>
                          <a:latin typeface="+mn-lt"/>
                          <a:ea typeface="+mn-ea"/>
                          <a:cs typeface="+mn-cs"/>
                        </a:rPr>
                        <a:t> images</a:t>
                      </a:r>
                      <a:endParaRPr lang="en-US" sz="2000" b="1" kern="1200" dirty="0">
                        <a:solidFill>
                          <a:schemeClr val="bg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518018">
                <a:tc>
                  <a:txBody>
                    <a:bodyPr/>
                    <a:lstStyle/>
                    <a:p>
                      <a:pPr algn="ctr"/>
                      <a:r>
                        <a:rPr lang="en-US" altLang="zh-TW" dirty="0"/>
                        <a:t>Stored as a series of little squares called pixels</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algn="ctr"/>
                      <a:r>
                        <a:rPr lang="en-US" altLang="zh-TW" dirty="0"/>
                        <a:t>Stored as mathematical formulae</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r h="2606182">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7" name="Picture 6"/>
          <p:cNvPicPr>
            <a:picLocks noChangeAspect="1"/>
          </p:cNvPicPr>
          <p:nvPr/>
        </p:nvPicPr>
        <p:blipFill>
          <a:blip r:embed="rId2"/>
          <a:stretch>
            <a:fillRect/>
          </a:stretch>
        </p:blipFill>
        <p:spPr>
          <a:xfrm>
            <a:off x="1188246" y="3840481"/>
            <a:ext cx="4634070" cy="2330052"/>
          </a:xfrm>
          <a:prstGeom prst="rect">
            <a:avLst/>
          </a:prstGeom>
        </p:spPr>
      </p:pic>
      <p:pic>
        <p:nvPicPr>
          <p:cNvPr id="8" name="Picture 7"/>
          <p:cNvPicPr>
            <a:picLocks noChangeAspect="1"/>
          </p:cNvPicPr>
          <p:nvPr/>
        </p:nvPicPr>
        <p:blipFill>
          <a:blip r:embed="rId3"/>
          <a:stretch>
            <a:fillRect/>
          </a:stretch>
        </p:blipFill>
        <p:spPr>
          <a:xfrm>
            <a:off x="6029825" y="3840481"/>
            <a:ext cx="4683895" cy="2372898"/>
          </a:xfrm>
          <a:prstGeom prst="rect">
            <a:avLst/>
          </a:prstGeom>
        </p:spPr>
      </p:pic>
    </p:spTree>
    <p:extLst>
      <p:ext uri="{BB962C8B-B14F-4D97-AF65-F5344CB8AC3E}">
        <p14:creationId xmlns:p14="http://schemas.microsoft.com/office/powerpoint/2010/main" val="2310854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 in Multimedia</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20</a:t>
            </a:fld>
            <a:endParaRPr lang="en-US" dirty="0"/>
          </a:p>
        </p:txBody>
      </p:sp>
      <p:sp>
        <p:nvSpPr>
          <p:cNvPr id="4" name="Text Placeholder 3"/>
          <p:cNvSpPr>
            <a:spLocks noGrp="1"/>
          </p:cNvSpPr>
          <p:nvPr>
            <p:ph type="body" sz="quarter" idx="13"/>
          </p:nvPr>
        </p:nvSpPr>
        <p:spPr/>
        <p:txBody>
          <a:bodyPr/>
          <a:lstStyle/>
          <a:p>
            <a:pPr marL="0" indent="0">
              <a:buNone/>
            </a:pPr>
            <a:r>
              <a:rPr lang="en-US" b="1" dirty="0">
                <a:solidFill>
                  <a:srgbClr val="5E5DA8"/>
                </a:solidFill>
              </a:rPr>
              <a:t>Digital audios </a:t>
            </a:r>
            <a:r>
              <a:rPr lang="en-US" dirty="0"/>
              <a:t>are data that can be converted to sounds.</a:t>
            </a:r>
          </a:p>
          <a:p>
            <a:pPr marL="0" indent="0">
              <a:buNone/>
            </a:pPr>
            <a:endParaRPr lang="en-HK" dirty="0"/>
          </a:p>
          <a:p>
            <a:pPr marL="0" indent="0">
              <a:buNone/>
            </a:pPr>
            <a:r>
              <a:rPr lang="en-HK" b="1" dirty="0" err="1"/>
              <a:t>Analog</a:t>
            </a:r>
            <a:r>
              <a:rPr lang="en-HK" b="1" dirty="0"/>
              <a:t> signals </a:t>
            </a:r>
            <a:r>
              <a:rPr lang="en-HK" dirty="0"/>
              <a:t>are converted into </a:t>
            </a:r>
            <a:r>
              <a:rPr lang="en-HK" b="1" dirty="0"/>
              <a:t>digital signals</a:t>
            </a:r>
            <a:r>
              <a:rPr lang="en-HK" dirty="0"/>
              <a:t>, and stored as digital audios:</a:t>
            </a:r>
            <a:endParaRPr lang="en-US" dirty="0"/>
          </a:p>
        </p:txBody>
      </p:sp>
      <p:sp>
        <p:nvSpPr>
          <p:cNvPr id="5" name="Text Placeholder 4"/>
          <p:cNvSpPr>
            <a:spLocks noGrp="1"/>
          </p:cNvSpPr>
          <p:nvPr>
            <p:ph type="body" sz="quarter" idx="14"/>
          </p:nvPr>
        </p:nvSpPr>
        <p:spPr/>
        <p:txBody>
          <a:bodyPr/>
          <a:lstStyle/>
          <a:p>
            <a:r>
              <a:rPr lang="en-HK" dirty="0"/>
              <a:t>D</a:t>
            </a:r>
            <a:endParaRPr lang="en-US" dirty="0"/>
          </a:p>
        </p:txBody>
      </p:sp>
      <p:pic>
        <p:nvPicPr>
          <p:cNvPr id="6" name="Picture 5"/>
          <p:cNvPicPr>
            <a:picLocks noChangeAspect="1"/>
          </p:cNvPicPr>
          <p:nvPr/>
        </p:nvPicPr>
        <p:blipFill>
          <a:blip r:embed="rId2"/>
          <a:stretch>
            <a:fillRect/>
          </a:stretch>
        </p:blipFill>
        <p:spPr>
          <a:xfrm>
            <a:off x="2233337" y="3095265"/>
            <a:ext cx="7284736" cy="3286347"/>
          </a:xfrm>
          <a:prstGeom prst="rect">
            <a:avLst/>
          </a:prstGeom>
        </p:spPr>
      </p:pic>
    </p:spTree>
    <p:extLst>
      <p:ext uri="{BB962C8B-B14F-4D97-AF65-F5344CB8AC3E}">
        <p14:creationId xmlns:p14="http://schemas.microsoft.com/office/powerpoint/2010/main" val="3337366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 in Multimedia</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21</a:t>
            </a:fld>
            <a:endParaRPr lang="en-US" dirty="0"/>
          </a:p>
        </p:txBody>
      </p:sp>
      <p:sp>
        <p:nvSpPr>
          <p:cNvPr id="4" name="Text Placeholder 3"/>
          <p:cNvSpPr>
            <a:spLocks noGrp="1"/>
          </p:cNvSpPr>
          <p:nvPr>
            <p:ph type="body" sz="quarter" idx="13"/>
          </p:nvPr>
        </p:nvSpPr>
        <p:spPr/>
        <p:txBody>
          <a:bodyPr/>
          <a:lstStyle/>
          <a:p>
            <a:pPr marL="0" indent="0">
              <a:buNone/>
            </a:pPr>
            <a:r>
              <a:rPr lang="en-US" b="1" dirty="0">
                <a:solidFill>
                  <a:srgbClr val="5E5DA8"/>
                </a:solidFill>
              </a:rPr>
              <a:t>Videos </a:t>
            </a:r>
            <a:r>
              <a:rPr lang="en-US" dirty="0"/>
              <a:t>are combinations of images and audios.</a:t>
            </a:r>
          </a:p>
          <a:p>
            <a:pPr marL="0" indent="0">
              <a:buNone/>
            </a:pPr>
            <a:endParaRPr lang="en-US" dirty="0"/>
          </a:p>
          <a:p>
            <a:pPr marL="0" indent="0">
              <a:buNone/>
            </a:pPr>
            <a:r>
              <a:rPr lang="en-US" dirty="0"/>
              <a:t>By showing a collection of images within a short duration of time, a moving image is created:</a:t>
            </a:r>
          </a:p>
        </p:txBody>
      </p:sp>
      <p:sp>
        <p:nvSpPr>
          <p:cNvPr id="5" name="Text Placeholder 4"/>
          <p:cNvSpPr>
            <a:spLocks noGrp="1"/>
          </p:cNvSpPr>
          <p:nvPr>
            <p:ph type="body" sz="quarter" idx="14"/>
          </p:nvPr>
        </p:nvSpPr>
        <p:spPr/>
        <p:txBody>
          <a:bodyPr/>
          <a:lstStyle/>
          <a:p>
            <a:r>
              <a:rPr lang="en-HK" dirty="0"/>
              <a:t>D</a:t>
            </a:r>
            <a:endParaRPr lang="en-US" dirty="0"/>
          </a:p>
        </p:txBody>
      </p:sp>
      <p:pic>
        <p:nvPicPr>
          <p:cNvPr id="6" name="Picture 5"/>
          <p:cNvPicPr>
            <a:picLocks noChangeAspect="1"/>
          </p:cNvPicPr>
          <p:nvPr/>
        </p:nvPicPr>
        <p:blipFill>
          <a:blip r:embed="rId2"/>
          <a:stretch>
            <a:fillRect/>
          </a:stretch>
        </p:blipFill>
        <p:spPr>
          <a:xfrm>
            <a:off x="641511" y="3736668"/>
            <a:ext cx="10630548" cy="1878243"/>
          </a:xfrm>
          <a:prstGeom prst="rect">
            <a:avLst/>
          </a:prstGeom>
        </p:spPr>
      </p:pic>
    </p:spTree>
    <p:extLst>
      <p:ext uri="{BB962C8B-B14F-4D97-AF65-F5344CB8AC3E}">
        <p14:creationId xmlns:p14="http://schemas.microsoft.com/office/powerpoint/2010/main" val="1615048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Processing</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22</a:t>
            </a:fld>
            <a:endParaRPr lang="en-US" dirty="0"/>
          </a:p>
        </p:txBody>
      </p:sp>
      <p:sp>
        <p:nvSpPr>
          <p:cNvPr id="4" name="Text Placeholder 3"/>
          <p:cNvSpPr>
            <a:spLocks noGrp="1"/>
          </p:cNvSpPr>
          <p:nvPr>
            <p:ph type="body" sz="quarter" idx="13"/>
          </p:nvPr>
        </p:nvSpPr>
        <p:spPr/>
        <p:txBody>
          <a:bodyPr/>
          <a:lstStyle/>
          <a:p>
            <a:pPr marL="0" indent="0">
              <a:buNone/>
            </a:pPr>
            <a:r>
              <a:rPr lang="en-US" b="1" dirty="0">
                <a:solidFill>
                  <a:srgbClr val="5E5DA8"/>
                </a:solidFill>
              </a:rPr>
              <a:t>Information processing </a:t>
            </a:r>
            <a:r>
              <a:rPr lang="en-US" dirty="0"/>
              <a:t>converts raw data into meaningful information. There are seven stages of information processing: </a:t>
            </a:r>
          </a:p>
        </p:txBody>
      </p:sp>
      <p:sp>
        <p:nvSpPr>
          <p:cNvPr id="5" name="Text Placeholder 4"/>
          <p:cNvSpPr>
            <a:spLocks noGrp="1"/>
          </p:cNvSpPr>
          <p:nvPr>
            <p:ph type="body" sz="quarter" idx="14"/>
          </p:nvPr>
        </p:nvSpPr>
        <p:spPr/>
        <p:txBody>
          <a:bodyPr/>
          <a:lstStyle/>
          <a:p>
            <a:r>
              <a:rPr lang="en-HK" dirty="0"/>
              <a:t>1.3</a:t>
            </a:r>
            <a:endParaRPr lang="en-US" dirty="0"/>
          </a:p>
        </p:txBody>
      </p:sp>
      <p:pic>
        <p:nvPicPr>
          <p:cNvPr id="6" name="Picture 5"/>
          <p:cNvPicPr>
            <a:picLocks noChangeAspect="1"/>
          </p:cNvPicPr>
          <p:nvPr/>
        </p:nvPicPr>
        <p:blipFill>
          <a:blip r:embed="rId2"/>
          <a:stretch>
            <a:fillRect/>
          </a:stretch>
        </p:blipFill>
        <p:spPr>
          <a:xfrm>
            <a:off x="1654392" y="2752822"/>
            <a:ext cx="8928319" cy="2593982"/>
          </a:xfrm>
          <a:prstGeom prst="rect">
            <a:avLst/>
          </a:prstGeom>
        </p:spPr>
      </p:pic>
    </p:spTree>
    <p:extLst>
      <p:ext uri="{BB962C8B-B14F-4D97-AF65-F5344CB8AC3E}">
        <p14:creationId xmlns:p14="http://schemas.microsoft.com/office/powerpoint/2010/main" val="2568277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Data collection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23</a:t>
            </a:fld>
            <a:endParaRPr lang="en-US" dirty="0"/>
          </a:p>
        </p:txBody>
      </p:sp>
      <p:sp>
        <p:nvSpPr>
          <p:cNvPr id="4" name="Text Placeholder 3"/>
          <p:cNvSpPr>
            <a:spLocks noGrp="1"/>
          </p:cNvSpPr>
          <p:nvPr>
            <p:ph type="body" sz="quarter" idx="13"/>
          </p:nvPr>
        </p:nvSpPr>
        <p:spPr/>
        <p:txBody>
          <a:bodyPr/>
          <a:lstStyle/>
          <a:p>
            <a:pPr marL="0" indent="0">
              <a:buNone/>
            </a:pPr>
            <a:r>
              <a:rPr lang="en-US" dirty="0"/>
              <a:t>Data can be collected by various methods like observation, experiments, interviews, surveys, etc. The data collection method depends on the scope and the data type.</a:t>
            </a:r>
          </a:p>
        </p:txBody>
      </p:sp>
      <p:sp>
        <p:nvSpPr>
          <p:cNvPr id="5" name="Text Placeholder 4"/>
          <p:cNvSpPr>
            <a:spLocks noGrp="1"/>
          </p:cNvSpPr>
          <p:nvPr>
            <p:ph type="body" sz="quarter" idx="14"/>
          </p:nvPr>
        </p:nvSpPr>
        <p:spPr/>
        <p:txBody>
          <a:bodyPr/>
          <a:lstStyle/>
          <a:p>
            <a:r>
              <a:rPr lang="en-HK" dirty="0"/>
              <a:t>A</a:t>
            </a:r>
            <a:endParaRPr lang="en-US" dirty="0"/>
          </a:p>
        </p:txBody>
      </p:sp>
      <p:pic>
        <p:nvPicPr>
          <p:cNvPr id="6" name="Picture 5"/>
          <p:cNvPicPr>
            <a:picLocks noChangeAspect="1"/>
          </p:cNvPicPr>
          <p:nvPr/>
        </p:nvPicPr>
        <p:blipFill>
          <a:blip r:embed="rId2"/>
          <a:stretch>
            <a:fillRect/>
          </a:stretch>
        </p:blipFill>
        <p:spPr>
          <a:xfrm>
            <a:off x="1552280" y="3085903"/>
            <a:ext cx="4229690" cy="2819794"/>
          </a:xfrm>
          <a:prstGeom prst="rect">
            <a:avLst/>
          </a:prstGeom>
        </p:spPr>
      </p:pic>
      <p:pic>
        <p:nvPicPr>
          <p:cNvPr id="7" name="Picture 6"/>
          <p:cNvPicPr>
            <a:picLocks noChangeAspect="1"/>
          </p:cNvPicPr>
          <p:nvPr/>
        </p:nvPicPr>
        <p:blipFill>
          <a:blip r:embed="rId3"/>
          <a:stretch>
            <a:fillRect/>
          </a:stretch>
        </p:blipFill>
        <p:spPr>
          <a:xfrm>
            <a:off x="6496050" y="3085903"/>
            <a:ext cx="4220164" cy="2819794"/>
          </a:xfrm>
          <a:prstGeom prst="rect">
            <a:avLst/>
          </a:prstGeom>
        </p:spPr>
      </p:pic>
    </p:spTree>
    <p:extLst>
      <p:ext uri="{BB962C8B-B14F-4D97-AF65-F5344CB8AC3E}">
        <p14:creationId xmlns:p14="http://schemas.microsoft.com/office/powerpoint/2010/main" val="2920091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Organisation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24</a:t>
            </a:fld>
            <a:endParaRPr lang="en-US" dirty="0"/>
          </a:p>
        </p:txBody>
      </p:sp>
      <p:sp>
        <p:nvSpPr>
          <p:cNvPr id="4" name="Text Placeholder 3"/>
          <p:cNvSpPr>
            <a:spLocks noGrp="1"/>
          </p:cNvSpPr>
          <p:nvPr>
            <p:ph type="body" sz="quarter" idx="13"/>
          </p:nvPr>
        </p:nvSpPr>
        <p:spPr/>
        <p:txBody>
          <a:bodyPr/>
          <a:lstStyle/>
          <a:p>
            <a:pPr marL="0" indent="0">
              <a:buNone/>
            </a:pPr>
            <a:r>
              <a:rPr lang="en-US" dirty="0" err="1"/>
              <a:t>Organisation</a:t>
            </a:r>
            <a:r>
              <a:rPr lang="en-US" dirty="0"/>
              <a:t> means managing, </a:t>
            </a:r>
            <a:r>
              <a:rPr lang="en-US" dirty="0" err="1"/>
              <a:t>categorising</a:t>
            </a:r>
            <a:r>
              <a:rPr lang="en-US" dirty="0"/>
              <a:t> and classifying the collected data in a specific way, examples include:</a:t>
            </a:r>
          </a:p>
        </p:txBody>
      </p:sp>
      <p:sp>
        <p:nvSpPr>
          <p:cNvPr id="5" name="Text Placeholder 4"/>
          <p:cNvSpPr>
            <a:spLocks noGrp="1"/>
          </p:cNvSpPr>
          <p:nvPr>
            <p:ph type="body" sz="quarter" idx="14"/>
          </p:nvPr>
        </p:nvSpPr>
        <p:spPr/>
        <p:txBody>
          <a:bodyPr/>
          <a:lstStyle/>
          <a:p>
            <a:r>
              <a:rPr lang="en-HK" dirty="0"/>
              <a:t>B</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985912139"/>
              </p:ext>
            </p:extLst>
          </p:nvPr>
        </p:nvGraphicFramePr>
        <p:xfrm>
          <a:off x="838200" y="2505075"/>
          <a:ext cx="10591800" cy="3390900"/>
        </p:xfrm>
        <a:graphic>
          <a:graphicData uri="http://schemas.openxmlformats.org/drawingml/2006/table">
            <a:tbl>
              <a:tblPr firstRow="1" bandRow="1">
                <a:tableStyleId>{5940675A-B579-460E-94D1-54222C63F5DA}</a:tableStyleId>
              </a:tblPr>
              <a:tblGrid>
                <a:gridCol w="3530600">
                  <a:extLst>
                    <a:ext uri="{9D8B030D-6E8A-4147-A177-3AD203B41FA5}">
                      <a16:colId xmlns:a16="http://schemas.microsoft.com/office/drawing/2014/main" val="20000"/>
                    </a:ext>
                  </a:extLst>
                </a:gridCol>
                <a:gridCol w="3530600">
                  <a:extLst>
                    <a:ext uri="{9D8B030D-6E8A-4147-A177-3AD203B41FA5}">
                      <a16:colId xmlns:a16="http://schemas.microsoft.com/office/drawing/2014/main" val="20001"/>
                    </a:ext>
                  </a:extLst>
                </a:gridCol>
                <a:gridCol w="3530600">
                  <a:extLst>
                    <a:ext uri="{9D8B030D-6E8A-4147-A177-3AD203B41FA5}">
                      <a16:colId xmlns:a16="http://schemas.microsoft.com/office/drawing/2014/main" val="20002"/>
                    </a:ext>
                  </a:extLst>
                </a:gridCol>
              </a:tblGrid>
              <a:tr h="651459">
                <a:tc>
                  <a:txBody>
                    <a:bodyPr/>
                    <a:lstStyle/>
                    <a:p>
                      <a:pPr algn="ctr"/>
                      <a:r>
                        <a:rPr lang="zh-CN" altLang="en-US" b="1" dirty="0">
                          <a:solidFill>
                            <a:schemeClr val="bg1"/>
                          </a:solidFill>
                        </a:rPr>
                        <a:t> </a:t>
                      </a:r>
                      <a:r>
                        <a:rPr lang="en-HK" altLang="zh-CN" b="1" dirty="0">
                          <a:solidFill>
                            <a:schemeClr val="bg1"/>
                          </a:solidFill>
                        </a:rPr>
                        <a:t>Data</a:t>
                      </a:r>
                      <a:r>
                        <a:rPr lang="en-HK" altLang="zh-CN" b="1" baseline="0" dirty="0">
                          <a:solidFill>
                            <a:schemeClr val="bg1"/>
                          </a:solidFill>
                        </a:rPr>
                        <a:t> arrangement</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Data</a:t>
                      </a:r>
                      <a:r>
                        <a:rPr lang="en-HK" b="1" baseline="0" dirty="0">
                          <a:solidFill>
                            <a:schemeClr val="bg1"/>
                          </a:solidFill>
                        </a:rPr>
                        <a:t> validation</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altLang="zh-TW" b="1" dirty="0">
                          <a:solidFill>
                            <a:schemeClr val="bg1"/>
                          </a:solidFill>
                        </a:rPr>
                        <a:t>Data type</a:t>
                      </a:r>
                      <a:r>
                        <a:rPr lang="en-HK" altLang="zh-TW" b="1" baseline="0" dirty="0">
                          <a:solidFill>
                            <a:schemeClr val="bg1"/>
                          </a:solidFill>
                        </a:rPr>
                        <a:t> conversion</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2739441">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1305976" y="3267074"/>
            <a:ext cx="2592900" cy="2544585"/>
          </a:xfrm>
          <a:prstGeom prst="rect">
            <a:avLst/>
          </a:prstGeom>
        </p:spPr>
      </p:pic>
      <p:pic>
        <p:nvPicPr>
          <p:cNvPr id="8" name="Picture 7"/>
          <p:cNvPicPr>
            <a:picLocks noChangeAspect="1"/>
          </p:cNvPicPr>
          <p:nvPr/>
        </p:nvPicPr>
        <p:blipFill>
          <a:blip r:embed="rId3"/>
          <a:stretch>
            <a:fillRect/>
          </a:stretch>
        </p:blipFill>
        <p:spPr>
          <a:xfrm>
            <a:off x="4807637" y="3250886"/>
            <a:ext cx="2576727" cy="2560773"/>
          </a:xfrm>
          <a:prstGeom prst="rect">
            <a:avLst/>
          </a:prstGeom>
        </p:spPr>
      </p:pic>
      <p:pic>
        <p:nvPicPr>
          <p:cNvPr id="9" name="Picture 8"/>
          <p:cNvPicPr>
            <a:picLocks noChangeAspect="1"/>
          </p:cNvPicPr>
          <p:nvPr/>
        </p:nvPicPr>
        <p:blipFill>
          <a:blip r:embed="rId4"/>
          <a:stretch>
            <a:fillRect/>
          </a:stretch>
        </p:blipFill>
        <p:spPr>
          <a:xfrm>
            <a:off x="8434174" y="3250886"/>
            <a:ext cx="2614827" cy="2614827"/>
          </a:xfrm>
          <a:prstGeom prst="rect">
            <a:avLst/>
          </a:prstGeom>
        </p:spPr>
      </p:pic>
    </p:spTree>
    <p:extLst>
      <p:ext uri="{BB962C8B-B14F-4D97-AF65-F5344CB8AC3E}">
        <p14:creationId xmlns:p14="http://schemas.microsoft.com/office/powerpoint/2010/main" val="270690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25</a:t>
            </a:fld>
            <a:endParaRPr lang="en-US" dirty="0"/>
          </a:p>
        </p:txBody>
      </p:sp>
      <p:sp>
        <p:nvSpPr>
          <p:cNvPr id="4" name="Text Placeholder 3"/>
          <p:cNvSpPr>
            <a:spLocks noGrp="1"/>
          </p:cNvSpPr>
          <p:nvPr>
            <p:ph type="body" sz="quarter" idx="13"/>
          </p:nvPr>
        </p:nvSpPr>
        <p:spPr/>
        <p:txBody>
          <a:bodyPr/>
          <a:lstStyle/>
          <a:p>
            <a:pPr marL="0" indent="0">
              <a:buNone/>
            </a:pPr>
            <a:r>
              <a:rPr lang="en-US" dirty="0"/>
              <a:t>After </a:t>
            </a:r>
            <a:r>
              <a:rPr lang="en-US" dirty="0" err="1"/>
              <a:t>organisation</a:t>
            </a:r>
            <a:r>
              <a:rPr lang="en-US" dirty="0"/>
              <a:t>, Data can be stored as physical copies or in a digital storage.</a:t>
            </a:r>
          </a:p>
          <a:p>
            <a:pPr marL="0" indent="0">
              <a:buNone/>
            </a:pPr>
            <a:endParaRPr lang="en-HK" dirty="0"/>
          </a:p>
          <a:p>
            <a:pPr marL="0" indent="0">
              <a:buNone/>
            </a:pPr>
            <a:r>
              <a:rPr lang="en-HK" dirty="0"/>
              <a:t>Common digital storages include:</a:t>
            </a:r>
            <a:endParaRPr lang="en-US" dirty="0"/>
          </a:p>
        </p:txBody>
      </p:sp>
      <p:sp>
        <p:nvSpPr>
          <p:cNvPr id="5" name="Text Placeholder 4"/>
          <p:cNvSpPr>
            <a:spLocks noGrp="1"/>
          </p:cNvSpPr>
          <p:nvPr>
            <p:ph type="body" sz="quarter" idx="14"/>
          </p:nvPr>
        </p:nvSpPr>
        <p:spPr/>
        <p:txBody>
          <a:bodyPr/>
          <a:lstStyle/>
          <a:p>
            <a:r>
              <a:rPr lang="en-HK" dirty="0"/>
              <a:t>C</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677439985"/>
              </p:ext>
            </p:extLst>
          </p:nvPr>
        </p:nvGraphicFramePr>
        <p:xfrm>
          <a:off x="962025" y="3114675"/>
          <a:ext cx="7061200" cy="3114675"/>
        </p:xfrm>
        <a:graphic>
          <a:graphicData uri="http://schemas.openxmlformats.org/drawingml/2006/table">
            <a:tbl>
              <a:tblPr firstRow="1" bandRow="1">
                <a:tableStyleId>{5940675A-B579-460E-94D1-54222C63F5DA}</a:tableStyleId>
              </a:tblPr>
              <a:tblGrid>
                <a:gridCol w="3530600">
                  <a:extLst>
                    <a:ext uri="{9D8B030D-6E8A-4147-A177-3AD203B41FA5}">
                      <a16:colId xmlns:a16="http://schemas.microsoft.com/office/drawing/2014/main" val="20000"/>
                    </a:ext>
                  </a:extLst>
                </a:gridCol>
                <a:gridCol w="3530600">
                  <a:extLst>
                    <a:ext uri="{9D8B030D-6E8A-4147-A177-3AD203B41FA5}">
                      <a16:colId xmlns:a16="http://schemas.microsoft.com/office/drawing/2014/main" val="20001"/>
                    </a:ext>
                  </a:extLst>
                </a:gridCol>
              </a:tblGrid>
              <a:tr h="651459">
                <a:tc>
                  <a:txBody>
                    <a:bodyPr/>
                    <a:lstStyle/>
                    <a:p>
                      <a:pPr algn="ctr"/>
                      <a:r>
                        <a:rPr lang="en-HK" b="1" dirty="0">
                          <a:solidFill>
                            <a:schemeClr val="bg1"/>
                          </a:solidFill>
                        </a:rPr>
                        <a:t>Hard</a:t>
                      </a:r>
                      <a:r>
                        <a:rPr lang="en-HK" b="1" baseline="0" dirty="0">
                          <a:solidFill>
                            <a:schemeClr val="bg1"/>
                          </a:solidFill>
                        </a:rPr>
                        <a:t> disk</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USB</a:t>
                      </a:r>
                      <a:r>
                        <a:rPr lang="en-HK" b="1" baseline="0" dirty="0">
                          <a:solidFill>
                            <a:schemeClr val="bg1"/>
                          </a:solidFill>
                        </a:rPr>
                        <a:t> flash drive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2463216">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1361864" y="3857504"/>
            <a:ext cx="2819612" cy="2305343"/>
          </a:xfrm>
          <a:prstGeom prst="rect">
            <a:avLst/>
          </a:prstGeom>
        </p:spPr>
      </p:pic>
      <p:pic>
        <p:nvPicPr>
          <p:cNvPr id="8" name="Picture 7"/>
          <p:cNvPicPr>
            <a:picLocks noChangeAspect="1"/>
          </p:cNvPicPr>
          <p:nvPr/>
        </p:nvPicPr>
        <p:blipFill>
          <a:blip r:embed="rId3"/>
          <a:stretch>
            <a:fillRect/>
          </a:stretch>
        </p:blipFill>
        <p:spPr>
          <a:xfrm>
            <a:off x="4895654" y="3956400"/>
            <a:ext cx="2800741" cy="2067213"/>
          </a:xfrm>
          <a:prstGeom prst="rect">
            <a:avLst/>
          </a:prstGeom>
        </p:spPr>
      </p:pic>
    </p:spTree>
    <p:extLst>
      <p:ext uri="{BB962C8B-B14F-4D97-AF65-F5344CB8AC3E}">
        <p14:creationId xmlns:p14="http://schemas.microsoft.com/office/powerpoint/2010/main" val="2080663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Processing</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26</a:t>
            </a:fld>
            <a:endParaRPr lang="en-US" dirty="0"/>
          </a:p>
        </p:txBody>
      </p:sp>
      <p:sp>
        <p:nvSpPr>
          <p:cNvPr id="4" name="Text Placeholder 3"/>
          <p:cNvSpPr>
            <a:spLocks noGrp="1"/>
          </p:cNvSpPr>
          <p:nvPr>
            <p:ph type="body" sz="quarter" idx="13"/>
          </p:nvPr>
        </p:nvSpPr>
        <p:spPr/>
        <p:txBody>
          <a:bodyPr/>
          <a:lstStyle/>
          <a:p>
            <a:pPr marL="0" indent="0">
              <a:buNone/>
            </a:pPr>
            <a:r>
              <a:rPr lang="en-US" dirty="0"/>
              <a:t>Processing means editing, modifying and updating data. The can be categorized as:</a:t>
            </a:r>
          </a:p>
          <a:p>
            <a:r>
              <a:rPr lang="en-HK" dirty="0"/>
              <a:t>Text processing</a:t>
            </a:r>
          </a:p>
          <a:p>
            <a:r>
              <a:rPr lang="en-HK" dirty="0"/>
              <a:t>Image processing</a:t>
            </a:r>
          </a:p>
          <a:p>
            <a:r>
              <a:rPr lang="en-HK" dirty="0"/>
              <a:t>Audio processing</a:t>
            </a:r>
          </a:p>
          <a:p>
            <a:r>
              <a:rPr lang="en-HK" dirty="0"/>
              <a:t>Video processing</a:t>
            </a:r>
            <a:endParaRPr lang="en-US" dirty="0"/>
          </a:p>
        </p:txBody>
      </p:sp>
      <p:sp>
        <p:nvSpPr>
          <p:cNvPr id="5" name="Text Placeholder 4"/>
          <p:cNvSpPr>
            <a:spLocks noGrp="1"/>
          </p:cNvSpPr>
          <p:nvPr>
            <p:ph type="body" sz="quarter" idx="14"/>
          </p:nvPr>
        </p:nvSpPr>
        <p:spPr/>
        <p:txBody>
          <a:bodyPr/>
          <a:lstStyle/>
          <a:p>
            <a:r>
              <a:rPr lang="en-HK" dirty="0"/>
              <a:t>D</a:t>
            </a:r>
            <a:endParaRPr lang="en-US" dirty="0"/>
          </a:p>
        </p:txBody>
      </p:sp>
      <p:pic>
        <p:nvPicPr>
          <p:cNvPr id="6" name="Picture 5"/>
          <p:cNvPicPr>
            <a:picLocks noChangeAspect="1"/>
          </p:cNvPicPr>
          <p:nvPr/>
        </p:nvPicPr>
        <p:blipFill>
          <a:blip r:embed="rId2"/>
          <a:stretch>
            <a:fillRect/>
          </a:stretch>
        </p:blipFill>
        <p:spPr>
          <a:xfrm>
            <a:off x="6975280" y="2290254"/>
            <a:ext cx="4378520" cy="2738656"/>
          </a:xfrm>
          <a:prstGeom prst="rect">
            <a:avLst/>
          </a:prstGeom>
        </p:spPr>
      </p:pic>
    </p:spTree>
    <p:extLst>
      <p:ext uri="{BB962C8B-B14F-4D97-AF65-F5344CB8AC3E}">
        <p14:creationId xmlns:p14="http://schemas.microsoft.com/office/powerpoint/2010/main" val="4083597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Analysis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27</a:t>
            </a:fld>
            <a:endParaRPr lang="en-US" dirty="0"/>
          </a:p>
        </p:txBody>
      </p:sp>
      <p:sp>
        <p:nvSpPr>
          <p:cNvPr id="4" name="Text Placeholder 3"/>
          <p:cNvSpPr>
            <a:spLocks noGrp="1"/>
          </p:cNvSpPr>
          <p:nvPr>
            <p:ph type="body" sz="quarter" idx="13"/>
          </p:nvPr>
        </p:nvSpPr>
        <p:spPr/>
        <p:txBody>
          <a:bodyPr/>
          <a:lstStyle/>
          <a:p>
            <a:pPr marL="0" indent="0">
              <a:buNone/>
            </a:pPr>
            <a:r>
              <a:rPr lang="en-US" dirty="0"/>
              <a:t>Data analysis extracts meaningful information from the processed data. For example:</a:t>
            </a:r>
          </a:p>
          <a:p>
            <a:pPr marL="0" indent="0">
              <a:buNone/>
            </a:pPr>
            <a:endParaRPr lang="en-HK" dirty="0"/>
          </a:p>
          <a:p>
            <a:pPr marL="0" indent="0">
              <a:buNone/>
            </a:pPr>
            <a:r>
              <a:rPr lang="en-US" dirty="0"/>
              <a:t>Putting the annual average temperature of Hong Kong in the past 50 years into a spreadsheet to identify the climate trends </a:t>
            </a:r>
          </a:p>
        </p:txBody>
      </p:sp>
      <p:sp>
        <p:nvSpPr>
          <p:cNvPr id="5" name="Text Placeholder 4"/>
          <p:cNvSpPr>
            <a:spLocks noGrp="1"/>
          </p:cNvSpPr>
          <p:nvPr>
            <p:ph type="body" sz="quarter" idx="14"/>
          </p:nvPr>
        </p:nvSpPr>
        <p:spPr/>
        <p:txBody>
          <a:bodyPr/>
          <a:lstStyle/>
          <a:p>
            <a:r>
              <a:rPr lang="en-HK" dirty="0"/>
              <a:t>E</a:t>
            </a:r>
            <a:endParaRPr lang="en-US" dirty="0"/>
          </a:p>
        </p:txBody>
      </p:sp>
      <p:pic>
        <p:nvPicPr>
          <p:cNvPr id="6" name="Picture 5"/>
          <p:cNvPicPr>
            <a:picLocks noChangeAspect="1"/>
          </p:cNvPicPr>
          <p:nvPr/>
        </p:nvPicPr>
        <p:blipFill>
          <a:blip r:embed="rId2"/>
          <a:stretch>
            <a:fillRect/>
          </a:stretch>
        </p:blipFill>
        <p:spPr>
          <a:xfrm>
            <a:off x="4360584" y="3412511"/>
            <a:ext cx="3470832" cy="2891089"/>
          </a:xfrm>
          <a:prstGeom prst="rect">
            <a:avLst/>
          </a:prstGeom>
        </p:spPr>
      </p:pic>
    </p:spTree>
    <p:extLst>
      <p:ext uri="{BB962C8B-B14F-4D97-AF65-F5344CB8AC3E}">
        <p14:creationId xmlns:p14="http://schemas.microsoft.com/office/powerpoint/2010/main" val="366883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Transmission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28</a:t>
            </a:fld>
            <a:endParaRPr lang="en-US" dirty="0"/>
          </a:p>
        </p:txBody>
      </p:sp>
      <p:sp>
        <p:nvSpPr>
          <p:cNvPr id="4" name="Text Placeholder 3"/>
          <p:cNvSpPr>
            <a:spLocks noGrp="1"/>
          </p:cNvSpPr>
          <p:nvPr>
            <p:ph type="body" sz="quarter" idx="13"/>
          </p:nvPr>
        </p:nvSpPr>
        <p:spPr/>
        <p:txBody>
          <a:bodyPr/>
          <a:lstStyle/>
          <a:p>
            <a:pPr marL="0" indent="0">
              <a:buNone/>
            </a:pPr>
            <a:r>
              <a:rPr lang="en-US" dirty="0"/>
              <a:t>Data transmission involves transmitters, media and receivers.</a:t>
            </a:r>
          </a:p>
          <a:p>
            <a:pPr marL="0" indent="0">
              <a:buNone/>
            </a:pPr>
            <a:endParaRPr lang="en-HK" dirty="0"/>
          </a:p>
          <a:p>
            <a:pPr marL="0" indent="0">
              <a:buNone/>
            </a:pPr>
            <a:r>
              <a:rPr lang="en-US" dirty="0"/>
              <a:t>Network is one of the possible media. It requires that both the transmitter and the receiver use the same protocol for communication.</a:t>
            </a:r>
          </a:p>
        </p:txBody>
      </p:sp>
      <p:sp>
        <p:nvSpPr>
          <p:cNvPr id="5" name="Text Placeholder 4"/>
          <p:cNvSpPr>
            <a:spLocks noGrp="1"/>
          </p:cNvSpPr>
          <p:nvPr>
            <p:ph type="body" sz="quarter" idx="14"/>
          </p:nvPr>
        </p:nvSpPr>
        <p:spPr/>
        <p:txBody>
          <a:bodyPr/>
          <a:lstStyle/>
          <a:p>
            <a:r>
              <a:rPr lang="en-HK" dirty="0"/>
              <a:t>F</a:t>
            </a:r>
            <a:endParaRPr lang="en-US" dirty="0"/>
          </a:p>
        </p:txBody>
      </p:sp>
      <p:pic>
        <p:nvPicPr>
          <p:cNvPr id="6" name="Picture 5"/>
          <p:cNvPicPr>
            <a:picLocks noChangeAspect="1"/>
          </p:cNvPicPr>
          <p:nvPr/>
        </p:nvPicPr>
        <p:blipFill>
          <a:blip r:embed="rId2"/>
          <a:stretch>
            <a:fillRect/>
          </a:stretch>
        </p:blipFill>
        <p:spPr>
          <a:xfrm>
            <a:off x="3895418" y="3395470"/>
            <a:ext cx="4401164" cy="2753109"/>
          </a:xfrm>
          <a:prstGeom prst="rect">
            <a:avLst/>
          </a:prstGeom>
        </p:spPr>
      </p:pic>
    </p:spTree>
    <p:extLst>
      <p:ext uri="{BB962C8B-B14F-4D97-AF65-F5344CB8AC3E}">
        <p14:creationId xmlns:p14="http://schemas.microsoft.com/office/powerpoint/2010/main" val="1079606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Presentation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29</a:t>
            </a:fld>
            <a:endParaRPr lang="en-US" dirty="0"/>
          </a:p>
        </p:txBody>
      </p:sp>
      <p:sp>
        <p:nvSpPr>
          <p:cNvPr id="4" name="Text Placeholder 3"/>
          <p:cNvSpPr>
            <a:spLocks noGrp="1"/>
          </p:cNvSpPr>
          <p:nvPr>
            <p:ph type="body" sz="quarter" idx="13"/>
          </p:nvPr>
        </p:nvSpPr>
        <p:spPr/>
        <p:txBody>
          <a:bodyPr/>
          <a:lstStyle/>
          <a:p>
            <a:pPr marL="0" indent="0">
              <a:buNone/>
            </a:pPr>
            <a:r>
              <a:rPr lang="en-US" dirty="0"/>
              <a:t>Presentation means the output of data or information through various media. Common examples include:</a:t>
            </a:r>
          </a:p>
        </p:txBody>
      </p:sp>
      <p:sp>
        <p:nvSpPr>
          <p:cNvPr id="5" name="Text Placeholder 4"/>
          <p:cNvSpPr>
            <a:spLocks noGrp="1"/>
          </p:cNvSpPr>
          <p:nvPr>
            <p:ph type="body" sz="quarter" idx="14"/>
          </p:nvPr>
        </p:nvSpPr>
        <p:spPr/>
        <p:txBody>
          <a:bodyPr/>
          <a:lstStyle/>
          <a:p>
            <a:r>
              <a:rPr lang="en-HK" dirty="0"/>
              <a:t>G</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248062857"/>
              </p:ext>
            </p:extLst>
          </p:nvPr>
        </p:nvGraphicFramePr>
        <p:xfrm>
          <a:off x="487360" y="2511000"/>
          <a:ext cx="11217280" cy="3433237"/>
        </p:xfrm>
        <a:graphic>
          <a:graphicData uri="http://schemas.openxmlformats.org/drawingml/2006/table">
            <a:tbl>
              <a:tblPr firstRow="1" bandRow="1">
                <a:tableStyleId>{5940675A-B579-460E-94D1-54222C63F5DA}</a:tableStyleId>
              </a:tblPr>
              <a:tblGrid>
                <a:gridCol w="2804320">
                  <a:extLst>
                    <a:ext uri="{9D8B030D-6E8A-4147-A177-3AD203B41FA5}">
                      <a16:colId xmlns:a16="http://schemas.microsoft.com/office/drawing/2014/main" val="20000"/>
                    </a:ext>
                  </a:extLst>
                </a:gridCol>
                <a:gridCol w="2804320">
                  <a:extLst>
                    <a:ext uri="{9D8B030D-6E8A-4147-A177-3AD203B41FA5}">
                      <a16:colId xmlns:a16="http://schemas.microsoft.com/office/drawing/2014/main" val="20001"/>
                    </a:ext>
                  </a:extLst>
                </a:gridCol>
                <a:gridCol w="2804320">
                  <a:extLst>
                    <a:ext uri="{9D8B030D-6E8A-4147-A177-3AD203B41FA5}">
                      <a16:colId xmlns:a16="http://schemas.microsoft.com/office/drawing/2014/main" val="20002"/>
                    </a:ext>
                  </a:extLst>
                </a:gridCol>
                <a:gridCol w="2804320">
                  <a:extLst>
                    <a:ext uri="{9D8B030D-6E8A-4147-A177-3AD203B41FA5}">
                      <a16:colId xmlns:a16="http://schemas.microsoft.com/office/drawing/2014/main" val="20003"/>
                    </a:ext>
                  </a:extLst>
                </a:gridCol>
              </a:tblGrid>
              <a:tr h="528112">
                <a:tc>
                  <a:txBody>
                    <a:bodyPr/>
                    <a:lstStyle/>
                    <a:p>
                      <a:pPr algn="ctr"/>
                      <a:r>
                        <a:rPr lang="en-HK" b="1" dirty="0">
                          <a:solidFill>
                            <a:schemeClr val="bg1"/>
                          </a:solidFill>
                        </a:rPr>
                        <a:t>Text</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Image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Video</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Audio</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2905125">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767703" y="3160275"/>
            <a:ext cx="2302193" cy="2659815"/>
          </a:xfrm>
          <a:prstGeom prst="rect">
            <a:avLst/>
          </a:prstGeom>
        </p:spPr>
      </p:pic>
      <p:pic>
        <p:nvPicPr>
          <p:cNvPr id="8" name="Picture 7"/>
          <p:cNvPicPr>
            <a:picLocks noChangeAspect="1"/>
          </p:cNvPicPr>
          <p:nvPr/>
        </p:nvPicPr>
        <p:blipFill>
          <a:blip r:embed="rId3"/>
          <a:stretch>
            <a:fillRect/>
          </a:stretch>
        </p:blipFill>
        <p:spPr>
          <a:xfrm>
            <a:off x="3393757" y="3648074"/>
            <a:ext cx="2638517" cy="1827723"/>
          </a:xfrm>
          <a:prstGeom prst="rect">
            <a:avLst/>
          </a:prstGeom>
        </p:spPr>
      </p:pic>
      <p:pic>
        <p:nvPicPr>
          <p:cNvPr id="9" name="Picture 8"/>
          <p:cNvPicPr>
            <a:picLocks noChangeAspect="1"/>
          </p:cNvPicPr>
          <p:nvPr/>
        </p:nvPicPr>
        <p:blipFill>
          <a:blip r:embed="rId4"/>
          <a:stretch>
            <a:fillRect/>
          </a:stretch>
        </p:blipFill>
        <p:spPr>
          <a:xfrm>
            <a:off x="6175149" y="3485592"/>
            <a:ext cx="2664051" cy="2152685"/>
          </a:xfrm>
          <a:prstGeom prst="rect">
            <a:avLst/>
          </a:prstGeom>
        </p:spPr>
      </p:pic>
      <p:pic>
        <p:nvPicPr>
          <p:cNvPr id="10" name="Picture 9"/>
          <p:cNvPicPr>
            <a:picLocks noChangeAspect="1"/>
          </p:cNvPicPr>
          <p:nvPr/>
        </p:nvPicPr>
        <p:blipFill>
          <a:blip r:embed="rId5"/>
          <a:stretch>
            <a:fillRect/>
          </a:stretch>
        </p:blipFill>
        <p:spPr>
          <a:xfrm>
            <a:off x="9137527" y="3085748"/>
            <a:ext cx="2369844" cy="2801683"/>
          </a:xfrm>
          <a:prstGeom prst="rect">
            <a:avLst/>
          </a:prstGeom>
        </p:spPr>
      </p:pic>
    </p:spTree>
    <p:extLst>
      <p:ext uri="{BB962C8B-B14F-4D97-AF65-F5344CB8AC3E}">
        <p14:creationId xmlns:p14="http://schemas.microsoft.com/office/powerpoint/2010/main" val="432235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54EA0C7-C47B-44FE-DD30-C5F0419B6B64}"/>
              </a:ext>
            </a:extLst>
          </p:cNvPr>
          <p:cNvSpPr>
            <a:spLocks noGrp="1"/>
          </p:cNvSpPr>
          <p:nvPr>
            <p:ph idx="1"/>
          </p:nvPr>
        </p:nvSpPr>
        <p:spPr/>
        <p:txBody>
          <a:bodyPr>
            <a:normAutofit/>
          </a:bodyPr>
          <a:lstStyle/>
          <a:p>
            <a:pPr marL="457200" indent="-457200">
              <a:buSzPct val="100000"/>
              <a:buFont typeface="+mj-lt"/>
              <a:buAutoNum type="arabicPeriod"/>
            </a:pPr>
            <a:r>
              <a:rPr lang="en-US" dirty="0">
                <a:latin typeface="Myriad Pro" panose="020B0503030403020204" pitchFamily="34" charset="0"/>
              </a:rPr>
              <a:t>Diana is making a reality show. She has over 200 footages stored in her computer. Which of the following are proper ways for her to search footages more efficiently?</a:t>
            </a:r>
          </a:p>
          <a:p>
            <a:pPr marL="914400" lvl="1" indent="-457200">
              <a:buSzPct val="100000"/>
              <a:buFont typeface="+mj-lt"/>
              <a:buAutoNum type="arabicPeriod"/>
            </a:pPr>
            <a:endParaRPr lang="en-HK" dirty="0">
              <a:latin typeface="Myriad Pro" panose="020B0503030403020204" pitchFamily="34" charset="0"/>
            </a:endParaRPr>
          </a:p>
          <a:p>
            <a:pPr marL="457200" lvl="1" indent="0">
              <a:buSzPct val="100000"/>
              <a:buNone/>
            </a:pPr>
            <a:r>
              <a:rPr lang="en-HK" dirty="0">
                <a:latin typeface="Myriad Pro" panose="020B0503030403020204" pitchFamily="34" charset="0"/>
              </a:rPr>
              <a:t>(1) Subtitling the footages</a:t>
            </a:r>
          </a:p>
          <a:p>
            <a:pPr marL="457200" lvl="1" indent="0">
              <a:buSzPct val="100000"/>
              <a:buNone/>
            </a:pPr>
            <a:r>
              <a:rPr lang="en-HK" dirty="0">
                <a:latin typeface="Myriad Pro" panose="020B0503030403020204" pitchFamily="34" charset="0"/>
              </a:rPr>
              <a:t>(2) </a:t>
            </a:r>
            <a:r>
              <a:rPr lang="en-US" dirty="0">
                <a:latin typeface="Myriad Pro" panose="020B0503030403020204" pitchFamily="34" charset="0"/>
              </a:rPr>
              <a:t>Stating the creation date in the filenames of the footages</a:t>
            </a:r>
            <a:endParaRPr lang="en-HK" dirty="0">
              <a:latin typeface="Myriad Pro" panose="020B0503030403020204" pitchFamily="34" charset="0"/>
            </a:endParaRPr>
          </a:p>
          <a:p>
            <a:pPr marL="457200" lvl="1" indent="0">
              <a:buSzPct val="100000"/>
              <a:buNone/>
            </a:pPr>
            <a:r>
              <a:rPr lang="en-HK" dirty="0">
                <a:latin typeface="Myriad Pro" panose="020B0503030403020204" pitchFamily="34" charset="0"/>
              </a:rPr>
              <a:t>(3) </a:t>
            </a:r>
            <a:r>
              <a:rPr lang="en-US" dirty="0">
                <a:latin typeface="Myriad Pro" panose="020B0503030403020204" pitchFamily="34" charset="0"/>
              </a:rPr>
              <a:t>Putting the footages filmed in the same week into one folder</a:t>
            </a:r>
            <a:endParaRPr lang="en-HK" dirty="0">
              <a:latin typeface="Myriad Pro" panose="020B0503030403020204" pitchFamily="34" charset="0"/>
            </a:endParaRPr>
          </a:p>
          <a:p>
            <a:pPr marL="457200" lvl="1" indent="0">
              <a:buSzPct val="100000"/>
              <a:buNone/>
            </a:pPr>
            <a:endParaRPr lang="en-HK" dirty="0">
              <a:latin typeface="Myriad Pro" panose="020B0503030403020204" pitchFamily="34" charset="0"/>
            </a:endParaRPr>
          </a:p>
          <a:p>
            <a:pPr marL="800100" lvl="1" indent="-342900">
              <a:buSzPct val="100000"/>
              <a:buFont typeface="+mj-lt"/>
              <a:buAutoNum type="alphaUcPeriod"/>
            </a:pPr>
            <a:r>
              <a:rPr lang="en-HK" dirty="0">
                <a:latin typeface="Myriad Pro" panose="020B0503030403020204" pitchFamily="34" charset="0"/>
              </a:rPr>
              <a:t>(1) and (2) only</a:t>
            </a:r>
          </a:p>
          <a:p>
            <a:pPr marL="800100" lvl="1" indent="-342900">
              <a:buSzPct val="100000"/>
              <a:buFont typeface="+mj-lt"/>
              <a:buAutoNum type="alphaUcPeriod"/>
            </a:pPr>
            <a:r>
              <a:rPr lang="en-HK" dirty="0">
                <a:latin typeface="Myriad Pro" panose="020B0503030403020204" pitchFamily="34" charset="0"/>
              </a:rPr>
              <a:t>(2) and (3) only</a:t>
            </a:r>
          </a:p>
          <a:p>
            <a:pPr marL="800100" lvl="1" indent="-342900">
              <a:buSzPct val="100000"/>
              <a:buFont typeface="+mj-lt"/>
              <a:buAutoNum type="alphaUcPeriod"/>
            </a:pPr>
            <a:r>
              <a:rPr lang="en-HK" dirty="0">
                <a:latin typeface="Myriad Pro" panose="020B0503030403020204" pitchFamily="34" charset="0"/>
              </a:rPr>
              <a:t>(1) and (3) only</a:t>
            </a:r>
          </a:p>
          <a:p>
            <a:pPr marL="800100" lvl="1" indent="-342900">
              <a:buSzPct val="100000"/>
              <a:buFont typeface="+mj-lt"/>
              <a:buAutoNum type="alphaUcPeriod"/>
            </a:pPr>
            <a:r>
              <a:rPr lang="en-HK" dirty="0">
                <a:latin typeface="Myriad Pro" panose="020B0503030403020204" pitchFamily="34" charset="0"/>
              </a:rPr>
              <a:t>(1), (2) and (3)</a:t>
            </a:r>
          </a:p>
        </p:txBody>
      </p:sp>
      <p:sp>
        <p:nvSpPr>
          <p:cNvPr id="3" name="Slide Number Placeholder 2">
            <a:extLst>
              <a:ext uri="{FF2B5EF4-FFF2-40B4-BE49-F238E27FC236}">
                <a16:creationId xmlns:a16="http://schemas.microsoft.com/office/drawing/2014/main" id="{0C750C48-557E-F763-CB37-202F6165B204}"/>
              </a:ext>
            </a:extLst>
          </p:cNvPr>
          <p:cNvSpPr>
            <a:spLocks noGrp="1"/>
          </p:cNvSpPr>
          <p:nvPr>
            <p:ph type="sldNum" sz="quarter" idx="12"/>
          </p:nvPr>
        </p:nvSpPr>
        <p:spPr/>
        <p:txBody>
          <a:bodyPr/>
          <a:lstStyle/>
          <a:p>
            <a:fld id="{6D22F896-40B5-4ADD-8801-0D06FADFA095}" type="slidenum">
              <a:rPr lang="en-US" smtClean="0"/>
              <a:t>30</a:t>
            </a:fld>
            <a:endParaRPr lang="en-US" dirty="0"/>
          </a:p>
        </p:txBody>
      </p:sp>
      <p:sp>
        <p:nvSpPr>
          <p:cNvPr id="6" name="Text Placeholder 5">
            <a:extLst>
              <a:ext uri="{FF2B5EF4-FFF2-40B4-BE49-F238E27FC236}">
                <a16:creationId xmlns:a16="http://schemas.microsoft.com/office/drawing/2014/main" id="{3AFF6C74-C4CC-6F82-E85E-7167821D98D8}"/>
              </a:ext>
            </a:extLst>
          </p:cNvPr>
          <p:cNvSpPr>
            <a:spLocks noGrp="1"/>
          </p:cNvSpPr>
          <p:nvPr>
            <p:ph type="body" sz="quarter" idx="13"/>
          </p:nvPr>
        </p:nvSpPr>
        <p:spPr/>
        <p:txBody>
          <a:bodyPr/>
          <a:lstStyle/>
          <a:p>
            <a:r>
              <a:rPr lang="en-GB" dirty="0"/>
              <a:t>1.1</a:t>
            </a:r>
          </a:p>
        </p:txBody>
      </p:sp>
    </p:spTree>
    <p:extLst>
      <p:ext uri="{BB962C8B-B14F-4D97-AF65-F5344CB8AC3E}">
        <p14:creationId xmlns:p14="http://schemas.microsoft.com/office/powerpoint/2010/main" val="2546500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54EA0C7-C47B-44FE-DD30-C5F0419B6B64}"/>
              </a:ext>
            </a:extLst>
          </p:cNvPr>
          <p:cNvSpPr>
            <a:spLocks noGrp="1"/>
          </p:cNvSpPr>
          <p:nvPr>
            <p:ph idx="1"/>
          </p:nvPr>
        </p:nvSpPr>
        <p:spPr/>
        <p:txBody>
          <a:bodyPr>
            <a:normAutofit/>
          </a:bodyPr>
          <a:lstStyle/>
          <a:p>
            <a:pPr>
              <a:buSzPct val="100000"/>
              <a:buFont typeface="Noto Sans CJK TC Regular" panose="020B0500000000000000" pitchFamily="34" charset="-128"/>
              <a:buChar char="◣"/>
            </a:pPr>
            <a:r>
              <a:rPr lang="en-GB" b="1" i="0" u="none" strike="noStrike" baseline="0" dirty="0">
                <a:solidFill>
                  <a:srgbClr val="37A3D4"/>
                </a:solidFill>
                <a:latin typeface="MyriadPro-Bold" panose="020B0703030403020204" pitchFamily="34" charset="0"/>
              </a:rPr>
              <a:t> </a:t>
            </a:r>
            <a:r>
              <a:rPr lang="en-GB" b="1" dirty="0">
                <a:solidFill>
                  <a:srgbClr val="37A3D4"/>
                </a:solidFill>
                <a:latin typeface="MyriadPro-Bold" panose="020B0703030403020204" pitchFamily="34" charset="0"/>
              </a:rPr>
              <a:t>Analysis</a:t>
            </a:r>
            <a:endParaRPr lang="en-GB" b="1" i="0" u="none" strike="noStrike" baseline="0" dirty="0">
              <a:solidFill>
                <a:srgbClr val="37A3D4"/>
              </a:solidFill>
              <a:latin typeface="MyriadPro-Bold" panose="020B0703030403020204" pitchFamily="34" charset="0"/>
            </a:endParaRPr>
          </a:p>
          <a:p>
            <a:pPr marL="0" indent="0">
              <a:buSzPct val="100000"/>
              <a:buNone/>
            </a:pPr>
            <a:r>
              <a:rPr lang="en-US" dirty="0">
                <a:latin typeface="Myriad Pro" panose="020B0503030403020204" pitchFamily="34" charset="0"/>
              </a:rPr>
              <a:t>(2) allows us to search footages by their creation date. (3) helps us find all the footages filmed in the same week. (1) makes the footage more accessible but does not make the searching easier.</a:t>
            </a:r>
            <a:endParaRPr lang="en-GB" dirty="0">
              <a:latin typeface="Myriad Pro" panose="020B0503030403020204" pitchFamily="34" charset="0"/>
            </a:endParaRPr>
          </a:p>
          <a:p>
            <a:pPr marL="0" indent="0">
              <a:buSzPct val="100000"/>
              <a:buNone/>
            </a:pPr>
            <a:endParaRPr lang="en-GB" dirty="0">
              <a:latin typeface="Myriad Pro" panose="020B0503030403020204" pitchFamily="34" charset="0"/>
            </a:endParaRPr>
          </a:p>
          <a:p>
            <a:pPr>
              <a:buSzPct val="100000"/>
              <a:buFont typeface="Noto Sans CJK TC Regular" panose="020B0500000000000000" pitchFamily="34" charset="-128"/>
              <a:buChar char="◣"/>
            </a:pPr>
            <a:r>
              <a:rPr lang="en-GB" b="1" i="0" u="none" strike="noStrike" baseline="0" dirty="0">
                <a:solidFill>
                  <a:srgbClr val="37A3D4"/>
                </a:solidFill>
                <a:latin typeface="MyriadPro-Bold" panose="020B0703030403020204" pitchFamily="34" charset="0"/>
              </a:rPr>
              <a:t> </a:t>
            </a:r>
            <a:r>
              <a:rPr lang="en-GB" b="1" dirty="0">
                <a:solidFill>
                  <a:srgbClr val="37A3D4"/>
                </a:solidFill>
                <a:latin typeface="MyriadPro-Bold" panose="020B0703030403020204" pitchFamily="34" charset="0"/>
              </a:rPr>
              <a:t>Solution</a:t>
            </a:r>
            <a:endParaRPr lang="en-GB" b="1" i="0" u="none" strike="noStrike" baseline="0" dirty="0">
              <a:solidFill>
                <a:srgbClr val="37A3D4"/>
              </a:solidFill>
              <a:latin typeface="MyriadPro-Bold" panose="020B0703030403020204" pitchFamily="34" charset="0"/>
            </a:endParaRPr>
          </a:p>
          <a:p>
            <a:pPr marL="0" indent="0">
              <a:buSzPct val="100000"/>
              <a:buNone/>
            </a:pPr>
            <a:r>
              <a:rPr lang="en-GB" dirty="0">
                <a:latin typeface="Myriad Pro" panose="020B0503030403020204" pitchFamily="34" charset="0"/>
              </a:rPr>
              <a:t>The answer is B.</a:t>
            </a:r>
          </a:p>
        </p:txBody>
      </p:sp>
      <p:sp>
        <p:nvSpPr>
          <p:cNvPr id="3" name="Slide Number Placeholder 2">
            <a:extLst>
              <a:ext uri="{FF2B5EF4-FFF2-40B4-BE49-F238E27FC236}">
                <a16:creationId xmlns:a16="http://schemas.microsoft.com/office/drawing/2014/main" id="{0C750C48-557E-F763-CB37-202F6165B204}"/>
              </a:ext>
            </a:extLst>
          </p:cNvPr>
          <p:cNvSpPr>
            <a:spLocks noGrp="1"/>
          </p:cNvSpPr>
          <p:nvPr>
            <p:ph type="sldNum" sz="quarter" idx="12"/>
          </p:nvPr>
        </p:nvSpPr>
        <p:spPr/>
        <p:txBody>
          <a:bodyPr/>
          <a:lstStyle/>
          <a:p>
            <a:fld id="{6D22F896-40B5-4ADD-8801-0D06FADFA095}" type="slidenum">
              <a:rPr lang="en-US" smtClean="0"/>
              <a:t>31</a:t>
            </a:fld>
            <a:endParaRPr lang="en-US" dirty="0"/>
          </a:p>
        </p:txBody>
      </p:sp>
      <p:sp>
        <p:nvSpPr>
          <p:cNvPr id="6" name="Text Placeholder 5">
            <a:extLst>
              <a:ext uri="{FF2B5EF4-FFF2-40B4-BE49-F238E27FC236}">
                <a16:creationId xmlns:a16="http://schemas.microsoft.com/office/drawing/2014/main" id="{3AFF6C74-C4CC-6F82-E85E-7167821D98D8}"/>
              </a:ext>
            </a:extLst>
          </p:cNvPr>
          <p:cNvSpPr>
            <a:spLocks noGrp="1"/>
          </p:cNvSpPr>
          <p:nvPr>
            <p:ph type="body" sz="quarter" idx="13"/>
          </p:nvPr>
        </p:nvSpPr>
        <p:spPr/>
        <p:txBody>
          <a:bodyPr/>
          <a:lstStyle/>
          <a:p>
            <a:r>
              <a:rPr lang="en-GB" dirty="0"/>
              <a:t>1.1</a:t>
            </a:r>
          </a:p>
        </p:txBody>
      </p:sp>
    </p:spTree>
    <p:extLst>
      <p:ext uri="{BB962C8B-B14F-4D97-AF65-F5344CB8AC3E}">
        <p14:creationId xmlns:p14="http://schemas.microsoft.com/office/powerpoint/2010/main" val="3174543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Information 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32</a:t>
            </a:fld>
            <a:endParaRPr lang="en-US" dirty="0"/>
          </a:p>
        </p:txBody>
      </p:sp>
      <p:sp>
        <p:nvSpPr>
          <p:cNvPr id="4" name="Text Placeholder 3"/>
          <p:cNvSpPr>
            <a:spLocks noGrp="1"/>
          </p:cNvSpPr>
          <p:nvPr>
            <p:ph type="body" sz="quarter" idx="13"/>
          </p:nvPr>
        </p:nvSpPr>
        <p:spPr/>
        <p:txBody>
          <a:bodyPr/>
          <a:lstStyle/>
          <a:p>
            <a:pPr marL="0" indent="0">
              <a:buNone/>
            </a:pPr>
            <a:r>
              <a:rPr lang="en-HK" dirty="0"/>
              <a:t>What will happen to your life without computers?</a:t>
            </a:r>
            <a:endParaRPr lang="en-US" dirty="0"/>
          </a:p>
        </p:txBody>
      </p:sp>
      <p:sp>
        <p:nvSpPr>
          <p:cNvPr id="5" name="Text Placeholder 4"/>
          <p:cNvSpPr>
            <a:spLocks noGrp="1"/>
          </p:cNvSpPr>
          <p:nvPr>
            <p:ph type="body" sz="quarter" idx="14"/>
          </p:nvPr>
        </p:nvSpPr>
        <p:spPr/>
        <p:txBody>
          <a:bodyPr/>
          <a:lstStyle/>
          <a:p>
            <a:r>
              <a:rPr lang="en-HK" dirty="0"/>
              <a:t>1.4</a:t>
            </a:r>
            <a:endParaRPr lang="en-US" dirty="0"/>
          </a:p>
        </p:txBody>
      </p:sp>
    </p:spTree>
    <p:extLst>
      <p:ext uri="{BB962C8B-B14F-4D97-AF65-F5344CB8AC3E}">
        <p14:creationId xmlns:p14="http://schemas.microsoft.com/office/powerpoint/2010/main" val="34454624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Definition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33</a:t>
            </a:fld>
            <a:endParaRPr lang="en-US" dirty="0"/>
          </a:p>
        </p:txBody>
      </p:sp>
      <p:sp>
        <p:nvSpPr>
          <p:cNvPr id="4" name="Text Placeholder 3"/>
          <p:cNvSpPr>
            <a:spLocks noGrp="1"/>
          </p:cNvSpPr>
          <p:nvPr>
            <p:ph type="body" sz="quarter" idx="13"/>
          </p:nvPr>
        </p:nvSpPr>
        <p:spPr/>
        <p:txBody>
          <a:bodyPr/>
          <a:lstStyle/>
          <a:p>
            <a:pPr marL="0" indent="0">
              <a:buNone/>
            </a:pPr>
            <a:r>
              <a:rPr lang="en-US" dirty="0"/>
              <a:t>With the rapid development of information and communication technology, microcomputers, internet and search engines have been improved constantly.</a:t>
            </a:r>
          </a:p>
          <a:p>
            <a:pPr marL="0" indent="0">
              <a:buNone/>
            </a:pPr>
            <a:endParaRPr lang="en-HK" dirty="0"/>
          </a:p>
          <a:p>
            <a:pPr marL="0" indent="0">
              <a:buNone/>
            </a:pPr>
            <a:r>
              <a:rPr lang="en-US" dirty="0"/>
              <a:t>Accessing and publishing information have become easier and more popular:</a:t>
            </a:r>
          </a:p>
        </p:txBody>
      </p:sp>
      <p:sp>
        <p:nvSpPr>
          <p:cNvPr id="5" name="Text Placeholder 4"/>
          <p:cNvSpPr>
            <a:spLocks noGrp="1"/>
          </p:cNvSpPr>
          <p:nvPr>
            <p:ph type="body" sz="quarter" idx="14"/>
          </p:nvPr>
        </p:nvSpPr>
        <p:spPr/>
        <p:txBody>
          <a:bodyPr/>
          <a:lstStyle/>
          <a:p>
            <a:r>
              <a:rPr lang="en-HK" dirty="0"/>
              <a:t>A</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662168011"/>
              </p:ext>
            </p:extLst>
          </p:nvPr>
        </p:nvGraphicFramePr>
        <p:xfrm>
          <a:off x="946149" y="3448318"/>
          <a:ext cx="10407651" cy="2642659"/>
        </p:xfrm>
        <a:graphic>
          <a:graphicData uri="http://schemas.openxmlformats.org/drawingml/2006/table">
            <a:tbl>
              <a:tblPr firstRow="1" bandRow="1">
                <a:tableStyleId>{5940675A-B579-460E-94D1-54222C63F5DA}</a:tableStyleId>
              </a:tblPr>
              <a:tblGrid>
                <a:gridCol w="3469217">
                  <a:extLst>
                    <a:ext uri="{9D8B030D-6E8A-4147-A177-3AD203B41FA5}">
                      <a16:colId xmlns:a16="http://schemas.microsoft.com/office/drawing/2014/main" val="20000"/>
                    </a:ext>
                  </a:extLst>
                </a:gridCol>
                <a:gridCol w="3469217">
                  <a:extLst>
                    <a:ext uri="{9D8B030D-6E8A-4147-A177-3AD203B41FA5}">
                      <a16:colId xmlns:a16="http://schemas.microsoft.com/office/drawing/2014/main" val="20001"/>
                    </a:ext>
                  </a:extLst>
                </a:gridCol>
                <a:gridCol w="3469217">
                  <a:extLst>
                    <a:ext uri="{9D8B030D-6E8A-4147-A177-3AD203B41FA5}">
                      <a16:colId xmlns:a16="http://schemas.microsoft.com/office/drawing/2014/main" val="20002"/>
                    </a:ext>
                  </a:extLst>
                </a:gridCol>
              </a:tblGrid>
              <a:tr h="53763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HK" b="1" dirty="0">
                          <a:solidFill>
                            <a:schemeClr val="bg1"/>
                          </a:solidFill>
                        </a:rPr>
                        <a:t>Search</a:t>
                      </a:r>
                      <a:r>
                        <a:rPr lang="en-HK" b="1" baseline="0" dirty="0">
                          <a:solidFill>
                            <a:schemeClr val="bg1"/>
                          </a:solidFill>
                        </a:rPr>
                        <a:t> engine</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Social</a:t>
                      </a:r>
                      <a:r>
                        <a:rPr lang="en-HK" b="1" baseline="0" dirty="0">
                          <a:solidFill>
                            <a:schemeClr val="bg1"/>
                          </a:solidFill>
                        </a:rPr>
                        <a:t> media</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Streaming</a:t>
                      </a:r>
                      <a:r>
                        <a:rPr lang="en-HK" b="1" baseline="0" dirty="0">
                          <a:solidFill>
                            <a:schemeClr val="bg1"/>
                          </a:solidFill>
                        </a:rPr>
                        <a:t> platform</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2105025">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stretch>
            <a:fillRect/>
          </a:stretch>
        </p:blipFill>
        <p:spPr>
          <a:xfrm>
            <a:off x="1104899" y="4081202"/>
            <a:ext cx="3218353" cy="1924200"/>
          </a:xfrm>
          <a:prstGeom prst="rect">
            <a:avLst/>
          </a:prstGeom>
        </p:spPr>
      </p:pic>
      <p:pic>
        <p:nvPicPr>
          <p:cNvPr id="8" name="Picture 7"/>
          <p:cNvPicPr>
            <a:picLocks noChangeAspect="1"/>
          </p:cNvPicPr>
          <p:nvPr/>
        </p:nvPicPr>
        <p:blipFill>
          <a:blip r:embed="rId3"/>
          <a:stretch>
            <a:fillRect/>
          </a:stretch>
        </p:blipFill>
        <p:spPr>
          <a:xfrm>
            <a:off x="4589952" y="4081202"/>
            <a:ext cx="3173242" cy="1924200"/>
          </a:xfrm>
          <a:prstGeom prst="rect">
            <a:avLst/>
          </a:prstGeom>
        </p:spPr>
      </p:pic>
      <p:pic>
        <p:nvPicPr>
          <p:cNvPr id="9" name="Picture 8"/>
          <p:cNvPicPr>
            <a:picLocks noChangeAspect="1"/>
          </p:cNvPicPr>
          <p:nvPr/>
        </p:nvPicPr>
        <p:blipFill>
          <a:blip r:embed="rId4"/>
          <a:stretch>
            <a:fillRect/>
          </a:stretch>
        </p:blipFill>
        <p:spPr>
          <a:xfrm>
            <a:off x="7963219" y="4081202"/>
            <a:ext cx="3195697" cy="1924200"/>
          </a:xfrm>
          <a:prstGeom prst="rect">
            <a:avLst/>
          </a:prstGeom>
        </p:spPr>
      </p:pic>
    </p:spTree>
    <p:extLst>
      <p:ext uri="{BB962C8B-B14F-4D97-AF65-F5344CB8AC3E}">
        <p14:creationId xmlns:p14="http://schemas.microsoft.com/office/powerpoint/2010/main" val="9002733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Causes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34</a:t>
            </a:fld>
            <a:endParaRPr lang="en-US" dirty="0"/>
          </a:p>
        </p:txBody>
      </p:sp>
      <p:sp>
        <p:nvSpPr>
          <p:cNvPr id="4" name="Text Placeholder 3"/>
          <p:cNvSpPr>
            <a:spLocks noGrp="1"/>
          </p:cNvSpPr>
          <p:nvPr>
            <p:ph type="body" sz="quarter" idx="13"/>
          </p:nvPr>
        </p:nvSpPr>
        <p:spPr/>
        <p:txBody>
          <a:bodyPr/>
          <a:lstStyle/>
          <a:p>
            <a:pPr marL="0" indent="0">
              <a:buNone/>
            </a:pPr>
            <a:r>
              <a:rPr lang="en-HK" dirty="0"/>
              <a:t>The causes of the information age include:</a:t>
            </a:r>
            <a:endParaRPr lang="en-US" dirty="0"/>
          </a:p>
        </p:txBody>
      </p:sp>
      <p:sp>
        <p:nvSpPr>
          <p:cNvPr id="5" name="Text Placeholder 4"/>
          <p:cNvSpPr>
            <a:spLocks noGrp="1"/>
          </p:cNvSpPr>
          <p:nvPr>
            <p:ph type="body" sz="quarter" idx="14"/>
          </p:nvPr>
        </p:nvSpPr>
        <p:spPr/>
        <p:txBody>
          <a:bodyPr/>
          <a:lstStyle/>
          <a:p>
            <a:r>
              <a:rPr lang="en-HK" dirty="0"/>
              <a:t>B</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246192015"/>
              </p:ext>
            </p:extLst>
          </p:nvPr>
        </p:nvGraphicFramePr>
        <p:xfrm>
          <a:off x="838200" y="2409825"/>
          <a:ext cx="10591200" cy="3501390"/>
        </p:xfrm>
        <a:graphic>
          <a:graphicData uri="http://schemas.openxmlformats.org/drawingml/2006/table">
            <a:tbl>
              <a:tblPr firstRow="1" bandRow="1">
                <a:tableStyleId>{5940675A-B579-460E-94D1-54222C63F5DA}</a:tableStyleId>
              </a:tblPr>
              <a:tblGrid>
                <a:gridCol w="3530400">
                  <a:extLst>
                    <a:ext uri="{9D8B030D-6E8A-4147-A177-3AD203B41FA5}">
                      <a16:colId xmlns:a16="http://schemas.microsoft.com/office/drawing/2014/main" val="20000"/>
                    </a:ext>
                  </a:extLst>
                </a:gridCol>
                <a:gridCol w="3530400">
                  <a:extLst>
                    <a:ext uri="{9D8B030D-6E8A-4147-A177-3AD203B41FA5}">
                      <a16:colId xmlns:a16="http://schemas.microsoft.com/office/drawing/2014/main" val="20001"/>
                    </a:ext>
                  </a:extLst>
                </a:gridCol>
                <a:gridCol w="3530400">
                  <a:extLst>
                    <a:ext uri="{9D8B030D-6E8A-4147-A177-3AD203B41FA5}">
                      <a16:colId xmlns:a16="http://schemas.microsoft.com/office/drawing/2014/main" val="20002"/>
                    </a:ext>
                  </a:extLst>
                </a:gridCol>
              </a:tblGrid>
              <a:tr h="666750">
                <a:tc>
                  <a:txBody>
                    <a:bodyPr/>
                    <a:lstStyle/>
                    <a:p>
                      <a:pPr algn="ctr"/>
                      <a:r>
                        <a:rPr lang="en-HK" b="1" dirty="0">
                          <a:solidFill>
                            <a:schemeClr val="bg1"/>
                          </a:solidFill>
                        </a:rPr>
                        <a:t>Personal</a:t>
                      </a:r>
                      <a:r>
                        <a:rPr lang="en-HK" b="1" baseline="0" dirty="0">
                          <a:solidFill>
                            <a:schemeClr val="bg1"/>
                          </a:solidFill>
                        </a:rPr>
                        <a:t> computers and mobile devices</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Application</a:t>
                      </a:r>
                      <a:r>
                        <a:rPr lang="en-HK" b="1" baseline="0" dirty="0">
                          <a:solidFill>
                            <a:schemeClr val="bg1"/>
                          </a:solidFill>
                        </a:rPr>
                        <a:t> design</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Communication</a:t>
                      </a:r>
                      <a:r>
                        <a:rPr lang="en-HK" b="1" baseline="0" dirty="0">
                          <a:solidFill>
                            <a:schemeClr val="bg1"/>
                          </a:solidFill>
                        </a:rPr>
                        <a:t> network</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2327708">
                <a:tc>
                  <a:txBody>
                    <a:bodyPr/>
                    <a:lstStyle/>
                    <a:p>
                      <a:pPr marL="285750" indent="-285750">
                        <a:buFont typeface="Arial" panose="020B0604020202020204" pitchFamily="34" charset="0"/>
                        <a:buChar char="•"/>
                      </a:pPr>
                      <a:r>
                        <a:rPr lang="en-US" dirty="0"/>
                        <a:t>Personal</a:t>
                      </a:r>
                      <a:r>
                        <a:rPr lang="en-US" baseline="0" dirty="0"/>
                        <a:t> computers and mobile devices </a:t>
                      </a:r>
                      <a:r>
                        <a:rPr lang="en-US" altLang="zh-CN" baseline="0" dirty="0"/>
                        <a:t>have</a:t>
                      </a:r>
                      <a:r>
                        <a:rPr lang="en-HK" altLang="zh-CN" baseline="0" dirty="0"/>
                        <a:t> become more widespread as they are more </a:t>
                      </a:r>
                      <a:r>
                        <a:rPr lang="en-US" dirty="0"/>
                        <a:t>affordable.</a:t>
                      </a:r>
                    </a:p>
                    <a:p>
                      <a:pPr marL="0" indent="0">
                        <a:buFont typeface="Arial" panose="020B0604020202020204" pitchFamily="34" charset="0"/>
                        <a:buNone/>
                      </a:pPr>
                      <a:r>
                        <a:rPr lang="en-US" baseline="0" dirty="0"/>
                        <a:t> </a:t>
                      </a:r>
                    </a:p>
                    <a:p>
                      <a:pPr marL="285750" indent="-285750">
                        <a:buFont typeface="Arial" panose="020B0604020202020204" pitchFamily="34" charset="0"/>
                        <a:buChar char="•"/>
                      </a:pPr>
                      <a:r>
                        <a:rPr lang="en-US" altLang="zh-TW" dirty="0"/>
                        <a:t>The computing power of mobile devices has increased over the years,</a:t>
                      </a:r>
                      <a:r>
                        <a:rPr lang="en-US" altLang="zh-TW" baseline="0" dirty="0"/>
                        <a:t> which allows users to process and transmit data anytime and anywhere.</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altLang="zh-TW" dirty="0"/>
                        <a:t>Interactive design of software allows people to access desired information directly.</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t>The invention of optical </a:t>
                      </a:r>
                      <a:r>
                        <a:rPr lang="en-US" dirty="0" err="1"/>
                        <a:t>fibres</a:t>
                      </a:r>
                      <a:r>
                        <a:rPr lang="en-US" dirty="0"/>
                        <a:t> and the advancement of telecommunication technology have enhanced the mobility and the coverage of information.</a:t>
                      </a:r>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354151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Development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35</a:t>
            </a:fld>
            <a:endParaRPr lang="en-US" dirty="0"/>
          </a:p>
        </p:txBody>
      </p:sp>
      <p:sp>
        <p:nvSpPr>
          <p:cNvPr id="4" name="Text Placeholder 3"/>
          <p:cNvSpPr>
            <a:spLocks noGrp="1"/>
          </p:cNvSpPr>
          <p:nvPr>
            <p:ph type="body" sz="quarter" idx="13"/>
          </p:nvPr>
        </p:nvSpPr>
        <p:spPr/>
        <p:txBody>
          <a:bodyPr/>
          <a:lstStyle/>
          <a:p>
            <a:pPr marL="0" indent="0">
              <a:buNone/>
            </a:pPr>
            <a:r>
              <a:rPr lang="en-HK" dirty="0"/>
              <a:t>The developments of information and communication technology include:</a:t>
            </a:r>
            <a:endParaRPr lang="en-US" dirty="0"/>
          </a:p>
        </p:txBody>
      </p:sp>
      <p:sp>
        <p:nvSpPr>
          <p:cNvPr id="5" name="Text Placeholder 4"/>
          <p:cNvSpPr>
            <a:spLocks noGrp="1"/>
          </p:cNvSpPr>
          <p:nvPr>
            <p:ph type="body" sz="quarter" idx="14"/>
          </p:nvPr>
        </p:nvSpPr>
        <p:spPr/>
        <p:txBody>
          <a:bodyPr/>
          <a:lstStyle/>
          <a:p>
            <a:r>
              <a:rPr lang="en-HK" dirty="0"/>
              <a:t>C</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023952230"/>
              </p:ext>
            </p:extLst>
          </p:nvPr>
        </p:nvGraphicFramePr>
        <p:xfrm>
          <a:off x="838200" y="2234141"/>
          <a:ext cx="10515600" cy="3747919"/>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451909">
                <a:tc>
                  <a:txBody>
                    <a:bodyPr/>
                    <a:lstStyle/>
                    <a:p>
                      <a:pPr algn="ctr"/>
                      <a:r>
                        <a:rPr lang="en-HK" b="1" dirty="0">
                          <a:solidFill>
                            <a:schemeClr val="bg1"/>
                          </a:solidFill>
                        </a:rPr>
                        <a:t>Internet</a:t>
                      </a:r>
                      <a:r>
                        <a:rPr lang="en-HK" b="1" baseline="0" dirty="0">
                          <a:solidFill>
                            <a:schemeClr val="bg1"/>
                          </a:solidFill>
                        </a:rPr>
                        <a:t> of Things</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Big</a:t>
                      </a:r>
                      <a:r>
                        <a:rPr lang="en-HK" b="1" baseline="0" dirty="0">
                          <a:solidFill>
                            <a:schemeClr val="bg1"/>
                          </a:solidFill>
                        </a:rPr>
                        <a:t> Data</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pPr algn="ctr"/>
                      <a:r>
                        <a:rPr lang="en-HK" b="1" dirty="0">
                          <a:solidFill>
                            <a:schemeClr val="bg1"/>
                          </a:solidFill>
                        </a:rPr>
                        <a:t>Artificial intelligence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extLst>
                  <a:ext uri="{0D108BD9-81ED-4DB2-BD59-A6C34878D82A}">
                    <a16:rowId xmlns:a16="http://schemas.microsoft.com/office/drawing/2014/main" val="10000"/>
                  </a:ext>
                </a:extLst>
              </a:tr>
              <a:tr h="809265">
                <a:tc>
                  <a:txBody>
                    <a:bodyPr/>
                    <a:lstStyle/>
                    <a:p>
                      <a:r>
                        <a:rPr lang="en-HK" dirty="0"/>
                        <a:t>Network</a:t>
                      </a:r>
                      <a:r>
                        <a:rPr lang="en-HK" baseline="0" dirty="0"/>
                        <a:t> of physical objects</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HK" dirty="0"/>
                        <a:t>The</a:t>
                      </a:r>
                      <a:r>
                        <a:rPr lang="en-HK" baseline="0" dirty="0"/>
                        <a:t> vast amount of data gathers due to the high usage of digital devices and online platforms</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r>
                        <a:rPr lang="en-US" altLang="zh-TW" dirty="0"/>
                        <a:t>Has the power to process and </a:t>
                      </a:r>
                      <a:r>
                        <a:rPr lang="en-US" altLang="zh-TW" dirty="0" err="1"/>
                        <a:t>analyse</a:t>
                      </a:r>
                      <a:r>
                        <a:rPr lang="en-US" altLang="zh-TW" dirty="0"/>
                        <a:t> a large amount of data in a short time.</a:t>
                      </a:r>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r h="2381610">
                <a:tc>
                  <a:txBody>
                    <a:bodyPr/>
                    <a:lstStyle/>
                    <a:p>
                      <a:endParaRPr lang="en-US"/>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tc>
                  <a:txBody>
                    <a:bodyPr/>
                    <a:lstStyle/>
                    <a:p>
                      <a:endParaRPr lang="en-US" dirty="0"/>
                    </a:p>
                  </a:txBody>
                  <a:tcP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7" name="Picture 6"/>
          <p:cNvPicPr>
            <a:picLocks noChangeAspect="1"/>
          </p:cNvPicPr>
          <p:nvPr/>
        </p:nvPicPr>
        <p:blipFill>
          <a:blip r:embed="rId2"/>
          <a:stretch>
            <a:fillRect/>
          </a:stretch>
        </p:blipFill>
        <p:spPr>
          <a:xfrm>
            <a:off x="905578" y="3649285"/>
            <a:ext cx="3267757" cy="2282344"/>
          </a:xfrm>
          <a:prstGeom prst="rect">
            <a:avLst/>
          </a:prstGeom>
        </p:spPr>
      </p:pic>
      <p:pic>
        <p:nvPicPr>
          <p:cNvPr id="8" name="Picture 7"/>
          <p:cNvPicPr>
            <a:picLocks noChangeAspect="1"/>
          </p:cNvPicPr>
          <p:nvPr/>
        </p:nvPicPr>
        <p:blipFill>
          <a:blip r:embed="rId3"/>
          <a:stretch>
            <a:fillRect/>
          </a:stretch>
        </p:blipFill>
        <p:spPr>
          <a:xfrm>
            <a:off x="4377902" y="3649285"/>
            <a:ext cx="3436196" cy="2282344"/>
          </a:xfrm>
          <a:prstGeom prst="rect">
            <a:avLst/>
          </a:prstGeom>
        </p:spPr>
      </p:pic>
      <p:pic>
        <p:nvPicPr>
          <p:cNvPr id="9" name="Picture 8"/>
          <p:cNvPicPr>
            <a:picLocks noChangeAspect="1"/>
          </p:cNvPicPr>
          <p:nvPr/>
        </p:nvPicPr>
        <p:blipFill>
          <a:blip r:embed="rId4"/>
          <a:stretch>
            <a:fillRect/>
          </a:stretch>
        </p:blipFill>
        <p:spPr>
          <a:xfrm>
            <a:off x="7905000" y="3649285"/>
            <a:ext cx="3357898" cy="2226231"/>
          </a:xfrm>
          <a:prstGeom prst="rect">
            <a:avLst/>
          </a:prstGeom>
        </p:spPr>
      </p:pic>
    </p:spTree>
    <p:extLst>
      <p:ext uri="{BB962C8B-B14F-4D97-AF65-F5344CB8AC3E}">
        <p14:creationId xmlns:p14="http://schemas.microsoft.com/office/powerpoint/2010/main" val="2575440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Information Literacy</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36</a:t>
            </a:fld>
            <a:endParaRPr lang="en-US" dirty="0"/>
          </a:p>
        </p:txBody>
      </p:sp>
      <p:sp>
        <p:nvSpPr>
          <p:cNvPr id="4" name="Text Placeholder 3"/>
          <p:cNvSpPr>
            <a:spLocks noGrp="1"/>
          </p:cNvSpPr>
          <p:nvPr>
            <p:ph type="body" sz="quarter" idx="13"/>
          </p:nvPr>
        </p:nvSpPr>
        <p:spPr/>
        <p:txBody>
          <a:bodyPr/>
          <a:lstStyle/>
          <a:p>
            <a:pPr marL="0" indent="0">
              <a:buNone/>
            </a:pPr>
            <a:r>
              <a:rPr lang="en-US" dirty="0"/>
              <a:t>We should consider </a:t>
            </a:r>
            <a:r>
              <a:rPr lang="en-US" b="1" dirty="0">
                <a:solidFill>
                  <a:srgbClr val="5E5DA8"/>
                </a:solidFill>
              </a:rPr>
              <a:t>information literacy </a:t>
            </a:r>
            <a:r>
              <a:rPr lang="en-US" dirty="0"/>
              <a:t>from different aspects before accepting and using information. </a:t>
            </a:r>
          </a:p>
        </p:txBody>
      </p:sp>
      <p:sp>
        <p:nvSpPr>
          <p:cNvPr id="5" name="Text Placeholder 4"/>
          <p:cNvSpPr>
            <a:spLocks noGrp="1"/>
          </p:cNvSpPr>
          <p:nvPr>
            <p:ph type="body" sz="quarter" idx="14"/>
          </p:nvPr>
        </p:nvSpPr>
        <p:spPr/>
        <p:txBody>
          <a:bodyPr/>
          <a:lstStyle/>
          <a:p>
            <a:r>
              <a:rPr lang="en-HK" dirty="0"/>
              <a:t>D</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370385479"/>
              </p:ext>
            </p:extLst>
          </p:nvPr>
        </p:nvGraphicFramePr>
        <p:xfrm>
          <a:off x="922713" y="2527067"/>
          <a:ext cx="7506392" cy="3901788"/>
        </p:xfrm>
        <a:graphic>
          <a:graphicData uri="http://schemas.openxmlformats.org/drawingml/2006/table">
            <a:tbl>
              <a:tblPr firstRow="1" bandRow="1">
                <a:tableStyleId>{5940675A-B579-460E-94D1-54222C63F5DA}</a:tableStyleId>
              </a:tblPr>
              <a:tblGrid>
                <a:gridCol w="1989940">
                  <a:extLst>
                    <a:ext uri="{9D8B030D-6E8A-4147-A177-3AD203B41FA5}">
                      <a16:colId xmlns:a16="http://schemas.microsoft.com/office/drawing/2014/main" val="20000"/>
                    </a:ext>
                  </a:extLst>
                </a:gridCol>
                <a:gridCol w="5516452">
                  <a:extLst>
                    <a:ext uri="{9D8B030D-6E8A-4147-A177-3AD203B41FA5}">
                      <a16:colId xmlns:a16="http://schemas.microsoft.com/office/drawing/2014/main" val="20001"/>
                    </a:ext>
                  </a:extLst>
                </a:gridCol>
              </a:tblGrid>
              <a:tr h="975447">
                <a:tc>
                  <a:txBody>
                    <a:bodyPr/>
                    <a:lstStyle/>
                    <a:p>
                      <a:pPr algn="ctr"/>
                      <a:r>
                        <a:rPr lang="en-HK" b="1" dirty="0">
                          <a:solidFill>
                            <a:schemeClr val="bg1"/>
                          </a:solidFill>
                        </a:rPr>
                        <a:t>Intellectual</a:t>
                      </a:r>
                      <a:r>
                        <a:rPr lang="en-HK" b="1" baseline="0" dirty="0">
                          <a:solidFill>
                            <a:schemeClr val="bg1"/>
                          </a:solidFill>
                        </a:rPr>
                        <a:t> property</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3B7CC0"/>
                    </a:solidFill>
                  </a:tcPr>
                </a:tc>
                <a:tc>
                  <a:txBody>
                    <a:bodyPr/>
                    <a:lstStyle/>
                    <a:p>
                      <a:r>
                        <a:rPr lang="en-US" altLang="zh-TW" dirty="0"/>
                        <a:t>It is unethical and illegal to use or gain benefits from others’ intellectual properties without their permission.</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0"/>
                  </a:ext>
                </a:extLst>
              </a:tr>
              <a:tr h="975447">
                <a:tc>
                  <a:txBody>
                    <a:bodyPr/>
                    <a:lstStyle/>
                    <a:p>
                      <a:pPr algn="ctr"/>
                      <a:r>
                        <a:rPr lang="en-HK" b="1" dirty="0">
                          <a:solidFill>
                            <a:schemeClr val="bg1"/>
                          </a:solidFill>
                        </a:rPr>
                        <a:t>Data</a:t>
                      </a:r>
                      <a:r>
                        <a:rPr lang="en-HK" b="1" baseline="0" dirty="0">
                          <a:solidFill>
                            <a:schemeClr val="bg1"/>
                          </a:solidFill>
                        </a:rPr>
                        <a:t> privacy</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3B7CC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When sharing information, we should respect others’ privacy.</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1"/>
                  </a:ext>
                </a:extLst>
              </a:tr>
              <a:tr h="975447">
                <a:tc>
                  <a:txBody>
                    <a:bodyPr/>
                    <a:lstStyle/>
                    <a:p>
                      <a:pPr algn="ctr"/>
                      <a:r>
                        <a:rPr lang="en-HK" b="1" dirty="0">
                          <a:solidFill>
                            <a:schemeClr val="bg1"/>
                          </a:solidFill>
                        </a:rPr>
                        <a:t>Credibility</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3B7CC0"/>
                    </a:solidFill>
                  </a:tcPr>
                </a:tc>
                <a:tc>
                  <a:txBody>
                    <a:bodyPr/>
                    <a:lstStyle/>
                    <a:p>
                      <a:r>
                        <a:rPr lang="en-US" altLang="zh-TW" dirty="0"/>
                        <a:t>We should consider the authoritativeness, validity and relevance of the information.</a:t>
                      </a:r>
                      <a:endParaRPr lang="en-US" dirty="0"/>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2"/>
                  </a:ext>
                </a:extLst>
              </a:tr>
              <a:tr h="975447">
                <a:tc>
                  <a:txBody>
                    <a:bodyPr/>
                    <a:lstStyle/>
                    <a:p>
                      <a:pPr algn="ctr"/>
                      <a:r>
                        <a:rPr lang="en-HK" b="1" dirty="0">
                          <a:solidFill>
                            <a:schemeClr val="bg1"/>
                          </a:solidFill>
                        </a:rPr>
                        <a:t>Extraction</a:t>
                      </a:r>
                      <a:r>
                        <a:rPr lang="en-HK" b="1" baseline="0" dirty="0">
                          <a:solidFill>
                            <a:schemeClr val="bg1"/>
                          </a:solidFill>
                        </a:rPr>
                        <a:t> and organisation</a:t>
                      </a:r>
                      <a:endParaRPr lang="en-US" b="1" dirty="0">
                        <a:solidFill>
                          <a:schemeClr val="bg1"/>
                        </a:solidFill>
                      </a:endParaRPr>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3B7CC0"/>
                      </a:solidFill>
                      <a:prstDash val="solid"/>
                      <a:round/>
                      <a:headEnd type="none" w="med" len="med"/>
                      <a:tailEnd type="none" w="med" len="med"/>
                    </a:lnB>
                    <a:solidFill>
                      <a:srgbClr val="3B7CC0"/>
                    </a:solidFill>
                  </a:tcPr>
                </a:tc>
                <a:tc>
                  <a:txBody>
                    <a:bodyPr/>
                    <a:lstStyle/>
                    <a:p>
                      <a:r>
                        <a:rPr lang="en-US" dirty="0"/>
                        <a:t>We should search information from various media, then extract and </a:t>
                      </a:r>
                      <a:r>
                        <a:rPr lang="en-US" dirty="0" err="1"/>
                        <a:t>organise</a:t>
                      </a:r>
                      <a:r>
                        <a:rPr lang="en-US" dirty="0"/>
                        <a:t> our findings.</a:t>
                      </a:r>
                    </a:p>
                  </a:txBody>
                  <a:tcPr anchor="ctr">
                    <a:lnL w="12700" cap="flat" cmpd="sng" algn="ctr">
                      <a:solidFill>
                        <a:srgbClr val="3B7CC0"/>
                      </a:solidFill>
                      <a:prstDash val="solid"/>
                      <a:round/>
                      <a:headEnd type="none" w="med" len="med"/>
                      <a:tailEnd type="none" w="med" len="med"/>
                    </a:lnL>
                    <a:lnR w="12700" cap="flat" cmpd="sng" algn="ctr">
                      <a:solidFill>
                        <a:srgbClr val="3B7CC0"/>
                      </a:solidFill>
                      <a:prstDash val="solid"/>
                      <a:round/>
                      <a:headEnd type="none" w="med" len="med"/>
                      <a:tailEnd type="none" w="med" len="med"/>
                    </a:lnR>
                    <a:lnT w="12700" cap="flat" cmpd="sng" algn="ctr">
                      <a:solidFill>
                        <a:srgbClr val="3B7CC0"/>
                      </a:solidFill>
                      <a:prstDash val="solid"/>
                      <a:round/>
                      <a:headEnd type="none" w="med" len="med"/>
                      <a:tailEnd type="none" w="med" len="med"/>
                    </a:lnT>
                    <a:lnB w="12700" cap="flat" cmpd="sng" algn="ctr">
                      <a:solidFill>
                        <a:srgbClr val="3B7CC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7" name="Picture 6"/>
          <p:cNvPicPr>
            <a:picLocks noChangeAspect="1"/>
          </p:cNvPicPr>
          <p:nvPr/>
        </p:nvPicPr>
        <p:blipFill>
          <a:blip r:embed="rId2"/>
          <a:stretch>
            <a:fillRect/>
          </a:stretch>
        </p:blipFill>
        <p:spPr>
          <a:xfrm>
            <a:off x="8737458" y="3068706"/>
            <a:ext cx="3049055" cy="2677507"/>
          </a:xfrm>
          <a:prstGeom prst="rect">
            <a:avLst/>
          </a:prstGeom>
        </p:spPr>
      </p:pic>
    </p:spTree>
    <p:extLst>
      <p:ext uri="{BB962C8B-B14F-4D97-AF65-F5344CB8AC3E}">
        <p14:creationId xmlns:p14="http://schemas.microsoft.com/office/powerpoint/2010/main" val="12849149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EN_Kelie_20220725">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DSEPPT_EN_Kelie_20220725" id="{F11AF4C1-F970-451B-954E-F40C7386CBD1}" vid="{F71484D8-8626-49BF-9BDD-8D007AB70718}"/>
    </a:ext>
  </a:extLst>
</a:theme>
</file>

<file path=docProps/app.xml><?xml version="1.0" encoding="utf-8"?>
<Properties xmlns="http://schemas.openxmlformats.org/officeDocument/2006/extended-properties" xmlns:vt="http://schemas.openxmlformats.org/officeDocument/2006/docPropsVTypes">
  <Template>DSEPPT_EN_Kelie_20220725</Template>
  <TotalTime>1530</TotalTime>
  <Words>1505</Words>
  <Application>Microsoft Office PowerPoint</Application>
  <PresentationFormat>Widescreen</PresentationFormat>
  <Paragraphs>353</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Noto Sans CJK TC Regular</vt:lpstr>
      <vt:lpstr>Arial</vt:lpstr>
      <vt:lpstr>Minion Pro</vt:lpstr>
      <vt:lpstr>Myriad Pro</vt:lpstr>
      <vt:lpstr>MyriadPro-Bold</vt:lpstr>
      <vt:lpstr>Tw Cen MT</vt:lpstr>
      <vt:lpstr>DSEPPT_EN_Kelie_20220725</vt:lpstr>
      <vt:lpstr>Introduction to Information Processing</vt:lpstr>
      <vt:lpstr>PowerPoint Presentation</vt:lpstr>
      <vt:lpstr>Information System</vt:lpstr>
      <vt:lpstr>Purpose</vt:lpstr>
      <vt:lpstr>Data</vt:lpstr>
      <vt:lpstr>Technology</vt:lpstr>
      <vt:lpstr>Technology</vt:lpstr>
      <vt:lpstr>Process</vt:lpstr>
      <vt:lpstr>Personnel</vt:lpstr>
      <vt:lpstr>PowerPoint Presentation</vt:lpstr>
      <vt:lpstr>Data and Information</vt:lpstr>
      <vt:lpstr>Data</vt:lpstr>
      <vt:lpstr>PowerPoint Presentation</vt:lpstr>
      <vt:lpstr>Input-process-output cycle</vt:lpstr>
      <vt:lpstr>PowerPoint Presentation</vt:lpstr>
      <vt:lpstr>PowerPoint Presentation</vt:lpstr>
      <vt:lpstr>Data Type in Multimedia</vt:lpstr>
      <vt:lpstr>Data Type in Multimedia</vt:lpstr>
      <vt:lpstr>Data Type in Multimedia</vt:lpstr>
      <vt:lpstr>Data Type in Multimedia</vt:lpstr>
      <vt:lpstr>Data Type in Multimedia</vt:lpstr>
      <vt:lpstr>Information Processing</vt:lpstr>
      <vt:lpstr>Data collection</vt:lpstr>
      <vt:lpstr>Organisation</vt:lpstr>
      <vt:lpstr>Storage</vt:lpstr>
      <vt:lpstr>Processing</vt:lpstr>
      <vt:lpstr>Analysis</vt:lpstr>
      <vt:lpstr>Transmission</vt:lpstr>
      <vt:lpstr>Presentation</vt:lpstr>
      <vt:lpstr>PowerPoint Presentation</vt:lpstr>
      <vt:lpstr>PowerPoint Presentation</vt:lpstr>
      <vt:lpstr>Information Age</vt:lpstr>
      <vt:lpstr>Definition</vt:lpstr>
      <vt:lpstr>Causes</vt:lpstr>
      <vt:lpstr>Development</vt:lpstr>
      <vt:lpstr>Information Literacy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Kelie Leung</dc:creator>
  <cp:lastModifiedBy>Kelie Leung</cp:lastModifiedBy>
  <cp:revision>42</cp:revision>
  <dcterms:created xsi:type="dcterms:W3CDTF">2022-07-22T06:12:39Z</dcterms:created>
  <dcterms:modified xsi:type="dcterms:W3CDTF">2022-08-24T06:23:44Z</dcterms:modified>
</cp:coreProperties>
</file>