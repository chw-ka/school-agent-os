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93" r:id="rId24"/>
    <p:sldId id="294" r:id="rId25"/>
    <p:sldId id="295"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7" r:id="rId40"/>
    <p:sldId id="296" r:id="rId41"/>
    <p:sldId id="298" r:id="rId42"/>
    <p:sldId id="292" r:id="rId43"/>
    <p:sldId id="29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4F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6" d="100"/>
          <a:sy n="66" d="100"/>
        </p:scale>
        <p:origin x="-168" y="112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xmlns=""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xmlns=""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xmlns=""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xmlns=""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xmlns=""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xmlns=""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xmlns=""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xmlns=""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xmlns=""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xmlns=""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xmlns=""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xmlns="" id="{3CC61186-C2CB-33BF-880D-468C0FE8B484}"/>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xmlns=""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xmlns=""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xmlns=""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xmlns=""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xmlns=""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a:extLst>
              <a:ext uri="{FF2B5EF4-FFF2-40B4-BE49-F238E27FC236}">
                <a16:creationId xmlns:a16="http://schemas.microsoft.com/office/drawing/2014/main" xmlns=""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xmlns=""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xmlns=""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xmlns=""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xmlns=""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xmlns=""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xmlns=""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xmlns=""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 name="Picture Placeholder 9">
            <a:extLst>
              <a:ext uri="{FF2B5EF4-FFF2-40B4-BE49-F238E27FC236}">
                <a16:creationId xmlns:a16="http://schemas.microsoft.com/office/drawing/2014/main" xmlns=""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smtClean="0"/>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xmlns="" id="{210F294E-2671-69F2-AD8E-91EF65CCF609}"/>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12" name="Footer Placeholder 11">
            <a:extLst>
              <a:ext uri="{FF2B5EF4-FFF2-40B4-BE49-F238E27FC236}">
                <a16:creationId xmlns:a16="http://schemas.microsoft.com/office/drawing/2014/main" xmlns=""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xmlns=""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615CB804-96AA-A5E1-7170-B54411166665}"/>
              </a:ext>
            </a:extLst>
          </p:cNvPr>
          <p:cNvPicPr>
            <a:picLocks noChangeAspect="1"/>
          </p:cNvPicPr>
          <p:nvPr/>
        </p:nvPicPr>
        <p:blipFill>
          <a:blip r:embed="rId31"/>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8/29/2022</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xmlns=""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21" r:id="rId12"/>
    <p:sldLayoutId id="2147483722" r:id="rId13"/>
    <p:sldLayoutId id="2147483723" r:id="rId14"/>
    <p:sldLayoutId id="2147483724" r:id="rId15"/>
    <p:sldLayoutId id="2147483706" r:id="rId16"/>
    <p:sldLayoutId id="2147483707" r:id="rId17"/>
    <p:sldLayoutId id="2147483708" r:id="rId18"/>
    <p:sldLayoutId id="2147483709" r:id="rId19"/>
    <p:sldLayoutId id="2147483712" r:id="rId20"/>
    <p:sldLayoutId id="2147483714" r:id="rId21"/>
    <p:sldLayoutId id="2147483715" r:id="rId22"/>
    <p:sldLayoutId id="2147483716" r:id="rId23"/>
    <p:sldLayoutId id="2147483717" r:id="rId24"/>
    <p:sldLayoutId id="2147483718" r:id="rId25"/>
    <p:sldLayoutId id="2147483719" r:id="rId26"/>
    <p:sldLayoutId id="2147483720" r:id="rId27"/>
    <p:sldLayoutId id="2147483710" r:id="rId28"/>
    <p:sldLayoutId id="2147483711" r:id="rId29"/>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Chapter 3</a:t>
            </a:r>
            <a:br>
              <a:rPr lang="en-HK" dirty="0" smtClean="0"/>
            </a:br>
            <a:r>
              <a:rPr lang="en-HK" dirty="0" smtClean="0"/>
              <a:t>Computer Software</a:t>
            </a:r>
            <a:endParaRPr lang="en-US" dirty="0"/>
          </a:p>
        </p:txBody>
      </p:sp>
    </p:spTree>
    <p:extLst>
      <p:ext uri="{BB962C8B-B14F-4D97-AF65-F5344CB8AC3E}">
        <p14:creationId xmlns:p14="http://schemas.microsoft.com/office/powerpoint/2010/main" val="6454950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698201" y="2286000"/>
            <a:ext cx="5655598" cy="4017599"/>
          </a:xfrm>
        </p:spPr>
        <p:txBody>
          <a:bodyPr/>
          <a:lstStyle/>
          <a:p>
            <a:pPr algn="ctr"/>
            <a:r>
              <a:rPr lang="en-US" b="1" dirty="0"/>
              <a:t>The world’s smallest central processing unit </a:t>
            </a:r>
            <a:r>
              <a:rPr lang="en-US" dirty="0"/>
              <a:t>International Business Machines Corporation (IBM) introduced the world’s smallest cryptographic anchors in 2018 - almost smaller than a grain of sea salt</a:t>
            </a:r>
            <a:r>
              <a:rPr lang="en-US" dirty="0" smtClean="0"/>
              <a:t>.</a:t>
            </a:r>
          </a:p>
          <a:p>
            <a:pPr algn="ctr"/>
            <a:r>
              <a:rPr lang="en-US" dirty="0"/>
              <a:t>Don’t underestimate it! Its computing performance is even comparable to that of x86 processors from the 1990s, and since the entire computer is the size of a grain of sea salt, you can imagine that the CPU will be even smaller.</a:t>
            </a:r>
          </a:p>
        </p:txBody>
      </p:sp>
      <p:sp>
        <p:nvSpPr>
          <p:cNvPr id="3" name="Slide Number Placeholder 2"/>
          <p:cNvSpPr>
            <a:spLocks noGrp="1"/>
          </p:cNvSpPr>
          <p:nvPr>
            <p:ph type="sldNum" sz="quarter" idx="12"/>
          </p:nvPr>
        </p:nvSpPr>
        <p:spPr/>
        <p:txBody>
          <a:bodyPr/>
          <a:lstStyle/>
          <a:p>
            <a:fld id="{6D22F896-40B5-4ADD-8801-0D06FADFA095}" type="slidenum">
              <a:rPr lang="en-US" smtClean="0"/>
              <a:t>2</a:t>
            </a:fld>
            <a:endParaRPr lang="en-US" dirty="0"/>
          </a:p>
        </p:txBody>
      </p:sp>
      <p:pic>
        <p:nvPicPr>
          <p:cNvPr id="5" name="Picture Placeholder 4"/>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136" r="6136"/>
          <a:stretch>
            <a:fillRect/>
          </a:stretch>
        </p:blipFill>
        <p:spPr/>
      </p:pic>
    </p:spTree>
    <p:extLst>
      <p:ext uri="{BB962C8B-B14F-4D97-AF65-F5344CB8AC3E}">
        <p14:creationId xmlns:p14="http://schemas.microsoft.com/office/powerpoint/2010/main" val="1392270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Computer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HK" dirty="0" smtClean="0"/>
              <a:t>3.1</a:t>
            </a:r>
            <a:endParaRPr lang="en-US" dirty="0"/>
          </a:p>
        </p:txBody>
      </p:sp>
      <p:sp>
        <p:nvSpPr>
          <p:cNvPr id="5" name="Content Placeholder 4"/>
          <p:cNvSpPr>
            <a:spLocks noGrp="1"/>
          </p:cNvSpPr>
          <p:nvPr>
            <p:ph sz="quarter" idx="15"/>
          </p:nvPr>
        </p:nvSpPr>
        <p:spPr/>
        <p:txBody>
          <a:bodyPr/>
          <a:lstStyle/>
          <a:p>
            <a:r>
              <a:rPr lang="en-US" dirty="0"/>
              <a:t>A computer system consists of </a:t>
            </a:r>
            <a:r>
              <a:rPr lang="en-US" b="1" dirty="0"/>
              <a:t>hardware</a:t>
            </a:r>
            <a:r>
              <a:rPr lang="en-US" dirty="0"/>
              <a:t> and </a:t>
            </a:r>
            <a:r>
              <a:rPr lang="en-US" b="1" dirty="0"/>
              <a:t>software</a:t>
            </a:r>
            <a:r>
              <a:rPr lang="en-US" dirty="0"/>
              <a:t>. </a:t>
            </a:r>
            <a:endParaRPr lang="en-US" dirty="0" smtClean="0"/>
          </a:p>
          <a:p>
            <a:endParaRPr lang="en-US" dirty="0"/>
          </a:p>
          <a:p>
            <a:r>
              <a:rPr lang="en-US" dirty="0" smtClean="0"/>
              <a:t>Hardware </a:t>
            </a:r>
            <a:r>
              <a:rPr lang="en-US" dirty="0"/>
              <a:t>is the physical parts, while software is the data or instructions designed to help computer to accomplish specific tasks.</a:t>
            </a:r>
          </a:p>
        </p:txBody>
      </p:sp>
    </p:spTree>
    <p:extLst>
      <p:ext uri="{BB962C8B-B14F-4D97-AF65-F5344CB8AC3E}">
        <p14:creationId xmlns:p14="http://schemas.microsoft.com/office/powerpoint/2010/main" val="27019912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Computer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HK" dirty="0" smtClean="0"/>
              <a:t>3.1</a:t>
            </a:r>
            <a:endParaRPr lang="en-US" dirty="0"/>
          </a:p>
        </p:txBody>
      </p:sp>
      <p:sp>
        <p:nvSpPr>
          <p:cNvPr id="5" name="Content Placeholder 4"/>
          <p:cNvSpPr>
            <a:spLocks noGrp="1"/>
          </p:cNvSpPr>
          <p:nvPr>
            <p:ph sz="quarter" idx="15"/>
          </p:nvPr>
        </p:nvSpPr>
        <p:spPr/>
        <p:txBody>
          <a:bodyPr/>
          <a:lstStyle/>
          <a:p>
            <a:r>
              <a:rPr lang="en-US" dirty="0"/>
              <a:t>There are two types of software: </a:t>
            </a:r>
            <a:r>
              <a:rPr lang="en-US" b="1" dirty="0">
                <a:solidFill>
                  <a:srgbClr val="504FA1"/>
                </a:solidFill>
              </a:rPr>
              <a:t>system software</a:t>
            </a:r>
            <a:r>
              <a:rPr lang="en-US" dirty="0"/>
              <a:t> and </a:t>
            </a:r>
            <a:r>
              <a:rPr lang="en-US" b="1" dirty="0">
                <a:solidFill>
                  <a:srgbClr val="504FA1"/>
                </a:solidFill>
              </a:rPr>
              <a:t>application software</a:t>
            </a:r>
            <a:r>
              <a:rPr lang="en-US" dirty="0"/>
              <a:t>.</a:t>
            </a:r>
          </a:p>
        </p:txBody>
      </p:sp>
      <p:pic>
        <p:nvPicPr>
          <p:cNvPr id="7" name="Picture 6"/>
          <p:cNvPicPr>
            <a:picLocks noChangeAspect="1"/>
          </p:cNvPicPr>
          <p:nvPr/>
        </p:nvPicPr>
        <p:blipFill>
          <a:blip r:embed="rId2"/>
          <a:stretch>
            <a:fillRect/>
          </a:stretch>
        </p:blipFill>
        <p:spPr>
          <a:xfrm>
            <a:off x="901323" y="2512800"/>
            <a:ext cx="10390554" cy="2533464"/>
          </a:xfrm>
          <a:prstGeom prst="rect">
            <a:avLst/>
          </a:prstGeom>
        </p:spPr>
      </p:pic>
    </p:spTree>
    <p:extLst>
      <p:ext uri="{BB962C8B-B14F-4D97-AF65-F5344CB8AC3E}">
        <p14:creationId xmlns:p14="http://schemas.microsoft.com/office/powerpoint/2010/main" val="28993448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Computer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HK" dirty="0" smtClean="0"/>
              <a:t>3.1</a:t>
            </a:r>
            <a:endParaRPr lang="en-US" dirty="0"/>
          </a:p>
        </p:txBody>
      </p:sp>
      <p:sp>
        <p:nvSpPr>
          <p:cNvPr id="5" name="Content Placeholder 4"/>
          <p:cNvSpPr>
            <a:spLocks noGrp="1"/>
          </p:cNvSpPr>
          <p:nvPr>
            <p:ph sz="quarter" idx="15"/>
          </p:nvPr>
        </p:nvSpPr>
        <p:spPr/>
        <p:txBody>
          <a:bodyPr/>
          <a:lstStyle/>
          <a:p>
            <a:r>
              <a:rPr lang="en-US" dirty="0" smtClean="0"/>
              <a:t>The following shows the relationship </a:t>
            </a:r>
            <a:r>
              <a:rPr lang="en-US" dirty="0"/>
              <a:t>between hardware, software and </a:t>
            </a:r>
            <a:r>
              <a:rPr lang="en-US" dirty="0" smtClean="0"/>
              <a:t>users:</a:t>
            </a:r>
            <a:endParaRPr lang="en-US" dirty="0"/>
          </a:p>
        </p:txBody>
      </p:sp>
      <p:pic>
        <p:nvPicPr>
          <p:cNvPr id="6" name="Picture 5"/>
          <p:cNvPicPr>
            <a:picLocks noChangeAspect="1"/>
          </p:cNvPicPr>
          <p:nvPr/>
        </p:nvPicPr>
        <p:blipFill>
          <a:blip r:embed="rId2"/>
          <a:stretch>
            <a:fillRect/>
          </a:stretch>
        </p:blipFill>
        <p:spPr>
          <a:xfrm>
            <a:off x="4576388" y="2072269"/>
            <a:ext cx="3262514" cy="4318769"/>
          </a:xfrm>
          <a:prstGeom prst="rect">
            <a:avLst/>
          </a:prstGeom>
        </p:spPr>
      </p:pic>
    </p:spTree>
    <p:extLst>
      <p:ext uri="{BB962C8B-B14F-4D97-AF65-F5344CB8AC3E}">
        <p14:creationId xmlns:p14="http://schemas.microsoft.com/office/powerpoint/2010/main" val="16015653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smtClean="0"/>
              <a:t>System Software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HK" smtClean="0"/>
              <a:t>3.2</a:t>
            </a:r>
            <a:endParaRPr lang="en-US" dirty="0"/>
          </a:p>
        </p:txBody>
      </p:sp>
      <p:sp>
        <p:nvSpPr>
          <p:cNvPr id="9" name="Content Placeholder 8"/>
          <p:cNvSpPr>
            <a:spLocks noGrp="1"/>
          </p:cNvSpPr>
          <p:nvPr>
            <p:ph sz="quarter" idx="15"/>
          </p:nvPr>
        </p:nvSpPr>
        <p:spPr/>
        <p:txBody>
          <a:bodyPr/>
          <a:lstStyle/>
          <a:p>
            <a:r>
              <a:rPr lang="en-US" dirty="0" smtClean="0"/>
              <a:t>There are different types of system software:</a:t>
            </a:r>
            <a:br>
              <a:rPr lang="en-US" dirty="0" smtClean="0"/>
            </a:br>
            <a:endParaRPr lang="en-US" dirty="0" smtClean="0"/>
          </a:p>
          <a:p>
            <a:pPr marL="342900" indent="-342900">
              <a:buFont typeface="Arial" panose="020B0604020202020204" pitchFamily="34" charset="0"/>
              <a:buChar char="•"/>
            </a:pPr>
            <a:r>
              <a:rPr lang="en-US" dirty="0" smtClean="0"/>
              <a:t>Operating system</a:t>
            </a:r>
          </a:p>
          <a:p>
            <a:pPr marL="342900" indent="-342900">
              <a:buFont typeface="Arial" panose="020B0604020202020204" pitchFamily="34" charset="0"/>
              <a:buChar char="•"/>
            </a:pPr>
            <a:r>
              <a:rPr lang="en-US" dirty="0" smtClean="0"/>
              <a:t>Utility program</a:t>
            </a:r>
          </a:p>
          <a:p>
            <a:pPr marL="342900" indent="-342900">
              <a:buFont typeface="Arial" panose="020B0604020202020204" pitchFamily="34" charset="0"/>
              <a:buChar char="•"/>
            </a:pPr>
            <a:r>
              <a:rPr lang="en-US" dirty="0" smtClean="0"/>
              <a:t>Driver program</a:t>
            </a:r>
            <a:endParaRPr lang="en-US" dirty="0"/>
          </a:p>
        </p:txBody>
      </p:sp>
    </p:spTree>
    <p:extLst>
      <p:ext uri="{BB962C8B-B14F-4D97-AF65-F5344CB8AC3E}">
        <p14:creationId xmlns:p14="http://schemas.microsoft.com/office/powerpoint/2010/main" val="31911472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An </a:t>
            </a:r>
            <a:r>
              <a:rPr lang="en-US" b="1" dirty="0">
                <a:solidFill>
                  <a:srgbClr val="504FA1"/>
                </a:solidFill>
              </a:rPr>
              <a:t>operating system (OS)</a:t>
            </a:r>
            <a:r>
              <a:rPr lang="en-US" dirty="0"/>
              <a:t> controls the hardware operation and interacts with driver programs and application software</a:t>
            </a:r>
            <a:r>
              <a:rPr lang="en-US" dirty="0" smtClean="0"/>
              <a:t>.</a:t>
            </a:r>
          </a:p>
          <a:p>
            <a:r>
              <a:rPr lang="en-HK" dirty="0" smtClean="0"/>
              <a:t>These are the functions of an operating system:</a:t>
            </a:r>
            <a:endParaRPr lang="en-US" dirty="0"/>
          </a:p>
        </p:txBody>
      </p:sp>
      <p:pic>
        <p:nvPicPr>
          <p:cNvPr id="6" name="Picture 5"/>
          <p:cNvPicPr>
            <a:picLocks noChangeAspect="1"/>
          </p:cNvPicPr>
          <p:nvPr/>
        </p:nvPicPr>
        <p:blipFill rotWithShape="1">
          <a:blip r:embed="rId2"/>
          <a:srcRect t="1" b="841"/>
          <a:stretch/>
        </p:blipFill>
        <p:spPr>
          <a:xfrm>
            <a:off x="1210182" y="2869200"/>
            <a:ext cx="9372529" cy="3564851"/>
          </a:xfrm>
          <a:prstGeom prst="rect">
            <a:avLst/>
          </a:prstGeom>
        </p:spPr>
      </p:pic>
    </p:spTree>
    <p:extLst>
      <p:ext uri="{BB962C8B-B14F-4D97-AF65-F5344CB8AC3E}">
        <p14:creationId xmlns:p14="http://schemas.microsoft.com/office/powerpoint/2010/main" val="23587946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HK" dirty="0" smtClean="0"/>
              <a:t> </a:t>
            </a:r>
            <a:endParaRPr lang="en-US" dirty="0"/>
          </a:p>
        </p:txBody>
      </p:sp>
      <p:grpSp>
        <p:nvGrpSpPr>
          <p:cNvPr id="8" name="Group 7"/>
          <p:cNvGrpSpPr/>
          <p:nvPr/>
        </p:nvGrpSpPr>
        <p:grpSpPr>
          <a:xfrm>
            <a:off x="1123250" y="2395783"/>
            <a:ext cx="10230550" cy="2472554"/>
            <a:chOff x="-988413" y="3119394"/>
            <a:chExt cx="14152949" cy="3420533"/>
          </a:xfrm>
        </p:grpSpPr>
        <p:pic>
          <p:nvPicPr>
            <p:cNvPr id="6" name="Picture 5"/>
            <p:cNvPicPr>
              <a:picLocks noChangeAspect="1"/>
            </p:cNvPicPr>
            <p:nvPr/>
          </p:nvPicPr>
          <p:blipFill>
            <a:blip r:embed="rId2"/>
            <a:stretch>
              <a:fillRect/>
            </a:stretch>
          </p:blipFill>
          <p:spPr>
            <a:xfrm>
              <a:off x="-972537" y="3119394"/>
              <a:ext cx="14137073" cy="619211"/>
            </a:xfrm>
            <a:prstGeom prst="rect">
              <a:avLst/>
            </a:prstGeom>
          </p:spPr>
        </p:pic>
        <p:pic>
          <p:nvPicPr>
            <p:cNvPr id="7" name="Picture 6"/>
            <p:cNvPicPr>
              <a:picLocks noChangeAspect="1"/>
            </p:cNvPicPr>
            <p:nvPr/>
          </p:nvPicPr>
          <p:blipFill>
            <a:blip r:embed="rId3"/>
            <a:stretch>
              <a:fillRect/>
            </a:stretch>
          </p:blipFill>
          <p:spPr>
            <a:xfrm>
              <a:off x="-988413" y="3691554"/>
              <a:ext cx="14146599" cy="2848373"/>
            </a:xfrm>
            <a:prstGeom prst="rect">
              <a:avLst/>
            </a:prstGeom>
          </p:spPr>
        </p:pic>
      </p:grpSp>
    </p:spTree>
    <p:extLst>
      <p:ext uri="{BB962C8B-B14F-4D97-AF65-F5344CB8AC3E}">
        <p14:creationId xmlns:p14="http://schemas.microsoft.com/office/powerpoint/2010/main" val="23091503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There are two types of operating systems based on the number of users allowed to access the operating systems at the same time.</a:t>
            </a:r>
          </a:p>
        </p:txBody>
      </p:sp>
      <p:pic>
        <p:nvPicPr>
          <p:cNvPr id="6" name="Picture 5"/>
          <p:cNvPicPr>
            <a:picLocks noChangeAspect="1"/>
          </p:cNvPicPr>
          <p:nvPr/>
        </p:nvPicPr>
        <p:blipFill>
          <a:blip r:embed="rId2"/>
          <a:stretch>
            <a:fillRect/>
          </a:stretch>
        </p:blipFill>
        <p:spPr>
          <a:xfrm>
            <a:off x="1034238" y="2747153"/>
            <a:ext cx="10124723" cy="1949785"/>
          </a:xfrm>
          <a:prstGeom prst="rect">
            <a:avLst/>
          </a:prstGeom>
        </p:spPr>
      </p:pic>
    </p:spTree>
    <p:extLst>
      <p:ext uri="{BB962C8B-B14F-4D97-AF65-F5344CB8AC3E}">
        <p14:creationId xmlns:p14="http://schemas.microsoft.com/office/powerpoint/2010/main" val="14245741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There are three types of operating systems based on the purpose of the operating systems.</a:t>
            </a:r>
          </a:p>
        </p:txBody>
      </p:sp>
      <p:pic>
        <p:nvPicPr>
          <p:cNvPr id="6" name="Picture 5"/>
          <p:cNvPicPr>
            <a:picLocks noChangeAspect="1"/>
          </p:cNvPicPr>
          <p:nvPr/>
        </p:nvPicPr>
        <p:blipFill rotWithShape="1">
          <a:blip r:embed="rId2"/>
          <a:srcRect b="1088"/>
          <a:stretch/>
        </p:blipFill>
        <p:spPr>
          <a:xfrm>
            <a:off x="962705" y="2213907"/>
            <a:ext cx="10267790" cy="3447060"/>
          </a:xfrm>
          <a:prstGeom prst="rect">
            <a:avLst/>
          </a:prstGeom>
        </p:spPr>
      </p:pic>
    </p:spTree>
    <p:extLst>
      <p:ext uri="{BB962C8B-B14F-4D97-AF65-F5344CB8AC3E}">
        <p14:creationId xmlns:p14="http://schemas.microsoft.com/office/powerpoint/2010/main" val="2086847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HK" dirty="0" smtClean="0"/>
              <a:t> </a:t>
            </a:r>
            <a:endParaRPr lang="en-US" dirty="0"/>
          </a:p>
        </p:txBody>
      </p:sp>
      <p:grpSp>
        <p:nvGrpSpPr>
          <p:cNvPr id="8" name="Group 7"/>
          <p:cNvGrpSpPr/>
          <p:nvPr/>
        </p:nvGrpSpPr>
        <p:grpSpPr>
          <a:xfrm>
            <a:off x="1168603" y="1998109"/>
            <a:ext cx="10028642" cy="3516962"/>
            <a:chOff x="681468" y="1827275"/>
            <a:chExt cx="11002911" cy="3858630"/>
          </a:xfrm>
        </p:grpSpPr>
        <p:pic>
          <p:nvPicPr>
            <p:cNvPr id="6" name="Picture 5"/>
            <p:cNvPicPr>
              <a:picLocks noChangeAspect="1"/>
            </p:cNvPicPr>
            <p:nvPr/>
          </p:nvPicPr>
          <p:blipFill>
            <a:blip r:embed="rId2"/>
            <a:stretch>
              <a:fillRect/>
            </a:stretch>
          </p:blipFill>
          <p:spPr>
            <a:xfrm>
              <a:off x="681468" y="1827275"/>
              <a:ext cx="11002911" cy="485843"/>
            </a:xfrm>
            <a:prstGeom prst="rect">
              <a:avLst/>
            </a:prstGeom>
          </p:spPr>
        </p:pic>
        <p:pic>
          <p:nvPicPr>
            <p:cNvPr id="7" name="Picture 6"/>
            <p:cNvPicPr>
              <a:picLocks noChangeAspect="1"/>
            </p:cNvPicPr>
            <p:nvPr/>
          </p:nvPicPr>
          <p:blipFill rotWithShape="1">
            <a:blip r:embed="rId3"/>
            <a:srcRect b="1247"/>
            <a:stretch/>
          </p:blipFill>
          <p:spPr>
            <a:xfrm>
              <a:off x="689781" y="2308601"/>
              <a:ext cx="10926700" cy="3377304"/>
            </a:xfrm>
            <a:prstGeom prst="rect">
              <a:avLst/>
            </a:prstGeom>
          </p:spPr>
        </p:pic>
      </p:grpSp>
    </p:spTree>
    <p:extLst>
      <p:ext uri="{BB962C8B-B14F-4D97-AF65-F5344CB8AC3E}">
        <p14:creationId xmlns:p14="http://schemas.microsoft.com/office/powerpoint/2010/main" val="14980749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grpSp>
        <p:nvGrpSpPr>
          <p:cNvPr id="8" name="Group 7"/>
          <p:cNvGrpSpPr/>
          <p:nvPr/>
        </p:nvGrpSpPr>
        <p:grpSpPr>
          <a:xfrm>
            <a:off x="1206804" y="2094807"/>
            <a:ext cx="9772416" cy="3490592"/>
            <a:chOff x="631437" y="3186078"/>
            <a:chExt cx="10923150" cy="3901621"/>
          </a:xfrm>
        </p:grpSpPr>
        <p:pic>
          <p:nvPicPr>
            <p:cNvPr id="6" name="Picture 5"/>
            <p:cNvPicPr>
              <a:picLocks noChangeAspect="1"/>
            </p:cNvPicPr>
            <p:nvPr/>
          </p:nvPicPr>
          <p:blipFill rotWithShape="1">
            <a:blip r:embed="rId2"/>
            <a:srcRect r="357"/>
            <a:stretch/>
          </p:blipFill>
          <p:spPr>
            <a:xfrm>
              <a:off x="631437" y="3186078"/>
              <a:ext cx="10906630" cy="485843"/>
            </a:xfrm>
            <a:prstGeom prst="rect">
              <a:avLst/>
            </a:prstGeom>
          </p:spPr>
        </p:pic>
        <p:pic>
          <p:nvPicPr>
            <p:cNvPr id="7" name="Picture 6"/>
            <p:cNvPicPr>
              <a:picLocks noChangeAspect="1"/>
            </p:cNvPicPr>
            <p:nvPr/>
          </p:nvPicPr>
          <p:blipFill>
            <a:blip r:embed="rId3"/>
            <a:stretch>
              <a:fillRect/>
            </a:stretch>
          </p:blipFill>
          <p:spPr>
            <a:xfrm>
              <a:off x="637413" y="3677273"/>
              <a:ext cx="10917174" cy="3410426"/>
            </a:xfrm>
            <a:prstGeom prst="rect">
              <a:avLst/>
            </a:prstGeom>
          </p:spPr>
        </p:pic>
      </p:grpSp>
    </p:spTree>
    <p:extLst>
      <p:ext uri="{BB962C8B-B14F-4D97-AF65-F5344CB8AC3E}">
        <p14:creationId xmlns:p14="http://schemas.microsoft.com/office/powerpoint/2010/main" val="10736094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13</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There are two types of operating systems based on the user interface of the operating system.</a:t>
            </a:r>
          </a:p>
        </p:txBody>
      </p:sp>
      <p:graphicFrame>
        <p:nvGraphicFramePr>
          <p:cNvPr id="7" name="Table 6"/>
          <p:cNvGraphicFramePr>
            <a:graphicFrameLocks noGrp="1"/>
          </p:cNvGraphicFramePr>
          <p:nvPr>
            <p:extLst>
              <p:ext uri="{D42A27DB-BD31-4B8C-83A1-F6EECF244321}">
                <p14:modId xmlns:p14="http://schemas.microsoft.com/office/powerpoint/2010/main" val="2182821242"/>
              </p:ext>
            </p:extLst>
          </p:nvPr>
        </p:nvGraphicFramePr>
        <p:xfrm>
          <a:off x="1063241" y="2302626"/>
          <a:ext cx="10067500" cy="3682538"/>
        </p:xfrm>
        <a:graphic>
          <a:graphicData uri="http://schemas.openxmlformats.org/drawingml/2006/table">
            <a:tbl>
              <a:tblPr firstRow="1" bandRow="1">
                <a:tableStyleId>{5940675A-B579-460E-94D1-54222C63F5DA}</a:tableStyleId>
              </a:tblPr>
              <a:tblGrid>
                <a:gridCol w="5033750"/>
                <a:gridCol w="5033750"/>
              </a:tblGrid>
              <a:tr h="182879">
                <a:tc>
                  <a:txBody>
                    <a:bodyPr/>
                    <a:lstStyle/>
                    <a:p>
                      <a:pPr algn="ctr"/>
                      <a:r>
                        <a:rPr lang="en-US" b="1" dirty="0" smtClean="0">
                          <a:solidFill>
                            <a:schemeClr val="bg1"/>
                          </a:solidFill>
                        </a:rPr>
                        <a:t>Graphical user interface (GUI)</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US" b="1" dirty="0" smtClean="0">
                          <a:solidFill>
                            <a:schemeClr val="bg1"/>
                          </a:solidFill>
                        </a:rPr>
                        <a:t>Command line interface (CLI) </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r>
              <a:tr h="3316778">
                <a:tc>
                  <a:txBody>
                    <a:bodyPr/>
                    <a:lstStyle/>
                    <a:p>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r>
            </a:tbl>
          </a:graphicData>
        </a:graphic>
      </p:graphicFrame>
      <p:pic>
        <p:nvPicPr>
          <p:cNvPr id="8" name="Picture 7"/>
          <p:cNvPicPr>
            <a:picLocks noChangeAspect="1"/>
          </p:cNvPicPr>
          <p:nvPr/>
        </p:nvPicPr>
        <p:blipFill>
          <a:blip r:embed="rId2"/>
          <a:stretch>
            <a:fillRect/>
          </a:stretch>
        </p:blipFill>
        <p:spPr>
          <a:xfrm>
            <a:off x="1453538" y="2698974"/>
            <a:ext cx="4315494" cy="3241060"/>
          </a:xfrm>
          <a:prstGeom prst="rect">
            <a:avLst/>
          </a:prstGeom>
        </p:spPr>
      </p:pic>
      <p:pic>
        <p:nvPicPr>
          <p:cNvPr id="9" name="Picture 8"/>
          <p:cNvPicPr>
            <a:picLocks noChangeAspect="1"/>
          </p:cNvPicPr>
          <p:nvPr/>
        </p:nvPicPr>
        <p:blipFill>
          <a:blip r:embed="rId3"/>
          <a:stretch>
            <a:fillRect/>
          </a:stretch>
        </p:blipFill>
        <p:spPr>
          <a:xfrm>
            <a:off x="6383770" y="2698974"/>
            <a:ext cx="4532404" cy="3236172"/>
          </a:xfrm>
          <a:prstGeom prst="rect">
            <a:avLst/>
          </a:prstGeom>
        </p:spPr>
      </p:pic>
    </p:spTree>
    <p:extLst>
      <p:ext uri="{BB962C8B-B14F-4D97-AF65-F5344CB8AC3E}">
        <p14:creationId xmlns:p14="http://schemas.microsoft.com/office/powerpoint/2010/main" val="21522722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Operating system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smtClean="0"/>
              <a:t>Common operating system include:</a:t>
            </a:r>
            <a:endParaRPr lang="en-US" dirty="0"/>
          </a:p>
        </p:txBody>
      </p:sp>
      <p:pic>
        <p:nvPicPr>
          <p:cNvPr id="6" name="Picture 5"/>
          <p:cNvPicPr>
            <a:picLocks noChangeAspect="1"/>
          </p:cNvPicPr>
          <p:nvPr/>
        </p:nvPicPr>
        <p:blipFill>
          <a:blip r:embed="rId2"/>
          <a:stretch>
            <a:fillRect/>
          </a:stretch>
        </p:blipFill>
        <p:spPr>
          <a:xfrm>
            <a:off x="1179257" y="2098682"/>
            <a:ext cx="9834686" cy="4292356"/>
          </a:xfrm>
          <a:prstGeom prst="rect">
            <a:avLst/>
          </a:prstGeom>
        </p:spPr>
      </p:pic>
    </p:spTree>
    <p:extLst>
      <p:ext uri="{BB962C8B-B14F-4D97-AF65-F5344CB8AC3E}">
        <p14:creationId xmlns:p14="http://schemas.microsoft.com/office/powerpoint/2010/main" val="37728123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program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15</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Utility programs</a:t>
            </a:r>
            <a:r>
              <a:rPr lang="en-US" dirty="0"/>
              <a:t> (also known as utility software) are programs that maintain a computer system and improve its efficiency</a:t>
            </a:r>
            <a:r>
              <a:rPr lang="en-US" dirty="0" smtClean="0"/>
              <a:t>.</a:t>
            </a:r>
          </a:p>
          <a:p>
            <a:endParaRPr lang="en-US" dirty="0"/>
          </a:p>
          <a:p>
            <a:r>
              <a:rPr lang="en-US" dirty="0" smtClean="0"/>
              <a:t>Utility programs include:</a:t>
            </a:r>
            <a:endParaRPr lang="en-US" dirty="0"/>
          </a:p>
        </p:txBody>
      </p:sp>
      <p:pic>
        <p:nvPicPr>
          <p:cNvPr id="6" name="Picture 5"/>
          <p:cNvPicPr>
            <a:picLocks noChangeAspect="1"/>
          </p:cNvPicPr>
          <p:nvPr/>
        </p:nvPicPr>
        <p:blipFill rotWithShape="1">
          <a:blip r:embed="rId2"/>
          <a:srcRect b="318"/>
          <a:stretch/>
        </p:blipFill>
        <p:spPr>
          <a:xfrm>
            <a:off x="1314157" y="3449505"/>
            <a:ext cx="9564886" cy="2830645"/>
          </a:xfrm>
          <a:prstGeom prst="rect">
            <a:avLst/>
          </a:prstGeom>
        </p:spPr>
      </p:pic>
    </p:spTree>
    <p:extLst>
      <p:ext uri="{BB962C8B-B14F-4D97-AF65-F5344CB8AC3E}">
        <p14:creationId xmlns:p14="http://schemas.microsoft.com/office/powerpoint/2010/main" val="6312896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program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16</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grpSp>
        <p:nvGrpSpPr>
          <p:cNvPr id="8" name="Group 7"/>
          <p:cNvGrpSpPr/>
          <p:nvPr/>
        </p:nvGrpSpPr>
        <p:grpSpPr>
          <a:xfrm>
            <a:off x="838800" y="1965600"/>
            <a:ext cx="10586069" cy="3146727"/>
            <a:chOff x="122991" y="3214657"/>
            <a:chExt cx="11949567" cy="3552029"/>
          </a:xfrm>
        </p:grpSpPr>
        <p:pic>
          <p:nvPicPr>
            <p:cNvPr id="6" name="Picture 5"/>
            <p:cNvPicPr>
              <a:picLocks noChangeAspect="1"/>
            </p:cNvPicPr>
            <p:nvPr/>
          </p:nvPicPr>
          <p:blipFill>
            <a:blip r:embed="rId2"/>
            <a:stretch>
              <a:fillRect/>
            </a:stretch>
          </p:blipFill>
          <p:spPr>
            <a:xfrm>
              <a:off x="122991" y="3214657"/>
              <a:ext cx="11946017" cy="428685"/>
            </a:xfrm>
            <a:prstGeom prst="rect">
              <a:avLst/>
            </a:prstGeom>
          </p:spPr>
        </p:pic>
        <p:pic>
          <p:nvPicPr>
            <p:cNvPr id="7" name="Picture 6"/>
            <p:cNvPicPr>
              <a:picLocks noChangeAspect="1"/>
            </p:cNvPicPr>
            <p:nvPr/>
          </p:nvPicPr>
          <p:blipFill>
            <a:blip r:embed="rId3"/>
            <a:stretch>
              <a:fillRect/>
            </a:stretch>
          </p:blipFill>
          <p:spPr>
            <a:xfrm>
              <a:off x="136067" y="3632524"/>
              <a:ext cx="11936491" cy="3134162"/>
            </a:xfrm>
            <a:prstGeom prst="rect">
              <a:avLst/>
            </a:prstGeom>
          </p:spPr>
        </p:pic>
      </p:grpSp>
    </p:spTree>
    <p:extLst>
      <p:ext uri="{BB962C8B-B14F-4D97-AF65-F5344CB8AC3E}">
        <p14:creationId xmlns:p14="http://schemas.microsoft.com/office/powerpoint/2010/main" val="4521019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program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17</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pic>
        <p:nvPicPr>
          <p:cNvPr id="6" name="Picture 5"/>
          <p:cNvPicPr>
            <a:picLocks noChangeAspect="1"/>
          </p:cNvPicPr>
          <p:nvPr/>
        </p:nvPicPr>
        <p:blipFill>
          <a:blip r:embed="rId2"/>
          <a:stretch>
            <a:fillRect/>
          </a:stretch>
        </p:blipFill>
        <p:spPr>
          <a:xfrm>
            <a:off x="1657350" y="1420494"/>
            <a:ext cx="8934450" cy="319606"/>
          </a:xfrm>
          <a:prstGeom prst="rect">
            <a:avLst/>
          </a:prstGeom>
        </p:spPr>
      </p:pic>
      <p:pic>
        <p:nvPicPr>
          <p:cNvPr id="10" name="Picture 9"/>
          <p:cNvPicPr>
            <a:picLocks noChangeAspect="1"/>
          </p:cNvPicPr>
          <p:nvPr/>
        </p:nvPicPr>
        <p:blipFill>
          <a:blip r:embed="rId3"/>
          <a:stretch>
            <a:fillRect/>
          </a:stretch>
        </p:blipFill>
        <p:spPr>
          <a:xfrm>
            <a:off x="1669174" y="1717300"/>
            <a:ext cx="8913537" cy="4673738"/>
          </a:xfrm>
          <a:prstGeom prst="rect">
            <a:avLst/>
          </a:prstGeom>
        </p:spPr>
      </p:pic>
    </p:spTree>
    <p:extLst>
      <p:ext uri="{BB962C8B-B14F-4D97-AF65-F5344CB8AC3E}">
        <p14:creationId xmlns:p14="http://schemas.microsoft.com/office/powerpoint/2010/main" val="31637358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program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18</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grpSp>
        <p:nvGrpSpPr>
          <p:cNvPr id="9" name="Group 8"/>
          <p:cNvGrpSpPr/>
          <p:nvPr/>
        </p:nvGrpSpPr>
        <p:grpSpPr>
          <a:xfrm>
            <a:off x="1610488" y="2042616"/>
            <a:ext cx="8972224" cy="3994756"/>
            <a:chOff x="1891697" y="2646690"/>
            <a:chExt cx="8409805" cy="3744348"/>
          </a:xfrm>
        </p:grpSpPr>
        <p:pic>
          <p:nvPicPr>
            <p:cNvPr id="7" name="Picture 6"/>
            <p:cNvPicPr>
              <a:picLocks noChangeAspect="1"/>
            </p:cNvPicPr>
            <p:nvPr/>
          </p:nvPicPr>
          <p:blipFill>
            <a:blip r:embed="rId2"/>
            <a:stretch>
              <a:fillRect/>
            </a:stretch>
          </p:blipFill>
          <p:spPr>
            <a:xfrm>
              <a:off x="1891697" y="2968526"/>
              <a:ext cx="8409805" cy="3422512"/>
            </a:xfrm>
            <a:prstGeom prst="rect">
              <a:avLst/>
            </a:prstGeom>
          </p:spPr>
        </p:pic>
        <p:pic>
          <p:nvPicPr>
            <p:cNvPr id="8" name="Picture 7"/>
            <p:cNvPicPr>
              <a:picLocks noChangeAspect="1"/>
            </p:cNvPicPr>
            <p:nvPr/>
          </p:nvPicPr>
          <p:blipFill>
            <a:blip r:embed="rId3"/>
            <a:stretch>
              <a:fillRect/>
            </a:stretch>
          </p:blipFill>
          <p:spPr>
            <a:xfrm>
              <a:off x="1898047" y="2646690"/>
              <a:ext cx="8403455" cy="321835"/>
            </a:xfrm>
            <a:prstGeom prst="rect">
              <a:avLst/>
            </a:prstGeom>
          </p:spPr>
        </p:pic>
      </p:grpSp>
    </p:spTree>
    <p:extLst>
      <p:ext uri="{BB962C8B-B14F-4D97-AF65-F5344CB8AC3E}">
        <p14:creationId xmlns:p14="http://schemas.microsoft.com/office/powerpoint/2010/main" val="11351374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program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19</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grpSp>
        <p:nvGrpSpPr>
          <p:cNvPr id="8" name="Group 7"/>
          <p:cNvGrpSpPr/>
          <p:nvPr/>
        </p:nvGrpSpPr>
        <p:grpSpPr>
          <a:xfrm>
            <a:off x="1130350" y="1827275"/>
            <a:ext cx="9932499" cy="3206073"/>
            <a:chOff x="499281" y="3228947"/>
            <a:chExt cx="11193437" cy="3613086"/>
          </a:xfrm>
        </p:grpSpPr>
        <p:pic>
          <p:nvPicPr>
            <p:cNvPr id="6" name="Picture 5"/>
            <p:cNvPicPr>
              <a:picLocks noChangeAspect="1"/>
            </p:cNvPicPr>
            <p:nvPr/>
          </p:nvPicPr>
          <p:blipFill>
            <a:blip r:embed="rId2"/>
            <a:stretch>
              <a:fillRect/>
            </a:stretch>
          </p:blipFill>
          <p:spPr>
            <a:xfrm>
              <a:off x="499281" y="3228947"/>
              <a:ext cx="11193437" cy="400106"/>
            </a:xfrm>
            <a:prstGeom prst="rect">
              <a:avLst/>
            </a:prstGeom>
          </p:spPr>
        </p:pic>
        <p:pic>
          <p:nvPicPr>
            <p:cNvPr id="7" name="Picture 6"/>
            <p:cNvPicPr>
              <a:picLocks noChangeAspect="1"/>
            </p:cNvPicPr>
            <p:nvPr/>
          </p:nvPicPr>
          <p:blipFill>
            <a:blip r:embed="rId3"/>
            <a:stretch>
              <a:fillRect/>
            </a:stretch>
          </p:blipFill>
          <p:spPr>
            <a:xfrm>
              <a:off x="499281" y="3612607"/>
              <a:ext cx="11193437" cy="3229426"/>
            </a:xfrm>
            <a:prstGeom prst="rect">
              <a:avLst/>
            </a:prstGeom>
          </p:spPr>
        </p:pic>
      </p:grpSp>
    </p:spTree>
    <p:extLst>
      <p:ext uri="{BB962C8B-B14F-4D97-AF65-F5344CB8AC3E}">
        <p14:creationId xmlns:p14="http://schemas.microsoft.com/office/powerpoint/2010/main" val="1372808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program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20</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smtClean="0"/>
              <a:t> </a:t>
            </a:r>
            <a:endParaRPr lang="en-US" dirty="0"/>
          </a:p>
        </p:txBody>
      </p:sp>
      <p:grpSp>
        <p:nvGrpSpPr>
          <p:cNvPr id="8" name="Group 7"/>
          <p:cNvGrpSpPr/>
          <p:nvPr/>
        </p:nvGrpSpPr>
        <p:grpSpPr>
          <a:xfrm>
            <a:off x="1727914" y="1609200"/>
            <a:ext cx="8737372" cy="4834408"/>
            <a:chOff x="1395842" y="1556629"/>
            <a:chExt cx="8737372" cy="4834408"/>
          </a:xfrm>
        </p:grpSpPr>
        <p:pic>
          <p:nvPicPr>
            <p:cNvPr id="6" name="Picture 5"/>
            <p:cNvPicPr>
              <a:picLocks noChangeAspect="1"/>
            </p:cNvPicPr>
            <p:nvPr/>
          </p:nvPicPr>
          <p:blipFill>
            <a:blip r:embed="rId2"/>
            <a:stretch>
              <a:fillRect/>
            </a:stretch>
          </p:blipFill>
          <p:spPr>
            <a:xfrm>
              <a:off x="1395842" y="1803360"/>
              <a:ext cx="8737372" cy="4587677"/>
            </a:xfrm>
            <a:prstGeom prst="rect">
              <a:avLst/>
            </a:prstGeom>
          </p:spPr>
        </p:pic>
        <p:pic>
          <p:nvPicPr>
            <p:cNvPr id="7" name="Picture 6"/>
            <p:cNvPicPr>
              <a:picLocks noChangeAspect="1"/>
            </p:cNvPicPr>
            <p:nvPr/>
          </p:nvPicPr>
          <p:blipFill>
            <a:blip r:embed="rId3"/>
            <a:stretch>
              <a:fillRect/>
            </a:stretch>
          </p:blipFill>
          <p:spPr>
            <a:xfrm>
              <a:off x="1411082" y="1556629"/>
              <a:ext cx="8722132" cy="304866"/>
            </a:xfrm>
            <a:prstGeom prst="rect">
              <a:avLst/>
            </a:prstGeom>
          </p:spPr>
        </p:pic>
      </p:grpSp>
    </p:spTree>
    <p:extLst>
      <p:ext uri="{BB962C8B-B14F-4D97-AF65-F5344CB8AC3E}">
        <p14:creationId xmlns:p14="http://schemas.microsoft.com/office/powerpoint/2010/main" val="22442840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Driver program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21</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Driver programs</a:t>
            </a:r>
            <a:r>
              <a:rPr lang="en-US" dirty="0"/>
              <a:t> are used to control peripheral devices by translating requests into machine level commands</a:t>
            </a:r>
            <a:r>
              <a:rPr lang="en-US" dirty="0" smtClean="0"/>
              <a:t>.</a:t>
            </a:r>
          </a:p>
          <a:p>
            <a:endParaRPr lang="en-US" dirty="0"/>
          </a:p>
          <a:p>
            <a:r>
              <a:rPr lang="en-US" dirty="0"/>
              <a:t>Each driver program is designed for a specific OS to control a specific peripheral device.</a:t>
            </a:r>
          </a:p>
        </p:txBody>
      </p:sp>
      <p:pic>
        <p:nvPicPr>
          <p:cNvPr id="6" name="Picture 5"/>
          <p:cNvPicPr>
            <a:picLocks noChangeAspect="1"/>
          </p:cNvPicPr>
          <p:nvPr/>
        </p:nvPicPr>
        <p:blipFill>
          <a:blip r:embed="rId2"/>
          <a:stretch>
            <a:fillRect/>
          </a:stretch>
        </p:blipFill>
        <p:spPr>
          <a:xfrm>
            <a:off x="2911326" y="3523170"/>
            <a:ext cx="6370547" cy="2867867"/>
          </a:xfrm>
          <a:prstGeom prst="rect">
            <a:avLst/>
          </a:prstGeom>
        </p:spPr>
      </p:pic>
    </p:spTree>
    <p:extLst>
      <p:ext uri="{BB962C8B-B14F-4D97-AF65-F5344CB8AC3E}">
        <p14:creationId xmlns:p14="http://schemas.microsoft.com/office/powerpoint/2010/main" val="34515551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Which of the following is not necessarily a feature of a computer operating system?</a:t>
            </a:r>
            <a:br>
              <a:rPr lang="en-US" dirty="0"/>
            </a:br>
            <a:endParaRPr lang="en-US" dirty="0"/>
          </a:p>
          <a:p>
            <a:pPr marL="1257300" lvl="2" indent="-342900">
              <a:buSzPct val="100000"/>
              <a:buAutoNum type="arabicParenBoth"/>
            </a:pPr>
            <a:r>
              <a:rPr lang="en-US" sz="2000" dirty="0"/>
              <a:t>Peripheral device </a:t>
            </a:r>
            <a:r>
              <a:rPr lang="en-US" sz="2000" dirty="0" smtClean="0"/>
              <a:t>management</a:t>
            </a:r>
          </a:p>
          <a:p>
            <a:pPr marL="1257300" lvl="2" indent="-342900">
              <a:buSzPct val="100000"/>
              <a:buAutoNum type="arabicParenBoth"/>
            </a:pPr>
            <a:r>
              <a:rPr lang="en-US" sz="2000" dirty="0"/>
              <a:t>Graphical user </a:t>
            </a:r>
            <a:r>
              <a:rPr lang="en-US" sz="2000" dirty="0" smtClean="0"/>
              <a:t>interface</a:t>
            </a:r>
          </a:p>
          <a:p>
            <a:pPr marL="1257300" lvl="2" indent="-342900">
              <a:buSzPct val="100000"/>
              <a:buAutoNum type="arabicParenBoth"/>
            </a:pPr>
            <a:r>
              <a:rPr lang="en-US" sz="2000" dirty="0"/>
              <a:t>Memory </a:t>
            </a:r>
            <a:r>
              <a:rPr lang="en-US" sz="2000" dirty="0" smtClean="0"/>
              <a:t>management</a:t>
            </a:r>
          </a:p>
          <a:p>
            <a:pPr marL="1257300" lvl="2" indent="-342900">
              <a:buSzPct val="100000"/>
              <a:buAutoNum type="arabicParenBoth"/>
            </a:pPr>
            <a:r>
              <a:rPr lang="en-US" sz="2000" dirty="0" smtClean="0"/>
              <a:t>Database management</a:t>
            </a:r>
            <a:r>
              <a:rPr lang="en-US" sz="2000" dirty="0"/>
              <a:t/>
            </a:r>
            <a:br>
              <a:rPr lang="en-US" sz="2000" dirty="0"/>
            </a:br>
            <a:endParaRPr lang="en-US" sz="2000" dirty="0"/>
          </a:p>
          <a:p>
            <a:pPr marL="800100" lvl="1" indent="-342900">
              <a:buSzPct val="100000"/>
              <a:buAutoNum type="alphaUcPeriod"/>
            </a:pPr>
            <a:r>
              <a:rPr lang="en-HK" sz="2000" dirty="0"/>
              <a:t>(1) </a:t>
            </a:r>
            <a:r>
              <a:rPr lang="en-HK" sz="2000" dirty="0" smtClean="0"/>
              <a:t>and (3) only</a:t>
            </a:r>
            <a:endParaRPr lang="en-HK" sz="2000" dirty="0"/>
          </a:p>
          <a:p>
            <a:pPr marL="800100" lvl="1" indent="-342900">
              <a:buSzPct val="100000"/>
              <a:buAutoNum type="alphaUcPeriod"/>
            </a:pPr>
            <a:r>
              <a:rPr lang="en-HK" sz="2000" dirty="0" smtClean="0"/>
              <a:t>(1) and (4) only</a:t>
            </a:r>
            <a:endParaRPr lang="en-HK" sz="2000" dirty="0"/>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HK" sz="2000" dirty="0"/>
              <a:t>(2) and </a:t>
            </a:r>
            <a:r>
              <a:rPr lang="en-HK" sz="2000" dirty="0" smtClean="0"/>
              <a:t>(4) </a:t>
            </a:r>
            <a:r>
              <a:rPr lang="en-HK" sz="2000" dirty="0"/>
              <a:t>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22</a:t>
            </a:fld>
            <a:endParaRPr lang="en-US" dirty="0"/>
          </a:p>
        </p:txBody>
      </p:sp>
      <p:sp>
        <p:nvSpPr>
          <p:cNvPr id="4" name="Text Placeholder 3"/>
          <p:cNvSpPr>
            <a:spLocks noGrp="1"/>
          </p:cNvSpPr>
          <p:nvPr>
            <p:ph type="body" sz="quarter" idx="13"/>
          </p:nvPr>
        </p:nvSpPr>
        <p:spPr/>
        <p:txBody>
          <a:bodyPr/>
          <a:lstStyle/>
          <a:p>
            <a:r>
              <a:rPr lang="en-US" dirty="0" smtClean="0"/>
              <a:t>3.1</a:t>
            </a:r>
            <a:endParaRPr lang="en-US" dirty="0"/>
          </a:p>
        </p:txBody>
      </p:sp>
    </p:spTree>
    <p:extLst>
      <p:ext uri="{BB962C8B-B14F-4D97-AF65-F5344CB8AC3E}">
        <p14:creationId xmlns:p14="http://schemas.microsoft.com/office/powerpoint/2010/main" val="30466977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The user interface is a feature of OS. However, there are two types of user interfaces. Item (2), graphical </a:t>
            </a:r>
            <a:r>
              <a:rPr lang="en-US" dirty="0" smtClean="0"/>
              <a:t>user </a:t>
            </a:r>
            <a:r>
              <a:rPr lang="en-US" dirty="0"/>
              <a:t>interface (GUI), is one of them while command line interface (CLI) is another. Some OS support CLI </a:t>
            </a:r>
            <a:r>
              <a:rPr lang="en-US" dirty="0" smtClean="0"/>
              <a:t>instead </a:t>
            </a:r>
            <a:r>
              <a:rPr lang="en-US" dirty="0"/>
              <a:t>of GUI</a:t>
            </a:r>
            <a:r>
              <a:rPr lang="en-US" dirty="0" smtClean="0"/>
              <a:t>.</a:t>
            </a:r>
            <a:br>
              <a:rPr lang="en-US" dirty="0" smtClean="0"/>
            </a:br>
            <a:endParaRPr lang="en-US" dirty="0"/>
          </a:p>
          <a:p>
            <a:pPr>
              <a:buSzPct val="100000"/>
            </a:pPr>
            <a:r>
              <a:rPr lang="en-US" dirty="0"/>
              <a:t>Item (4), database management, is a feature of a database management system (DBMS), not necessarily a </a:t>
            </a:r>
            <a:r>
              <a:rPr lang="en-US" dirty="0" smtClean="0"/>
              <a:t>feature </a:t>
            </a:r>
            <a:r>
              <a:rPr lang="en-US" dirty="0"/>
              <a:t>of an OS</a:t>
            </a:r>
            <a:r>
              <a:rPr lang="en-US" dirty="0" smtClean="0"/>
              <a:t>.</a:t>
            </a:r>
            <a:br>
              <a:rPr lang="en-US" dirty="0" smtClean="0"/>
            </a:b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B.</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23</a:t>
            </a:fld>
            <a:endParaRPr lang="en-US" dirty="0"/>
          </a:p>
        </p:txBody>
      </p:sp>
      <p:sp>
        <p:nvSpPr>
          <p:cNvPr id="4" name="Text Placeholder 3"/>
          <p:cNvSpPr>
            <a:spLocks noGrp="1"/>
          </p:cNvSpPr>
          <p:nvPr>
            <p:ph type="body" sz="quarter" idx="13"/>
          </p:nvPr>
        </p:nvSpPr>
        <p:spPr/>
        <p:txBody>
          <a:bodyPr/>
          <a:lstStyle/>
          <a:p>
            <a:r>
              <a:rPr lang="en-US" dirty="0" smtClean="0"/>
              <a:t>3.1</a:t>
            </a:r>
            <a:endParaRPr lang="en-US" dirty="0"/>
          </a:p>
        </p:txBody>
      </p:sp>
    </p:spTree>
    <p:extLst>
      <p:ext uri="{BB962C8B-B14F-4D97-AF65-F5344CB8AC3E}">
        <p14:creationId xmlns:p14="http://schemas.microsoft.com/office/powerpoint/2010/main" val="24874679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Which of the following statement about operating systems is true? </a:t>
            </a:r>
            <a:br>
              <a:rPr lang="en-US" dirty="0"/>
            </a:br>
            <a:endParaRPr lang="en-US" dirty="0"/>
          </a:p>
          <a:p>
            <a:pPr marL="1257300" lvl="2" indent="-342900">
              <a:buSzPct val="100000"/>
              <a:buAutoNum type="arabicParenBoth"/>
            </a:pPr>
            <a:r>
              <a:rPr lang="en-US" sz="2000" dirty="0"/>
              <a:t>Linux does not support GUI</a:t>
            </a:r>
            <a:r>
              <a:rPr lang="en-US" sz="2000" dirty="0" smtClean="0"/>
              <a:t>.</a:t>
            </a:r>
          </a:p>
          <a:p>
            <a:pPr marL="1257300" lvl="2" indent="-342900">
              <a:buSzPct val="100000"/>
              <a:buAutoNum type="arabicParenBoth"/>
            </a:pPr>
            <a:r>
              <a:rPr lang="en-US" sz="2000" dirty="0"/>
              <a:t>Windows Server, as a network operating system, is a multi-user operating system</a:t>
            </a:r>
            <a:r>
              <a:rPr lang="en-US" sz="2000" dirty="0" smtClean="0"/>
              <a:t>.</a:t>
            </a:r>
          </a:p>
          <a:p>
            <a:pPr marL="1257300" lvl="2" indent="-342900">
              <a:buSzPct val="100000"/>
              <a:buAutoNum type="arabicParenBoth"/>
            </a:pPr>
            <a:r>
              <a:rPr lang="en-US" sz="2000" dirty="0" err="1"/>
              <a:t>iOS</a:t>
            </a:r>
            <a:r>
              <a:rPr lang="en-US" sz="2000" dirty="0"/>
              <a:t> is open source.</a:t>
            </a:r>
            <a:br>
              <a:rPr lang="en-US" sz="2000" dirty="0"/>
            </a:br>
            <a:endParaRPr lang="en-US" sz="2000" dirty="0"/>
          </a:p>
          <a:p>
            <a:pPr marL="800100" lvl="1" indent="-342900">
              <a:buSzPct val="100000"/>
              <a:buAutoNum type="alphaUcPeriod"/>
            </a:pPr>
            <a:r>
              <a:rPr lang="en-HK" sz="2000" dirty="0"/>
              <a:t>(1) only</a:t>
            </a:r>
          </a:p>
          <a:p>
            <a:pPr marL="800100" lvl="1" indent="-342900">
              <a:buSzPct val="100000"/>
              <a:buAutoNum type="alphaUcPeriod"/>
            </a:pPr>
            <a:r>
              <a:rPr lang="en-HK" sz="2000" dirty="0"/>
              <a:t>(2) only</a:t>
            </a:r>
          </a:p>
          <a:p>
            <a:pPr marL="800100" lvl="1" indent="-342900">
              <a:buSzPct val="100000"/>
              <a:buAutoNum type="alphaUcPeriod"/>
            </a:pPr>
            <a:r>
              <a:rPr lang="en-HK" sz="2000" dirty="0"/>
              <a:t>(1) and (3) only</a:t>
            </a:r>
          </a:p>
          <a:p>
            <a:pPr marL="800100" lvl="1" indent="-342900">
              <a:buSzPct val="100000"/>
              <a:buAutoNum type="alphaUcPeriod"/>
            </a:pPr>
            <a:r>
              <a:rPr lang="en-HK" sz="2000" dirty="0"/>
              <a:t>(2) and (3) 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24</a:t>
            </a:fld>
            <a:endParaRPr lang="en-US" dirty="0"/>
          </a:p>
        </p:txBody>
      </p:sp>
      <p:sp>
        <p:nvSpPr>
          <p:cNvPr id="4" name="Text Placeholder 3"/>
          <p:cNvSpPr>
            <a:spLocks noGrp="1"/>
          </p:cNvSpPr>
          <p:nvPr>
            <p:ph type="body" sz="quarter" idx="13"/>
          </p:nvPr>
        </p:nvSpPr>
        <p:spPr/>
        <p:txBody>
          <a:bodyPr/>
          <a:lstStyle/>
          <a:p>
            <a:r>
              <a:rPr lang="en-US" dirty="0" smtClean="0"/>
              <a:t>3.1</a:t>
            </a:r>
            <a:endParaRPr lang="en-US" dirty="0"/>
          </a:p>
        </p:txBody>
      </p:sp>
    </p:spTree>
    <p:extLst>
      <p:ext uri="{BB962C8B-B14F-4D97-AF65-F5344CB8AC3E}">
        <p14:creationId xmlns:p14="http://schemas.microsoft.com/office/powerpoint/2010/main" val="20211913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item (1), some distributions of Linux, like </a:t>
            </a:r>
            <a:r>
              <a:rPr lang="en-US" dirty="0" err="1"/>
              <a:t>Debian</a:t>
            </a:r>
            <a:r>
              <a:rPr lang="en-US" dirty="0"/>
              <a:t>, Fedora and Ubuntu support GUI</a:t>
            </a:r>
            <a:r>
              <a:rPr lang="en-US" dirty="0" smtClean="0"/>
              <a:t>.</a:t>
            </a:r>
            <a:endParaRPr lang="en-US" dirty="0"/>
          </a:p>
          <a:p>
            <a:pPr>
              <a:buSzPct val="100000"/>
            </a:pPr>
            <a:r>
              <a:rPr lang="en-US" dirty="0"/>
              <a:t>For item (2), while common Windows OS like Windows 10 and Windows 11 is single-user OS, a network OS </a:t>
            </a:r>
            <a:r>
              <a:rPr lang="en-US" dirty="0" smtClean="0"/>
              <a:t>is </a:t>
            </a:r>
            <a:r>
              <a:rPr lang="en-US" dirty="0"/>
              <a:t>usually multi-user OS</a:t>
            </a:r>
            <a:r>
              <a:rPr lang="en-US" dirty="0" smtClean="0"/>
              <a:t>.</a:t>
            </a:r>
            <a:endParaRPr lang="en-US" dirty="0"/>
          </a:p>
          <a:p>
            <a:pPr>
              <a:buSzPct val="100000"/>
            </a:pPr>
            <a:r>
              <a:rPr lang="en-US" dirty="0"/>
              <a:t>For item (3), </a:t>
            </a:r>
            <a:r>
              <a:rPr lang="en-US" dirty="0" err="1"/>
              <a:t>iOS</a:t>
            </a:r>
            <a:r>
              <a:rPr lang="en-US" dirty="0"/>
              <a:t> is an OS developed and owned by Apple. It is not open source.</a:t>
            </a:r>
            <a:br>
              <a:rPr lang="en-US" dirty="0"/>
            </a:br>
            <a:endParaRPr lang="en-US" dirty="0" smtClean="0"/>
          </a:p>
          <a:p>
            <a:pPr>
              <a:buSzPct val="100000"/>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B.</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25</a:t>
            </a:fld>
            <a:endParaRPr lang="en-US" dirty="0"/>
          </a:p>
        </p:txBody>
      </p:sp>
      <p:sp>
        <p:nvSpPr>
          <p:cNvPr id="4" name="Text Placeholder 3"/>
          <p:cNvSpPr>
            <a:spLocks noGrp="1"/>
          </p:cNvSpPr>
          <p:nvPr>
            <p:ph type="body" sz="quarter" idx="13"/>
          </p:nvPr>
        </p:nvSpPr>
        <p:spPr/>
        <p:txBody>
          <a:bodyPr/>
          <a:lstStyle/>
          <a:p>
            <a:r>
              <a:rPr lang="en-US" dirty="0" smtClean="0"/>
              <a:t>3.1</a:t>
            </a:r>
            <a:endParaRPr lang="en-US" dirty="0"/>
          </a:p>
        </p:txBody>
      </p:sp>
    </p:spTree>
    <p:extLst>
      <p:ext uri="{BB962C8B-B14F-4D97-AF65-F5344CB8AC3E}">
        <p14:creationId xmlns:p14="http://schemas.microsoft.com/office/powerpoint/2010/main" val="37675344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smtClean="0"/>
              <a:t>Is </a:t>
            </a:r>
            <a:r>
              <a:rPr lang="en-US" dirty="0"/>
              <a:t>it possible to generate a bar chart for a spreadsheet file using system software? Explain briefly. </a:t>
            </a:r>
            <a:endParaRPr lang="en-US" dirty="0" smtClean="0"/>
          </a:p>
          <a:p>
            <a:pPr lvl="1"/>
            <a:r>
              <a:rPr lang="en-US" dirty="0">
                <a:solidFill>
                  <a:srgbClr val="FF0000"/>
                </a:solidFill>
              </a:rPr>
              <a:t>No. System software is used to control the hardware operation and manage system resources. For editing spreadsheet files, we should use application software</a:t>
            </a:r>
            <a:r>
              <a:rPr lang="en-US" dirty="0" smtClean="0">
                <a:solidFill>
                  <a:srgbClr val="FF0000"/>
                </a:solidFill>
              </a:rPr>
              <a:t>.</a:t>
            </a:r>
          </a:p>
          <a:p>
            <a:pPr lvl="1"/>
            <a:endParaRPr lang="en-US" dirty="0" smtClean="0">
              <a:solidFill>
                <a:srgbClr val="FF0000"/>
              </a:solidFill>
            </a:endParaRPr>
          </a:p>
          <a:p>
            <a:pPr marL="457200" indent="-457200">
              <a:buFont typeface="+mj-lt"/>
              <a:buAutoNum type="arabicPeriod"/>
            </a:pPr>
            <a:r>
              <a:rPr lang="en-US" dirty="0" smtClean="0"/>
              <a:t>Ken </a:t>
            </a:r>
            <a:r>
              <a:rPr lang="en-US" dirty="0"/>
              <a:t>wants to install a video game of size 24 GB on his computer. However, there is unused storage space of 8 GB in his computer. After running a defragmentation software on his computer, there is still not enough storage space to install the video game. Why? </a:t>
            </a:r>
            <a:endParaRPr lang="en-US" dirty="0" smtClean="0"/>
          </a:p>
          <a:p>
            <a:pPr lvl="1"/>
            <a:r>
              <a:rPr lang="en-US" dirty="0">
                <a:solidFill>
                  <a:srgbClr val="FF0000"/>
                </a:solidFill>
              </a:rPr>
              <a:t>Defragmentation is used for regrouping the data fragments in storage to increase the data access rate. It rarely frees up a storage space of over 16 GB as result.</a:t>
            </a:r>
          </a:p>
        </p:txBody>
      </p:sp>
      <p:sp>
        <p:nvSpPr>
          <p:cNvPr id="3" name="Slide Number Placeholder 2"/>
          <p:cNvSpPr>
            <a:spLocks noGrp="1"/>
          </p:cNvSpPr>
          <p:nvPr>
            <p:ph type="sldNum" sz="quarter" idx="12"/>
          </p:nvPr>
        </p:nvSpPr>
        <p:spPr/>
        <p:txBody>
          <a:bodyPr/>
          <a:lstStyle/>
          <a:p>
            <a:fld id="{6D22F896-40B5-4ADD-8801-0D06FADFA095}" type="slidenum">
              <a:rPr lang="en-US" smtClean="0"/>
              <a:t>26</a:t>
            </a:fld>
            <a:endParaRPr lang="en-US" dirty="0"/>
          </a:p>
        </p:txBody>
      </p:sp>
      <p:sp>
        <p:nvSpPr>
          <p:cNvPr id="4" name="Text Placeholder 3"/>
          <p:cNvSpPr>
            <a:spLocks noGrp="1"/>
          </p:cNvSpPr>
          <p:nvPr>
            <p:ph type="body" sz="quarter" idx="13"/>
          </p:nvPr>
        </p:nvSpPr>
        <p:spPr/>
        <p:txBody>
          <a:bodyPr/>
          <a:lstStyle/>
          <a:p>
            <a:r>
              <a:rPr lang="en-US" dirty="0" smtClean="0"/>
              <a:t>3.1</a:t>
            </a:r>
            <a:endParaRPr lang="en-US" dirty="0"/>
          </a:p>
        </p:txBody>
      </p:sp>
    </p:spTree>
    <p:extLst>
      <p:ext uri="{BB962C8B-B14F-4D97-AF65-F5344CB8AC3E}">
        <p14:creationId xmlns:p14="http://schemas.microsoft.com/office/powerpoint/2010/main" val="127293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fade">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Software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27</a:t>
            </a:fld>
            <a:endParaRPr lang="en-US" dirty="0"/>
          </a:p>
        </p:txBody>
      </p:sp>
      <p:sp>
        <p:nvSpPr>
          <p:cNvPr id="4" name="Text Placeholder 3"/>
          <p:cNvSpPr>
            <a:spLocks noGrp="1"/>
          </p:cNvSpPr>
          <p:nvPr>
            <p:ph type="body" sz="quarter" idx="14"/>
          </p:nvPr>
        </p:nvSpPr>
        <p:spPr/>
        <p:txBody>
          <a:bodyPr/>
          <a:lstStyle/>
          <a:p>
            <a:r>
              <a:rPr lang="en-US" dirty="0" smtClean="0"/>
              <a:t>3.3</a:t>
            </a:r>
            <a:endParaRPr lang="en-US" dirty="0"/>
          </a:p>
        </p:txBody>
      </p:sp>
      <p:sp>
        <p:nvSpPr>
          <p:cNvPr id="5" name="Content Placeholder 4"/>
          <p:cNvSpPr>
            <a:spLocks noGrp="1"/>
          </p:cNvSpPr>
          <p:nvPr>
            <p:ph sz="quarter" idx="15"/>
          </p:nvPr>
        </p:nvSpPr>
        <p:spPr/>
        <p:txBody>
          <a:bodyPr/>
          <a:lstStyle/>
          <a:p>
            <a:r>
              <a:rPr lang="en-US" dirty="0"/>
              <a:t>Application software includes, but is not limited to the following four types: </a:t>
            </a:r>
            <a:r>
              <a:rPr lang="en-US" dirty="0" smtClean="0"/>
              <a:t/>
            </a:r>
            <a:br>
              <a:rPr lang="en-US" dirty="0" smtClean="0"/>
            </a:br>
            <a:endParaRPr lang="en-US" dirty="0" smtClean="0"/>
          </a:p>
          <a:p>
            <a:pPr marL="342900" indent="-342900">
              <a:buFont typeface="Arial" panose="020B0604020202020204" pitchFamily="34" charset="0"/>
              <a:buChar char="•"/>
            </a:pPr>
            <a:r>
              <a:rPr lang="en-US" dirty="0"/>
              <a:t>P</a:t>
            </a:r>
            <a:r>
              <a:rPr lang="en-US" dirty="0" smtClean="0"/>
              <a:t>roductivity software</a:t>
            </a:r>
          </a:p>
          <a:p>
            <a:pPr marL="342900" indent="-342900">
              <a:buFont typeface="Arial" panose="020B0604020202020204" pitchFamily="34" charset="0"/>
              <a:buChar char="•"/>
            </a:pPr>
            <a:r>
              <a:rPr lang="en-US" dirty="0"/>
              <a:t>C</a:t>
            </a:r>
            <a:r>
              <a:rPr lang="en-US" dirty="0" smtClean="0"/>
              <a:t>ommunication software</a:t>
            </a:r>
          </a:p>
          <a:p>
            <a:pPr marL="342900" indent="-342900">
              <a:buFont typeface="Arial" panose="020B0604020202020204" pitchFamily="34" charset="0"/>
              <a:buChar char="•"/>
            </a:pPr>
            <a:r>
              <a:rPr lang="en-US" dirty="0"/>
              <a:t>M</a:t>
            </a:r>
            <a:r>
              <a:rPr lang="en-US" dirty="0" smtClean="0"/>
              <a:t>edia </a:t>
            </a:r>
            <a:r>
              <a:rPr lang="en-US" dirty="0"/>
              <a:t>development </a:t>
            </a:r>
            <a:r>
              <a:rPr lang="en-US" dirty="0" smtClean="0"/>
              <a:t>software</a:t>
            </a:r>
          </a:p>
          <a:p>
            <a:pPr marL="342900" indent="-342900">
              <a:buFont typeface="Arial" panose="020B0604020202020204" pitchFamily="34" charset="0"/>
              <a:buChar char="•"/>
            </a:pPr>
            <a:r>
              <a:rPr lang="en-US" dirty="0"/>
              <a:t>E</a:t>
            </a:r>
            <a:r>
              <a:rPr lang="en-US" dirty="0" smtClean="0"/>
              <a:t>ducational software</a:t>
            </a:r>
            <a:endParaRPr lang="en-US" dirty="0"/>
          </a:p>
        </p:txBody>
      </p:sp>
    </p:spTree>
    <p:extLst>
      <p:ext uri="{BB962C8B-B14F-4D97-AF65-F5344CB8AC3E}">
        <p14:creationId xmlns:p14="http://schemas.microsoft.com/office/powerpoint/2010/main" val="22521099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Productivity software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28</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Productivity software</a:t>
            </a:r>
            <a:r>
              <a:rPr lang="en-US" dirty="0"/>
              <a:t> is used to improve the productivity of working. It is used to produce, </a:t>
            </a:r>
            <a:r>
              <a:rPr lang="en-US" dirty="0" err="1"/>
              <a:t>analyse</a:t>
            </a:r>
            <a:r>
              <a:rPr lang="en-US" dirty="0"/>
              <a:t> or present information.</a:t>
            </a:r>
          </a:p>
        </p:txBody>
      </p:sp>
      <p:pic>
        <p:nvPicPr>
          <p:cNvPr id="6" name="Picture 5"/>
          <p:cNvPicPr>
            <a:picLocks noChangeAspect="1"/>
          </p:cNvPicPr>
          <p:nvPr/>
        </p:nvPicPr>
        <p:blipFill>
          <a:blip r:embed="rId2"/>
          <a:stretch>
            <a:fillRect/>
          </a:stretch>
        </p:blipFill>
        <p:spPr>
          <a:xfrm>
            <a:off x="838800" y="2605400"/>
            <a:ext cx="10582240" cy="2860550"/>
          </a:xfrm>
          <a:prstGeom prst="rect">
            <a:avLst/>
          </a:prstGeom>
        </p:spPr>
      </p:pic>
    </p:spTree>
    <p:extLst>
      <p:ext uri="{BB962C8B-B14F-4D97-AF65-F5344CB8AC3E}">
        <p14:creationId xmlns:p14="http://schemas.microsoft.com/office/powerpoint/2010/main" val="7674965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software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29</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Communication software</a:t>
            </a:r>
            <a:r>
              <a:rPr lang="en-US" dirty="0"/>
              <a:t> is used to exchange information between users via a network for communication purposes.</a:t>
            </a:r>
          </a:p>
        </p:txBody>
      </p:sp>
      <p:pic>
        <p:nvPicPr>
          <p:cNvPr id="6" name="Picture 5"/>
          <p:cNvPicPr>
            <a:picLocks noChangeAspect="1"/>
          </p:cNvPicPr>
          <p:nvPr/>
        </p:nvPicPr>
        <p:blipFill>
          <a:blip r:embed="rId2"/>
          <a:stretch>
            <a:fillRect/>
          </a:stretch>
        </p:blipFill>
        <p:spPr>
          <a:xfrm>
            <a:off x="735094" y="2512800"/>
            <a:ext cx="10723012" cy="3585809"/>
          </a:xfrm>
          <a:prstGeom prst="rect">
            <a:avLst/>
          </a:prstGeom>
        </p:spPr>
      </p:pic>
    </p:spTree>
    <p:extLst>
      <p:ext uri="{BB962C8B-B14F-4D97-AF65-F5344CB8AC3E}">
        <p14:creationId xmlns:p14="http://schemas.microsoft.com/office/powerpoint/2010/main" val="12188538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Media development software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30</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Media development software</a:t>
            </a:r>
            <a:r>
              <a:rPr lang="en-US" dirty="0"/>
              <a:t> is used to create or edit multimedia files.</a:t>
            </a:r>
          </a:p>
        </p:txBody>
      </p:sp>
      <p:pic>
        <p:nvPicPr>
          <p:cNvPr id="6" name="Picture 5"/>
          <p:cNvPicPr>
            <a:picLocks noChangeAspect="1"/>
          </p:cNvPicPr>
          <p:nvPr/>
        </p:nvPicPr>
        <p:blipFill>
          <a:blip r:embed="rId2"/>
          <a:stretch>
            <a:fillRect/>
          </a:stretch>
        </p:blipFill>
        <p:spPr>
          <a:xfrm>
            <a:off x="1902044" y="2210087"/>
            <a:ext cx="8389112" cy="1663186"/>
          </a:xfrm>
          <a:prstGeom prst="rect">
            <a:avLst/>
          </a:prstGeom>
        </p:spPr>
      </p:pic>
      <p:pic>
        <p:nvPicPr>
          <p:cNvPr id="7" name="Picture 6"/>
          <p:cNvPicPr>
            <a:picLocks noChangeAspect="1"/>
          </p:cNvPicPr>
          <p:nvPr/>
        </p:nvPicPr>
        <p:blipFill>
          <a:blip r:embed="rId3"/>
          <a:stretch>
            <a:fillRect/>
          </a:stretch>
        </p:blipFill>
        <p:spPr>
          <a:xfrm>
            <a:off x="2898371" y="4029406"/>
            <a:ext cx="6262254" cy="2361632"/>
          </a:xfrm>
          <a:prstGeom prst="rect">
            <a:avLst/>
          </a:prstGeom>
        </p:spPr>
      </p:pic>
    </p:spTree>
    <p:extLst>
      <p:ext uri="{BB962C8B-B14F-4D97-AF65-F5344CB8AC3E}">
        <p14:creationId xmlns:p14="http://schemas.microsoft.com/office/powerpoint/2010/main" val="31214319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Educational software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31</a:t>
            </a:fld>
            <a:endParaRPr lang="en-US" dirty="0"/>
          </a:p>
        </p:txBody>
      </p:sp>
      <p:sp>
        <p:nvSpPr>
          <p:cNvPr id="4" name="Text Placeholder 3"/>
          <p:cNvSpPr>
            <a:spLocks noGrp="1"/>
          </p:cNvSpPr>
          <p:nvPr>
            <p:ph type="body" sz="quarter" idx="14"/>
          </p:nvPr>
        </p:nvSpPr>
        <p:spPr/>
        <p:txBody>
          <a:bodyPr/>
          <a:lstStyle/>
          <a:p>
            <a:r>
              <a:rPr lang="en-US" dirty="0" smtClean="0"/>
              <a:t>D</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Educational software</a:t>
            </a:r>
            <a:r>
              <a:rPr lang="en-US" dirty="0"/>
              <a:t> is used to acquire knowledge, enhance learning efficiency or assist educational workers in teaching students.</a:t>
            </a:r>
          </a:p>
        </p:txBody>
      </p:sp>
      <p:pic>
        <p:nvPicPr>
          <p:cNvPr id="6" name="Picture 5"/>
          <p:cNvPicPr>
            <a:picLocks noChangeAspect="1"/>
          </p:cNvPicPr>
          <p:nvPr/>
        </p:nvPicPr>
        <p:blipFill>
          <a:blip r:embed="rId2"/>
          <a:stretch>
            <a:fillRect/>
          </a:stretch>
        </p:blipFill>
        <p:spPr>
          <a:xfrm>
            <a:off x="939799" y="2512799"/>
            <a:ext cx="10243737" cy="3397549"/>
          </a:xfrm>
          <a:prstGeom prst="rect">
            <a:avLst/>
          </a:prstGeom>
        </p:spPr>
      </p:pic>
    </p:spTree>
    <p:extLst>
      <p:ext uri="{BB962C8B-B14F-4D97-AF65-F5344CB8AC3E}">
        <p14:creationId xmlns:p14="http://schemas.microsoft.com/office/powerpoint/2010/main" val="370011991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 of Operation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32</a:t>
            </a:fld>
            <a:endParaRPr lang="en-US" dirty="0"/>
          </a:p>
        </p:txBody>
      </p:sp>
      <p:sp>
        <p:nvSpPr>
          <p:cNvPr id="4" name="Text Placeholder 3"/>
          <p:cNvSpPr>
            <a:spLocks noGrp="1"/>
          </p:cNvSpPr>
          <p:nvPr>
            <p:ph type="body" sz="quarter" idx="14"/>
          </p:nvPr>
        </p:nvSpPr>
        <p:spPr/>
        <p:txBody>
          <a:bodyPr/>
          <a:lstStyle/>
          <a:p>
            <a:r>
              <a:rPr lang="en-US" dirty="0" smtClean="0"/>
              <a:t>3.4</a:t>
            </a:r>
            <a:endParaRPr lang="en-US" dirty="0"/>
          </a:p>
        </p:txBody>
      </p:sp>
      <p:sp>
        <p:nvSpPr>
          <p:cNvPr id="5" name="Content Placeholder 4"/>
          <p:cNvSpPr>
            <a:spLocks noGrp="1"/>
          </p:cNvSpPr>
          <p:nvPr>
            <p:ph sz="quarter" idx="15"/>
          </p:nvPr>
        </p:nvSpPr>
        <p:spPr/>
        <p:txBody>
          <a:bodyPr/>
          <a:lstStyle/>
          <a:p>
            <a:r>
              <a:rPr lang="en-US" dirty="0"/>
              <a:t>Different computers have different </a:t>
            </a:r>
            <a:r>
              <a:rPr lang="en-US" b="1" dirty="0">
                <a:solidFill>
                  <a:srgbClr val="504FA1"/>
                </a:solidFill>
              </a:rPr>
              <a:t>modes of operation</a:t>
            </a:r>
            <a:r>
              <a:rPr lang="en-US" dirty="0"/>
              <a:t>. These modes can be </a:t>
            </a:r>
            <a:r>
              <a:rPr lang="en-US" dirty="0" err="1"/>
              <a:t>categorised</a:t>
            </a:r>
            <a:r>
              <a:rPr lang="en-US" dirty="0"/>
              <a:t> by when to process and how to process</a:t>
            </a:r>
            <a:r>
              <a:rPr lang="en-US" dirty="0" smtClean="0"/>
              <a:t>. They include:</a:t>
            </a:r>
            <a:br>
              <a:rPr lang="en-US" dirty="0" smtClean="0"/>
            </a:br>
            <a:endParaRPr lang="en-US" dirty="0" smtClean="0"/>
          </a:p>
          <a:p>
            <a:pPr marL="342900" indent="-342900">
              <a:buFont typeface="Arial" panose="020B0604020202020204" pitchFamily="34" charset="0"/>
              <a:buChar char="•"/>
            </a:pPr>
            <a:r>
              <a:rPr lang="en-US" dirty="0" smtClean="0"/>
              <a:t>Batch processing</a:t>
            </a:r>
          </a:p>
          <a:p>
            <a:pPr marL="342900" indent="-342900">
              <a:buFont typeface="Arial" panose="020B0604020202020204" pitchFamily="34" charset="0"/>
              <a:buChar char="•"/>
            </a:pPr>
            <a:r>
              <a:rPr lang="en-US" dirty="0" smtClean="0"/>
              <a:t>Real-time processing</a:t>
            </a:r>
          </a:p>
          <a:p>
            <a:pPr marL="342900" indent="-342900">
              <a:buFont typeface="Arial" panose="020B0604020202020204" pitchFamily="34" charset="0"/>
              <a:buChar char="•"/>
            </a:pPr>
            <a:r>
              <a:rPr lang="en-US" dirty="0" smtClean="0"/>
              <a:t>Parallel processing</a:t>
            </a:r>
          </a:p>
          <a:p>
            <a:pPr marL="342900" indent="-342900">
              <a:buFont typeface="Arial" panose="020B0604020202020204" pitchFamily="34" charset="0"/>
              <a:buChar char="•"/>
            </a:pPr>
            <a:r>
              <a:rPr lang="en-US" dirty="0" smtClean="0"/>
              <a:t>Distributed processing</a:t>
            </a:r>
          </a:p>
          <a:p>
            <a:pPr marL="342900" indent="-342900">
              <a:buFont typeface="Arial" panose="020B0604020202020204" pitchFamily="34" charset="0"/>
              <a:buChar char="•"/>
            </a:pPr>
            <a:r>
              <a:rPr lang="en-US" dirty="0" err="1" smtClean="0"/>
              <a:t>Virtualisation</a:t>
            </a:r>
            <a:endParaRPr lang="en-US" dirty="0"/>
          </a:p>
        </p:txBody>
      </p:sp>
    </p:spTree>
    <p:extLst>
      <p:ext uri="{BB962C8B-B14F-4D97-AF65-F5344CB8AC3E}">
        <p14:creationId xmlns:p14="http://schemas.microsoft.com/office/powerpoint/2010/main" val="32703658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 processing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33</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batch processing</a:t>
            </a:r>
            <a:r>
              <a:rPr lang="en-US" dirty="0"/>
              <a:t> system collects data without immediately processing </a:t>
            </a:r>
            <a:r>
              <a:rPr lang="en-US" dirty="0" smtClean="0"/>
              <a:t>it</a:t>
            </a:r>
            <a:r>
              <a:rPr lang="en-US" dirty="0"/>
              <a:t>. Instead, data is processed in a batch at regular intervals. Its advantages </a:t>
            </a:r>
            <a:r>
              <a:rPr lang="en-US" dirty="0" smtClean="0"/>
              <a:t>include:</a:t>
            </a:r>
            <a:br>
              <a:rPr lang="en-US" dirty="0" smtClean="0"/>
            </a:br>
            <a:endParaRPr lang="en-US" dirty="0"/>
          </a:p>
          <a:p>
            <a:pPr marL="342900" indent="-342900">
              <a:buFont typeface="Arial" panose="020B0604020202020204" pitchFamily="34" charset="0"/>
              <a:buChar char="•"/>
            </a:pPr>
            <a:r>
              <a:rPr lang="en-US" dirty="0"/>
              <a:t>M</a:t>
            </a:r>
            <a:r>
              <a:rPr lang="en-US" dirty="0" smtClean="0"/>
              <a:t>aking </a:t>
            </a:r>
            <a:r>
              <a:rPr lang="en-US" dirty="0"/>
              <a:t>good use of idling system </a:t>
            </a:r>
            <a:r>
              <a:rPr lang="en-US" dirty="0" smtClean="0"/>
              <a:t>resources</a:t>
            </a:r>
            <a:endParaRPr lang="en-US" dirty="0"/>
          </a:p>
          <a:p>
            <a:pPr marL="342900" indent="-342900">
              <a:buFont typeface="Arial" panose="020B0604020202020204" pitchFamily="34" charset="0"/>
              <a:buChar char="•"/>
            </a:pPr>
            <a:r>
              <a:rPr lang="en-US" dirty="0"/>
              <a:t>P</a:t>
            </a:r>
            <a:r>
              <a:rPr lang="en-US" dirty="0" smtClean="0"/>
              <a:t>rocessing </a:t>
            </a:r>
            <a:r>
              <a:rPr lang="en-US" dirty="0"/>
              <a:t>a large volume of similar data in one </a:t>
            </a:r>
            <a:r>
              <a:rPr lang="en-US" dirty="0" smtClean="0"/>
              <a:t>go</a:t>
            </a:r>
            <a:endParaRPr lang="en-US" dirty="0"/>
          </a:p>
          <a:p>
            <a:pPr marL="342900" indent="-342900">
              <a:buFont typeface="Arial" panose="020B0604020202020204" pitchFamily="34" charset="0"/>
              <a:buChar char="•"/>
            </a:pPr>
            <a:r>
              <a:rPr lang="en-US" dirty="0"/>
              <a:t>R</a:t>
            </a:r>
            <a:r>
              <a:rPr lang="en-US" dirty="0" smtClean="0"/>
              <a:t>elatively </a:t>
            </a:r>
            <a:r>
              <a:rPr lang="en-US" dirty="0"/>
              <a:t>less expensive to operate and set </a:t>
            </a:r>
            <a:r>
              <a:rPr lang="en-US" dirty="0" smtClean="0"/>
              <a:t>up</a:t>
            </a:r>
            <a:endParaRPr lang="en-US" dirty="0"/>
          </a:p>
        </p:txBody>
      </p:sp>
      <p:pic>
        <p:nvPicPr>
          <p:cNvPr id="6" name="Picture 5"/>
          <p:cNvPicPr>
            <a:picLocks noChangeAspect="1"/>
          </p:cNvPicPr>
          <p:nvPr/>
        </p:nvPicPr>
        <p:blipFill>
          <a:blip r:embed="rId2"/>
          <a:stretch>
            <a:fillRect/>
          </a:stretch>
        </p:blipFill>
        <p:spPr>
          <a:xfrm>
            <a:off x="7957430" y="3759529"/>
            <a:ext cx="3924848" cy="2314898"/>
          </a:xfrm>
          <a:prstGeom prst="rect">
            <a:avLst/>
          </a:prstGeom>
        </p:spPr>
      </p:pic>
    </p:spTree>
    <p:extLst>
      <p:ext uri="{BB962C8B-B14F-4D97-AF65-F5344CB8AC3E}">
        <p14:creationId xmlns:p14="http://schemas.microsoft.com/office/powerpoint/2010/main" val="314312037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Real-time processing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34</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real-time processing</a:t>
            </a:r>
            <a:r>
              <a:rPr lang="en-US" dirty="0"/>
              <a:t> system processes data as soon as the data is received</a:t>
            </a:r>
            <a:r>
              <a:rPr lang="en-US" dirty="0" smtClean="0"/>
              <a:t>.</a:t>
            </a:r>
          </a:p>
          <a:p>
            <a:endParaRPr lang="en-US" dirty="0"/>
          </a:p>
          <a:p>
            <a:r>
              <a:rPr lang="en-US" dirty="0"/>
              <a:t>It allows users to get immediate responses that are up-to-date. However, it requires large computing power and main memory to keep its response time short.</a:t>
            </a:r>
          </a:p>
        </p:txBody>
      </p:sp>
      <p:pic>
        <p:nvPicPr>
          <p:cNvPr id="6" name="Picture 5"/>
          <p:cNvPicPr>
            <a:picLocks noChangeAspect="1"/>
          </p:cNvPicPr>
          <p:nvPr/>
        </p:nvPicPr>
        <p:blipFill>
          <a:blip r:embed="rId2"/>
          <a:stretch>
            <a:fillRect/>
          </a:stretch>
        </p:blipFill>
        <p:spPr>
          <a:xfrm>
            <a:off x="8333000" y="3500458"/>
            <a:ext cx="3020800" cy="2915518"/>
          </a:xfrm>
          <a:prstGeom prst="rect">
            <a:avLst/>
          </a:prstGeom>
        </p:spPr>
      </p:pic>
    </p:spTree>
    <p:extLst>
      <p:ext uri="{BB962C8B-B14F-4D97-AF65-F5344CB8AC3E}">
        <p14:creationId xmlns:p14="http://schemas.microsoft.com/office/powerpoint/2010/main" val="29060386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processing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35</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parallel processing</a:t>
            </a:r>
            <a:r>
              <a:rPr lang="en-US" dirty="0"/>
              <a:t> system usually consists of multiple processors and memory can be shared among these processors</a:t>
            </a:r>
            <a:r>
              <a:rPr lang="en-US" dirty="0" smtClean="0"/>
              <a:t>.</a:t>
            </a:r>
          </a:p>
          <a:p>
            <a:endParaRPr lang="en-US" dirty="0" smtClean="0"/>
          </a:p>
          <a:p>
            <a:endParaRPr lang="en-US" dirty="0"/>
          </a:p>
          <a:p>
            <a:r>
              <a:rPr lang="en-US" dirty="0"/>
              <a:t>The system may</a:t>
            </a:r>
            <a:r>
              <a:rPr lang="en-US" dirty="0" smtClean="0"/>
              <a:t>:</a:t>
            </a:r>
            <a:endParaRPr lang="en-US" dirty="0"/>
          </a:p>
          <a:p>
            <a:pPr marL="342900" indent="-342900">
              <a:buFont typeface="Arial" panose="020B0604020202020204" pitchFamily="34" charset="0"/>
              <a:buChar char="•"/>
            </a:pPr>
            <a:r>
              <a:rPr lang="en-US" dirty="0" smtClean="0"/>
              <a:t>Assign </a:t>
            </a:r>
            <a:r>
              <a:rPr lang="en-US" dirty="0"/>
              <a:t>a task for each processor so that multiple tasks </a:t>
            </a:r>
            <a:r>
              <a:rPr lang="en-US" dirty="0" smtClean="0"/>
              <a:t/>
            </a:r>
            <a:br>
              <a:rPr lang="en-US" dirty="0" smtClean="0"/>
            </a:br>
            <a:r>
              <a:rPr lang="en-US" dirty="0" smtClean="0"/>
              <a:t>are performed concurrently </a:t>
            </a:r>
            <a:r>
              <a:rPr lang="en-US" dirty="0"/>
              <a:t>to achieve </a:t>
            </a:r>
            <a:r>
              <a:rPr lang="en-US" dirty="0" smtClean="0"/>
              <a:t>multitasking</a:t>
            </a:r>
            <a:endParaRPr lang="en-US" dirty="0"/>
          </a:p>
          <a:p>
            <a:pPr marL="342900" indent="-342900">
              <a:buFont typeface="Arial" panose="020B0604020202020204" pitchFamily="34" charset="0"/>
              <a:buChar char="•"/>
            </a:pPr>
            <a:r>
              <a:rPr lang="en-US" dirty="0" smtClean="0"/>
              <a:t>Divide </a:t>
            </a:r>
            <a:r>
              <a:rPr lang="en-US" dirty="0"/>
              <a:t>a task into multiple portions and assign a portion for </a:t>
            </a:r>
            <a:r>
              <a:rPr lang="en-US" dirty="0" smtClean="0"/>
              <a:t/>
            </a:r>
            <a:br>
              <a:rPr lang="en-US" dirty="0" smtClean="0"/>
            </a:br>
            <a:r>
              <a:rPr lang="en-US" dirty="0" smtClean="0"/>
              <a:t>each processor </a:t>
            </a:r>
            <a:r>
              <a:rPr lang="en-US" dirty="0"/>
              <a:t>so that every </a:t>
            </a:r>
            <a:r>
              <a:rPr lang="en-US" dirty="0" smtClean="0"/>
              <a:t>portion is </a:t>
            </a:r>
            <a:r>
              <a:rPr lang="en-US" dirty="0"/>
              <a:t>performed </a:t>
            </a:r>
            <a:r>
              <a:rPr lang="en-US" dirty="0" smtClean="0"/>
              <a:t>concurrently</a:t>
            </a:r>
            <a:endParaRPr lang="en-US" dirty="0"/>
          </a:p>
        </p:txBody>
      </p:sp>
      <p:pic>
        <p:nvPicPr>
          <p:cNvPr id="6" name="Picture 5"/>
          <p:cNvPicPr>
            <a:picLocks noChangeAspect="1"/>
          </p:cNvPicPr>
          <p:nvPr/>
        </p:nvPicPr>
        <p:blipFill>
          <a:blip r:embed="rId2"/>
          <a:stretch>
            <a:fillRect/>
          </a:stretch>
        </p:blipFill>
        <p:spPr>
          <a:xfrm>
            <a:off x="7493365" y="3158603"/>
            <a:ext cx="4384502" cy="1581193"/>
          </a:xfrm>
          <a:prstGeom prst="rect">
            <a:avLst/>
          </a:prstGeom>
        </p:spPr>
      </p:pic>
    </p:spTree>
    <p:extLst>
      <p:ext uri="{BB962C8B-B14F-4D97-AF65-F5344CB8AC3E}">
        <p14:creationId xmlns:p14="http://schemas.microsoft.com/office/powerpoint/2010/main" val="6780281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processing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36</a:t>
            </a:fld>
            <a:endParaRPr lang="en-US" dirty="0"/>
          </a:p>
        </p:txBody>
      </p:sp>
      <p:sp>
        <p:nvSpPr>
          <p:cNvPr id="4" name="Text Placeholder 3"/>
          <p:cNvSpPr>
            <a:spLocks noGrp="1"/>
          </p:cNvSpPr>
          <p:nvPr>
            <p:ph type="body" sz="quarter" idx="14"/>
          </p:nvPr>
        </p:nvSpPr>
        <p:spPr/>
        <p:txBody>
          <a:bodyPr/>
          <a:lstStyle/>
          <a:p>
            <a:r>
              <a:rPr lang="en-US" dirty="0" smtClean="0"/>
              <a:t>D</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distributed processing</a:t>
            </a:r>
            <a:r>
              <a:rPr lang="en-US" dirty="0"/>
              <a:t> system consists of a high-speed network and multiple computers. A program or a computer is used to manage the interaction between these computers</a:t>
            </a:r>
            <a:r>
              <a:rPr lang="en-US" dirty="0" smtClean="0"/>
              <a:t>. </a:t>
            </a:r>
          </a:p>
          <a:p>
            <a:endParaRPr lang="en-US" dirty="0"/>
          </a:p>
          <a:p>
            <a:r>
              <a:rPr lang="en-US" dirty="0" smtClean="0"/>
              <a:t>H</a:t>
            </a:r>
            <a:r>
              <a:rPr lang="en-US" dirty="0" smtClean="0"/>
              <a:t>ere are the two characteristics of this system</a:t>
            </a:r>
            <a:r>
              <a:rPr lang="en-US" dirty="0" smtClean="0"/>
              <a:t>:</a:t>
            </a:r>
            <a:endParaRPr lang="en-US" dirty="0" smtClean="0"/>
          </a:p>
          <a:p>
            <a:pPr marL="342900" indent="-342900">
              <a:buFont typeface="Arial" panose="020B0604020202020204" pitchFamily="34" charset="0"/>
              <a:buChar char="•"/>
            </a:pPr>
            <a:r>
              <a:rPr lang="en-US" dirty="0" smtClean="0"/>
              <a:t>Has high scalability</a:t>
            </a:r>
            <a:endParaRPr lang="en-US" dirty="0" smtClean="0"/>
          </a:p>
          <a:p>
            <a:pPr marL="342900" indent="-342900">
              <a:buFont typeface="Arial" panose="020B0604020202020204" pitchFamily="34" charset="0"/>
              <a:buChar char="•"/>
            </a:pPr>
            <a:r>
              <a:rPr lang="en-US" dirty="0" smtClean="0"/>
              <a:t>Can achieve </a:t>
            </a:r>
            <a:r>
              <a:rPr lang="en-US" dirty="0" smtClean="0"/>
              <a:t>multitasking</a:t>
            </a:r>
          </a:p>
          <a:p>
            <a:endParaRPr lang="en-US" dirty="0" smtClean="0"/>
          </a:p>
          <a:p>
            <a:endParaRPr lang="en-US" dirty="0"/>
          </a:p>
        </p:txBody>
      </p:sp>
      <p:pic>
        <p:nvPicPr>
          <p:cNvPr id="6" name="Picture 5"/>
          <p:cNvPicPr>
            <a:picLocks noChangeAspect="1"/>
          </p:cNvPicPr>
          <p:nvPr/>
        </p:nvPicPr>
        <p:blipFill>
          <a:blip r:embed="rId2"/>
          <a:stretch>
            <a:fillRect/>
          </a:stretch>
        </p:blipFill>
        <p:spPr>
          <a:xfrm>
            <a:off x="6340899" y="3009240"/>
            <a:ext cx="5307565" cy="1879920"/>
          </a:xfrm>
          <a:prstGeom prst="rect">
            <a:avLst/>
          </a:prstGeom>
        </p:spPr>
      </p:pic>
    </p:spTree>
    <p:extLst>
      <p:ext uri="{BB962C8B-B14F-4D97-AF65-F5344CB8AC3E}">
        <p14:creationId xmlns:p14="http://schemas.microsoft.com/office/powerpoint/2010/main" val="17097234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Virtualisation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37</a:t>
            </a:fld>
            <a:endParaRPr lang="en-US" dirty="0"/>
          </a:p>
        </p:txBody>
      </p:sp>
      <p:sp>
        <p:nvSpPr>
          <p:cNvPr id="4" name="Text Placeholder 3"/>
          <p:cNvSpPr>
            <a:spLocks noGrp="1"/>
          </p:cNvSpPr>
          <p:nvPr>
            <p:ph type="body" sz="quarter" idx="14"/>
          </p:nvPr>
        </p:nvSpPr>
        <p:spPr/>
        <p:txBody>
          <a:bodyPr/>
          <a:lstStyle/>
          <a:p>
            <a:r>
              <a:rPr lang="en-US" dirty="0" smtClean="0"/>
              <a:t>E</a:t>
            </a:r>
            <a:endParaRPr lang="en-US" dirty="0"/>
          </a:p>
        </p:txBody>
      </p:sp>
      <p:sp>
        <p:nvSpPr>
          <p:cNvPr id="5" name="Content Placeholder 4"/>
          <p:cNvSpPr>
            <a:spLocks noGrp="1"/>
          </p:cNvSpPr>
          <p:nvPr>
            <p:ph sz="quarter" idx="15"/>
          </p:nvPr>
        </p:nvSpPr>
        <p:spPr/>
        <p:txBody>
          <a:bodyPr/>
          <a:lstStyle/>
          <a:p>
            <a:r>
              <a:rPr lang="en-US" b="1" dirty="0" err="1">
                <a:solidFill>
                  <a:srgbClr val="504FA1"/>
                </a:solidFill>
              </a:rPr>
              <a:t>Virtualisation</a:t>
            </a:r>
            <a:r>
              <a:rPr lang="en-US" dirty="0"/>
              <a:t> divides the computer hardware into multiple virtual portions with the help of utility </a:t>
            </a:r>
            <a:r>
              <a:rPr lang="en-US" dirty="0" smtClean="0"/>
              <a:t>programs to create a virtual machine.</a:t>
            </a:r>
          </a:p>
          <a:p>
            <a:endParaRPr lang="en-US" dirty="0"/>
          </a:p>
          <a:p>
            <a:r>
              <a:rPr lang="en-US" dirty="0" smtClean="0"/>
              <a:t>The virtual machine can</a:t>
            </a:r>
            <a:r>
              <a:rPr lang="en-US" dirty="0" smtClean="0"/>
              <a:t>:</a:t>
            </a:r>
            <a:endParaRPr lang="en-US" dirty="0" smtClean="0"/>
          </a:p>
          <a:p>
            <a:pPr marL="342900" indent="-342900">
              <a:buFont typeface="Arial" panose="020B0604020202020204" pitchFamily="34" charset="0"/>
              <a:buChar char="•"/>
            </a:pPr>
            <a:r>
              <a:rPr lang="en-US" dirty="0" smtClean="0"/>
              <a:t>run </a:t>
            </a:r>
            <a:r>
              <a:rPr lang="en-US" dirty="0"/>
              <a:t>an operating system different </a:t>
            </a:r>
            <a:r>
              <a:rPr lang="en-US" dirty="0" smtClean="0"/>
              <a:t>from </a:t>
            </a:r>
            <a:br>
              <a:rPr lang="en-US" dirty="0" smtClean="0"/>
            </a:br>
            <a:r>
              <a:rPr lang="en-US" dirty="0" smtClean="0"/>
              <a:t>the </a:t>
            </a:r>
            <a:r>
              <a:rPr lang="en-US" dirty="0"/>
              <a:t>original </a:t>
            </a:r>
            <a:r>
              <a:rPr lang="en-US" dirty="0" smtClean="0"/>
              <a:t>computer</a:t>
            </a:r>
            <a:endParaRPr lang="en-US" dirty="0" smtClean="0"/>
          </a:p>
          <a:p>
            <a:pPr marL="342900" indent="-342900">
              <a:buFont typeface="Arial" panose="020B0604020202020204" pitchFamily="34" charset="0"/>
              <a:buChar char="•"/>
            </a:pPr>
            <a:r>
              <a:rPr lang="en-US" dirty="0" smtClean="0"/>
              <a:t>install </a:t>
            </a:r>
            <a:r>
              <a:rPr lang="en-US" dirty="0"/>
              <a:t>software that is not compatible with </a:t>
            </a:r>
            <a:r>
              <a:rPr lang="en-US" dirty="0" smtClean="0"/>
              <a:t/>
            </a:r>
            <a:br>
              <a:rPr lang="en-US" dirty="0" smtClean="0"/>
            </a:br>
            <a:r>
              <a:rPr lang="en-US" dirty="0" smtClean="0"/>
              <a:t>the </a:t>
            </a:r>
            <a:r>
              <a:rPr lang="en-US" dirty="0"/>
              <a:t>operating system of </a:t>
            </a:r>
            <a:r>
              <a:rPr lang="en-US" dirty="0" smtClean="0"/>
              <a:t>the </a:t>
            </a:r>
            <a:r>
              <a:rPr lang="en-US" dirty="0"/>
              <a:t>original computer.</a:t>
            </a:r>
          </a:p>
        </p:txBody>
      </p:sp>
      <p:pic>
        <p:nvPicPr>
          <p:cNvPr id="6" name="Picture 5"/>
          <p:cNvPicPr>
            <a:picLocks noChangeAspect="1"/>
          </p:cNvPicPr>
          <p:nvPr/>
        </p:nvPicPr>
        <p:blipFill>
          <a:blip r:embed="rId2"/>
          <a:stretch>
            <a:fillRect/>
          </a:stretch>
        </p:blipFill>
        <p:spPr>
          <a:xfrm>
            <a:off x="7300359" y="2747199"/>
            <a:ext cx="4053441" cy="3187359"/>
          </a:xfrm>
          <a:prstGeom prst="rect">
            <a:avLst/>
          </a:prstGeom>
        </p:spPr>
      </p:pic>
    </p:spTree>
    <p:extLst>
      <p:ext uri="{BB962C8B-B14F-4D97-AF65-F5344CB8AC3E}">
        <p14:creationId xmlns:p14="http://schemas.microsoft.com/office/powerpoint/2010/main" val="698227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Which of the following statement about modes of operations are correct?</a:t>
            </a:r>
            <a:br>
              <a:rPr lang="en-US" dirty="0"/>
            </a:br>
            <a:endParaRPr lang="en-US" dirty="0"/>
          </a:p>
          <a:p>
            <a:pPr marL="1257300" lvl="2" indent="-342900">
              <a:buSzPct val="100000"/>
              <a:buAutoNum type="arabicParenBoth"/>
            </a:pPr>
            <a:r>
              <a:rPr lang="en-US" sz="2000" dirty="0"/>
              <a:t>Distributed processing requires network connectivity</a:t>
            </a:r>
            <a:r>
              <a:rPr lang="en-US" sz="2000" dirty="0" smtClean="0"/>
              <a:t>.</a:t>
            </a:r>
          </a:p>
          <a:p>
            <a:pPr marL="1257300" lvl="2" indent="-342900">
              <a:buSzPct val="100000"/>
              <a:buAutoNum type="arabicParenBoth"/>
            </a:pPr>
            <a:r>
              <a:rPr lang="en-US" sz="2000" dirty="0"/>
              <a:t>Batch processing does not process data once the data is received</a:t>
            </a:r>
            <a:r>
              <a:rPr lang="en-US" sz="2000" dirty="0" smtClean="0"/>
              <a:t>.</a:t>
            </a:r>
          </a:p>
          <a:p>
            <a:pPr marL="1257300" lvl="2" indent="-342900">
              <a:buSzPct val="100000"/>
              <a:buAutoNum type="arabicParenBoth"/>
            </a:pPr>
            <a:r>
              <a:rPr lang="en-US" sz="2000" dirty="0"/>
              <a:t>Parallel processing can divide a task into multiple subtasks and assign them to different computers to process concurrently.</a:t>
            </a:r>
            <a:br>
              <a:rPr lang="en-US" sz="2000" dirty="0"/>
            </a:br>
            <a:endParaRPr lang="en-US" sz="2000" dirty="0"/>
          </a:p>
          <a:p>
            <a:pPr marL="800100" lvl="1" indent="-342900">
              <a:buSzPct val="100000"/>
              <a:buAutoNum type="alphaUcPeriod"/>
            </a:pPr>
            <a:r>
              <a:rPr lang="en-HK" sz="2000" dirty="0"/>
              <a:t>(1) </a:t>
            </a:r>
            <a:r>
              <a:rPr lang="en-HK" sz="2000" dirty="0" smtClean="0"/>
              <a:t>and (2) only</a:t>
            </a:r>
            <a:endParaRPr lang="en-HK" sz="2000" dirty="0"/>
          </a:p>
          <a:p>
            <a:pPr marL="800100" lvl="1" indent="-342900">
              <a:buSzPct val="100000"/>
              <a:buAutoNum type="alphaUcPeriod"/>
            </a:pPr>
            <a:r>
              <a:rPr lang="en-HK" sz="2000" dirty="0" smtClean="0"/>
              <a:t>(1) and (3) </a:t>
            </a:r>
            <a:r>
              <a:rPr lang="en-HK" sz="2000" dirty="0"/>
              <a:t>only</a:t>
            </a:r>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HK" sz="2000" dirty="0" smtClean="0"/>
              <a:t>(1), (2</a:t>
            </a:r>
            <a:r>
              <a:rPr lang="en-HK" sz="2000" dirty="0"/>
              <a:t>) and (3</a:t>
            </a:r>
            <a:r>
              <a:rPr lang="en-HK" sz="2000" dirty="0" smtClean="0"/>
              <a: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38</a:t>
            </a:fld>
            <a:endParaRPr lang="en-US" dirty="0"/>
          </a:p>
        </p:txBody>
      </p:sp>
      <p:sp>
        <p:nvSpPr>
          <p:cNvPr id="4" name="Text Placeholder 3"/>
          <p:cNvSpPr>
            <a:spLocks noGrp="1"/>
          </p:cNvSpPr>
          <p:nvPr>
            <p:ph type="body" sz="quarter" idx="13"/>
          </p:nvPr>
        </p:nvSpPr>
        <p:spPr/>
        <p:txBody>
          <a:bodyPr/>
          <a:lstStyle/>
          <a:p>
            <a:r>
              <a:rPr lang="en-US" dirty="0" smtClean="0"/>
              <a:t>3.2</a:t>
            </a:r>
            <a:endParaRPr lang="en-US" dirty="0"/>
          </a:p>
        </p:txBody>
      </p:sp>
    </p:spTree>
    <p:extLst>
      <p:ext uri="{BB962C8B-B14F-4D97-AF65-F5344CB8AC3E}">
        <p14:creationId xmlns:p14="http://schemas.microsoft.com/office/powerpoint/2010/main" val="15759735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item (1), distributed processing assigns tasks or subtasks to different computers with the help of a </a:t>
            </a:r>
            <a:r>
              <a:rPr lang="en-US" dirty="0" smtClean="0"/>
              <a:t>network</a:t>
            </a:r>
            <a:r>
              <a:rPr lang="en-US" dirty="0"/>
              <a:t>. Therefore, network connectivity is a must for distributed processing</a:t>
            </a:r>
            <a:r>
              <a:rPr lang="en-US" dirty="0" smtClean="0"/>
              <a:t>.</a:t>
            </a:r>
            <a:br>
              <a:rPr lang="en-US" dirty="0" smtClean="0"/>
            </a:br>
            <a:r>
              <a:rPr lang="en-US" dirty="0" smtClean="0"/>
              <a:t>For </a:t>
            </a:r>
            <a:r>
              <a:rPr lang="en-US" dirty="0"/>
              <a:t>item (2), batch processing processes data in a batch at regular intervals, instead of processing </a:t>
            </a:r>
            <a:r>
              <a:rPr lang="en-US" dirty="0" smtClean="0"/>
              <a:t>immediately </a:t>
            </a:r>
            <a:r>
              <a:rPr lang="en-US" dirty="0"/>
              <a:t>after the data is received</a:t>
            </a:r>
            <a:r>
              <a:rPr lang="en-US" dirty="0" smtClean="0"/>
              <a:t>.</a:t>
            </a:r>
            <a:endParaRPr lang="en-US" dirty="0"/>
          </a:p>
          <a:p>
            <a:pPr>
              <a:buSzPct val="100000"/>
            </a:pPr>
            <a:r>
              <a:rPr lang="en-US" dirty="0"/>
              <a:t>For item </a:t>
            </a:r>
            <a:r>
              <a:rPr lang="en-US" dirty="0" smtClean="0"/>
              <a:t>(3), </a:t>
            </a:r>
            <a:r>
              <a:rPr lang="en-US" dirty="0"/>
              <a:t>parallel processing assigns tasks or subtasks to different processors, not computers</a:t>
            </a:r>
            <a:r>
              <a:rPr lang="en-US" dirty="0" smtClean="0"/>
              <a:t>.</a:t>
            </a:r>
            <a:br>
              <a:rPr lang="en-US" dirty="0" smtClean="0"/>
            </a:b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a:t>
            </a:r>
            <a:r>
              <a:rPr lang="en-HK" dirty="0" smtClean="0"/>
              <a:t>A.</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39</a:t>
            </a:fld>
            <a:endParaRPr lang="en-US" dirty="0"/>
          </a:p>
        </p:txBody>
      </p:sp>
      <p:sp>
        <p:nvSpPr>
          <p:cNvPr id="4" name="Text Placeholder 3"/>
          <p:cNvSpPr>
            <a:spLocks noGrp="1"/>
          </p:cNvSpPr>
          <p:nvPr>
            <p:ph type="body" sz="quarter" idx="13"/>
          </p:nvPr>
        </p:nvSpPr>
        <p:spPr/>
        <p:txBody>
          <a:bodyPr/>
          <a:lstStyle/>
          <a:p>
            <a:r>
              <a:rPr lang="en-US" dirty="0" smtClean="0"/>
              <a:t>3.2</a:t>
            </a:r>
            <a:endParaRPr lang="en-US" dirty="0"/>
          </a:p>
        </p:txBody>
      </p:sp>
    </p:spTree>
    <p:extLst>
      <p:ext uri="{BB962C8B-B14F-4D97-AF65-F5344CB8AC3E}">
        <p14:creationId xmlns:p14="http://schemas.microsoft.com/office/powerpoint/2010/main" val="23143873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buFont typeface="+mj-lt"/>
              <a:buAutoNum type="arabicPeriod" startAt="2"/>
            </a:pPr>
            <a:r>
              <a:rPr lang="en-US" dirty="0"/>
              <a:t>Owen wants to create a virtual machine so that he can play mobile games on his computer. </a:t>
            </a:r>
            <a:r>
              <a:rPr lang="en-US" dirty="0" smtClean="0"/>
              <a:t>Excluding the </a:t>
            </a:r>
            <a:r>
              <a:rPr lang="en-US" dirty="0"/>
              <a:t>mobile games, which of the following does he need?</a:t>
            </a:r>
            <a:r>
              <a:rPr lang="en-US" dirty="0"/>
              <a:t/>
            </a:r>
            <a:br>
              <a:rPr lang="en-US" dirty="0"/>
            </a:br>
            <a:endParaRPr lang="en-US" dirty="0"/>
          </a:p>
          <a:p>
            <a:pPr marL="1257300" lvl="2" indent="-342900">
              <a:buSzPct val="100000"/>
              <a:buAutoNum type="arabicParenBoth"/>
            </a:pPr>
            <a:r>
              <a:rPr lang="en-US" sz="2000" dirty="0"/>
              <a:t>Application </a:t>
            </a:r>
            <a:r>
              <a:rPr lang="en-US" sz="2000" dirty="0" smtClean="0"/>
              <a:t>software</a:t>
            </a:r>
            <a:endParaRPr lang="en-US" sz="2000" dirty="0"/>
          </a:p>
          <a:p>
            <a:pPr marL="1257300" lvl="2" indent="-342900">
              <a:buSzPct val="100000"/>
              <a:buAutoNum type="arabicParenBoth"/>
            </a:pPr>
            <a:r>
              <a:rPr lang="en-US" sz="2000" dirty="0"/>
              <a:t>Operating </a:t>
            </a:r>
            <a:r>
              <a:rPr lang="en-US" sz="2000" dirty="0" smtClean="0"/>
              <a:t>system</a:t>
            </a:r>
            <a:endParaRPr lang="en-US" sz="2000" dirty="0"/>
          </a:p>
          <a:p>
            <a:pPr marL="1257300" lvl="2" indent="-342900">
              <a:buSzPct val="100000"/>
              <a:buAutoNum type="arabicParenBoth"/>
            </a:pPr>
            <a:r>
              <a:rPr lang="en-US" sz="2000" dirty="0"/>
              <a:t>Utility </a:t>
            </a:r>
            <a:r>
              <a:rPr lang="en-US" sz="2000" dirty="0" smtClean="0"/>
              <a:t>program</a:t>
            </a:r>
            <a:r>
              <a:rPr lang="en-US" sz="2000" dirty="0"/>
              <a:t/>
            </a:r>
            <a:br>
              <a:rPr lang="en-US" sz="2000" dirty="0"/>
            </a:br>
            <a:endParaRPr lang="en-US" sz="2000" dirty="0"/>
          </a:p>
          <a:p>
            <a:pPr marL="800100" lvl="1" indent="-342900">
              <a:buSzPct val="100000"/>
              <a:buAutoNum type="alphaUcPeriod"/>
            </a:pPr>
            <a:r>
              <a:rPr lang="en-HK" sz="2000" dirty="0"/>
              <a:t>(1</a:t>
            </a:r>
            <a:r>
              <a:rPr lang="en-HK" sz="2000" dirty="0" smtClean="0"/>
              <a:t>) and (2) </a:t>
            </a:r>
            <a:r>
              <a:rPr lang="en-HK" sz="2000" dirty="0"/>
              <a:t>only</a:t>
            </a:r>
          </a:p>
          <a:p>
            <a:pPr marL="800100" lvl="1" indent="-342900">
              <a:buSzPct val="100000"/>
              <a:buAutoNum type="alphaUcPeriod"/>
            </a:pPr>
            <a:r>
              <a:rPr lang="en-HK" sz="2000" dirty="0" smtClean="0"/>
              <a:t>(1) and (3) </a:t>
            </a:r>
            <a:r>
              <a:rPr lang="en-HK" sz="2000" dirty="0"/>
              <a:t>only</a:t>
            </a:r>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US" sz="2000" dirty="0" smtClean="0"/>
              <a:t>(1), (2) and (3)</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40</a:t>
            </a:fld>
            <a:endParaRPr lang="en-US" dirty="0"/>
          </a:p>
        </p:txBody>
      </p:sp>
      <p:sp>
        <p:nvSpPr>
          <p:cNvPr id="4" name="Text Placeholder 3"/>
          <p:cNvSpPr>
            <a:spLocks noGrp="1"/>
          </p:cNvSpPr>
          <p:nvPr>
            <p:ph type="body" sz="quarter" idx="13"/>
          </p:nvPr>
        </p:nvSpPr>
        <p:spPr/>
        <p:txBody>
          <a:bodyPr/>
          <a:lstStyle/>
          <a:p>
            <a:r>
              <a:rPr lang="en-US" dirty="0" smtClean="0"/>
              <a:t>3.2</a:t>
            </a:r>
            <a:endParaRPr lang="en-US" dirty="0"/>
          </a:p>
        </p:txBody>
      </p:sp>
    </p:spTree>
    <p:extLst>
      <p:ext uri="{BB962C8B-B14F-4D97-AF65-F5344CB8AC3E}">
        <p14:creationId xmlns:p14="http://schemas.microsoft.com/office/powerpoint/2010/main" val="25010716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To create a virtual machine, Owen needs a utility program to divide the computer hardware into multiple virtual portions. After that, he needs to install a mobile OS on his computer. Application software is not needed</a:t>
            </a:r>
            <a:r>
              <a:rPr lang="en-US" dirty="0" smtClean="0"/>
              <a:t>.</a:t>
            </a:r>
            <a:br>
              <a:rPr lang="en-US" dirty="0" smtClean="0"/>
            </a:b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HK" dirty="0"/>
              <a:t>The answer is </a:t>
            </a:r>
            <a:r>
              <a:rPr lang="en-HK" dirty="0" smtClean="0"/>
              <a:t>C.</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41</a:t>
            </a:fld>
            <a:endParaRPr lang="en-US" dirty="0"/>
          </a:p>
        </p:txBody>
      </p:sp>
      <p:sp>
        <p:nvSpPr>
          <p:cNvPr id="4" name="Text Placeholder 3"/>
          <p:cNvSpPr>
            <a:spLocks noGrp="1"/>
          </p:cNvSpPr>
          <p:nvPr>
            <p:ph type="body" sz="quarter" idx="13"/>
          </p:nvPr>
        </p:nvSpPr>
        <p:spPr/>
        <p:txBody>
          <a:bodyPr/>
          <a:lstStyle/>
          <a:p>
            <a:r>
              <a:rPr lang="en-US" dirty="0" smtClean="0"/>
              <a:t>3.2</a:t>
            </a:r>
            <a:endParaRPr lang="en-US" dirty="0"/>
          </a:p>
        </p:txBody>
      </p:sp>
    </p:spTree>
    <p:extLst>
      <p:ext uri="{BB962C8B-B14F-4D97-AF65-F5344CB8AC3E}">
        <p14:creationId xmlns:p14="http://schemas.microsoft.com/office/powerpoint/2010/main" val="2350980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Cindy wants to create an online ticket system for her cinema. Which systems would you suggest, batch processing system or real-time processing system? Explain </a:t>
            </a:r>
            <a:r>
              <a:rPr lang="en-US" dirty="0" smtClean="0"/>
              <a:t>briefly.</a:t>
            </a:r>
            <a:br>
              <a:rPr lang="en-US" dirty="0" smtClean="0"/>
            </a:br>
            <a:endParaRPr lang="en-US" dirty="0" smtClean="0"/>
          </a:p>
          <a:p>
            <a:pPr lvl="1"/>
            <a:r>
              <a:rPr lang="en-US" dirty="0">
                <a:solidFill>
                  <a:srgbClr val="FF0000"/>
                </a:solidFill>
              </a:rPr>
              <a:t>Real-time processing system. Customers need to know which seats are available (or whether there are available seats) when deciding which tickets to buy (or whether to buy tickets or not). Therefore, the system must update immediately after each successful transaction, otherwise, the ticket of a seat may be bought by multiple customers (or there may not be enough seats for all customers that have bought tickets</a:t>
            </a:r>
            <a:r>
              <a:rPr lang="en-US" dirty="0" smtClean="0">
                <a:solidFill>
                  <a:srgbClr val="FF0000"/>
                </a:solidFill>
              </a:rPr>
              <a:t>).</a:t>
            </a:r>
          </a:p>
          <a:p>
            <a:pPr lvl="1"/>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42</a:t>
            </a:fld>
            <a:endParaRPr lang="en-US" dirty="0"/>
          </a:p>
        </p:txBody>
      </p:sp>
      <p:sp>
        <p:nvSpPr>
          <p:cNvPr id="4" name="Text Placeholder 3"/>
          <p:cNvSpPr>
            <a:spLocks noGrp="1"/>
          </p:cNvSpPr>
          <p:nvPr>
            <p:ph type="body" sz="quarter" idx="13"/>
          </p:nvPr>
        </p:nvSpPr>
        <p:spPr/>
        <p:txBody>
          <a:bodyPr/>
          <a:lstStyle/>
          <a:p>
            <a:r>
              <a:rPr lang="en-US" dirty="0" smtClean="0"/>
              <a:t>3.2</a:t>
            </a:r>
            <a:endParaRPr lang="en-US" dirty="0"/>
          </a:p>
        </p:txBody>
      </p:sp>
    </p:spTree>
    <p:extLst>
      <p:ext uri="{BB962C8B-B14F-4D97-AF65-F5344CB8AC3E}">
        <p14:creationId xmlns:p14="http://schemas.microsoft.com/office/powerpoint/2010/main" val="6634013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Every day, people put letters into a post-box. At 6 o’clock, a postman collects all the letters from the post-box and immediately delivers every letter to its target locations. Which mode of operation, batch processing or real-time processing, is the closest description to the postman’s job? Explain briefly.</a:t>
            </a:r>
            <a:br>
              <a:rPr lang="en-US" dirty="0"/>
            </a:br>
            <a:r>
              <a:rPr lang="en-US" dirty="0"/>
              <a:t/>
            </a:r>
            <a:br>
              <a:rPr lang="en-US" dirty="0"/>
            </a:br>
            <a:r>
              <a:rPr lang="en-US" dirty="0">
                <a:solidFill>
                  <a:srgbClr val="FF0000"/>
                </a:solidFill>
              </a:rPr>
              <a:t>Batch processing. The postman does not deliver every letter as soon as it is dropped into the post-box. They only deliver the letters at a regular time interval.</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43</a:t>
            </a:fld>
            <a:endParaRPr lang="en-US" dirty="0"/>
          </a:p>
        </p:txBody>
      </p:sp>
      <p:sp>
        <p:nvSpPr>
          <p:cNvPr id="4" name="Text Placeholder 3"/>
          <p:cNvSpPr>
            <a:spLocks noGrp="1"/>
          </p:cNvSpPr>
          <p:nvPr>
            <p:ph type="body" sz="quarter" idx="13"/>
          </p:nvPr>
        </p:nvSpPr>
        <p:spPr/>
        <p:txBody>
          <a:bodyPr/>
          <a:lstStyle/>
          <a:p>
            <a:r>
              <a:rPr lang="en-US" dirty="0" smtClean="0"/>
              <a:t>3.2</a:t>
            </a:r>
            <a:endParaRPr lang="en-US" dirty="0"/>
          </a:p>
        </p:txBody>
      </p:sp>
    </p:spTree>
    <p:extLst>
      <p:ext uri="{BB962C8B-B14F-4D97-AF65-F5344CB8AC3E}">
        <p14:creationId xmlns:p14="http://schemas.microsoft.com/office/powerpoint/2010/main" val="4876384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20801">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DSEPPT_EN_Kelie_20220801" id="{6A643CDD-4324-4CDB-A99F-5B6D7C095AD8}" vid="{541C2CAE-1C37-4D60-9199-C14FA6BC1DD0}"/>
    </a:ext>
  </a:extLst>
</a:theme>
</file>

<file path=docProps/app.xml><?xml version="1.0" encoding="utf-8"?>
<Properties xmlns="http://schemas.openxmlformats.org/officeDocument/2006/extended-properties" xmlns:vt="http://schemas.openxmlformats.org/officeDocument/2006/docPropsVTypes">
  <Template>Template</Template>
  <TotalTime>4239</TotalTime>
  <Words>1216</Words>
  <Application>Microsoft Office PowerPoint</Application>
  <PresentationFormat>寬螢幕</PresentationFormat>
  <Paragraphs>247</Paragraphs>
  <Slides>43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43</vt:i4>
      </vt:variant>
    </vt:vector>
  </HeadingPairs>
  <TitlesOfParts>
    <vt:vector size="49" baseType="lpstr">
      <vt:lpstr>Noto Sans CJK KR Black</vt:lpstr>
      <vt:lpstr>Noto Sans CJK TC Regular</vt:lpstr>
      <vt:lpstr>Arial</vt:lpstr>
      <vt:lpstr>Myriad Pro</vt:lpstr>
      <vt:lpstr>Tw Cen MT</vt:lpstr>
      <vt:lpstr>DSEPPT_EN_Kelie_20220801</vt:lpstr>
      <vt:lpstr>Chapter 3 Computer Software</vt:lpstr>
      <vt:lpstr>PowerPoint 簡報</vt:lpstr>
      <vt:lpstr>Computer System</vt:lpstr>
      <vt:lpstr>Computer System</vt:lpstr>
      <vt:lpstr>Computer System</vt:lpstr>
      <vt:lpstr>System Software</vt:lpstr>
      <vt:lpstr>Operating system</vt:lpstr>
      <vt:lpstr>Operating system</vt:lpstr>
      <vt:lpstr>Operating system</vt:lpstr>
      <vt:lpstr>Operating system</vt:lpstr>
      <vt:lpstr>Operating system</vt:lpstr>
      <vt:lpstr>Operating system</vt:lpstr>
      <vt:lpstr>Operating system</vt:lpstr>
      <vt:lpstr>Operating system</vt:lpstr>
      <vt:lpstr>Utility program</vt:lpstr>
      <vt:lpstr>Utility program</vt:lpstr>
      <vt:lpstr>Utility program</vt:lpstr>
      <vt:lpstr>Utility program</vt:lpstr>
      <vt:lpstr>Utility program</vt:lpstr>
      <vt:lpstr>Utility program</vt:lpstr>
      <vt:lpstr>Driver program</vt:lpstr>
      <vt:lpstr>PowerPoint 簡報</vt:lpstr>
      <vt:lpstr>PowerPoint 簡報</vt:lpstr>
      <vt:lpstr>PowerPoint 簡報</vt:lpstr>
      <vt:lpstr>PowerPoint 簡報</vt:lpstr>
      <vt:lpstr>PowerPoint 簡報</vt:lpstr>
      <vt:lpstr>Application Software</vt:lpstr>
      <vt:lpstr>Productivity software</vt:lpstr>
      <vt:lpstr>Communication software</vt:lpstr>
      <vt:lpstr>Media development software</vt:lpstr>
      <vt:lpstr>Educational software</vt:lpstr>
      <vt:lpstr>Mode of Operation</vt:lpstr>
      <vt:lpstr>Batch processing</vt:lpstr>
      <vt:lpstr>Real-time processing</vt:lpstr>
      <vt:lpstr>Parallel processing</vt:lpstr>
      <vt:lpstr>Distributed processing</vt:lpstr>
      <vt:lpstr>Virtualisation</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Computer Software</dc:title>
  <dc:creator>iClass</dc:creator>
  <cp:lastModifiedBy>Cherry</cp:lastModifiedBy>
  <cp:revision>24</cp:revision>
  <dcterms:created xsi:type="dcterms:W3CDTF">2022-08-22T01:11:47Z</dcterms:created>
  <dcterms:modified xsi:type="dcterms:W3CDTF">2022-08-29T03:25:52Z</dcterms:modified>
</cp:coreProperties>
</file>