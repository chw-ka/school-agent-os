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6" r:id="rId2"/>
    <p:sldId id="287" r:id="rId3"/>
    <p:sldId id="257" r:id="rId4"/>
    <p:sldId id="258" r:id="rId5"/>
    <p:sldId id="259" r:id="rId6"/>
    <p:sldId id="260" r:id="rId7"/>
    <p:sldId id="261" r:id="rId8"/>
    <p:sldId id="262" r:id="rId9"/>
    <p:sldId id="263" r:id="rId10"/>
    <p:sldId id="264" r:id="rId11"/>
    <p:sldId id="265" r:id="rId12"/>
    <p:sldId id="266" r:id="rId13"/>
    <p:sldId id="269" r:id="rId14"/>
    <p:sldId id="268" r:id="rId15"/>
    <p:sldId id="271" r:id="rId16"/>
    <p:sldId id="270" r:id="rId17"/>
    <p:sldId id="272" r:id="rId18"/>
    <p:sldId id="267" r:id="rId19"/>
    <p:sldId id="274" r:id="rId20"/>
    <p:sldId id="275" r:id="rId21"/>
    <p:sldId id="276" r:id="rId22"/>
    <p:sldId id="273" r:id="rId23"/>
    <p:sldId id="277" r:id="rId24"/>
    <p:sldId id="278" r:id="rId25"/>
    <p:sldId id="279" r:id="rId26"/>
    <p:sldId id="280" r:id="rId27"/>
    <p:sldId id="281" r:id="rId28"/>
    <p:sldId id="283" r:id="rId29"/>
    <p:sldId id="282" r:id="rId30"/>
    <p:sldId id="284" r:id="rId31"/>
    <p:sldId id="285" r:id="rId32"/>
    <p:sldId id="28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A3D4"/>
    <a:srgbClr val="145897"/>
    <a:srgbClr val="504E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0" d="100"/>
          <a:sy n="60" d="100"/>
        </p:scale>
        <p:origin x="72" y="130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xmlns=""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xmlns=""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xmlns=""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xmlns=""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xmlns=""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xmlns=""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xmlns=""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xmlns=""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xmlns=""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xmlns=""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xmlns=""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xmlns=""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xmlns=""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xmlns="" id="{3CC61186-C2CB-33BF-880D-468C0FE8B484}"/>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xmlns=""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xmlns=""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xmlns=""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xmlns=""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xmlns=""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xmlns=""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xmlns=""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xmlns=""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xmlns=""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xmlns=""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xmlns=""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xmlns=""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a:extLst>
              <a:ext uri="{FF2B5EF4-FFF2-40B4-BE49-F238E27FC236}">
                <a16:creationId xmlns:a16="http://schemas.microsoft.com/office/drawing/2014/main" xmlns=""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xmlns=""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xmlns=""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xmlns=""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xmlns=""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xmlns=""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xmlns=""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xmlns=""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0" name="Picture Placeholder 9">
            <a:extLst>
              <a:ext uri="{FF2B5EF4-FFF2-40B4-BE49-F238E27FC236}">
                <a16:creationId xmlns:a16="http://schemas.microsoft.com/office/drawing/2014/main" xmlns=""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smtClean="0"/>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xmlns="" id="{210F294E-2671-69F2-AD8E-91EF65CCF609}"/>
              </a:ext>
            </a:extLst>
          </p:cNvPr>
          <p:cNvSpPr>
            <a:spLocks noGrp="1"/>
          </p:cNvSpPr>
          <p:nvPr>
            <p:ph type="dt" sz="half" idx="10"/>
          </p:nvPr>
        </p:nvSpPr>
        <p:spPr/>
        <p:txBody>
          <a:bodyPr/>
          <a:lstStyle/>
          <a:p>
            <a:fld id="{F07CE581-C706-43BB-9E93-1B4DA785C440}" type="datetime1">
              <a:rPr lang="en-US" smtClean="0"/>
              <a:t>8/17/2022</a:t>
            </a:fld>
            <a:endParaRPr lang="en-US" dirty="0"/>
          </a:p>
        </p:txBody>
      </p:sp>
      <p:sp>
        <p:nvSpPr>
          <p:cNvPr id="12" name="Footer Placeholder 11">
            <a:extLst>
              <a:ext uri="{FF2B5EF4-FFF2-40B4-BE49-F238E27FC236}">
                <a16:creationId xmlns:a16="http://schemas.microsoft.com/office/drawing/2014/main" xmlns=""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xmlns=""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615CB804-96AA-A5E1-7170-B54411166665}"/>
              </a:ext>
            </a:extLst>
          </p:cNvPr>
          <p:cNvPicPr>
            <a:picLocks noChangeAspect="1"/>
          </p:cNvPicPr>
          <p:nvPr/>
        </p:nvPicPr>
        <p:blipFill>
          <a:blip r:embed="rId31"/>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8/17/2022</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xmlns=""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21" r:id="rId12"/>
    <p:sldLayoutId id="2147483722" r:id="rId13"/>
    <p:sldLayoutId id="2147483723" r:id="rId14"/>
    <p:sldLayoutId id="2147483724" r:id="rId15"/>
    <p:sldLayoutId id="2147483706" r:id="rId16"/>
    <p:sldLayoutId id="2147483707" r:id="rId17"/>
    <p:sldLayoutId id="2147483708" r:id="rId18"/>
    <p:sldLayoutId id="2147483709" r:id="rId19"/>
    <p:sldLayoutId id="2147483712" r:id="rId20"/>
    <p:sldLayoutId id="2147483714" r:id="rId21"/>
    <p:sldLayoutId id="2147483715" r:id="rId22"/>
    <p:sldLayoutId id="2147483716" r:id="rId23"/>
    <p:sldLayoutId id="2147483717" r:id="rId24"/>
    <p:sldLayoutId id="2147483718" r:id="rId25"/>
    <p:sldLayoutId id="2147483719" r:id="rId26"/>
    <p:sldLayoutId id="2147483720" r:id="rId27"/>
    <p:sldLayoutId id="2147483710" r:id="rId28"/>
    <p:sldLayoutId id="2147483711" r:id="rId29"/>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Chapter 2</a:t>
            </a:r>
            <a:br>
              <a:rPr lang="en-HK" dirty="0" smtClean="0"/>
            </a:br>
            <a:r>
              <a:rPr lang="en-HK" dirty="0" smtClean="0"/>
              <a:t>Data Control and Data Organisation</a:t>
            </a:r>
            <a:endParaRPr lang="en-US" dirty="0"/>
          </a:p>
        </p:txBody>
      </p:sp>
    </p:spTree>
    <p:extLst>
      <p:ext uri="{BB962C8B-B14F-4D97-AF65-F5344CB8AC3E}">
        <p14:creationId xmlns:p14="http://schemas.microsoft.com/office/powerpoint/2010/main" val="4929333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764705" y="2443942"/>
            <a:ext cx="5457479" cy="3859658"/>
          </a:xfrm>
        </p:spPr>
        <p:txBody>
          <a:bodyPr/>
          <a:lstStyle/>
          <a:p>
            <a:pPr algn="ctr"/>
            <a:r>
              <a:rPr lang="en-US" b="1" dirty="0"/>
              <a:t>Why do doctors know your medical records</a:t>
            </a:r>
            <a:r>
              <a:rPr lang="en-US" b="1" dirty="0" smtClean="0"/>
              <a:t>?</a:t>
            </a:r>
          </a:p>
          <a:p>
            <a:pPr algn="ctr"/>
            <a:r>
              <a:rPr lang="en-US" dirty="0"/>
              <a:t>In 2008, the Hong Kong government developed an electronic platform, “</a:t>
            </a:r>
            <a:r>
              <a:rPr lang="en-US" dirty="0" err="1"/>
              <a:t>eHealth</a:t>
            </a:r>
            <a:r>
              <a:rPr lang="en-US" dirty="0"/>
              <a:t>”, where the electronic health records of participating citizens are </a:t>
            </a:r>
            <a:r>
              <a:rPr lang="en-US" dirty="0" smtClean="0"/>
              <a:t>displayed. Identity data is digitalized, stored in database</a:t>
            </a:r>
            <a:r>
              <a:rPr lang="en-US" dirty="0"/>
              <a:t>. </a:t>
            </a:r>
            <a:endParaRPr lang="en-US" dirty="0" smtClean="0"/>
          </a:p>
          <a:p>
            <a:pPr algn="ctr"/>
            <a:r>
              <a:rPr lang="en-US" dirty="0"/>
              <a:t>This is the </a:t>
            </a:r>
            <a:r>
              <a:rPr lang="en-US" dirty="0" err="1"/>
              <a:t>organisation</a:t>
            </a:r>
            <a:r>
              <a:rPr lang="en-US" dirty="0"/>
              <a:t> and control of the data.</a:t>
            </a:r>
            <a:endParaRPr lang="en-US" dirty="0" smtClean="0"/>
          </a:p>
        </p:txBody>
      </p:sp>
      <p:sp>
        <p:nvSpPr>
          <p:cNvPr id="3" name="Slide Number Placeholder 2"/>
          <p:cNvSpPr>
            <a:spLocks noGrp="1"/>
          </p:cNvSpPr>
          <p:nvPr>
            <p:ph type="sldNum" sz="quarter" idx="12"/>
          </p:nvPr>
        </p:nvSpPr>
        <p:spPr/>
        <p:txBody>
          <a:bodyPr/>
          <a:lstStyle/>
          <a:p>
            <a:fld id="{6D22F896-40B5-4ADD-8801-0D06FADFA095}" type="slidenum">
              <a:rPr lang="en-US" smtClean="0"/>
              <a:t>2</a:t>
            </a:fld>
            <a:endParaRPr lang="en-US" dirty="0"/>
          </a:p>
        </p:txBody>
      </p:sp>
      <p:pic>
        <p:nvPicPr>
          <p:cNvPr id="5" name="Picture Placeholder 4"/>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5798" r="5798"/>
          <a:stretch>
            <a:fillRect/>
          </a:stretch>
        </p:blipFill>
        <p:spPr/>
      </p:pic>
    </p:spTree>
    <p:extLst>
      <p:ext uri="{BB962C8B-B14F-4D97-AF65-F5344CB8AC3E}">
        <p14:creationId xmlns:p14="http://schemas.microsoft.com/office/powerpoint/2010/main" val="1780208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Data Hierarchy</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a:t>
            </a:fld>
            <a:endParaRPr lang="en-US" dirty="0"/>
          </a:p>
        </p:txBody>
      </p:sp>
      <p:sp>
        <p:nvSpPr>
          <p:cNvPr id="4" name="Text Placeholder 3"/>
          <p:cNvSpPr>
            <a:spLocks noGrp="1"/>
          </p:cNvSpPr>
          <p:nvPr>
            <p:ph type="body" sz="quarter" idx="14"/>
          </p:nvPr>
        </p:nvSpPr>
        <p:spPr/>
        <p:txBody>
          <a:bodyPr/>
          <a:lstStyle/>
          <a:p>
            <a:r>
              <a:rPr lang="en-HK" dirty="0" smtClean="0"/>
              <a:t>2.1</a:t>
            </a:r>
            <a:endParaRPr lang="en-US" dirty="0"/>
          </a:p>
        </p:txBody>
      </p:sp>
      <p:sp>
        <p:nvSpPr>
          <p:cNvPr id="5" name="Content Placeholder 4"/>
          <p:cNvSpPr>
            <a:spLocks noGrp="1"/>
          </p:cNvSpPr>
          <p:nvPr>
            <p:ph sz="quarter" idx="15"/>
          </p:nvPr>
        </p:nvSpPr>
        <p:spPr/>
        <p:txBody>
          <a:bodyPr/>
          <a:lstStyle/>
          <a:p>
            <a:r>
              <a:rPr lang="en-US" dirty="0"/>
              <a:t>Data is usually stored in a hierarchical form. In a </a:t>
            </a:r>
            <a:r>
              <a:rPr lang="en-US" b="1" dirty="0">
                <a:solidFill>
                  <a:srgbClr val="504E9F"/>
                </a:solidFill>
              </a:rPr>
              <a:t>data hierarchy</a:t>
            </a:r>
            <a:r>
              <a:rPr lang="en-US" dirty="0"/>
              <a:t>, every higher level of data is a collection of the items from the lower level.</a:t>
            </a:r>
          </a:p>
        </p:txBody>
      </p:sp>
      <p:pic>
        <p:nvPicPr>
          <p:cNvPr id="7" name="Picture 6"/>
          <p:cNvPicPr>
            <a:picLocks noChangeAspect="1"/>
          </p:cNvPicPr>
          <p:nvPr/>
        </p:nvPicPr>
        <p:blipFill>
          <a:blip r:embed="rId2"/>
          <a:stretch>
            <a:fillRect/>
          </a:stretch>
        </p:blipFill>
        <p:spPr>
          <a:xfrm>
            <a:off x="3445062" y="2417468"/>
            <a:ext cx="4834414" cy="3973569"/>
          </a:xfrm>
          <a:prstGeom prst="rect">
            <a:avLst/>
          </a:prstGeom>
        </p:spPr>
      </p:pic>
    </p:spTree>
    <p:extLst>
      <p:ext uri="{BB962C8B-B14F-4D97-AF65-F5344CB8AC3E}">
        <p14:creationId xmlns:p14="http://schemas.microsoft.com/office/powerpoint/2010/main" val="27524967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Data Control</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Text Placeholder 3"/>
          <p:cNvSpPr>
            <a:spLocks noGrp="1"/>
          </p:cNvSpPr>
          <p:nvPr>
            <p:ph type="body" sz="quarter" idx="14"/>
          </p:nvPr>
        </p:nvSpPr>
        <p:spPr/>
        <p:txBody>
          <a:bodyPr/>
          <a:lstStyle/>
          <a:p>
            <a:r>
              <a:rPr lang="en-HK" dirty="0" smtClean="0"/>
              <a:t>2.2</a:t>
            </a:r>
            <a:endParaRPr lang="en-US" dirty="0"/>
          </a:p>
        </p:txBody>
      </p:sp>
      <p:sp>
        <p:nvSpPr>
          <p:cNvPr id="5" name="Content Placeholder 4"/>
          <p:cNvSpPr>
            <a:spLocks noGrp="1"/>
          </p:cNvSpPr>
          <p:nvPr>
            <p:ph sz="quarter" idx="15"/>
          </p:nvPr>
        </p:nvSpPr>
        <p:spPr/>
        <p:txBody>
          <a:bodyPr/>
          <a:lstStyle/>
          <a:p>
            <a:r>
              <a:rPr lang="en-HK" dirty="0" smtClean="0"/>
              <a:t>Data control is the process of managing data. It includes</a:t>
            </a:r>
            <a:r>
              <a:rPr lang="en-US" dirty="0" smtClean="0"/>
              <a:t>:</a:t>
            </a:r>
          </a:p>
          <a:p>
            <a:endParaRPr lang="en-HK" dirty="0"/>
          </a:p>
          <a:p>
            <a:pPr marL="342900" indent="-342900">
              <a:buFont typeface="Arial" panose="020B0604020202020204" pitchFamily="34" charset="0"/>
              <a:buChar char="•"/>
            </a:pPr>
            <a:r>
              <a:rPr lang="en-HK" dirty="0" smtClean="0"/>
              <a:t>Data validation</a:t>
            </a:r>
          </a:p>
          <a:p>
            <a:pPr marL="342900" indent="-342900">
              <a:buFont typeface="Arial" panose="020B0604020202020204" pitchFamily="34" charset="0"/>
              <a:buChar char="•"/>
            </a:pPr>
            <a:r>
              <a:rPr lang="en-HK" dirty="0" smtClean="0"/>
              <a:t>Data verification</a:t>
            </a:r>
          </a:p>
        </p:txBody>
      </p:sp>
    </p:spTree>
    <p:extLst>
      <p:ext uri="{BB962C8B-B14F-4D97-AF65-F5344CB8AC3E}">
        <p14:creationId xmlns:p14="http://schemas.microsoft.com/office/powerpoint/2010/main" val="8702123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Garbage in, garbage out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a:t> </a:t>
            </a:r>
            <a:r>
              <a:rPr lang="en-US" dirty="0" smtClean="0"/>
              <a:t>“</a:t>
            </a:r>
            <a:r>
              <a:rPr lang="en-US" b="1" dirty="0" smtClean="0">
                <a:solidFill>
                  <a:srgbClr val="504E9F"/>
                </a:solidFill>
              </a:rPr>
              <a:t>Garbage </a:t>
            </a:r>
            <a:r>
              <a:rPr lang="en-US" b="1" dirty="0">
                <a:solidFill>
                  <a:srgbClr val="504E9F"/>
                </a:solidFill>
              </a:rPr>
              <a:t>in, garbage out</a:t>
            </a:r>
            <a:r>
              <a:rPr lang="en-US" dirty="0"/>
              <a:t>” </a:t>
            </a:r>
            <a:r>
              <a:rPr lang="en-US" dirty="0" smtClean="0"/>
              <a:t> means that when </a:t>
            </a:r>
            <a:r>
              <a:rPr lang="en-US" dirty="0"/>
              <a:t>unreliable or incoherent data is input to a data analysis, the output information will not be useful. </a:t>
            </a:r>
            <a:r>
              <a:rPr lang="en-HK" dirty="0"/>
              <a:t>D</a:t>
            </a:r>
            <a:r>
              <a:rPr lang="en-HK" dirty="0" smtClean="0"/>
              <a:t>ata input errors include:</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242563602"/>
              </p:ext>
            </p:extLst>
          </p:nvPr>
        </p:nvGraphicFramePr>
        <p:xfrm>
          <a:off x="1553649" y="2573401"/>
          <a:ext cx="9029062" cy="3829169"/>
        </p:xfrm>
        <a:graphic>
          <a:graphicData uri="http://schemas.openxmlformats.org/drawingml/2006/table">
            <a:tbl>
              <a:tblPr firstRow="1" bandRow="1">
                <a:tableStyleId>{5940675A-B579-460E-94D1-54222C63F5DA}</a:tableStyleId>
              </a:tblPr>
              <a:tblGrid>
                <a:gridCol w="1481105"/>
                <a:gridCol w="3937561"/>
                <a:gridCol w="3610396"/>
              </a:tblGrid>
              <a:tr h="410867">
                <a:tc>
                  <a:txBody>
                    <a:bodyPr/>
                    <a:lstStyle/>
                    <a:p>
                      <a:pPr algn="ctr"/>
                      <a:r>
                        <a:rPr lang="en-HK" b="1" dirty="0" smtClean="0">
                          <a:solidFill>
                            <a:schemeClr val="bg1"/>
                          </a:solidFill>
                        </a:rPr>
                        <a:t>Error</a:t>
                      </a:r>
                      <a:endParaRPr lang="en-US" b="1" dirty="0">
                        <a:solidFill>
                          <a:schemeClr val="bg1"/>
                        </a:solidFill>
                      </a:endParaRPr>
                    </a:p>
                  </a:txBody>
                  <a:tcPr>
                    <a:lnL w="12700" cap="flat" cmpd="sng" algn="ctr">
                      <a:solidFill>
                        <a:srgbClr val="145897"/>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b="1" dirty="0" smtClean="0">
                          <a:solidFill>
                            <a:schemeClr val="bg1"/>
                          </a:solidFill>
                        </a:rPr>
                        <a:t>Description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b="1" dirty="0" smtClean="0">
                          <a:solidFill>
                            <a:schemeClr val="bg1"/>
                          </a:solidFill>
                        </a:rPr>
                        <a:t>Example</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r>
              <a:tr h="1114791">
                <a:tc>
                  <a:txBody>
                    <a:bodyPr/>
                    <a:lstStyle/>
                    <a:p>
                      <a:pPr algn="ctr"/>
                      <a:r>
                        <a:rPr lang="en-HK" dirty="0" smtClean="0"/>
                        <a:t>Data source error</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HK" dirty="0" smtClean="0"/>
                        <a:t>Incorrect data is</a:t>
                      </a:r>
                      <a:r>
                        <a:rPr lang="en-HK" baseline="0" dirty="0" smtClean="0"/>
                        <a:t> provided by data source.</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Someone provides an email address which does not exist.</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1114791">
                <a:tc>
                  <a:txBody>
                    <a:bodyPr/>
                    <a:lstStyle/>
                    <a:p>
                      <a:pPr algn="ctr"/>
                      <a:r>
                        <a:rPr lang="en-HK" dirty="0" smtClean="0"/>
                        <a:t>Transcription error</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HK" dirty="0" smtClean="0"/>
                        <a:t>data is misread, misheard,</a:t>
                      </a:r>
                      <a:r>
                        <a:rPr lang="en-HK" baseline="0" dirty="0" smtClean="0"/>
                        <a:t> or mistyped.</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A typesetter mistyped “冶” as “治”.</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1114791">
                <a:tc>
                  <a:txBody>
                    <a:bodyPr/>
                    <a:lstStyle/>
                    <a:p>
                      <a:pPr algn="ctr"/>
                      <a:r>
                        <a:rPr lang="en-HK" dirty="0" smtClean="0"/>
                        <a:t>Transposition error</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HK" dirty="0" smtClean="0"/>
                        <a:t>Incorrect placement of the</a:t>
                      </a:r>
                      <a:r>
                        <a:rPr lang="en-HK" baseline="0" dirty="0" smtClean="0"/>
                        <a:t> data.</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Someone accidentally reverses two adjacent digits when recording a transaction, making “$15” become “$51”</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020672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Data validation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a:xfrm>
            <a:off x="838800" y="1609200"/>
            <a:ext cx="6343396" cy="4680000"/>
          </a:xfrm>
        </p:spPr>
        <p:txBody>
          <a:bodyPr/>
          <a:lstStyle/>
          <a:p>
            <a:r>
              <a:rPr lang="en-HK" b="1" dirty="0" smtClean="0">
                <a:solidFill>
                  <a:srgbClr val="504E9F"/>
                </a:solidFill>
              </a:rPr>
              <a:t>Data validation </a:t>
            </a:r>
            <a:r>
              <a:rPr lang="en-HK" dirty="0" smtClean="0"/>
              <a:t>ensures that the input data is reasonable and matches certain rules. </a:t>
            </a:r>
          </a:p>
          <a:p>
            <a:endParaRPr lang="en-HK" dirty="0"/>
          </a:p>
          <a:p>
            <a:r>
              <a:rPr lang="en-HK" dirty="0" smtClean="0"/>
              <a:t>It is usually run by systems or programs and widely used in online forms.</a:t>
            </a:r>
            <a:endParaRPr lang="en-US" dirty="0"/>
          </a:p>
        </p:txBody>
      </p:sp>
      <p:pic>
        <p:nvPicPr>
          <p:cNvPr id="6" name="Picture 5"/>
          <p:cNvPicPr>
            <a:picLocks noChangeAspect="1"/>
          </p:cNvPicPr>
          <p:nvPr/>
        </p:nvPicPr>
        <p:blipFill>
          <a:blip r:embed="rId2"/>
          <a:stretch>
            <a:fillRect/>
          </a:stretch>
        </p:blipFill>
        <p:spPr>
          <a:xfrm>
            <a:off x="7859424" y="1386344"/>
            <a:ext cx="3494376" cy="4902856"/>
          </a:xfrm>
          <a:prstGeom prst="rect">
            <a:avLst/>
          </a:prstGeom>
        </p:spPr>
      </p:pic>
    </p:spTree>
    <p:extLst>
      <p:ext uri="{BB962C8B-B14F-4D97-AF65-F5344CB8AC3E}">
        <p14:creationId xmlns:p14="http://schemas.microsoft.com/office/powerpoint/2010/main" val="5514541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Data validation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HK" dirty="0" smtClean="0"/>
              <a:t>Types of data validation include:</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356340678"/>
              </p:ext>
            </p:extLst>
          </p:nvPr>
        </p:nvGraphicFramePr>
        <p:xfrm>
          <a:off x="1220597" y="2138762"/>
          <a:ext cx="9827019" cy="4272742"/>
        </p:xfrm>
        <a:graphic>
          <a:graphicData uri="http://schemas.openxmlformats.org/drawingml/2006/table">
            <a:tbl>
              <a:tblPr firstRow="1" bandRow="1">
                <a:tableStyleId>{5940675A-B579-460E-94D1-54222C63F5DA}</a:tableStyleId>
              </a:tblPr>
              <a:tblGrid>
                <a:gridCol w="1622356"/>
                <a:gridCol w="3906982"/>
                <a:gridCol w="4297681"/>
              </a:tblGrid>
              <a:tr h="432262">
                <a:tc>
                  <a:txBody>
                    <a:bodyPr/>
                    <a:lstStyle/>
                    <a:p>
                      <a:pPr algn="ctr"/>
                      <a:r>
                        <a:rPr lang="en-HK" b="1" dirty="0" smtClean="0">
                          <a:solidFill>
                            <a:schemeClr val="bg1"/>
                          </a:solidFill>
                        </a:rPr>
                        <a:t>Type</a:t>
                      </a:r>
                      <a:endParaRPr lang="en-US" b="1" dirty="0">
                        <a:solidFill>
                          <a:schemeClr val="bg1"/>
                        </a:solidFill>
                      </a:endParaRPr>
                    </a:p>
                  </a:txBody>
                  <a:tcPr anchor="ctr">
                    <a:lnL w="12700" cap="flat" cmpd="sng" algn="ctr">
                      <a:solidFill>
                        <a:srgbClr val="145897"/>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b="1" dirty="0" smtClean="0">
                          <a:solidFill>
                            <a:schemeClr val="bg1"/>
                          </a:solidFill>
                        </a:rPr>
                        <a:t>Function</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b="1" dirty="0" smtClean="0">
                          <a:solidFill>
                            <a:schemeClr val="bg1"/>
                          </a:solidFill>
                        </a:rPr>
                        <a:t>Example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r>
              <a:tr h="587830">
                <a:tc>
                  <a:txBody>
                    <a:bodyPr/>
                    <a:lstStyle/>
                    <a:p>
                      <a:pPr algn="ctr"/>
                      <a:r>
                        <a:rPr lang="en-HK" dirty="0" smtClean="0"/>
                        <a:t>Presence</a:t>
                      </a:r>
                      <a:r>
                        <a:rPr lang="en-HK" baseline="0" dirty="0" smtClean="0"/>
                        <a:t> check</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ensures that there must be data in the required fields.</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An applicant must provide their name.</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587830">
                <a:tc>
                  <a:txBody>
                    <a:bodyPr/>
                    <a:lstStyle/>
                    <a:p>
                      <a:pPr algn="ctr"/>
                      <a:r>
                        <a:rPr lang="en-HK" dirty="0" smtClean="0"/>
                        <a:t>Fixed value check</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ensures that the data can only be selected from a list of specific values.</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The sex of an applicant must be either “M” or “F”.</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587830">
                <a:tc>
                  <a:txBody>
                    <a:bodyPr/>
                    <a:lstStyle/>
                    <a:p>
                      <a:pPr algn="ctr"/>
                      <a:r>
                        <a:rPr lang="en-HK" dirty="0" smtClean="0"/>
                        <a:t>Type check</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ensures that the data must be of a certain type.</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The age of an applicant must be a number.</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587830">
                <a:tc>
                  <a:txBody>
                    <a:bodyPr/>
                    <a:lstStyle/>
                    <a:p>
                      <a:pPr algn="ctr"/>
                      <a:r>
                        <a:rPr lang="en-HK" dirty="0" smtClean="0"/>
                        <a:t>Range check</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ensures that the data must be within a certain range.</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The age of an applicant must be larger than 12.</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587830">
                <a:tc>
                  <a:txBody>
                    <a:bodyPr/>
                    <a:lstStyle/>
                    <a:p>
                      <a:pPr algn="ctr"/>
                      <a:r>
                        <a:rPr lang="en-HK" dirty="0" smtClean="0"/>
                        <a:t>Length</a:t>
                      </a:r>
                      <a:r>
                        <a:rPr lang="en-HK" baseline="0" dirty="0" smtClean="0"/>
                        <a:t> check</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ensures that the length of the data must match certain criteria.</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An applicant must provide an 8-digit phone number.</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587830">
                <a:tc>
                  <a:txBody>
                    <a:bodyPr/>
                    <a:lstStyle/>
                    <a:p>
                      <a:pPr algn="ctr"/>
                      <a:r>
                        <a:rPr lang="en-HK" dirty="0" smtClean="0"/>
                        <a:t>Format check</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ensures that the data must be in a specific format.</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The email address of an applicant must contain an "@" symbol.</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7328076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Data validation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HK" dirty="0" smtClean="0"/>
              <a:t>There are different user interface designs to make data validation easier.</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50232178"/>
              </p:ext>
            </p:extLst>
          </p:nvPr>
        </p:nvGraphicFramePr>
        <p:xfrm>
          <a:off x="1453878" y="2036494"/>
          <a:ext cx="9514377" cy="4405870"/>
        </p:xfrm>
        <a:graphic>
          <a:graphicData uri="http://schemas.openxmlformats.org/drawingml/2006/table">
            <a:tbl>
              <a:tblPr firstRow="1" bandRow="1">
                <a:tableStyleId>{5C22544A-7EE6-4342-B048-85BDC9FD1C3A}</a:tableStyleId>
              </a:tblPr>
              <a:tblGrid>
                <a:gridCol w="1958108"/>
                <a:gridCol w="4384810"/>
                <a:gridCol w="3171459"/>
              </a:tblGrid>
              <a:tr h="443670">
                <a:tc>
                  <a:txBody>
                    <a:bodyPr/>
                    <a:lstStyle/>
                    <a:p>
                      <a:pPr algn="ctr"/>
                      <a:r>
                        <a:rPr lang="en-HK" dirty="0" smtClean="0"/>
                        <a:t>Type</a:t>
                      </a:r>
                      <a:endParaRPr lang="en-US" dirty="0"/>
                    </a:p>
                  </a:txBody>
                  <a:tcPr anchor="ctr">
                    <a:lnL w="12700" cap="flat" cmpd="sng" algn="ctr">
                      <a:solidFill>
                        <a:srgbClr val="145897"/>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dirty="0" smtClean="0"/>
                        <a:t>Data validation</a:t>
                      </a:r>
                      <a:endParaRPr 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dirty="0" smtClean="0"/>
                        <a:t>Example</a:t>
                      </a:r>
                      <a:endParaRPr lang="en-US" dirty="0"/>
                    </a:p>
                  </a:txBody>
                  <a:tcPr anchor="ctr">
                    <a:lnL w="12700" cap="flat" cmpd="sng" algn="ctr">
                      <a:solidFill>
                        <a:schemeClr val="bg1"/>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r>
              <a:tr h="902991">
                <a:tc>
                  <a:txBody>
                    <a:bodyPr/>
                    <a:lstStyle/>
                    <a:p>
                      <a:pPr algn="ctr"/>
                      <a:r>
                        <a:rPr lang="en-HK" dirty="0" smtClean="0"/>
                        <a:t>Drop-down list</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c>
                  <a:txBody>
                    <a:bodyPr/>
                    <a:lstStyle/>
                    <a:p>
                      <a:r>
                        <a:rPr lang="en-US" dirty="0" smtClean="0"/>
                        <a:t>Fixed value check: only one of the specific values can be input.</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c>
                  <a:txBody>
                    <a:bodyPr/>
                    <a:lstStyle/>
                    <a:p>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r>
              <a:tr h="745445">
                <a:tc>
                  <a:txBody>
                    <a:bodyPr/>
                    <a:lstStyle/>
                    <a:p>
                      <a:pPr algn="ctr"/>
                      <a:r>
                        <a:rPr lang="en-HK" dirty="0" smtClean="0"/>
                        <a:t>Radio button</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c>
                  <a:txBody>
                    <a:bodyPr/>
                    <a:lstStyle/>
                    <a:p>
                      <a:r>
                        <a:rPr lang="en-US" dirty="0" smtClean="0"/>
                        <a:t>Fixed value check: only one of the specific values can be input.</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c>
                  <a:txBody>
                    <a:bodyPr/>
                    <a:lstStyle/>
                    <a:p>
                      <a:endParaRPr lang="en-US"/>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r>
              <a:tr h="745445">
                <a:tc>
                  <a:txBody>
                    <a:bodyPr/>
                    <a:lstStyle/>
                    <a:p>
                      <a:pPr algn="ctr"/>
                      <a:r>
                        <a:rPr lang="en-HK" dirty="0" smtClean="0"/>
                        <a:t>Checkboxes</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c>
                  <a:txBody>
                    <a:bodyPr/>
                    <a:lstStyle/>
                    <a:p>
                      <a:r>
                        <a:rPr lang="en-US" dirty="0" smtClean="0"/>
                        <a:t>Fixed value check: only the specific values can be input. Multiple values can be selected.</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c>
                  <a:txBody>
                    <a:bodyPr/>
                    <a:lstStyle/>
                    <a:p>
                      <a:endParaRPr lang="en-US"/>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r>
              <a:tr h="1568319">
                <a:tc>
                  <a:txBody>
                    <a:bodyPr/>
                    <a:lstStyle/>
                    <a:p>
                      <a:pPr algn="ctr"/>
                      <a:r>
                        <a:rPr lang="en-HK" dirty="0" smtClean="0"/>
                        <a:t>Date picker</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c>
                  <a:txBody>
                    <a:bodyPr/>
                    <a:lstStyle/>
                    <a:p>
                      <a:r>
                        <a:rPr lang="en-US" dirty="0" smtClean="0"/>
                        <a:t>Type check: only dates can be input. Invalid </a:t>
                      </a:r>
                    </a:p>
                    <a:p>
                      <a:r>
                        <a:rPr lang="en-US" dirty="0" smtClean="0"/>
                        <a:t>dates, like “32/08/2025” cannot be picked.</a:t>
                      </a:r>
                    </a:p>
                    <a:p>
                      <a:endParaRPr lang="en-US" dirty="0" smtClean="0"/>
                    </a:p>
                    <a:p>
                      <a:r>
                        <a:rPr lang="en-US" dirty="0" smtClean="0"/>
                        <a:t>Format check: the date must be in a certain </a:t>
                      </a:r>
                    </a:p>
                    <a:p>
                      <a:r>
                        <a:rPr lang="en-US" dirty="0" smtClean="0"/>
                        <a:t>format, such as “DD/MM/YYYY”.</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c>
                  <a:txBody>
                    <a:bodyPr/>
                    <a:lstStyle/>
                    <a:p>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noFill/>
                  </a:tcPr>
                </a:tc>
              </a:tr>
            </a:tbl>
          </a:graphicData>
        </a:graphic>
      </p:graphicFrame>
      <p:pic>
        <p:nvPicPr>
          <p:cNvPr id="7" name="Picture 6"/>
          <p:cNvPicPr>
            <a:picLocks noChangeAspect="1"/>
          </p:cNvPicPr>
          <p:nvPr/>
        </p:nvPicPr>
        <p:blipFill>
          <a:blip r:embed="rId2"/>
          <a:stretch>
            <a:fillRect/>
          </a:stretch>
        </p:blipFill>
        <p:spPr>
          <a:xfrm>
            <a:off x="7966774" y="2499977"/>
            <a:ext cx="2715080" cy="838857"/>
          </a:xfrm>
          <a:prstGeom prst="rect">
            <a:avLst/>
          </a:prstGeom>
        </p:spPr>
      </p:pic>
      <p:pic>
        <p:nvPicPr>
          <p:cNvPr id="8" name="Picture 7"/>
          <p:cNvPicPr>
            <a:picLocks noChangeAspect="1"/>
          </p:cNvPicPr>
          <p:nvPr/>
        </p:nvPicPr>
        <p:blipFill>
          <a:blip r:embed="rId3"/>
          <a:stretch>
            <a:fillRect/>
          </a:stretch>
        </p:blipFill>
        <p:spPr>
          <a:xfrm>
            <a:off x="8074839" y="3400352"/>
            <a:ext cx="2498950" cy="683732"/>
          </a:xfrm>
          <a:prstGeom prst="rect">
            <a:avLst/>
          </a:prstGeom>
        </p:spPr>
      </p:pic>
      <p:pic>
        <p:nvPicPr>
          <p:cNvPr id="9" name="Picture 8"/>
          <p:cNvPicPr>
            <a:picLocks noChangeAspect="1"/>
          </p:cNvPicPr>
          <p:nvPr/>
        </p:nvPicPr>
        <p:blipFill>
          <a:blip r:embed="rId4"/>
          <a:stretch>
            <a:fillRect/>
          </a:stretch>
        </p:blipFill>
        <p:spPr>
          <a:xfrm>
            <a:off x="8087960" y="4198489"/>
            <a:ext cx="2472708" cy="643500"/>
          </a:xfrm>
          <a:prstGeom prst="rect">
            <a:avLst/>
          </a:prstGeom>
        </p:spPr>
      </p:pic>
      <p:pic>
        <p:nvPicPr>
          <p:cNvPr id="10" name="Picture 9"/>
          <p:cNvPicPr>
            <a:picLocks noChangeAspect="1"/>
          </p:cNvPicPr>
          <p:nvPr/>
        </p:nvPicPr>
        <p:blipFill>
          <a:blip r:embed="rId5"/>
          <a:stretch>
            <a:fillRect/>
          </a:stretch>
        </p:blipFill>
        <p:spPr>
          <a:xfrm>
            <a:off x="8200435" y="4904756"/>
            <a:ext cx="2247758" cy="1511143"/>
          </a:xfrm>
          <a:prstGeom prst="rect">
            <a:avLst/>
          </a:prstGeom>
        </p:spPr>
      </p:pic>
    </p:spTree>
    <p:extLst>
      <p:ext uri="{BB962C8B-B14F-4D97-AF65-F5344CB8AC3E}">
        <p14:creationId xmlns:p14="http://schemas.microsoft.com/office/powerpoint/2010/main" val="41885034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Type check</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To facilitate data </a:t>
            </a:r>
            <a:r>
              <a:rPr lang="en-US" dirty="0" err="1"/>
              <a:t>organisation</a:t>
            </a:r>
            <a:r>
              <a:rPr lang="en-US" dirty="0"/>
              <a:t> and data analysis, data of the same field should share the same data type.</a:t>
            </a:r>
          </a:p>
        </p:txBody>
      </p:sp>
      <p:pic>
        <p:nvPicPr>
          <p:cNvPr id="6" name="Picture 5"/>
          <p:cNvPicPr>
            <a:picLocks noChangeAspect="1"/>
          </p:cNvPicPr>
          <p:nvPr/>
        </p:nvPicPr>
        <p:blipFill>
          <a:blip r:embed="rId2"/>
          <a:stretch>
            <a:fillRect/>
          </a:stretch>
        </p:blipFill>
        <p:spPr>
          <a:xfrm>
            <a:off x="1810800" y="3163592"/>
            <a:ext cx="8871562" cy="2315841"/>
          </a:xfrm>
          <a:prstGeom prst="rect">
            <a:avLst/>
          </a:prstGeom>
        </p:spPr>
      </p:pic>
    </p:spTree>
    <p:extLst>
      <p:ext uri="{BB962C8B-B14F-4D97-AF65-F5344CB8AC3E}">
        <p14:creationId xmlns:p14="http://schemas.microsoft.com/office/powerpoint/2010/main" val="4352124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Type check</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HK" dirty="0" smtClean="0"/>
              <a:t>Commonly used data types for data fields include:</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510822771"/>
              </p:ext>
            </p:extLst>
          </p:nvPr>
        </p:nvGraphicFramePr>
        <p:xfrm>
          <a:off x="762000" y="2177930"/>
          <a:ext cx="10668000" cy="4165872"/>
        </p:xfrm>
        <a:graphic>
          <a:graphicData uri="http://schemas.openxmlformats.org/drawingml/2006/table">
            <a:tbl>
              <a:tblPr firstRow="1" bandRow="1">
                <a:tableStyleId>{5940675A-B579-460E-94D1-54222C63F5DA}</a:tableStyleId>
              </a:tblPr>
              <a:tblGrid>
                <a:gridCol w="2338647"/>
                <a:gridCol w="2995353"/>
                <a:gridCol w="1333500"/>
                <a:gridCol w="1333500"/>
                <a:gridCol w="2667000"/>
              </a:tblGrid>
              <a:tr h="381209">
                <a:tc>
                  <a:txBody>
                    <a:bodyPr/>
                    <a:lstStyle/>
                    <a:p>
                      <a:pPr algn="ctr"/>
                      <a:r>
                        <a:rPr lang="en-HK" b="1" dirty="0" smtClean="0">
                          <a:solidFill>
                            <a:schemeClr val="bg1"/>
                          </a:solidFill>
                        </a:rPr>
                        <a:t>Data type</a:t>
                      </a:r>
                      <a:endParaRPr lang="en-US" b="1" dirty="0">
                        <a:solidFill>
                          <a:schemeClr val="bg1"/>
                        </a:solidFill>
                      </a:endParaRPr>
                    </a:p>
                  </a:txBody>
                  <a:tcPr>
                    <a:lnL w="12700" cap="flat" cmpd="sng" algn="ctr">
                      <a:solidFill>
                        <a:srgbClr val="145897"/>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b="1" dirty="0" smtClean="0">
                          <a:solidFill>
                            <a:schemeClr val="bg1"/>
                          </a:solidFill>
                        </a:rPr>
                        <a:t>Description</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gridSpan="2">
                  <a:txBody>
                    <a:bodyPr/>
                    <a:lstStyle/>
                    <a:p>
                      <a:pPr algn="ctr"/>
                      <a:r>
                        <a:rPr lang="en-HK" b="1" dirty="0" smtClean="0">
                          <a:solidFill>
                            <a:schemeClr val="bg1"/>
                          </a:solidFill>
                        </a:rPr>
                        <a:t>Example</a:t>
                      </a:r>
                      <a:r>
                        <a:rPr lang="en-HK" b="1" baseline="0" dirty="0" smtClean="0">
                          <a:solidFill>
                            <a:schemeClr val="bg1"/>
                          </a:solidFill>
                        </a:rPr>
                        <a:t> of value</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hMerge="1">
                  <a:txBody>
                    <a:bodyPr/>
                    <a:lstStyle/>
                    <a:p>
                      <a:endParaRPr lang="en-US"/>
                    </a:p>
                  </a:txBody>
                  <a:tcPr/>
                </a:tc>
                <a:tc>
                  <a:txBody>
                    <a:bodyPr/>
                    <a:lstStyle/>
                    <a:p>
                      <a:pPr algn="ctr"/>
                      <a:r>
                        <a:rPr lang="en-HK" b="1" dirty="0" smtClean="0">
                          <a:solidFill>
                            <a:schemeClr val="bg1"/>
                          </a:solidFill>
                        </a:rPr>
                        <a:t>Example of</a:t>
                      </a:r>
                      <a:r>
                        <a:rPr lang="en-HK" b="1" baseline="0" dirty="0" smtClean="0">
                          <a:solidFill>
                            <a:schemeClr val="bg1"/>
                          </a:solidFill>
                        </a:rPr>
                        <a:t> usage</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r>
              <a:tr h="767143">
                <a:tc>
                  <a:txBody>
                    <a:bodyPr/>
                    <a:lstStyle/>
                    <a:p>
                      <a:r>
                        <a:rPr lang="en-HK" dirty="0" smtClean="0"/>
                        <a:t>Integer</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can be positive or negative.</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74</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-29</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The number of students, the age of a person.</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767143">
                <a:tc>
                  <a:txBody>
                    <a:bodyPr/>
                    <a:lstStyle/>
                    <a:p>
                      <a:r>
                        <a:rPr lang="en-HK" dirty="0" smtClean="0"/>
                        <a:t>Floating point number/</a:t>
                      </a:r>
                      <a:r>
                        <a:rPr lang="en-HK" baseline="0" dirty="0" smtClean="0"/>
                        <a:t> real number</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can be positive or negative. It can have a decimal point and decimal places.</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2.09</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1.00</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The score of a student, the height of a person.</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767143">
                <a:tc>
                  <a:txBody>
                    <a:bodyPr/>
                    <a:lstStyle/>
                    <a:p>
                      <a:r>
                        <a:rPr lang="en-HK" dirty="0" smtClean="0"/>
                        <a:t>String/</a:t>
                      </a:r>
                      <a:r>
                        <a:rPr lang="en-HK" baseline="0" dirty="0" smtClean="0"/>
                        <a:t> text</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consists of characters, which can be English letters, Arabic numerals, Chinese characters, symbols, etc.</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“RA^1$”</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zh-CN" altLang="en-US" dirty="0" smtClean="0"/>
                        <a:t> </a:t>
                      </a:r>
                      <a:r>
                        <a:rPr lang="en-US" altLang="zh-CN" dirty="0" smtClean="0"/>
                        <a:t>"</a:t>
                      </a:r>
                      <a:r>
                        <a:rPr lang="zh-CN" altLang="en-US" dirty="0" smtClean="0"/>
                        <a:t>日，月</a:t>
                      </a:r>
                      <a:r>
                        <a:rPr lang="en-US" altLang="zh-CN" dirty="0" smtClean="0"/>
                        <a:t>"</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The name of a student, the address of a person.</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767143">
                <a:tc>
                  <a:txBody>
                    <a:bodyPr/>
                    <a:lstStyle/>
                    <a:p>
                      <a:r>
                        <a:rPr lang="en-HK" dirty="0" smtClean="0"/>
                        <a:t>Boolean</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can only be TRUE or FALSE.</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TRUE</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FALSE</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Whether a student passes or not, whether a person is alive or not.</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206574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Check digit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b="1" dirty="0">
                <a:solidFill>
                  <a:srgbClr val="504E9F"/>
                </a:solidFill>
              </a:rPr>
              <a:t>Check digit </a:t>
            </a:r>
            <a:r>
              <a:rPr lang="en-US" dirty="0"/>
              <a:t>is a data validation method commonly used for numeric data, such as identity number, book number, credit card number, etc</a:t>
            </a:r>
            <a:r>
              <a:rPr lang="en-US" dirty="0" smtClean="0"/>
              <a:t>.</a:t>
            </a:r>
          </a:p>
          <a:p>
            <a:endParaRPr lang="en-HK" dirty="0"/>
          </a:p>
          <a:p>
            <a:r>
              <a:rPr lang="en-US" dirty="0"/>
              <a:t>The check digit is generated by a specific algorithm and appended to the end of the numeric data. It can consist of more than one digit.</a:t>
            </a:r>
          </a:p>
        </p:txBody>
      </p:sp>
    </p:spTree>
    <p:extLst>
      <p:ext uri="{BB962C8B-B14F-4D97-AF65-F5344CB8AC3E}">
        <p14:creationId xmlns:p14="http://schemas.microsoft.com/office/powerpoint/2010/main" val="4266928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Parity check</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Data is stored in computers as binary codes. Binary code consists of 0 and 1 only</a:t>
            </a:r>
            <a:r>
              <a:rPr lang="en-US" dirty="0" smtClean="0"/>
              <a:t>.</a:t>
            </a:r>
          </a:p>
          <a:p>
            <a:endParaRPr lang="en-HK" dirty="0"/>
          </a:p>
          <a:p>
            <a:r>
              <a:rPr lang="en-US" dirty="0" smtClean="0"/>
              <a:t>A </a:t>
            </a:r>
            <a:r>
              <a:rPr lang="en-US" b="1" dirty="0" smtClean="0">
                <a:solidFill>
                  <a:srgbClr val="504E9F"/>
                </a:solidFill>
              </a:rPr>
              <a:t>parity bit </a:t>
            </a:r>
            <a:r>
              <a:rPr lang="en-US" dirty="0" smtClean="0"/>
              <a:t>can </a:t>
            </a:r>
            <a:r>
              <a:rPr lang="en-US" dirty="0"/>
              <a:t>be appended to the end of the binary code to ensure that the total number of 1s in the code is even or odd. This is called a </a:t>
            </a:r>
            <a:r>
              <a:rPr lang="en-US" b="1" dirty="0">
                <a:solidFill>
                  <a:srgbClr val="504E9F"/>
                </a:solidFill>
              </a:rPr>
              <a:t>parity check</a:t>
            </a:r>
            <a:r>
              <a:rPr lang="en-US" dirty="0" smtClean="0"/>
              <a:t>.</a:t>
            </a:r>
          </a:p>
          <a:p>
            <a:endParaRPr lang="en-HK" dirty="0"/>
          </a:p>
          <a:p>
            <a:r>
              <a:rPr lang="en-HK" dirty="0" smtClean="0"/>
              <a:t>There are two types of parity checks.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420921546"/>
              </p:ext>
            </p:extLst>
          </p:nvPr>
        </p:nvGraphicFramePr>
        <p:xfrm>
          <a:off x="711556" y="4452082"/>
          <a:ext cx="10742000" cy="1757524"/>
        </p:xfrm>
        <a:graphic>
          <a:graphicData uri="http://schemas.openxmlformats.org/drawingml/2006/table">
            <a:tbl>
              <a:tblPr firstRow="1" bandRow="1">
                <a:tableStyleId>{5940675A-B579-460E-94D1-54222C63F5DA}</a:tableStyleId>
              </a:tblPr>
              <a:tblGrid>
                <a:gridCol w="2685500"/>
                <a:gridCol w="2685500"/>
                <a:gridCol w="2685500"/>
                <a:gridCol w="2685500"/>
              </a:tblGrid>
              <a:tr h="436351">
                <a:tc rowSpan="2">
                  <a:txBody>
                    <a:bodyPr/>
                    <a:lstStyle/>
                    <a:p>
                      <a:pPr algn="ctr"/>
                      <a:r>
                        <a:rPr lang="en-HK" b="1" dirty="0" smtClean="0">
                          <a:solidFill>
                            <a:schemeClr val="bg1"/>
                          </a:solidFill>
                        </a:rPr>
                        <a:t>Original binary code</a:t>
                      </a:r>
                      <a:endParaRPr lang="en-US" b="1" dirty="0">
                        <a:solidFill>
                          <a:schemeClr val="bg1"/>
                        </a:solidFill>
                      </a:endParaRPr>
                    </a:p>
                  </a:txBody>
                  <a:tcPr anchor="ctr">
                    <a:lnL w="12700" cap="flat" cmpd="sng" algn="ctr">
                      <a:solidFill>
                        <a:srgbClr val="145897"/>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rowSpan="2">
                  <a:txBody>
                    <a:bodyPr/>
                    <a:lstStyle/>
                    <a:p>
                      <a:pPr algn="ctr"/>
                      <a:r>
                        <a:rPr lang="en-HK" b="1" dirty="0" smtClean="0">
                          <a:solidFill>
                            <a:schemeClr val="bg1"/>
                          </a:solidFill>
                        </a:rPr>
                        <a:t>Total</a:t>
                      </a:r>
                      <a:r>
                        <a:rPr lang="en-HK" b="1" baseline="0" dirty="0" smtClean="0">
                          <a:solidFill>
                            <a:schemeClr val="bg1"/>
                          </a:solidFill>
                        </a:rPr>
                        <a:t> number of 1s</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gridSpan="2">
                  <a:txBody>
                    <a:bodyPr/>
                    <a:lstStyle/>
                    <a:p>
                      <a:pPr algn="ctr"/>
                      <a:r>
                        <a:rPr lang="en-US" b="1" dirty="0" smtClean="0">
                          <a:solidFill>
                            <a:schemeClr val="bg1"/>
                          </a:solidFill>
                        </a:rPr>
                        <a:t>The binary code after adding the parity bit</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45897"/>
                    </a:solidFill>
                  </a:tcPr>
                </a:tc>
                <a:tc hMerge="1">
                  <a:txBody>
                    <a:bodyPr/>
                    <a:lstStyle/>
                    <a:p>
                      <a:endParaRPr lang="en-US" dirty="0"/>
                    </a:p>
                  </a:txBody>
                  <a:tcPr/>
                </a:tc>
              </a:tr>
              <a:tr h="436351">
                <a:tc vMerge="1">
                  <a:txBody>
                    <a:bodyPr/>
                    <a:lstStyle/>
                    <a:p>
                      <a:endParaRPr lang="en-US"/>
                    </a:p>
                  </a:txBody>
                  <a:tcPr/>
                </a:tc>
                <a:tc vMerge="1">
                  <a:txBody>
                    <a:bodyPr/>
                    <a:lstStyle/>
                    <a:p>
                      <a:endParaRPr lang="en-US"/>
                    </a:p>
                  </a:txBody>
                  <a:tcPr/>
                </a:tc>
                <a:tc>
                  <a:txBody>
                    <a:bodyPr/>
                    <a:lstStyle/>
                    <a:p>
                      <a:pPr algn="ctr"/>
                      <a:r>
                        <a:rPr lang="en-HK" b="1" dirty="0" smtClean="0">
                          <a:solidFill>
                            <a:schemeClr val="bg1"/>
                          </a:solidFill>
                        </a:rPr>
                        <a:t>Even</a:t>
                      </a:r>
                      <a:r>
                        <a:rPr lang="en-HK" b="1" baseline="0" dirty="0" smtClean="0">
                          <a:solidFill>
                            <a:schemeClr val="bg1"/>
                          </a:solidFill>
                        </a:rPr>
                        <a:t> parity check</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b="1" dirty="0" smtClean="0">
                          <a:solidFill>
                            <a:schemeClr val="bg1"/>
                          </a:solidFill>
                        </a:rPr>
                        <a:t>Odd parity check</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r>
              <a:tr h="442411">
                <a:tc>
                  <a:txBody>
                    <a:bodyPr/>
                    <a:lstStyle/>
                    <a:p>
                      <a:pPr algn="ctr"/>
                      <a:r>
                        <a:rPr lang="en-HK" dirty="0" smtClean="0"/>
                        <a:t>0000 000</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0</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0000 000</a:t>
                      </a:r>
                      <a:r>
                        <a:rPr lang="en-HK" b="1" dirty="0" smtClean="0">
                          <a:solidFill>
                            <a:srgbClr val="145897"/>
                          </a:solidFill>
                        </a:rPr>
                        <a:t>0</a:t>
                      </a:r>
                      <a:endParaRPr lang="en-US" b="1" dirty="0">
                        <a:solidFill>
                          <a:srgbClr val="145897"/>
                        </a:solidFill>
                      </a:endParaRPr>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0000 000</a:t>
                      </a:r>
                      <a:r>
                        <a:rPr lang="en-HK" b="1" dirty="0" smtClean="0">
                          <a:solidFill>
                            <a:srgbClr val="145897"/>
                          </a:solidFill>
                        </a:rPr>
                        <a:t>1</a:t>
                      </a:r>
                      <a:endParaRPr lang="en-US" b="1" dirty="0">
                        <a:solidFill>
                          <a:srgbClr val="145897"/>
                        </a:solidFill>
                      </a:endParaRPr>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442411">
                <a:tc>
                  <a:txBody>
                    <a:bodyPr/>
                    <a:lstStyle/>
                    <a:p>
                      <a:pPr algn="ctr"/>
                      <a:r>
                        <a:rPr lang="en-HK" dirty="0" smtClean="0"/>
                        <a:t>1010</a:t>
                      </a:r>
                      <a:r>
                        <a:rPr lang="en-HK" baseline="0" dirty="0" smtClean="0"/>
                        <a:t> 101</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4</a:t>
                      </a:r>
                      <a:endParaRPr lang="en-US" dirty="0"/>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1010 101</a:t>
                      </a:r>
                      <a:r>
                        <a:rPr lang="en-HK" b="1" dirty="0" smtClean="0">
                          <a:solidFill>
                            <a:srgbClr val="145897"/>
                          </a:solidFill>
                        </a:rPr>
                        <a:t>0</a:t>
                      </a:r>
                      <a:endParaRPr lang="en-US" b="1" dirty="0">
                        <a:solidFill>
                          <a:srgbClr val="145897"/>
                        </a:solidFill>
                      </a:endParaRPr>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1010 101</a:t>
                      </a:r>
                      <a:r>
                        <a:rPr lang="en-HK" b="1" dirty="0" smtClean="0">
                          <a:solidFill>
                            <a:srgbClr val="145897"/>
                          </a:solidFill>
                        </a:rPr>
                        <a:t>1</a:t>
                      </a:r>
                      <a:endParaRPr lang="en-US" b="1" dirty="0">
                        <a:solidFill>
                          <a:srgbClr val="145897"/>
                        </a:solidFill>
                      </a:endParaRPr>
                    </a:p>
                  </a:txBody>
                  <a:tcP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3429439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smtClean="0"/>
              <a:t>To </a:t>
            </a:r>
            <a:r>
              <a:rPr lang="en-US" dirty="0"/>
              <a:t>validate a Hong Kong identity card (HKID) number by check digit, we should</a:t>
            </a:r>
            <a:r>
              <a:rPr lang="en-US" dirty="0" smtClean="0"/>
              <a:t>:</a:t>
            </a:r>
            <a:br>
              <a:rPr lang="en-US" dirty="0" smtClean="0"/>
            </a:br>
            <a:endParaRPr lang="en-US" dirty="0" smtClean="0"/>
          </a:p>
          <a:p>
            <a:pPr marL="1257300" lvl="2" indent="-342900">
              <a:buSzPct val="100000"/>
              <a:buAutoNum type="arabicParenBoth"/>
            </a:pPr>
            <a:r>
              <a:rPr lang="en-HK" sz="2000" dirty="0" smtClean="0"/>
              <a:t>Ensure that it starts with one or two English letters.</a:t>
            </a:r>
          </a:p>
          <a:p>
            <a:pPr marL="1257300" lvl="2" indent="-342900">
              <a:buSzPct val="100000"/>
              <a:buAutoNum type="arabicParenBoth"/>
            </a:pPr>
            <a:r>
              <a:rPr lang="en-HK" sz="2000" dirty="0" smtClean="0"/>
              <a:t>Ensure that its weighted sum is divisible by 11.</a:t>
            </a:r>
          </a:p>
          <a:p>
            <a:pPr marL="1257300" lvl="2" indent="-342900">
              <a:buSzPct val="100000"/>
              <a:buAutoNum type="arabicParenBoth"/>
            </a:pPr>
            <a:r>
              <a:rPr lang="en-HK" sz="2000" dirty="0" smtClean="0"/>
              <a:t>Ensure that its length is no longer than 9, excluding the parentheses.</a:t>
            </a:r>
            <a:r>
              <a:rPr lang="en-HK" dirty="0" smtClean="0"/>
              <a:t> </a:t>
            </a:r>
          </a:p>
          <a:p>
            <a:pPr lvl="2">
              <a:buSzPct val="100000"/>
            </a:pPr>
            <a:endParaRPr lang="en-HK" dirty="0" smtClean="0"/>
          </a:p>
          <a:p>
            <a:pPr marL="800100" lvl="1" indent="-342900">
              <a:buSzPct val="100000"/>
              <a:buAutoNum type="alphaUcPeriod"/>
            </a:pPr>
            <a:r>
              <a:rPr lang="en-HK" dirty="0" smtClean="0"/>
              <a:t>(1) only</a:t>
            </a:r>
          </a:p>
          <a:p>
            <a:pPr marL="800100" lvl="1" indent="-342900">
              <a:buSzPct val="100000"/>
              <a:buAutoNum type="alphaUcPeriod"/>
            </a:pPr>
            <a:r>
              <a:rPr lang="en-HK" dirty="0" smtClean="0"/>
              <a:t>(2) only</a:t>
            </a:r>
          </a:p>
          <a:p>
            <a:pPr marL="800100" lvl="1" indent="-342900">
              <a:buSzPct val="100000"/>
              <a:buAutoNum type="alphaUcPeriod"/>
            </a:pPr>
            <a:r>
              <a:rPr lang="en-HK" dirty="0" smtClean="0"/>
              <a:t>(1) and (3) only</a:t>
            </a:r>
          </a:p>
          <a:p>
            <a:pPr marL="800100" lvl="1" indent="-342900">
              <a:buSzPct val="100000"/>
              <a:buAutoNum type="alphaUcPeriod"/>
            </a:pPr>
            <a:r>
              <a:rPr lang="en-HK" dirty="0" smtClean="0"/>
              <a:t>(2) and (3) only</a:t>
            </a:r>
          </a:p>
        </p:txBody>
      </p:sp>
      <p:sp>
        <p:nvSpPr>
          <p:cNvPr id="3" name="Slide Number Placeholder 2"/>
          <p:cNvSpPr>
            <a:spLocks noGrp="1"/>
          </p:cNvSpPr>
          <p:nvPr>
            <p:ph type="sldNum" sz="quarter" idx="12"/>
          </p:nvPr>
        </p:nvSpPr>
        <p:spPr/>
        <p:txBody>
          <a:bodyPr/>
          <a:lstStyle/>
          <a:p>
            <a:fld id="{6D22F896-40B5-4ADD-8801-0D06FADFA095}" type="slidenum">
              <a:rPr lang="en-US" smtClean="0"/>
              <a:t>13</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37329177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smtClean="0">
                <a:solidFill>
                  <a:srgbClr val="37A3D4"/>
                </a:solidFill>
              </a:rPr>
              <a:t>Analysis</a:t>
            </a:r>
          </a:p>
          <a:p>
            <a:pPr>
              <a:buSzPct val="100000"/>
            </a:pPr>
            <a:r>
              <a:rPr lang="en-US" dirty="0"/>
              <a:t>(1) is format check and (3) is length check. Both are reasonable methods to validate an HKID number. However, only (2) is considered as validating by check digit.</a:t>
            </a:r>
            <a:endParaRPr lang="en-HK" b="1" dirty="0">
              <a:solidFill>
                <a:srgbClr val="37A3D4"/>
              </a:solidFill>
            </a:endParaRPr>
          </a:p>
          <a:p>
            <a:pPr>
              <a:buSzPct val="100000"/>
            </a:pP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p>
          <a:p>
            <a:pPr>
              <a:buSzPct val="100000"/>
            </a:pPr>
            <a:r>
              <a:rPr lang="en-HK" dirty="0" smtClean="0"/>
              <a:t>The answer is B.</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14</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37455070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smtClean="0"/>
              <a:t>During </a:t>
            </a:r>
            <a:r>
              <a:rPr lang="en-US" dirty="0"/>
              <a:t>data transmission, four binary codes are received. Given that only one of the codes passes the parity check, which of the codes passes</a:t>
            </a:r>
            <a:r>
              <a:rPr lang="en-US" dirty="0" smtClean="0"/>
              <a:t>?</a:t>
            </a:r>
          </a:p>
          <a:p>
            <a:pPr marL="800100" lvl="1" indent="-342900">
              <a:buFont typeface="+mj-lt"/>
              <a:buAutoNum type="alphaUcPeriod"/>
            </a:pPr>
            <a:endParaRPr lang="en-HK" dirty="0" smtClean="0"/>
          </a:p>
          <a:p>
            <a:pPr marL="914400" lvl="1" indent="-457200">
              <a:buSzPct val="100000"/>
              <a:buFont typeface="+mj-lt"/>
              <a:buAutoNum type="alphaUcPeriod"/>
            </a:pPr>
            <a:r>
              <a:rPr lang="en-HK" sz="2000" dirty="0" smtClean="0"/>
              <a:t>1101 1000</a:t>
            </a:r>
          </a:p>
          <a:p>
            <a:pPr marL="914400" lvl="1" indent="-457200">
              <a:buSzPct val="100000"/>
              <a:buFont typeface="+mj-lt"/>
              <a:buAutoNum type="alphaUcPeriod"/>
            </a:pPr>
            <a:r>
              <a:rPr lang="en-HK" sz="2000" dirty="0" smtClean="0"/>
              <a:t>1110 1011</a:t>
            </a:r>
          </a:p>
          <a:p>
            <a:pPr marL="914400" lvl="1" indent="-457200">
              <a:buSzPct val="100000"/>
              <a:buFont typeface="+mj-lt"/>
              <a:buAutoNum type="alphaUcPeriod"/>
            </a:pPr>
            <a:r>
              <a:rPr lang="en-HK" sz="2000" dirty="0" smtClean="0"/>
              <a:t>0010 0101</a:t>
            </a:r>
          </a:p>
          <a:p>
            <a:pPr marL="914400" lvl="1" indent="-457200">
              <a:buSzPct val="100000"/>
              <a:buFont typeface="+mj-lt"/>
              <a:buAutoNum type="alphaUcPeriod"/>
            </a:pPr>
            <a:r>
              <a:rPr lang="en-HK" sz="2000" dirty="0" smtClean="0"/>
              <a:t>0100 1000</a:t>
            </a:r>
          </a:p>
        </p:txBody>
      </p:sp>
      <p:sp>
        <p:nvSpPr>
          <p:cNvPr id="3" name="Slide Number Placeholder 2"/>
          <p:cNvSpPr>
            <a:spLocks noGrp="1"/>
          </p:cNvSpPr>
          <p:nvPr>
            <p:ph type="sldNum" sz="quarter" idx="12"/>
          </p:nvPr>
        </p:nvSpPr>
        <p:spPr/>
        <p:txBody>
          <a:bodyPr/>
          <a:lstStyle/>
          <a:p>
            <a:fld id="{6D22F896-40B5-4ADD-8801-0D06FADFA095}" type="slidenum">
              <a:rPr lang="en-US" smtClean="0"/>
              <a:t>15</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25521490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indent="-342900">
              <a:buSzPct val="100000"/>
              <a:buFont typeface="Noto Sans CJK TC Regular" panose="020B0500000000000000" pitchFamily="34" charset="-128"/>
              <a:buChar char="◣"/>
            </a:pPr>
            <a:r>
              <a:rPr lang="en-HK" b="1" dirty="0" smtClean="0">
                <a:solidFill>
                  <a:srgbClr val="37A3D4"/>
                </a:solidFill>
              </a:rPr>
              <a:t>Analysis</a:t>
            </a:r>
          </a:p>
          <a:p>
            <a:pPr>
              <a:buSzPct val="100000"/>
            </a:pPr>
            <a:r>
              <a:rPr lang="en-US" dirty="0"/>
              <a:t>The question does not state which parity check it is using. However, it states that only one passes the parity check. Therefore, we need to count the total number of 1s for each </a:t>
            </a:r>
            <a:r>
              <a:rPr lang="en-US" dirty="0" smtClean="0"/>
              <a:t>code.</a:t>
            </a:r>
          </a:p>
          <a:p>
            <a:pPr>
              <a:buSzPct val="100000"/>
            </a:pPr>
            <a:endParaRPr lang="en-HK" b="1" dirty="0">
              <a:solidFill>
                <a:srgbClr val="37A3D4"/>
              </a:solidFill>
            </a:endParaRPr>
          </a:p>
          <a:p>
            <a:pPr>
              <a:buSzPct val="100000"/>
            </a:pPr>
            <a:endParaRPr lang="en-HK" b="1" dirty="0" smtClean="0">
              <a:solidFill>
                <a:srgbClr val="37A3D4"/>
              </a:solidFill>
            </a:endParaRPr>
          </a:p>
          <a:p>
            <a:pPr>
              <a:buSzPct val="100000"/>
            </a:pPr>
            <a:r>
              <a:rPr lang="en-HK" b="1" dirty="0" smtClean="0">
                <a:solidFill>
                  <a:srgbClr val="37A3D4"/>
                </a:solidFill>
              </a:rPr>
              <a:t/>
            </a:r>
            <a:br>
              <a:rPr lang="en-HK" b="1" dirty="0" smtClean="0">
                <a:solidFill>
                  <a:srgbClr val="37A3D4"/>
                </a:solidFill>
              </a:rPr>
            </a:br>
            <a:endParaRPr lang="en-HK" b="1" dirty="0" smtClean="0">
              <a:solidFill>
                <a:srgbClr val="37A3D4"/>
              </a:solidFill>
            </a:endParaRPr>
          </a:p>
          <a:p>
            <a:pPr>
              <a:buSzPct val="100000"/>
            </a:pPr>
            <a:r>
              <a:rPr lang="en-HK" b="1" dirty="0" smtClean="0">
                <a:solidFill>
                  <a:srgbClr val="37A3D4"/>
                </a:solidFill>
              </a:rPr>
              <a:t/>
            </a:r>
            <a:br>
              <a:rPr lang="en-HK" b="1" dirty="0" smtClean="0">
                <a:solidFill>
                  <a:srgbClr val="37A3D4"/>
                </a:solidFill>
              </a:rPr>
            </a:br>
            <a:r>
              <a:rPr lang="en-HK" dirty="0" smtClean="0"/>
              <a:t>Only one of the binary codes has an odd number of 1s.</a:t>
            </a: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p>
          <a:p>
            <a:pPr>
              <a:buSzPct val="100000"/>
            </a:pPr>
            <a:r>
              <a:rPr lang="en-HK" dirty="0" smtClean="0"/>
              <a:t>The answer is C.</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16</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05105010"/>
              </p:ext>
            </p:extLst>
          </p:nvPr>
        </p:nvGraphicFramePr>
        <p:xfrm>
          <a:off x="3503253" y="2756284"/>
          <a:ext cx="5250051" cy="1828800"/>
        </p:xfrm>
        <a:graphic>
          <a:graphicData uri="http://schemas.openxmlformats.org/drawingml/2006/table">
            <a:tbl>
              <a:tblPr firstRow="1" bandRow="1">
                <a:tableStyleId>{5940675A-B579-460E-94D1-54222C63F5DA}</a:tableStyleId>
              </a:tblPr>
              <a:tblGrid>
                <a:gridCol w="1142913"/>
                <a:gridCol w="2079285"/>
                <a:gridCol w="2027853"/>
              </a:tblGrid>
              <a:tr h="314929">
                <a:tc>
                  <a:txBody>
                    <a:bodyPr/>
                    <a:lstStyle/>
                    <a:p>
                      <a:pPr algn="ctr"/>
                      <a:r>
                        <a:rPr lang="en-HK" b="1" dirty="0" smtClean="0">
                          <a:solidFill>
                            <a:schemeClr val="bg1"/>
                          </a:solidFill>
                        </a:rPr>
                        <a:t>Option</a:t>
                      </a:r>
                      <a:endParaRPr lang="en-US" b="1" dirty="0">
                        <a:solidFill>
                          <a:schemeClr val="bg1"/>
                        </a:solidFill>
                      </a:endParaRPr>
                    </a:p>
                  </a:txBody>
                  <a:tcPr>
                    <a:lnL w="12700" cap="flat" cmpd="sng" algn="ctr">
                      <a:solidFill>
                        <a:srgbClr val="37A3D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solidFill>
                      <a:srgbClr val="37A3D4"/>
                    </a:solidFill>
                  </a:tcPr>
                </a:tc>
                <a:tc>
                  <a:txBody>
                    <a:bodyPr/>
                    <a:lstStyle/>
                    <a:p>
                      <a:pPr algn="ctr"/>
                      <a:r>
                        <a:rPr lang="en-HK" b="1" dirty="0" smtClean="0">
                          <a:solidFill>
                            <a:schemeClr val="bg1"/>
                          </a:solidFill>
                        </a:rPr>
                        <a:t>Binary code</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solidFill>
                      <a:srgbClr val="37A3D4"/>
                    </a:solidFill>
                  </a:tcPr>
                </a:tc>
                <a:tc>
                  <a:txBody>
                    <a:bodyPr/>
                    <a:lstStyle/>
                    <a:p>
                      <a:pPr algn="ctr"/>
                      <a:r>
                        <a:rPr lang="en-HK" b="1" dirty="0" smtClean="0">
                          <a:solidFill>
                            <a:schemeClr val="bg1"/>
                          </a:solidFill>
                        </a:rPr>
                        <a:t>Total</a:t>
                      </a:r>
                      <a:r>
                        <a:rPr lang="en-HK" b="1" baseline="0" dirty="0" smtClean="0">
                          <a:solidFill>
                            <a:schemeClr val="bg1"/>
                          </a:solidFill>
                        </a:rPr>
                        <a:t> number of 1s</a:t>
                      </a:r>
                      <a:endParaRPr lang="en-US"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solidFill>
                      <a:srgbClr val="37A3D4"/>
                    </a:solidFill>
                  </a:tcPr>
                </a:tc>
              </a:tr>
              <a:tr h="314929">
                <a:tc>
                  <a:txBody>
                    <a:bodyPr/>
                    <a:lstStyle/>
                    <a:p>
                      <a:pPr algn="ctr"/>
                      <a:r>
                        <a:rPr lang="en-HK" dirty="0" smtClean="0"/>
                        <a:t>A</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pPr algn="ctr"/>
                      <a:r>
                        <a:rPr lang="en-HK" dirty="0" smtClean="0"/>
                        <a:t>1101 1000</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pPr algn="ctr"/>
                      <a:r>
                        <a:rPr lang="en-HK" dirty="0" smtClean="0"/>
                        <a:t>4</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r>
              <a:tr h="314929">
                <a:tc>
                  <a:txBody>
                    <a:bodyPr/>
                    <a:lstStyle/>
                    <a:p>
                      <a:pPr algn="ctr"/>
                      <a:r>
                        <a:rPr lang="en-HK" dirty="0" smtClean="0"/>
                        <a:t>B</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pPr algn="ctr"/>
                      <a:r>
                        <a:rPr lang="en-HK" dirty="0" smtClean="0"/>
                        <a:t>1110 1011</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pPr algn="ctr"/>
                      <a:r>
                        <a:rPr lang="en-HK" dirty="0" smtClean="0"/>
                        <a:t>6</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r>
              <a:tr h="314929">
                <a:tc>
                  <a:txBody>
                    <a:bodyPr/>
                    <a:lstStyle/>
                    <a:p>
                      <a:pPr algn="ctr"/>
                      <a:r>
                        <a:rPr lang="en-HK" dirty="0" smtClean="0"/>
                        <a:t>C</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pPr algn="ctr"/>
                      <a:r>
                        <a:rPr lang="en-HK" dirty="0" smtClean="0"/>
                        <a:t>0010 0101</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pPr algn="ctr"/>
                      <a:r>
                        <a:rPr lang="en-HK" dirty="0" smtClean="0"/>
                        <a:t>3</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r>
              <a:tr h="314929">
                <a:tc>
                  <a:txBody>
                    <a:bodyPr/>
                    <a:lstStyle/>
                    <a:p>
                      <a:pPr algn="ctr"/>
                      <a:r>
                        <a:rPr lang="en-HK" dirty="0" smtClean="0"/>
                        <a:t>D</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pPr algn="ctr"/>
                      <a:r>
                        <a:rPr lang="en-HK" dirty="0" smtClean="0"/>
                        <a:t>0100 1000</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pPr algn="ctr"/>
                      <a:r>
                        <a:rPr lang="en-HK" dirty="0" smtClean="0"/>
                        <a:t>2</a:t>
                      </a:r>
                      <a:endParaRPr lang="en-US"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994273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smtClean="0"/>
              <a:t>Finish Checkpoint 2.1 on P. 40-41 of the textbook.</a:t>
            </a:r>
          </a:p>
          <a:p>
            <a:endParaRPr lang="en-HK" dirty="0"/>
          </a:p>
          <a:p>
            <a:pPr marL="457200" indent="-457200">
              <a:buAutoNum type="arabicPeriod"/>
            </a:pPr>
            <a:r>
              <a:rPr lang="en-HK" dirty="0" smtClean="0">
                <a:solidFill>
                  <a:srgbClr val="FF0000"/>
                </a:solidFill>
              </a:rPr>
              <a:t>B</a:t>
            </a:r>
          </a:p>
          <a:p>
            <a:pPr marL="457200" indent="-457200">
              <a:buAutoNum type="arabicPeriod"/>
            </a:pPr>
            <a:r>
              <a:rPr lang="en-HK" dirty="0" smtClean="0">
                <a:solidFill>
                  <a:srgbClr val="FF0000"/>
                </a:solidFill>
              </a:rPr>
              <a:t>D</a:t>
            </a:r>
          </a:p>
          <a:p>
            <a:pPr marL="457200" indent="-457200">
              <a:buAutoNum type="arabicPeriod"/>
            </a:pPr>
            <a:r>
              <a:rPr lang="en-HK" dirty="0">
                <a:solidFill>
                  <a:srgbClr val="FF0000"/>
                </a:solidFill>
              </a:rPr>
              <a:t>C</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17</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293799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Data verification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18</a:t>
            </a:fld>
            <a:endParaRPr lang="en-US" dirty="0"/>
          </a:p>
        </p:txBody>
      </p:sp>
      <p:sp>
        <p:nvSpPr>
          <p:cNvPr id="4" name="Text Placeholder 3"/>
          <p:cNvSpPr>
            <a:spLocks noGrp="1"/>
          </p:cNvSpPr>
          <p:nvPr>
            <p:ph type="body" sz="quarter" idx="14"/>
          </p:nvPr>
        </p:nvSpPr>
        <p:spPr/>
        <p:txBody>
          <a:bodyPr/>
          <a:lstStyle/>
          <a:p>
            <a:r>
              <a:rPr lang="en-HK" dirty="0" smtClean="0"/>
              <a:t>C</a:t>
            </a:r>
            <a:endParaRPr lang="en-US" dirty="0"/>
          </a:p>
        </p:txBody>
      </p:sp>
      <p:sp>
        <p:nvSpPr>
          <p:cNvPr id="5" name="Content Placeholder 4"/>
          <p:cNvSpPr>
            <a:spLocks noGrp="1"/>
          </p:cNvSpPr>
          <p:nvPr>
            <p:ph sz="quarter" idx="15"/>
          </p:nvPr>
        </p:nvSpPr>
        <p:spPr/>
        <p:txBody>
          <a:bodyPr/>
          <a:lstStyle/>
          <a:p>
            <a:r>
              <a:rPr lang="en-US" dirty="0" smtClean="0"/>
              <a:t>Data verification </a:t>
            </a:r>
            <a:r>
              <a:rPr lang="en-US" dirty="0"/>
              <a:t>helps us determine whether the data is accurate and consistent when being transferred between media</a:t>
            </a:r>
            <a:r>
              <a:rPr lang="en-US" dirty="0" smtClean="0"/>
              <a:t>. Different types of data verification include:</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984947083"/>
              </p:ext>
            </p:extLst>
          </p:nvPr>
        </p:nvGraphicFramePr>
        <p:xfrm>
          <a:off x="1893730" y="2571213"/>
          <a:ext cx="8405740" cy="3717987"/>
        </p:xfrm>
        <a:graphic>
          <a:graphicData uri="http://schemas.openxmlformats.org/drawingml/2006/table">
            <a:tbl>
              <a:tblPr firstRow="1" bandRow="1">
                <a:tableStyleId>{5940675A-B579-460E-94D1-54222C63F5DA}</a:tableStyleId>
              </a:tblPr>
              <a:tblGrid>
                <a:gridCol w="3685425"/>
                <a:gridCol w="4720315"/>
              </a:tblGrid>
              <a:tr h="483183">
                <a:tc>
                  <a:txBody>
                    <a:bodyPr/>
                    <a:lstStyle/>
                    <a:p>
                      <a:pPr algn="ctr"/>
                      <a:r>
                        <a:rPr lang="en-HK" b="1" dirty="0" smtClean="0">
                          <a:solidFill>
                            <a:schemeClr val="bg1"/>
                          </a:solidFill>
                        </a:rPr>
                        <a:t>Type</a:t>
                      </a:r>
                      <a:endParaRPr lang="en-US" b="1" dirty="0">
                        <a:solidFill>
                          <a:schemeClr val="bg1"/>
                        </a:solidFill>
                      </a:endParaRPr>
                    </a:p>
                  </a:txBody>
                  <a:tcPr anchor="ctr">
                    <a:lnL w="12700" cap="flat" cmpd="sng" algn="ctr">
                      <a:solidFill>
                        <a:srgbClr val="145897"/>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b="1" dirty="0" smtClean="0">
                          <a:solidFill>
                            <a:schemeClr val="bg1"/>
                          </a:solidFill>
                        </a:rPr>
                        <a:t>Description</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r>
              <a:tr h="1013424">
                <a:tc>
                  <a:txBody>
                    <a:bodyPr/>
                    <a:lstStyle/>
                    <a:p>
                      <a:r>
                        <a:rPr lang="en-HK" dirty="0" smtClean="0"/>
                        <a:t>Inputting data twice</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requires an operator to input the </a:t>
                      </a:r>
                    </a:p>
                    <a:p>
                      <a:r>
                        <a:rPr lang="en-US" dirty="0" smtClean="0"/>
                        <a:t>same data twice.</a:t>
                      </a:r>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1013424">
                <a:tc>
                  <a:txBody>
                    <a:bodyPr/>
                    <a:lstStyle/>
                    <a:p>
                      <a:r>
                        <a:rPr lang="en-HK" dirty="0" smtClean="0"/>
                        <a:t>Double data entry</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requires two operators to input the </a:t>
                      </a:r>
                    </a:p>
                    <a:p>
                      <a:r>
                        <a:rPr lang="en-US" dirty="0" smtClean="0"/>
                        <a:t>same data independently.</a:t>
                      </a:r>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1207956">
                <a:tc>
                  <a:txBody>
                    <a:bodyPr/>
                    <a:lstStyle/>
                    <a:p>
                      <a:r>
                        <a:rPr lang="en-HK" dirty="0" smtClean="0"/>
                        <a:t>Proofreading</a:t>
                      </a:r>
                      <a:r>
                        <a:rPr lang="en-HK" baseline="0" dirty="0" smtClean="0"/>
                        <a:t> data</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r>
                        <a:rPr lang="en-US" dirty="0" smtClean="0"/>
                        <a:t>It requires another operator to compare </a:t>
                      </a:r>
                    </a:p>
                    <a:p>
                      <a:r>
                        <a:rPr lang="en-US" dirty="0" smtClean="0"/>
                        <a:t>the input data against the original </a:t>
                      </a:r>
                    </a:p>
                    <a:p>
                      <a:r>
                        <a:rPr lang="en-US" dirty="0" smtClean="0"/>
                        <a:t>document.</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567714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457200" indent="-457200">
              <a:buAutoNum type="arabicPeriod"/>
            </a:pPr>
            <a:r>
              <a:rPr lang="en-US" sz="1800" dirty="0" smtClean="0"/>
              <a:t>Fred </a:t>
            </a:r>
            <a:r>
              <a:rPr lang="en-US" sz="1800" dirty="0"/>
              <a:t>has an account on an online forum. He wants to change the email address of his account. The forum requires him to fill in the following online form</a:t>
            </a:r>
            <a:r>
              <a:rPr lang="en-US" sz="1800" dirty="0" smtClean="0"/>
              <a:t>.</a:t>
            </a:r>
          </a:p>
          <a:p>
            <a:pPr lvl="1"/>
            <a:r>
              <a:rPr lang="en-US" dirty="0"/>
              <a:t>Some errors occur when Fred tries to submit the form. Which of the following data control methods </a:t>
            </a:r>
            <a:r>
              <a:rPr lang="en-US" dirty="0" smtClean="0"/>
              <a:t>are </a:t>
            </a:r>
            <a:r>
              <a:rPr lang="en-US" dirty="0"/>
              <a:t>seen in this online form</a:t>
            </a:r>
            <a:r>
              <a:rPr lang="en-US" dirty="0" smtClean="0"/>
              <a:t>?</a:t>
            </a:r>
            <a:br>
              <a:rPr lang="en-US" dirty="0" smtClean="0"/>
            </a:br>
            <a:endParaRPr lang="en-US" dirty="0" smtClean="0"/>
          </a:p>
          <a:p>
            <a:pPr marL="1257300" lvl="2" indent="-342900">
              <a:buSzPct val="100000"/>
              <a:buAutoNum type="arabicParenBoth"/>
            </a:pPr>
            <a:r>
              <a:rPr lang="en-HK" sz="1800" dirty="0" smtClean="0"/>
              <a:t>Type check</a:t>
            </a:r>
          </a:p>
          <a:p>
            <a:pPr marL="1257300" lvl="2" indent="-342900">
              <a:buSzPct val="100000"/>
              <a:buAutoNum type="arabicParenBoth"/>
            </a:pPr>
            <a:r>
              <a:rPr lang="en-HK" sz="1800" dirty="0" smtClean="0"/>
              <a:t>Presence check</a:t>
            </a:r>
          </a:p>
          <a:p>
            <a:pPr marL="1257300" lvl="2" indent="-342900">
              <a:buSzPct val="100000"/>
              <a:buAutoNum type="arabicParenBoth"/>
            </a:pPr>
            <a:r>
              <a:rPr lang="en-HK" sz="1800" dirty="0" smtClean="0"/>
              <a:t>Verification by inputting data twice</a:t>
            </a:r>
            <a:br>
              <a:rPr lang="en-HK" sz="1800" dirty="0" smtClean="0"/>
            </a:br>
            <a:endParaRPr lang="en-HK" sz="1800" dirty="0"/>
          </a:p>
          <a:p>
            <a:pPr marL="914400" lvl="1" indent="-457200">
              <a:buSzPct val="100000"/>
              <a:buAutoNum type="alphaUcPeriod"/>
            </a:pPr>
            <a:r>
              <a:rPr lang="en-HK" sz="2000" dirty="0" smtClean="0"/>
              <a:t>(1) and (2) only</a:t>
            </a:r>
          </a:p>
          <a:p>
            <a:pPr marL="914400" lvl="1" indent="-457200">
              <a:buSzPct val="100000"/>
              <a:buAutoNum type="alphaUcPeriod"/>
            </a:pPr>
            <a:r>
              <a:rPr lang="en-HK" sz="2000" dirty="0" smtClean="0"/>
              <a:t>(1) and (3) only</a:t>
            </a:r>
          </a:p>
          <a:p>
            <a:pPr marL="914400" lvl="1" indent="-457200">
              <a:buSzPct val="100000"/>
              <a:buAutoNum type="alphaUcPeriod"/>
            </a:pPr>
            <a:r>
              <a:rPr lang="en-HK" sz="2000" dirty="0" smtClean="0"/>
              <a:t>(2) and (3) only</a:t>
            </a:r>
          </a:p>
          <a:p>
            <a:pPr marL="914400" lvl="1" indent="-457200">
              <a:buSzPct val="100000"/>
              <a:buAutoNum type="alphaUcPeriod"/>
            </a:pPr>
            <a:r>
              <a:rPr lang="en-HK" sz="2000" dirty="0" smtClean="0"/>
              <a:t>(1), (2) and (3)</a:t>
            </a:r>
            <a:endParaRPr lang="en-US" sz="2000" dirty="0" smtClean="0"/>
          </a:p>
          <a:p>
            <a:pPr marL="457200" indent="-457200">
              <a:buAutoNum type="arabicPeriod"/>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19</a:t>
            </a:fld>
            <a:endParaRPr lang="en-US" dirty="0"/>
          </a:p>
        </p:txBody>
      </p:sp>
      <p:sp>
        <p:nvSpPr>
          <p:cNvPr id="4" name="Text Placeholder 3"/>
          <p:cNvSpPr>
            <a:spLocks noGrp="1"/>
          </p:cNvSpPr>
          <p:nvPr>
            <p:ph type="body" sz="quarter" idx="13"/>
          </p:nvPr>
        </p:nvSpPr>
        <p:spPr/>
        <p:txBody>
          <a:bodyPr/>
          <a:lstStyle/>
          <a:p>
            <a:r>
              <a:rPr lang="en-HK" dirty="0" smtClean="0"/>
              <a:t>2.2</a:t>
            </a:r>
            <a:endParaRPr lang="en-US" dirty="0"/>
          </a:p>
        </p:txBody>
      </p:sp>
      <p:pic>
        <p:nvPicPr>
          <p:cNvPr id="8" name="Picture 7"/>
          <p:cNvPicPr>
            <a:picLocks noChangeAspect="1"/>
          </p:cNvPicPr>
          <p:nvPr/>
        </p:nvPicPr>
        <p:blipFill>
          <a:blip r:embed="rId2"/>
          <a:stretch>
            <a:fillRect/>
          </a:stretch>
        </p:blipFill>
        <p:spPr>
          <a:xfrm>
            <a:off x="6218438" y="3198512"/>
            <a:ext cx="5036995" cy="2216278"/>
          </a:xfrm>
          <a:prstGeom prst="rect">
            <a:avLst/>
          </a:prstGeom>
        </p:spPr>
      </p:pic>
    </p:spTree>
    <p:extLst>
      <p:ext uri="{BB962C8B-B14F-4D97-AF65-F5344CB8AC3E}">
        <p14:creationId xmlns:p14="http://schemas.microsoft.com/office/powerpoint/2010/main" val="3517363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indent="-342900">
              <a:buSzPct val="100000"/>
              <a:buFont typeface="Noto Sans CJK TC Regular" panose="020B0500000000000000" pitchFamily="34" charset="-128"/>
              <a:buChar char="◣"/>
            </a:pPr>
            <a:r>
              <a:rPr lang="en-HK" b="1" dirty="0" smtClean="0">
                <a:solidFill>
                  <a:srgbClr val="37A3D4"/>
                </a:solidFill>
              </a:rPr>
              <a:t>Analysis</a:t>
            </a:r>
          </a:p>
          <a:p>
            <a:pPr>
              <a:buSzPct val="100000"/>
            </a:pPr>
            <a:r>
              <a:rPr lang="en-US" dirty="0"/>
              <a:t>The field “Existing email address” cannot be empty. That means a presence check is applied to make sure this field is filled</a:t>
            </a:r>
            <a:r>
              <a:rPr lang="en-US" dirty="0" smtClean="0"/>
              <a:t>.</a:t>
            </a:r>
            <a:br>
              <a:rPr lang="en-US" dirty="0" smtClean="0"/>
            </a:br>
            <a:endParaRPr lang="en-US" dirty="0" smtClean="0"/>
          </a:p>
          <a:p>
            <a:pPr>
              <a:buSzPct val="100000"/>
            </a:pPr>
            <a:r>
              <a:rPr lang="en-US" dirty="0"/>
              <a:t>The field “New email address” has an error stating that the email address is invalid. It is because the email address does not contain a “@” symbol and thus its format is wrong. That is a format check, not a type check</a:t>
            </a:r>
            <a:r>
              <a:rPr lang="en-US" dirty="0" smtClean="0"/>
              <a:t>.</a:t>
            </a:r>
            <a:br>
              <a:rPr lang="en-US" dirty="0" smtClean="0"/>
            </a:br>
            <a:endParaRPr lang="en-HK" b="1" dirty="0">
              <a:solidFill>
                <a:srgbClr val="37A3D4"/>
              </a:solidFill>
            </a:endParaRPr>
          </a:p>
          <a:p>
            <a:pPr>
              <a:buSzPct val="100000"/>
            </a:pPr>
            <a:r>
              <a:rPr lang="en-US" dirty="0"/>
              <a:t>Every user is required to input their new email address twice. That means there is verification by inputting data twice</a:t>
            </a:r>
            <a:r>
              <a:rPr lang="en-US" dirty="0" smtClean="0"/>
              <a:t>.</a:t>
            </a: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a:t>
            </a:r>
            <a:r>
              <a:rPr lang="en-HK" dirty="0" smtClean="0"/>
              <a:t>C.</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20</a:t>
            </a:fld>
            <a:endParaRPr lang="en-US" dirty="0"/>
          </a:p>
        </p:txBody>
      </p:sp>
      <p:sp>
        <p:nvSpPr>
          <p:cNvPr id="4" name="Text Placeholder 3"/>
          <p:cNvSpPr>
            <a:spLocks noGrp="1"/>
          </p:cNvSpPr>
          <p:nvPr>
            <p:ph type="body" sz="quarter" idx="13"/>
          </p:nvPr>
        </p:nvSpPr>
        <p:spPr/>
        <p:txBody>
          <a:bodyPr/>
          <a:lstStyle/>
          <a:p>
            <a:r>
              <a:rPr lang="en-HK" dirty="0" smtClean="0"/>
              <a:t>2.2</a:t>
            </a:r>
            <a:endParaRPr lang="en-US" dirty="0"/>
          </a:p>
        </p:txBody>
      </p:sp>
    </p:spTree>
    <p:extLst>
      <p:ext uri="{BB962C8B-B14F-4D97-AF65-F5344CB8AC3E}">
        <p14:creationId xmlns:p14="http://schemas.microsoft.com/office/powerpoint/2010/main" val="40745050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marL="457200" indent="-457200">
              <a:buAutoNum type="arabicPeriod"/>
            </a:pPr>
            <a:r>
              <a:rPr lang="en-US" sz="2200" dirty="0" smtClean="0"/>
              <a:t>An </a:t>
            </a:r>
            <a:r>
              <a:rPr lang="en-US" sz="2200" dirty="0"/>
              <a:t>operator entered several 8-bit binary codes from a paper document into an information system. However, one of the 8-bit binary codes was mistyped as shown below</a:t>
            </a:r>
            <a:r>
              <a:rPr lang="en-US" sz="2200" dirty="0" smtClean="0"/>
              <a:t>:</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a:t>Which of the following data control methods can help the operator find this error</a:t>
            </a:r>
            <a:r>
              <a:rPr lang="en-US" sz="2200" dirty="0" smtClean="0"/>
              <a:t>?</a:t>
            </a:r>
            <a:br>
              <a:rPr lang="en-US" sz="2200" dirty="0" smtClean="0"/>
            </a:br>
            <a:endParaRPr lang="en-US" sz="2200" dirty="0" smtClean="0"/>
          </a:p>
          <a:p>
            <a:pPr marL="1371600" lvl="2" indent="-457200">
              <a:buSzPct val="100000"/>
              <a:buAutoNum type="arabicParenBoth"/>
            </a:pPr>
            <a:r>
              <a:rPr lang="en-HK" sz="2200" dirty="0" smtClean="0"/>
              <a:t>Double data entry</a:t>
            </a:r>
          </a:p>
          <a:p>
            <a:pPr marL="1371600" lvl="2" indent="-457200">
              <a:buSzPct val="100000"/>
              <a:buAutoNum type="arabicParenBoth"/>
            </a:pPr>
            <a:r>
              <a:rPr lang="en-HK" sz="2200" dirty="0" smtClean="0"/>
              <a:t>Parity check</a:t>
            </a:r>
          </a:p>
          <a:p>
            <a:pPr marL="1371600" lvl="2" indent="-457200">
              <a:buSzPct val="100000"/>
              <a:buAutoNum type="arabicParenBoth"/>
            </a:pPr>
            <a:r>
              <a:rPr lang="en-HK" sz="2200" dirty="0" smtClean="0"/>
              <a:t>Length check</a:t>
            </a:r>
            <a:br>
              <a:rPr lang="en-HK" sz="2200" dirty="0" smtClean="0"/>
            </a:br>
            <a:endParaRPr lang="en-HK" sz="2200" dirty="0" smtClean="0"/>
          </a:p>
          <a:p>
            <a:pPr marL="914400" lvl="1" indent="-457200">
              <a:buSzPct val="100000"/>
              <a:buAutoNum type="alphaUcPeriod"/>
            </a:pPr>
            <a:r>
              <a:rPr lang="en-HK" sz="2200" dirty="0" smtClean="0"/>
              <a:t>(1) only</a:t>
            </a:r>
          </a:p>
          <a:p>
            <a:pPr marL="914400" lvl="1" indent="-457200">
              <a:buSzPct val="100000"/>
              <a:buAutoNum type="alphaUcPeriod"/>
            </a:pPr>
            <a:r>
              <a:rPr lang="en-HK" sz="2200" dirty="0" smtClean="0"/>
              <a:t>(2) only</a:t>
            </a:r>
          </a:p>
          <a:p>
            <a:pPr marL="914400" lvl="1" indent="-457200">
              <a:buSzPct val="100000"/>
              <a:buAutoNum type="alphaUcPeriod"/>
            </a:pPr>
            <a:r>
              <a:rPr lang="en-HK" sz="2200" dirty="0" smtClean="0"/>
              <a:t>(1) and (3) only</a:t>
            </a:r>
          </a:p>
          <a:p>
            <a:pPr marL="914400" lvl="1" indent="-457200">
              <a:buSzPct val="100000"/>
              <a:buAutoNum type="alphaUcPeriod"/>
            </a:pPr>
            <a:r>
              <a:rPr lang="en-HK" sz="2200" dirty="0" smtClean="0"/>
              <a:t>(2) and (3) only</a:t>
            </a:r>
            <a:endParaRPr lang="en-US" sz="2200" dirty="0" smtClean="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21</a:t>
            </a:fld>
            <a:endParaRPr lang="en-US" dirty="0"/>
          </a:p>
        </p:txBody>
      </p:sp>
      <p:sp>
        <p:nvSpPr>
          <p:cNvPr id="4" name="Text Placeholder 3"/>
          <p:cNvSpPr>
            <a:spLocks noGrp="1"/>
          </p:cNvSpPr>
          <p:nvPr>
            <p:ph type="body" sz="quarter" idx="13"/>
          </p:nvPr>
        </p:nvSpPr>
        <p:spPr/>
        <p:txBody>
          <a:bodyPr/>
          <a:lstStyle/>
          <a:p>
            <a:r>
              <a:rPr lang="en-HK" dirty="0" smtClean="0"/>
              <a:t>2.2</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92722069"/>
              </p:ext>
            </p:extLst>
          </p:nvPr>
        </p:nvGraphicFramePr>
        <p:xfrm>
          <a:off x="1483361" y="2107892"/>
          <a:ext cx="5948218" cy="909628"/>
        </p:xfrm>
        <a:graphic>
          <a:graphicData uri="http://schemas.openxmlformats.org/drawingml/2006/table">
            <a:tbl>
              <a:tblPr firstRow="1" bandRow="1">
                <a:tableStyleId>{2D5ABB26-0587-4C30-8999-92F81FD0307C}</a:tableStyleId>
              </a:tblPr>
              <a:tblGrid>
                <a:gridCol w="2974109"/>
                <a:gridCol w="2974109"/>
              </a:tblGrid>
              <a:tr h="454814">
                <a:tc>
                  <a:txBody>
                    <a:bodyPr/>
                    <a:lstStyle/>
                    <a:p>
                      <a:pPr algn="ctr"/>
                      <a:r>
                        <a:rPr lang="en-HK" dirty="0" smtClean="0"/>
                        <a:t>Original binary code</a:t>
                      </a:r>
                      <a:endParaRPr lang="en-US" dirty="0"/>
                    </a:p>
                  </a:txBody>
                  <a:tcPr/>
                </a:tc>
                <a:tc>
                  <a:txBody>
                    <a:bodyPr/>
                    <a:lstStyle/>
                    <a:p>
                      <a:pPr algn="ctr"/>
                      <a:r>
                        <a:rPr lang="en-HK" dirty="0" smtClean="0"/>
                        <a:t>Mistyped binary code</a:t>
                      </a:r>
                      <a:endParaRPr lang="en-US" dirty="0"/>
                    </a:p>
                  </a:txBody>
                  <a:tcPr/>
                </a:tc>
              </a:tr>
              <a:tr h="454814">
                <a:tc>
                  <a:txBody>
                    <a:bodyPr/>
                    <a:lstStyle/>
                    <a:p>
                      <a:pPr algn="ctr"/>
                      <a:r>
                        <a:rPr lang="en-HK" dirty="0" smtClean="0">
                          <a:latin typeface="Courier New" panose="02070309020205020404" pitchFamily="49" charset="0"/>
                          <a:cs typeface="Courier New" panose="02070309020205020404" pitchFamily="49" charset="0"/>
                        </a:rPr>
                        <a:t>0010 0000</a:t>
                      </a:r>
                      <a:endParaRPr lang="en-US" dirty="0">
                        <a:latin typeface="Courier New" panose="02070309020205020404" pitchFamily="49" charset="0"/>
                        <a:cs typeface="Courier New" panose="02070309020205020404" pitchFamily="49" charset="0"/>
                      </a:endParaRPr>
                    </a:p>
                  </a:txBody>
                  <a:tcPr/>
                </a:tc>
                <a:tc>
                  <a:txBody>
                    <a:bodyPr/>
                    <a:lstStyle/>
                    <a:p>
                      <a:pPr algn="ctr"/>
                      <a:r>
                        <a:rPr lang="en-HK" dirty="0" smtClean="0">
                          <a:latin typeface="Courier New" panose="02070309020205020404" pitchFamily="49" charset="0"/>
                          <a:cs typeface="Courier New" panose="02070309020205020404" pitchFamily="49" charset="0"/>
                        </a:rPr>
                        <a:t>0100 000</a:t>
                      </a:r>
                      <a:endParaRPr lang="en-US" dirty="0">
                        <a:latin typeface="Courier New" panose="02070309020205020404" pitchFamily="49" charset="0"/>
                        <a:cs typeface="Courier New" panose="02070309020205020404" pitchFamily="49" charset="0"/>
                      </a:endParaRPr>
                    </a:p>
                  </a:txBody>
                  <a:tcPr/>
                </a:tc>
              </a:tr>
            </a:tbl>
          </a:graphicData>
        </a:graphic>
      </p:graphicFrame>
    </p:spTree>
    <p:extLst>
      <p:ext uri="{BB962C8B-B14F-4D97-AF65-F5344CB8AC3E}">
        <p14:creationId xmlns:p14="http://schemas.microsoft.com/office/powerpoint/2010/main" val="36025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6" end="6"/>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Functions of Database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22</a:t>
            </a:fld>
            <a:endParaRPr lang="en-US" dirty="0"/>
          </a:p>
        </p:txBody>
      </p:sp>
      <p:sp>
        <p:nvSpPr>
          <p:cNvPr id="4" name="Text Placeholder 3"/>
          <p:cNvSpPr>
            <a:spLocks noGrp="1"/>
          </p:cNvSpPr>
          <p:nvPr>
            <p:ph type="body" sz="quarter" idx="14"/>
          </p:nvPr>
        </p:nvSpPr>
        <p:spPr/>
        <p:txBody>
          <a:bodyPr/>
          <a:lstStyle/>
          <a:p>
            <a:r>
              <a:rPr lang="en-HK" dirty="0" smtClean="0"/>
              <a:t>2.3</a:t>
            </a:r>
            <a:endParaRPr lang="en-US" dirty="0"/>
          </a:p>
        </p:txBody>
      </p:sp>
      <p:sp>
        <p:nvSpPr>
          <p:cNvPr id="5" name="Content Placeholder 4"/>
          <p:cNvSpPr>
            <a:spLocks noGrp="1"/>
          </p:cNvSpPr>
          <p:nvPr>
            <p:ph sz="quarter" idx="15"/>
          </p:nvPr>
        </p:nvSpPr>
        <p:spPr/>
        <p:txBody>
          <a:bodyPr/>
          <a:lstStyle/>
          <a:p>
            <a:r>
              <a:rPr lang="en-HK" dirty="0" smtClean="0"/>
              <a:t>Do you know how a huge amount of data (e.g. book data in a library) is organised, stored and retrieved? </a:t>
            </a:r>
            <a:endParaRPr lang="en-HK" dirty="0"/>
          </a:p>
          <a:p>
            <a:r>
              <a:rPr lang="en-HK" dirty="0" smtClean="0"/>
              <a:t>The processes are done using database. </a:t>
            </a:r>
            <a:endParaRPr lang="en-US" dirty="0"/>
          </a:p>
        </p:txBody>
      </p:sp>
      <p:pic>
        <p:nvPicPr>
          <p:cNvPr id="6" name="Picture 5"/>
          <p:cNvPicPr>
            <a:picLocks noChangeAspect="1"/>
          </p:cNvPicPr>
          <p:nvPr/>
        </p:nvPicPr>
        <p:blipFill>
          <a:blip r:embed="rId2"/>
          <a:stretch>
            <a:fillRect/>
          </a:stretch>
        </p:blipFill>
        <p:spPr>
          <a:xfrm>
            <a:off x="5529921" y="2374088"/>
            <a:ext cx="4254160" cy="3809132"/>
          </a:xfrm>
          <a:prstGeom prst="rect">
            <a:avLst/>
          </a:prstGeom>
        </p:spPr>
      </p:pic>
    </p:spTree>
    <p:extLst>
      <p:ext uri="{BB962C8B-B14F-4D97-AF65-F5344CB8AC3E}">
        <p14:creationId xmlns:p14="http://schemas.microsoft.com/office/powerpoint/2010/main" val="17984595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Organisation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23</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a:t>The data in a database is </a:t>
            </a:r>
            <a:r>
              <a:rPr lang="en-US" dirty="0" err="1"/>
              <a:t>organised</a:t>
            </a:r>
            <a:r>
              <a:rPr lang="en-US" dirty="0"/>
              <a:t> according to the database structure. </a:t>
            </a:r>
            <a:endParaRPr lang="en-US" dirty="0" smtClean="0"/>
          </a:p>
          <a:p>
            <a:r>
              <a:rPr lang="en-US" dirty="0" smtClean="0"/>
              <a:t>A </a:t>
            </a:r>
            <a:r>
              <a:rPr lang="en-US" dirty="0"/>
              <a:t>good database structure enables a better communication between different tables and reduces data redundancy</a:t>
            </a:r>
            <a:r>
              <a:rPr lang="en-US" dirty="0" smtClean="0"/>
              <a:t>.</a:t>
            </a:r>
          </a:p>
          <a:p>
            <a:r>
              <a:rPr lang="en-HK" dirty="0" smtClean="0"/>
              <a:t>For example:</a:t>
            </a:r>
            <a:endParaRPr lang="en-US" dirty="0" smtClean="0"/>
          </a:p>
        </p:txBody>
      </p:sp>
      <p:graphicFrame>
        <p:nvGraphicFramePr>
          <p:cNvPr id="7" name="Table 6"/>
          <p:cNvGraphicFramePr>
            <a:graphicFrameLocks noGrp="1"/>
          </p:cNvGraphicFramePr>
          <p:nvPr>
            <p:extLst>
              <p:ext uri="{D42A27DB-BD31-4B8C-83A1-F6EECF244321}">
                <p14:modId xmlns:p14="http://schemas.microsoft.com/office/powerpoint/2010/main" val="1258349031"/>
              </p:ext>
            </p:extLst>
          </p:nvPr>
        </p:nvGraphicFramePr>
        <p:xfrm>
          <a:off x="1453155" y="3473155"/>
          <a:ext cx="8297674" cy="2932263"/>
        </p:xfrm>
        <a:graphic>
          <a:graphicData uri="http://schemas.openxmlformats.org/drawingml/2006/table">
            <a:tbl>
              <a:tblPr firstRow="1" bandRow="1">
                <a:tableStyleId>{5940675A-B579-460E-94D1-54222C63F5DA}</a:tableStyleId>
              </a:tblPr>
              <a:tblGrid>
                <a:gridCol w="1316806"/>
                <a:gridCol w="1686573"/>
                <a:gridCol w="5294295"/>
              </a:tblGrid>
              <a:tr h="452582">
                <a:tc>
                  <a:txBody>
                    <a:bodyPr/>
                    <a:lstStyle/>
                    <a:p>
                      <a:pPr algn="ctr"/>
                      <a:r>
                        <a:rPr lang="en-HK" b="1" dirty="0" smtClean="0">
                          <a:solidFill>
                            <a:schemeClr val="bg1"/>
                          </a:solidFill>
                        </a:rPr>
                        <a:t>Field</a:t>
                      </a:r>
                      <a:r>
                        <a:rPr lang="en-HK" b="1" baseline="0" dirty="0" smtClean="0">
                          <a:solidFill>
                            <a:schemeClr val="bg1"/>
                          </a:solidFill>
                        </a:rPr>
                        <a:t> name</a:t>
                      </a:r>
                      <a:endParaRPr lang="en-US" b="1" dirty="0">
                        <a:solidFill>
                          <a:schemeClr val="bg1"/>
                        </a:solidFill>
                      </a:endParaRPr>
                    </a:p>
                  </a:txBody>
                  <a:tcPr anchor="ctr">
                    <a:lnL w="12700" cap="flat" cmpd="sng" algn="ctr">
                      <a:solidFill>
                        <a:srgbClr val="145897"/>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b="1" dirty="0" smtClean="0">
                          <a:solidFill>
                            <a:schemeClr val="bg1"/>
                          </a:solidFill>
                        </a:rPr>
                        <a:t>Data</a:t>
                      </a:r>
                      <a:r>
                        <a:rPr lang="en-HK" b="1" baseline="0" dirty="0" smtClean="0">
                          <a:solidFill>
                            <a:schemeClr val="bg1"/>
                          </a:solidFill>
                        </a:rPr>
                        <a:t> type</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c>
                  <a:txBody>
                    <a:bodyPr/>
                    <a:lstStyle/>
                    <a:p>
                      <a:pPr algn="ctr"/>
                      <a:r>
                        <a:rPr lang="en-HK" b="1" dirty="0" smtClean="0">
                          <a:solidFill>
                            <a:schemeClr val="bg1"/>
                          </a:solidFill>
                        </a:rPr>
                        <a:t>Description</a:t>
                      </a:r>
                      <a:endParaRPr lang="en-US"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solidFill>
                      <a:srgbClr val="145897"/>
                    </a:solidFill>
                  </a:tcPr>
                </a:tc>
              </a:tr>
              <a:tr h="452582">
                <a:tc>
                  <a:txBody>
                    <a:bodyPr/>
                    <a:lstStyle/>
                    <a:p>
                      <a:pPr algn="ctr"/>
                      <a:r>
                        <a:rPr lang="en-HK" dirty="0" smtClean="0"/>
                        <a:t>SID</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String</a:t>
                      </a:r>
                      <a:endParaRPr lang="en-US" dirty="0" smtClean="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US" dirty="0" smtClean="0"/>
                        <a:t>The unique student ID of a student. A number cannot have leading </a:t>
                      </a:r>
                      <a:r>
                        <a:rPr lang="en-US" dirty="0" err="1" smtClean="0"/>
                        <a:t>zeros</a:t>
                      </a:r>
                      <a:r>
                        <a:rPr lang="en-US" dirty="0" smtClean="0"/>
                        <a:t>, thus it has to be stored as text.</a:t>
                      </a:r>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452582">
                <a:tc>
                  <a:txBody>
                    <a:bodyPr/>
                    <a:lstStyle/>
                    <a:p>
                      <a:pPr algn="ctr"/>
                      <a:r>
                        <a:rPr lang="en-HK" dirty="0" smtClean="0"/>
                        <a:t>NAME</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String</a:t>
                      </a:r>
                      <a:endParaRPr lang="en-US" dirty="0" smtClean="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US" dirty="0" smtClean="0"/>
                        <a:t>The name of a student.</a:t>
                      </a:r>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452582">
                <a:tc>
                  <a:txBody>
                    <a:bodyPr/>
                    <a:lstStyle/>
                    <a:p>
                      <a:pPr algn="ctr"/>
                      <a:r>
                        <a:rPr lang="en-HK" dirty="0" smtClean="0"/>
                        <a:t>SEX</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String</a:t>
                      </a:r>
                      <a:endParaRPr lang="en-US" dirty="0" smtClean="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US" dirty="0" smtClean="0"/>
                        <a:t>The sex of a student.</a:t>
                      </a:r>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452582">
                <a:tc>
                  <a:txBody>
                    <a:bodyPr/>
                    <a:lstStyle/>
                    <a:p>
                      <a:pPr algn="ctr"/>
                      <a:r>
                        <a:rPr lang="en-HK" dirty="0" smtClean="0"/>
                        <a:t>CLASS</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String</a:t>
                      </a:r>
                      <a:endParaRPr lang="en-US" dirty="0" smtClean="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US" dirty="0" smtClean="0"/>
                        <a:t>The class that a student belongs to.</a:t>
                      </a:r>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r h="481855">
                <a:tc>
                  <a:txBody>
                    <a:bodyPr/>
                    <a:lstStyle/>
                    <a:p>
                      <a:pPr algn="ctr"/>
                      <a:r>
                        <a:rPr lang="en-HK" dirty="0" smtClean="0"/>
                        <a:t>CNO</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HK" dirty="0" smtClean="0"/>
                        <a:t>Integer</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c>
                  <a:txBody>
                    <a:bodyPr/>
                    <a:lstStyle/>
                    <a:p>
                      <a:pPr algn="ctr"/>
                      <a:r>
                        <a:rPr lang="en-US" dirty="0" smtClean="0"/>
                        <a:t>The class number of a student.</a:t>
                      </a:r>
                      <a:endParaRPr lang="en-US" dirty="0"/>
                    </a:p>
                  </a:txBody>
                  <a:tcPr anchor="ctr">
                    <a:lnL w="12700" cap="flat" cmpd="sng" algn="ctr">
                      <a:solidFill>
                        <a:srgbClr val="145897"/>
                      </a:solidFill>
                      <a:prstDash val="solid"/>
                      <a:round/>
                      <a:headEnd type="none" w="med" len="med"/>
                      <a:tailEnd type="none" w="med" len="med"/>
                    </a:lnL>
                    <a:lnR w="12700" cap="flat" cmpd="sng" algn="ctr">
                      <a:solidFill>
                        <a:srgbClr val="145897"/>
                      </a:solidFill>
                      <a:prstDash val="solid"/>
                      <a:round/>
                      <a:headEnd type="none" w="med" len="med"/>
                      <a:tailEnd type="none" w="med" len="med"/>
                    </a:lnR>
                    <a:lnT w="12700" cap="flat" cmpd="sng" algn="ctr">
                      <a:solidFill>
                        <a:srgbClr val="145897"/>
                      </a:solidFill>
                      <a:prstDash val="solid"/>
                      <a:round/>
                      <a:headEnd type="none" w="med" len="med"/>
                      <a:tailEnd type="none" w="med" len="med"/>
                    </a:lnT>
                    <a:lnB w="12700" cap="flat" cmpd="sng" algn="ctr">
                      <a:solidFill>
                        <a:srgbClr val="145897"/>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862597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2598388626"/>
              </p:ext>
            </p:extLst>
          </p:nvPr>
        </p:nvGraphicFramePr>
        <p:xfrm>
          <a:off x="967971" y="2544071"/>
          <a:ext cx="10661534" cy="3848416"/>
        </p:xfrm>
        <a:graphic>
          <a:graphicData uri="http://schemas.openxmlformats.org/drawingml/2006/table">
            <a:tbl>
              <a:tblPr firstRow="1" bandRow="1">
                <a:tableStyleId>{5940675A-B579-460E-94D1-54222C63F5DA}</a:tableStyleId>
              </a:tblPr>
              <a:tblGrid>
                <a:gridCol w="3688226"/>
                <a:gridCol w="6973308"/>
              </a:tblGrid>
              <a:tr h="1130154">
                <a:tc>
                  <a:txBody>
                    <a:bodyPr/>
                    <a:lstStyle/>
                    <a:p>
                      <a:r>
                        <a:rPr lang="en-US" dirty="0" smtClean="0"/>
                        <a:t>Structured Query Language (SQL) </a:t>
                      </a:r>
                      <a:endParaRPr 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2718262">
                <a:tc>
                  <a:txBody>
                    <a:bodyPr/>
                    <a:lstStyle/>
                    <a:p>
                      <a:r>
                        <a:rPr lang="en-US" dirty="0" smtClean="0"/>
                        <a:t>Graphical User Interface (GUI)</a:t>
                      </a:r>
                      <a:endParaRPr 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
        <p:nvSpPr>
          <p:cNvPr id="2" name="Title 1"/>
          <p:cNvSpPr>
            <a:spLocks noGrp="1"/>
          </p:cNvSpPr>
          <p:nvPr>
            <p:ph type="title"/>
          </p:nvPr>
        </p:nvSpPr>
        <p:spPr/>
        <p:txBody>
          <a:bodyPr/>
          <a:lstStyle/>
          <a:p>
            <a:r>
              <a:rPr lang="en-HK" dirty="0" smtClean="0"/>
              <a:t>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24</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We can insert new records into a database, as well as change or delete existing records by </a:t>
            </a:r>
            <a:r>
              <a:rPr lang="en-US" dirty="0" smtClean="0"/>
              <a:t>using:</a:t>
            </a:r>
            <a:endParaRPr lang="en-US" dirty="0"/>
          </a:p>
        </p:txBody>
      </p:sp>
      <p:pic>
        <p:nvPicPr>
          <p:cNvPr id="6" name="Picture 5"/>
          <p:cNvPicPr>
            <a:picLocks noChangeAspect="1"/>
          </p:cNvPicPr>
          <p:nvPr/>
        </p:nvPicPr>
        <p:blipFill>
          <a:blip r:embed="rId2"/>
          <a:stretch>
            <a:fillRect/>
          </a:stretch>
        </p:blipFill>
        <p:spPr>
          <a:xfrm>
            <a:off x="5659333" y="3974075"/>
            <a:ext cx="5190895" cy="2323957"/>
          </a:xfrm>
          <a:prstGeom prst="rect">
            <a:avLst/>
          </a:prstGeom>
        </p:spPr>
      </p:pic>
      <p:pic>
        <p:nvPicPr>
          <p:cNvPr id="7" name="Picture 6"/>
          <p:cNvPicPr>
            <a:picLocks noChangeAspect="1"/>
          </p:cNvPicPr>
          <p:nvPr/>
        </p:nvPicPr>
        <p:blipFill>
          <a:blip r:embed="rId3"/>
          <a:stretch>
            <a:fillRect/>
          </a:stretch>
        </p:blipFill>
        <p:spPr>
          <a:xfrm>
            <a:off x="4909069" y="2754650"/>
            <a:ext cx="6691424" cy="803197"/>
          </a:xfrm>
          <a:prstGeom prst="rect">
            <a:avLst/>
          </a:prstGeom>
        </p:spPr>
      </p:pic>
    </p:spTree>
    <p:extLst>
      <p:ext uri="{BB962C8B-B14F-4D97-AF65-F5344CB8AC3E}">
        <p14:creationId xmlns:p14="http://schemas.microsoft.com/office/powerpoint/2010/main" val="26917080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Retrieval</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25</a:t>
            </a:fld>
            <a:endParaRPr lang="en-US" dirty="0"/>
          </a:p>
        </p:txBody>
      </p:sp>
      <p:sp>
        <p:nvSpPr>
          <p:cNvPr id="4" name="Text Placeholder 3"/>
          <p:cNvSpPr>
            <a:spLocks noGrp="1"/>
          </p:cNvSpPr>
          <p:nvPr>
            <p:ph type="body" sz="quarter" idx="14"/>
          </p:nvPr>
        </p:nvSpPr>
        <p:spPr/>
        <p:txBody>
          <a:bodyPr/>
          <a:lstStyle/>
          <a:p>
            <a:r>
              <a:rPr lang="en-HK" dirty="0" smtClean="0"/>
              <a:t>C</a:t>
            </a:r>
            <a:endParaRPr lang="en-US" dirty="0"/>
          </a:p>
        </p:txBody>
      </p:sp>
      <p:sp>
        <p:nvSpPr>
          <p:cNvPr id="5" name="Content Placeholder 4"/>
          <p:cNvSpPr>
            <a:spLocks noGrp="1"/>
          </p:cNvSpPr>
          <p:nvPr>
            <p:ph sz="quarter" idx="15"/>
          </p:nvPr>
        </p:nvSpPr>
        <p:spPr/>
        <p:txBody>
          <a:bodyPr/>
          <a:lstStyle/>
          <a:p>
            <a:r>
              <a:rPr lang="en-US" dirty="0"/>
              <a:t>We can retrieve specific data from a database by </a:t>
            </a:r>
            <a:r>
              <a:rPr lang="en-US" dirty="0" smtClean="0"/>
              <a:t>using:</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493862354"/>
              </p:ext>
            </p:extLst>
          </p:nvPr>
        </p:nvGraphicFramePr>
        <p:xfrm>
          <a:off x="967971" y="2544071"/>
          <a:ext cx="9697258" cy="3848416"/>
        </p:xfrm>
        <a:graphic>
          <a:graphicData uri="http://schemas.openxmlformats.org/drawingml/2006/table">
            <a:tbl>
              <a:tblPr firstRow="1" bandRow="1">
                <a:tableStyleId>{5940675A-B579-460E-94D1-54222C63F5DA}</a:tableStyleId>
              </a:tblPr>
              <a:tblGrid>
                <a:gridCol w="3354647"/>
                <a:gridCol w="6342611"/>
              </a:tblGrid>
              <a:tr h="1130154">
                <a:tc>
                  <a:txBody>
                    <a:bodyPr/>
                    <a:lstStyle/>
                    <a:p>
                      <a:r>
                        <a:rPr lang="en-US" dirty="0" smtClean="0"/>
                        <a:t>Structured Query Language (SQL) </a:t>
                      </a:r>
                      <a:endParaRPr 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2718262">
                <a:tc>
                  <a:txBody>
                    <a:bodyPr/>
                    <a:lstStyle/>
                    <a:p>
                      <a:r>
                        <a:rPr lang="en-US" dirty="0" smtClean="0"/>
                        <a:t>Graphical User Interface (GUI)</a:t>
                      </a:r>
                      <a:endParaRPr 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pic>
        <p:nvPicPr>
          <p:cNvPr id="7" name="Picture 6"/>
          <p:cNvPicPr>
            <a:picLocks noChangeAspect="1"/>
          </p:cNvPicPr>
          <p:nvPr/>
        </p:nvPicPr>
        <p:blipFill>
          <a:blip r:embed="rId2"/>
          <a:stretch>
            <a:fillRect/>
          </a:stretch>
        </p:blipFill>
        <p:spPr>
          <a:xfrm>
            <a:off x="4860761" y="2711454"/>
            <a:ext cx="6759022" cy="829964"/>
          </a:xfrm>
          <a:prstGeom prst="rect">
            <a:avLst/>
          </a:prstGeom>
        </p:spPr>
      </p:pic>
      <p:pic>
        <p:nvPicPr>
          <p:cNvPr id="8" name="Picture 7"/>
          <p:cNvPicPr>
            <a:picLocks noChangeAspect="1"/>
          </p:cNvPicPr>
          <p:nvPr/>
        </p:nvPicPr>
        <p:blipFill>
          <a:blip r:embed="rId3"/>
          <a:stretch>
            <a:fillRect/>
          </a:stretch>
        </p:blipFill>
        <p:spPr>
          <a:xfrm>
            <a:off x="5330610" y="4254707"/>
            <a:ext cx="5819323" cy="1524878"/>
          </a:xfrm>
          <a:prstGeom prst="rect">
            <a:avLst/>
          </a:prstGeom>
        </p:spPr>
      </p:pic>
    </p:spTree>
    <p:extLst>
      <p:ext uri="{BB962C8B-B14F-4D97-AF65-F5344CB8AC3E}">
        <p14:creationId xmlns:p14="http://schemas.microsoft.com/office/powerpoint/2010/main" val="22769757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Retrieval</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26</a:t>
            </a:fld>
            <a:endParaRPr lang="en-US" dirty="0"/>
          </a:p>
        </p:txBody>
      </p:sp>
      <p:sp>
        <p:nvSpPr>
          <p:cNvPr id="4" name="Text Placeholder 3"/>
          <p:cNvSpPr>
            <a:spLocks noGrp="1"/>
          </p:cNvSpPr>
          <p:nvPr>
            <p:ph type="body" sz="quarter" idx="14"/>
          </p:nvPr>
        </p:nvSpPr>
        <p:spPr/>
        <p:txBody>
          <a:bodyPr/>
          <a:lstStyle/>
          <a:p>
            <a:r>
              <a:rPr lang="en-HK" dirty="0" smtClean="0"/>
              <a:t>C</a:t>
            </a:r>
            <a:endParaRPr lang="en-US" dirty="0"/>
          </a:p>
        </p:txBody>
      </p:sp>
      <p:sp>
        <p:nvSpPr>
          <p:cNvPr id="5" name="Content Placeholder 4"/>
          <p:cNvSpPr>
            <a:spLocks noGrp="1"/>
          </p:cNvSpPr>
          <p:nvPr>
            <p:ph sz="quarter" idx="15"/>
          </p:nvPr>
        </p:nvSpPr>
        <p:spPr/>
        <p:txBody>
          <a:bodyPr/>
          <a:lstStyle/>
          <a:p>
            <a:r>
              <a:rPr lang="en-HK" dirty="0" smtClean="0"/>
              <a:t>We can index frequently accessed fields to speed up the data retrieval process.</a:t>
            </a:r>
            <a:br>
              <a:rPr lang="en-HK" dirty="0" smtClean="0"/>
            </a:br>
            <a:endParaRPr lang="en-HK" dirty="0"/>
          </a:p>
          <a:p>
            <a:r>
              <a:rPr lang="en-US" dirty="0" smtClean="0"/>
              <a:t>Indexing </a:t>
            </a:r>
            <a:r>
              <a:rPr lang="en-US" dirty="0"/>
              <a:t>ENAME creates an index table containing the indexed field and a pointer to the related records only.</a:t>
            </a:r>
          </a:p>
        </p:txBody>
      </p:sp>
      <p:pic>
        <p:nvPicPr>
          <p:cNvPr id="6" name="Picture 5"/>
          <p:cNvPicPr>
            <a:picLocks noChangeAspect="1"/>
          </p:cNvPicPr>
          <p:nvPr/>
        </p:nvPicPr>
        <p:blipFill>
          <a:blip r:embed="rId2"/>
          <a:stretch>
            <a:fillRect/>
          </a:stretch>
        </p:blipFill>
        <p:spPr>
          <a:xfrm>
            <a:off x="2133872" y="3233651"/>
            <a:ext cx="7602873" cy="3124135"/>
          </a:xfrm>
          <a:prstGeom prst="rect">
            <a:avLst/>
          </a:prstGeom>
        </p:spPr>
      </p:pic>
    </p:spTree>
    <p:extLst>
      <p:ext uri="{BB962C8B-B14F-4D97-AF65-F5344CB8AC3E}">
        <p14:creationId xmlns:p14="http://schemas.microsoft.com/office/powerpoint/2010/main" val="9330649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File Access Method</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27</a:t>
            </a:fld>
            <a:endParaRPr lang="en-US" dirty="0"/>
          </a:p>
        </p:txBody>
      </p:sp>
      <p:sp>
        <p:nvSpPr>
          <p:cNvPr id="4" name="Text Placeholder 3"/>
          <p:cNvSpPr>
            <a:spLocks noGrp="1"/>
          </p:cNvSpPr>
          <p:nvPr>
            <p:ph type="body" sz="quarter" idx="14"/>
          </p:nvPr>
        </p:nvSpPr>
        <p:spPr/>
        <p:txBody>
          <a:bodyPr/>
          <a:lstStyle/>
          <a:p>
            <a:r>
              <a:rPr lang="en-HK" dirty="0" smtClean="0"/>
              <a:t>2.4</a:t>
            </a:r>
            <a:endParaRPr lang="en-US" dirty="0"/>
          </a:p>
        </p:txBody>
      </p:sp>
      <p:sp>
        <p:nvSpPr>
          <p:cNvPr id="5" name="Content Placeholder 4"/>
          <p:cNvSpPr>
            <a:spLocks noGrp="1"/>
          </p:cNvSpPr>
          <p:nvPr>
            <p:ph sz="quarter" idx="15"/>
          </p:nvPr>
        </p:nvSpPr>
        <p:spPr/>
        <p:txBody>
          <a:bodyPr/>
          <a:lstStyle/>
          <a:p>
            <a:r>
              <a:rPr lang="en-US" dirty="0"/>
              <a:t>Data can be stored in different storage devices. </a:t>
            </a:r>
            <a:r>
              <a:rPr lang="en-US" dirty="0" smtClean="0"/>
              <a:t>The </a:t>
            </a:r>
            <a:r>
              <a:rPr lang="en-US" dirty="0"/>
              <a:t>storage devices determine how data is accessed. </a:t>
            </a:r>
            <a:r>
              <a:rPr lang="en-US" dirty="0" smtClean="0"/>
              <a:t/>
            </a:r>
            <a:br>
              <a:rPr lang="en-US" dirty="0" smtClean="0"/>
            </a:br>
            <a:endParaRPr lang="en-US" dirty="0" smtClean="0"/>
          </a:p>
          <a:p>
            <a:r>
              <a:rPr lang="en-US" dirty="0" smtClean="0"/>
              <a:t>There </a:t>
            </a:r>
            <a:r>
              <a:rPr lang="en-US" dirty="0"/>
              <a:t>are two common file access methods: </a:t>
            </a:r>
            <a:endParaRPr lang="en-US" dirty="0" smtClean="0"/>
          </a:p>
        </p:txBody>
      </p:sp>
      <p:pic>
        <p:nvPicPr>
          <p:cNvPr id="6" name="Picture 5"/>
          <p:cNvPicPr>
            <a:picLocks noChangeAspect="1"/>
          </p:cNvPicPr>
          <p:nvPr/>
        </p:nvPicPr>
        <p:blipFill>
          <a:blip r:embed="rId2"/>
          <a:stretch>
            <a:fillRect/>
          </a:stretch>
        </p:blipFill>
        <p:spPr>
          <a:xfrm>
            <a:off x="1171310" y="3453164"/>
            <a:ext cx="8569099" cy="2836036"/>
          </a:xfrm>
          <a:prstGeom prst="rect">
            <a:avLst/>
          </a:prstGeom>
        </p:spPr>
      </p:pic>
    </p:spTree>
    <p:extLst>
      <p:ext uri="{BB962C8B-B14F-4D97-AF65-F5344CB8AC3E}">
        <p14:creationId xmlns:p14="http://schemas.microsoft.com/office/powerpoint/2010/main" val="20877841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Sequential access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28</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a:t>For a storage device using sequential access, data is written </a:t>
            </a:r>
            <a:r>
              <a:rPr lang="en-US" dirty="0" smtClean="0"/>
              <a:t>or accessed sequentially</a:t>
            </a:r>
            <a:r>
              <a:rPr lang="en-US" dirty="0"/>
              <a:t>, starting from the beginning. Averagely, it is slower than that of direct access.</a:t>
            </a:r>
            <a:endParaRPr lang="en-US" dirty="0" smtClean="0"/>
          </a:p>
          <a:p>
            <a:endParaRPr lang="en-US" dirty="0"/>
          </a:p>
          <a:p>
            <a:r>
              <a:rPr lang="en-US" dirty="0"/>
              <a:t>S</a:t>
            </a:r>
            <a:r>
              <a:rPr lang="en-US" dirty="0" smtClean="0"/>
              <a:t>torage devices </a:t>
            </a:r>
            <a:r>
              <a:rPr lang="en-US" dirty="0"/>
              <a:t>that </a:t>
            </a:r>
            <a:r>
              <a:rPr lang="en-US" dirty="0" smtClean="0"/>
              <a:t>use </a:t>
            </a:r>
            <a:r>
              <a:rPr lang="en-US" dirty="0"/>
              <a:t>sequential access </a:t>
            </a:r>
            <a:r>
              <a:rPr lang="en-US" dirty="0" smtClean="0"/>
              <a:t>only include: </a:t>
            </a:r>
            <a:endParaRPr lang="en-US" dirty="0"/>
          </a:p>
        </p:txBody>
      </p:sp>
      <p:pic>
        <p:nvPicPr>
          <p:cNvPr id="7" name="Picture 6"/>
          <p:cNvPicPr>
            <a:picLocks noChangeAspect="1"/>
          </p:cNvPicPr>
          <p:nvPr/>
        </p:nvPicPr>
        <p:blipFill>
          <a:blip r:embed="rId2"/>
          <a:stretch>
            <a:fillRect/>
          </a:stretch>
        </p:blipFill>
        <p:spPr>
          <a:xfrm>
            <a:off x="4244517" y="3594590"/>
            <a:ext cx="2746488" cy="2105499"/>
          </a:xfrm>
          <a:prstGeom prst="rect">
            <a:avLst/>
          </a:prstGeom>
        </p:spPr>
      </p:pic>
      <p:sp>
        <p:nvSpPr>
          <p:cNvPr id="8" name="TextBox 7"/>
          <p:cNvSpPr txBox="1"/>
          <p:nvPr/>
        </p:nvSpPr>
        <p:spPr>
          <a:xfrm>
            <a:off x="4852968" y="5625312"/>
            <a:ext cx="1529586" cy="369332"/>
          </a:xfrm>
          <a:prstGeom prst="rect">
            <a:avLst/>
          </a:prstGeom>
          <a:noFill/>
        </p:spPr>
        <p:txBody>
          <a:bodyPr wrap="none" rtlCol="0">
            <a:spAutoFit/>
          </a:bodyPr>
          <a:lstStyle/>
          <a:p>
            <a:r>
              <a:rPr lang="en-HK" dirty="0" smtClean="0"/>
              <a:t>Magnetic tape</a:t>
            </a:r>
            <a:endParaRPr lang="en-US" dirty="0"/>
          </a:p>
        </p:txBody>
      </p:sp>
    </p:spTree>
    <p:extLst>
      <p:ext uri="{BB962C8B-B14F-4D97-AF65-F5344CB8AC3E}">
        <p14:creationId xmlns:p14="http://schemas.microsoft.com/office/powerpoint/2010/main" val="4366078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Direct access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29</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For a storage device using direct access, data can be written in any storage position. </a:t>
            </a:r>
            <a:r>
              <a:rPr lang="en-US" dirty="0" smtClean="0"/>
              <a:t>The </a:t>
            </a:r>
            <a:r>
              <a:rPr lang="en-US" dirty="0"/>
              <a:t>access speed of direct access is more stable and generally faster than that of sequential access</a:t>
            </a:r>
            <a:r>
              <a:rPr lang="en-US" dirty="0" smtClean="0"/>
              <a:t>.</a:t>
            </a:r>
          </a:p>
          <a:p>
            <a:endParaRPr lang="en-HK" dirty="0"/>
          </a:p>
          <a:p>
            <a:r>
              <a:rPr lang="en-US" dirty="0"/>
              <a:t>Storage devices that use </a:t>
            </a:r>
            <a:r>
              <a:rPr lang="en-US" dirty="0" smtClean="0"/>
              <a:t>direct access </a:t>
            </a:r>
            <a:r>
              <a:rPr lang="en-US" dirty="0"/>
              <a:t>include: </a:t>
            </a:r>
          </a:p>
          <a:p>
            <a:endParaRPr lang="en-US" dirty="0"/>
          </a:p>
        </p:txBody>
      </p:sp>
      <p:pic>
        <p:nvPicPr>
          <p:cNvPr id="6" name="Picture 5"/>
          <p:cNvPicPr>
            <a:picLocks noChangeAspect="1"/>
          </p:cNvPicPr>
          <p:nvPr/>
        </p:nvPicPr>
        <p:blipFill>
          <a:blip r:embed="rId2"/>
          <a:stretch>
            <a:fillRect/>
          </a:stretch>
        </p:blipFill>
        <p:spPr>
          <a:xfrm>
            <a:off x="3055376" y="3709351"/>
            <a:ext cx="5212072" cy="1835237"/>
          </a:xfrm>
          <a:prstGeom prst="rect">
            <a:avLst/>
          </a:prstGeom>
        </p:spPr>
      </p:pic>
      <p:sp>
        <p:nvSpPr>
          <p:cNvPr id="7" name="TextBox 6"/>
          <p:cNvSpPr txBox="1"/>
          <p:nvPr/>
        </p:nvSpPr>
        <p:spPr>
          <a:xfrm>
            <a:off x="4206241" y="5837040"/>
            <a:ext cx="1074333" cy="369332"/>
          </a:xfrm>
          <a:prstGeom prst="rect">
            <a:avLst/>
          </a:prstGeom>
          <a:noFill/>
        </p:spPr>
        <p:txBody>
          <a:bodyPr wrap="none" rtlCol="0">
            <a:spAutoFit/>
          </a:bodyPr>
          <a:lstStyle/>
          <a:p>
            <a:r>
              <a:rPr lang="en-HK" dirty="0" smtClean="0"/>
              <a:t>Hard disk</a:t>
            </a:r>
            <a:endParaRPr lang="en-US" dirty="0"/>
          </a:p>
        </p:txBody>
      </p:sp>
      <p:sp>
        <p:nvSpPr>
          <p:cNvPr id="8" name="TextBox 7"/>
          <p:cNvSpPr txBox="1"/>
          <p:nvPr/>
        </p:nvSpPr>
        <p:spPr>
          <a:xfrm>
            <a:off x="6361981" y="5837040"/>
            <a:ext cx="1582677" cy="369332"/>
          </a:xfrm>
          <a:prstGeom prst="rect">
            <a:avLst/>
          </a:prstGeom>
          <a:noFill/>
        </p:spPr>
        <p:txBody>
          <a:bodyPr wrap="none" rtlCol="0">
            <a:spAutoFit/>
          </a:bodyPr>
          <a:lstStyle/>
          <a:p>
            <a:r>
              <a:rPr lang="en-HK" dirty="0" smtClean="0"/>
              <a:t>USB flash drive</a:t>
            </a:r>
            <a:endParaRPr lang="en-US" dirty="0"/>
          </a:p>
        </p:txBody>
      </p:sp>
    </p:spTree>
    <p:extLst>
      <p:ext uri="{BB962C8B-B14F-4D97-AF65-F5344CB8AC3E}">
        <p14:creationId xmlns:p14="http://schemas.microsoft.com/office/powerpoint/2010/main" val="16462837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457200" indent="-457200">
              <a:buAutoNum type="arabicPeriod"/>
            </a:pPr>
            <a:r>
              <a:rPr lang="en-US" sz="1800" dirty="0" smtClean="0"/>
              <a:t>A </a:t>
            </a:r>
            <a:r>
              <a:rPr lang="en-US" sz="1800" dirty="0"/>
              <a:t>teacher wants to store the information of Class 1A students in a database table. Here is the table structure</a:t>
            </a:r>
            <a:r>
              <a:rPr lang="en-US" sz="1800" dirty="0" smtClean="0"/>
              <a:t>:</a:t>
            </a:r>
          </a:p>
          <a:p>
            <a:endParaRPr lang="en-HK" sz="1800" dirty="0"/>
          </a:p>
          <a:p>
            <a:endParaRPr lang="en-HK" sz="1800" dirty="0" smtClean="0"/>
          </a:p>
          <a:p>
            <a:r>
              <a:rPr lang="en-HK" sz="1800" dirty="0" smtClean="0"/>
              <a:t/>
            </a:r>
            <a:br>
              <a:rPr lang="en-HK" sz="1800" dirty="0" smtClean="0"/>
            </a:br>
            <a:endParaRPr lang="en-HK" sz="1800" dirty="0"/>
          </a:p>
          <a:p>
            <a:pPr lvl="1"/>
            <a:r>
              <a:rPr lang="en-HK" dirty="0" smtClean="0"/>
              <a:t>Which of the following types of validation checks is/are suitable for the field CNO?</a:t>
            </a:r>
            <a:endParaRPr lang="en-US" dirty="0" smtClean="0"/>
          </a:p>
          <a:p>
            <a:pPr marL="1257300" lvl="2" indent="-342900">
              <a:buSzPct val="100000"/>
              <a:buAutoNum type="arabicParenBoth"/>
            </a:pPr>
            <a:r>
              <a:rPr lang="en-HK" sz="1800" dirty="0" smtClean="0"/>
              <a:t>Uniqueness check</a:t>
            </a:r>
          </a:p>
          <a:p>
            <a:pPr marL="1257300" lvl="2" indent="-342900">
              <a:buSzPct val="100000"/>
              <a:buAutoNum type="arabicParenBoth"/>
            </a:pPr>
            <a:r>
              <a:rPr lang="en-HK" sz="1800" dirty="0" smtClean="0"/>
              <a:t>Type check</a:t>
            </a:r>
          </a:p>
          <a:p>
            <a:pPr marL="1257300" lvl="2" indent="-342900">
              <a:buSzPct val="100000"/>
              <a:buAutoNum type="arabicParenBoth"/>
            </a:pPr>
            <a:r>
              <a:rPr lang="en-HK" sz="1800" dirty="0" smtClean="0"/>
              <a:t>Presence check</a:t>
            </a:r>
            <a:endParaRPr lang="en-US" sz="1800" dirty="0" smtClean="0"/>
          </a:p>
          <a:p>
            <a:pPr marL="800100" lvl="1" indent="-342900">
              <a:buSzPct val="100000"/>
              <a:buAutoNum type="alphaUcPeriod"/>
            </a:pPr>
            <a:r>
              <a:rPr lang="en-HK" dirty="0" smtClean="0"/>
              <a:t>(2) only</a:t>
            </a:r>
          </a:p>
          <a:p>
            <a:pPr marL="800100" lvl="1" indent="-342900">
              <a:buSzPct val="100000"/>
              <a:buAutoNum type="alphaUcPeriod"/>
            </a:pPr>
            <a:r>
              <a:rPr lang="en-HK" dirty="0" smtClean="0"/>
              <a:t>(1) and (2) only</a:t>
            </a:r>
          </a:p>
          <a:p>
            <a:pPr marL="800100" lvl="1" indent="-342900">
              <a:buSzPct val="100000"/>
              <a:buAutoNum type="alphaUcPeriod"/>
            </a:pPr>
            <a:r>
              <a:rPr lang="en-HK" dirty="0" smtClean="0"/>
              <a:t>(2) and (3) only</a:t>
            </a:r>
          </a:p>
          <a:p>
            <a:pPr marL="800100" lvl="1" indent="-342900">
              <a:buSzPct val="100000"/>
              <a:buAutoNum type="alphaUcPeriod"/>
            </a:pPr>
            <a:r>
              <a:rPr lang="en-HK" dirty="0" smtClean="0"/>
              <a:t>(1), (2) and (3)</a:t>
            </a:r>
          </a:p>
          <a:p>
            <a:pPr marL="800100" lvl="1" indent="-342900">
              <a:buSzPct val="100000"/>
              <a:buAutoNum type="alphaUcPeriod"/>
            </a:pPr>
            <a:endParaRPr lang="en-HK" dirty="0" smtClean="0"/>
          </a:p>
        </p:txBody>
      </p:sp>
      <p:sp>
        <p:nvSpPr>
          <p:cNvPr id="3" name="Slide Number Placeholder 2"/>
          <p:cNvSpPr>
            <a:spLocks noGrp="1"/>
          </p:cNvSpPr>
          <p:nvPr>
            <p:ph type="sldNum" sz="quarter" idx="12"/>
          </p:nvPr>
        </p:nvSpPr>
        <p:spPr/>
        <p:txBody>
          <a:bodyPr/>
          <a:lstStyle/>
          <a:p>
            <a:fld id="{6D22F896-40B5-4ADD-8801-0D06FADFA095}" type="slidenum">
              <a:rPr lang="en-US" smtClean="0"/>
              <a:t>30</a:t>
            </a:fld>
            <a:endParaRPr lang="en-US" dirty="0"/>
          </a:p>
        </p:txBody>
      </p:sp>
      <p:sp>
        <p:nvSpPr>
          <p:cNvPr id="4" name="Text Placeholder 3"/>
          <p:cNvSpPr>
            <a:spLocks noGrp="1"/>
          </p:cNvSpPr>
          <p:nvPr>
            <p:ph type="body" sz="quarter" idx="13"/>
          </p:nvPr>
        </p:nvSpPr>
        <p:spPr/>
        <p:txBody>
          <a:bodyPr/>
          <a:lstStyle/>
          <a:p>
            <a:r>
              <a:rPr lang="en-HK" dirty="0" smtClean="0"/>
              <a:t>2.3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515385748"/>
              </p:ext>
            </p:extLst>
          </p:nvPr>
        </p:nvGraphicFramePr>
        <p:xfrm>
          <a:off x="3320472" y="1858508"/>
          <a:ext cx="6122788" cy="1341120"/>
        </p:xfrm>
        <a:graphic>
          <a:graphicData uri="http://schemas.openxmlformats.org/drawingml/2006/table">
            <a:tbl>
              <a:tblPr firstRow="1" bandRow="1">
                <a:tableStyleId>{5940675A-B579-460E-94D1-54222C63F5DA}</a:tableStyleId>
              </a:tblPr>
              <a:tblGrid>
                <a:gridCol w="1530697"/>
                <a:gridCol w="1530697"/>
                <a:gridCol w="1530697"/>
                <a:gridCol w="1530697"/>
              </a:tblGrid>
              <a:tr h="128233">
                <a:tc>
                  <a:txBody>
                    <a:bodyPr/>
                    <a:lstStyle/>
                    <a:p>
                      <a:pPr algn="ctr"/>
                      <a:r>
                        <a:rPr lang="en-HK" sz="1600" b="1" dirty="0" smtClean="0">
                          <a:solidFill>
                            <a:schemeClr val="bg1"/>
                          </a:solidFill>
                        </a:rPr>
                        <a:t>Field</a:t>
                      </a:r>
                      <a:endParaRPr lang="en-US" sz="1600" b="1" dirty="0">
                        <a:solidFill>
                          <a:schemeClr val="bg1"/>
                        </a:solidFill>
                      </a:endParaRPr>
                    </a:p>
                  </a:txBody>
                  <a:tcPr>
                    <a:lnL w="12700" cap="flat" cmpd="sng" algn="ctr">
                      <a:solidFill>
                        <a:srgbClr val="37A3D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solidFill>
                      <a:srgbClr val="37A3D4"/>
                    </a:solidFill>
                  </a:tcPr>
                </a:tc>
                <a:tc>
                  <a:txBody>
                    <a:bodyPr/>
                    <a:lstStyle/>
                    <a:p>
                      <a:pPr algn="ctr"/>
                      <a:r>
                        <a:rPr lang="en-HK" sz="1600" b="1" dirty="0" smtClean="0">
                          <a:solidFill>
                            <a:schemeClr val="bg1"/>
                          </a:solidFill>
                        </a:rPr>
                        <a:t>Data type</a:t>
                      </a:r>
                      <a:endParaRPr lang="en-US" sz="1600"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solidFill>
                      <a:srgbClr val="37A3D4"/>
                    </a:solidFill>
                  </a:tcPr>
                </a:tc>
                <a:tc>
                  <a:txBody>
                    <a:bodyPr/>
                    <a:lstStyle/>
                    <a:p>
                      <a:pPr algn="ctr"/>
                      <a:r>
                        <a:rPr lang="en-HK" sz="1600" b="1" dirty="0" smtClean="0">
                          <a:solidFill>
                            <a:schemeClr val="bg1"/>
                          </a:solidFill>
                        </a:rPr>
                        <a:t>Description</a:t>
                      </a:r>
                      <a:endParaRPr lang="en-US" sz="1600"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solidFill>
                      <a:srgbClr val="37A3D4"/>
                    </a:solidFill>
                  </a:tcPr>
                </a:tc>
                <a:tc>
                  <a:txBody>
                    <a:bodyPr/>
                    <a:lstStyle/>
                    <a:p>
                      <a:pPr algn="ctr"/>
                      <a:r>
                        <a:rPr lang="en-HK" sz="1600" b="1" dirty="0" smtClean="0">
                          <a:solidFill>
                            <a:schemeClr val="bg1"/>
                          </a:solidFill>
                        </a:rPr>
                        <a:t>Example</a:t>
                      </a:r>
                      <a:endParaRPr lang="en-US" sz="1600" b="1"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solidFill>
                      <a:srgbClr val="37A3D4"/>
                    </a:solidFill>
                  </a:tcPr>
                </a:tc>
              </a:tr>
              <a:tr h="289137">
                <a:tc>
                  <a:txBody>
                    <a:bodyPr/>
                    <a:lstStyle/>
                    <a:p>
                      <a:r>
                        <a:rPr lang="en-HK" sz="1600" dirty="0" smtClean="0"/>
                        <a:t>CNO</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r>
                        <a:rPr lang="en-HK" sz="1600" dirty="0" smtClean="0"/>
                        <a:t>Number</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r>
                        <a:rPr lang="en-HK" sz="1600" dirty="0" smtClean="0"/>
                        <a:t>Class number</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r>
                        <a:rPr lang="en-HK" sz="1600" dirty="0" smtClean="0"/>
                        <a:t>1</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r>
              <a:tr h="0">
                <a:tc>
                  <a:txBody>
                    <a:bodyPr/>
                    <a:lstStyle/>
                    <a:p>
                      <a:r>
                        <a:rPr lang="en-HK" sz="1600" dirty="0" smtClean="0"/>
                        <a:t>NAME</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r>
                        <a:rPr lang="en-HK" sz="1600" dirty="0" smtClean="0"/>
                        <a:t>Text</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r>
                        <a:rPr lang="en-HK" sz="1600" dirty="0" smtClean="0"/>
                        <a:t>student</a:t>
                      </a:r>
                      <a:r>
                        <a:rPr lang="en-HK" sz="1600" baseline="0" dirty="0" smtClean="0"/>
                        <a:t> number</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r>
                        <a:rPr lang="zh-CN" altLang="en-US" sz="1600" dirty="0" smtClean="0"/>
                        <a:t>陳大文</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r>
              <a:tr h="289137">
                <a:tc>
                  <a:txBody>
                    <a:bodyPr/>
                    <a:lstStyle/>
                    <a:p>
                      <a:r>
                        <a:rPr lang="en-HK" sz="1600" dirty="0" smtClean="0"/>
                        <a:t>GENDER</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r>
                        <a:rPr lang="en-HK" sz="1600" dirty="0" smtClean="0"/>
                        <a:t>Text</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r>
                        <a:rPr lang="en-HK" sz="1600" dirty="0" smtClean="0"/>
                        <a:t>Gender</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c>
                  <a:txBody>
                    <a:bodyPr/>
                    <a:lstStyle/>
                    <a:p>
                      <a:r>
                        <a:rPr lang="en-HK" sz="1600" dirty="0" smtClean="0"/>
                        <a:t>M</a:t>
                      </a:r>
                      <a:endParaRPr lang="en-US" sz="1600" dirty="0"/>
                    </a:p>
                  </a:txBody>
                  <a:tcPr>
                    <a:lnL w="12700" cap="flat" cmpd="sng" algn="ctr">
                      <a:solidFill>
                        <a:srgbClr val="37A3D4"/>
                      </a:solidFill>
                      <a:prstDash val="solid"/>
                      <a:round/>
                      <a:headEnd type="none" w="med" len="med"/>
                      <a:tailEnd type="none" w="med" len="med"/>
                    </a:lnL>
                    <a:lnR w="12700" cap="flat" cmpd="sng" algn="ctr">
                      <a:solidFill>
                        <a:srgbClr val="37A3D4"/>
                      </a:solidFill>
                      <a:prstDash val="solid"/>
                      <a:round/>
                      <a:headEnd type="none" w="med" len="med"/>
                      <a:tailEnd type="none" w="med" len="med"/>
                    </a:lnR>
                    <a:lnT w="12700" cap="flat" cmpd="sng" algn="ctr">
                      <a:solidFill>
                        <a:srgbClr val="37A3D4"/>
                      </a:solidFill>
                      <a:prstDash val="solid"/>
                      <a:round/>
                      <a:headEnd type="none" w="med" len="med"/>
                      <a:tailEnd type="none" w="med" len="med"/>
                    </a:lnT>
                    <a:lnB w="12700" cap="flat" cmpd="sng" algn="ctr">
                      <a:solidFill>
                        <a:srgbClr val="37A3D4"/>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4429663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smtClean="0">
                <a:solidFill>
                  <a:srgbClr val="37A3D4"/>
                </a:solidFill>
              </a:rPr>
              <a:t>Analysis</a:t>
            </a:r>
          </a:p>
          <a:p>
            <a:pPr>
              <a:buSzPct val="100000"/>
            </a:pPr>
            <a:r>
              <a:rPr lang="en-US" dirty="0"/>
              <a:t>For (1), since all information in the table comes from students of the same class, Class 1A, the </a:t>
            </a:r>
            <a:r>
              <a:rPr lang="en-US" dirty="0" smtClean="0"/>
              <a:t>class number </a:t>
            </a:r>
            <a:r>
              <a:rPr lang="en-US" dirty="0"/>
              <a:t>of a student should be </a:t>
            </a:r>
            <a:r>
              <a:rPr lang="en-US" dirty="0" smtClean="0"/>
              <a:t>unique.</a:t>
            </a:r>
            <a:br>
              <a:rPr lang="en-US" dirty="0" smtClean="0"/>
            </a:br>
            <a:endParaRPr lang="en-US" dirty="0" smtClean="0"/>
          </a:p>
          <a:p>
            <a:pPr>
              <a:buSzPct val="100000"/>
            </a:pPr>
            <a:r>
              <a:rPr lang="en-US" dirty="0" smtClean="0"/>
              <a:t>For </a:t>
            </a:r>
            <a:r>
              <a:rPr lang="en-US" dirty="0"/>
              <a:t>(2), given that the data type of CNO is a number, a type check is </a:t>
            </a:r>
            <a:r>
              <a:rPr lang="en-US" dirty="0" smtClean="0"/>
              <a:t>needed.</a:t>
            </a:r>
            <a:br>
              <a:rPr lang="en-US" dirty="0" smtClean="0"/>
            </a:br>
            <a:endParaRPr lang="en-US" dirty="0"/>
          </a:p>
          <a:p>
            <a:pPr>
              <a:buSzPct val="100000"/>
            </a:pPr>
            <a:r>
              <a:rPr lang="en-US" dirty="0" smtClean="0"/>
              <a:t>For </a:t>
            </a:r>
            <a:r>
              <a:rPr lang="en-US" dirty="0"/>
              <a:t>(3), every student must have a class number</a:t>
            </a:r>
            <a:r>
              <a:rPr lang="en-US" dirty="0" smtClean="0"/>
              <a:t>.</a:t>
            </a:r>
          </a:p>
          <a:p>
            <a:pPr>
              <a:buSzPct val="100000"/>
            </a:pP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p>
          <a:p>
            <a:pPr>
              <a:buSzPct val="100000"/>
            </a:pPr>
            <a:r>
              <a:rPr lang="en-HK" dirty="0" smtClean="0"/>
              <a:t>The answer is D.</a:t>
            </a:r>
          </a:p>
        </p:txBody>
      </p:sp>
      <p:sp>
        <p:nvSpPr>
          <p:cNvPr id="3" name="Slide Number Placeholder 2"/>
          <p:cNvSpPr>
            <a:spLocks noGrp="1"/>
          </p:cNvSpPr>
          <p:nvPr>
            <p:ph type="sldNum" sz="quarter" idx="12"/>
          </p:nvPr>
        </p:nvSpPr>
        <p:spPr/>
        <p:txBody>
          <a:bodyPr/>
          <a:lstStyle/>
          <a:p>
            <a:fld id="{6D22F896-40B5-4ADD-8801-0D06FADFA095}" type="slidenum">
              <a:rPr lang="en-US" smtClean="0"/>
              <a:t>31</a:t>
            </a:fld>
            <a:endParaRPr lang="en-US" dirty="0"/>
          </a:p>
        </p:txBody>
      </p:sp>
      <p:sp>
        <p:nvSpPr>
          <p:cNvPr id="4" name="Text Placeholder 3"/>
          <p:cNvSpPr>
            <a:spLocks noGrp="1"/>
          </p:cNvSpPr>
          <p:nvPr>
            <p:ph type="body" sz="quarter" idx="13"/>
          </p:nvPr>
        </p:nvSpPr>
        <p:spPr/>
        <p:txBody>
          <a:bodyPr/>
          <a:lstStyle/>
          <a:p>
            <a:r>
              <a:rPr lang="en-HK" dirty="0" smtClean="0"/>
              <a:t>2.3</a:t>
            </a:r>
            <a:endParaRPr lang="en-US" dirty="0"/>
          </a:p>
        </p:txBody>
      </p:sp>
    </p:spTree>
    <p:extLst>
      <p:ext uri="{BB962C8B-B14F-4D97-AF65-F5344CB8AC3E}">
        <p14:creationId xmlns:p14="http://schemas.microsoft.com/office/powerpoint/2010/main" val="4459770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HK" dirty="0" smtClean="0"/>
              <a:t>Finish Checkpoint 2.3 on P. 51 of the textbook.</a:t>
            </a:r>
          </a:p>
          <a:p>
            <a:endParaRPr lang="en-HK" dirty="0"/>
          </a:p>
          <a:p>
            <a:pPr marL="457200" indent="-457200">
              <a:buAutoNum type="arabicPeriod"/>
            </a:pPr>
            <a:r>
              <a:rPr lang="en-HK" dirty="0" smtClean="0">
                <a:solidFill>
                  <a:srgbClr val="FF0000"/>
                </a:solidFill>
              </a:rPr>
              <a:t>B</a:t>
            </a:r>
          </a:p>
          <a:p>
            <a:pPr marL="457200" indent="-457200">
              <a:buAutoNum type="arabicPeriod"/>
            </a:pPr>
            <a:r>
              <a:rPr lang="en-HK" dirty="0" smtClean="0">
                <a:solidFill>
                  <a:srgbClr val="FF0000"/>
                </a:solidFill>
              </a:rPr>
              <a:t>C</a:t>
            </a:r>
          </a:p>
          <a:p>
            <a:r>
              <a:rPr lang="en-HK" dirty="0" smtClean="0"/>
              <a:t> </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32</a:t>
            </a:fld>
            <a:endParaRPr lang="en-US" dirty="0"/>
          </a:p>
        </p:txBody>
      </p:sp>
      <p:sp>
        <p:nvSpPr>
          <p:cNvPr id="4" name="Text Placeholder 3"/>
          <p:cNvSpPr>
            <a:spLocks noGrp="1"/>
          </p:cNvSpPr>
          <p:nvPr>
            <p:ph type="body" sz="quarter" idx="13"/>
          </p:nvPr>
        </p:nvSpPr>
        <p:spPr/>
        <p:txBody>
          <a:bodyPr/>
          <a:lstStyle/>
          <a:p>
            <a:r>
              <a:rPr lang="en-HK" dirty="0" smtClean="0"/>
              <a:t>2.3</a:t>
            </a:r>
            <a:endParaRPr lang="en-US" dirty="0"/>
          </a:p>
        </p:txBody>
      </p:sp>
    </p:spTree>
    <p:extLst>
      <p:ext uri="{BB962C8B-B14F-4D97-AF65-F5344CB8AC3E}">
        <p14:creationId xmlns:p14="http://schemas.microsoft.com/office/powerpoint/2010/main" val="185102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20801">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DSEPPT_EN_Kelie_20220801" id="{6A643CDD-4324-4CDB-A99F-5B6D7C095AD8}" vid="{541C2CAE-1C37-4D60-9199-C14FA6BC1DD0}"/>
    </a:ext>
  </a:extLst>
</a:theme>
</file>

<file path=docProps/app.xml><?xml version="1.0" encoding="utf-8"?>
<Properties xmlns="http://schemas.openxmlformats.org/officeDocument/2006/extended-properties" xmlns:vt="http://schemas.openxmlformats.org/officeDocument/2006/docPropsVTypes">
  <Template>DSEPPT_EN_Kelie_20220801</Template>
  <TotalTime>2707</TotalTime>
  <Words>1691</Words>
  <Application>Microsoft Office PowerPoint</Application>
  <PresentationFormat>寬螢幕</PresentationFormat>
  <Paragraphs>360</Paragraphs>
  <Slides>32</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32</vt:i4>
      </vt:variant>
    </vt:vector>
  </HeadingPairs>
  <TitlesOfParts>
    <vt:vector size="40" baseType="lpstr">
      <vt:lpstr>Noto Sans CJK KR Black</vt:lpstr>
      <vt:lpstr>Noto Sans CJK TC Regular</vt:lpstr>
      <vt:lpstr>宋体</vt:lpstr>
      <vt:lpstr>Arial</vt:lpstr>
      <vt:lpstr>Courier New</vt:lpstr>
      <vt:lpstr>Myriad Pro</vt:lpstr>
      <vt:lpstr>Tw Cen MT</vt:lpstr>
      <vt:lpstr>DSEPPT_EN_Kelie_20220801</vt:lpstr>
      <vt:lpstr>Chapter 2 Data Control and Data Organisation</vt:lpstr>
      <vt:lpstr>PowerPoint 簡報</vt:lpstr>
      <vt:lpstr>Data Hierarchy</vt:lpstr>
      <vt:lpstr>Data Control</vt:lpstr>
      <vt:lpstr>Garbage in, garbage out</vt:lpstr>
      <vt:lpstr>Data validation</vt:lpstr>
      <vt:lpstr>Data validation</vt:lpstr>
      <vt:lpstr>Data validation</vt:lpstr>
      <vt:lpstr>Type check</vt:lpstr>
      <vt:lpstr>Type check</vt:lpstr>
      <vt:lpstr>Check digit</vt:lpstr>
      <vt:lpstr>Parity check</vt:lpstr>
      <vt:lpstr>PowerPoint 簡報</vt:lpstr>
      <vt:lpstr>PowerPoint 簡報</vt:lpstr>
      <vt:lpstr>PowerPoint 簡報</vt:lpstr>
      <vt:lpstr>PowerPoint 簡報</vt:lpstr>
      <vt:lpstr>PowerPoint 簡報</vt:lpstr>
      <vt:lpstr>Data verification</vt:lpstr>
      <vt:lpstr>PowerPoint 簡報</vt:lpstr>
      <vt:lpstr>PowerPoint 簡報</vt:lpstr>
      <vt:lpstr>PowerPoint 簡報</vt:lpstr>
      <vt:lpstr>Functions of Database</vt:lpstr>
      <vt:lpstr>Organisation</vt:lpstr>
      <vt:lpstr>Storage</vt:lpstr>
      <vt:lpstr>Retrieval</vt:lpstr>
      <vt:lpstr>Retrieval</vt:lpstr>
      <vt:lpstr>File Access Method</vt:lpstr>
      <vt:lpstr>Sequential access</vt:lpstr>
      <vt:lpstr>Direct access</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iClass</dc:creator>
  <cp:lastModifiedBy>Cherry</cp:lastModifiedBy>
  <cp:revision>26</cp:revision>
  <dcterms:created xsi:type="dcterms:W3CDTF">2022-08-12T06:12:28Z</dcterms:created>
  <dcterms:modified xsi:type="dcterms:W3CDTF">2022-08-17T01:29:18Z</dcterms:modified>
</cp:coreProperties>
</file>