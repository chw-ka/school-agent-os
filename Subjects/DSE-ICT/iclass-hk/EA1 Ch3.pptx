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4" r:id="rId1"/>
  </p:sldMasterIdLst>
  <p:sldIdLst>
    <p:sldId id="256" r:id="rId2"/>
    <p:sldId id="404" r:id="rId3"/>
    <p:sldId id="257" r:id="rId4"/>
    <p:sldId id="258" r:id="rId5"/>
    <p:sldId id="259" r:id="rId6"/>
    <p:sldId id="260" r:id="rId7"/>
    <p:sldId id="263" r:id="rId8"/>
    <p:sldId id="264" r:id="rId9"/>
    <p:sldId id="262" r:id="rId10"/>
    <p:sldId id="265" r:id="rId11"/>
    <p:sldId id="266" r:id="rId12"/>
    <p:sldId id="267" r:id="rId13"/>
    <p:sldId id="268" r:id="rId14"/>
    <p:sldId id="269" r:id="rId15"/>
    <p:sldId id="270" r:id="rId16"/>
    <p:sldId id="271" r:id="rId17"/>
    <p:sldId id="412" r:id="rId18"/>
    <p:sldId id="272" r:id="rId19"/>
    <p:sldId id="273" r:id="rId20"/>
    <p:sldId id="274" r:id="rId21"/>
    <p:sldId id="275" r:id="rId22"/>
    <p:sldId id="276" r:id="rId23"/>
    <p:sldId id="277" r:id="rId24"/>
    <p:sldId id="278" r:id="rId25"/>
    <p:sldId id="281" r:id="rId26"/>
    <p:sldId id="279" r:id="rId27"/>
    <p:sldId id="413" r:id="rId28"/>
    <p:sldId id="280" r:id="rId29"/>
    <p:sldId id="414" r:id="rId30"/>
    <p:sldId id="282" r:id="rId31"/>
    <p:sldId id="283" r:id="rId32"/>
    <p:sldId id="284" r:id="rId33"/>
    <p:sldId id="286" r:id="rId34"/>
    <p:sldId id="285" r:id="rId35"/>
    <p:sldId id="287" r:id="rId36"/>
    <p:sldId id="288" r:id="rId37"/>
    <p:sldId id="289" r:id="rId38"/>
    <p:sldId id="290" r:id="rId39"/>
    <p:sldId id="291" r:id="rId40"/>
    <p:sldId id="292" r:id="rId41"/>
    <p:sldId id="293" r:id="rId42"/>
    <p:sldId id="294" r:id="rId43"/>
    <p:sldId id="295" r:id="rId44"/>
    <p:sldId id="296" r:id="rId45"/>
    <p:sldId id="297" r:id="rId46"/>
    <p:sldId id="299" r:id="rId47"/>
    <p:sldId id="298" r:id="rId48"/>
    <p:sldId id="300" r:id="rId49"/>
    <p:sldId id="405" r:id="rId50"/>
    <p:sldId id="406" r:id="rId51"/>
    <p:sldId id="407" r:id="rId52"/>
    <p:sldId id="408" r:id="rId53"/>
    <p:sldId id="409" r:id="rId54"/>
    <p:sldId id="410" r:id="rId55"/>
    <p:sldId id="411" r:id="rId56"/>
    <p:sldId id="301" r:id="rId57"/>
    <p:sldId id="302" r:id="rId58"/>
    <p:sldId id="303" r:id="rId59"/>
    <p:sldId id="305" r:id="rId60"/>
    <p:sldId id="306" r:id="rId61"/>
    <p:sldId id="307" r:id="rId62"/>
    <p:sldId id="308" r:id="rId63"/>
    <p:sldId id="309" r:id="rId64"/>
    <p:sldId id="310" r:id="rId65"/>
    <p:sldId id="311" r:id="rId66"/>
    <p:sldId id="312" r:id="rId67"/>
    <p:sldId id="313" r:id="rId68"/>
    <p:sldId id="314" r:id="rId69"/>
    <p:sldId id="315" r:id="rId70"/>
    <p:sldId id="316" r:id="rId71"/>
    <p:sldId id="317" r:id="rId72"/>
    <p:sldId id="318" r:id="rId73"/>
    <p:sldId id="319" r:id="rId74"/>
    <p:sldId id="320" r:id="rId75"/>
    <p:sldId id="321" r:id="rId76"/>
    <p:sldId id="322" r:id="rId77"/>
    <p:sldId id="323" r:id="rId78"/>
    <p:sldId id="324" r:id="rId79"/>
    <p:sldId id="325" r:id="rId80"/>
    <p:sldId id="326" r:id="rId81"/>
    <p:sldId id="327" r:id="rId82"/>
    <p:sldId id="328" r:id="rId83"/>
    <p:sldId id="329" r:id="rId84"/>
    <p:sldId id="330" r:id="rId85"/>
    <p:sldId id="331" r:id="rId86"/>
    <p:sldId id="332" r:id="rId87"/>
    <p:sldId id="334" r:id="rId88"/>
    <p:sldId id="335" r:id="rId89"/>
    <p:sldId id="336" r:id="rId90"/>
    <p:sldId id="337" r:id="rId91"/>
    <p:sldId id="339" r:id="rId92"/>
    <p:sldId id="338" r:id="rId93"/>
    <p:sldId id="340" r:id="rId94"/>
    <p:sldId id="341" r:id="rId95"/>
    <p:sldId id="342" r:id="rId96"/>
    <p:sldId id="343" r:id="rId97"/>
    <p:sldId id="344" r:id="rId98"/>
    <p:sldId id="345" r:id="rId99"/>
    <p:sldId id="346" r:id="rId100"/>
    <p:sldId id="347" r:id="rId101"/>
    <p:sldId id="348" r:id="rId102"/>
    <p:sldId id="349" r:id="rId103"/>
    <p:sldId id="350" r:id="rId104"/>
    <p:sldId id="351" r:id="rId105"/>
    <p:sldId id="352" r:id="rId106"/>
    <p:sldId id="353" r:id="rId107"/>
    <p:sldId id="354" r:id="rId108"/>
    <p:sldId id="355" r:id="rId109"/>
    <p:sldId id="356" r:id="rId110"/>
    <p:sldId id="357" r:id="rId111"/>
    <p:sldId id="358" r:id="rId112"/>
    <p:sldId id="359" r:id="rId113"/>
    <p:sldId id="360" r:id="rId114"/>
    <p:sldId id="361" r:id="rId115"/>
    <p:sldId id="362" r:id="rId116"/>
    <p:sldId id="363" r:id="rId117"/>
    <p:sldId id="364" r:id="rId118"/>
    <p:sldId id="365" r:id="rId119"/>
    <p:sldId id="392" r:id="rId120"/>
    <p:sldId id="393" r:id="rId121"/>
    <p:sldId id="366" r:id="rId122"/>
    <p:sldId id="367" r:id="rId123"/>
    <p:sldId id="368" r:id="rId124"/>
    <p:sldId id="369" r:id="rId125"/>
    <p:sldId id="370" r:id="rId126"/>
    <p:sldId id="371" r:id="rId127"/>
    <p:sldId id="372" r:id="rId128"/>
    <p:sldId id="373" r:id="rId129"/>
    <p:sldId id="374" r:id="rId130"/>
    <p:sldId id="375" r:id="rId131"/>
    <p:sldId id="376" r:id="rId132"/>
    <p:sldId id="377" r:id="rId133"/>
    <p:sldId id="394" r:id="rId134"/>
    <p:sldId id="395" r:id="rId135"/>
    <p:sldId id="396" r:id="rId136"/>
    <p:sldId id="397" r:id="rId137"/>
    <p:sldId id="379" r:id="rId138"/>
    <p:sldId id="380" r:id="rId139"/>
    <p:sldId id="381" r:id="rId140"/>
    <p:sldId id="382" r:id="rId141"/>
    <p:sldId id="383" r:id="rId142"/>
    <p:sldId id="384" r:id="rId143"/>
    <p:sldId id="385" r:id="rId144"/>
    <p:sldId id="398" r:id="rId145"/>
    <p:sldId id="399" r:id="rId146"/>
    <p:sldId id="387" r:id="rId147"/>
    <p:sldId id="388" r:id="rId148"/>
    <p:sldId id="389" r:id="rId149"/>
    <p:sldId id="390" r:id="rId150"/>
    <p:sldId id="391" r:id="rId151"/>
    <p:sldId id="400" r:id="rId152"/>
    <p:sldId id="401" r:id="rId153"/>
    <p:sldId id="403" r:id="rId154"/>
    <p:sldId id="402" r:id="rId15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04FA1"/>
    <a:srgbClr val="57A044"/>
    <a:srgbClr val="C26924"/>
    <a:srgbClr val="565758"/>
    <a:srgbClr val="C6993D"/>
    <a:srgbClr val="4B4DA0"/>
    <a:srgbClr val="AF1F50"/>
    <a:srgbClr val="37A3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5" d="100"/>
          <a:sy n="115" d="100"/>
        </p:scale>
        <p:origin x="372" y="114"/>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tableStyles" Target="tableStyle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A-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3" name="Picture 2">
            <a:extLst>
              <a:ext uri="{FF2B5EF4-FFF2-40B4-BE49-F238E27FC236}">
                <a16:creationId xmlns:a16="http://schemas.microsoft.com/office/drawing/2014/main" id="{FE97C56F-506D-1CBF-DAEA-5491D0196718}"/>
              </a:ext>
            </a:extLst>
          </p:cNvPr>
          <p:cNvPicPr>
            <a:picLocks noGrp="1" noRot="1" noChangeAspect="1" noMove="1" noResize="1" noEditPoints="1" noAdjustHandles="1" noChangeArrowheads="1" noChangeShapeType="1" noCrop="1"/>
          </p:cNvPicPr>
          <p:nvPr/>
        </p:nvPicPr>
        <p:blipFill>
          <a:blip r:embed="rId2"/>
          <a:stretch>
            <a:fillRect/>
          </a:stretch>
        </p:blipFill>
        <p:spPr>
          <a:xfrm>
            <a:off x="4880448" y="2853016"/>
            <a:ext cx="3145542" cy="505969"/>
          </a:xfrm>
          <a:prstGeom prst="rect">
            <a:avLst/>
          </a:prstGeom>
        </p:spPr>
      </p:pic>
      <p:pic>
        <p:nvPicPr>
          <p:cNvPr id="5" name="Picture 4">
            <a:extLst>
              <a:ext uri="{FF2B5EF4-FFF2-40B4-BE49-F238E27FC236}">
                <a16:creationId xmlns:a16="http://schemas.microsoft.com/office/drawing/2014/main" id="{9D8FD09F-D8A1-E336-3B87-044CB68F4B9F}"/>
              </a:ext>
            </a:extLst>
          </p:cNvPr>
          <p:cNvPicPr>
            <a:picLocks noGrp="1" noRot="1" noChangeAspect="1" noMove="1" noResize="1" noEditPoints="1" noAdjustHandles="1" noChangeArrowheads="1" noChangeShapeType="1" noCrop="1"/>
          </p:cNvPicPr>
          <p:nvPr/>
        </p:nvPicPr>
        <p:blipFill>
          <a:blip r:embed="rId3"/>
          <a:stretch>
            <a:fillRect/>
          </a:stretch>
        </p:blipFill>
        <p:spPr>
          <a:xfrm>
            <a:off x="0" y="1898909"/>
            <a:ext cx="4744800" cy="4744800"/>
          </a:xfrm>
          <a:prstGeom prst="rect">
            <a:avLst/>
          </a:prstGeom>
        </p:spPr>
      </p:pic>
      <p:pic>
        <p:nvPicPr>
          <p:cNvPr id="17" name="Picture 16">
            <a:extLst>
              <a:ext uri="{FF2B5EF4-FFF2-40B4-BE49-F238E27FC236}">
                <a16:creationId xmlns:a16="http://schemas.microsoft.com/office/drawing/2014/main" id="{069BCDB6-856A-6319-8C9A-5031698A31C3}"/>
              </a:ext>
            </a:extLst>
          </p:cNvPr>
          <p:cNvPicPr>
            <a:picLocks noGrp="1" noRot="1" noChangeAspect="1" noMove="1" noResize="1" noEditPoints="1" noAdjustHandles="1" noChangeArrowheads="1" noChangeShapeType="1" noCrop="1"/>
          </p:cNvPicPr>
          <p:nvPr/>
        </p:nvPicPr>
        <p:blipFill>
          <a:blip r:embed="rId4"/>
          <a:stretch>
            <a:fillRect/>
          </a:stretch>
        </p:blipFill>
        <p:spPr>
          <a:xfrm>
            <a:off x="3199169" y="724908"/>
            <a:ext cx="5712455" cy="784800"/>
          </a:xfrm>
          <a:prstGeom prst="rect">
            <a:avLst/>
          </a:prstGeom>
        </p:spPr>
      </p:pic>
    </p:spTree>
    <p:extLst>
      <p:ext uri="{BB962C8B-B14F-4D97-AF65-F5344CB8AC3E}">
        <p14:creationId xmlns:p14="http://schemas.microsoft.com/office/powerpoint/2010/main" val="3226669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B-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4" name="Picture 3">
            <a:extLst>
              <a:ext uri="{FF2B5EF4-FFF2-40B4-BE49-F238E27FC236}">
                <a16:creationId xmlns:a16="http://schemas.microsoft.com/office/drawing/2014/main" id="{32BE4C03-EDAE-8A34-CB24-BDAA03524E5E}"/>
              </a:ext>
            </a:extLst>
          </p:cNvPr>
          <p:cNvPicPr>
            <a:picLocks noGrp="1" noRot="1" noChangeAspect="1" noMove="1" noResize="1" noEditPoints="1" noAdjustHandles="1" noChangeArrowheads="1" noChangeShapeType="1" noCrop="1"/>
          </p:cNvPicPr>
          <p:nvPr/>
        </p:nvPicPr>
        <p:blipFill>
          <a:blip r:embed="rId2"/>
          <a:stretch>
            <a:fillRect/>
          </a:stretch>
        </p:blipFill>
        <p:spPr>
          <a:xfrm>
            <a:off x="4880448" y="2853016"/>
            <a:ext cx="4093472" cy="505969"/>
          </a:xfrm>
          <a:prstGeom prst="rect">
            <a:avLst/>
          </a:prstGeom>
        </p:spPr>
      </p:pic>
      <p:pic>
        <p:nvPicPr>
          <p:cNvPr id="8" name="Picture 7">
            <a:extLst>
              <a:ext uri="{FF2B5EF4-FFF2-40B4-BE49-F238E27FC236}">
                <a16:creationId xmlns:a16="http://schemas.microsoft.com/office/drawing/2014/main" id="{E2DAD781-428A-67D8-7C55-666DFF21CBBC}"/>
              </a:ext>
            </a:extLst>
          </p:cNvPr>
          <p:cNvPicPr>
            <a:picLocks noGrp="1" noRot="1" noChangeAspect="1" noMove="1" noResize="1" noEditPoints="1" noAdjustHandles="1" noChangeArrowheads="1" noChangeShapeType="1" noCrop="1"/>
          </p:cNvPicPr>
          <p:nvPr/>
        </p:nvPicPr>
        <p:blipFill>
          <a:blip r:embed="rId3"/>
          <a:stretch>
            <a:fillRect/>
          </a:stretch>
        </p:blipFill>
        <p:spPr>
          <a:xfrm>
            <a:off x="0" y="1898909"/>
            <a:ext cx="4744800" cy="4744800"/>
          </a:xfrm>
          <a:prstGeom prst="rect">
            <a:avLst/>
          </a:prstGeom>
        </p:spPr>
      </p:pic>
      <p:pic>
        <p:nvPicPr>
          <p:cNvPr id="16" name="Picture 15">
            <a:extLst>
              <a:ext uri="{FF2B5EF4-FFF2-40B4-BE49-F238E27FC236}">
                <a16:creationId xmlns:a16="http://schemas.microsoft.com/office/drawing/2014/main" id="{736497C4-9FC9-151F-62D2-FB395805F0B0}"/>
              </a:ext>
            </a:extLst>
          </p:cNvPr>
          <p:cNvPicPr>
            <a:picLocks noGrp="1" noRot="1" noChangeAspect="1" noMove="1" noResize="1" noEditPoints="1" noAdjustHandles="1" noChangeArrowheads="1" noChangeShapeType="1" noCrop="1"/>
          </p:cNvPicPr>
          <p:nvPr/>
        </p:nvPicPr>
        <p:blipFill>
          <a:blip r:embed="rId4"/>
          <a:stretch>
            <a:fillRect/>
          </a:stretch>
        </p:blipFill>
        <p:spPr>
          <a:xfrm>
            <a:off x="3199169" y="724908"/>
            <a:ext cx="5712455" cy="784800"/>
          </a:xfrm>
          <a:prstGeom prst="rect">
            <a:avLst/>
          </a:prstGeom>
        </p:spPr>
      </p:pic>
    </p:spTree>
    <p:extLst>
      <p:ext uri="{BB962C8B-B14F-4D97-AF65-F5344CB8AC3E}">
        <p14:creationId xmlns:p14="http://schemas.microsoft.com/office/powerpoint/2010/main" val="17494616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C-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8" name="Picture 7">
            <a:extLst>
              <a:ext uri="{FF2B5EF4-FFF2-40B4-BE49-F238E27FC236}">
                <a16:creationId xmlns:a16="http://schemas.microsoft.com/office/drawing/2014/main" id="{217E881E-670F-B298-11FD-7D2AE51F6D8C}"/>
              </a:ext>
            </a:extLst>
          </p:cNvPr>
          <p:cNvPicPr>
            <a:picLocks noGrp="1" noRot="1" noChangeAspect="1" noMove="1" noResize="1" noEditPoints="1" noAdjustHandles="1" noChangeArrowheads="1" noChangeShapeType="1" noCrop="1"/>
          </p:cNvPicPr>
          <p:nvPr/>
        </p:nvPicPr>
        <p:blipFill>
          <a:blip r:embed="rId2"/>
          <a:stretch>
            <a:fillRect/>
          </a:stretch>
        </p:blipFill>
        <p:spPr>
          <a:xfrm>
            <a:off x="0" y="1898909"/>
            <a:ext cx="4744800" cy="4744800"/>
          </a:xfrm>
          <a:prstGeom prst="rect">
            <a:avLst/>
          </a:prstGeom>
        </p:spPr>
      </p:pic>
      <p:pic>
        <p:nvPicPr>
          <p:cNvPr id="18" name="Picture 17">
            <a:extLst>
              <a:ext uri="{FF2B5EF4-FFF2-40B4-BE49-F238E27FC236}">
                <a16:creationId xmlns:a16="http://schemas.microsoft.com/office/drawing/2014/main" id="{097C5F1C-1E54-2755-BD09-8B53BEC6CE1A}"/>
              </a:ext>
            </a:extLst>
          </p:cNvPr>
          <p:cNvPicPr>
            <a:picLocks noGrp="1" noRot="1" noChangeAspect="1" noMove="1" noResize="1" noEditPoints="1" noAdjustHandles="1" noChangeArrowheads="1" noChangeShapeType="1" noCrop="1"/>
          </p:cNvPicPr>
          <p:nvPr/>
        </p:nvPicPr>
        <p:blipFill>
          <a:blip r:embed="rId3"/>
          <a:stretch>
            <a:fillRect/>
          </a:stretch>
        </p:blipFill>
        <p:spPr>
          <a:xfrm>
            <a:off x="4880448" y="2853016"/>
            <a:ext cx="3642367" cy="505969"/>
          </a:xfrm>
          <a:prstGeom prst="rect">
            <a:avLst/>
          </a:prstGeom>
        </p:spPr>
      </p:pic>
      <p:pic>
        <p:nvPicPr>
          <p:cNvPr id="16" name="Picture 15">
            <a:extLst>
              <a:ext uri="{FF2B5EF4-FFF2-40B4-BE49-F238E27FC236}">
                <a16:creationId xmlns:a16="http://schemas.microsoft.com/office/drawing/2014/main" id="{A97AA30C-B131-11B2-D159-FECF538D59B6}"/>
              </a:ext>
            </a:extLst>
          </p:cNvPr>
          <p:cNvPicPr>
            <a:picLocks noGrp="1" noRot="1" noChangeAspect="1" noMove="1" noResize="1" noEditPoints="1" noAdjustHandles="1" noChangeArrowheads="1" noChangeShapeType="1" noCrop="1"/>
          </p:cNvPicPr>
          <p:nvPr/>
        </p:nvPicPr>
        <p:blipFill>
          <a:blip r:embed="rId4"/>
          <a:stretch>
            <a:fillRect/>
          </a:stretch>
        </p:blipFill>
        <p:spPr>
          <a:xfrm>
            <a:off x="3199169" y="724908"/>
            <a:ext cx="5712455" cy="784800"/>
          </a:xfrm>
          <a:prstGeom prst="rect">
            <a:avLst/>
          </a:prstGeom>
        </p:spPr>
      </p:pic>
    </p:spTree>
    <p:extLst>
      <p:ext uri="{BB962C8B-B14F-4D97-AF65-F5344CB8AC3E}">
        <p14:creationId xmlns:p14="http://schemas.microsoft.com/office/powerpoint/2010/main" val="7144148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D-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3" name="Picture 2">
            <a:extLst>
              <a:ext uri="{FF2B5EF4-FFF2-40B4-BE49-F238E27FC236}">
                <a16:creationId xmlns:a16="http://schemas.microsoft.com/office/drawing/2014/main" id="{FE0B2444-920A-39A5-579B-B54FCADA5674}"/>
              </a:ext>
            </a:extLst>
          </p:cNvPr>
          <p:cNvPicPr>
            <a:picLocks noGrp="1" noRot="1" noChangeAspect="1" noMove="1" noResize="1" noEditPoints="1" noAdjustHandles="1" noChangeArrowheads="1" noChangeShapeType="1" noCrop="1"/>
          </p:cNvPicPr>
          <p:nvPr/>
        </p:nvPicPr>
        <p:blipFill>
          <a:blip r:embed="rId2"/>
          <a:stretch>
            <a:fillRect/>
          </a:stretch>
        </p:blipFill>
        <p:spPr>
          <a:xfrm>
            <a:off x="4880448" y="2853016"/>
            <a:ext cx="5117602" cy="505969"/>
          </a:xfrm>
          <a:prstGeom prst="rect">
            <a:avLst/>
          </a:prstGeom>
        </p:spPr>
      </p:pic>
      <p:pic>
        <p:nvPicPr>
          <p:cNvPr id="5" name="Picture 4">
            <a:extLst>
              <a:ext uri="{FF2B5EF4-FFF2-40B4-BE49-F238E27FC236}">
                <a16:creationId xmlns:a16="http://schemas.microsoft.com/office/drawing/2014/main" id="{07506DF5-D585-C85A-7378-578CF95524AA}"/>
              </a:ext>
            </a:extLst>
          </p:cNvPr>
          <p:cNvPicPr>
            <a:picLocks noGrp="1" noRot="1" noChangeAspect="1" noMove="1" noResize="1" noEditPoints="1" noAdjustHandles="1" noChangeArrowheads="1" noChangeShapeType="1" noCrop="1"/>
          </p:cNvPicPr>
          <p:nvPr/>
        </p:nvPicPr>
        <p:blipFill>
          <a:blip r:embed="rId3"/>
          <a:stretch>
            <a:fillRect/>
          </a:stretch>
        </p:blipFill>
        <p:spPr>
          <a:xfrm>
            <a:off x="0" y="1898909"/>
            <a:ext cx="4744800" cy="4744800"/>
          </a:xfrm>
          <a:prstGeom prst="rect">
            <a:avLst/>
          </a:prstGeom>
        </p:spPr>
      </p:pic>
      <p:pic>
        <p:nvPicPr>
          <p:cNvPr id="16" name="Picture 15">
            <a:extLst>
              <a:ext uri="{FF2B5EF4-FFF2-40B4-BE49-F238E27FC236}">
                <a16:creationId xmlns:a16="http://schemas.microsoft.com/office/drawing/2014/main" id="{F6743423-DF9F-5DF4-442D-BF34F62A7AC6}"/>
              </a:ext>
            </a:extLst>
          </p:cNvPr>
          <p:cNvPicPr>
            <a:picLocks noGrp="1" noRot="1" noChangeAspect="1" noMove="1" noResize="1" noEditPoints="1" noAdjustHandles="1" noChangeArrowheads="1" noChangeShapeType="1" noCrop="1"/>
          </p:cNvPicPr>
          <p:nvPr/>
        </p:nvPicPr>
        <p:blipFill>
          <a:blip r:embed="rId4"/>
          <a:stretch>
            <a:fillRect/>
          </a:stretch>
        </p:blipFill>
        <p:spPr>
          <a:xfrm>
            <a:off x="3199169" y="724908"/>
            <a:ext cx="5712455" cy="784800"/>
          </a:xfrm>
          <a:prstGeom prst="rect">
            <a:avLst/>
          </a:prstGeom>
        </p:spPr>
      </p:pic>
    </p:spTree>
    <p:extLst>
      <p:ext uri="{BB962C8B-B14F-4D97-AF65-F5344CB8AC3E}">
        <p14:creationId xmlns:p14="http://schemas.microsoft.com/office/powerpoint/2010/main" val="27955246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E-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4" name="Picture 3">
            <a:extLst>
              <a:ext uri="{FF2B5EF4-FFF2-40B4-BE49-F238E27FC236}">
                <a16:creationId xmlns:a16="http://schemas.microsoft.com/office/drawing/2014/main" id="{B161E0BB-AC62-05F4-05B8-418A002D64E0}"/>
              </a:ext>
            </a:extLst>
          </p:cNvPr>
          <p:cNvPicPr>
            <a:picLocks noGrp="1" noRot="1" noChangeAspect="1" noMove="1" noResize="1" noEditPoints="1" noAdjustHandles="1" noChangeArrowheads="1" noChangeShapeType="1" noCrop="1"/>
          </p:cNvPicPr>
          <p:nvPr/>
        </p:nvPicPr>
        <p:blipFill>
          <a:blip r:embed="rId2"/>
          <a:stretch>
            <a:fillRect/>
          </a:stretch>
        </p:blipFill>
        <p:spPr>
          <a:xfrm>
            <a:off x="4880448" y="2853016"/>
            <a:ext cx="2660909" cy="505969"/>
          </a:xfrm>
          <a:prstGeom prst="rect">
            <a:avLst/>
          </a:prstGeom>
        </p:spPr>
      </p:pic>
      <p:pic>
        <p:nvPicPr>
          <p:cNvPr id="8" name="Picture 7">
            <a:extLst>
              <a:ext uri="{FF2B5EF4-FFF2-40B4-BE49-F238E27FC236}">
                <a16:creationId xmlns:a16="http://schemas.microsoft.com/office/drawing/2014/main" id="{3CC61186-C2CB-33BF-880D-468C0FE8B484}"/>
              </a:ext>
            </a:extLst>
          </p:cNvPr>
          <p:cNvPicPr>
            <a:picLocks noGrp="1" noRot="1" noChangeAspect="1" noMove="1" noResize="1" noEditPoints="1" noAdjustHandles="1" noChangeArrowheads="1" noChangeShapeType="1" noCrop="1"/>
          </p:cNvPicPr>
          <p:nvPr/>
        </p:nvPicPr>
        <p:blipFill>
          <a:blip r:embed="rId3"/>
          <a:stretch>
            <a:fillRect/>
          </a:stretch>
        </p:blipFill>
        <p:spPr>
          <a:xfrm>
            <a:off x="0" y="1898909"/>
            <a:ext cx="4744800" cy="4744800"/>
          </a:xfrm>
          <a:prstGeom prst="rect">
            <a:avLst/>
          </a:prstGeom>
        </p:spPr>
      </p:pic>
      <p:pic>
        <p:nvPicPr>
          <p:cNvPr id="16" name="Picture 15">
            <a:extLst>
              <a:ext uri="{FF2B5EF4-FFF2-40B4-BE49-F238E27FC236}">
                <a16:creationId xmlns:a16="http://schemas.microsoft.com/office/drawing/2014/main" id="{0390D0C5-32B0-F4A3-8473-6945918A77E3}"/>
              </a:ext>
            </a:extLst>
          </p:cNvPr>
          <p:cNvPicPr>
            <a:picLocks noGrp="1" noRot="1" noChangeAspect="1" noMove="1" noResize="1" noEditPoints="1" noAdjustHandles="1" noChangeArrowheads="1" noChangeShapeType="1" noCrop="1"/>
          </p:cNvPicPr>
          <p:nvPr/>
        </p:nvPicPr>
        <p:blipFill>
          <a:blip r:embed="rId4"/>
          <a:stretch>
            <a:fillRect/>
          </a:stretch>
        </p:blipFill>
        <p:spPr>
          <a:xfrm>
            <a:off x="3199169" y="724908"/>
            <a:ext cx="5712455" cy="784800"/>
          </a:xfrm>
          <a:prstGeom prst="rect">
            <a:avLst/>
          </a:prstGeom>
        </p:spPr>
      </p:pic>
    </p:spTree>
    <p:extLst>
      <p:ext uri="{BB962C8B-B14F-4D97-AF65-F5344CB8AC3E}">
        <p14:creationId xmlns:p14="http://schemas.microsoft.com/office/powerpoint/2010/main" val="14674747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amp;C_orange-E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7C0BD9D-B8ED-5511-960F-8CA63E3A33D3}"/>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id="{1D206AD6-A0AE-75C5-D359-E6474815B782}"/>
              </a:ext>
            </a:extLst>
          </p:cNvPr>
          <p:cNvSpPr>
            <a:spLocks noGrp="1"/>
          </p:cNvSpPr>
          <p:nvPr>
            <p:ph type="pic" sz="quarter" idx="14"/>
          </p:nvPr>
        </p:nvSpPr>
        <p:spPr>
          <a:xfrm>
            <a:off x="838201" y="2352599"/>
            <a:ext cx="4680000" cy="305999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en-US"/>
              <a:t>Click icon to add picture</a:t>
            </a:r>
            <a:endParaRPr lang="en-GB"/>
          </a:p>
        </p:txBody>
      </p:sp>
    </p:spTree>
    <p:extLst>
      <p:ext uri="{BB962C8B-B14F-4D97-AF65-F5344CB8AC3E}">
        <p14:creationId xmlns:p14="http://schemas.microsoft.com/office/powerpoint/2010/main" val="3831624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amp;C_blue-E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117F345-65C2-2CD1-DC0D-64AC50F134CF}"/>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a:prstGeom prst="rect">
            <a:avLst/>
          </a:prstGeom>
        </p:spPr>
        <p:txBody>
          <a:bodyPr/>
          <a:lstStyle>
            <a:lvl1pPr>
              <a:defRPr>
                <a:latin typeface="Myriad Pro" panose="020B0503030403020204" pitchFamily="34" charset="0"/>
              </a:defRPr>
            </a:lvl1pPr>
            <a:lvl2pPr>
              <a:defRPr>
                <a:latin typeface="Myriad Pro" panose="020B0503030403020204" pitchFamily="34" charset="0"/>
              </a:defRPr>
            </a:lvl2pPr>
            <a:lvl3pPr>
              <a:defRPr>
                <a:latin typeface="Myriad Pro" panose="020B0503030403020204" pitchFamily="34" charset="0"/>
              </a:defRPr>
            </a:lvl3pPr>
            <a:lvl4pPr>
              <a:defRPr>
                <a:latin typeface="Myriad Pro" panose="020B0503030403020204" pitchFamily="34" charset="0"/>
              </a:defRPr>
            </a:lvl4pPr>
            <a:lvl5pPr>
              <a:defRPr>
                <a:latin typeface="Myriad Pro" panose="020B0503030403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id="{1D206AD6-A0AE-75C5-D359-E6474815B782}"/>
              </a:ext>
            </a:extLst>
          </p:cNvPr>
          <p:cNvSpPr>
            <a:spLocks noGrp="1"/>
          </p:cNvSpPr>
          <p:nvPr>
            <p:ph type="pic" sz="quarter" idx="14"/>
          </p:nvPr>
        </p:nvSpPr>
        <p:spPr>
          <a:xfrm>
            <a:off x="838201" y="2352599"/>
            <a:ext cx="4680000" cy="305999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en-US"/>
              <a:t>Click icon to add picture</a:t>
            </a:r>
            <a:endParaRPr lang="en-GB"/>
          </a:p>
        </p:txBody>
      </p:sp>
    </p:spTree>
    <p:extLst>
      <p:ext uri="{BB962C8B-B14F-4D97-AF65-F5344CB8AC3E}">
        <p14:creationId xmlns:p14="http://schemas.microsoft.com/office/powerpoint/2010/main" val="428324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A&amp;C_green-E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311348A-7A65-4D63-9999-43FC28C9E5ED}"/>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id="{1D206AD6-A0AE-75C5-D359-E6474815B782}"/>
              </a:ext>
            </a:extLst>
          </p:cNvPr>
          <p:cNvSpPr>
            <a:spLocks noGrp="1"/>
          </p:cNvSpPr>
          <p:nvPr>
            <p:ph type="pic" sz="quarter" idx="14"/>
          </p:nvPr>
        </p:nvSpPr>
        <p:spPr>
          <a:xfrm>
            <a:off x="838201" y="2352599"/>
            <a:ext cx="4680000" cy="305999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en-US"/>
              <a:t>Click icon to add picture</a:t>
            </a:r>
            <a:endParaRPr lang="en-GB"/>
          </a:p>
        </p:txBody>
      </p:sp>
    </p:spTree>
    <p:extLst>
      <p:ext uri="{BB962C8B-B14F-4D97-AF65-F5344CB8AC3E}">
        <p14:creationId xmlns:p14="http://schemas.microsoft.com/office/powerpoint/2010/main" val="24528945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A&amp;C_red-E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196142E-F691-EA8F-3DCD-7E4A78F2E4F1}"/>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id="{1D206AD6-A0AE-75C5-D359-E6474815B782}"/>
              </a:ext>
            </a:extLst>
          </p:cNvPr>
          <p:cNvSpPr>
            <a:spLocks noGrp="1"/>
          </p:cNvSpPr>
          <p:nvPr>
            <p:ph type="pic" sz="quarter" idx="14"/>
          </p:nvPr>
        </p:nvSpPr>
        <p:spPr>
          <a:xfrm>
            <a:off x="838201" y="2352599"/>
            <a:ext cx="4680000" cy="305999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en-US"/>
              <a:t>Click icon to add picture</a:t>
            </a:r>
            <a:endParaRPr lang="en-GB"/>
          </a:p>
        </p:txBody>
      </p:sp>
    </p:spTree>
    <p:extLst>
      <p:ext uri="{BB962C8B-B14F-4D97-AF65-F5344CB8AC3E}">
        <p14:creationId xmlns:p14="http://schemas.microsoft.com/office/powerpoint/2010/main" val="3737730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A&amp;C_cyan-E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2C15972-37F2-DAE7-8C10-98E52C044C25}"/>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a:prstGeom prst="rect">
            <a:avLst/>
          </a:prstGeom>
        </p:spPr>
        <p:txBody>
          <a:bodyPr/>
          <a:lstStyle>
            <a:lvl1pPr>
              <a:defRPr>
                <a:latin typeface="Myriad Pro" panose="020B0503030403020204" pitchFamily="34" charset="0"/>
              </a:defRPr>
            </a:lvl1pPr>
            <a:lvl2pPr>
              <a:defRPr>
                <a:latin typeface="Myriad Pro" panose="020B0503030403020204" pitchFamily="34" charset="0"/>
              </a:defRPr>
            </a:lvl2pPr>
            <a:lvl3pPr>
              <a:defRPr>
                <a:latin typeface="Myriad Pro" panose="020B0503030403020204" pitchFamily="34" charset="0"/>
              </a:defRPr>
            </a:lvl3pPr>
            <a:lvl4pPr>
              <a:defRPr>
                <a:latin typeface="Myriad Pro" panose="020B0503030403020204" pitchFamily="34" charset="0"/>
              </a:defRPr>
            </a:lvl4pPr>
            <a:lvl5pPr>
              <a:defRPr>
                <a:latin typeface="Myriad Pro" panose="020B0503030403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id="{1D206AD6-A0AE-75C5-D359-E6474815B782}"/>
              </a:ext>
            </a:extLst>
          </p:cNvPr>
          <p:cNvSpPr>
            <a:spLocks noGrp="1"/>
          </p:cNvSpPr>
          <p:nvPr>
            <p:ph type="pic" sz="quarter" idx="14"/>
          </p:nvPr>
        </p:nvSpPr>
        <p:spPr>
          <a:xfrm>
            <a:off x="838201" y="2352599"/>
            <a:ext cx="4680000" cy="305999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en-US"/>
              <a:t>Click icon to add picture</a:t>
            </a:r>
            <a:endParaRPr lang="en-GB"/>
          </a:p>
        </p:txBody>
      </p:sp>
    </p:spTree>
    <p:extLst>
      <p:ext uri="{BB962C8B-B14F-4D97-AF65-F5344CB8AC3E}">
        <p14:creationId xmlns:p14="http://schemas.microsoft.com/office/powerpoint/2010/main" val="6204144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_orange">
    <p:spTree>
      <p:nvGrpSpPr>
        <p:cNvPr id="1" name=""/>
        <p:cNvGrpSpPr/>
        <p:nvPr/>
      </p:nvGrpSpPr>
      <p:grpSpPr>
        <a:xfrm>
          <a:off x="0" y="0"/>
          <a:ext cx="0" cy="0"/>
          <a:chOff x="0" y="0"/>
          <a:chExt cx="0" cy="0"/>
        </a:xfrm>
      </p:grpSpPr>
      <p:sp>
        <p:nvSpPr>
          <p:cNvPr id="10" name="Snip Diagonal Corner Rectangle 3">
            <a:extLst>
              <a:ext uri="{FF2B5EF4-FFF2-40B4-BE49-F238E27FC236}">
                <a16:creationId xmlns:a16="http://schemas.microsoft.com/office/drawing/2014/main" id="{B505DC89-2E6F-5786-39F5-2B4AC2C46AF0}"/>
              </a:ext>
            </a:extLst>
          </p:cNvPr>
          <p:cNvSpPr>
            <a:spLocks noGrp="1" noRot="1" noChangeAspect="1" noMove="1" noResize="1" noEditPoints="1" noAdjustHandles="1" noChangeArrowheads="1" noChangeShapeType="1"/>
          </p:cNvSpPr>
          <p:nvPr/>
        </p:nvSpPr>
        <p:spPr>
          <a:xfrm flipH="1">
            <a:off x="814200" y="669190"/>
            <a:ext cx="1020001" cy="612000"/>
          </a:xfrm>
          <a:prstGeom prst="snip2DiagRect">
            <a:avLst>
              <a:gd name="adj1" fmla="val 0"/>
              <a:gd name="adj2" fmla="val 24507"/>
            </a:avLst>
          </a:prstGeom>
          <a:solidFill>
            <a:srgbClr val="C26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CE0739-E024-919C-BFC6-CB434061A741}"/>
              </a:ext>
            </a:extLst>
          </p:cNvPr>
          <p:cNvSpPr>
            <a:spLocks noGrp="1"/>
          </p:cNvSpPr>
          <p:nvPr>
            <p:ph type="title"/>
          </p:nvPr>
        </p:nvSpPr>
        <p:spPr/>
        <p:txBody>
          <a:bodyPr/>
          <a:lstStyle/>
          <a:p>
            <a:r>
              <a:rPr lang="en-US"/>
              <a:t>Click to edit Master title style</a:t>
            </a:r>
            <a:endParaRPr lang="en-GB" dirty="0"/>
          </a:p>
        </p:txBody>
      </p:sp>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1/5/2024</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4" name="Text Placeholder 19">
            <a:extLst>
              <a:ext uri="{FF2B5EF4-FFF2-40B4-BE49-F238E27FC236}">
                <a16:creationId xmlns:a16="http://schemas.microsoft.com/office/drawing/2014/main" id="{C34498B1-43FD-DC69-5B53-AFC4C547FB83}"/>
              </a:ext>
            </a:extLst>
          </p:cNvPr>
          <p:cNvSpPr>
            <a:spLocks noGrp="1" noRot="1" noMove="1" noResize="1" noEditPoints="1" noAdjustHandles="1" noChangeArrowheads="1" noChangeShapeType="1"/>
          </p:cNvSpPr>
          <p:nvPr>
            <p:ph type="body" sz="quarter" idx="14" hasCustomPrompt="1"/>
          </p:nvPr>
        </p:nvSpPr>
        <p:spPr>
          <a:xfrm>
            <a:off x="838800" y="684000"/>
            <a:ext cx="972000" cy="583200"/>
          </a:xfrm>
          <a:prstGeom prst="rect">
            <a:avLst/>
          </a:prstGeom>
        </p:spPr>
        <p:txBody>
          <a:bodyPr anchor="ctr">
            <a:noAutofit/>
          </a:bodyPr>
          <a:lstStyle>
            <a:lvl1pPr marL="0" indent="0" algn="ctr">
              <a:lnSpc>
                <a:spcPct val="100000"/>
              </a:lnSpc>
              <a:spcBef>
                <a:spcPts val="0"/>
              </a:spcBef>
              <a:buNone/>
              <a:defRPr sz="3200" b="1">
                <a:solidFill>
                  <a:schemeClr val="bg1"/>
                </a:solidFill>
                <a:latin typeface="Myriad Pro" panose="020B0503030403020204" pitchFamily="34" charset="0"/>
              </a:defRPr>
            </a:lvl1pPr>
          </a:lstStyle>
          <a:p>
            <a:pPr lvl="0"/>
            <a:r>
              <a:rPr lang="en-US" dirty="0"/>
              <a:t>X.X</a:t>
            </a:r>
            <a:endParaRPr lang="en-GB" dirty="0"/>
          </a:p>
        </p:txBody>
      </p:sp>
      <p:sp>
        <p:nvSpPr>
          <p:cNvPr id="11" name="Content Placeholder 10">
            <a:extLst>
              <a:ext uri="{FF2B5EF4-FFF2-40B4-BE49-F238E27FC236}">
                <a16:creationId xmlns:a16="http://schemas.microsoft.com/office/drawing/2014/main" id="{43D25585-2BA2-DAE6-6CD9-0856FBF84816}"/>
              </a:ext>
            </a:extLst>
          </p:cNvPr>
          <p:cNvSpPr>
            <a:spLocks noGrp="1"/>
          </p:cNvSpPr>
          <p:nvPr>
            <p:ph sz="quarter" idx="15"/>
          </p:nvPr>
        </p:nvSpPr>
        <p:spPr>
          <a:xfrm>
            <a:off x="838800" y="1609200"/>
            <a:ext cx="10515600" cy="468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7215144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_blue">
    <p:spTree>
      <p:nvGrpSpPr>
        <p:cNvPr id="1" name=""/>
        <p:cNvGrpSpPr/>
        <p:nvPr/>
      </p:nvGrpSpPr>
      <p:grpSpPr>
        <a:xfrm>
          <a:off x="0" y="0"/>
          <a:ext cx="0" cy="0"/>
          <a:chOff x="0" y="0"/>
          <a:chExt cx="0" cy="0"/>
        </a:xfrm>
      </p:grpSpPr>
      <p:sp>
        <p:nvSpPr>
          <p:cNvPr id="9" name="Snip Diagonal Corner Rectangle 3">
            <a:extLst>
              <a:ext uri="{FF2B5EF4-FFF2-40B4-BE49-F238E27FC236}">
                <a16:creationId xmlns:a16="http://schemas.microsoft.com/office/drawing/2014/main" id="{72874D61-669D-1562-9471-3F57078BE147}"/>
              </a:ext>
            </a:extLst>
          </p:cNvPr>
          <p:cNvSpPr>
            <a:spLocks noGrp="1" noRot="1" noChangeAspect="1" noMove="1" noResize="1" noEditPoints="1" noAdjustHandles="1" noChangeArrowheads="1" noChangeShapeType="1"/>
          </p:cNvSpPr>
          <p:nvPr/>
        </p:nvSpPr>
        <p:spPr>
          <a:xfrm flipH="1">
            <a:off x="814200" y="669190"/>
            <a:ext cx="1020001" cy="612000"/>
          </a:xfrm>
          <a:prstGeom prst="snip2DiagRect">
            <a:avLst>
              <a:gd name="adj1" fmla="val 0"/>
              <a:gd name="adj2" fmla="val 24507"/>
            </a:avLst>
          </a:prstGeom>
          <a:solidFill>
            <a:srgbClr val="2132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CE0739-E024-919C-BFC6-CB434061A741}"/>
              </a:ext>
            </a:extLst>
          </p:cNvPr>
          <p:cNvSpPr>
            <a:spLocks noGrp="1"/>
          </p:cNvSpPr>
          <p:nvPr>
            <p:ph type="title"/>
          </p:nvPr>
        </p:nvSpPr>
        <p:spPr/>
        <p:txBody>
          <a:bodyPr/>
          <a:lstStyle/>
          <a:p>
            <a:r>
              <a:rPr lang="en-US"/>
              <a:t>Click to edit Master title style</a:t>
            </a:r>
            <a:endParaRPr lang="en-GB" dirty="0"/>
          </a:p>
        </p:txBody>
      </p:sp>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1/5/2024</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4" name="Text Placeholder 19">
            <a:extLst>
              <a:ext uri="{FF2B5EF4-FFF2-40B4-BE49-F238E27FC236}">
                <a16:creationId xmlns:a16="http://schemas.microsoft.com/office/drawing/2014/main" id="{C34498B1-43FD-DC69-5B53-AFC4C547FB83}"/>
              </a:ext>
            </a:extLst>
          </p:cNvPr>
          <p:cNvSpPr>
            <a:spLocks noGrp="1" noRot="1" noMove="1" noResize="1" noEditPoints="1" noAdjustHandles="1" noChangeArrowheads="1" noChangeShapeType="1"/>
          </p:cNvSpPr>
          <p:nvPr>
            <p:ph type="body" sz="quarter" idx="14" hasCustomPrompt="1"/>
          </p:nvPr>
        </p:nvSpPr>
        <p:spPr>
          <a:xfrm>
            <a:off x="838800" y="684000"/>
            <a:ext cx="972000" cy="583200"/>
          </a:xfrm>
          <a:prstGeom prst="rect">
            <a:avLst/>
          </a:prstGeom>
        </p:spPr>
        <p:txBody>
          <a:bodyPr anchor="ctr">
            <a:noAutofit/>
          </a:bodyPr>
          <a:lstStyle>
            <a:lvl1pPr marL="0" indent="0" algn="ctr">
              <a:lnSpc>
                <a:spcPct val="100000"/>
              </a:lnSpc>
              <a:spcBef>
                <a:spcPts val="0"/>
              </a:spcBef>
              <a:buNone/>
              <a:defRPr sz="3200" b="1">
                <a:solidFill>
                  <a:schemeClr val="bg1"/>
                </a:solidFill>
                <a:latin typeface="Myriad Pro" panose="020B0503030403020204" pitchFamily="34" charset="0"/>
              </a:defRPr>
            </a:lvl1pPr>
          </a:lstStyle>
          <a:p>
            <a:pPr lvl="0"/>
            <a:r>
              <a:rPr lang="en-US" dirty="0"/>
              <a:t>X.X</a:t>
            </a:r>
            <a:endParaRPr lang="en-GB" dirty="0"/>
          </a:p>
        </p:txBody>
      </p:sp>
      <p:sp>
        <p:nvSpPr>
          <p:cNvPr id="11" name="Content Placeholder 10">
            <a:extLst>
              <a:ext uri="{FF2B5EF4-FFF2-40B4-BE49-F238E27FC236}">
                <a16:creationId xmlns:a16="http://schemas.microsoft.com/office/drawing/2014/main" id="{6B5BC051-110A-C89D-9342-F257EABF8C2E}"/>
              </a:ext>
            </a:extLst>
          </p:cNvPr>
          <p:cNvSpPr>
            <a:spLocks noGrp="1"/>
          </p:cNvSpPr>
          <p:nvPr>
            <p:ph sz="quarter" idx="15"/>
          </p:nvPr>
        </p:nvSpPr>
        <p:spPr>
          <a:xfrm>
            <a:off x="838800" y="1609200"/>
            <a:ext cx="10515600" cy="468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8147905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_green">
    <p:spTree>
      <p:nvGrpSpPr>
        <p:cNvPr id="1" name=""/>
        <p:cNvGrpSpPr/>
        <p:nvPr/>
      </p:nvGrpSpPr>
      <p:grpSpPr>
        <a:xfrm>
          <a:off x="0" y="0"/>
          <a:ext cx="0" cy="0"/>
          <a:chOff x="0" y="0"/>
          <a:chExt cx="0" cy="0"/>
        </a:xfrm>
      </p:grpSpPr>
      <p:sp>
        <p:nvSpPr>
          <p:cNvPr id="9" name="Snip Diagonal Corner Rectangle 3">
            <a:extLst>
              <a:ext uri="{FF2B5EF4-FFF2-40B4-BE49-F238E27FC236}">
                <a16:creationId xmlns:a16="http://schemas.microsoft.com/office/drawing/2014/main" id="{A2D0F62E-5468-5683-75D2-94AABF0D8A47}"/>
              </a:ext>
            </a:extLst>
          </p:cNvPr>
          <p:cNvSpPr>
            <a:spLocks noChangeAspect="1"/>
          </p:cNvSpPr>
          <p:nvPr/>
        </p:nvSpPr>
        <p:spPr>
          <a:xfrm flipH="1">
            <a:off x="814200" y="669190"/>
            <a:ext cx="1020001" cy="612000"/>
          </a:xfrm>
          <a:prstGeom prst="snip2DiagRect">
            <a:avLst>
              <a:gd name="adj1" fmla="val 0"/>
              <a:gd name="adj2" fmla="val 24507"/>
            </a:avLst>
          </a:prstGeom>
          <a:solidFill>
            <a:srgbClr val="0078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CE0739-E024-919C-BFC6-CB434061A741}"/>
              </a:ext>
            </a:extLst>
          </p:cNvPr>
          <p:cNvSpPr>
            <a:spLocks noGrp="1"/>
          </p:cNvSpPr>
          <p:nvPr>
            <p:ph type="title"/>
          </p:nvPr>
        </p:nvSpPr>
        <p:spPr/>
        <p:txBody>
          <a:bodyPr/>
          <a:lstStyle/>
          <a:p>
            <a:r>
              <a:rPr lang="en-US"/>
              <a:t>Click to edit Master title style</a:t>
            </a:r>
            <a:endParaRPr lang="en-GB" dirty="0"/>
          </a:p>
        </p:txBody>
      </p:sp>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1/5/2024</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4" name="Text Placeholder 19">
            <a:extLst>
              <a:ext uri="{FF2B5EF4-FFF2-40B4-BE49-F238E27FC236}">
                <a16:creationId xmlns:a16="http://schemas.microsoft.com/office/drawing/2014/main" id="{C34498B1-43FD-DC69-5B53-AFC4C547FB83}"/>
              </a:ext>
            </a:extLst>
          </p:cNvPr>
          <p:cNvSpPr>
            <a:spLocks noGrp="1"/>
          </p:cNvSpPr>
          <p:nvPr>
            <p:ph type="body" sz="quarter" idx="14" hasCustomPrompt="1"/>
          </p:nvPr>
        </p:nvSpPr>
        <p:spPr>
          <a:xfrm>
            <a:off x="838800" y="684000"/>
            <a:ext cx="972000" cy="583200"/>
          </a:xfrm>
          <a:prstGeom prst="rect">
            <a:avLst/>
          </a:prstGeom>
        </p:spPr>
        <p:txBody>
          <a:bodyPr anchor="ctr">
            <a:noAutofit/>
          </a:bodyPr>
          <a:lstStyle>
            <a:lvl1pPr marL="0" indent="0" algn="ctr">
              <a:lnSpc>
                <a:spcPct val="100000"/>
              </a:lnSpc>
              <a:spcBef>
                <a:spcPts val="0"/>
              </a:spcBef>
              <a:buNone/>
              <a:defRPr sz="3200" b="1">
                <a:solidFill>
                  <a:schemeClr val="bg1"/>
                </a:solidFill>
                <a:latin typeface="Myriad Pro" panose="020B0503030403020204" pitchFamily="34" charset="0"/>
              </a:defRPr>
            </a:lvl1pPr>
          </a:lstStyle>
          <a:p>
            <a:pPr lvl="0"/>
            <a:r>
              <a:rPr lang="en-US" dirty="0"/>
              <a:t>X.X</a:t>
            </a:r>
            <a:endParaRPr lang="en-GB" dirty="0"/>
          </a:p>
        </p:txBody>
      </p:sp>
      <p:sp>
        <p:nvSpPr>
          <p:cNvPr id="10" name="Content Placeholder 10">
            <a:extLst>
              <a:ext uri="{FF2B5EF4-FFF2-40B4-BE49-F238E27FC236}">
                <a16:creationId xmlns:a16="http://schemas.microsoft.com/office/drawing/2014/main" id="{AA369FF4-FA36-C573-1B73-72B7F94DBF1D}"/>
              </a:ext>
            </a:extLst>
          </p:cNvPr>
          <p:cNvSpPr>
            <a:spLocks noGrp="1"/>
          </p:cNvSpPr>
          <p:nvPr>
            <p:ph sz="quarter" idx="15"/>
          </p:nvPr>
        </p:nvSpPr>
        <p:spPr>
          <a:xfrm>
            <a:off x="838800" y="1609200"/>
            <a:ext cx="10515600" cy="468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866728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_red">
    <p:spTree>
      <p:nvGrpSpPr>
        <p:cNvPr id="1" name=""/>
        <p:cNvGrpSpPr/>
        <p:nvPr/>
      </p:nvGrpSpPr>
      <p:grpSpPr>
        <a:xfrm>
          <a:off x="0" y="0"/>
          <a:ext cx="0" cy="0"/>
          <a:chOff x="0" y="0"/>
          <a:chExt cx="0" cy="0"/>
        </a:xfrm>
      </p:grpSpPr>
      <p:sp>
        <p:nvSpPr>
          <p:cNvPr id="9" name="Snip Diagonal Corner Rectangle 3">
            <a:extLst>
              <a:ext uri="{FF2B5EF4-FFF2-40B4-BE49-F238E27FC236}">
                <a16:creationId xmlns:a16="http://schemas.microsoft.com/office/drawing/2014/main" id="{4DAD662D-900F-5555-5351-CB7EA4561EB7}"/>
              </a:ext>
            </a:extLst>
          </p:cNvPr>
          <p:cNvSpPr>
            <a:spLocks noChangeAspect="1"/>
          </p:cNvSpPr>
          <p:nvPr/>
        </p:nvSpPr>
        <p:spPr>
          <a:xfrm flipH="1">
            <a:off x="814200" y="669190"/>
            <a:ext cx="1020001" cy="612000"/>
          </a:xfrm>
          <a:prstGeom prst="snip2DiagRect">
            <a:avLst>
              <a:gd name="adj1" fmla="val 0"/>
              <a:gd name="adj2" fmla="val 24507"/>
            </a:avLst>
          </a:prstGeom>
          <a:solidFill>
            <a:srgbClr val="B720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CE0739-E024-919C-BFC6-CB434061A741}"/>
              </a:ext>
            </a:extLst>
          </p:cNvPr>
          <p:cNvSpPr>
            <a:spLocks noGrp="1"/>
          </p:cNvSpPr>
          <p:nvPr>
            <p:ph type="title"/>
          </p:nvPr>
        </p:nvSpPr>
        <p:spPr/>
        <p:txBody>
          <a:bodyPr/>
          <a:lstStyle/>
          <a:p>
            <a:r>
              <a:rPr lang="en-US"/>
              <a:t>Click to edit Master title style</a:t>
            </a:r>
            <a:endParaRPr lang="en-GB" dirty="0"/>
          </a:p>
        </p:txBody>
      </p:sp>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1/5/2024</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4" name="Text Placeholder 19">
            <a:extLst>
              <a:ext uri="{FF2B5EF4-FFF2-40B4-BE49-F238E27FC236}">
                <a16:creationId xmlns:a16="http://schemas.microsoft.com/office/drawing/2014/main" id="{C34498B1-43FD-DC69-5B53-AFC4C547FB83}"/>
              </a:ext>
            </a:extLst>
          </p:cNvPr>
          <p:cNvSpPr>
            <a:spLocks noGrp="1"/>
          </p:cNvSpPr>
          <p:nvPr>
            <p:ph type="body" sz="quarter" idx="14" hasCustomPrompt="1"/>
          </p:nvPr>
        </p:nvSpPr>
        <p:spPr>
          <a:xfrm>
            <a:off x="838800" y="684000"/>
            <a:ext cx="972000" cy="583200"/>
          </a:xfrm>
          <a:prstGeom prst="rect">
            <a:avLst/>
          </a:prstGeom>
        </p:spPr>
        <p:txBody>
          <a:bodyPr anchor="ctr">
            <a:noAutofit/>
          </a:bodyPr>
          <a:lstStyle>
            <a:lvl1pPr marL="0" indent="0" algn="ctr">
              <a:lnSpc>
                <a:spcPct val="100000"/>
              </a:lnSpc>
              <a:spcBef>
                <a:spcPts val="0"/>
              </a:spcBef>
              <a:buNone/>
              <a:defRPr sz="3200" b="1">
                <a:solidFill>
                  <a:schemeClr val="bg1"/>
                </a:solidFill>
                <a:latin typeface="Myriad Pro" panose="020B0503030403020204" pitchFamily="34" charset="0"/>
              </a:defRPr>
            </a:lvl1pPr>
          </a:lstStyle>
          <a:p>
            <a:pPr lvl="0"/>
            <a:r>
              <a:rPr lang="en-US" dirty="0"/>
              <a:t>X.X</a:t>
            </a:r>
            <a:endParaRPr lang="en-GB" dirty="0"/>
          </a:p>
        </p:txBody>
      </p:sp>
      <p:sp>
        <p:nvSpPr>
          <p:cNvPr id="10" name="Content Placeholder 10">
            <a:extLst>
              <a:ext uri="{FF2B5EF4-FFF2-40B4-BE49-F238E27FC236}">
                <a16:creationId xmlns:a16="http://schemas.microsoft.com/office/drawing/2014/main" id="{8AEC8F0B-7C47-5026-ABEB-5E962B739489}"/>
              </a:ext>
            </a:extLst>
          </p:cNvPr>
          <p:cNvSpPr>
            <a:spLocks noGrp="1"/>
          </p:cNvSpPr>
          <p:nvPr>
            <p:ph sz="quarter" idx="15"/>
          </p:nvPr>
        </p:nvSpPr>
        <p:spPr>
          <a:xfrm>
            <a:off x="838800" y="1609200"/>
            <a:ext cx="10515600" cy="468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859722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_cyan">
    <p:spTree>
      <p:nvGrpSpPr>
        <p:cNvPr id="1" name=""/>
        <p:cNvGrpSpPr/>
        <p:nvPr/>
      </p:nvGrpSpPr>
      <p:grpSpPr>
        <a:xfrm>
          <a:off x="0" y="0"/>
          <a:ext cx="0" cy="0"/>
          <a:chOff x="0" y="0"/>
          <a:chExt cx="0" cy="0"/>
        </a:xfrm>
      </p:grpSpPr>
      <p:sp>
        <p:nvSpPr>
          <p:cNvPr id="9" name="Snip Diagonal Corner Rectangle 3">
            <a:extLst>
              <a:ext uri="{FF2B5EF4-FFF2-40B4-BE49-F238E27FC236}">
                <a16:creationId xmlns:a16="http://schemas.microsoft.com/office/drawing/2014/main" id="{215673C9-3F6B-C178-D494-7C8B73C3CDF6}"/>
              </a:ext>
            </a:extLst>
          </p:cNvPr>
          <p:cNvSpPr>
            <a:spLocks noChangeAspect="1"/>
          </p:cNvSpPr>
          <p:nvPr/>
        </p:nvSpPr>
        <p:spPr>
          <a:xfrm flipH="1">
            <a:off x="814200" y="669190"/>
            <a:ext cx="1020001" cy="612000"/>
          </a:xfrm>
          <a:prstGeom prst="snip2DiagRect">
            <a:avLst>
              <a:gd name="adj1" fmla="val 0"/>
              <a:gd name="adj2" fmla="val 24507"/>
            </a:avLst>
          </a:prstGeom>
          <a:solidFill>
            <a:srgbClr val="3F82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CE0739-E024-919C-BFC6-CB434061A741}"/>
              </a:ext>
            </a:extLst>
          </p:cNvPr>
          <p:cNvSpPr>
            <a:spLocks noGrp="1"/>
          </p:cNvSpPr>
          <p:nvPr>
            <p:ph type="title"/>
          </p:nvPr>
        </p:nvSpPr>
        <p:spPr/>
        <p:txBody>
          <a:bodyPr/>
          <a:lstStyle/>
          <a:p>
            <a:r>
              <a:rPr lang="en-US"/>
              <a:t>Click to edit Master title style</a:t>
            </a:r>
            <a:endParaRPr lang="en-GB" dirty="0"/>
          </a:p>
        </p:txBody>
      </p:sp>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1/5/2024</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4" name="Text Placeholder 19">
            <a:extLst>
              <a:ext uri="{FF2B5EF4-FFF2-40B4-BE49-F238E27FC236}">
                <a16:creationId xmlns:a16="http://schemas.microsoft.com/office/drawing/2014/main" id="{C34498B1-43FD-DC69-5B53-AFC4C547FB83}"/>
              </a:ext>
            </a:extLst>
          </p:cNvPr>
          <p:cNvSpPr>
            <a:spLocks noGrp="1"/>
          </p:cNvSpPr>
          <p:nvPr>
            <p:ph type="body" sz="quarter" idx="14" hasCustomPrompt="1"/>
          </p:nvPr>
        </p:nvSpPr>
        <p:spPr>
          <a:xfrm>
            <a:off x="838800" y="684000"/>
            <a:ext cx="972000" cy="583200"/>
          </a:xfrm>
          <a:prstGeom prst="rect">
            <a:avLst/>
          </a:prstGeom>
        </p:spPr>
        <p:txBody>
          <a:bodyPr anchor="ctr">
            <a:noAutofit/>
          </a:bodyPr>
          <a:lstStyle>
            <a:lvl1pPr marL="0" indent="0" algn="ctr">
              <a:lnSpc>
                <a:spcPct val="100000"/>
              </a:lnSpc>
              <a:spcBef>
                <a:spcPts val="0"/>
              </a:spcBef>
              <a:buNone/>
              <a:defRPr sz="3200" b="1">
                <a:solidFill>
                  <a:schemeClr val="bg1"/>
                </a:solidFill>
                <a:latin typeface="Myriad Pro" panose="020B0503030403020204" pitchFamily="34" charset="0"/>
              </a:defRPr>
            </a:lvl1pPr>
          </a:lstStyle>
          <a:p>
            <a:pPr lvl="0"/>
            <a:r>
              <a:rPr lang="en-US" dirty="0"/>
              <a:t>X.X</a:t>
            </a:r>
            <a:endParaRPr lang="en-GB" dirty="0"/>
          </a:p>
        </p:txBody>
      </p:sp>
      <p:sp>
        <p:nvSpPr>
          <p:cNvPr id="10" name="Content Placeholder 10">
            <a:extLst>
              <a:ext uri="{FF2B5EF4-FFF2-40B4-BE49-F238E27FC236}">
                <a16:creationId xmlns:a16="http://schemas.microsoft.com/office/drawing/2014/main" id="{C9063645-AAC5-51BC-FFC8-34CC9F594B55}"/>
              </a:ext>
            </a:extLst>
          </p:cNvPr>
          <p:cNvSpPr>
            <a:spLocks noGrp="1"/>
          </p:cNvSpPr>
          <p:nvPr>
            <p:ph sz="quarter" idx="15"/>
          </p:nvPr>
        </p:nvSpPr>
        <p:spPr>
          <a:xfrm>
            <a:off x="838800" y="1609200"/>
            <a:ext cx="10515600" cy="468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7943791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Example-E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3BB63A3-9AB5-EBAC-F6F9-327B22130DCD}"/>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838200" y="1443600"/>
            <a:ext cx="10515600" cy="4860000"/>
          </a:xfrm>
          <a:prstGeom prst="rect">
            <a:avLst/>
          </a:prstGeom>
        </p:spPr>
        <p:txBody>
          <a:bodyPr>
            <a:normAutofit/>
          </a:bodyPr>
          <a:lstStyle>
            <a:lvl1pPr marL="0" indent="0">
              <a:buFont typeface="Arial" panose="020B0604020202020204" pitchFamily="34" charse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20" name="Text Placeholder 19">
            <a:extLst>
              <a:ext uri="{FF2B5EF4-FFF2-40B4-BE49-F238E27FC236}">
                <a16:creationId xmlns:a16="http://schemas.microsoft.com/office/drawing/2014/main" id="{EB0149AE-399E-56CA-418B-96532FF191D9}"/>
              </a:ext>
            </a:extLst>
          </p:cNvPr>
          <p:cNvSpPr>
            <a:spLocks noGrp="1" noRot="1" noMove="1" noResize="1" noEditPoints="1" noAdjustHandles="1" noChangeArrowheads="1" noChangeShapeType="1"/>
          </p:cNvSpPr>
          <p:nvPr>
            <p:ph type="body" sz="quarter" idx="13" hasCustomPrompt="1"/>
          </p:nvPr>
        </p:nvSpPr>
        <p:spPr>
          <a:xfrm>
            <a:off x="3212307" y="755092"/>
            <a:ext cx="864000" cy="288000"/>
          </a:xfrm>
          <a:prstGeom prst="rect">
            <a:avLst/>
          </a:prstGeom>
        </p:spPr>
        <p:txBody>
          <a:bodyPr anchor="ctr">
            <a:noAutofit/>
          </a:bodyPr>
          <a:lstStyle>
            <a:lvl1pPr marL="0" indent="0" algn="ctr">
              <a:lnSpc>
                <a:spcPct val="100000"/>
              </a:lnSpc>
              <a:spcBef>
                <a:spcPts val="0"/>
              </a:spcBef>
              <a:buNone/>
              <a:defRPr sz="2000" b="1">
                <a:solidFill>
                  <a:srgbClr val="606060"/>
                </a:solidFill>
                <a:latin typeface="Myriad Pro" panose="020B0503030403020204" pitchFamily="34" charset="0"/>
              </a:defRPr>
            </a:lvl1pPr>
          </a:lstStyle>
          <a:p>
            <a:pPr lvl="0"/>
            <a:r>
              <a:rPr lang="en-US" dirty="0"/>
              <a:t>X.X</a:t>
            </a:r>
            <a:endParaRPr lang="en-GB" dirty="0"/>
          </a:p>
        </p:txBody>
      </p:sp>
    </p:spTree>
    <p:extLst>
      <p:ext uri="{BB962C8B-B14F-4D97-AF65-F5344CB8AC3E}">
        <p14:creationId xmlns:p14="http://schemas.microsoft.com/office/powerpoint/2010/main" val="34402632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heckpoint-E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DF9B736-CC97-6F5A-03D8-7FA0AF198BE9}"/>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838200" y="1443600"/>
            <a:ext cx="10515600" cy="4860000"/>
          </a:xfrm>
          <a:prstGeom prst="rect">
            <a:avLst/>
          </a:prstGeo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9" name="Text Placeholder 19">
            <a:extLst>
              <a:ext uri="{FF2B5EF4-FFF2-40B4-BE49-F238E27FC236}">
                <a16:creationId xmlns:a16="http://schemas.microsoft.com/office/drawing/2014/main" id="{E63A75CB-E77D-CC21-A6EF-2A476E4BC4FE}"/>
              </a:ext>
            </a:extLst>
          </p:cNvPr>
          <p:cNvSpPr>
            <a:spLocks noGrp="1" noRot="1" noMove="1" noResize="1" noEditPoints="1" noAdjustHandles="1" noChangeArrowheads="1" noChangeShapeType="1"/>
          </p:cNvSpPr>
          <p:nvPr>
            <p:ph type="body" sz="quarter" idx="13" hasCustomPrompt="1"/>
          </p:nvPr>
        </p:nvSpPr>
        <p:spPr>
          <a:xfrm>
            <a:off x="3704400" y="755092"/>
            <a:ext cx="864000" cy="288000"/>
          </a:xfrm>
          <a:prstGeom prst="rect">
            <a:avLst/>
          </a:prstGeom>
        </p:spPr>
        <p:txBody>
          <a:bodyPr anchor="ctr">
            <a:noAutofit/>
          </a:bodyPr>
          <a:lstStyle>
            <a:lvl1pPr marL="0" indent="0" algn="ctr">
              <a:lnSpc>
                <a:spcPct val="100000"/>
              </a:lnSpc>
              <a:spcBef>
                <a:spcPts val="0"/>
              </a:spcBef>
              <a:buNone/>
              <a:defRPr sz="2000" b="1">
                <a:solidFill>
                  <a:srgbClr val="606060"/>
                </a:solidFill>
                <a:latin typeface="Myriad Pro" panose="020B0503030403020204" pitchFamily="34" charset="0"/>
              </a:defRPr>
            </a:lvl1pPr>
          </a:lstStyle>
          <a:p>
            <a:pPr lvl="0"/>
            <a:r>
              <a:rPr lang="en-US" dirty="0"/>
              <a:t>X.X</a:t>
            </a:r>
            <a:endParaRPr lang="en-GB" dirty="0"/>
          </a:p>
        </p:txBody>
      </p:sp>
    </p:spTree>
    <p:extLst>
      <p:ext uri="{BB962C8B-B14F-4D97-AF65-F5344CB8AC3E}">
        <p14:creationId xmlns:p14="http://schemas.microsoft.com/office/powerpoint/2010/main" val="1031645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Activity-E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63E1F40-9013-EBB0-F98A-0AFCFACA2203}"/>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838200" y="1443600"/>
            <a:ext cx="10515600" cy="4860000"/>
          </a:xfrm>
          <a:prstGeom prst="rect">
            <a:avLst/>
          </a:prstGeo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9" name="Text Placeholder 19">
            <a:extLst>
              <a:ext uri="{FF2B5EF4-FFF2-40B4-BE49-F238E27FC236}">
                <a16:creationId xmlns:a16="http://schemas.microsoft.com/office/drawing/2014/main" id="{E63A75CB-E77D-CC21-A6EF-2A476E4BC4FE}"/>
              </a:ext>
            </a:extLst>
          </p:cNvPr>
          <p:cNvSpPr>
            <a:spLocks noGrp="1" noRot="1" noMove="1" noResize="1" noEditPoints="1" noAdjustHandles="1" noChangeArrowheads="1" noChangeShapeType="1"/>
          </p:cNvSpPr>
          <p:nvPr>
            <p:ph type="body" sz="quarter" idx="13" hasCustomPrompt="1"/>
          </p:nvPr>
        </p:nvSpPr>
        <p:spPr>
          <a:xfrm>
            <a:off x="3170999" y="755092"/>
            <a:ext cx="864000" cy="288000"/>
          </a:xfrm>
          <a:prstGeom prst="rect">
            <a:avLst/>
          </a:prstGeom>
        </p:spPr>
        <p:txBody>
          <a:bodyPr anchor="ctr">
            <a:noAutofit/>
          </a:bodyPr>
          <a:lstStyle>
            <a:lvl1pPr marL="0" indent="0" algn="ctr">
              <a:lnSpc>
                <a:spcPct val="100000"/>
              </a:lnSpc>
              <a:spcBef>
                <a:spcPts val="0"/>
              </a:spcBef>
              <a:buNone/>
              <a:defRPr sz="2000" b="1">
                <a:solidFill>
                  <a:srgbClr val="606060"/>
                </a:solidFill>
                <a:latin typeface="Myriad Pro" panose="020B0503030403020204" pitchFamily="34" charset="0"/>
              </a:defRPr>
            </a:lvl1pPr>
          </a:lstStyle>
          <a:p>
            <a:pPr lvl="0"/>
            <a:r>
              <a:rPr lang="en-US" dirty="0"/>
              <a:t>X.X</a:t>
            </a:r>
            <a:endParaRPr lang="en-GB" dirty="0"/>
          </a:p>
        </p:txBody>
      </p:sp>
    </p:spTree>
    <p:extLst>
      <p:ext uri="{BB962C8B-B14F-4D97-AF65-F5344CB8AC3E}">
        <p14:creationId xmlns:p14="http://schemas.microsoft.com/office/powerpoint/2010/main" val="30550399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Lab-E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C9646B7-AEA6-E416-7BF3-052FDD7D2013}"/>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838200" y="1443600"/>
            <a:ext cx="10515600" cy="4860000"/>
          </a:xfrm>
          <a:prstGeom prst="rect">
            <a:avLst/>
          </a:prstGeo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9" name="Text Placeholder 19">
            <a:extLst>
              <a:ext uri="{FF2B5EF4-FFF2-40B4-BE49-F238E27FC236}">
                <a16:creationId xmlns:a16="http://schemas.microsoft.com/office/drawing/2014/main" id="{E63A75CB-E77D-CC21-A6EF-2A476E4BC4FE}"/>
              </a:ext>
            </a:extLst>
          </p:cNvPr>
          <p:cNvSpPr>
            <a:spLocks noGrp="1" noRot="1" noMove="1" noResize="1" noEditPoints="1" noAdjustHandles="1" noChangeArrowheads="1" noChangeShapeType="1"/>
          </p:cNvSpPr>
          <p:nvPr>
            <p:ph type="body" sz="quarter" idx="13" hasCustomPrompt="1"/>
          </p:nvPr>
        </p:nvSpPr>
        <p:spPr>
          <a:xfrm>
            <a:off x="2467612" y="755092"/>
            <a:ext cx="864000" cy="288000"/>
          </a:xfrm>
          <a:prstGeom prst="rect">
            <a:avLst/>
          </a:prstGeom>
        </p:spPr>
        <p:txBody>
          <a:bodyPr anchor="ctr">
            <a:noAutofit/>
          </a:bodyPr>
          <a:lstStyle>
            <a:lvl1pPr marL="0" indent="0" algn="ctr">
              <a:lnSpc>
                <a:spcPct val="100000"/>
              </a:lnSpc>
              <a:spcBef>
                <a:spcPts val="0"/>
              </a:spcBef>
              <a:buNone/>
              <a:defRPr sz="2000" b="1">
                <a:solidFill>
                  <a:srgbClr val="606060"/>
                </a:solidFill>
                <a:latin typeface="Myriad Pro" panose="020B0503030403020204" pitchFamily="34" charset="0"/>
              </a:defRPr>
            </a:lvl1pPr>
          </a:lstStyle>
          <a:p>
            <a:pPr lvl="0"/>
            <a:r>
              <a:rPr lang="en-US" dirty="0"/>
              <a:t>X.X</a:t>
            </a:r>
            <a:endParaRPr lang="en-GB" dirty="0"/>
          </a:p>
        </p:txBody>
      </p:sp>
    </p:spTree>
    <p:extLst>
      <p:ext uri="{BB962C8B-B14F-4D97-AF65-F5344CB8AC3E}">
        <p14:creationId xmlns:p14="http://schemas.microsoft.com/office/powerpoint/2010/main" val="13082824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misconception">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7B0A839-D23C-1435-A186-FA67B65721CD}"/>
              </a:ext>
            </a:extLst>
          </p:cNvPr>
          <p:cNvPicPr>
            <a:picLocks noChangeAspect="1"/>
          </p:cNvPicPr>
          <p:nvPr/>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1/5/2024</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t>MISCONCEPTION</a:t>
            </a:r>
            <a:endParaRPr lang="en-GB" dirty="0"/>
          </a:p>
        </p:txBody>
      </p:sp>
      <p:sp>
        <p:nvSpPr>
          <p:cNvPr id="8" name="Content Placeholder 7">
            <a:extLst>
              <a:ext uri="{FF2B5EF4-FFF2-40B4-BE49-F238E27FC236}">
                <a16:creationId xmlns:a16="http://schemas.microsoft.com/office/drawing/2014/main" id="{435FBDB0-6C27-C606-20C5-686A00F18771}"/>
              </a:ext>
            </a:extLst>
          </p:cNvPr>
          <p:cNvSpPr>
            <a:spLocks noGrp="1"/>
          </p:cNvSpPr>
          <p:nvPr>
            <p:ph sz="quarter" idx="15"/>
          </p:nvPr>
        </p:nvSpPr>
        <p:spPr>
          <a:xfrm>
            <a:off x="1693716" y="1609199"/>
            <a:ext cx="9660083" cy="2159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Content Placeholder 5">
            <a:extLst>
              <a:ext uri="{FF2B5EF4-FFF2-40B4-BE49-F238E27FC236}">
                <a16:creationId xmlns:a16="http://schemas.microsoft.com/office/drawing/2014/main" id="{042C0F3B-5325-9C8D-A663-14E64C0C8154}"/>
              </a:ext>
            </a:extLst>
          </p:cNvPr>
          <p:cNvSpPr>
            <a:spLocks noGrp="1"/>
          </p:cNvSpPr>
          <p:nvPr>
            <p:ph sz="quarter" idx="14"/>
          </p:nvPr>
        </p:nvSpPr>
        <p:spPr>
          <a:xfrm>
            <a:off x="1693716" y="4024188"/>
            <a:ext cx="9658800" cy="216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19468146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hink abou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F94735F-B64E-887A-0584-E2B7E148B655}"/>
              </a:ext>
            </a:extLst>
          </p:cNvPr>
          <p:cNvPicPr>
            <a:picLocks noChangeAspect="1"/>
          </p:cNvPicPr>
          <p:nvPr/>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1/5/2024</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t>THINK ABOUT</a:t>
            </a:r>
          </a:p>
        </p:txBody>
      </p:sp>
      <p:sp>
        <p:nvSpPr>
          <p:cNvPr id="8" name="Content Placeholder 10">
            <a:extLst>
              <a:ext uri="{FF2B5EF4-FFF2-40B4-BE49-F238E27FC236}">
                <a16:creationId xmlns:a16="http://schemas.microsoft.com/office/drawing/2014/main" id="{69195DCF-0E55-AAB5-1074-39FAB8E19505}"/>
              </a:ext>
            </a:extLst>
          </p:cNvPr>
          <p:cNvSpPr>
            <a:spLocks noGrp="1"/>
          </p:cNvSpPr>
          <p:nvPr>
            <p:ph sz="quarter" idx="15"/>
          </p:nvPr>
        </p:nvSpPr>
        <p:spPr>
          <a:xfrm>
            <a:off x="838800" y="1609200"/>
            <a:ext cx="10515600" cy="468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481029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p">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3F49635-7B62-1BF0-3627-0DEF2D36B20A}"/>
              </a:ext>
            </a:extLst>
          </p:cNvPr>
          <p:cNvPicPr>
            <a:picLocks noChangeAspect="1"/>
          </p:cNvPicPr>
          <p:nvPr/>
        </p:nvPicPr>
        <p:blipFill>
          <a:blip r:embed="rId2"/>
          <a:stretch>
            <a:fillRect/>
          </a:stretch>
        </p:blipFill>
        <p:spPr>
          <a:xfrm>
            <a:off x="656925" y="363600"/>
            <a:ext cx="1264923"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1/5/2024</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84AD40"/>
                </a:solidFill>
              </a:rPr>
              <a:t>TIP</a:t>
            </a:r>
          </a:p>
        </p:txBody>
      </p:sp>
      <p:sp>
        <p:nvSpPr>
          <p:cNvPr id="8" name="Content Placeholder 10">
            <a:extLst>
              <a:ext uri="{FF2B5EF4-FFF2-40B4-BE49-F238E27FC236}">
                <a16:creationId xmlns:a16="http://schemas.microsoft.com/office/drawing/2014/main" id="{9E46E5CA-E96E-2DB9-64FE-5E1D76C77C98}"/>
              </a:ext>
            </a:extLst>
          </p:cNvPr>
          <p:cNvSpPr>
            <a:spLocks noGrp="1"/>
          </p:cNvSpPr>
          <p:nvPr>
            <p:ph sz="quarter" idx="15"/>
          </p:nvPr>
        </p:nvSpPr>
        <p:spPr>
          <a:xfrm>
            <a:off x="838800" y="1609200"/>
            <a:ext cx="10515600" cy="468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2129095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analog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E6276F9-8CAE-0301-EC9B-559DB9D0878D}"/>
              </a:ext>
            </a:extLst>
          </p:cNvPr>
          <p:cNvPicPr>
            <a:picLocks noChangeAspect="1"/>
          </p:cNvPicPr>
          <p:nvPr/>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1/5/2024</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7570B3"/>
                </a:solidFill>
              </a:rPr>
              <a:t>ANALOGY</a:t>
            </a:r>
          </a:p>
        </p:txBody>
      </p:sp>
      <p:sp>
        <p:nvSpPr>
          <p:cNvPr id="8" name="Content Placeholder 10">
            <a:extLst>
              <a:ext uri="{FF2B5EF4-FFF2-40B4-BE49-F238E27FC236}">
                <a16:creationId xmlns:a16="http://schemas.microsoft.com/office/drawing/2014/main" id="{15CCE8C4-EE82-5FA1-86D9-7618ACBB4E89}"/>
              </a:ext>
            </a:extLst>
          </p:cNvPr>
          <p:cNvSpPr>
            <a:spLocks noGrp="1"/>
          </p:cNvSpPr>
          <p:nvPr>
            <p:ph sz="quarter" idx="15"/>
          </p:nvPr>
        </p:nvSpPr>
        <p:spPr>
          <a:xfrm>
            <a:off x="838800" y="1609200"/>
            <a:ext cx="10515600" cy="468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7774706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enrichm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EC24769-7557-7417-69AD-C7D98D6EF87C}"/>
              </a:ext>
            </a:extLst>
          </p:cNvPr>
          <p:cNvPicPr>
            <a:picLocks noChangeAspect="1"/>
          </p:cNvPicPr>
          <p:nvPr/>
        </p:nvPicPr>
        <p:blipFill>
          <a:blip r:embed="rId2"/>
          <a:stretch>
            <a:fillRect/>
          </a:stretch>
        </p:blipFill>
        <p:spPr>
          <a:xfrm>
            <a:off x="656925" y="363600"/>
            <a:ext cx="1264923"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1/5/2024</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7570B3"/>
                </a:solidFill>
              </a:rPr>
              <a:t>ENRICHMENT</a:t>
            </a:r>
          </a:p>
        </p:txBody>
      </p:sp>
      <p:sp>
        <p:nvSpPr>
          <p:cNvPr id="8" name="Content Placeholder 10">
            <a:extLst>
              <a:ext uri="{FF2B5EF4-FFF2-40B4-BE49-F238E27FC236}">
                <a16:creationId xmlns:a16="http://schemas.microsoft.com/office/drawing/2014/main" id="{C0FDA7B9-3B4F-45FE-C0CB-6CE489DF46B9}"/>
              </a:ext>
            </a:extLst>
          </p:cNvPr>
          <p:cNvSpPr>
            <a:spLocks noGrp="1"/>
          </p:cNvSpPr>
          <p:nvPr>
            <p:ph sz="quarter" idx="15"/>
          </p:nvPr>
        </p:nvSpPr>
        <p:spPr>
          <a:xfrm>
            <a:off x="838800" y="1609200"/>
            <a:ext cx="10515600" cy="468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36123450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historical not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A365613-9A6E-EC8F-CC4F-45C6843B5D0D}"/>
              </a:ext>
            </a:extLst>
          </p:cNvPr>
          <p:cNvPicPr>
            <a:picLocks noChangeAspect="1"/>
          </p:cNvPicPr>
          <p:nvPr/>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1/5/2024</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7570B3"/>
                </a:solidFill>
              </a:rPr>
              <a:t>HISTORICAL NOTE</a:t>
            </a:r>
          </a:p>
        </p:txBody>
      </p:sp>
      <p:sp>
        <p:nvSpPr>
          <p:cNvPr id="9" name="Content Placeholder 10">
            <a:extLst>
              <a:ext uri="{FF2B5EF4-FFF2-40B4-BE49-F238E27FC236}">
                <a16:creationId xmlns:a16="http://schemas.microsoft.com/office/drawing/2014/main" id="{9FE9C956-B01C-9F5B-D06E-B224FA04F063}"/>
              </a:ext>
            </a:extLst>
          </p:cNvPr>
          <p:cNvSpPr>
            <a:spLocks noGrp="1"/>
          </p:cNvSpPr>
          <p:nvPr>
            <p:ph sz="quarter" idx="15"/>
          </p:nvPr>
        </p:nvSpPr>
        <p:spPr>
          <a:xfrm>
            <a:off x="838800" y="1609200"/>
            <a:ext cx="10515600" cy="468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13110217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TEAM+">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9F6A893-6ACD-62D2-E506-31CE1C78BC6A}"/>
              </a:ext>
            </a:extLst>
          </p:cNvPr>
          <p:cNvPicPr>
            <a:picLocks noChangeAspect="1"/>
          </p:cNvPicPr>
          <p:nvPr/>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1/5/2024</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7570B3"/>
                </a:solidFill>
              </a:rPr>
              <a:t>STEAM+</a:t>
            </a:r>
          </a:p>
        </p:txBody>
      </p:sp>
      <p:sp>
        <p:nvSpPr>
          <p:cNvPr id="8" name="Content Placeholder 10">
            <a:extLst>
              <a:ext uri="{FF2B5EF4-FFF2-40B4-BE49-F238E27FC236}">
                <a16:creationId xmlns:a16="http://schemas.microsoft.com/office/drawing/2014/main" id="{D8CACC2A-8E2C-4654-1BEE-FF9B00C1EA13}"/>
              </a:ext>
            </a:extLst>
          </p:cNvPr>
          <p:cNvSpPr>
            <a:spLocks noGrp="1"/>
          </p:cNvSpPr>
          <p:nvPr>
            <p:ph sz="quarter" idx="15"/>
          </p:nvPr>
        </p:nvSpPr>
        <p:spPr>
          <a:xfrm>
            <a:off x="838800" y="1609200"/>
            <a:ext cx="10515600" cy="468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359759749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resourc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852B39E-570D-BB77-3EC2-68BF2DA341F5}"/>
              </a:ext>
            </a:extLst>
          </p:cNvPr>
          <p:cNvPicPr>
            <a:picLocks noChangeAspect="1"/>
          </p:cNvPicPr>
          <p:nvPr/>
        </p:nvPicPr>
        <p:blipFill>
          <a:blip r:embed="rId2"/>
          <a:stretch>
            <a:fillRect/>
          </a:stretch>
        </p:blipFill>
        <p:spPr>
          <a:xfrm>
            <a:off x="656925" y="363600"/>
            <a:ext cx="1264923"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1/5/2024</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a:xfrm>
            <a:off x="10582711" y="6492875"/>
            <a:ext cx="771089" cy="365125"/>
          </a:xfrm>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C6993D"/>
                </a:solidFill>
              </a:rPr>
              <a:t>RESOURCE</a:t>
            </a:r>
          </a:p>
        </p:txBody>
      </p:sp>
      <p:sp>
        <p:nvSpPr>
          <p:cNvPr id="9" name="Content Placeholder 10">
            <a:extLst>
              <a:ext uri="{FF2B5EF4-FFF2-40B4-BE49-F238E27FC236}">
                <a16:creationId xmlns:a16="http://schemas.microsoft.com/office/drawing/2014/main" id="{7873EF2F-CB2D-FF0C-FE7E-4E5878DAD739}"/>
              </a:ext>
            </a:extLst>
          </p:cNvPr>
          <p:cNvSpPr>
            <a:spLocks noGrp="1"/>
          </p:cNvSpPr>
          <p:nvPr>
            <p:ph sz="quarter" idx="15"/>
          </p:nvPr>
        </p:nvSpPr>
        <p:spPr>
          <a:xfrm>
            <a:off x="838800" y="1609200"/>
            <a:ext cx="7848000" cy="468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Picture Placeholder 9">
            <a:extLst>
              <a:ext uri="{FF2B5EF4-FFF2-40B4-BE49-F238E27FC236}">
                <a16:creationId xmlns:a16="http://schemas.microsoft.com/office/drawing/2014/main" id="{D221140A-902D-C446-8456-B18F8CA15108}"/>
              </a:ext>
            </a:extLst>
          </p:cNvPr>
          <p:cNvSpPr>
            <a:spLocks noGrp="1"/>
          </p:cNvSpPr>
          <p:nvPr>
            <p:ph type="pic" sz="quarter" idx="14"/>
          </p:nvPr>
        </p:nvSpPr>
        <p:spPr>
          <a:xfrm>
            <a:off x="8833800" y="1609200"/>
            <a:ext cx="2520000" cy="3283200"/>
          </a:xfrm>
          <a:prstGeom prst="rect">
            <a:avLst/>
          </a:prstGeom>
        </p:spPr>
        <p:txBody>
          <a:bodyPr/>
          <a:lstStyle/>
          <a:p>
            <a:r>
              <a:rPr lang="en-US"/>
              <a:t>Click icon to add picture</a:t>
            </a:r>
            <a:endParaRPr lang="en-GB"/>
          </a:p>
        </p:txBody>
      </p:sp>
    </p:spTree>
    <p:extLst>
      <p:ext uri="{BB962C8B-B14F-4D97-AF65-F5344CB8AC3E}">
        <p14:creationId xmlns:p14="http://schemas.microsoft.com/office/powerpoint/2010/main" val="9121314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Blank-1">
    <p:spTree>
      <p:nvGrpSpPr>
        <p:cNvPr id="1" name=""/>
        <p:cNvGrpSpPr/>
        <p:nvPr/>
      </p:nvGrpSpPr>
      <p:grpSpPr>
        <a:xfrm>
          <a:off x="0" y="0"/>
          <a:ext cx="0" cy="0"/>
          <a:chOff x="0" y="0"/>
          <a:chExt cx="0" cy="0"/>
        </a:xfrm>
      </p:grpSpPr>
      <p:sp>
        <p:nvSpPr>
          <p:cNvPr id="11" name="Date Placeholder 10">
            <a:extLst>
              <a:ext uri="{FF2B5EF4-FFF2-40B4-BE49-F238E27FC236}">
                <a16:creationId xmlns:a16="http://schemas.microsoft.com/office/drawing/2014/main" id="{210F294E-2671-69F2-AD8E-91EF65CCF609}"/>
              </a:ext>
            </a:extLst>
          </p:cNvPr>
          <p:cNvSpPr>
            <a:spLocks noGrp="1"/>
          </p:cNvSpPr>
          <p:nvPr>
            <p:ph type="dt" sz="half" idx="10"/>
          </p:nvPr>
        </p:nvSpPr>
        <p:spPr/>
        <p:txBody>
          <a:bodyPr/>
          <a:lstStyle/>
          <a:p>
            <a:fld id="{F07CE581-C706-43BB-9E93-1B4DA785C440}" type="datetime1">
              <a:rPr lang="en-US" smtClean="0"/>
              <a:t>1/5/2024</a:t>
            </a:fld>
            <a:endParaRPr lang="en-US" dirty="0"/>
          </a:p>
        </p:txBody>
      </p:sp>
      <p:sp>
        <p:nvSpPr>
          <p:cNvPr id="12" name="Footer Placeholder 11">
            <a:extLst>
              <a:ext uri="{FF2B5EF4-FFF2-40B4-BE49-F238E27FC236}">
                <a16:creationId xmlns:a16="http://schemas.microsoft.com/office/drawing/2014/main" id="{BF720291-4918-3157-E8A0-2C33F0241266}"/>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284E269C-57B9-5795-9B37-30D8685C0E9B}"/>
              </a:ext>
            </a:extLst>
          </p:cNvPr>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57212518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Blank-2">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27546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15CB804-96AA-A5E1-7170-B54411166665}"/>
              </a:ext>
            </a:extLst>
          </p:cNvPr>
          <p:cNvPicPr>
            <a:picLocks noChangeAspect="1"/>
          </p:cNvPicPr>
          <p:nvPr/>
        </p:nvPicPr>
        <p:blipFill>
          <a:blip r:embed="rId31"/>
          <a:stretch>
            <a:fillRect/>
          </a:stretch>
        </p:blipFill>
        <p:spPr>
          <a:xfrm>
            <a:off x="0" y="0"/>
            <a:ext cx="12192000" cy="6858000"/>
          </a:xfrm>
          <a:prstGeom prst="rect">
            <a:avLst/>
          </a:prstGeom>
        </p:spPr>
      </p:pic>
      <p:sp>
        <p:nvSpPr>
          <p:cNvPr id="2" name="Title Placeholder 1"/>
          <p:cNvSpPr>
            <a:spLocks noGrp="1"/>
          </p:cNvSpPr>
          <p:nvPr>
            <p:ph type="title"/>
          </p:nvPr>
        </p:nvSpPr>
        <p:spPr>
          <a:xfrm>
            <a:off x="1918800" y="363600"/>
            <a:ext cx="9435000" cy="1260000"/>
          </a:xfrm>
          <a:prstGeom prst="rect">
            <a:avLst/>
          </a:prstGeom>
        </p:spPr>
        <p:txBody>
          <a:bodyPr vert="horz" lIns="91440" tIns="45720" rIns="91440" bIns="45720" rtlCol="0" anchor="ctr">
            <a:normAutofit/>
          </a:bodyPr>
          <a:lstStyle/>
          <a:p>
            <a:endParaRPr lang="en-US" dirty="0"/>
          </a:p>
        </p:txBody>
      </p:sp>
      <p:sp>
        <p:nvSpPr>
          <p:cNvPr id="4" name="Date Placeholder 3"/>
          <p:cNvSpPr>
            <a:spLocks noGrp="1"/>
          </p:cNvSpPr>
          <p:nvPr>
            <p:ph type="dt" sz="half" idx="2"/>
          </p:nvPr>
        </p:nvSpPr>
        <p:spPr>
          <a:xfrm>
            <a:off x="7456921" y="6492875"/>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F07CE581-C706-43BB-9E93-1B4DA785C440}" type="datetime1">
              <a:rPr lang="en-US" smtClean="0"/>
              <a:t>1/5/2024</a:t>
            </a:fld>
            <a:endParaRPr lang="en-US" dirty="0"/>
          </a:p>
        </p:txBody>
      </p:sp>
      <p:sp>
        <p:nvSpPr>
          <p:cNvPr id="5" name="Footer Placeholder 4"/>
          <p:cNvSpPr>
            <a:spLocks noGrp="1"/>
          </p:cNvSpPr>
          <p:nvPr>
            <p:ph type="ftr" sz="quarter" idx="3"/>
          </p:nvPr>
        </p:nvSpPr>
        <p:spPr>
          <a:xfrm>
            <a:off x="838201" y="6492875"/>
            <a:ext cx="6542520"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82711" y="6492875"/>
            <a:ext cx="771089" cy="365125"/>
          </a:xfrm>
          <a:prstGeom prst="rect">
            <a:avLst/>
          </a:prstGeom>
        </p:spPr>
        <p:txBody>
          <a:bodyPr vert="horz" lIns="91440" tIns="45720" rIns="91440" bIns="45720" rtlCol="0" anchor="ctr"/>
          <a:lstStyle>
            <a:lvl1pPr algn="r">
              <a:defRPr sz="1050">
                <a:solidFill>
                  <a:schemeClr val="tx1"/>
                </a:solidFill>
              </a:defRPr>
            </a:lvl1pPr>
          </a:lstStyle>
          <a:p>
            <a:fld id="{6D22F896-40B5-4ADD-8801-0D06FADFA095}" type="slidenum">
              <a:rPr lang="en-US" smtClean="0"/>
              <a:pPr/>
              <a:t>‹#›</a:t>
            </a:fld>
            <a:endParaRPr lang="en-US" dirty="0"/>
          </a:p>
        </p:txBody>
      </p:sp>
      <p:sp>
        <p:nvSpPr>
          <p:cNvPr id="7" name="Text Placeholder 6">
            <a:extLst>
              <a:ext uri="{FF2B5EF4-FFF2-40B4-BE49-F238E27FC236}">
                <a16:creationId xmlns:a16="http://schemas.microsoft.com/office/drawing/2014/main" id="{0F58C60C-B777-2B7A-945B-E3C1848079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532431812"/>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21" r:id="rId12"/>
    <p:sldLayoutId id="2147483722" r:id="rId13"/>
    <p:sldLayoutId id="2147483723" r:id="rId14"/>
    <p:sldLayoutId id="2147483724" r:id="rId15"/>
    <p:sldLayoutId id="2147483706" r:id="rId16"/>
    <p:sldLayoutId id="2147483707" r:id="rId17"/>
    <p:sldLayoutId id="2147483708" r:id="rId18"/>
    <p:sldLayoutId id="2147483709" r:id="rId19"/>
    <p:sldLayoutId id="2147483712" r:id="rId20"/>
    <p:sldLayoutId id="2147483714" r:id="rId21"/>
    <p:sldLayoutId id="2147483715" r:id="rId22"/>
    <p:sldLayoutId id="2147483716" r:id="rId23"/>
    <p:sldLayoutId id="2147483717" r:id="rId24"/>
    <p:sldLayoutId id="2147483718" r:id="rId25"/>
    <p:sldLayoutId id="2147483719" r:id="rId26"/>
    <p:sldLayoutId id="2147483720" r:id="rId27"/>
    <p:sldLayoutId id="2147483710" r:id="rId28"/>
    <p:sldLayoutId id="2147483711" r:id="rId29"/>
  </p:sldLayoutIdLst>
  <p:hf hdr="0" ftr="0" dt="0"/>
  <p:txStyles>
    <p:titleStyle>
      <a:lvl1pPr algn="l" defTabSz="914400" rtl="0" eaLnBrk="1" latinLnBrk="0" hangingPunct="1">
        <a:lnSpc>
          <a:spcPct val="90000"/>
        </a:lnSpc>
        <a:spcBef>
          <a:spcPct val="0"/>
        </a:spcBef>
        <a:buNone/>
        <a:defRPr sz="3200" b="1" kern="1200" cap="none" baseline="0">
          <a:solidFill>
            <a:srgbClr val="606060"/>
          </a:solidFill>
          <a:latin typeface="Myriad Pro" panose="020B0503030403020204" pitchFamily="34" charset="0"/>
          <a:ea typeface="+mj-ea"/>
          <a:cs typeface="+mj-cs"/>
        </a:defRPr>
      </a:lvl1pPr>
    </p:titleStyle>
    <p:bodyStyle>
      <a:lvl1pPr marL="0" indent="0" algn="l" defTabSz="914400" rtl="0" eaLnBrk="1" latinLnBrk="0" hangingPunct="1">
        <a:lnSpc>
          <a:spcPct val="120000"/>
        </a:lnSpc>
        <a:spcBef>
          <a:spcPts val="1000"/>
        </a:spcBef>
        <a:buSzPct val="125000"/>
        <a:buFont typeface="Arial" panose="020B0604020202020204" pitchFamily="34" charset="0"/>
        <a:buNone/>
        <a:defRPr sz="2000" kern="1200">
          <a:solidFill>
            <a:schemeClr val="tx1"/>
          </a:solidFill>
          <a:latin typeface="Myriad Pro" panose="020B0503030403020204" pitchFamily="34" charset="0"/>
          <a:ea typeface="+mn-ea"/>
          <a:cs typeface="+mn-cs"/>
        </a:defRPr>
      </a:lvl1pPr>
      <a:lvl2pPr marL="457200" indent="0" algn="l" defTabSz="914400" rtl="0" eaLnBrk="1" latinLnBrk="0" hangingPunct="1">
        <a:lnSpc>
          <a:spcPct val="120000"/>
        </a:lnSpc>
        <a:spcBef>
          <a:spcPts val="500"/>
        </a:spcBef>
        <a:buSzPct val="125000"/>
        <a:buFont typeface="Arial" panose="020B0604020202020204" pitchFamily="34" charset="0"/>
        <a:buNone/>
        <a:defRPr sz="1800" kern="1200">
          <a:solidFill>
            <a:schemeClr val="tx1"/>
          </a:solidFill>
          <a:latin typeface="Myriad Pro" panose="020B0503030403020204" pitchFamily="34" charset="0"/>
          <a:ea typeface="+mn-ea"/>
          <a:cs typeface="+mn-cs"/>
        </a:defRPr>
      </a:lvl2pPr>
      <a:lvl3pPr marL="914400" indent="0" algn="l"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yriad Pro" panose="020B0503030403020204" pitchFamily="34" charset="0"/>
          <a:ea typeface="+mn-ea"/>
          <a:cs typeface="+mn-cs"/>
        </a:defRPr>
      </a:lvl3pPr>
      <a:lvl4pPr marL="1371600" indent="0" algn="l" defTabSz="914400" rtl="0" eaLnBrk="1" latinLnBrk="0" hangingPunct="1">
        <a:lnSpc>
          <a:spcPct val="120000"/>
        </a:lnSpc>
        <a:spcBef>
          <a:spcPts val="500"/>
        </a:spcBef>
        <a:buSzPct val="125000"/>
        <a:buFont typeface="Arial" panose="020B0604020202020204" pitchFamily="34" charset="0"/>
        <a:buNone/>
        <a:defRPr sz="1400" kern="1200">
          <a:solidFill>
            <a:schemeClr val="tx1"/>
          </a:solidFill>
          <a:latin typeface="Myriad Pro" panose="020B0503030403020204" pitchFamily="34" charset="0"/>
          <a:ea typeface="+mn-ea"/>
          <a:cs typeface="+mn-cs"/>
        </a:defRPr>
      </a:lvl4pPr>
      <a:lvl5pPr marL="1828800" indent="0" algn="l" defTabSz="914400" rtl="0" eaLnBrk="1" latinLnBrk="0" hangingPunct="1">
        <a:lnSpc>
          <a:spcPct val="120000"/>
        </a:lnSpc>
        <a:spcBef>
          <a:spcPts val="500"/>
        </a:spcBef>
        <a:buSzPct val="125000"/>
        <a:buFont typeface="Arial" panose="020B0604020202020204" pitchFamily="34" charset="0"/>
        <a:buNone/>
        <a:defRPr sz="1400" kern="1200">
          <a:solidFill>
            <a:schemeClr val="tx1"/>
          </a:solidFill>
          <a:latin typeface="Myriad Pro" panose="020B0503030403020204" pitchFamily="34" charset="0"/>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13.xml"/><Relationship Id="rId4" Type="http://schemas.openxmlformats.org/officeDocument/2006/relationships/image" Target="../media/image54.png"/></Relationships>
</file>

<file path=ppt/slides/_rels/slide5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2.png"/><Relationship Id="rId7" Type="http://schemas.openxmlformats.org/officeDocument/2006/relationships/image" Target="../media/image66.png"/><Relationship Id="rId2" Type="http://schemas.openxmlformats.org/officeDocument/2006/relationships/image" Target="../media/image61.png"/><Relationship Id="rId1" Type="http://schemas.openxmlformats.org/officeDocument/2006/relationships/slideLayout" Target="../slideLayouts/slideLayout13.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 Id="rId9" Type="http://schemas.openxmlformats.org/officeDocument/2006/relationships/image" Target="../media/image68.png"/></Relationships>
</file>

<file path=ppt/slides/_rels/slide85.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3" Type="http://schemas.openxmlformats.org/officeDocument/2006/relationships/image" Target="../media/image72.png"/><Relationship Id="rId7" Type="http://schemas.openxmlformats.org/officeDocument/2006/relationships/image" Target="../media/image76.png"/><Relationship Id="rId2" Type="http://schemas.openxmlformats.org/officeDocument/2006/relationships/image" Target="../media/image71.png"/><Relationship Id="rId1" Type="http://schemas.openxmlformats.org/officeDocument/2006/relationships/slideLayout" Target="../slideLayouts/slideLayout13.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1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13.xml"/><Relationship Id="rId5" Type="http://schemas.openxmlformats.org/officeDocument/2006/relationships/image" Target="../media/image81.png"/><Relationship Id="rId4" Type="http://schemas.openxmlformats.org/officeDocument/2006/relationships/image" Target="../media/image80.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1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5.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13.xml"/></Relationships>
</file>

<file path=ppt/slides/_rels/slide106.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13.xml"/></Relationships>
</file>

<file path=ppt/slides/_rels/slide107.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1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9.xml.rels><?xml version="1.0" encoding="UTF-8" standalone="yes"?>
<Relationships xmlns="http://schemas.openxmlformats.org/package/2006/relationships"><Relationship Id="rId2" Type="http://schemas.openxmlformats.org/officeDocument/2006/relationships/image" Target="../media/image870.png"/><Relationship Id="rId1" Type="http://schemas.openxmlformats.org/officeDocument/2006/relationships/slideLayout" Target="../slideLayouts/slideLayout13.xml"/></Relationships>
</file>

<file path=ppt/slides/_rels/slide110.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18.xml"/><Relationship Id="rId4" Type="http://schemas.openxmlformats.org/officeDocument/2006/relationships/image" Target="../media/image92.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3.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18.xml"/></Relationships>
</file>

<file path=ppt/slides/_rels/slide114.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18.xml"/><Relationship Id="rId4" Type="http://schemas.openxmlformats.org/officeDocument/2006/relationships/image" Target="../media/image97.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6.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13.xml"/></Relationships>
</file>

<file path=ppt/slides/_rels/slide117.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1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2.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13.xml"/></Relationships>
</file>

<file path=ppt/slides/_rels/slide123.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13.xml"/></Relationships>
</file>

<file path=ppt/slides/_rels/slide124.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13.xml"/></Relationships>
</file>

<file path=ppt/slides/_rels/slide125.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13.xml"/><Relationship Id="rId5" Type="http://schemas.openxmlformats.org/officeDocument/2006/relationships/image" Target="../media/image107.png"/><Relationship Id="rId4" Type="http://schemas.openxmlformats.org/officeDocument/2006/relationships/image" Target="../media/image106.png"/></Relationships>
</file>

<file path=ppt/slides/_rels/slide126.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13.xml"/></Relationships>
</file>

<file path=ppt/slides/_rels/slide127.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13.xml"/><Relationship Id="rId4" Type="http://schemas.openxmlformats.org/officeDocument/2006/relationships/image" Target="../media/image112.png"/></Relationships>
</file>

<file path=ppt/slides/_rels/slide128.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slideLayout" Target="../slideLayouts/slideLayout1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0.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15.png"/><Relationship Id="rId1" Type="http://schemas.openxmlformats.org/officeDocument/2006/relationships/slideLayout" Target="../slideLayouts/slideLayout13.xml"/></Relationships>
</file>

<file path=ppt/slides/_rels/slide131.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7.png"/><Relationship Id="rId1" Type="http://schemas.openxmlformats.org/officeDocument/2006/relationships/slideLayout" Target="../slideLayouts/slideLayout13.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9.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9.png"/><Relationship Id="rId1" Type="http://schemas.openxmlformats.org/officeDocument/2006/relationships/slideLayout" Target="../slideLayouts/slideLayout13.xml"/></Relationships>
</file>

<file path=ppt/slides/_rels/slide140.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21.png"/><Relationship Id="rId1" Type="http://schemas.openxmlformats.org/officeDocument/2006/relationships/slideLayout" Target="../slideLayouts/slideLayout13.xml"/></Relationships>
</file>

<file path=ppt/slides/_rels/slide141.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13.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8.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13.xml"/></Relationships>
</file>

<file path=ppt/slides/_rels/slide149.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13.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Chapter 3</a:t>
            </a:r>
            <a:br>
              <a:rPr lang="en-HK" dirty="0"/>
            </a:br>
            <a:r>
              <a:rPr lang="en-HK" dirty="0"/>
              <a:t>Data Representation</a:t>
            </a:r>
            <a:endParaRPr lang="en-US" dirty="0"/>
          </a:p>
        </p:txBody>
      </p:sp>
    </p:spTree>
    <p:extLst>
      <p:ext uri="{BB962C8B-B14F-4D97-AF65-F5344CB8AC3E}">
        <p14:creationId xmlns:p14="http://schemas.microsoft.com/office/powerpoint/2010/main" val="6355358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698201" y="2352598"/>
            <a:ext cx="5655598" cy="3951001"/>
          </a:xfrm>
        </p:spPr>
        <p:txBody>
          <a:bodyPr/>
          <a:lstStyle/>
          <a:p>
            <a:pPr algn="ctr"/>
            <a:r>
              <a:rPr lang="en-HK" b="1" dirty="0"/>
              <a:t>The girl I like is an old man?</a:t>
            </a:r>
          </a:p>
          <a:p>
            <a:pPr algn="ctr"/>
            <a:r>
              <a:rPr lang="en-US" dirty="0"/>
              <a:t>Can you imagine that the person behind the voice is a stingy man when you hear such a cute voice? The voice changer function has become popular in major chatting platforms. Do you know that the principle of data conversion and processing is actually applied behind the scenes?</a:t>
            </a:r>
            <a:endParaRPr lang="en-HK" dirty="0"/>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2</a:t>
            </a:fld>
            <a:endParaRPr lang="en-US" dirty="0"/>
          </a:p>
        </p:txBody>
      </p:sp>
      <p:pic>
        <p:nvPicPr>
          <p:cNvPr id="5" name="Picture Placeholder 4"/>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6327" r="6327"/>
          <a:stretch>
            <a:fillRect/>
          </a:stretch>
        </p:blipFill>
        <p:spPr/>
      </p:pic>
    </p:spTree>
    <p:extLst>
      <p:ext uri="{BB962C8B-B14F-4D97-AF65-F5344CB8AC3E}">
        <p14:creationId xmlns:p14="http://schemas.microsoft.com/office/powerpoint/2010/main" val="16234623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Number System and Representation</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3</a:t>
            </a:fld>
            <a:endParaRPr lang="en-US" dirty="0"/>
          </a:p>
        </p:txBody>
      </p:sp>
      <p:sp>
        <p:nvSpPr>
          <p:cNvPr id="4" name="Text Placeholder 3"/>
          <p:cNvSpPr>
            <a:spLocks noGrp="1"/>
          </p:cNvSpPr>
          <p:nvPr>
            <p:ph type="body" sz="quarter" idx="14"/>
          </p:nvPr>
        </p:nvSpPr>
        <p:spPr/>
        <p:txBody>
          <a:bodyPr/>
          <a:lstStyle/>
          <a:p>
            <a:r>
              <a:rPr lang="en-HK" dirty="0"/>
              <a:t>3.1</a:t>
            </a:r>
            <a:endParaRPr lang="en-US" dirty="0"/>
          </a:p>
        </p:txBody>
      </p:sp>
      <p:sp>
        <p:nvSpPr>
          <p:cNvPr id="5" name="Content Placeholder 4"/>
          <p:cNvSpPr>
            <a:spLocks noGrp="1"/>
          </p:cNvSpPr>
          <p:nvPr>
            <p:ph sz="quarter" idx="15"/>
          </p:nvPr>
        </p:nvSpPr>
        <p:spPr/>
        <p:txBody>
          <a:bodyPr/>
          <a:lstStyle/>
          <a:p>
            <a:r>
              <a:rPr lang="en-HK" dirty="0"/>
              <a:t>People usually use a </a:t>
            </a:r>
            <a:r>
              <a:rPr lang="en-HK" b="1" dirty="0">
                <a:solidFill>
                  <a:srgbClr val="504FA1"/>
                </a:solidFill>
              </a:rPr>
              <a:t>decimal system</a:t>
            </a:r>
            <a:r>
              <a:rPr lang="en-HK" dirty="0">
                <a:solidFill>
                  <a:srgbClr val="504FA1"/>
                </a:solidFill>
              </a:rPr>
              <a:t> </a:t>
            </a:r>
            <a:r>
              <a:rPr lang="en-HK" dirty="0"/>
              <a:t>for counting.</a:t>
            </a:r>
          </a:p>
          <a:p>
            <a:endParaRPr lang="en-HK" dirty="0"/>
          </a:p>
          <a:p>
            <a:r>
              <a:rPr lang="en-HK" dirty="0"/>
              <a:t>In contrast, digital devices use a </a:t>
            </a:r>
            <a:r>
              <a:rPr lang="en-HK" b="1" dirty="0">
                <a:solidFill>
                  <a:srgbClr val="504FA1"/>
                </a:solidFill>
              </a:rPr>
              <a:t>binary system</a:t>
            </a:r>
            <a:r>
              <a:rPr lang="en-HK" dirty="0"/>
              <a:t>. </a:t>
            </a:r>
            <a:endParaRPr lang="en-US" dirty="0"/>
          </a:p>
        </p:txBody>
      </p:sp>
    </p:spTree>
    <p:extLst>
      <p:ext uri="{BB962C8B-B14F-4D97-AF65-F5344CB8AC3E}">
        <p14:creationId xmlns:p14="http://schemas.microsoft.com/office/powerpoint/2010/main" val="23821434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Unit of data</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4</a:t>
            </a:fld>
            <a:endParaRPr lang="en-US" dirty="0"/>
          </a:p>
        </p:txBody>
      </p:sp>
      <p:sp>
        <p:nvSpPr>
          <p:cNvPr id="4" name="Text Placeholder 3"/>
          <p:cNvSpPr>
            <a:spLocks noGrp="1"/>
          </p:cNvSpPr>
          <p:nvPr>
            <p:ph type="body" sz="quarter" idx="14"/>
          </p:nvPr>
        </p:nvSpPr>
        <p:spPr/>
        <p:txBody>
          <a:bodyPr/>
          <a:lstStyle/>
          <a:p>
            <a:r>
              <a:rPr lang="en-HK" dirty="0"/>
              <a:t>A</a:t>
            </a:r>
            <a:endParaRPr lang="en-US" dirty="0"/>
          </a:p>
        </p:txBody>
      </p:sp>
      <p:sp>
        <p:nvSpPr>
          <p:cNvPr id="5" name="Content Placeholder 4"/>
          <p:cNvSpPr>
            <a:spLocks noGrp="1"/>
          </p:cNvSpPr>
          <p:nvPr>
            <p:ph sz="quarter" idx="15"/>
          </p:nvPr>
        </p:nvSpPr>
        <p:spPr/>
        <p:txBody>
          <a:bodyPr/>
          <a:lstStyle/>
          <a:p>
            <a:r>
              <a:rPr lang="en-HK" dirty="0"/>
              <a:t>In a digital device, data is usually measured by the following units.</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651421506"/>
              </p:ext>
            </p:extLst>
          </p:nvPr>
        </p:nvGraphicFramePr>
        <p:xfrm>
          <a:off x="838800" y="2274148"/>
          <a:ext cx="10573791" cy="3302680"/>
        </p:xfrm>
        <a:graphic>
          <a:graphicData uri="http://schemas.openxmlformats.org/drawingml/2006/table">
            <a:tbl>
              <a:tblPr firstRow="1" bandRow="1">
                <a:tableStyleId>{5940675A-B579-460E-94D1-54222C63F5DA}</a:tableStyleId>
              </a:tblPr>
              <a:tblGrid>
                <a:gridCol w="3524597">
                  <a:extLst>
                    <a:ext uri="{9D8B030D-6E8A-4147-A177-3AD203B41FA5}">
                      <a16:colId xmlns:a16="http://schemas.microsoft.com/office/drawing/2014/main" val="20000"/>
                    </a:ext>
                  </a:extLst>
                </a:gridCol>
                <a:gridCol w="2710734">
                  <a:extLst>
                    <a:ext uri="{9D8B030D-6E8A-4147-A177-3AD203B41FA5}">
                      <a16:colId xmlns:a16="http://schemas.microsoft.com/office/drawing/2014/main" val="20001"/>
                    </a:ext>
                  </a:extLst>
                </a:gridCol>
                <a:gridCol w="4338460">
                  <a:extLst>
                    <a:ext uri="{9D8B030D-6E8A-4147-A177-3AD203B41FA5}">
                      <a16:colId xmlns:a16="http://schemas.microsoft.com/office/drawing/2014/main" val="20002"/>
                    </a:ext>
                  </a:extLst>
                </a:gridCol>
              </a:tblGrid>
              <a:tr h="532520">
                <a:tc>
                  <a:txBody>
                    <a:bodyPr/>
                    <a:lstStyle/>
                    <a:p>
                      <a:pPr algn="ctr"/>
                      <a:r>
                        <a:rPr lang="en-HK" b="1" dirty="0">
                          <a:solidFill>
                            <a:schemeClr val="bg1"/>
                          </a:solidFill>
                        </a:rPr>
                        <a:t>Unit</a:t>
                      </a:r>
                      <a:endParaRPr lang="en-US" b="1" dirty="0">
                        <a:solidFill>
                          <a:schemeClr val="bg1"/>
                        </a:solidFill>
                      </a:endParaRPr>
                    </a:p>
                  </a:txBody>
                  <a:tcPr anchor="ctr">
                    <a:lnL w="12700" cap="flat" cmpd="sng" algn="ctr">
                      <a:solidFill>
                        <a:srgbClr val="57A044"/>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Symbol</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Value</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extLst>
                  <a:ext uri="{0D108BD9-81ED-4DB2-BD59-A6C34878D82A}">
                    <a16:rowId xmlns:a16="http://schemas.microsoft.com/office/drawing/2014/main" val="10000"/>
                  </a:ext>
                </a:extLst>
              </a:tr>
              <a:tr h="532520">
                <a:tc>
                  <a:txBody>
                    <a:bodyPr/>
                    <a:lstStyle/>
                    <a:p>
                      <a:r>
                        <a:rPr lang="en-HK" dirty="0"/>
                        <a:t>Bit</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HK" dirty="0"/>
                        <a:t>bit,</a:t>
                      </a:r>
                      <a:r>
                        <a:rPr lang="en-HK" baseline="0" dirty="0"/>
                        <a:t> b</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US" dirty="0"/>
                        <a:t>The most basic unit of data. It can be either "0" or "1".</a:t>
                      </a: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1"/>
                  </a:ext>
                </a:extLst>
              </a:tr>
              <a:tr h="532520">
                <a:tc>
                  <a:txBody>
                    <a:bodyPr/>
                    <a:lstStyle/>
                    <a:p>
                      <a:r>
                        <a:rPr lang="en-HK" dirty="0"/>
                        <a:t>Byte</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HK" dirty="0"/>
                        <a:t>B</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US" dirty="0"/>
                        <a:t>1 B = 8 bits</a:t>
                      </a: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2"/>
                  </a:ext>
                </a:extLst>
              </a:tr>
              <a:tr h="532520">
                <a:tc>
                  <a:txBody>
                    <a:bodyPr/>
                    <a:lstStyle/>
                    <a:p>
                      <a:r>
                        <a:rPr lang="en-HK" dirty="0"/>
                        <a:t>Kilobyte</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HK" dirty="0"/>
                        <a:t>KB</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US" dirty="0"/>
                        <a:t>1 KB = </a:t>
                      </a:r>
                      <a:r>
                        <a:rPr lang="en-US" dirty="0">
                          <a:latin typeface="+mn-lt"/>
                          <a:ea typeface="Noto Sans CJK TC Light" panose="020B0300000000000000" pitchFamily="34" charset="-128"/>
                        </a:rPr>
                        <a:t>2</a:t>
                      </a:r>
                      <a:r>
                        <a:rPr lang="en-US" baseline="30000" dirty="0">
                          <a:latin typeface="+mn-lt"/>
                          <a:ea typeface="Noto Sans CJK TC Light" panose="020B0300000000000000" pitchFamily="34" charset="-128"/>
                        </a:rPr>
                        <a:t>10</a:t>
                      </a:r>
                      <a:r>
                        <a:rPr lang="en-US" dirty="0"/>
                        <a:t> B = 1024 B = 2</a:t>
                      </a:r>
                      <a:r>
                        <a:rPr lang="en-US" baseline="30000" dirty="0"/>
                        <a:t>10</a:t>
                      </a:r>
                      <a:r>
                        <a:rPr lang="en-US" dirty="0"/>
                        <a:t> B</a:t>
                      </a: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3"/>
                  </a:ext>
                </a:extLst>
              </a:tr>
              <a:tr h="532520">
                <a:tc>
                  <a:txBody>
                    <a:bodyPr/>
                    <a:lstStyle/>
                    <a:p>
                      <a:r>
                        <a:rPr lang="en-HK" dirty="0"/>
                        <a:t>Megabyte</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HK" dirty="0"/>
                        <a:t>MB</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US" dirty="0"/>
                        <a:t>1 MB = </a:t>
                      </a:r>
                      <a:r>
                        <a:rPr lang="en-US" dirty="0">
                          <a:latin typeface="+mn-lt"/>
                          <a:ea typeface="Noto Sans CJK TC Light" panose="020B0300000000000000" pitchFamily="34" charset="-128"/>
                        </a:rPr>
                        <a:t>2</a:t>
                      </a:r>
                      <a:r>
                        <a:rPr lang="en-US" baseline="30000" dirty="0">
                          <a:latin typeface="+mn-lt"/>
                          <a:ea typeface="Noto Sans CJK TC Light" panose="020B0300000000000000" pitchFamily="34" charset="-128"/>
                        </a:rPr>
                        <a:t>10</a:t>
                      </a:r>
                      <a:r>
                        <a:rPr lang="en-US" dirty="0"/>
                        <a:t> KB = 1024 KB = 2</a:t>
                      </a:r>
                      <a:r>
                        <a:rPr lang="en-US" baseline="30000" dirty="0"/>
                        <a:t>20</a:t>
                      </a:r>
                      <a:r>
                        <a:rPr lang="en-US" dirty="0"/>
                        <a:t> B</a:t>
                      </a: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4"/>
                  </a:ext>
                </a:extLst>
              </a:tr>
              <a:tr h="532520">
                <a:tc>
                  <a:txBody>
                    <a:bodyPr/>
                    <a:lstStyle/>
                    <a:p>
                      <a:r>
                        <a:rPr lang="en-HK" dirty="0"/>
                        <a:t>Gigabyte</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HK" dirty="0"/>
                        <a:t>GB</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US" dirty="0"/>
                        <a:t>1 GB = </a:t>
                      </a:r>
                      <a:r>
                        <a:rPr lang="en-US" dirty="0">
                          <a:latin typeface="+mn-lt"/>
                          <a:ea typeface="Noto Sans CJK TC Light" panose="020B0300000000000000" pitchFamily="34" charset="-128"/>
                        </a:rPr>
                        <a:t>2</a:t>
                      </a:r>
                      <a:r>
                        <a:rPr lang="en-US" baseline="30000" dirty="0">
                          <a:latin typeface="+mn-lt"/>
                          <a:ea typeface="Noto Sans CJK TC Light" panose="020B0300000000000000" pitchFamily="34" charset="-128"/>
                        </a:rPr>
                        <a:t>10</a:t>
                      </a:r>
                      <a:r>
                        <a:rPr lang="en-US" dirty="0"/>
                        <a:t> MB = 1024 MB = 2</a:t>
                      </a:r>
                      <a:r>
                        <a:rPr lang="en-US" baseline="30000" dirty="0"/>
                        <a:t>30</a:t>
                      </a:r>
                      <a:r>
                        <a:rPr lang="en-US" dirty="0"/>
                        <a:t> B</a:t>
                      </a: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7157845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Unit of data</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5</a:t>
            </a:fld>
            <a:endParaRPr lang="en-US" dirty="0"/>
          </a:p>
        </p:txBody>
      </p:sp>
      <p:sp>
        <p:nvSpPr>
          <p:cNvPr id="4" name="Text Placeholder 3"/>
          <p:cNvSpPr>
            <a:spLocks noGrp="1"/>
          </p:cNvSpPr>
          <p:nvPr>
            <p:ph type="body" sz="quarter" idx="14"/>
          </p:nvPr>
        </p:nvSpPr>
        <p:spPr/>
        <p:txBody>
          <a:bodyPr/>
          <a:lstStyle/>
          <a:p>
            <a:r>
              <a:rPr lang="en-HK" dirty="0"/>
              <a:t>A</a:t>
            </a:r>
            <a:endParaRPr lang="en-US" dirty="0"/>
          </a:p>
        </p:txBody>
      </p:sp>
      <p:sp>
        <p:nvSpPr>
          <p:cNvPr id="5" name="Content Placeholder 4"/>
          <p:cNvSpPr>
            <a:spLocks noGrp="1"/>
          </p:cNvSpPr>
          <p:nvPr>
            <p:ph sz="quarter" idx="15"/>
          </p:nvPr>
        </p:nvSpPr>
        <p:spPr/>
        <p:txBody>
          <a:bodyPr/>
          <a:lstStyle/>
          <a:p>
            <a:r>
              <a:rPr lang="en-US" dirty="0"/>
              <a:t>In a data transmission system, the amount of data transferred per unit time is called bitrate or data transfer rate:</a:t>
            </a:r>
          </a:p>
        </p:txBody>
      </p:sp>
      <p:graphicFrame>
        <p:nvGraphicFramePr>
          <p:cNvPr id="6" name="Table 5"/>
          <p:cNvGraphicFramePr>
            <a:graphicFrameLocks noGrp="1"/>
          </p:cNvGraphicFramePr>
          <p:nvPr>
            <p:extLst>
              <p:ext uri="{D42A27DB-BD31-4B8C-83A1-F6EECF244321}">
                <p14:modId xmlns:p14="http://schemas.microsoft.com/office/powerpoint/2010/main" val="2173047760"/>
              </p:ext>
            </p:extLst>
          </p:nvPr>
        </p:nvGraphicFramePr>
        <p:xfrm>
          <a:off x="838800" y="2556780"/>
          <a:ext cx="10573791" cy="3195120"/>
        </p:xfrm>
        <a:graphic>
          <a:graphicData uri="http://schemas.openxmlformats.org/drawingml/2006/table">
            <a:tbl>
              <a:tblPr firstRow="1" bandRow="1">
                <a:tableStyleId>{5940675A-B579-460E-94D1-54222C63F5DA}</a:tableStyleId>
              </a:tblPr>
              <a:tblGrid>
                <a:gridCol w="3524597">
                  <a:extLst>
                    <a:ext uri="{9D8B030D-6E8A-4147-A177-3AD203B41FA5}">
                      <a16:colId xmlns:a16="http://schemas.microsoft.com/office/drawing/2014/main" val="20000"/>
                    </a:ext>
                  </a:extLst>
                </a:gridCol>
                <a:gridCol w="2428101">
                  <a:extLst>
                    <a:ext uri="{9D8B030D-6E8A-4147-A177-3AD203B41FA5}">
                      <a16:colId xmlns:a16="http://schemas.microsoft.com/office/drawing/2014/main" val="20001"/>
                    </a:ext>
                  </a:extLst>
                </a:gridCol>
                <a:gridCol w="4621093">
                  <a:extLst>
                    <a:ext uri="{9D8B030D-6E8A-4147-A177-3AD203B41FA5}">
                      <a16:colId xmlns:a16="http://schemas.microsoft.com/office/drawing/2014/main" val="20002"/>
                    </a:ext>
                  </a:extLst>
                </a:gridCol>
              </a:tblGrid>
              <a:tr h="532520">
                <a:tc>
                  <a:txBody>
                    <a:bodyPr/>
                    <a:lstStyle/>
                    <a:p>
                      <a:pPr algn="ctr"/>
                      <a:r>
                        <a:rPr lang="en-HK" b="1" dirty="0">
                          <a:solidFill>
                            <a:schemeClr val="bg1"/>
                          </a:solidFill>
                        </a:rPr>
                        <a:t>Unit</a:t>
                      </a:r>
                      <a:endParaRPr lang="en-US" b="1" dirty="0">
                        <a:solidFill>
                          <a:schemeClr val="bg1"/>
                        </a:solidFill>
                      </a:endParaRPr>
                    </a:p>
                  </a:txBody>
                  <a:tcPr anchor="ctr">
                    <a:lnL w="12700" cap="flat" cmpd="sng" algn="ctr">
                      <a:solidFill>
                        <a:srgbClr val="57A044"/>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Symbol</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Value</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extLst>
                  <a:ext uri="{0D108BD9-81ED-4DB2-BD59-A6C34878D82A}">
                    <a16:rowId xmlns:a16="http://schemas.microsoft.com/office/drawing/2014/main" val="10000"/>
                  </a:ext>
                </a:extLst>
              </a:tr>
              <a:tr h="532520">
                <a:tc>
                  <a:txBody>
                    <a:bodyPr/>
                    <a:lstStyle/>
                    <a:p>
                      <a:r>
                        <a:rPr lang="en-HK" dirty="0"/>
                        <a:t>Bit per</a:t>
                      </a:r>
                      <a:r>
                        <a:rPr lang="en-HK" baseline="0" dirty="0"/>
                        <a:t> second</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US" dirty="0"/>
                        <a:t>bps, bit/s, b/s</a:t>
                      </a: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US" dirty="0"/>
                        <a:t>One bit of data is transferred every second.</a:t>
                      </a: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1"/>
                  </a:ext>
                </a:extLst>
              </a:tr>
              <a:tr h="532520">
                <a:tc>
                  <a:txBody>
                    <a:bodyPr/>
                    <a:lstStyle/>
                    <a:p>
                      <a:r>
                        <a:rPr lang="en-HK" dirty="0"/>
                        <a:t>Kilobit</a:t>
                      </a:r>
                      <a:r>
                        <a:rPr lang="en-HK" baseline="0" dirty="0"/>
                        <a:t> per second</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US" dirty="0"/>
                        <a:t>kbps, </a:t>
                      </a:r>
                      <a:r>
                        <a:rPr lang="en-US" dirty="0" err="1"/>
                        <a:t>kbit</a:t>
                      </a:r>
                      <a:r>
                        <a:rPr lang="en-US" dirty="0"/>
                        <a:t>/s, kb/s</a:t>
                      </a: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US" dirty="0"/>
                        <a:t>1 kbps = 10</a:t>
                      </a:r>
                      <a:r>
                        <a:rPr lang="en-US" baseline="30000" dirty="0"/>
                        <a:t>3</a:t>
                      </a:r>
                      <a:r>
                        <a:rPr lang="en-US" dirty="0"/>
                        <a:t> bps = 1000 bps = 10</a:t>
                      </a:r>
                      <a:r>
                        <a:rPr lang="en-US" baseline="30000" dirty="0"/>
                        <a:t>3</a:t>
                      </a:r>
                      <a:r>
                        <a:rPr lang="en-US" dirty="0"/>
                        <a:t> bps</a:t>
                      </a: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2"/>
                  </a:ext>
                </a:extLst>
              </a:tr>
              <a:tr h="532520">
                <a:tc>
                  <a:txBody>
                    <a:bodyPr/>
                    <a:lstStyle/>
                    <a:p>
                      <a:r>
                        <a:rPr lang="en-HK" dirty="0"/>
                        <a:t>Mega</a:t>
                      </a:r>
                      <a:r>
                        <a:rPr lang="en-HK" baseline="0" dirty="0"/>
                        <a:t>bit per second</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US" dirty="0"/>
                        <a:t>Mbps, Mbit/s, Mb/s</a:t>
                      </a: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US" dirty="0"/>
                        <a:t>1 Mbps = 10</a:t>
                      </a:r>
                      <a:r>
                        <a:rPr lang="en-US" baseline="30000" dirty="0"/>
                        <a:t>3</a:t>
                      </a:r>
                      <a:r>
                        <a:rPr lang="en-US" dirty="0"/>
                        <a:t> kbps = 1000 kbps = 10</a:t>
                      </a:r>
                      <a:r>
                        <a:rPr lang="en-US" baseline="30000" dirty="0"/>
                        <a:t>6</a:t>
                      </a:r>
                      <a:r>
                        <a:rPr lang="en-US" dirty="0"/>
                        <a:t> bps</a:t>
                      </a: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3"/>
                  </a:ext>
                </a:extLst>
              </a:tr>
              <a:tr h="532520">
                <a:tc>
                  <a:txBody>
                    <a:bodyPr/>
                    <a:lstStyle/>
                    <a:p>
                      <a:r>
                        <a:rPr lang="en-HK" dirty="0"/>
                        <a:t>Giga</a:t>
                      </a:r>
                      <a:r>
                        <a:rPr lang="en-HK" baseline="0" dirty="0"/>
                        <a:t>bit per second</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US" dirty="0" err="1"/>
                        <a:t>Gbps</a:t>
                      </a:r>
                      <a:r>
                        <a:rPr lang="en-US" dirty="0"/>
                        <a:t>, </a:t>
                      </a:r>
                      <a:r>
                        <a:rPr lang="en-US" dirty="0" err="1"/>
                        <a:t>Gbit</a:t>
                      </a:r>
                      <a:r>
                        <a:rPr lang="en-US" dirty="0"/>
                        <a:t>/s, Gb/s</a:t>
                      </a: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US" dirty="0"/>
                        <a:t>1 Gbps = 10</a:t>
                      </a:r>
                      <a:r>
                        <a:rPr lang="en-US" baseline="30000" dirty="0"/>
                        <a:t>3</a:t>
                      </a:r>
                      <a:r>
                        <a:rPr lang="en-US" dirty="0"/>
                        <a:t> Mbps = 1000 Mbps = 10</a:t>
                      </a:r>
                      <a:r>
                        <a:rPr lang="en-US" baseline="30000" dirty="0"/>
                        <a:t>9</a:t>
                      </a:r>
                      <a:r>
                        <a:rPr lang="en-US" dirty="0"/>
                        <a:t> bps</a:t>
                      </a: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4"/>
                  </a:ext>
                </a:extLst>
              </a:tr>
              <a:tr h="532520">
                <a:tc>
                  <a:txBody>
                    <a:bodyPr/>
                    <a:lstStyle/>
                    <a:p>
                      <a:r>
                        <a:rPr lang="en-HK" dirty="0"/>
                        <a:t>Terabit</a:t>
                      </a:r>
                      <a:r>
                        <a:rPr lang="en-HK" baseline="0" dirty="0"/>
                        <a:t> per second</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US" dirty="0" err="1"/>
                        <a:t>Tbps</a:t>
                      </a:r>
                      <a:r>
                        <a:rPr lang="en-US" dirty="0"/>
                        <a:t>, </a:t>
                      </a:r>
                      <a:r>
                        <a:rPr lang="en-US" dirty="0" err="1"/>
                        <a:t>Tbit</a:t>
                      </a:r>
                      <a:r>
                        <a:rPr lang="en-US" dirty="0"/>
                        <a:t>/s, Tb/s</a:t>
                      </a: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US" dirty="0"/>
                        <a:t>1 </a:t>
                      </a:r>
                      <a:r>
                        <a:rPr lang="en-US" dirty="0" err="1"/>
                        <a:t>Tbps</a:t>
                      </a:r>
                      <a:r>
                        <a:rPr lang="en-US" dirty="0"/>
                        <a:t> </a:t>
                      </a:r>
                      <a:r>
                        <a:rPr lang="en-US"/>
                        <a:t>= 10</a:t>
                      </a:r>
                      <a:r>
                        <a:rPr lang="en-US" baseline="30000"/>
                        <a:t>3</a:t>
                      </a:r>
                      <a:r>
                        <a:rPr lang="en-US"/>
                        <a:t> </a:t>
                      </a:r>
                      <a:r>
                        <a:rPr lang="en-US" dirty="0" err="1"/>
                        <a:t>Gbps</a:t>
                      </a:r>
                      <a:r>
                        <a:rPr lang="en-US" dirty="0"/>
                        <a:t> = 1000 </a:t>
                      </a:r>
                      <a:r>
                        <a:rPr lang="en-US" dirty="0" err="1"/>
                        <a:t>Gbps</a:t>
                      </a:r>
                      <a:r>
                        <a:rPr lang="en-US" dirty="0"/>
                        <a:t> = 10</a:t>
                      </a:r>
                      <a:r>
                        <a:rPr lang="en-US" baseline="30000" dirty="0"/>
                        <a:t>12 </a:t>
                      </a:r>
                      <a:r>
                        <a:rPr lang="en-US" dirty="0"/>
                        <a:t>bps</a:t>
                      </a: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0657136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Binary number</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6</a:t>
            </a:fld>
            <a:endParaRPr lang="en-US" dirty="0"/>
          </a:p>
        </p:txBody>
      </p:sp>
      <p:sp>
        <p:nvSpPr>
          <p:cNvPr id="4" name="Text Placeholder 3"/>
          <p:cNvSpPr>
            <a:spLocks noGrp="1"/>
          </p:cNvSpPr>
          <p:nvPr>
            <p:ph type="body" sz="quarter" idx="14"/>
          </p:nvPr>
        </p:nvSpPr>
        <p:spPr/>
        <p:txBody>
          <a:bodyPr/>
          <a:lstStyle/>
          <a:p>
            <a:r>
              <a:rPr lang="en-HK" dirty="0"/>
              <a:t>B</a:t>
            </a:r>
            <a:endParaRPr lang="en-US" dirty="0"/>
          </a:p>
        </p:txBody>
      </p:sp>
      <p:sp>
        <p:nvSpPr>
          <p:cNvPr id="5" name="Content Placeholder 4"/>
          <p:cNvSpPr>
            <a:spLocks noGrp="1"/>
          </p:cNvSpPr>
          <p:nvPr>
            <p:ph sz="quarter" idx="15"/>
          </p:nvPr>
        </p:nvSpPr>
        <p:spPr>
          <a:xfrm>
            <a:off x="838800" y="1623600"/>
            <a:ext cx="10515600" cy="4680000"/>
          </a:xfrm>
        </p:spPr>
        <p:txBody>
          <a:bodyPr/>
          <a:lstStyle/>
          <a:p>
            <a:r>
              <a:rPr lang="en-US" dirty="0"/>
              <a:t>In data representation, binary numbers are used because each digit of a binary number can represent one bit of digital data.</a:t>
            </a:r>
          </a:p>
          <a:p>
            <a:endParaRPr lang="en-HK" dirty="0"/>
          </a:p>
          <a:p>
            <a:r>
              <a:rPr lang="en-HK" dirty="0"/>
              <a:t>Binary numbers are represented by “0” and “1” only.</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2198010904"/>
              </p:ext>
            </p:extLst>
          </p:nvPr>
        </p:nvGraphicFramePr>
        <p:xfrm>
          <a:off x="1529543" y="3703935"/>
          <a:ext cx="9127378" cy="741680"/>
        </p:xfrm>
        <a:graphic>
          <a:graphicData uri="http://schemas.openxmlformats.org/drawingml/2006/table">
            <a:tbl>
              <a:tblPr firstRow="1" bandRow="1">
                <a:tableStyleId>{5940675A-B579-460E-94D1-54222C63F5DA}</a:tableStyleId>
              </a:tblPr>
              <a:tblGrid>
                <a:gridCol w="1839546">
                  <a:extLst>
                    <a:ext uri="{9D8B030D-6E8A-4147-A177-3AD203B41FA5}">
                      <a16:colId xmlns:a16="http://schemas.microsoft.com/office/drawing/2014/main" val="20000"/>
                    </a:ext>
                  </a:extLst>
                </a:gridCol>
                <a:gridCol w="910979">
                  <a:extLst>
                    <a:ext uri="{9D8B030D-6E8A-4147-A177-3AD203B41FA5}">
                      <a16:colId xmlns:a16="http://schemas.microsoft.com/office/drawing/2014/main" val="20001"/>
                    </a:ext>
                  </a:extLst>
                </a:gridCol>
                <a:gridCol w="910979">
                  <a:extLst>
                    <a:ext uri="{9D8B030D-6E8A-4147-A177-3AD203B41FA5}">
                      <a16:colId xmlns:a16="http://schemas.microsoft.com/office/drawing/2014/main" val="20002"/>
                    </a:ext>
                  </a:extLst>
                </a:gridCol>
                <a:gridCol w="910979">
                  <a:extLst>
                    <a:ext uri="{9D8B030D-6E8A-4147-A177-3AD203B41FA5}">
                      <a16:colId xmlns:a16="http://schemas.microsoft.com/office/drawing/2014/main" val="20003"/>
                    </a:ext>
                  </a:extLst>
                </a:gridCol>
                <a:gridCol w="910979">
                  <a:extLst>
                    <a:ext uri="{9D8B030D-6E8A-4147-A177-3AD203B41FA5}">
                      <a16:colId xmlns:a16="http://schemas.microsoft.com/office/drawing/2014/main" val="20004"/>
                    </a:ext>
                  </a:extLst>
                </a:gridCol>
                <a:gridCol w="910979">
                  <a:extLst>
                    <a:ext uri="{9D8B030D-6E8A-4147-A177-3AD203B41FA5}">
                      <a16:colId xmlns:a16="http://schemas.microsoft.com/office/drawing/2014/main" val="20005"/>
                    </a:ext>
                  </a:extLst>
                </a:gridCol>
                <a:gridCol w="910979">
                  <a:extLst>
                    <a:ext uri="{9D8B030D-6E8A-4147-A177-3AD203B41FA5}">
                      <a16:colId xmlns:a16="http://schemas.microsoft.com/office/drawing/2014/main" val="20006"/>
                    </a:ext>
                  </a:extLst>
                </a:gridCol>
                <a:gridCol w="910979">
                  <a:extLst>
                    <a:ext uri="{9D8B030D-6E8A-4147-A177-3AD203B41FA5}">
                      <a16:colId xmlns:a16="http://schemas.microsoft.com/office/drawing/2014/main" val="20007"/>
                    </a:ext>
                  </a:extLst>
                </a:gridCol>
                <a:gridCol w="910979">
                  <a:extLst>
                    <a:ext uri="{9D8B030D-6E8A-4147-A177-3AD203B41FA5}">
                      <a16:colId xmlns:a16="http://schemas.microsoft.com/office/drawing/2014/main" val="20008"/>
                    </a:ext>
                  </a:extLst>
                </a:gridCol>
              </a:tblGrid>
              <a:tr h="370840">
                <a:tc>
                  <a:txBody>
                    <a:bodyPr/>
                    <a:lstStyle/>
                    <a:p>
                      <a:pPr algn="ctr"/>
                      <a:r>
                        <a:rPr lang="en-HK" b="1" dirty="0">
                          <a:solidFill>
                            <a:schemeClr val="bg1"/>
                          </a:solidFill>
                        </a:rPr>
                        <a:t>Decimal number</a:t>
                      </a:r>
                      <a:endParaRPr lang="en-US" b="1" dirty="0">
                        <a:solidFill>
                          <a:schemeClr val="bg1"/>
                        </a:solidFill>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algn="ctr"/>
                      <a:r>
                        <a:rPr lang="en-HK" dirty="0">
                          <a:latin typeface="Courier New" panose="02070309020205020404" pitchFamily="49" charset="0"/>
                          <a:cs typeface="Courier New" panose="02070309020205020404" pitchFamily="49" charset="0"/>
                        </a:rPr>
                        <a:t>0</a:t>
                      </a:r>
                      <a:endParaRPr lang="en-US" dirty="0">
                        <a:latin typeface="Courier New" panose="02070309020205020404" pitchFamily="49" charset="0"/>
                        <a:cs typeface="Courier New" panose="02070309020205020404" pitchFamily="49" charset="0"/>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1</a:t>
                      </a:r>
                      <a:endParaRPr lang="en-US" dirty="0">
                        <a:latin typeface="Courier New" panose="02070309020205020404" pitchFamily="49" charset="0"/>
                        <a:cs typeface="Courier New" panose="02070309020205020404" pitchFamily="49" charset="0"/>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2</a:t>
                      </a:r>
                      <a:endParaRPr lang="en-US" dirty="0">
                        <a:latin typeface="Courier New" panose="02070309020205020404" pitchFamily="49" charset="0"/>
                        <a:cs typeface="Courier New" panose="02070309020205020404" pitchFamily="49" charset="0"/>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3</a:t>
                      </a:r>
                      <a:endParaRPr lang="en-US" dirty="0">
                        <a:latin typeface="Courier New" panose="02070309020205020404" pitchFamily="49" charset="0"/>
                        <a:cs typeface="Courier New" panose="02070309020205020404" pitchFamily="49" charset="0"/>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4</a:t>
                      </a:r>
                      <a:endParaRPr lang="en-US" dirty="0">
                        <a:latin typeface="Courier New" panose="02070309020205020404" pitchFamily="49" charset="0"/>
                        <a:cs typeface="Courier New" panose="02070309020205020404" pitchFamily="49" charset="0"/>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5</a:t>
                      </a:r>
                      <a:endParaRPr lang="en-US" dirty="0">
                        <a:latin typeface="Courier New" panose="02070309020205020404" pitchFamily="49" charset="0"/>
                        <a:cs typeface="Courier New" panose="02070309020205020404" pitchFamily="49" charset="0"/>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6</a:t>
                      </a:r>
                      <a:endParaRPr lang="en-US" dirty="0">
                        <a:latin typeface="Courier New" panose="02070309020205020404" pitchFamily="49" charset="0"/>
                        <a:cs typeface="Courier New" panose="02070309020205020404" pitchFamily="49" charset="0"/>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7</a:t>
                      </a:r>
                      <a:endParaRPr lang="en-US" dirty="0">
                        <a:latin typeface="Courier New" panose="02070309020205020404" pitchFamily="49" charset="0"/>
                        <a:cs typeface="Courier New" panose="02070309020205020404" pitchFamily="49" charset="0"/>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ctr"/>
                      <a:r>
                        <a:rPr lang="en-HK" b="1" dirty="0">
                          <a:solidFill>
                            <a:schemeClr val="bg1"/>
                          </a:solidFill>
                        </a:rPr>
                        <a:t>Binary number</a:t>
                      </a:r>
                      <a:endParaRPr lang="en-US" b="1" dirty="0">
                        <a:solidFill>
                          <a:schemeClr val="bg1"/>
                        </a:solidFill>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dirty="0">
                          <a:latin typeface="Courier New" panose="02070309020205020404" pitchFamily="49" charset="0"/>
                          <a:cs typeface="Courier New" panose="02070309020205020404" pitchFamily="49" charset="0"/>
                        </a:rPr>
                        <a:t>000</a:t>
                      </a:r>
                      <a:endParaRPr lang="en-US" dirty="0">
                        <a:latin typeface="Courier New" panose="02070309020205020404" pitchFamily="49" charset="0"/>
                        <a:cs typeface="Courier New" panose="02070309020205020404" pitchFamily="49" charset="0"/>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001</a:t>
                      </a:r>
                      <a:endParaRPr lang="en-US" dirty="0">
                        <a:latin typeface="Courier New" panose="02070309020205020404" pitchFamily="49" charset="0"/>
                        <a:cs typeface="Courier New" panose="02070309020205020404" pitchFamily="49" charset="0"/>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010</a:t>
                      </a:r>
                      <a:endParaRPr lang="en-US" dirty="0">
                        <a:latin typeface="Courier New" panose="02070309020205020404" pitchFamily="49" charset="0"/>
                        <a:cs typeface="Courier New" panose="02070309020205020404" pitchFamily="49" charset="0"/>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011</a:t>
                      </a:r>
                      <a:endParaRPr lang="en-US" dirty="0">
                        <a:latin typeface="Courier New" panose="02070309020205020404" pitchFamily="49" charset="0"/>
                        <a:cs typeface="Courier New" panose="02070309020205020404" pitchFamily="49" charset="0"/>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100</a:t>
                      </a:r>
                      <a:endParaRPr lang="en-US" dirty="0">
                        <a:latin typeface="Courier New" panose="02070309020205020404" pitchFamily="49" charset="0"/>
                        <a:cs typeface="Courier New" panose="02070309020205020404" pitchFamily="49" charset="0"/>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101</a:t>
                      </a:r>
                      <a:endParaRPr lang="en-US" dirty="0">
                        <a:latin typeface="Courier New" panose="02070309020205020404" pitchFamily="49" charset="0"/>
                        <a:cs typeface="Courier New" panose="02070309020205020404" pitchFamily="49" charset="0"/>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110</a:t>
                      </a:r>
                      <a:endParaRPr lang="en-US" dirty="0">
                        <a:latin typeface="Courier New" panose="02070309020205020404" pitchFamily="49" charset="0"/>
                        <a:cs typeface="Courier New" panose="02070309020205020404" pitchFamily="49" charset="0"/>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111</a:t>
                      </a:r>
                      <a:endParaRPr lang="en-US" dirty="0">
                        <a:latin typeface="Courier New" panose="02070309020205020404" pitchFamily="49" charset="0"/>
                        <a:cs typeface="Courier New" panose="02070309020205020404" pitchFamily="49" charset="0"/>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8424068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dirty="0">
                <a:solidFill>
                  <a:srgbClr val="C6993D"/>
                </a:solidFill>
              </a:rPr>
              <a:t>Conversion between binary numbers and decimal numbers</a:t>
            </a:r>
          </a:p>
          <a:p>
            <a:r>
              <a:rPr lang="en-US" dirty="0"/>
              <a:t>For a binary number, </a:t>
            </a:r>
            <a:r>
              <a:rPr lang="en-US" dirty="0">
                <a:latin typeface="Courier New" panose="02070309020205020404" pitchFamily="49" charset="0"/>
                <a:cs typeface="Courier New" panose="02070309020205020404" pitchFamily="49" charset="0"/>
              </a:rPr>
              <a:t>1101</a:t>
            </a:r>
            <a:r>
              <a:rPr lang="en-US" baseline="-25000" dirty="0">
                <a:latin typeface="Courier New" panose="02070309020205020404" pitchFamily="49" charset="0"/>
                <a:cs typeface="Courier New" panose="02070309020205020404" pitchFamily="49" charset="0"/>
              </a:rPr>
              <a:t>2</a:t>
            </a:r>
            <a:r>
              <a:rPr lang="en-US" dirty="0"/>
              <a:t> , we can convert it into a decimal number by expanding it like below.</a:t>
            </a:r>
          </a:p>
          <a:p>
            <a:r>
              <a:rPr lang="en-HK" dirty="0"/>
              <a:t/>
            </a:r>
            <a:br>
              <a:rPr lang="en-HK" dirty="0"/>
            </a:br>
            <a:r>
              <a:rPr lang="en-HK" dirty="0"/>
              <a:t/>
            </a:r>
            <a:br>
              <a:rPr lang="en-HK" dirty="0"/>
            </a:br>
            <a:r>
              <a:rPr lang="en-HK" dirty="0"/>
              <a:t/>
            </a:r>
            <a:br>
              <a:rPr lang="en-HK" dirty="0"/>
            </a:br>
            <a:r>
              <a:rPr lang="en-HK" dirty="0"/>
              <a:t/>
            </a:r>
            <a:br>
              <a:rPr lang="en-HK" dirty="0"/>
            </a:br>
            <a:r>
              <a:rPr lang="en-HK" dirty="0"/>
              <a:t/>
            </a:r>
            <a:br>
              <a:rPr lang="en-HK" dirty="0"/>
            </a:br>
            <a:r>
              <a:rPr lang="en-HK" dirty="0"/>
              <a:t/>
            </a:r>
            <a:br>
              <a:rPr lang="en-HK" dirty="0"/>
            </a:br>
            <a:r>
              <a:rPr lang="en-US" dirty="0"/>
              <a:t>Therefore, </a:t>
            </a:r>
            <a:r>
              <a:rPr lang="en-US" dirty="0">
                <a:latin typeface="Courier New" panose="02070309020205020404" pitchFamily="49" charset="0"/>
                <a:cs typeface="Courier New" panose="02070309020205020404" pitchFamily="49" charset="0"/>
              </a:rPr>
              <a:t>1101</a:t>
            </a:r>
            <a:r>
              <a:rPr lang="en-US" baseline="-25000" dirty="0">
                <a:latin typeface="Courier New" panose="02070309020205020404" pitchFamily="49" charset="0"/>
                <a:cs typeface="Courier New" panose="02070309020205020404" pitchFamily="49" charset="0"/>
              </a:rPr>
              <a:t>2</a:t>
            </a:r>
            <a:r>
              <a:rPr lang="en-US" dirty="0">
                <a:latin typeface="Courier New" panose="02070309020205020404" pitchFamily="49" charset="0"/>
                <a:cs typeface="Courier New" panose="02070309020205020404" pitchFamily="49" charset="0"/>
              </a:rPr>
              <a:t> = 8 + 4 + 0 + 1 = 13</a:t>
            </a:r>
            <a:r>
              <a:rPr lang="en-US" baseline="-25000" dirty="0">
                <a:latin typeface="Courier New" panose="02070309020205020404" pitchFamily="49" charset="0"/>
                <a:cs typeface="Courier New" panose="02070309020205020404" pitchFamily="49" charset="0"/>
              </a:rPr>
              <a:t>10</a:t>
            </a:r>
            <a:r>
              <a:rPr lang="en-US" dirty="0"/>
              <a:t> .</a:t>
            </a:r>
            <a:endParaRPr lang="en-HK" dirty="0"/>
          </a:p>
        </p:txBody>
      </p:sp>
      <p:sp>
        <p:nvSpPr>
          <p:cNvPr id="3" name="Slide Number Placeholder 2"/>
          <p:cNvSpPr>
            <a:spLocks noGrp="1"/>
          </p:cNvSpPr>
          <p:nvPr>
            <p:ph type="sldNum" sz="quarter" idx="12"/>
          </p:nvPr>
        </p:nvSpPr>
        <p:spPr/>
        <p:txBody>
          <a:bodyPr/>
          <a:lstStyle/>
          <a:p>
            <a:fld id="{6D22F896-40B5-4ADD-8801-0D06FADFA095}" type="slidenum">
              <a:rPr lang="en-US" smtClean="0"/>
              <a:t>7</a:t>
            </a:fld>
            <a:endParaRPr lang="en-US" dirty="0"/>
          </a:p>
        </p:txBody>
      </p:sp>
      <p:sp>
        <p:nvSpPr>
          <p:cNvPr id="4" name="Text Placeholder 3"/>
          <p:cNvSpPr>
            <a:spLocks noGrp="1"/>
          </p:cNvSpPr>
          <p:nvPr>
            <p:ph type="body" sz="quarter" idx="13"/>
          </p:nvPr>
        </p:nvSpPr>
        <p:spPr/>
        <p:txBody>
          <a:bodyPr/>
          <a:lstStyle/>
          <a:p>
            <a:r>
              <a:rPr lang="en-HK" dirty="0"/>
              <a:t>3.1</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669501726"/>
              </p:ext>
            </p:extLst>
          </p:nvPr>
        </p:nvGraphicFramePr>
        <p:xfrm>
          <a:off x="1737358" y="2814477"/>
          <a:ext cx="8603675" cy="1381760"/>
        </p:xfrm>
        <a:graphic>
          <a:graphicData uri="http://schemas.openxmlformats.org/drawingml/2006/table">
            <a:tbl>
              <a:tblPr firstRow="1" bandRow="1">
                <a:tableStyleId>{5940675A-B579-460E-94D1-54222C63F5DA}</a:tableStyleId>
              </a:tblPr>
              <a:tblGrid>
                <a:gridCol w="1388228">
                  <a:extLst>
                    <a:ext uri="{9D8B030D-6E8A-4147-A177-3AD203B41FA5}">
                      <a16:colId xmlns:a16="http://schemas.microsoft.com/office/drawing/2014/main" val="20000"/>
                    </a:ext>
                  </a:extLst>
                </a:gridCol>
                <a:gridCol w="1753985">
                  <a:extLst>
                    <a:ext uri="{9D8B030D-6E8A-4147-A177-3AD203B41FA5}">
                      <a16:colId xmlns:a16="http://schemas.microsoft.com/office/drawing/2014/main" val="20001"/>
                    </a:ext>
                  </a:extLst>
                </a:gridCol>
                <a:gridCol w="1856661">
                  <a:extLst>
                    <a:ext uri="{9D8B030D-6E8A-4147-A177-3AD203B41FA5}">
                      <a16:colId xmlns:a16="http://schemas.microsoft.com/office/drawing/2014/main" val="20002"/>
                    </a:ext>
                  </a:extLst>
                </a:gridCol>
                <a:gridCol w="1792626">
                  <a:extLst>
                    <a:ext uri="{9D8B030D-6E8A-4147-A177-3AD203B41FA5}">
                      <a16:colId xmlns:a16="http://schemas.microsoft.com/office/drawing/2014/main" val="20003"/>
                    </a:ext>
                  </a:extLst>
                </a:gridCol>
                <a:gridCol w="1812175">
                  <a:extLst>
                    <a:ext uri="{9D8B030D-6E8A-4147-A177-3AD203B41FA5}">
                      <a16:colId xmlns:a16="http://schemas.microsoft.com/office/drawing/2014/main" val="20004"/>
                    </a:ext>
                  </a:extLst>
                </a:gridCol>
              </a:tblGrid>
              <a:tr h="370840">
                <a:tc>
                  <a:txBody>
                    <a:bodyPr/>
                    <a:lstStyle/>
                    <a:p>
                      <a:pPr algn="ctr"/>
                      <a:r>
                        <a:rPr lang="en-HK" b="1" dirty="0">
                          <a:solidFill>
                            <a:schemeClr val="bg1"/>
                          </a:solidFill>
                        </a:rPr>
                        <a:t>Digit</a:t>
                      </a:r>
                      <a:endParaRPr lang="en-US" b="1" dirty="0">
                        <a:solidFill>
                          <a:schemeClr val="bg1"/>
                        </a:solidFill>
                      </a:endParaRPr>
                    </a:p>
                  </a:txBody>
                  <a:tcPr anchor="ctr">
                    <a:lnL w="12700" cap="flat" cmpd="sng" algn="ctr">
                      <a:solidFill>
                        <a:srgbClr val="C6993D"/>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1</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0</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0</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1</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extLst>
                  <a:ext uri="{0D108BD9-81ED-4DB2-BD59-A6C34878D82A}">
                    <a16:rowId xmlns:a16="http://schemas.microsoft.com/office/drawing/2014/main" val="10000"/>
                  </a:ext>
                </a:extLst>
              </a:tr>
              <a:tr h="370840">
                <a:tc>
                  <a:txBody>
                    <a:bodyPr/>
                    <a:lstStyle/>
                    <a:p>
                      <a:pPr algn="ctr"/>
                      <a:r>
                        <a:rPr lang="en-HK" b="1" dirty="0">
                          <a:solidFill>
                            <a:schemeClr val="bg1"/>
                          </a:solidFill>
                        </a:rPr>
                        <a:t>Place value</a:t>
                      </a:r>
                      <a:endParaRPr lang="en-US" b="1" dirty="0">
                        <a:solidFill>
                          <a:schemeClr val="bg1"/>
                        </a:solidFill>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93D"/>
                    </a:solidFill>
                  </a:tcPr>
                </a:tc>
                <a:tc>
                  <a:txBody>
                    <a:bodyPr/>
                    <a:lstStyle/>
                    <a:p>
                      <a:pPr algn="ctr"/>
                      <a:r>
                        <a:rPr lang="en-HK" dirty="0">
                          <a:latin typeface="Courier New" panose="02070309020205020404" pitchFamily="49" charset="0"/>
                          <a:cs typeface="Courier New" panose="02070309020205020404" pitchFamily="49" charset="0"/>
                        </a:rPr>
                        <a:t>2</a:t>
                      </a:r>
                      <a:r>
                        <a:rPr lang="en-HK" strike="noStrike" baseline="30000" dirty="0">
                          <a:latin typeface="Courier New" panose="02070309020205020404" pitchFamily="49" charset="0"/>
                          <a:cs typeface="Courier New" panose="02070309020205020404" pitchFamily="49" charset="0"/>
                        </a:rPr>
                        <a:t>3</a:t>
                      </a:r>
                      <a:r>
                        <a:rPr lang="en-HK" dirty="0">
                          <a:latin typeface="Courier New" panose="02070309020205020404" pitchFamily="49" charset="0"/>
                          <a:cs typeface="Courier New" panose="02070309020205020404" pitchFamily="49" charset="0"/>
                        </a:rPr>
                        <a:t> = 8</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2</a:t>
                      </a:r>
                      <a:r>
                        <a:rPr lang="en-HK" baseline="30000" dirty="0">
                          <a:latin typeface="Courier New" panose="02070309020205020404" pitchFamily="49" charset="0"/>
                          <a:cs typeface="Courier New" panose="02070309020205020404" pitchFamily="49" charset="0"/>
                        </a:rPr>
                        <a:t>2</a:t>
                      </a:r>
                      <a:r>
                        <a:rPr lang="en-HK" dirty="0">
                          <a:latin typeface="Courier New" panose="02070309020205020404" pitchFamily="49" charset="0"/>
                          <a:cs typeface="Courier New" panose="02070309020205020404" pitchFamily="49" charset="0"/>
                        </a:rPr>
                        <a:t> = 4</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2</a:t>
                      </a:r>
                      <a:r>
                        <a:rPr lang="en-HK" baseline="30000" dirty="0">
                          <a:latin typeface="Courier New" panose="02070309020205020404" pitchFamily="49" charset="0"/>
                          <a:cs typeface="Courier New" panose="02070309020205020404" pitchFamily="49" charset="0"/>
                        </a:rPr>
                        <a:t>1</a:t>
                      </a:r>
                      <a:r>
                        <a:rPr lang="en-HK" dirty="0">
                          <a:latin typeface="Courier New" panose="02070309020205020404" pitchFamily="49" charset="0"/>
                          <a:cs typeface="Courier New" panose="02070309020205020404" pitchFamily="49" charset="0"/>
                        </a:rPr>
                        <a:t> = 2</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2</a:t>
                      </a:r>
                      <a:r>
                        <a:rPr lang="en-HK" baseline="30000" dirty="0">
                          <a:latin typeface="Courier New" panose="02070309020205020404" pitchFamily="49" charset="0"/>
                          <a:cs typeface="Courier New" panose="02070309020205020404" pitchFamily="49" charset="0"/>
                        </a:rPr>
                        <a:t>0</a:t>
                      </a:r>
                      <a:r>
                        <a:rPr lang="en-HK" dirty="0">
                          <a:latin typeface="Courier New" panose="02070309020205020404" pitchFamily="49" charset="0"/>
                          <a:cs typeface="Courier New" panose="02070309020205020404" pitchFamily="49" charset="0"/>
                        </a:rPr>
                        <a:t> = 1</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a:r>
                        <a:rPr lang="en-HK" b="1" dirty="0">
                          <a:solidFill>
                            <a:schemeClr val="bg1"/>
                          </a:solidFill>
                        </a:rPr>
                        <a:t>Value of the digit</a:t>
                      </a:r>
                      <a:endParaRPr lang="en-US" b="1" dirty="0">
                        <a:solidFill>
                          <a:schemeClr val="bg1"/>
                        </a:solidFill>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sz="1600" dirty="0">
                          <a:solidFill>
                            <a:schemeClr val="tx1"/>
                          </a:solidFill>
                          <a:latin typeface="Courier New" panose="02070309020205020404" pitchFamily="49" charset="0"/>
                          <a:cs typeface="Courier New" panose="02070309020205020404" pitchFamily="49" charset="0"/>
                        </a:rPr>
                        <a:t>8 × 1 = 8</a:t>
                      </a:r>
                      <a:endParaRPr lang="en-US" sz="1600" dirty="0">
                        <a:solidFill>
                          <a:schemeClr val="tx1"/>
                        </a:solidFill>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sz="1600" dirty="0">
                          <a:solidFill>
                            <a:schemeClr val="tx1"/>
                          </a:solidFill>
                          <a:latin typeface="Courier New" panose="02070309020205020404" pitchFamily="49" charset="0"/>
                          <a:cs typeface="Courier New" panose="02070309020205020404" pitchFamily="49" charset="0"/>
                        </a:rPr>
                        <a:t>4 × 1 = 4</a:t>
                      </a:r>
                      <a:endParaRPr lang="en-US" sz="1600" dirty="0">
                        <a:solidFill>
                          <a:schemeClr val="tx1"/>
                        </a:solidFill>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sz="1600" dirty="0">
                          <a:solidFill>
                            <a:schemeClr val="tx1"/>
                          </a:solidFill>
                          <a:latin typeface="Courier New" panose="02070309020205020404" pitchFamily="49" charset="0"/>
                          <a:cs typeface="Courier New" panose="02070309020205020404" pitchFamily="49" charset="0"/>
                        </a:rPr>
                        <a:t>2 × 0 = 0</a:t>
                      </a:r>
                      <a:endParaRPr lang="en-US" sz="1600" dirty="0">
                        <a:solidFill>
                          <a:schemeClr val="tx1"/>
                        </a:solidFill>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sz="1600" dirty="0">
                          <a:solidFill>
                            <a:schemeClr val="tx1"/>
                          </a:solidFill>
                          <a:latin typeface="Courier New" panose="02070309020205020404" pitchFamily="49" charset="0"/>
                          <a:cs typeface="Courier New" panose="02070309020205020404" pitchFamily="49" charset="0"/>
                        </a:rPr>
                        <a:t>1 × 1 = 1</a:t>
                      </a:r>
                      <a:endParaRPr lang="en-US" sz="1600" dirty="0">
                        <a:solidFill>
                          <a:schemeClr val="tx1"/>
                        </a:solidFill>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4117867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AutoNum type="arabicPeriod"/>
            </a:pPr>
            <a:r>
              <a:rPr lang="en-HK" dirty="0"/>
              <a:t>Convert </a:t>
            </a:r>
            <a:r>
              <a:rPr lang="en-HK" dirty="0">
                <a:latin typeface="Courier New" panose="02070309020205020404" pitchFamily="49" charset="0"/>
                <a:cs typeface="Courier New" panose="02070309020205020404" pitchFamily="49" charset="0"/>
              </a:rPr>
              <a:t>10110101</a:t>
            </a:r>
            <a:r>
              <a:rPr lang="en-HK" baseline="-25000" dirty="0">
                <a:latin typeface="Courier New" panose="02070309020205020404" pitchFamily="49" charset="0"/>
                <a:cs typeface="Courier New" panose="02070309020205020404" pitchFamily="49" charset="0"/>
              </a:rPr>
              <a:t>2</a:t>
            </a:r>
            <a:r>
              <a:rPr lang="en-HK" dirty="0"/>
              <a:t> into a decimal number.</a:t>
            </a:r>
          </a:p>
          <a:p>
            <a:r>
              <a:rPr lang="en-HK" dirty="0"/>
              <a:t/>
            </a:r>
            <a:br>
              <a:rPr lang="en-HK" dirty="0"/>
            </a:br>
            <a:r>
              <a:rPr lang="en-HK" dirty="0"/>
              <a:t/>
            </a:r>
            <a:br>
              <a:rPr lang="en-HK" dirty="0"/>
            </a:br>
            <a:r>
              <a:rPr lang="en-HK" dirty="0"/>
              <a:t/>
            </a:r>
            <a:br>
              <a:rPr lang="en-HK" dirty="0"/>
            </a:br>
            <a:r>
              <a:rPr lang="en-HK" dirty="0"/>
              <a:t/>
            </a:r>
            <a:br>
              <a:rPr lang="en-HK" dirty="0"/>
            </a:br>
            <a:endParaRPr lang="en-HK" dirty="0"/>
          </a:p>
          <a:p>
            <a:r>
              <a:rPr lang="en-HK" dirty="0"/>
              <a:t>Therefore, </a:t>
            </a:r>
            <a:r>
              <a:rPr lang="en-HK" dirty="0">
                <a:latin typeface="Courier New" panose="02070309020205020404" pitchFamily="49" charset="0"/>
                <a:cs typeface="Courier New" panose="02070309020205020404" pitchFamily="49" charset="0"/>
              </a:rPr>
              <a:t>10110101</a:t>
            </a:r>
            <a:r>
              <a:rPr lang="en-HK" baseline="-25000" dirty="0">
                <a:latin typeface="Courier New" panose="02070309020205020404" pitchFamily="49" charset="0"/>
                <a:cs typeface="Courier New" panose="02070309020205020404" pitchFamily="49" charset="0"/>
              </a:rPr>
              <a:t>2</a:t>
            </a:r>
            <a:r>
              <a:rPr lang="en-HK" dirty="0">
                <a:latin typeface="Courier New" panose="02070309020205020404" pitchFamily="49" charset="0"/>
                <a:cs typeface="Courier New" panose="02070309020205020404" pitchFamily="49" charset="0"/>
              </a:rPr>
              <a:t> </a:t>
            </a:r>
            <a:r>
              <a:rPr lang="en-HK" dirty="0"/>
              <a:t>=</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8</a:t>
            </a:fld>
            <a:endParaRPr lang="en-US" dirty="0"/>
          </a:p>
        </p:txBody>
      </p:sp>
      <p:sp>
        <p:nvSpPr>
          <p:cNvPr id="4" name="Text Placeholder 3"/>
          <p:cNvSpPr>
            <a:spLocks noGrp="1"/>
          </p:cNvSpPr>
          <p:nvPr>
            <p:ph type="body" sz="quarter" idx="13"/>
          </p:nvPr>
        </p:nvSpPr>
        <p:spPr/>
        <p:txBody>
          <a:bodyPr/>
          <a:lstStyle/>
          <a:p>
            <a:r>
              <a:rPr lang="en-HK" dirty="0"/>
              <a:t>3.1</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2952515502"/>
              </p:ext>
            </p:extLst>
          </p:nvPr>
        </p:nvGraphicFramePr>
        <p:xfrm>
          <a:off x="565263" y="2182709"/>
          <a:ext cx="11097493" cy="1381760"/>
        </p:xfrm>
        <a:graphic>
          <a:graphicData uri="http://schemas.openxmlformats.org/drawingml/2006/table">
            <a:tbl>
              <a:tblPr firstRow="1" bandRow="1">
                <a:tableStyleId>{5940675A-B579-460E-94D1-54222C63F5DA}</a:tableStyleId>
              </a:tblPr>
              <a:tblGrid>
                <a:gridCol w="1324172">
                  <a:extLst>
                    <a:ext uri="{9D8B030D-6E8A-4147-A177-3AD203B41FA5}">
                      <a16:colId xmlns:a16="http://schemas.microsoft.com/office/drawing/2014/main" val="20000"/>
                    </a:ext>
                  </a:extLst>
                </a:gridCol>
                <a:gridCol w="1468907">
                  <a:extLst>
                    <a:ext uri="{9D8B030D-6E8A-4147-A177-3AD203B41FA5}">
                      <a16:colId xmlns:a16="http://schemas.microsoft.com/office/drawing/2014/main" val="20001"/>
                    </a:ext>
                  </a:extLst>
                </a:gridCol>
                <a:gridCol w="1172094">
                  <a:extLst>
                    <a:ext uri="{9D8B030D-6E8A-4147-A177-3AD203B41FA5}">
                      <a16:colId xmlns:a16="http://schemas.microsoft.com/office/drawing/2014/main" val="20002"/>
                    </a:ext>
                  </a:extLst>
                </a:gridCol>
                <a:gridCol w="1238597">
                  <a:extLst>
                    <a:ext uri="{9D8B030D-6E8A-4147-A177-3AD203B41FA5}">
                      <a16:colId xmlns:a16="http://schemas.microsoft.com/office/drawing/2014/main" val="20003"/>
                    </a:ext>
                  </a:extLst>
                </a:gridCol>
                <a:gridCol w="1288472">
                  <a:extLst>
                    <a:ext uri="{9D8B030D-6E8A-4147-A177-3AD203B41FA5}">
                      <a16:colId xmlns:a16="http://schemas.microsoft.com/office/drawing/2014/main" val="20004"/>
                    </a:ext>
                  </a:extLst>
                </a:gridCol>
                <a:gridCol w="1072342">
                  <a:extLst>
                    <a:ext uri="{9D8B030D-6E8A-4147-A177-3AD203B41FA5}">
                      <a16:colId xmlns:a16="http://schemas.microsoft.com/office/drawing/2014/main" val="20005"/>
                    </a:ext>
                  </a:extLst>
                </a:gridCol>
                <a:gridCol w="1280160">
                  <a:extLst>
                    <a:ext uri="{9D8B030D-6E8A-4147-A177-3AD203B41FA5}">
                      <a16:colId xmlns:a16="http://schemas.microsoft.com/office/drawing/2014/main" val="20006"/>
                    </a:ext>
                  </a:extLst>
                </a:gridCol>
                <a:gridCol w="1188720">
                  <a:extLst>
                    <a:ext uri="{9D8B030D-6E8A-4147-A177-3AD203B41FA5}">
                      <a16:colId xmlns:a16="http://schemas.microsoft.com/office/drawing/2014/main" val="20007"/>
                    </a:ext>
                  </a:extLst>
                </a:gridCol>
                <a:gridCol w="1064029">
                  <a:extLst>
                    <a:ext uri="{9D8B030D-6E8A-4147-A177-3AD203B41FA5}">
                      <a16:colId xmlns:a16="http://schemas.microsoft.com/office/drawing/2014/main" val="20008"/>
                    </a:ext>
                  </a:extLst>
                </a:gridCol>
              </a:tblGrid>
              <a:tr h="370840">
                <a:tc>
                  <a:txBody>
                    <a:bodyPr/>
                    <a:lstStyle/>
                    <a:p>
                      <a:pPr algn="ctr"/>
                      <a:r>
                        <a:rPr lang="en-HK" b="1" dirty="0">
                          <a:solidFill>
                            <a:schemeClr val="bg1"/>
                          </a:solidFill>
                        </a:rPr>
                        <a:t>Digit</a:t>
                      </a:r>
                      <a:endParaRPr lang="en-US" b="1" dirty="0">
                        <a:solidFill>
                          <a:schemeClr val="bg1"/>
                        </a:solidFill>
                      </a:endParaRPr>
                    </a:p>
                  </a:txBody>
                  <a:tcPr anchor="ctr">
                    <a:lnL w="12700" cap="flat" cmpd="sng" algn="ctr">
                      <a:solidFill>
                        <a:srgbClr val="C6993D"/>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1</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0</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1</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1</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0</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1</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0</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1</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extLst>
                  <a:ext uri="{0D108BD9-81ED-4DB2-BD59-A6C34878D82A}">
                    <a16:rowId xmlns:a16="http://schemas.microsoft.com/office/drawing/2014/main" val="10000"/>
                  </a:ext>
                </a:extLst>
              </a:tr>
              <a:tr h="370840">
                <a:tc>
                  <a:txBody>
                    <a:bodyPr/>
                    <a:lstStyle/>
                    <a:p>
                      <a:pPr algn="ctr"/>
                      <a:r>
                        <a:rPr lang="en-HK" b="1" dirty="0">
                          <a:solidFill>
                            <a:schemeClr val="bg1"/>
                          </a:solidFill>
                        </a:rPr>
                        <a:t>Place value</a:t>
                      </a:r>
                      <a:endParaRPr lang="en-US" b="1" dirty="0">
                        <a:solidFill>
                          <a:schemeClr val="bg1"/>
                        </a:solidFill>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93D"/>
                    </a:solidFill>
                  </a:tcPr>
                </a:tc>
                <a:tc>
                  <a:txBody>
                    <a:bodyPr/>
                    <a:lstStyle/>
                    <a:p>
                      <a:pPr algn="ctr"/>
                      <a:r>
                        <a:rPr lang="en-HK" dirty="0">
                          <a:latin typeface="Courier New" panose="02070309020205020404" pitchFamily="49" charset="0"/>
                          <a:cs typeface="Courier New" panose="02070309020205020404" pitchFamily="49" charset="0"/>
                        </a:rPr>
                        <a:t>27 = 128</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26 = 64</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25 = 32</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24 = 16</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23 = 8</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22 = 4</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21 = 2</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20 = 1</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a:r>
                        <a:rPr lang="en-HK" b="1" dirty="0">
                          <a:solidFill>
                            <a:schemeClr val="bg1"/>
                          </a:solidFill>
                        </a:rPr>
                        <a:t>Value of the digit</a:t>
                      </a:r>
                      <a:endParaRPr lang="en-US" b="1" dirty="0">
                        <a:solidFill>
                          <a:schemeClr val="bg1"/>
                        </a:solidFill>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endParaRPr lang="en-US" sz="1600" dirty="0">
                        <a:solidFill>
                          <a:srgbClr val="FF0000"/>
                        </a:solidFill>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endParaRPr lang="en-US" sz="1600" dirty="0">
                        <a:solidFill>
                          <a:srgbClr val="FF0000"/>
                        </a:solidFill>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endParaRPr lang="en-US" sz="1600" dirty="0">
                        <a:solidFill>
                          <a:srgbClr val="FF0000"/>
                        </a:solidFill>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endParaRPr lang="en-US" sz="1600" dirty="0">
                        <a:solidFill>
                          <a:srgbClr val="FF0000"/>
                        </a:solidFill>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endParaRPr lang="en-US" sz="1600" dirty="0">
                        <a:solidFill>
                          <a:srgbClr val="FF0000"/>
                        </a:solidFill>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endParaRPr lang="en-US" sz="1600" dirty="0">
                        <a:solidFill>
                          <a:srgbClr val="FF0000"/>
                        </a:solidFill>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endParaRPr lang="en-US" sz="1600" dirty="0">
                        <a:solidFill>
                          <a:srgbClr val="FF0000"/>
                        </a:solidFill>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endParaRPr lang="en-US" sz="1600" dirty="0">
                        <a:solidFill>
                          <a:srgbClr val="FF0000"/>
                        </a:solidFill>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8115297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AutoNum type="arabicPeriod"/>
            </a:pPr>
            <a:r>
              <a:rPr lang="en-HK" dirty="0"/>
              <a:t>Convert 10110101</a:t>
            </a:r>
            <a:r>
              <a:rPr lang="en-HK" baseline="-25000" dirty="0"/>
              <a:t>2</a:t>
            </a:r>
            <a:r>
              <a:rPr lang="en-HK" dirty="0"/>
              <a:t> into a decimal number.</a:t>
            </a:r>
          </a:p>
          <a:p>
            <a:r>
              <a:rPr lang="en-HK" dirty="0"/>
              <a:t/>
            </a:r>
            <a:br>
              <a:rPr lang="en-HK" dirty="0"/>
            </a:br>
            <a:r>
              <a:rPr lang="en-HK" dirty="0"/>
              <a:t/>
            </a:r>
            <a:br>
              <a:rPr lang="en-HK" dirty="0"/>
            </a:br>
            <a:r>
              <a:rPr lang="en-HK" dirty="0"/>
              <a:t/>
            </a:r>
            <a:br>
              <a:rPr lang="en-HK" dirty="0"/>
            </a:br>
            <a:r>
              <a:rPr lang="en-HK" dirty="0"/>
              <a:t/>
            </a:r>
            <a:br>
              <a:rPr lang="en-HK" dirty="0"/>
            </a:br>
            <a:endParaRPr lang="en-HK" dirty="0"/>
          </a:p>
          <a:p>
            <a:r>
              <a:rPr lang="en-HK" dirty="0"/>
              <a:t>Therefore, </a:t>
            </a:r>
            <a:r>
              <a:rPr lang="en-HK" dirty="0">
                <a:latin typeface="Courier New" panose="02070309020205020404" pitchFamily="49" charset="0"/>
                <a:cs typeface="Courier New" panose="02070309020205020404" pitchFamily="49" charset="0"/>
              </a:rPr>
              <a:t>10110101</a:t>
            </a:r>
            <a:r>
              <a:rPr lang="en-HK" baseline="-25000" dirty="0">
                <a:latin typeface="Courier New" panose="02070309020205020404" pitchFamily="49" charset="0"/>
                <a:cs typeface="Courier New" panose="02070309020205020404" pitchFamily="49" charset="0"/>
              </a:rPr>
              <a:t>2</a:t>
            </a:r>
            <a:r>
              <a:rPr lang="en-HK" dirty="0">
                <a:latin typeface="Courier New" panose="02070309020205020404" pitchFamily="49" charset="0"/>
                <a:cs typeface="Courier New" panose="02070309020205020404" pitchFamily="49" charset="0"/>
              </a:rPr>
              <a:t> </a:t>
            </a:r>
            <a:r>
              <a:rPr lang="en-HK" dirty="0"/>
              <a:t>= </a:t>
            </a:r>
            <a:r>
              <a:rPr lang="en-HK" dirty="0">
                <a:solidFill>
                  <a:srgbClr val="FF0000"/>
                </a:solidFill>
              </a:rPr>
              <a:t>128 + 0 + 32 + 16 + 0 + 4 + 0 + 1 = 181</a:t>
            </a:r>
            <a:r>
              <a:rPr lang="en-HK" baseline="-25000" dirty="0">
                <a:solidFill>
                  <a:srgbClr val="FF0000"/>
                </a:solidFill>
              </a:rPr>
              <a:t>10</a:t>
            </a:r>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9</a:t>
            </a:fld>
            <a:endParaRPr lang="en-US" dirty="0"/>
          </a:p>
        </p:txBody>
      </p:sp>
      <p:sp>
        <p:nvSpPr>
          <p:cNvPr id="4" name="Text Placeholder 3"/>
          <p:cNvSpPr>
            <a:spLocks noGrp="1"/>
          </p:cNvSpPr>
          <p:nvPr>
            <p:ph type="body" sz="quarter" idx="13"/>
          </p:nvPr>
        </p:nvSpPr>
        <p:spPr/>
        <p:txBody>
          <a:bodyPr/>
          <a:lstStyle/>
          <a:p>
            <a:r>
              <a:rPr lang="en-HK" dirty="0"/>
              <a:t>3.1</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1224411919"/>
              </p:ext>
            </p:extLst>
          </p:nvPr>
        </p:nvGraphicFramePr>
        <p:xfrm>
          <a:off x="565263" y="2182709"/>
          <a:ext cx="11097493" cy="1381760"/>
        </p:xfrm>
        <a:graphic>
          <a:graphicData uri="http://schemas.openxmlformats.org/drawingml/2006/table">
            <a:tbl>
              <a:tblPr firstRow="1" bandRow="1">
                <a:tableStyleId>{5940675A-B579-460E-94D1-54222C63F5DA}</a:tableStyleId>
              </a:tblPr>
              <a:tblGrid>
                <a:gridCol w="1324172">
                  <a:extLst>
                    <a:ext uri="{9D8B030D-6E8A-4147-A177-3AD203B41FA5}">
                      <a16:colId xmlns:a16="http://schemas.microsoft.com/office/drawing/2014/main" val="20000"/>
                    </a:ext>
                  </a:extLst>
                </a:gridCol>
                <a:gridCol w="1468907">
                  <a:extLst>
                    <a:ext uri="{9D8B030D-6E8A-4147-A177-3AD203B41FA5}">
                      <a16:colId xmlns:a16="http://schemas.microsoft.com/office/drawing/2014/main" val="20001"/>
                    </a:ext>
                  </a:extLst>
                </a:gridCol>
                <a:gridCol w="1172094">
                  <a:extLst>
                    <a:ext uri="{9D8B030D-6E8A-4147-A177-3AD203B41FA5}">
                      <a16:colId xmlns:a16="http://schemas.microsoft.com/office/drawing/2014/main" val="20002"/>
                    </a:ext>
                  </a:extLst>
                </a:gridCol>
                <a:gridCol w="1238597">
                  <a:extLst>
                    <a:ext uri="{9D8B030D-6E8A-4147-A177-3AD203B41FA5}">
                      <a16:colId xmlns:a16="http://schemas.microsoft.com/office/drawing/2014/main" val="20003"/>
                    </a:ext>
                  </a:extLst>
                </a:gridCol>
                <a:gridCol w="1288472">
                  <a:extLst>
                    <a:ext uri="{9D8B030D-6E8A-4147-A177-3AD203B41FA5}">
                      <a16:colId xmlns:a16="http://schemas.microsoft.com/office/drawing/2014/main" val="20004"/>
                    </a:ext>
                  </a:extLst>
                </a:gridCol>
                <a:gridCol w="1072342">
                  <a:extLst>
                    <a:ext uri="{9D8B030D-6E8A-4147-A177-3AD203B41FA5}">
                      <a16:colId xmlns:a16="http://schemas.microsoft.com/office/drawing/2014/main" val="20005"/>
                    </a:ext>
                  </a:extLst>
                </a:gridCol>
                <a:gridCol w="1280160">
                  <a:extLst>
                    <a:ext uri="{9D8B030D-6E8A-4147-A177-3AD203B41FA5}">
                      <a16:colId xmlns:a16="http://schemas.microsoft.com/office/drawing/2014/main" val="20006"/>
                    </a:ext>
                  </a:extLst>
                </a:gridCol>
                <a:gridCol w="1188720">
                  <a:extLst>
                    <a:ext uri="{9D8B030D-6E8A-4147-A177-3AD203B41FA5}">
                      <a16:colId xmlns:a16="http://schemas.microsoft.com/office/drawing/2014/main" val="20007"/>
                    </a:ext>
                  </a:extLst>
                </a:gridCol>
                <a:gridCol w="1064029">
                  <a:extLst>
                    <a:ext uri="{9D8B030D-6E8A-4147-A177-3AD203B41FA5}">
                      <a16:colId xmlns:a16="http://schemas.microsoft.com/office/drawing/2014/main" val="20008"/>
                    </a:ext>
                  </a:extLst>
                </a:gridCol>
              </a:tblGrid>
              <a:tr h="370840">
                <a:tc>
                  <a:txBody>
                    <a:bodyPr/>
                    <a:lstStyle/>
                    <a:p>
                      <a:pPr algn="ctr"/>
                      <a:r>
                        <a:rPr lang="en-HK" b="1" dirty="0">
                          <a:solidFill>
                            <a:schemeClr val="bg1"/>
                          </a:solidFill>
                        </a:rPr>
                        <a:t>Digit</a:t>
                      </a:r>
                      <a:endParaRPr lang="en-US" b="1" dirty="0">
                        <a:solidFill>
                          <a:schemeClr val="bg1"/>
                        </a:solidFill>
                      </a:endParaRPr>
                    </a:p>
                  </a:txBody>
                  <a:tcPr anchor="ctr">
                    <a:lnL w="12700" cap="flat" cmpd="sng" algn="ctr">
                      <a:solidFill>
                        <a:srgbClr val="C6993D"/>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1</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0</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1</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1</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0</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1</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0</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1</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extLst>
                  <a:ext uri="{0D108BD9-81ED-4DB2-BD59-A6C34878D82A}">
                    <a16:rowId xmlns:a16="http://schemas.microsoft.com/office/drawing/2014/main" val="10000"/>
                  </a:ext>
                </a:extLst>
              </a:tr>
              <a:tr h="370840">
                <a:tc>
                  <a:txBody>
                    <a:bodyPr/>
                    <a:lstStyle/>
                    <a:p>
                      <a:pPr algn="ctr"/>
                      <a:r>
                        <a:rPr lang="en-HK" b="1" dirty="0">
                          <a:solidFill>
                            <a:schemeClr val="bg1"/>
                          </a:solidFill>
                        </a:rPr>
                        <a:t>Place value</a:t>
                      </a:r>
                      <a:endParaRPr lang="en-US" b="1" dirty="0">
                        <a:solidFill>
                          <a:schemeClr val="bg1"/>
                        </a:solidFill>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93D"/>
                    </a:solidFill>
                  </a:tcPr>
                </a:tc>
                <a:tc>
                  <a:txBody>
                    <a:bodyPr/>
                    <a:lstStyle/>
                    <a:p>
                      <a:pPr algn="ctr"/>
                      <a:r>
                        <a:rPr lang="en-HK" dirty="0">
                          <a:latin typeface="Courier New" panose="02070309020205020404" pitchFamily="49" charset="0"/>
                          <a:cs typeface="Courier New" panose="02070309020205020404" pitchFamily="49" charset="0"/>
                        </a:rPr>
                        <a:t>27 = 128</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26 = 64</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25 = 32</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24 = 16</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23 = 8</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22 = 4</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21 = 2</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20 = 1</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a:r>
                        <a:rPr lang="en-HK" b="1" dirty="0">
                          <a:solidFill>
                            <a:schemeClr val="bg1"/>
                          </a:solidFill>
                        </a:rPr>
                        <a:t>Value of the digit</a:t>
                      </a:r>
                      <a:endParaRPr lang="en-US" b="1" dirty="0">
                        <a:solidFill>
                          <a:schemeClr val="bg1"/>
                        </a:solidFill>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sz="1600" dirty="0">
                          <a:solidFill>
                            <a:srgbClr val="FF0000"/>
                          </a:solidFill>
                        </a:rPr>
                        <a:t>128 × 1 = 128</a:t>
                      </a:r>
                      <a:endParaRPr lang="en-US" sz="1600" dirty="0">
                        <a:solidFill>
                          <a:srgbClr val="FF0000"/>
                        </a:solidFill>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sz="1600" dirty="0">
                          <a:solidFill>
                            <a:srgbClr val="FF0000"/>
                          </a:solidFill>
                        </a:rPr>
                        <a:t>64 × 0 = 0</a:t>
                      </a:r>
                      <a:endParaRPr lang="en-US" sz="1600" dirty="0">
                        <a:solidFill>
                          <a:srgbClr val="FF0000"/>
                        </a:solidFill>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sz="1600" dirty="0">
                          <a:solidFill>
                            <a:srgbClr val="FF0000"/>
                          </a:solidFill>
                        </a:rPr>
                        <a:t>32 × 1 = 32</a:t>
                      </a:r>
                      <a:endParaRPr lang="en-US" sz="1600" dirty="0">
                        <a:solidFill>
                          <a:srgbClr val="FF0000"/>
                        </a:solidFill>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sz="1600" dirty="0">
                          <a:solidFill>
                            <a:srgbClr val="FF0000"/>
                          </a:solidFill>
                        </a:rPr>
                        <a:t>16 × 1 = 16</a:t>
                      </a:r>
                      <a:endParaRPr lang="en-US" sz="1600" dirty="0">
                        <a:solidFill>
                          <a:srgbClr val="FF0000"/>
                        </a:solidFill>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sz="1600" dirty="0">
                          <a:solidFill>
                            <a:srgbClr val="FF0000"/>
                          </a:solidFill>
                        </a:rPr>
                        <a:t>8 × 0 = 0</a:t>
                      </a:r>
                      <a:endParaRPr lang="en-US" sz="1600" dirty="0">
                        <a:solidFill>
                          <a:srgbClr val="FF0000"/>
                        </a:solidFill>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sz="1600" dirty="0">
                          <a:solidFill>
                            <a:srgbClr val="FF0000"/>
                          </a:solidFill>
                        </a:rPr>
                        <a:t>4 × 1 =</a:t>
                      </a:r>
                      <a:r>
                        <a:rPr lang="en-HK" sz="1600" baseline="0" dirty="0">
                          <a:solidFill>
                            <a:srgbClr val="FF0000"/>
                          </a:solidFill>
                        </a:rPr>
                        <a:t> 4</a:t>
                      </a:r>
                      <a:endParaRPr lang="en-US" sz="1600" dirty="0">
                        <a:solidFill>
                          <a:srgbClr val="FF0000"/>
                        </a:solidFill>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sz="1600" dirty="0">
                          <a:solidFill>
                            <a:srgbClr val="FF0000"/>
                          </a:solidFill>
                        </a:rPr>
                        <a:t>2 × 0 = 0</a:t>
                      </a:r>
                      <a:endParaRPr lang="en-US" sz="1600" dirty="0">
                        <a:solidFill>
                          <a:srgbClr val="FF0000"/>
                        </a:solidFill>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sz="1600" dirty="0">
                          <a:solidFill>
                            <a:srgbClr val="FF0000"/>
                          </a:solidFill>
                        </a:rPr>
                        <a:t>1 × 1 = 1</a:t>
                      </a:r>
                      <a:endParaRPr lang="en-US" sz="1600" dirty="0">
                        <a:solidFill>
                          <a:srgbClr val="FF0000"/>
                        </a:solidFill>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802200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For a decimal number, </a:t>
            </a:r>
            <a:r>
              <a:rPr lang="en-US" dirty="0">
                <a:latin typeface="Courier New" panose="02070309020205020404" pitchFamily="49" charset="0"/>
                <a:cs typeface="Courier New" panose="02070309020205020404" pitchFamily="49" charset="0"/>
              </a:rPr>
              <a:t>118</a:t>
            </a:r>
            <a:r>
              <a:rPr lang="en-US" baseline="-25000" dirty="0">
                <a:latin typeface="Courier New" panose="02070309020205020404" pitchFamily="49" charset="0"/>
                <a:cs typeface="Courier New" panose="02070309020205020404" pitchFamily="49" charset="0"/>
              </a:rPr>
              <a:t>10</a:t>
            </a:r>
            <a:r>
              <a:rPr lang="en-US" dirty="0"/>
              <a:t> , we can convert it to a binary number by repeatedly dividing it by 2 until the quotient is smaller than 2, then arranging the quotient and the sequence of remainders from the last one to the first one.</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Therefore, </a:t>
            </a:r>
            <a:r>
              <a:rPr lang="en-US" dirty="0">
                <a:latin typeface="Courier New" panose="02070309020205020404" pitchFamily="49" charset="0"/>
                <a:cs typeface="Courier New" panose="02070309020205020404" pitchFamily="49" charset="0"/>
              </a:rPr>
              <a:t>118</a:t>
            </a:r>
            <a:r>
              <a:rPr lang="en-US" baseline="-25000" dirty="0">
                <a:latin typeface="Courier New" panose="02070309020205020404" pitchFamily="49" charset="0"/>
                <a:cs typeface="Courier New" panose="02070309020205020404" pitchFamily="49" charset="0"/>
              </a:rPr>
              <a:t>10</a:t>
            </a:r>
            <a:r>
              <a:rPr lang="en-US" dirty="0"/>
              <a:t> = </a:t>
            </a:r>
            <a:r>
              <a:rPr lang="en-US" dirty="0">
                <a:latin typeface="Courier New" panose="02070309020205020404" pitchFamily="49" charset="0"/>
                <a:cs typeface="Courier New" panose="02070309020205020404" pitchFamily="49" charset="0"/>
              </a:rPr>
              <a:t>1110110</a:t>
            </a:r>
            <a:r>
              <a:rPr lang="en-US" baseline="-25000" dirty="0">
                <a:latin typeface="Courier New" panose="02070309020205020404" pitchFamily="49" charset="0"/>
                <a:cs typeface="Courier New" panose="02070309020205020404" pitchFamily="49" charset="0"/>
              </a:rPr>
              <a:t>2</a:t>
            </a:r>
            <a:r>
              <a:rPr lang="en-US" dirty="0"/>
              <a:t> .</a:t>
            </a:r>
          </a:p>
        </p:txBody>
      </p:sp>
      <p:sp>
        <p:nvSpPr>
          <p:cNvPr id="3" name="Slide Number Placeholder 2"/>
          <p:cNvSpPr>
            <a:spLocks noGrp="1"/>
          </p:cNvSpPr>
          <p:nvPr>
            <p:ph type="sldNum" sz="quarter" idx="12"/>
          </p:nvPr>
        </p:nvSpPr>
        <p:spPr/>
        <p:txBody>
          <a:bodyPr/>
          <a:lstStyle/>
          <a:p>
            <a:fld id="{6D22F896-40B5-4ADD-8801-0D06FADFA095}" type="slidenum">
              <a:rPr lang="en-US" smtClean="0"/>
              <a:t>10</a:t>
            </a:fld>
            <a:endParaRPr lang="en-US" dirty="0"/>
          </a:p>
        </p:txBody>
      </p:sp>
      <p:sp>
        <p:nvSpPr>
          <p:cNvPr id="4" name="Text Placeholder 3"/>
          <p:cNvSpPr>
            <a:spLocks noGrp="1"/>
          </p:cNvSpPr>
          <p:nvPr>
            <p:ph type="body" sz="quarter" idx="13"/>
          </p:nvPr>
        </p:nvSpPr>
        <p:spPr/>
        <p:txBody>
          <a:bodyPr/>
          <a:lstStyle/>
          <a:p>
            <a:r>
              <a:rPr lang="en-HK" dirty="0"/>
              <a:t>3.1</a:t>
            </a:r>
            <a:endParaRPr lang="en-US" dirty="0"/>
          </a:p>
        </p:txBody>
      </p:sp>
      <p:pic>
        <p:nvPicPr>
          <p:cNvPr id="5" name="Picture 4"/>
          <p:cNvPicPr>
            <a:picLocks noChangeAspect="1"/>
          </p:cNvPicPr>
          <p:nvPr/>
        </p:nvPicPr>
        <p:blipFill>
          <a:blip r:embed="rId2"/>
          <a:stretch>
            <a:fillRect/>
          </a:stretch>
        </p:blipFill>
        <p:spPr>
          <a:xfrm>
            <a:off x="4727841" y="2709948"/>
            <a:ext cx="1899979" cy="2744035"/>
          </a:xfrm>
          <a:prstGeom prst="rect">
            <a:avLst/>
          </a:prstGeom>
        </p:spPr>
      </p:pic>
    </p:spTree>
    <p:extLst>
      <p:ext uri="{BB962C8B-B14F-4D97-AF65-F5344CB8AC3E}">
        <p14:creationId xmlns:p14="http://schemas.microsoft.com/office/powerpoint/2010/main" val="4393595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Font typeface="+mj-lt"/>
              <a:buAutoNum type="arabicPeriod" startAt="2"/>
            </a:pPr>
            <a:r>
              <a:rPr lang="en-US" dirty="0"/>
              <a:t>Convert </a:t>
            </a:r>
            <a:r>
              <a:rPr lang="en-US" dirty="0">
                <a:latin typeface="Courier New" panose="02070309020205020404" pitchFamily="49" charset="0"/>
                <a:cs typeface="Courier New" panose="02070309020205020404" pitchFamily="49" charset="0"/>
              </a:rPr>
              <a:t>149</a:t>
            </a:r>
            <a:r>
              <a:rPr lang="en-US" baseline="-25000" dirty="0">
                <a:latin typeface="Courier New" panose="02070309020205020404" pitchFamily="49" charset="0"/>
                <a:cs typeface="Courier New" panose="02070309020205020404" pitchFamily="49" charset="0"/>
              </a:rPr>
              <a:t>10</a:t>
            </a:r>
            <a:r>
              <a:rPr lang="en-US" dirty="0"/>
              <a:t> into a binary number.</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Therefore, </a:t>
            </a:r>
            <a:r>
              <a:rPr lang="en-US" dirty="0">
                <a:latin typeface="Courier New" panose="02070309020205020404" pitchFamily="49" charset="0"/>
                <a:cs typeface="Courier New" panose="02070309020205020404" pitchFamily="49" charset="0"/>
              </a:rPr>
              <a:t>149</a:t>
            </a:r>
            <a:r>
              <a:rPr lang="en-US" baseline="-25000" dirty="0">
                <a:latin typeface="Courier New" panose="02070309020205020404" pitchFamily="49" charset="0"/>
                <a:cs typeface="Courier New" panose="02070309020205020404" pitchFamily="49" charset="0"/>
              </a:rPr>
              <a:t>10</a:t>
            </a:r>
            <a:r>
              <a:rPr lang="en-US" dirty="0"/>
              <a:t> =</a:t>
            </a:r>
            <a:endParaRPr lang="en-US" baseline="-25000" dirty="0"/>
          </a:p>
          <a:p>
            <a:pPr marL="457200" indent="-457200">
              <a:buAutoNum type="arabicPeriod" startAt="2"/>
            </a:pP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11</a:t>
            </a:fld>
            <a:endParaRPr lang="en-US" dirty="0"/>
          </a:p>
        </p:txBody>
      </p:sp>
      <p:sp>
        <p:nvSpPr>
          <p:cNvPr id="4" name="Text Placeholder 3"/>
          <p:cNvSpPr>
            <a:spLocks noGrp="1"/>
          </p:cNvSpPr>
          <p:nvPr>
            <p:ph type="body" sz="quarter" idx="13"/>
          </p:nvPr>
        </p:nvSpPr>
        <p:spPr/>
        <p:txBody>
          <a:bodyPr/>
          <a:lstStyle/>
          <a:p>
            <a:r>
              <a:rPr lang="en-HK" dirty="0"/>
              <a:t>3.1</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255708514"/>
              </p:ext>
            </p:extLst>
          </p:nvPr>
        </p:nvGraphicFramePr>
        <p:xfrm>
          <a:off x="1055716" y="2033074"/>
          <a:ext cx="10158153" cy="3777522"/>
        </p:xfrm>
        <a:graphic>
          <a:graphicData uri="http://schemas.openxmlformats.org/drawingml/2006/table">
            <a:tbl>
              <a:tblPr firstRow="1" bandRow="1">
                <a:tableStyleId>{5940675A-B579-460E-94D1-54222C63F5DA}</a:tableStyleId>
              </a:tblPr>
              <a:tblGrid>
                <a:gridCol w="10158153">
                  <a:extLst>
                    <a:ext uri="{9D8B030D-6E8A-4147-A177-3AD203B41FA5}">
                      <a16:colId xmlns:a16="http://schemas.microsoft.com/office/drawing/2014/main" val="20000"/>
                    </a:ext>
                  </a:extLst>
                </a:gridCol>
              </a:tblGrid>
              <a:tr h="3777522">
                <a:tc>
                  <a:txBody>
                    <a:bodyPr/>
                    <a:lstStyle/>
                    <a:p>
                      <a:endParaRPr lang="en-US" dirty="0"/>
                    </a:p>
                  </a:txBody>
                  <a:tcP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890961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Font typeface="+mj-lt"/>
              <a:buAutoNum type="arabicPeriod" startAt="2"/>
            </a:pPr>
            <a:r>
              <a:rPr lang="en-US" dirty="0"/>
              <a:t>Convert </a:t>
            </a:r>
            <a:r>
              <a:rPr lang="en-US" dirty="0">
                <a:latin typeface="Courier New" panose="02070309020205020404" pitchFamily="49" charset="0"/>
                <a:cs typeface="Courier New" panose="02070309020205020404" pitchFamily="49" charset="0"/>
              </a:rPr>
              <a:t>149</a:t>
            </a:r>
            <a:r>
              <a:rPr lang="en-US" baseline="-25000" dirty="0">
                <a:latin typeface="Courier New" panose="02070309020205020404" pitchFamily="49" charset="0"/>
                <a:cs typeface="Courier New" panose="02070309020205020404" pitchFamily="49" charset="0"/>
              </a:rPr>
              <a:t>10</a:t>
            </a:r>
            <a:r>
              <a:rPr lang="en-US" dirty="0"/>
              <a:t> into a binary number.</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Therefore, </a:t>
            </a:r>
            <a:r>
              <a:rPr lang="en-US" dirty="0">
                <a:latin typeface="Courier New" panose="02070309020205020404" pitchFamily="49" charset="0"/>
                <a:cs typeface="Courier New" panose="02070309020205020404" pitchFamily="49" charset="0"/>
              </a:rPr>
              <a:t>149</a:t>
            </a:r>
            <a:r>
              <a:rPr lang="en-US" baseline="-25000" dirty="0">
                <a:latin typeface="Courier New" panose="02070309020205020404" pitchFamily="49" charset="0"/>
                <a:cs typeface="Courier New" panose="02070309020205020404" pitchFamily="49" charset="0"/>
              </a:rPr>
              <a:t>10</a:t>
            </a:r>
            <a:r>
              <a:rPr lang="en-US" dirty="0"/>
              <a:t> = </a:t>
            </a:r>
            <a:r>
              <a:rPr lang="en-US" dirty="0">
                <a:solidFill>
                  <a:srgbClr val="FF0000"/>
                </a:solidFill>
                <a:latin typeface="Courier New" panose="02070309020205020404" pitchFamily="49" charset="0"/>
                <a:cs typeface="Courier New" panose="02070309020205020404" pitchFamily="49" charset="0"/>
              </a:rPr>
              <a:t>10010101</a:t>
            </a:r>
            <a:r>
              <a:rPr lang="en-US" baseline="-25000" dirty="0">
                <a:solidFill>
                  <a:srgbClr val="FF0000"/>
                </a:solidFill>
                <a:latin typeface="Courier New" panose="02070309020205020404" pitchFamily="49" charset="0"/>
                <a:cs typeface="Courier New" panose="02070309020205020404" pitchFamily="49" charset="0"/>
              </a:rPr>
              <a:t>2</a:t>
            </a:r>
          </a:p>
          <a:p>
            <a:pPr marL="457200" indent="-457200">
              <a:buAutoNum type="arabicPeriod" startAt="2"/>
            </a:pP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12</a:t>
            </a:fld>
            <a:endParaRPr lang="en-US" dirty="0"/>
          </a:p>
        </p:txBody>
      </p:sp>
      <p:sp>
        <p:nvSpPr>
          <p:cNvPr id="4" name="Text Placeholder 3"/>
          <p:cNvSpPr>
            <a:spLocks noGrp="1"/>
          </p:cNvSpPr>
          <p:nvPr>
            <p:ph type="body" sz="quarter" idx="13"/>
          </p:nvPr>
        </p:nvSpPr>
        <p:spPr/>
        <p:txBody>
          <a:bodyPr/>
          <a:lstStyle/>
          <a:p>
            <a:r>
              <a:rPr lang="en-HK" dirty="0"/>
              <a:t>3.1</a:t>
            </a:r>
            <a:endParaRPr lang="en-US" dirty="0"/>
          </a:p>
        </p:txBody>
      </p:sp>
      <p:graphicFrame>
        <p:nvGraphicFramePr>
          <p:cNvPr id="5" name="Table 4"/>
          <p:cNvGraphicFramePr>
            <a:graphicFrameLocks noGrp="1"/>
          </p:cNvGraphicFramePr>
          <p:nvPr/>
        </p:nvGraphicFramePr>
        <p:xfrm>
          <a:off x="1055716" y="2033074"/>
          <a:ext cx="10158153" cy="3777522"/>
        </p:xfrm>
        <a:graphic>
          <a:graphicData uri="http://schemas.openxmlformats.org/drawingml/2006/table">
            <a:tbl>
              <a:tblPr firstRow="1" bandRow="1">
                <a:tableStyleId>{5940675A-B579-460E-94D1-54222C63F5DA}</a:tableStyleId>
              </a:tblPr>
              <a:tblGrid>
                <a:gridCol w="10158153">
                  <a:extLst>
                    <a:ext uri="{9D8B030D-6E8A-4147-A177-3AD203B41FA5}">
                      <a16:colId xmlns:a16="http://schemas.microsoft.com/office/drawing/2014/main" val="20000"/>
                    </a:ext>
                  </a:extLst>
                </a:gridCol>
              </a:tblGrid>
              <a:tr h="3777522">
                <a:tc>
                  <a:txBody>
                    <a:bodyPr/>
                    <a:lstStyle/>
                    <a:p>
                      <a:endParaRPr lang="en-US" dirty="0"/>
                    </a:p>
                  </a:txBody>
                  <a:tcP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pic>
        <p:nvPicPr>
          <p:cNvPr id="6" name="Picture 5"/>
          <p:cNvPicPr>
            <a:picLocks noChangeAspect="1"/>
          </p:cNvPicPr>
          <p:nvPr/>
        </p:nvPicPr>
        <p:blipFill>
          <a:blip r:embed="rId2"/>
          <a:stretch>
            <a:fillRect/>
          </a:stretch>
        </p:blipFill>
        <p:spPr>
          <a:xfrm>
            <a:off x="4955688" y="2073925"/>
            <a:ext cx="2226508" cy="3674315"/>
          </a:xfrm>
          <a:prstGeom prst="rect">
            <a:avLst/>
          </a:prstGeom>
        </p:spPr>
      </p:pic>
    </p:spTree>
    <p:extLst>
      <p:ext uri="{BB962C8B-B14F-4D97-AF65-F5344CB8AC3E}">
        <p14:creationId xmlns:p14="http://schemas.microsoft.com/office/powerpoint/2010/main" val="31474292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HK" b="1" dirty="0">
                <a:solidFill>
                  <a:srgbClr val="C6993D"/>
                </a:solidFill>
              </a:rPr>
              <a:t>Calculation of binary numbers</a:t>
            </a:r>
          </a:p>
          <a:p>
            <a:r>
              <a:rPr lang="en-US" dirty="0"/>
              <a:t>Arithmetic operations on binary numbers are more or less the same as that of decimal numbers. Some calculators, including the built-in calculators in mobile phones, can calculate binary numbers. </a:t>
            </a:r>
          </a:p>
          <a:p>
            <a:r>
              <a:rPr lang="en-US" dirty="0"/>
              <a:t>Here is an example of calculating </a:t>
            </a:r>
            <a:r>
              <a:rPr lang="en-US" dirty="0">
                <a:latin typeface="Courier New" panose="02070309020205020404" pitchFamily="49" charset="0"/>
                <a:cs typeface="Courier New" panose="02070309020205020404" pitchFamily="49" charset="0"/>
              </a:rPr>
              <a:t>101101</a:t>
            </a:r>
            <a:r>
              <a:rPr lang="en-US" baseline="-25000" dirty="0">
                <a:latin typeface="Courier New" panose="02070309020205020404" pitchFamily="49" charset="0"/>
                <a:cs typeface="Courier New" panose="02070309020205020404" pitchFamily="49" charset="0"/>
              </a:rPr>
              <a:t>2</a:t>
            </a:r>
            <a:r>
              <a:rPr lang="en-US" dirty="0"/>
              <a:t> + </a:t>
            </a:r>
            <a:r>
              <a:rPr lang="en-US" dirty="0">
                <a:latin typeface="Courier New" panose="02070309020205020404" pitchFamily="49" charset="0"/>
                <a:cs typeface="Courier New" panose="02070309020205020404" pitchFamily="49" charset="0"/>
              </a:rPr>
              <a:t>111110</a:t>
            </a:r>
            <a:r>
              <a:rPr lang="en-US" baseline="-25000" dirty="0">
                <a:latin typeface="Courier New" panose="02070309020205020404" pitchFamily="49" charset="0"/>
                <a:cs typeface="Courier New" panose="02070309020205020404" pitchFamily="49" charset="0"/>
              </a:rPr>
              <a:t>2</a:t>
            </a:r>
            <a:r>
              <a:rPr lang="en-US" dirty="0"/>
              <a:t> .</a:t>
            </a:r>
          </a:p>
        </p:txBody>
      </p:sp>
      <p:sp>
        <p:nvSpPr>
          <p:cNvPr id="3" name="Slide Number Placeholder 2"/>
          <p:cNvSpPr>
            <a:spLocks noGrp="1"/>
          </p:cNvSpPr>
          <p:nvPr>
            <p:ph type="sldNum" sz="quarter" idx="12"/>
          </p:nvPr>
        </p:nvSpPr>
        <p:spPr/>
        <p:txBody>
          <a:bodyPr/>
          <a:lstStyle/>
          <a:p>
            <a:fld id="{6D22F896-40B5-4ADD-8801-0D06FADFA095}" type="slidenum">
              <a:rPr lang="en-US" smtClean="0"/>
              <a:t>13</a:t>
            </a:fld>
            <a:endParaRPr lang="en-US" dirty="0"/>
          </a:p>
        </p:txBody>
      </p:sp>
      <p:sp>
        <p:nvSpPr>
          <p:cNvPr id="4" name="Text Placeholder 3"/>
          <p:cNvSpPr>
            <a:spLocks noGrp="1"/>
          </p:cNvSpPr>
          <p:nvPr>
            <p:ph type="body" sz="quarter" idx="13"/>
          </p:nvPr>
        </p:nvSpPr>
        <p:spPr/>
        <p:txBody>
          <a:bodyPr/>
          <a:lstStyle/>
          <a:p>
            <a:r>
              <a:rPr lang="en-HK" dirty="0"/>
              <a:t>3.1</a:t>
            </a:r>
            <a:endParaRPr lang="en-US" dirty="0"/>
          </a:p>
        </p:txBody>
      </p:sp>
      <p:pic>
        <p:nvPicPr>
          <p:cNvPr id="5" name="Picture 4"/>
          <p:cNvPicPr>
            <a:picLocks noChangeAspect="1"/>
          </p:cNvPicPr>
          <p:nvPr/>
        </p:nvPicPr>
        <p:blipFill>
          <a:blip r:embed="rId2"/>
          <a:stretch>
            <a:fillRect/>
          </a:stretch>
        </p:blipFill>
        <p:spPr>
          <a:xfrm>
            <a:off x="2353312" y="3771211"/>
            <a:ext cx="7297168" cy="2419688"/>
          </a:xfrm>
          <a:prstGeom prst="rect">
            <a:avLst/>
          </a:prstGeom>
        </p:spPr>
      </p:pic>
    </p:spTree>
    <p:extLst>
      <p:ext uri="{BB962C8B-B14F-4D97-AF65-F5344CB8AC3E}">
        <p14:creationId xmlns:p14="http://schemas.microsoft.com/office/powerpoint/2010/main" val="6568242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Font typeface="+mj-lt"/>
              <a:buAutoNum type="arabicPeriod" startAt="3"/>
            </a:pPr>
            <a:r>
              <a:rPr lang="en-US" dirty="0"/>
              <a:t>Calculate </a:t>
            </a:r>
            <a:r>
              <a:rPr lang="en-US" dirty="0">
                <a:latin typeface="Courier New" panose="02070309020205020404" pitchFamily="49" charset="0"/>
                <a:cs typeface="Courier New" panose="02070309020205020404" pitchFamily="49" charset="0"/>
              </a:rPr>
              <a:t>111011</a:t>
            </a:r>
            <a:r>
              <a:rPr lang="en-US" baseline="-25000" dirty="0">
                <a:latin typeface="Courier New" panose="02070309020205020404" pitchFamily="49" charset="0"/>
                <a:cs typeface="Courier New" panose="02070309020205020404" pitchFamily="49" charset="0"/>
              </a:rPr>
              <a:t>2</a:t>
            </a:r>
            <a:r>
              <a:rPr lang="en-US" dirty="0"/>
              <a:t> + </a:t>
            </a:r>
            <a:r>
              <a:rPr lang="en-US" dirty="0">
                <a:latin typeface="Courier New" panose="02070309020205020404" pitchFamily="49" charset="0"/>
                <a:cs typeface="Courier New" panose="02070309020205020404" pitchFamily="49" charset="0"/>
              </a:rPr>
              <a:t>1100101</a:t>
            </a:r>
            <a:r>
              <a:rPr lang="en-US" baseline="-25000" dirty="0">
                <a:latin typeface="Courier New" panose="02070309020205020404" pitchFamily="49" charset="0"/>
                <a:cs typeface="Courier New" panose="02070309020205020404" pitchFamily="49" charset="0"/>
              </a:rPr>
              <a:t>2</a:t>
            </a:r>
            <a:r>
              <a:rPr lang="en-US" dirty="0"/>
              <a:t> .</a:t>
            </a:r>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14</a:t>
            </a:fld>
            <a:endParaRPr lang="en-US" dirty="0"/>
          </a:p>
        </p:txBody>
      </p:sp>
      <p:sp>
        <p:nvSpPr>
          <p:cNvPr id="4" name="Text Placeholder 3"/>
          <p:cNvSpPr>
            <a:spLocks noGrp="1"/>
          </p:cNvSpPr>
          <p:nvPr>
            <p:ph type="body" sz="quarter" idx="13"/>
          </p:nvPr>
        </p:nvSpPr>
        <p:spPr/>
        <p:txBody>
          <a:bodyPr/>
          <a:lstStyle/>
          <a:p>
            <a:r>
              <a:rPr lang="en-US" dirty="0"/>
              <a:t>3.1</a:t>
            </a:r>
          </a:p>
        </p:txBody>
      </p:sp>
      <p:graphicFrame>
        <p:nvGraphicFramePr>
          <p:cNvPr id="5" name="Table 4"/>
          <p:cNvGraphicFramePr>
            <a:graphicFrameLocks noGrp="1"/>
          </p:cNvGraphicFramePr>
          <p:nvPr>
            <p:extLst>
              <p:ext uri="{D42A27DB-BD31-4B8C-83A1-F6EECF244321}">
                <p14:modId xmlns:p14="http://schemas.microsoft.com/office/powerpoint/2010/main" val="1446332125"/>
              </p:ext>
            </p:extLst>
          </p:nvPr>
        </p:nvGraphicFramePr>
        <p:xfrm>
          <a:off x="838200" y="2138890"/>
          <a:ext cx="10515600" cy="2109259"/>
        </p:xfrm>
        <a:graphic>
          <a:graphicData uri="http://schemas.openxmlformats.org/drawingml/2006/table">
            <a:tbl>
              <a:tblPr firstRow="1" bandRow="1">
                <a:tableStyleId>{5C22544A-7EE6-4342-B048-85BDC9FD1C3A}</a:tableStyleId>
              </a:tblPr>
              <a:tblGrid>
                <a:gridCol w="10515600">
                  <a:extLst>
                    <a:ext uri="{9D8B030D-6E8A-4147-A177-3AD203B41FA5}">
                      <a16:colId xmlns:a16="http://schemas.microsoft.com/office/drawing/2014/main" val="20000"/>
                    </a:ext>
                  </a:extLst>
                </a:gridCol>
              </a:tblGrid>
              <a:tr h="2109259">
                <a:tc>
                  <a:txBody>
                    <a:bodyPr/>
                    <a:lstStyle/>
                    <a:p>
                      <a:endParaRPr lang="en-US" dirty="0"/>
                    </a:p>
                  </a:txBody>
                  <a:tcP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4447423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Font typeface="+mj-lt"/>
              <a:buAutoNum type="arabicPeriod" startAt="3"/>
            </a:pPr>
            <a:r>
              <a:rPr lang="en-US" dirty="0"/>
              <a:t>Calculate </a:t>
            </a:r>
            <a:r>
              <a:rPr lang="en-US" dirty="0">
                <a:latin typeface="Courier New" panose="02070309020205020404" pitchFamily="49" charset="0"/>
                <a:cs typeface="Courier New" panose="02070309020205020404" pitchFamily="49" charset="0"/>
              </a:rPr>
              <a:t>111011</a:t>
            </a:r>
            <a:r>
              <a:rPr lang="en-US" baseline="-25000" dirty="0">
                <a:latin typeface="Courier New" panose="02070309020205020404" pitchFamily="49" charset="0"/>
                <a:cs typeface="Courier New" panose="02070309020205020404" pitchFamily="49" charset="0"/>
              </a:rPr>
              <a:t>2</a:t>
            </a:r>
            <a:r>
              <a:rPr lang="en-US" dirty="0"/>
              <a:t> + </a:t>
            </a:r>
            <a:r>
              <a:rPr lang="en-US" dirty="0">
                <a:latin typeface="Courier New" panose="02070309020205020404" pitchFamily="49" charset="0"/>
                <a:cs typeface="Courier New" panose="02070309020205020404" pitchFamily="49" charset="0"/>
              </a:rPr>
              <a:t>1100101</a:t>
            </a:r>
            <a:r>
              <a:rPr lang="en-US" baseline="-25000" dirty="0">
                <a:latin typeface="Courier New" panose="02070309020205020404" pitchFamily="49" charset="0"/>
                <a:cs typeface="Courier New" panose="02070309020205020404" pitchFamily="49" charset="0"/>
              </a:rPr>
              <a:t>2</a:t>
            </a:r>
            <a:r>
              <a:rPr lang="en-US" dirty="0"/>
              <a:t> .</a:t>
            </a:r>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15</a:t>
            </a:fld>
            <a:endParaRPr lang="en-US" dirty="0"/>
          </a:p>
        </p:txBody>
      </p:sp>
      <p:sp>
        <p:nvSpPr>
          <p:cNvPr id="4" name="Text Placeholder 3"/>
          <p:cNvSpPr>
            <a:spLocks noGrp="1"/>
          </p:cNvSpPr>
          <p:nvPr>
            <p:ph type="body" sz="quarter" idx="13"/>
          </p:nvPr>
        </p:nvSpPr>
        <p:spPr/>
        <p:txBody>
          <a:bodyPr/>
          <a:lstStyle/>
          <a:p>
            <a:r>
              <a:rPr lang="en-US" dirty="0"/>
              <a:t>3.1</a:t>
            </a:r>
          </a:p>
        </p:txBody>
      </p:sp>
      <p:graphicFrame>
        <p:nvGraphicFramePr>
          <p:cNvPr id="5" name="Table 4"/>
          <p:cNvGraphicFramePr>
            <a:graphicFrameLocks noGrp="1"/>
          </p:cNvGraphicFramePr>
          <p:nvPr>
            <p:extLst>
              <p:ext uri="{D42A27DB-BD31-4B8C-83A1-F6EECF244321}">
                <p14:modId xmlns:p14="http://schemas.microsoft.com/office/powerpoint/2010/main" val="2015567542"/>
              </p:ext>
            </p:extLst>
          </p:nvPr>
        </p:nvGraphicFramePr>
        <p:xfrm>
          <a:off x="838200" y="2138890"/>
          <a:ext cx="10515600" cy="2509310"/>
        </p:xfrm>
        <a:graphic>
          <a:graphicData uri="http://schemas.openxmlformats.org/drawingml/2006/table">
            <a:tbl>
              <a:tblPr firstRow="1" bandRow="1">
                <a:tableStyleId>{5C22544A-7EE6-4342-B048-85BDC9FD1C3A}</a:tableStyleId>
              </a:tblPr>
              <a:tblGrid>
                <a:gridCol w="10515600">
                  <a:extLst>
                    <a:ext uri="{9D8B030D-6E8A-4147-A177-3AD203B41FA5}">
                      <a16:colId xmlns:a16="http://schemas.microsoft.com/office/drawing/2014/main" val="20000"/>
                    </a:ext>
                  </a:extLst>
                </a:gridCol>
              </a:tblGrid>
              <a:tr h="2509310">
                <a:tc>
                  <a:txBody>
                    <a:bodyPr/>
                    <a:lstStyle/>
                    <a:p>
                      <a:endParaRPr lang="en-US" dirty="0"/>
                    </a:p>
                  </a:txBody>
                  <a:tcP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pic>
        <p:nvPicPr>
          <p:cNvPr id="6" name="Picture 5"/>
          <p:cNvPicPr>
            <a:picLocks noChangeAspect="1"/>
          </p:cNvPicPr>
          <p:nvPr/>
        </p:nvPicPr>
        <p:blipFill>
          <a:blip r:embed="rId2"/>
          <a:stretch>
            <a:fillRect/>
          </a:stretch>
        </p:blipFill>
        <p:spPr>
          <a:xfrm>
            <a:off x="2534287" y="2476325"/>
            <a:ext cx="6482347" cy="1946916"/>
          </a:xfrm>
          <a:prstGeom prst="rect">
            <a:avLst/>
          </a:prstGeom>
        </p:spPr>
      </p:pic>
    </p:spTree>
    <p:extLst>
      <p:ext uri="{BB962C8B-B14F-4D97-AF65-F5344CB8AC3E}">
        <p14:creationId xmlns:p14="http://schemas.microsoft.com/office/powerpoint/2010/main" val="22534430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Here is an example of calculating </a:t>
            </a:r>
            <a:r>
              <a:rPr lang="en-US" dirty="0">
                <a:latin typeface="Courier New" panose="02070309020205020404" pitchFamily="49" charset="0"/>
                <a:cs typeface="Courier New" panose="02070309020205020404" pitchFamily="49" charset="0"/>
              </a:rPr>
              <a:t>111110</a:t>
            </a:r>
            <a:r>
              <a:rPr lang="en-US" baseline="-25000" dirty="0">
                <a:latin typeface="Courier New" panose="02070309020205020404" pitchFamily="49" charset="0"/>
                <a:cs typeface="Courier New" panose="02070309020205020404" pitchFamily="49" charset="0"/>
              </a:rPr>
              <a:t>2</a:t>
            </a:r>
            <a:r>
              <a:rPr lang="en-US" dirty="0"/>
              <a:t> − </a:t>
            </a:r>
            <a:r>
              <a:rPr lang="en-US" dirty="0">
                <a:latin typeface="Courier New" panose="02070309020205020404" pitchFamily="49" charset="0"/>
                <a:cs typeface="Courier New" panose="02070309020205020404" pitchFamily="49" charset="0"/>
              </a:rPr>
              <a:t>101101</a:t>
            </a:r>
            <a:r>
              <a:rPr lang="en-US" baseline="-25000" dirty="0">
                <a:latin typeface="Courier New" panose="02070309020205020404" pitchFamily="49" charset="0"/>
                <a:cs typeface="Courier New" panose="02070309020205020404" pitchFamily="49" charset="0"/>
              </a:rPr>
              <a:t>2</a:t>
            </a:r>
            <a:r>
              <a:rPr lang="en-US" dirty="0"/>
              <a:t> .</a:t>
            </a:r>
          </a:p>
        </p:txBody>
      </p:sp>
      <p:sp>
        <p:nvSpPr>
          <p:cNvPr id="3" name="Slide Number Placeholder 2"/>
          <p:cNvSpPr>
            <a:spLocks noGrp="1"/>
          </p:cNvSpPr>
          <p:nvPr>
            <p:ph type="sldNum" sz="quarter" idx="12"/>
          </p:nvPr>
        </p:nvSpPr>
        <p:spPr/>
        <p:txBody>
          <a:bodyPr/>
          <a:lstStyle/>
          <a:p>
            <a:fld id="{6D22F896-40B5-4ADD-8801-0D06FADFA095}" type="slidenum">
              <a:rPr lang="en-US" smtClean="0"/>
              <a:t>16</a:t>
            </a:fld>
            <a:endParaRPr lang="en-US" dirty="0"/>
          </a:p>
        </p:txBody>
      </p:sp>
      <p:sp>
        <p:nvSpPr>
          <p:cNvPr id="4" name="Text Placeholder 3"/>
          <p:cNvSpPr>
            <a:spLocks noGrp="1"/>
          </p:cNvSpPr>
          <p:nvPr>
            <p:ph type="body" sz="quarter" idx="13"/>
          </p:nvPr>
        </p:nvSpPr>
        <p:spPr/>
        <p:txBody>
          <a:bodyPr/>
          <a:lstStyle/>
          <a:p>
            <a:r>
              <a:rPr lang="en-HK" dirty="0"/>
              <a:t>3.1</a:t>
            </a:r>
            <a:endParaRPr lang="en-US" dirty="0"/>
          </a:p>
        </p:txBody>
      </p:sp>
      <p:pic>
        <p:nvPicPr>
          <p:cNvPr id="5" name="Picture 4"/>
          <p:cNvPicPr>
            <a:picLocks noChangeAspect="1"/>
          </p:cNvPicPr>
          <p:nvPr/>
        </p:nvPicPr>
        <p:blipFill>
          <a:blip r:embed="rId2"/>
          <a:stretch>
            <a:fillRect/>
          </a:stretch>
        </p:blipFill>
        <p:spPr>
          <a:xfrm>
            <a:off x="3266680" y="2071498"/>
            <a:ext cx="5658640" cy="2715004"/>
          </a:xfrm>
          <a:prstGeom prst="rect">
            <a:avLst/>
          </a:prstGeom>
        </p:spPr>
      </p:pic>
    </p:spTree>
    <p:extLst>
      <p:ext uri="{BB962C8B-B14F-4D97-AF65-F5344CB8AC3E}">
        <p14:creationId xmlns:p14="http://schemas.microsoft.com/office/powerpoint/2010/main" val="7547979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Font typeface="+mj-lt"/>
              <a:buAutoNum type="arabicPeriod" startAt="4"/>
            </a:pPr>
            <a:r>
              <a:rPr lang="en-US" dirty="0"/>
              <a:t>Calculate </a:t>
            </a:r>
            <a:r>
              <a:rPr lang="en-US" dirty="0">
                <a:latin typeface="Courier New" panose="02070309020205020404" pitchFamily="49" charset="0"/>
                <a:cs typeface="Courier New" panose="02070309020205020404" pitchFamily="49" charset="0"/>
              </a:rPr>
              <a:t>1100101</a:t>
            </a:r>
            <a:r>
              <a:rPr lang="en-US" baseline="-25000" dirty="0">
                <a:latin typeface="Courier New" panose="02070309020205020404" pitchFamily="49" charset="0"/>
                <a:cs typeface="Courier New" panose="02070309020205020404" pitchFamily="49" charset="0"/>
              </a:rPr>
              <a:t>2</a:t>
            </a:r>
            <a:r>
              <a:rPr lang="en-US" dirty="0">
                <a:latin typeface="Courier New" panose="02070309020205020404" pitchFamily="49" charset="0"/>
                <a:cs typeface="Courier New" panose="02070309020205020404" pitchFamily="49" charset="0"/>
              </a:rPr>
              <a:t> − 111011</a:t>
            </a:r>
            <a:r>
              <a:rPr lang="en-US" baseline="-25000" dirty="0">
                <a:latin typeface="Courier New" panose="02070309020205020404" pitchFamily="49" charset="0"/>
                <a:cs typeface="Courier New" panose="02070309020205020404" pitchFamily="49" charset="0"/>
              </a:rPr>
              <a:t>2</a:t>
            </a:r>
            <a:r>
              <a:rPr lang="en-US" dirty="0">
                <a:latin typeface="Courier New" panose="02070309020205020404" pitchFamily="49" charset="0"/>
                <a:cs typeface="Courier New" panose="02070309020205020404" pitchFamily="49" charset="0"/>
              </a:rPr>
              <a:t> </a:t>
            </a:r>
            <a:r>
              <a:rPr lang="en-US" dirty="0"/>
              <a:t>.</a:t>
            </a:r>
          </a:p>
          <a:p>
            <a:pPr marL="457200" indent="-457200">
              <a:buAutoNum type="arabicPeriod" startAt="4"/>
            </a:pP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17</a:t>
            </a:fld>
            <a:endParaRPr lang="en-US" dirty="0"/>
          </a:p>
        </p:txBody>
      </p:sp>
      <p:sp>
        <p:nvSpPr>
          <p:cNvPr id="4" name="Text Placeholder 3"/>
          <p:cNvSpPr>
            <a:spLocks noGrp="1"/>
          </p:cNvSpPr>
          <p:nvPr>
            <p:ph type="body" sz="quarter" idx="13"/>
          </p:nvPr>
        </p:nvSpPr>
        <p:spPr/>
        <p:txBody>
          <a:bodyPr/>
          <a:lstStyle/>
          <a:p>
            <a:r>
              <a:rPr lang="en-HK" dirty="0"/>
              <a:t>3.1</a:t>
            </a:r>
            <a:endParaRPr lang="en-US" dirty="0"/>
          </a:p>
        </p:txBody>
      </p:sp>
      <p:graphicFrame>
        <p:nvGraphicFramePr>
          <p:cNvPr id="5" name="Table 4"/>
          <p:cNvGraphicFramePr>
            <a:graphicFrameLocks noGrp="1"/>
          </p:cNvGraphicFramePr>
          <p:nvPr/>
        </p:nvGraphicFramePr>
        <p:xfrm>
          <a:off x="771525" y="2157940"/>
          <a:ext cx="10648950" cy="2737909"/>
        </p:xfrm>
        <a:graphic>
          <a:graphicData uri="http://schemas.openxmlformats.org/drawingml/2006/table">
            <a:tbl>
              <a:tblPr firstRow="1" bandRow="1">
                <a:tableStyleId>{5C22544A-7EE6-4342-B048-85BDC9FD1C3A}</a:tableStyleId>
              </a:tblPr>
              <a:tblGrid>
                <a:gridCol w="10648950">
                  <a:extLst>
                    <a:ext uri="{9D8B030D-6E8A-4147-A177-3AD203B41FA5}">
                      <a16:colId xmlns:a16="http://schemas.microsoft.com/office/drawing/2014/main" val="20000"/>
                    </a:ext>
                  </a:extLst>
                </a:gridCol>
              </a:tblGrid>
              <a:tr h="2737909">
                <a:tc>
                  <a:txBody>
                    <a:bodyPr/>
                    <a:lstStyle/>
                    <a:p>
                      <a:endParaRPr lang="en-US" dirty="0"/>
                    </a:p>
                  </a:txBody>
                  <a:tcP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1435098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Font typeface="+mj-lt"/>
              <a:buAutoNum type="arabicPeriod" startAt="4"/>
            </a:pPr>
            <a:r>
              <a:rPr lang="en-US" dirty="0"/>
              <a:t>Calculate </a:t>
            </a:r>
            <a:r>
              <a:rPr lang="en-US" dirty="0">
                <a:latin typeface="Courier New" panose="02070309020205020404" pitchFamily="49" charset="0"/>
                <a:cs typeface="Courier New" panose="02070309020205020404" pitchFamily="49" charset="0"/>
              </a:rPr>
              <a:t>1100101</a:t>
            </a:r>
            <a:r>
              <a:rPr lang="en-US" baseline="-25000" dirty="0">
                <a:latin typeface="Courier New" panose="02070309020205020404" pitchFamily="49" charset="0"/>
                <a:cs typeface="Courier New" panose="02070309020205020404" pitchFamily="49" charset="0"/>
              </a:rPr>
              <a:t>2</a:t>
            </a:r>
            <a:r>
              <a:rPr lang="en-US" dirty="0">
                <a:latin typeface="Courier New" panose="02070309020205020404" pitchFamily="49" charset="0"/>
                <a:cs typeface="Courier New" panose="02070309020205020404" pitchFamily="49" charset="0"/>
              </a:rPr>
              <a:t> − 111011</a:t>
            </a:r>
            <a:r>
              <a:rPr lang="en-US" baseline="-25000" dirty="0">
                <a:latin typeface="Courier New" panose="02070309020205020404" pitchFamily="49" charset="0"/>
                <a:cs typeface="Courier New" panose="02070309020205020404" pitchFamily="49" charset="0"/>
              </a:rPr>
              <a:t>2</a:t>
            </a:r>
            <a:r>
              <a:rPr lang="en-US" dirty="0">
                <a:latin typeface="Courier New" panose="02070309020205020404" pitchFamily="49" charset="0"/>
                <a:cs typeface="Courier New" panose="02070309020205020404" pitchFamily="49" charset="0"/>
              </a:rPr>
              <a:t> </a:t>
            </a:r>
            <a:r>
              <a:rPr lang="en-US" dirty="0"/>
              <a:t>.</a:t>
            </a:r>
          </a:p>
          <a:p>
            <a:pPr marL="457200" indent="-457200">
              <a:buAutoNum type="arabicPeriod" startAt="4"/>
            </a:pP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18</a:t>
            </a:fld>
            <a:endParaRPr lang="en-US" dirty="0"/>
          </a:p>
        </p:txBody>
      </p:sp>
      <p:sp>
        <p:nvSpPr>
          <p:cNvPr id="4" name="Text Placeholder 3"/>
          <p:cNvSpPr>
            <a:spLocks noGrp="1"/>
          </p:cNvSpPr>
          <p:nvPr>
            <p:ph type="body" sz="quarter" idx="13"/>
          </p:nvPr>
        </p:nvSpPr>
        <p:spPr/>
        <p:txBody>
          <a:bodyPr/>
          <a:lstStyle/>
          <a:p>
            <a:r>
              <a:rPr lang="en-HK" dirty="0"/>
              <a:t>3.1</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1439011025"/>
              </p:ext>
            </p:extLst>
          </p:nvPr>
        </p:nvGraphicFramePr>
        <p:xfrm>
          <a:off x="771525" y="2157940"/>
          <a:ext cx="10648950" cy="2737909"/>
        </p:xfrm>
        <a:graphic>
          <a:graphicData uri="http://schemas.openxmlformats.org/drawingml/2006/table">
            <a:tbl>
              <a:tblPr firstRow="1" bandRow="1">
                <a:tableStyleId>{5C22544A-7EE6-4342-B048-85BDC9FD1C3A}</a:tableStyleId>
              </a:tblPr>
              <a:tblGrid>
                <a:gridCol w="10648950">
                  <a:extLst>
                    <a:ext uri="{9D8B030D-6E8A-4147-A177-3AD203B41FA5}">
                      <a16:colId xmlns:a16="http://schemas.microsoft.com/office/drawing/2014/main" val="20000"/>
                    </a:ext>
                  </a:extLst>
                </a:gridCol>
              </a:tblGrid>
              <a:tr h="2737909">
                <a:tc>
                  <a:txBody>
                    <a:bodyPr/>
                    <a:lstStyle/>
                    <a:p>
                      <a:endParaRPr lang="en-US" dirty="0"/>
                    </a:p>
                  </a:txBody>
                  <a:tcP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pic>
        <p:nvPicPr>
          <p:cNvPr id="6" name="Picture 5"/>
          <p:cNvPicPr>
            <a:picLocks noChangeAspect="1"/>
          </p:cNvPicPr>
          <p:nvPr/>
        </p:nvPicPr>
        <p:blipFill>
          <a:blip r:embed="rId2"/>
          <a:stretch>
            <a:fillRect/>
          </a:stretch>
        </p:blipFill>
        <p:spPr>
          <a:xfrm>
            <a:off x="2832937" y="2261125"/>
            <a:ext cx="6368213" cy="2563476"/>
          </a:xfrm>
          <a:prstGeom prst="rect">
            <a:avLst/>
          </a:prstGeom>
        </p:spPr>
      </p:pic>
    </p:spTree>
    <p:extLst>
      <p:ext uri="{BB962C8B-B14F-4D97-AF65-F5344CB8AC3E}">
        <p14:creationId xmlns:p14="http://schemas.microsoft.com/office/powerpoint/2010/main" val="27166735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Binary number</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19</a:t>
            </a:fld>
            <a:endParaRPr lang="en-US" dirty="0"/>
          </a:p>
        </p:txBody>
      </p:sp>
      <p:sp>
        <p:nvSpPr>
          <p:cNvPr id="4" name="Text Placeholder 3"/>
          <p:cNvSpPr>
            <a:spLocks noGrp="1"/>
          </p:cNvSpPr>
          <p:nvPr>
            <p:ph type="body" sz="quarter" idx="14"/>
          </p:nvPr>
        </p:nvSpPr>
        <p:spPr/>
        <p:txBody>
          <a:bodyPr/>
          <a:lstStyle/>
          <a:p>
            <a:r>
              <a:rPr lang="en-HK" dirty="0"/>
              <a:t>B</a:t>
            </a:r>
            <a:endParaRPr lang="en-US" dirty="0"/>
          </a:p>
        </p:txBody>
      </p:sp>
      <p:sp>
        <p:nvSpPr>
          <p:cNvPr id="5" name="Content Placeholder 4"/>
          <p:cNvSpPr>
            <a:spLocks noGrp="1"/>
          </p:cNvSpPr>
          <p:nvPr>
            <p:ph sz="quarter" idx="15"/>
          </p:nvPr>
        </p:nvSpPr>
        <p:spPr/>
        <p:txBody>
          <a:bodyPr/>
          <a:lstStyle/>
          <a:p>
            <a:r>
              <a:rPr lang="en-US" dirty="0"/>
              <a:t>The number of </a:t>
            </a:r>
            <a:r>
              <a:rPr lang="en-US" b="1" dirty="0">
                <a:solidFill>
                  <a:srgbClr val="504FA1"/>
                </a:solidFill>
              </a:rPr>
              <a:t>patterns</a:t>
            </a:r>
            <a:r>
              <a:rPr lang="en-US" dirty="0"/>
              <a:t> (combinations) determines how much data can be represented.</a:t>
            </a:r>
          </a:p>
          <a:p>
            <a:endParaRPr lang="en-HK" dirty="0"/>
          </a:p>
          <a:p>
            <a:r>
              <a:rPr lang="en-US" dirty="0"/>
              <a:t>For example, a 1-digit binary number is either 0 to 1, meaning that it has 2 unique patterns.</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A 3-digit binary number ranges from 0 to 7, meaning that it has 8 unique patterns.</a:t>
            </a:r>
          </a:p>
        </p:txBody>
      </p:sp>
      <p:graphicFrame>
        <p:nvGraphicFramePr>
          <p:cNvPr id="6" name="Table 5"/>
          <p:cNvGraphicFramePr>
            <a:graphicFrameLocks noGrp="1"/>
          </p:cNvGraphicFramePr>
          <p:nvPr>
            <p:extLst>
              <p:ext uri="{D42A27DB-BD31-4B8C-83A1-F6EECF244321}">
                <p14:modId xmlns:p14="http://schemas.microsoft.com/office/powerpoint/2010/main" val="720583006"/>
              </p:ext>
            </p:extLst>
          </p:nvPr>
        </p:nvGraphicFramePr>
        <p:xfrm>
          <a:off x="908050" y="3177116"/>
          <a:ext cx="3435350" cy="741680"/>
        </p:xfrm>
        <a:graphic>
          <a:graphicData uri="http://schemas.openxmlformats.org/drawingml/2006/table">
            <a:tbl>
              <a:tblPr firstRow="1" bandRow="1">
                <a:tableStyleId>{5940675A-B579-460E-94D1-54222C63F5DA}</a:tableStyleId>
              </a:tblPr>
              <a:tblGrid>
                <a:gridCol w="1717675">
                  <a:extLst>
                    <a:ext uri="{9D8B030D-6E8A-4147-A177-3AD203B41FA5}">
                      <a16:colId xmlns:a16="http://schemas.microsoft.com/office/drawing/2014/main" val="20000"/>
                    </a:ext>
                  </a:extLst>
                </a:gridCol>
                <a:gridCol w="1717675">
                  <a:extLst>
                    <a:ext uri="{9D8B030D-6E8A-4147-A177-3AD203B41FA5}">
                      <a16:colId xmlns:a16="http://schemas.microsoft.com/office/drawing/2014/main" val="20001"/>
                    </a:ext>
                  </a:extLst>
                </a:gridCol>
              </a:tblGrid>
              <a:tr h="370840">
                <a:tc>
                  <a:txBody>
                    <a:bodyPr/>
                    <a:lstStyle/>
                    <a:p>
                      <a:pPr algn="ctr"/>
                      <a:r>
                        <a:rPr lang="en-HK" b="1" dirty="0">
                          <a:solidFill>
                            <a:schemeClr val="bg1"/>
                          </a:solidFill>
                        </a:rPr>
                        <a:t>1</a:t>
                      </a:r>
                      <a:r>
                        <a:rPr lang="en-HK" b="1" baseline="30000" dirty="0">
                          <a:solidFill>
                            <a:schemeClr val="bg1"/>
                          </a:solidFill>
                        </a:rPr>
                        <a:t>st</a:t>
                      </a:r>
                      <a:r>
                        <a:rPr lang="en-HK" b="1" dirty="0">
                          <a:solidFill>
                            <a:schemeClr val="bg1"/>
                          </a:solidFill>
                        </a:rPr>
                        <a:t> pattern</a:t>
                      </a:r>
                      <a:endParaRPr lang="en-US" b="1" dirty="0">
                        <a:solidFill>
                          <a:schemeClr val="bg1"/>
                        </a:solidFill>
                      </a:endParaRPr>
                    </a:p>
                  </a:txBody>
                  <a:tcPr>
                    <a:lnL w="12700" cap="flat" cmpd="sng" algn="ctr">
                      <a:solidFill>
                        <a:srgbClr val="57A044"/>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2</a:t>
                      </a:r>
                      <a:r>
                        <a:rPr lang="en-HK" b="1" baseline="30000" dirty="0">
                          <a:solidFill>
                            <a:schemeClr val="bg1"/>
                          </a:solidFill>
                        </a:rPr>
                        <a:t>nd</a:t>
                      </a:r>
                      <a:r>
                        <a:rPr lang="en-HK" b="1" dirty="0">
                          <a:solidFill>
                            <a:schemeClr val="bg1"/>
                          </a:solidFill>
                        </a:rPr>
                        <a:t> pattern</a:t>
                      </a:r>
                      <a:endParaRPr lang="en-US" b="1"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extLst>
                  <a:ext uri="{0D108BD9-81ED-4DB2-BD59-A6C34878D82A}">
                    <a16:rowId xmlns:a16="http://schemas.microsoft.com/office/drawing/2014/main" val="10000"/>
                  </a:ext>
                </a:extLst>
              </a:tr>
              <a:tr h="370840">
                <a:tc>
                  <a:txBody>
                    <a:bodyPr/>
                    <a:lstStyle/>
                    <a:p>
                      <a:pPr algn="ctr"/>
                      <a:r>
                        <a:rPr lang="en-HK" dirty="0">
                          <a:latin typeface="Courier New" panose="02070309020205020404" pitchFamily="49" charset="0"/>
                          <a:cs typeface="Courier New" panose="02070309020205020404" pitchFamily="49" charset="0"/>
                        </a:rPr>
                        <a:t>0</a:t>
                      </a:r>
                      <a:endParaRPr lang="en-US" dirty="0">
                        <a:latin typeface="Courier New" panose="02070309020205020404" pitchFamily="49" charset="0"/>
                        <a:cs typeface="Courier New" panose="02070309020205020404" pitchFamily="49" charset="0"/>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1</a:t>
                      </a:r>
                      <a:endParaRPr lang="en-US" dirty="0">
                        <a:latin typeface="Courier New" panose="02070309020205020404" pitchFamily="49" charset="0"/>
                        <a:cs typeface="Courier New" panose="02070309020205020404" pitchFamily="49" charset="0"/>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1364626975"/>
              </p:ext>
            </p:extLst>
          </p:nvPr>
        </p:nvGraphicFramePr>
        <p:xfrm>
          <a:off x="917575" y="5063066"/>
          <a:ext cx="10436224" cy="741680"/>
        </p:xfrm>
        <a:graphic>
          <a:graphicData uri="http://schemas.openxmlformats.org/drawingml/2006/table">
            <a:tbl>
              <a:tblPr firstRow="1" bandRow="1">
                <a:tableStyleId>{5940675A-B579-460E-94D1-54222C63F5DA}</a:tableStyleId>
              </a:tblPr>
              <a:tblGrid>
                <a:gridCol w="1304528">
                  <a:extLst>
                    <a:ext uri="{9D8B030D-6E8A-4147-A177-3AD203B41FA5}">
                      <a16:colId xmlns:a16="http://schemas.microsoft.com/office/drawing/2014/main" val="20000"/>
                    </a:ext>
                  </a:extLst>
                </a:gridCol>
                <a:gridCol w="1304528">
                  <a:extLst>
                    <a:ext uri="{9D8B030D-6E8A-4147-A177-3AD203B41FA5}">
                      <a16:colId xmlns:a16="http://schemas.microsoft.com/office/drawing/2014/main" val="20001"/>
                    </a:ext>
                  </a:extLst>
                </a:gridCol>
                <a:gridCol w="1304528">
                  <a:extLst>
                    <a:ext uri="{9D8B030D-6E8A-4147-A177-3AD203B41FA5}">
                      <a16:colId xmlns:a16="http://schemas.microsoft.com/office/drawing/2014/main" val="20002"/>
                    </a:ext>
                  </a:extLst>
                </a:gridCol>
                <a:gridCol w="1304528">
                  <a:extLst>
                    <a:ext uri="{9D8B030D-6E8A-4147-A177-3AD203B41FA5}">
                      <a16:colId xmlns:a16="http://schemas.microsoft.com/office/drawing/2014/main" val="20003"/>
                    </a:ext>
                  </a:extLst>
                </a:gridCol>
                <a:gridCol w="1304528">
                  <a:extLst>
                    <a:ext uri="{9D8B030D-6E8A-4147-A177-3AD203B41FA5}">
                      <a16:colId xmlns:a16="http://schemas.microsoft.com/office/drawing/2014/main" val="20004"/>
                    </a:ext>
                  </a:extLst>
                </a:gridCol>
                <a:gridCol w="1304528">
                  <a:extLst>
                    <a:ext uri="{9D8B030D-6E8A-4147-A177-3AD203B41FA5}">
                      <a16:colId xmlns:a16="http://schemas.microsoft.com/office/drawing/2014/main" val="20005"/>
                    </a:ext>
                  </a:extLst>
                </a:gridCol>
                <a:gridCol w="1304528">
                  <a:extLst>
                    <a:ext uri="{9D8B030D-6E8A-4147-A177-3AD203B41FA5}">
                      <a16:colId xmlns:a16="http://schemas.microsoft.com/office/drawing/2014/main" val="20006"/>
                    </a:ext>
                  </a:extLst>
                </a:gridCol>
                <a:gridCol w="1304528">
                  <a:extLst>
                    <a:ext uri="{9D8B030D-6E8A-4147-A177-3AD203B41FA5}">
                      <a16:colId xmlns:a16="http://schemas.microsoft.com/office/drawing/2014/main" val="20007"/>
                    </a:ext>
                  </a:extLst>
                </a:gridCol>
              </a:tblGrid>
              <a:tr h="370840">
                <a:tc>
                  <a:txBody>
                    <a:bodyPr/>
                    <a:lstStyle/>
                    <a:p>
                      <a:pPr algn="ctr"/>
                      <a:r>
                        <a:rPr lang="en-HK" b="1" dirty="0">
                          <a:solidFill>
                            <a:schemeClr val="bg1"/>
                          </a:solidFill>
                        </a:rPr>
                        <a:t>1</a:t>
                      </a:r>
                      <a:r>
                        <a:rPr lang="en-HK" b="1" baseline="30000" dirty="0">
                          <a:solidFill>
                            <a:schemeClr val="bg1"/>
                          </a:solidFill>
                        </a:rPr>
                        <a:t>st</a:t>
                      </a:r>
                      <a:r>
                        <a:rPr lang="en-HK" b="1" dirty="0">
                          <a:solidFill>
                            <a:schemeClr val="bg1"/>
                          </a:solidFill>
                        </a:rPr>
                        <a:t> pattern</a:t>
                      </a:r>
                      <a:endParaRPr lang="en-US" b="1" dirty="0">
                        <a:solidFill>
                          <a:schemeClr val="bg1"/>
                        </a:solidFill>
                      </a:endParaRPr>
                    </a:p>
                  </a:txBody>
                  <a:tcPr>
                    <a:lnL w="12700" cap="flat" cmpd="sng" algn="ctr">
                      <a:solidFill>
                        <a:srgbClr val="57A044"/>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2</a:t>
                      </a:r>
                      <a:r>
                        <a:rPr lang="en-HK" b="1" baseline="30000" dirty="0">
                          <a:solidFill>
                            <a:schemeClr val="bg1"/>
                          </a:solidFill>
                        </a:rPr>
                        <a:t>nd</a:t>
                      </a:r>
                      <a:r>
                        <a:rPr lang="en-HK" b="1" dirty="0">
                          <a:solidFill>
                            <a:schemeClr val="bg1"/>
                          </a:solidFill>
                        </a:rPr>
                        <a:t> pattern</a:t>
                      </a:r>
                      <a:endParaRPr lang="en-US" b="1"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3</a:t>
                      </a:r>
                      <a:r>
                        <a:rPr lang="en-HK" b="1" baseline="30000" dirty="0">
                          <a:solidFill>
                            <a:schemeClr val="bg1"/>
                          </a:solidFill>
                        </a:rPr>
                        <a:t>rd</a:t>
                      </a:r>
                      <a:r>
                        <a:rPr lang="en-HK" b="1" dirty="0">
                          <a:solidFill>
                            <a:schemeClr val="bg1"/>
                          </a:solidFill>
                        </a:rPr>
                        <a:t> pattern</a:t>
                      </a:r>
                      <a:endParaRPr lang="en-US" b="1"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4</a:t>
                      </a:r>
                      <a:r>
                        <a:rPr lang="en-HK" b="1" baseline="30000" dirty="0">
                          <a:solidFill>
                            <a:schemeClr val="bg1"/>
                          </a:solidFill>
                        </a:rPr>
                        <a:t>th</a:t>
                      </a:r>
                      <a:r>
                        <a:rPr lang="en-HK" b="1" dirty="0">
                          <a:solidFill>
                            <a:schemeClr val="bg1"/>
                          </a:solidFill>
                        </a:rPr>
                        <a:t> pattern</a:t>
                      </a:r>
                      <a:endParaRPr lang="en-US" b="1"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5</a:t>
                      </a:r>
                      <a:r>
                        <a:rPr lang="en-HK" b="1" baseline="30000" dirty="0">
                          <a:solidFill>
                            <a:schemeClr val="bg1"/>
                          </a:solidFill>
                        </a:rPr>
                        <a:t>th</a:t>
                      </a:r>
                      <a:r>
                        <a:rPr lang="en-HK" b="1" dirty="0">
                          <a:solidFill>
                            <a:schemeClr val="bg1"/>
                          </a:solidFill>
                        </a:rPr>
                        <a:t> pattern</a:t>
                      </a:r>
                      <a:endParaRPr lang="en-US" b="1"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6</a:t>
                      </a:r>
                      <a:r>
                        <a:rPr lang="en-HK" b="1" baseline="30000" dirty="0">
                          <a:solidFill>
                            <a:schemeClr val="bg1"/>
                          </a:solidFill>
                        </a:rPr>
                        <a:t>th</a:t>
                      </a:r>
                      <a:r>
                        <a:rPr lang="en-HK" b="1" dirty="0">
                          <a:solidFill>
                            <a:schemeClr val="bg1"/>
                          </a:solidFill>
                        </a:rPr>
                        <a:t> pattern</a:t>
                      </a:r>
                      <a:endParaRPr lang="en-US" b="1"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7</a:t>
                      </a:r>
                      <a:r>
                        <a:rPr lang="en-HK" b="1" baseline="30000" dirty="0">
                          <a:solidFill>
                            <a:schemeClr val="bg1"/>
                          </a:solidFill>
                        </a:rPr>
                        <a:t>th</a:t>
                      </a:r>
                      <a:r>
                        <a:rPr lang="en-HK" b="1" dirty="0">
                          <a:solidFill>
                            <a:schemeClr val="bg1"/>
                          </a:solidFill>
                        </a:rPr>
                        <a:t> pattern</a:t>
                      </a:r>
                      <a:endParaRPr lang="en-US" b="1"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8</a:t>
                      </a:r>
                      <a:r>
                        <a:rPr lang="en-HK" b="1" baseline="30000" dirty="0">
                          <a:solidFill>
                            <a:schemeClr val="bg1"/>
                          </a:solidFill>
                        </a:rPr>
                        <a:t>th</a:t>
                      </a:r>
                      <a:r>
                        <a:rPr lang="en-HK" b="1" baseline="0" dirty="0">
                          <a:solidFill>
                            <a:schemeClr val="bg1"/>
                          </a:solidFill>
                        </a:rPr>
                        <a:t> </a:t>
                      </a:r>
                      <a:r>
                        <a:rPr lang="en-HK" b="1" dirty="0">
                          <a:solidFill>
                            <a:schemeClr val="bg1"/>
                          </a:solidFill>
                        </a:rPr>
                        <a:t>pattern</a:t>
                      </a:r>
                      <a:endParaRPr lang="en-US" b="1"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extLst>
                  <a:ext uri="{0D108BD9-81ED-4DB2-BD59-A6C34878D82A}">
                    <a16:rowId xmlns:a16="http://schemas.microsoft.com/office/drawing/2014/main" val="10000"/>
                  </a:ext>
                </a:extLst>
              </a:tr>
              <a:tr h="370840">
                <a:tc>
                  <a:txBody>
                    <a:bodyPr/>
                    <a:lstStyle/>
                    <a:p>
                      <a:pPr algn="ctr"/>
                      <a:r>
                        <a:rPr lang="en-HK" dirty="0">
                          <a:latin typeface="Courier New" panose="02070309020205020404" pitchFamily="49" charset="0"/>
                          <a:cs typeface="Courier New" panose="02070309020205020404" pitchFamily="49" charset="0"/>
                        </a:rPr>
                        <a:t>000</a:t>
                      </a:r>
                      <a:endParaRPr lang="en-US" dirty="0">
                        <a:latin typeface="Courier New" panose="02070309020205020404" pitchFamily="49" charset="0"/>
                        <a:cs typeface="Courier New" panose="02070309020205020404" pitchFamily="49" charset="0"/>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001</a:t>
                      </a:r>
                      <a:endParaRPr lang="en-US" dirty="0">
                        <a:latin typeface="Courier New" panose="02070309020205020404" pitchFamily="49" charset="0"/>
                        <a:cs typeface="Courier New" panose="02070309020205020404" pitchFamily="49" charset="0"/>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010</a:t>
                      </a:r>
                      <a:endParaRPr lang="en-US" dirty="0">
                        <a:latin typeface="Courier New" panose="02070309020205020404" pitchFamily="49" charset="0"/>
                        <a:cs typeface="Courier New" panose="02070309020205020404" pitchFamily="49" charset="0"/>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011</a:t>
                      </a:r>
                      <a:endParaRPr lang="en-US" dirty="0">
                        <a:latin typeface="Courier New" panose="02070309020205020404" pitchFamily="49" charset="0"/>
                        <a:cs typeface="Courier New" panose="02070309020205020404" pitchFamily="49" charset="0"/>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100</a:t>
                      </a:r>
                      <a:endParaRPr lang="en-US" dirty="0">
                        <a:latin typeface="Courier New" panose="02070309020205020404" pitchFamily="49" charset="0"/>
                        <a:cs typeface="Courier New" panose="02070309020205020404" pitchFamily="49" charset="0"/>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101</a:t>
                      </a:r>
                      <a:endParaRPr lang="en-US" dirty="0">
                        <a:latin typeface="Courier New" panose="02070309020205020404" pitchFamily="49" charset="0"/>
                        <a:cs typeface="Courier New" panose="02070309020205020404" pitchFamily="49" charset="0"/>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110</a:t>
                      </a:r>
                      <a:endParaRPr lang="en-US" dirty="0">
                        <a:latin typeface="Courier New" panose="02070309020205020404" pitchFamily="49" charset="0"/>
                        <a:cs typeface="Courier New" panose="02070309020205020404" pitchFamily="49" charset="0"/>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111</a:t>
                      </a:r>
                      <a:endParaRPr lang="en-US" dirty="0">
                        <a:latin typeface="Courier New" panose="02070309020205020404" pitchFamily="49" charset="0"/>
                        <a:cs typeface="Courier New" panose="02070309020205020404" pitchFamily="49" charset="0"/>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0989535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Hexadecimal number</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20</a:t>
            </a:fld>
            <a:endParaRPr lang="en-US" dirty="0"/>
          </a:p>
        </p:txBody>
      </p:sp>
      <p:sp>
        <p:nvSpPr>
          <p:cNvPr id="4" name="Text Placeholder 3"/>
          <p:cNvSpPr>
            <a:spLocks noGrp="1"/>
          </p:cNvSpPr>
          <p:nvPr>
            <p:ph type="body" sz="quarter" idx="14"/>
          </p:nvPr>
        </p:nvSpPr>
        <p:spPr/>
        <p:txBody>
          <a:bodyPr/>
          <a:lstStyle/>
          <a:p>
            <a:r>
              <a:rPr lang="en-HK" dirty="0"/>
              <a:t>C</a:t>
            </a:r>
            <a:endParaRPr lang="en-US" dirty="0"/>
          </a:p>
        </p:txBody>
      </p:sp>
      <p:sp>
        <p:nvSpPr>
          <p:cNvPr id="5" name="Content Placeholder 4"/>
          <p:cNvSpPr>
            <a:spLocks noGrp="1"/>
          </p:cNvSpPr>
          <p:nvPr>
            <p:ph sz="quarter" idx="15"/>
          </p:nvPr>
        </p:nvSpPr>
        <p:spPr/>
        <p:txBody>
          <a:bodyPr/>
          <a:lstStyle/>
          <a:p>
            <a:r>
              <a:rPr lang="en-US" dirty="0"/>
              <a:t>A </a:t>
            </a:r>
            <a:r>
              <a:rPr lang="en-US" b="1" dirty="0">
                <a:solidFill>
                  <a:srgbClr val="504FA1"/>
                </a:solidFill>
              </a:rPr>
              <a:t>hexadecimal</a:t>
            </a:r>
            <a:r>
              <a:rPr lang="en-US" dirty="0"/>
              <a:t> number is a number in base 16. Each digit can represent 4 bits of digital data, since 2</a:t>
            </a:r>
            <a:r>
              <a:rPr lang="en-US" baseline="30000" dirty="0"/>
              <a:t>4</a:t>
            </a:r>
            <a:r>
              <a:rPr lang="en-US" dirty="0"/>
              <a:t> = 16. </a:t>
            </a:r>
          </a:p>
          <a:p>
            <a:endParaRPr lang="en-HK" dirty="0"/>
          </a:p>
          <a:p>
            <a:r>
              <a:rPr lang="en-US" dirty="0"/>
              <a:t>To represent 10 to 15 in a single digit, hexadecimal system uses A to F respectively.</a:t>
            </a:r>
          </a:p>
        </p:txBody>
      </p:sp>
      <p:graphicFrame>
        <p:nvGraphicFramePr>
          <p:cNvPr id="6" name="Table 5"/>
          <p:cNvGraphicFramePr>
            <a:graphicFrameLocks noGrp="1"/>
          </p:cNvGraphicFramePr>
          <p:nvPr>
            <p:extLst>
              <p:ext uri="{D42A27DB-BD31-4B8C-83A1-F6EECF244321}">
                <p14:modId xmlns:p14="http://schemas.microsoft.com/office/powerpoint/2010/main" val="2524220135"/>
              </p:ext>
            </p:extLst>
          </p:nvPr>
        </p:nvGraphicFramePr>
        <p:xfrm>
          <a:off x="953100" y="3634316"/>
          <a:ext cx="4495200" cy="1483360"/>
        </p:xfrm>
        <a:graphic>
          <a:graphicData uri="http://schemas.openxmlformats.org/drawingml/2006/table">
            <a:tbl>
              <a:tblPr firstRow="1" bandRow="1">
                <a:tableStyleId>{5940675A-B579-460E-94D1-54222C63F5DA}</a:tableStyleId>
              </a:tblPr>
              <a:tblGrid>
                <a:gridCol w="2247600">
                  <a:extLst>
                    <a:ext uri="{9D8B030D-6E8A-4147-A177-3AD203B41FA5}">
                      <a16:colId xmlns:a16="http://schemas.microsoft.com/office/drawing/2014/main" val="20000"/>
                    </a:ext>
                  </a:extLst>
                </a:gridCol>
                <a:gridCol w="2247600">
                  <a:extLst>
                    <a:ext uri="{9D8B030D-6E8A-4147-A177-3AD203B41FA5}">
                      <a16:colId xmlns:a16="http://schemas.microsoft.com/office/drawing/2014/main" val="20001"/>
                    </a:ext>
                  </a:extLst>
                </a:gridCol>
              </a:tblGrid>
              <a:tr h="370840">
                <a:tc>
                  <a:txBody>
                    <a:bodyPr/>
                    <a:lstStyle/>
                    <a:p>
                      <a:pPr algn="ctr"/>
                      <a:endParaRPr lang="en-US" dirty="0"/>
                    </a:p>
                  </a:txBody>
                  <a:tcPr>
                    <a:lnL w="12700" cap="flat" cmpd="sng" algn="ctr">
                      <a:solidFill>
                        <a:srgbClr val="57A044"/>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algn="ctr"/>
                      <a:r>
                        <a:rPr lang="en-HK" b="1" dirty="0">
                          <a:solidFill>
                            <a:schemeClr val="bg1"/>
                          </a:solidFill>
                        </a:rPr>
                        <a:t>The range</a:t>
                      </a:r>
                      <a:r>
                        <a:rPr lang="en-HK" b="1" baseline="0" dirty="0">
                          <a:solidFill>
                            <a:schemeClr val="bg1"/>
                          </a:solidFill>
                        </a:rPr>
                        <a:t> of a digit</a:t>
                      </a:r>
                      <a:endParaRPr lang="en-US" b="1"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extLst>
                  <a:ext uri="{0D108BD9-81ED-4DB2-BD59-A6C34878D82A}">
                    <a16:rowId xmlns:a16="http://schemas.microsoft.com/office/drawing/2014/main" val="10000"/>
                  </a:ext>
                </a:extLst>
              </a:tr>
              <a:tr h="370840">
                <a:tc>
                  <a:txBody>
                    <a:bodyPr/>
                    <a:lstStyle/>
                    <a:p>
                      <a:pPr algn="ctr"/>
                      <a:r>
                        <a:rPr lang="en-HK" b="1" dirty="0">
                          <a:solidFill>
                            <a:schemeClr val="bg1"/>
                          </a:solidFill>
                        </a:rPr>
                        <a:t>Binary</a:t>
                      </a:r>
                      <a:r>
                        <a:rPr lang="en-HK" b="1" baseline="0" dirty="0">
                          <a:solidFill>
                            <a:schemeClr val="bg1"/>
                          </a:solidFill>
                        </a:rPr>
                        <a:t> number</a:t>
                      </a:r>
                      <a:endParaRPr lang="en-US" b="1" dirty="0">
                        <a:solidFill>
                          <a:schemeClr val="bg1"/>
                        </a:solidFill>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algn="ctr"/>
                      <a:r>
                        <a:rPr lang="en-HK" dirty="0"/>
                        <a:t>0 to 1</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a:r>
                        <a:rPr lang="en-HK" b="1" dirty="0">
                          <a:solidFill>
                            <a:schemeClr val="bg1"/>
                          </a:solidFill>
                        </a:rPr>
                        <a:t>Decimal number</a:t>
                      </a:r>
                      <a:endParaRPr lang="en-US" b="1" dirty="0">
                        <a:solidFill>
                          <a:schemeClr val="bg1"/>
                        </a:solidFill>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algn="ctr"/>
                      <a:r>
                        <a:rPr lang="en-HK" dirty="0"/>
                        <a:t>0 to 9</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en-HK" b="1" dirty="0">
                          <a:solidFill>
                            <a:schemeClr val="bg1"/>
                          </a:solidFill>
                        </a:rPr>
                        <a:t>Hexadecimal number</a:t>
                      </a:r>
                      <a:endParaRPr lang="en-US" b="1" dirty="0">
                        <a:solidFill>
                          <a:schemeClr val="bg1"/>
                        </a:solidFill>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dirty="0"/>
                        <a:t>0 to 9, A to F</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4624941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dirty="0">
                <a:solidFill>
                  <a:srgbClr val="C6993D"/>
                </a:solidFill>
              </a:rPr>
              <a:t>Conversion between hexadecimal numbers and decimal numbers</a:t>
            </a:r>
            <a:endParaRPr lang="en-US" b="1" dirty="0"/>
          </a:p>
          <a:p>
            <a:r>
              <a:rPr lang="en-US" dirty="0"/>
              <a:t>For a hexadecimal number, </a:t>
            </a:r>
            <a:r>
              <a:rPr lang="en-US" dirty="0">
                <a:latin typeface="Courier New" panose="02070309020205020404" pitchFamily="49" charset="0"/>
                <a:cs typeface="Courier New" panose="02070309020205020404" pitchFamily="49" charset="0"/>
              </a:rPr>
              <a:t>B4AF</a:t>
            </a:r>
            <a:r>
              <a:rPr lang="en-US" baseline="-25000" dirty="0">
                <a:latin typeface="Courier New" panose="02070309020205020404" pitchFamily="49" charset="0"/>
                <a:cs typeface="Courier New" panose="02070309020205020404" pitchFamily="49" charset="0"/>
              </a:rPr>
              <a:t>16</a:t>
            </a:r>
            <a:r>
              <a:rPr lang="en-US" dirty="0"/>
              <a:t> , we can convert it into a decimal number by expanding it like below.</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da-DK" dirty="0"/>
              <a:t>Therefore, </a:t>
            </a:r>
            <a:r>
              <a:rPr lang="da-DK" dirty="0">
                <a:latin typeface="Courier New" panose="02070309020205020404" pitchFamily="49" charset="0"/>
                <a:cs typeface="Courier New" panose="02070309020205020404" pitchFamily="49" charset="0"/>
              </a:rPr>
              <a:t>B4AF</a:t>
            </a:r>
            <a:r>
              <a:rPr lang="da-DK" baseline="-25000" dirty="0">
                <a:latin typeface="Courier New" panose="02070309020205020404" pitchFamily="49" charset="0"/>
                <a:cs typeface="Courier New" panose="02070309020205020404" pitchFamily="49" charset="0"/>
              </a:rPr>
              <a:t>16 </a:t>
            </a:r>
            <a:r>
              <a:rPr lang="da-DK" dirty="0"/>
              <a:t>= </a:t>
            </a:r>
            <a:r>
              <a:rPr lang="da-DK" dirty="0">
                <a:latin typeface="Courier New" panose="02070309020205020404" pitchFamily="49" charset="0"/>
                <a:cs typeface="Courier New" panose="02070309020205020404" pitchFamily="49" charset="0"/>
              </a:rPr>
              <a:t>45056 + 1024 + 160 + 15</a:t>
            </a:r>
            <a:r>
              <a:rPr lang="da-DK" dirty="0">
                <a:latin typeface="+mn-lt"/>
                <a:cs typeface="Courier New" panose="02070309020205020404" pitchFamily="49" charset="0"/>
              </a:rPr>
              <a:t> </a:t>
            </a:r>
            <a:r>
              <a:rPr lang="da-DK" dirty="0"/>
              <a:t>= </a:t>
            </a:r>
            <a:r>
              <a:rPr lang="da-DK" dirty="0">
                <a:latin typeface="Courier New" panose="02070309020205020404" pitchFamily="49" charset="0"/>
                <a:cs typeface="Courier New" panose="02070309020205020404" pitchFamily="49" charset="0"/>
              </a:rPr>
              <a:t>46255</a:t>
            </a:r>
            <a:r>
              <a:rPr lang="da-DK" baseline="-25000" dirty="0">
                <a:latin typeface="Courier New" panose="02070309020205020404" pitchFamily="49" charset="0"/>
                <a:cs typeface="Courier New" panose="02070309020205020404" pitchFamily="49" charset="0"/>
              </a:rPr>
              <a:t>10</a:t>
            </a:r>
            <a:r>
              <a:rPr lang="da-DK" dirty="0"/>
              <a:t> .</a:t>
            </a:r>
            <a:endParaRPr lang="en-US" dirty="0">
              <a:solidFill>
                <a:srgbClr val="C6993D"/>
              </a:solidFill>
            </a:endParaRPr>
          </a:p>
        </p:txBody>
      </p:sp>
      <p:sp>
        <p:nvSpPr>
          <p:cNvPr id="3" name="Slide Number Placeholder 2"/>
          <p:cNvSpPr>
            <a:spLocks noGrp="1"/>
          </p:cNvSpPr>
          <p:nvPr>
            <p:ph type="sldNum" sz="quarter" idx="12"/>
          </p:nvPr>
        </p:nvSpPr>
        <p:spPr/>
        <p:txBody>
          <a:bodyPr/>
          <a:lstStyle/>
          <a:p>
            <a:fld id="{6D22F896-40B5-4ADD-8801-0D06FADFA095}" type="slidenum">
              <a:rPr lang="en-US" smtClean="0"/>
              <a:t>21</a:t>
            </a:fld>
            <a:endParaRPr lang="en-US" dirty="0"/>
          </a:p>
        </p:txBody>
      </p:sp>
      <p:sp>
        <p:nvSpPr>
          <p:cNvPr id="4" name="Text Placeholder 3"/>
          <p:cNvSpPr>
            <a:spLocks noGrp="1"/>
          </p:cNvSpPr>
          <p:nvPr>
            <p:ph type="body" sz="quarter" idx="13"/>
          </p:nvPr>
        </p:nvSpPr>
        <p:spPr/>
        <p:txBody>
          <a:bodyPr/>
          <a:lstStyle/>
          <a:p>
            <a:r>
              <a:rPr lang="en-HK" dirty="0"/>
              <a:t>3.2</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734170725"/>
              </p:ext>
            </p:extLst>
          </p:nvPr>
        </p:nvGraphicFramePr>
        <p:xfrm>
          <a:off x="828675" y="3057525"/>
          <a:ext cx="10677526" cy="1981199"/>
        </p:xfrm>
        <a:graphic>
          <a:graphicData uri="http://schemas.openxmlformats.org/drawingml/2006/table">
            <a:tbl>
              <a:tblPr firstRow="1" bandRow="1">
                <a:tableStyleId>{5940675A-B579-460E-94D1-54222C63F5DA}</a:tableStyleId>
              </a:tblPr>
              <a:tblGrid>
                <a:gridCol w="1314450">
                  <a:extLst>
                    <a:ext uri="{9D8B030D-6E8A-4147-A177-3AD203B41FA5}">
                      <a16:colId xmlns:a16="http://schemas.microsoft.com/office/drawing/2014/main" val="20000"/>
                    </a:ext>
                  </a:extLst>
                </a:gridCol>
                <a:gridCol w="2400300">
                  <a:extLst>
                    <a:ext uri="{9D8B030D-6E8A-4147-A177-3AD203B41FA5}">
                      <a16:colId xmlns:a16="http://schemas.microsoft.com/office/drawing/2014/main" val="20001"/>
                    </a:ext>
                  </a:extLst>
                </a:gridCol>
                <a:gridCol w="2305050">
                  <a:extLst>
                    <a:ext uri="{9D8B030D-6E8A-4147-A177-3AD203B41FA5}">
                      <a16:colId xmlns:a16="http://schemas.microsoft.com/office/drawing/2014/main" val="20002"/>
                    </a:ext>
                  </a:extLst>
                </a:gridCol>
                <a:gridCol w="2295525">
                  <a:extLst>
                    <a:ext uri="{9D8B030D-6E8A-4147-A177-3AD203B41FA5}">
                      <a16:colId xmlns:a16="http://schemas.microsoft.com/office/drawing/2014/main" val="20003"/>
                    </a:ext>
                  </a:extLst>
                </a:gridCol>
                <a:gridCol w="2362201">
                  <a:extLst>
                    <a:ext uri="{9D8B030D-6E8A-4147-A177-3AD203B41FA5}">
                      <a16:colId xmlns:a16="http://schemas.microsoft.com/office/drawing/2014/main" val="20004"/>
                    </a:ext>
                  </a:extLst>
                </a:gridCol>
              </a:tblGrid>
              <a:tr h="486127">
                <a:tc>
                  <a:txBody>
                    <a:bodyPr/>
                    <a:lstStyle/>
                    <a:p>
                      <a:pPr algn="ctr"/>
                      <a:r>
                        <a:rPr lang="en-HK" b="1" dirty="0">
                          <a:solidFill>
                            <a:schemeClr val="bg1"/>
                          </a:solidFill>
                        </a:rPr>
                        <a:t>Digit</a:t>
                      </a:r>
                      <a:endParaRPr lang="en-US" b="1" dirty="0">
                        <a:solidFill>
                          <a:schemeClr val="bg1"/>
                        </a:solidFill>
                      </a:endParaRPr>
                    </a:p>
                  </a:txBody>
                  <a:tcPr anchor="ctr">
                    <a:lnL w="12700" cap="flat" cmpd="sng" algn="ctr">
                      <a:solidFill>
                        <a:srgbClr val="C6993D"/>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B (11)</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4</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A (10)</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F (15)</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extLst>
                  <a:ext uri="{0D108BD9-81ED-4DB2-BD59-A6C34878D82A}">
                    <a16:rowId xmlns:a16="http://schemas.microsoft.com/office/drawing/2014/main" val="10000"/>
                  </a:ext>
                </a:extLst>
              </a:tr>
              <a:tr h="747536">
                <a:tc>
                  <a:txBody>
                    <a:bodyPr/>
                    <a:lstStyle/>
                    <a:p>
                      <a:pPr algn="ctr"/>
                      <a:r>
                        <a:rPr lang="en-HK" b="1" dirty="0">
                          <a:solidFill>
                            <a:schemeClr val="bg1"/>
                          </a:solidFill>
                        </a:rPr>
                        <a:t>Place value</a:t>
                      </a:r>
                      <a:endParaRPr lang="en-US" b="1" dirty="0">
                        <a:solidFill>
                          <a:schemeClr val="bg1"/>
                        </a:solidFill>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93D"/>
                    </a:solidFill>
                  </a:tcPr>
                </a:tc>
                <a:tc>
                  <a:txBody>
                    <a:bodyPr/>
                    <a:lstStyle/>
                    <a:p>
                      <a:pPr algn="ctr"/>
                      <a:r>
                        <a:rPr lang="en-HK" dirty="0">
                          <a:latin typeface="Courier New" panose="02070309020205020404" pitchFamily="49" charset="0"/>
                          <a:cs typeface="Courier New" panose="02070309020205020404" pitchFamily="49" charset="0"/>
                        </a:rPr>
                        <a:t>16</a:t>
                      </a:r>
                      <a:r>
                        <a:rPr lang="en-HK" baseline="30000" dirty="0">
                          <a:latin typeface="Courier New" panose="02070309020205020404" pitchFamily="49" charset="0"/>
                          <a:cs typeface="Courier New" panose="02070309020205020404" pitchFamily="49" charset="0"/>
                        </a:rPr>
                        <a:t>3</a:t>
                      </a:r>
                      <a:r>
                        <a:rPr lang="en-HK" dirty="0">
                          <a:latin typeface="Courier New" panose="02070309020205020404" pitchFamily="49" charset="0"/>
                          <a:cs typeface="Courier New" panose="02070309020205020404" pitchFamily="49" charset="0"/>
                        </a:rPr>
                        <a:t> = 4096</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16</a:t>
                      </a:r>
                      <a:r>
                        <a:rPr lang="en-HK" baseline="30000" dirty="0">
                          <a:latin typeface="Courier New" panose="02070309020205020404" pitchFamily="49" charset="0"/>
                          <a:cs typeface="Courier New" panose="02070309020205020404" pitchFamily="49" charset="0"/>
                        </a:rPr>
                        <a:t>2</a:t>
                      </a:r>
                      <a:r>
                        <a:rPr lang="en-HK" dirty="0">
                          <a:latin typeface="Courier New" panose="02070309020205020404" pitchFamily="49" charset="0"/>
                          <a:cs typeface="Courier New" panose="02070309020205020404" pitchFamily="49" charset="0"/>
                        </a:rPr>
                        <a:t> = 256</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16</a:t>
                      </a:r>
                      <a:r>
                        <a:rPr lang="en-HK" baseline="30000" dirty="0">
                          <a:latin typeface="Courier New" panose="02070309020205020404" pitchFamily="49" charset="0"/>
                          <a:cs typeface="Courier New" panose="02070309020205020404" pitchFamily="49" charset="0"/>
                        </a:rPr>
                        <a:t>1</a:t>
                      </a:r>
                      <a:r>
                        <a:rPr lang="en-HK" dirty="0">
                          <a:latin typeface="Courier New" panose="02070309020205020404" pitchFamily="49" charset="0"/>
                          <a:cs typeface="Courier New" panose="02070309020205020404" pitchFamily="49" charset="0"/>
                        </a:rPr>
                        <a:t> = 16</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16</a:t>
                      </a:r>
                      <a:r>
                        <a:rPr lang="en-HK" baseline="30000" dirty="0">
                          <a:latin typeface="Courier New" panose="02070309020205020404" pitchFamily="49" charset="0"/>
                          <a:cs typeface="Courier New" panose="02070309020205020404" pitchFamily="49" charset="0"/>
                        </a:rPr>
                        <a:t>0</a:t>
                      </a:r>
                      <a:r>
                        <a:rPr lang="en-HK" baseline="0" dirty="0">
                          <a:latin typeface="Courier New" panose="02070309020205020404" pitchFamily="49" charset="0"/>
                          <a:cs typeface="Courier New" panose="02070309020205020404" pitchFamily="49" charset="0"/>
                        </a:rPr>
                        <a:t> = 1</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extLst>
                  <a:ext uri="{0D108BD9-81ED-4DB2-BD59-A6C34878D82A}">
                    <a16:rowId xmlns:a16="http://schemas.microsoft.com/office/drawing/2014/main" val="10001"/>
                  </a:ext>
                </a:extLst>
              </a:tr>
              <a:tr h="747536">
                <a:tc>
                  <a:txBody>
                    <a:bodyPr/>
                    <a:lstStyle/>
                    <a:p>
                      <a:pPr algn="ctr"/>
                      <a:r>
                        <a:rPr lang="en-HK" b="1" dirty="0">
                          <a:solidFill>
                            <a:schemeClr val="bg1"/>
                          </a:solidFill>
                        </a:rPr>
                        <a:t>Value of the digit</a:t>
                      </a:r>
                      <a:endParaRPr lang="en-US" b="1" dirty="0">
                        <a:solidFill>
                          <a:schemeClr val="bg1"/>
                        </a:solidFill>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dirty="0">
                          <a:latin typeface="Courier New" panose="02070309020205020404" pitchFamily="49" charset="0"/>
                          <a:cs typeface="Courier New" panose="02070309020205020404" pitchFamily="49" charset="0"/>
                        </a:rPr>
                        <a:t>4096 × 11</a:t>
                      </a:r>
                      <a:r>
                        <a:rPr lang="en-HK" baseline="0" dirty="0">
                          <a:latin typeface="Courier New" panose="02070309020205020404" pitchFamily="49" charset="0"/>
                          <a:cs typeface="Courier New" panose="02070309020205020404" pitchFamily="49" charset="0"/>
                        </a:rPr>
                        <a:t> = 45056</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256 × 4 = 1024</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16 × 10 = 160 </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1 × 15 = 15</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6776011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AutoNum type="arabicPeriod"/>
            </a:pPr>
            <a:r>
              <a:rPr lang="en-US" dirty="0"/>
              <a:t>Convert </a:t>
            </a:r>
            <a:r>
              <a:rPr lang="en-US" dirty="0">
                <a:latin typeface="Courier New" panose="02070309020205020404" pitchFamily="49" charset="0"/>
                <a:cs typeface="Courier New" panose="02070309020205020404" pitchFamily="49" charset="0"/>
              </a:rPr>
              <a:t>9C7E</a:t>
            </a:r>
            <a:r>
              <a:rPr lang="en-US" baseline="-25000" dirty="0">
                <a:latin typeface="Courier New" panose="02070309020205020404" pitchFamily="49" charset="0"/>
                <a:cs typeface="Courier New" panose="02070309020205020404" pitchFamily="49" charset="0"/>
              </a:rPr>
              <a:t>16</a:t>
            </a:r>
            <a:r>
              <a:rPr lang="en-US" dirty="0"/>
              <a:t> into a decimal number.</a:t>
            </a:r>
          </a:p>
          <a:p>
            <a:r>
              <a:rPr lang="en-HK" dirty="0"/>
              <a:t/>
            </a:r>
            <a:br>
              <a:rPr lang="en-HK" dirty="0"/>
            </a:br>
            <a:r>
              <a:rPr lang="en-HK" dirty="0"/>
              <a:t/>
            </a:r>
            <a:br>
              <a:rPr lang="en-HK" dirty="0"/>
            </a:br>
            <a:r>
              <a:rPr lang="en-HK" dirty="0"/>
              <a:t/>
            </a:r>
            <a:br>
              <a:rPr lang="en-HK" dirty="0"/>
            </a:br>
            <a:r>
              <a:rPr lang="en-HK" dirty="0"/>
              <a:t/>
            </a:r>
            <a:br>
              <a:rPr lang="en-HK" dirty="0"/>
            </a:br>
            <a:r>
              <a:rPr lang="en-HK" dirty="0"/>
              <a:t/>
            </a:r>
            <a:br>
              <a:rPr lang="en-HK" dirty="0"/>
            </a:br>
            <a:endParaRPr lang="en-HK" dirty="0"/>
          </a:p>
          <a:p>
            <a:r>
              <a:rPr lang="en-HK" dirty="0"/>
              <a:t>Therefore, </a:t>
            </a:r>
            <a:r>
              <a:rPr lang="en-HK" dirty="0">
                <a:latin typeface="Courier New" panose="02070309020205020404" pitchFamily="49" charset="0"/>
                <a:cs typeface="Courier New" panose="02070309020205020404" pitchFamily="49" charset="0"/>
              </a:rPr>
              <a:t>9C7E</a:t>
            </a:r>
            <a:r>
              <a:rPr lang="en-HK" baseline="-25000" dirty="0">
                <a:latin typeface="Courier New" panose="02070309020205020404" pitchFamily="49" charset="0"/>
                <a:cs typeface="Courier New" panose="02070309020205020404" pitchFamily="49" charset="0"/>
              </a:rPr>
              <a:t>16</a:t>
            </a:r>
            <a:r>
              <a:rPr lang="en-HK" dirty="0"/>
              <a:t> = </a:t>
            </a:r>
            <a:r>
              <a:rPr lang="en-US" dirty="0">
                <a:solidFill>
                  <a:srgbClr val="FF0000"/>
                </a:solidFill>
                <a:latin typeface="Courier New" panose="02070309020205020404" pitchFamily="49" charset="0"/>
                <a:cs typeface="Courier New" panose="02070309020205020404" pitchFamily="49" charset="0"/>
              </a:rPr>
              <a:t>36864 + 3072 + 112 + 14 = </a:t>
            </a:r>
            <a:r>
              <a:rPr lang="en-US" dirty="0" smtClean="0">
                <a:solidFill>
                  <a:srgbClr val="FF0000"/>
                </a:solidFill>
                <a:latin typeface="Courier New" panose="02070309020205020404" pitchFamily="49" charset="0"/>
                <a:cs typeface="Courier New" panose="02070309020205020404" pitchFamily="49" charset="0"/>
              </a:rPr>
              <a:t>40062</a:t>
            </a:r>
            <a:r>
              <a:rPr lang="en-US" baseline="-25000" dirty="0" smtClean="0">
                <a:solidFill>
                  <a:srgbClr val="FF0000"/>
                </a:solidFill>
                <a:latin typeface="Courier New" panose="02070309020205020404" pitchFamily="49" charset="0"/>
                <a:cs typeface="Courier New" panose="02070309020205020404" pitchFamily="49" charset="0"/>
              </a:rPr>
              <a:t>10</a:t>
            </a:r>
            <a:r>
              <a:rPr lang="en-US" baseline="-25000" dirty="0">
                <a:solidFill>
                  <a:srgbClr val="FF0000"/>
                </a:solidFill>
                <a:latin typeface="Courier New" panose="02070309020205020404" pitchFamily="49" charset="0"/>
                <a:cs typeface="Courier New" panose="02070309020205020404" pitchFamily="49" charset="0"/>
              </a:rPr>
              <a:t>.</a:t>
            </a:r>
            <a:r>
              <a:rPr lang="en-HK" dirty="0"/>
              <a:t/>
            </a:r>
            <a:br>
              <a:rPr lang="en-HK" dirty="0"/>
            </a:b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22</a:t>
            </a:fld>
            <a:endParaRPr lang="en-US" dirty="0"/>
          </a:p>
        </p:txBody>
      </p:sp>
      <p:sp>
        <p:nvSpPr>
          <p:cNvPr id="4" name="Text Placeholder 3"/>
          <p:cNvSpPr>
            <a:spLocks noGrp="1"/>
          </p:cNvSpPr>
          <p:nvPr>
            <p:ph type="body" sz="quarter" idx="13"/>
          </p:nvPr>
        </p:nvSpPr>
        <p:spPr/>
        <p:txBody>
          <a:bodyPr/>
          <a:lstStyle/>
          <a:p>
            <a:r>
              <a:rPr lang="en-HK" dirty="0"/>
              <a:t>3.2</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1125428931"/>
              </p:ext>
            </p:extLst>
          </p:nvPr>
        </p:nvGraphicFramePr>
        <p:xfrm>
          <a:off x="828675" y="2190751"/>
          <a:ext cx="10677526" cy="1752600"/>
        </p:xfrm>
        <a:graphic>
          <a:graphicData uri="http://schemas.openxmlformats.org/drawingml/2006/table">
            <a:tbl>
              <a:tblPr firstRow="1" bandRow="1">
                <a:tableStyleId>{5940675A-B579-460E-94D1-54222C63F5DA}</a:tableStyleId>
              </a:tblPr>
              <a:tblGrid>
                <a:gridCol w="1314450">
                  <a:extLst>
                    <a:ext uri="{9D8B030D-6E8A-4147-A177-3AD203B41FA5}">
                      <a16:colId xmlns:a16="http://schemas.microsoft.com/office/drawing/2014/main" val="20000"/>
                    </a:ext>
                  </a:extLst>
                </a:gridCol>
                <a:gridCol w="2400300">
                  <a:extLst>
                    <a:ext uri="{9D8B030D-6E8A-4147-A177-3AD203B41FA5}">
                      <a16:colId xmlns:a16="http://schemas.microsoft.com/office/drawing/2014/main" val="20001"/>
                    </a:ext>
                  </a:extLst>
                </a:gridCol>
                <a:gridCol w="2305050">
                  <a:extLst>
                    <a:ext uri="{9D8B030D-6E8A-4147-A177-3AD203B41FA5}">
                      <a16:colId xmlns:a16="http://schemas.microsoft.com/office/drawing/2014/main" val="20002"/>
                    </a:ext>
                  </a:extLst>
                </a:gridCol>
                <a:gridCol w="2295525">
                  <a:extLst>
                    <a:ext uri="{9D8B030D-6E8A-4147-A177-3AD203B41FA5}">
                      <a16:colId xmlns:a16="http://schemas.microsoft.com/office/drawing/2014/main" val="20003"/>
                    </a:ext>
                  </a:extLst>
                </a:gridCol>
                <a:gridCol w="2362201">
                  <a:extLst>
                    <a:ext uri="{9D8B030D-6E8A-4147-A177-3AD203B41FA5}">
                      <a16:colId xmlns:a16="http://schemas.microsoft.com/office/drawing/2014/main" val="20004"/>
                    </a:ext>
                  </a:extLst>
                </a:gridCol>
              </a:tblGrid>
              <a:tr h="430036">
                <a:tc>
                  <a:txBody>
                    <a:bodyPr/>
                    <a:lstStyle/>
                    <a:p>
                      <a:pPr algn="ctr"/>
                      <a:r>
                        <a:rPr lang="en-HK" b="1" dirty="0">
                          <a:solidFill>
                            <a:schemeClr val="bg1"/>
                          </a:solidFill>
                        </a:rPr>
                        <a:t>Digit</a:t>
                      </a:r>
                      <a:endParaRPr lang="en-US" b="1" dirty="0">
                        <a:solidFill>
                          <a:schemeClr val="bg1"/>
                        </a:solidFill>
                      </a:endParaRPr>
                    </a:p>
                  </a:txBody>
                  <a:tcPr anchor="ctr">
                    <a:lnL w="12700" cap="flat" cmpd="sng" algn="ctr">
                      <a:solidFill>
                        <a:srgbClr val="C6993D"/>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9</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C (12)</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7</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E (14)</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extLst>
                  <a:ext uri="{0D108BD9-81ED-4DB2-BD59-A6C34878D82A}">
                    <a16:rowId xmlns:a16="http://schemas.microsoft.com/office/drawing/2014/main" val="10000"/>
                  </a:ext>
                </a:extLst>
              </a:tr>
              <a:tr h="661282">
                <a:tc>
                  <a:txBody>
                    <a:bodyPr/>
                    <a:lstStyle/>
                    <a:p>
                      <a:pPr algn="ctr"/>
                      <a:r>
                        <a:rPr lang="en-HK" b="1" dirty="0">
                          <a:solidFill>
                            <a:schemeClr val="bg1"/>
                          </a:solidFill>
                        </a:rPr>
                        <a:t>Place value</a:t>
                      </a:r>
                      <a:endParaRPr lang="en-US" b="1" dirty="0">
                        <a:solidFill>
                          <a:schemeClr val="bg1"/>
                        </a:solidFill>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93D"/>
                    </a:solidFill>
                  </a:tcPr>
                </a:tc>
                <a:tc>
                  <a:txBody>
                    <a:bodyPr/>
                    <a:lstStyle/>
                    <a:p>
                      <a:pPr algn="ctr"/>
                      <a:r>
                        <a:rPr lang="en-HK" dirty="0">
                          <a:latin typeface="Courier New" panose="02070309020205020404" pitchFamily="49" charset="0"/>
                          <a:cs typeface="Courier New" panose="02070309020205020404" pitchFamily="49" charset="0"/>
                        </a:rPr>
                        <a:t>16</a:t>
                      </a:r>
                      <a:r>
                        <a:rPr lang="en-HK" baseline="30000" dirty="0">
                          <a:latin typeface="Courier New" panose="02070309020205020404" pitchFamily="49" charset="0"/>
                          <a:cs typeface="Courier New" panose="02070309020205020404" pitchFamily="49" charset="0"/>
                        </a:rPr>
                        <a:t>3</a:t>
                      </a:r>
                      <a:r>
                        <a:rPr lang="en-HK" dirty="0">
                          <a:latin typeface="Courier New" panose="02070309020205020404" pitchFamily="49" charset="0"/>
                          <a:cs typeface="Courier New" panose="02070309020205020404" pitchFamily="49" charset="0"/>
                        </a:rPr>
                        <a:t> = 4096</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16</a:t>
                      </a:r>
                      <a:r>
                        <a:rPr lang="en-HK" baseline="30000" dirty="0">
                          <a:latin typeface="Courier New" panose="02070309020205020404" pitchFamily="49" charset="0"/>
                          <a:cs typeface="Courier New" panose="02070309020205020404" pitchFamily="49" charset="0"/>
                        </a:rPr>
                        <a:t>2</a:t>
                      </a:r>
                      <a:r>
                        <a:rPr lang="en-HK" dirty="0">
                          <a:latin typeface="Courier New" panose="02070309020205020404" pitchFamily="49" charset="0"/>
                          <a:cs typeface="Courier New" panose="02070309020205020404" pitchFamily="49" charset="0"/>
                        </a:rPr>
                        <a:t> = 256</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16</a:t>
                      </a:r>
                      <a:r>
                        <a:rPr lang="en-HK" baseline="30000" dirty="0">
                          <a:latin typeface="Courier New" panose="02070309020205020404" pitchFamily="49" charset="0"/>
                          <a:cs typeface="Courier New" panose="02070309020205020404" pitchFamily="49" charset="0"/>
                        </a:rPr>
                        <a:t>1</a:t>
                      </a:r>
                      <a:r>
                        <a:rPr lang="en-HK" dirty="0">
                          <a:latin typeface="Courier New" panose="02070309020205020404" pitchFamily="49" charset="0"/>
                          <a:cs typeface="Courier New" panose="02070309020205020404" pitchFamily="49" charset="0"/>
                        </a:rPr>
                        <a:t> = 16</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16</a:t>
                      </a:r>
                      <a:r>
                        <a:rPr lang="en-HK" baseline="30000" dirty="0">
                          <a:latin typeface="Courier New" panose="02070309020205020404" pitchFamily="49" charset="0"/>
                          <a:cs typeface="Courier New" panose="02070309020205020404" pitchFamily="49" charset="0"/>
                        </a:rPr>
                        <a:t>0</a:t>
                      </a:r>
                      <a:r>
                        <a:rPr lang="en-HK" baseline="0" dirty="0">
                          <a:latin typeface="Courier New" panose="02070309020205020404" pitchFamily="49" charset="0"/>
                          <a:cs typeface="Courier New" panose="02070309020205020404" pitchFamily="49" charset="0"/>
                        </a:rPr>
                        <a:t> = 1</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extLst>
                  <a:ext uri="{0D108BD9-81ED-4DB2-BD59-A6C34878D82A}">
                    <a16:rowId xmlns:a16="http://schemas.microsoft.com/office/drawing/2014/main" val="10001"/>
                  </a:ext>
                </a:extLst>
              </a:tr>
              <a:tr h="661282">
                <a:tc>
                  <a:txBody>
                    <a:bodyPr/>
                    <a:lstStyle/>
                    <a:p>
                      <a:pPr algn="ctr"/>
                      <a:r>
                        <a:rPr lang="en-HK" b="1" dirty="0">
                          <a:solidFill>
                            <a:schemeClr val="bg1"/>
                          </a:solidFill>
                        </a:rPr>
                        <a:t>Value of the digit</a:t>
                      </a:r>
                      <a:endParaRPr lang="en-US" b="1" dirty="0">
                        <a:solidFill>
                          <a:schemeClr val="bg1"/>
                        </a:solidFill>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dirty="0">
                          <a:latin typeface="Courier New" panose="02070309020205020404" pitchFamily="49" charset="0"/>
                          <a:cs typeface="Courier New" panose="02070309020205020404" pitchFamily="49" charset="0"/>
                        </a:rPr>
                        <a:t>4096 × 9 = 36864</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256 × 12 = 3072</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16 × 7 = 112</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1 × 14 = 14</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701491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For a decimal number, </a:t>
            </a:r>
            <a:r>
              <a:rPr lang="en-US" dirty="0">
                <a:latin typeface="Courier New" panose="02070309020205020404" pitchFamily="49" charset="0"/>
                <a:cs typeface="Courier New" panose="02070309020205020404" pitchFamily="49" charset="0"/>
              </a:rPr>
              <a:t>54625</a:t>
            </a:r>
            <a:r>
              <a:rPr lang="en-US" baseline="-25000" dirty="0">
                <a:latin typeface="Courier New" panose="02070309020205020404" pitchFamily="49" charset="0"/>
                <a:cs typeface="Courier New" panose="02070309020205020404" pitchFamily="49" charset="0"/>
              </a:rPr>
              <a:t>10</a:t>
            </a:r>
            <a:r>
              <a:rPr lang="en-US" dirty="0"/>
              <a:t>, we can convert it into a hexadecimal number by repeatedly dividing it by 16 until the quotient is smaller than 16, then arranging the quotient and the sequence of remainders from the last one to the first one.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Therefore, </a:t>
            </a:r>
            <a:r>
              <a:rPr lang="en-US" dirty="0">
                <a:latin typeface="Courier New" panose="02070309020205020404" pitchFamily="49" charset="0"/>
                <a:cs typeface="Courier New" panose="02070309020205020404" pitchFamily="49" charset="0"/>
              </a:rPr>
              <a:t>54625</a:t>
            </a:r>
            <a:r>
              <a:rPr lang="en-US" baseline="-25000" dirty="0">
                <a:latin typeface="Courier New" panose="02070309020205020404" pitchFamily="49" charset="0"/>
                <a:cs typeface="Courier New" panose="02070309020205020404" pitchFamily="49" charset="0"/>
              </a:rPr>
              <a:t>10</a:t>
            </a:r>
            <a:r>
              <a:rPr lang="en-US" dirty="0"/>
              <a:t> = </a:t>
            </a:r>
            <a:r>
              <a:rPr lang="en-US" dirty="0">
                <a:latin typeface="Courier New" panose="02070309020205020404" pitchFamily="49" charset="0"/>
                <a:cs typeface="Courier New" panose="02070309020205020404" pitchFamily="49" charset="0"/>
              </a:rPr>
              <a:t>D561</a:t>
            </a:r>
            <a:r>
              <a:rPr lang="en-US" baseline="-25000" dirty="0">
                <a:latin typeface="Courier New" panose="02070309020205020404" pitchFamily="49" charset="0"/>
                <a:cs typeface="Courier New" panose="02070309020205020404" pitchFamily="49" charset="0"/>
              </a:rPr>
              <a:t>16</a:t>
            </a:r>
            <a:r>
              <a:rPr lang="en-US" dirty="0"/>
              <a:t>.</a:t>
            </a:r>
          </a:p>
        </p:txBody>
      </p:sp>
      <p:sp>
        <p:nvSpPr>
          <p:cNvPr id="3" name="Slide Number Placeholder 2"/>
          <p:cNvSpPr>
            <a:spLocks noGrp="1"/>
          </p:cNvSpPr>
          <p:nvPr>
            <p:ph type="sldNum" sz="quarter" idx="12"/>
          </p:nvPr>
        </p:nvSpPr>
        <p:spPr/>
        <p:txBody>
          <a:bodyPr/>
          <a:lstStyle/>
          <a:p>
            <a:fld id="{6D22F896-40B5-4ADD-8801-0D06FADFA095}" type="slidenum">
              <a:rPr lang="en-US" smtClean="0"/>
              <a:t>23</a:t>
            </a:fld>
            <a:endParaRPr lang="en-US" dirty="0"/>
          </a:p>
        </p:txBody>
      </p:sp>
      <p:sp>
        <p:nvSpPr>
          <p:cNvPr id="4" name="Text Placeholder 3"/>
          <p:cNvSpPr>
            <a:spLocks noGrp="1"/>
          </p:cNvSpPr>
          <p:nvPr>
            <p:ph type="body" sz="quarter" idx="13"/>
          </p:nvPr>
        </p:nvSpPr>
        <p:spPr/>
        <p:txBody>
          <a:bodyPr/>
          <a:lstStyle/>
          <a:p>
            <a:r>
              <a:rPr lang="en-HK" dirty="0"/>
              <a:t>3.2</a:t>
            </a:r>
            <a:endParaRPr lang="en-US" dirty="0"/>
          </a:p>
        </p:txBody>
      </p:sp>
      <p:pic>
        <p:nvPicPr>
          <p:cNvPr id="5" name="Picture 4"/>
          <p:cNvPicPr>
            <a:picLocks noChangeAspect="1"/>
          </p:cNvPicPr>
          <p:nvPr/>
        </p:nvPicPr>
        <p:blipFill>
          <a:blip r:embed="rId2"/>
          <a:stretch>
            <a:fillRect/>
          </a:stretch>
        </p:blipFill>
        <p:spPr>
          <a:xfrm>
            <a:off x="4562134" y="2867025"/>
            <a:ext cx="3322604" cy="2695575"/>
          </a:xfrm>
          <a:prstGeom prst="rect">
            <a:avLst/>
          </a:prstGeom>
        </p:spPr>
      </p:pic>
    </p:spTree>
    <p:extLst>
      <p:ext uri="{BB962C8B-B14F-4D97-AF65-F5344CB8AC3E}">
        <p14:creationId xmlns:p14="http://schemas.microsoft.com/office/powerpoint/2010/main" val="10403221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Font typeface="+mj-lt"/>
              <a:buAutoNum type="arabicPeriod" startAt="2"/>
            </a:pPr>
            <a:r>
              <a:rPr lang="en-US" dirty="0"/>
              <a:t>Convert </a:t>
            </a:r>
            <a:r>
              <a:rPr lang="en-US" dirty="0">
                <a:latin typeface="Courier New" panose="02070309020205020404" pitchFamily="49" charset="0"/>
                <a:cs typeface="Courier New" panose="02070309020205020404" pitchFamily="49" charset="0"/>
              </a:rPr>
              <a:t>34604</a:t>
            </a:r>
            <a:r>
              <a:rPr lang="en-US" baseline="-25000" dirty="0">
                <a:latin typeface="Courier New" panose="02070309020205020404" pitchFamily="49" charset="0"/>
                <a:cs typeface="Courier New" panose="02070309020205020404" pitchFamily="49" charset="0"/>
              </a:rPr>
              <a:t>10</a:t>
            </a:r>
            <a:r>
              <a:rPr lang="en-US" baseline="-25000" dirty="0"/>
              <a:t> </a:t>
            </a:r>
            <a:r>
              <a:rPr lang="en-US" dirty="0"/>
              <a:t>into a hexadecimal number.</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Therefore, </a:t>
            </a:r>
            <a:r>
              <a:rPr lang="en-US" dirty="0">
                <a:latin typeface="Courier New" panose="02070309020205020404" pitchFamily="49" charset="0"/>
                <a:cs typeface="Courier New" panose="02070309020205020404" pitchFamily="49" charset="0"/>
              </a:rPr>
              <a:t>34604</a:t>
            </a:r>
            <a:r>
              <a:rPr lang="en-US" baseline="-25000" dirty="0">
                <a:latin typeface="Courier New" panose="02070309020205020404" pitchFamily="49" charset="0"/>
                <a:cs typeface="Courier New" panose="02070309020205020404" pitchFamily="49" charset="0"/>
              </a:rPr>
              <a:t>10</a:t>
            </a:r>
            <a:r>
              <a:rPr lang="en-US" dirty="0"/>
              <a:t> = </a:t>
            </a:r>
          </a:p>
          <a:p>
            <a:pPr marL="457200" indent="-457200">
              <a:buAutoNum type="arabicPeriod" startAt="2"/>
            </a:pP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24</a:t>
            </a:fld>
            <a:endParaRPr lang="en-US" dirty="0"/>
          </a:p>
        </p:txBody>
      </p:sp>
      <p:sp>
        <p:nvSpPr>
          <p:cNvPr id="4" name="Text Placeholder 3"/>
          <p:cNvSpPr>
            <a:spLocks noGrp="1"/>
          </p:cNvSpPr>
          <p:nvPr>
            <p:ph type="body" sz="quarter" idx="13"/>
          </p:nvPr>
        </p:nvSpPr>
        <p:spPr/>
        <p:txBody>
          <a:bodyPr/>
          <a:lstStyle/>
          <a:p>
            <a:r>
              <a:rPr lang="en-HK" dirty="0"/>
              <a:t>3.2</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1861585748"/>
              </p:ext>
            </p:extLst>
          </p:nvPr>
        </p:nvGraphicFramePr>
        <p:xfrm>
          <a:off x="904875" y="1986490"/>
          <a:ext cx="10382250" cy="2490259"/>
        </p:xfrm>
        <a:graphic>
          <a:graphicData uri="http://schemas.openxmlformats.org/drawingml/2006/table">
            <a:tbl>
              <a:tblPr firstRow="1" bandRow="1">
                <a:tableStyleId>{5C22544A-7EE6-4342-B048-85BDC9FD1C3A}</a:tableStyleId>
              </a:tblPr>
              <a:tblGrid>
                <a:gridCol w="10382250">
                  <a:extLst>
                    <a:ext uri="{9D8B030D-6E8A-4147-A177-3AD203B41FA5}">
                      <a16:colId xmlns:a16="http://schemas.microsoft.com/office/drawing/2014/main" val="20000"/>
                    </a:ext>
                  </a:extLst>
                </a:gridCol>
              </a:tblGrid>
              <a:tr h="2490259">
                <a:tc>
                  <a:txBody>
                    <a:bodyPr/>
                    <a:lstStyle/>
                    <a:p>
                      <a:endParaRPr lang="en-US" dirty="0"/>
                    </a:p>
                  </a:txBody>
                  <a:tcP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5426892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Font typeface="+mj-lt"/>
              <a:buAutoNum type="arabicPeriod" startAt="2"/>
            </a:pPr>
            <a:r>
              <a:rPr lang="en-US" dirty="0"/>
              <a:t>Convert </a:t>
            </a:r>
            <a:r>
              <a:rPr lang="en-US" dirty="0">
                <a:latin typeface="Courier New" panose="02070309020205020404" pitchFamily="49" charset="0"/>
                <a:cs typeface="Courier New" panose="02070309020205020404" pitchFamily="49" charset="0"/>
              </a:rPr>
              <a:t>34604</a:t>
            </a:r>
            <a:r>
              <a:rPr lang="en-US" baseline="-25000" dirty="0">
                <a:latin typeface="Courier New" panose="02070309020205020404" pitchFamily="49" charset="0"/>
                <a:cs typeface="Courier New" panose="02070309020205020404" pitchFamily="49" charset="0"/>
              </a:rPr>
              <a:t>10</a:t>
            </a:r>
            <a:r>
              <a:rPr lang="en-US" baseline="-25000" dirty="0"/>
              <a:t> </a:t>
            </a:r>
            <a:r>
              <a:rPr lang="en-US" dirty="0"/>
              <a:t>into a hexadecimal number.</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Therefore, </a:t>
            </a:r>
            <a:r>
              <a:rPr lang="en-US" dirty="0">
                <a:latin typeface="Courier New" panose="02070309020205020404" pitchFamily="49" charset="0"/>
                <a:cs typeface="Courier New" panose="02070309020205020404" pitchFamily="49" charset="0"/>
              </a:rPr>
              <a:t>34604</a:t>
            </a:r>
            <a:r>
              <a:rPr lang="en-US" baseline="-25000" dirty="0">
                <a:latin typeface="Courier New" panose="02070309020205020404" pitchFamily="49" charset="0"/>
                <a:cs typeface="Courier New" panose="02070309020205020404" pitchFamily="49" charset="0"/>
              </a:rPr>
              <a:t>10</a:t>
            </a:r>
            <a:r>
              <a:rPr lang="en-US" dirty="0"/>
              <a:t> = </a:t>
            </a:r>
            <a:r>
              <a:rPr lang="en-US" dirty="0">
                <a:solidFill>
                  <a:srgbClr val="FF0000"/>
                </a:solidFill>
                <a:latin typeface="Courier New" panose="02070309020205020404" pitchFamily="49" charset="0"/>
                <a:cs typeface="Courier New" panose="02070309020205020404" pitchFamily="49" charset="0"/>
              </a:rPr>
              <a:t>872C</a:t>
            </a:r>
            <a:r>
              <a:rPr lang="en-US" baseline="-25000" dirty="0">
                <a:solidFill>
                  <a:srgbClr val="FF0000"/>
                </a:solidFill>
                <a:latin typeface="Courier New" panose="02070309020205020404" pitchFamily="49" charset="0"/>
                <a:cs typeface="Courier New" panose="02070309020205020404" pitchFamily="49" charset="0"/>
              </a:rPr>
              <a:t>16.</a:t>
            </a:r>
          </a:p>
          <a:p>
            <a:pPr marL="457200" indent="-457200">
              <a:buAutoNum type="arabicPeriod" startAt="2"/>
            </a:pP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25</a:t>
            </a:fld>
            <a:endParaRPr lang="en-US" dirty="0"/>
          </a:p>
        </p:txBody>
      </p:sp>
      <p:sp>
        <p:nvSpPr>
          <p:cNvPr id="4" name="Text Placeholder 3"/>
          <p:cNvSpPr>
            <a:spLocks noGrp="1"/>
          </p:cNvSpPr>
          <p:nvPr>
            <p:ph type="body" sz="quarter" idx="13"/>
          </p:nvPr>
        </p:nvSpPr>
        <p:spPr/>
        <p:txBody>
          <a:bodyPr/>
          <a:lstStyle/>
          <a:p>
            <a:r>
              <a:rPr lang="en-HK" dirty="0"/>
              <a:t>3.2</a:t>
            </a:r>
            <a:endParaRPr lang="en-US" dirty="0"/>
          </a:p>
        </p:txBody>
      </p:sp>
      <p:graphicFrame>
        <p:nvGraphicFramePr>
          <p:cNvPr id="5" name="Table 4"/>
          <p:cNvGraphicFramePr>
            <a:graphicFrameLocks noGrp="1"/>
          </p:cNvGraphicFramePr>
          <p:nvPr/>
        </p:nvGraphicFramePr>
        <p:xfrm>
          <a:off x="904875" y="1986490"/>
          <a:ext cx="10382250" cy="2490259"/>
        </p:xfrm>
        <a:graphic>
          <a:graphicData uri="http://schemas.openxmlformats.org/drawingml/2006/table">
            <a:tbl>
              <a:tblPr firstRow="1" bandRow="1">
                <a:tableStyleId>{5C22544A-7EE6-4342-B048-85BDC9FD1C3A}</a:tableStyleId>
              </a:tblPr>
              <a:tblGrid>
                <a:gridCol w="10382250">
                  <a:extLst>
                    <a:ext uri="{9D8B030D-6E8A-4147-A177-3AD203B41FA5}">
                      <a16:colId xmlns:a16="http://schemas.microsoft.com/office/drawing/2014/main" val="20000"/>
                    </a:ext>
                  </a:extLst>
                </a:gridCol>
              </a:tblGrid>
              <a:tr h="2490259">
                <a:tc>
                  <a:txBody>
                    <a:bodyPr/>
                    <a:lstStyle/>
                    <a:p>
                      <a:endParaRPr lang="en-US" dirty="0"/>
                    </a:p>
                  </a:txBody>
                  <a:tcP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pic>
        <p:nvPicPr>
          <p:cNvPr id="6" name="Picture 5"/>
          <p:cNvPicPr>
            <a:picLocks noChangeAspect="1"/>
          </p:cNvPicPr>
          <p:nvPr/>
        </p:nvPicPr>
        <p:blipFill>
          <a:blip r:embed="rId2"/>
          <a:stretch>
            <a:fillRect/>
          </a:stretch>
        </p:blipFill>
        <p:spPr>
          <a:xfrm>
            <a:off x="4423944" y="2027644"/>
            <a:ext cx="3337346" cy="2430055"/>
          </a:xfrm>
          <a:prstGeom prst="rect">
            <a:avLst/>
          </a:prstGeom>
        </p:spPr>
      </p:pic>
    </p:spTree>
    <p:extLst>
      <p:ext uri="{BB962C8B-B14F-4D97-AF65-F5344CB8AC3E}">
        <p14:creationId xmlns:p14="http://schemas.microsoft.com/office/powerpoint/2010/main" val="23549902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dirty="0">
                <a:solidFill>
                  <a:srgbClr val="C6993D"/>
                </a:solidFill>
              </a:rPr>
              <a:t>Calculation of hexadecimal numbers</a:t>
            </a:r>
          </a:p>
          <a:p>
            <a:r>
              <a:rPr lang="en-US" dirty="0"/>
              <a:t>Similarly, some calculators can calculate hexadecimal numbers too. Nevertheless, it is not difficult to calculate hexadecimal numbers by ourselves. </a:t>
            </a:r>
          </a:p>
          <a:p>
            <a:r>
              <a:rPr lang="en-US" dirty="0"/>
              <a:t>Here is an example of calculating </a:t>
            </a:r>
            <a:r>
              <a:rPr lang="en-US" dirty="0" smtClean="0">
                <a:latin typeface="Courier New" panose="02070309020205020404" pitchFamily="49" charset="0"/>
                <a:cs typeface="Courier New" panose="02070309020205020404" pitchFamily="49" charset="0"/>
              </a:rPr>
              <a:t>B4AF</a:t>
            </a:r>
            <a:r>
              <a:rPr lang="en-HK" baseline="-25000" dirty="0">
                <a:latin typeface="Courier New" panose="02070309020205020404" pitchFamily="49" charset="0"/>
                <a:cs typeface="Courier New" panose="02070309020205020404" pitchFamily="49" charset="0"/>
              </a:rPr>
              <a:t>16</a:t>
            </a:r>
            <a:r>
              <a:rPr lang="en-US" dirty="0" smtClean="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 </a:t>
            </a:r>
            <a:r>
              <a:rPr lang="en-US" dirty="0" smtClean="0">
                <a:latin typeface="Courier New" panose="02070309020205020404" pitchFamily="49" charset="0"/>
                <a:cs typeface="Courier New" panose="02070309020205020404" pitchFamily="49" charset="0"/>
              </a:rPr>
              <a:t>9C7E</a:t>
            </a:r>
            <a:r>
              <a:rPr lang="en-HK" baseline="-25000" dirty="0">
                <a:latin typeface="Courier New" panose="02070309020205020404" pitchFamily="49" charset="0"/>
                <a:cs typeface="Courier New" panose="02070309020205020404" pitchFamily="49" charset="0"/>
              </a:rPr>
              <a:t>16</a:t>
            </a:r>
            <a:r>
              <a:rPr lang="en-US" dirty="0" smtClean="0"/>
              <a:t>.</a:t>
            </a:r>
            <a:endParaRPr lang="en-US" b="1" dirty="0">
              <a:solidFill>
                <a:srgbClr val="C6993D"/>
              </a:solidFill>
            </a:endParaRPr>
          </a:p>
        </p:txBody>
      </p:sp>
      <p:sp>
        <p:nvSpPr>
          <p:cNvPr id="3" name="Slide Number Placeholder 2"/>
          <p:cNvSpPr>
            <a:spLocks noGrp="1"/>
          </p:cNvSpPr>
          <p:nvPr>
            <p:ph type="sldNum" sz="quarter" idx="12"/>
          </p:nvPr>
        </p:nvSpPr>
        <p:spPr/>
        <p:txBody>
          <a:bodyPr/>
          <a:lstStyle/>
          <a:p>
            <a:fld id="{6D22F896-40B5-4ADD-8801-0D06FADFA095}" type="slidenum">
              <a:rPr lang="en-US" smtClean="0"/>
              <a:t>26</a:t>
            </a:fld>
            <a:endParaRPr lang="en-US" dirty="0"/>
          </a:p>
        </p:txBody>
      </p:sp>
      <p:sp>
        <p:nvSpPr>
          <p:cNvPr id="4" name="Text Placeholder 3"/>
          <p:cNvSpPr>
            <a:spLocks noGrp="1"/>
          </p:cNvSpPr>
          <p:nvPr>
            <p:ph type="body" sz="quarter" idx="13"/>
          </p:nvPr>
        </p:nvSpPr>
        <p:spPr/>
        <p:txBody>
          <a:bodyPr/>
          <a:lstStyle/>
          <a:p>
            <a:r>
              <a:rPr lang="en-HK" dirty="0"/>
              <a:t>3.2</a:t>
            </a:r>
            <a:endParaRPr lang="en-US" dirty="0"/>
          </a:p>
        </p:txBody>
      </p:sp>
      <p:pic>
        <p:nvPicPr>
          <p:cNvPr id="5" name="Picture 4"/>
          <p:cNvPicPr>
            <a:picLocks noChangeAspect="1"/>
          </p:cNvPicPr>
          <p:nvPr/>
        </p:nvPicPr>
        <p:blipFill>
          <a:blip r:embed="rId2"/>
          <a:stretch>
            <a:fillRect/>
          </a:stretch>
        </p:blipFill>
        <p:spPr>
          <a:xfrm>
            <a:off x="3204907" y="3662322"/>
            <a:ext cx="5510468" cy="2288853"/>
          </a:xfrm>
          <a:prstGeom prst="rect">
            <a:avLst/>
          </a:prstGeom>
        </p:spPr>
      </p:pic>
    </p:spTree>
    <p:extLst>
      <p:ext uri="{BB962C8B-B14F-4D97-AF65-F5344CB8AC3E}">
        <p14:creationId xmlns:p14="http://schemas.microsoft.com/office/powerpoint/2010/main" val="42229354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Font typeface="+mj-lt"/>
              <a:buAutoNum type="arabicPeriod" startAt="3"/>
            </a:pPr>
            <a:r>
              <a:rPr lang="en-HK" dirty="0"/>
              <a:t>Calculate </a:t>
            </a:r>
            <a:r>
              <a:rPr lang="en-HK" dirty="0">
                <a:latin typeface="Courier New" panose="02070309020205020404" pitchFamily="49" charset="0"/>
                <a:cs typeface="Courier New" panose="02070309020205020404" pitchFamily="49" charset="0"/>
              </a:rPr>
              <a:t>6D61</a:t>
            </a:r>
            <a:r>
              <a:rPr lang="en-HK" baseline="-25000" dirty="0">
                <a:latin typeface="Courier New" panose="02070309020205020404" pitchFamily="49" charset="0"/>
                <a:cs typeface="Courier New" panose="02070309020205020404" pitchFamily="49" charset="0"/>
              </a:rPr>
              <a:t>16</a:t>
            </a:r>
            <a:r>
              <a:rPr lang="en-HK" dirty="0">
                <a:latin typeface="Courier New" panose="02070309020205020404" pitchFamily="49" charset="0"/>
                <a:cs typeface="Courier New" panose="02070309020205020404" pitchFamily="49" charset="0"/>
              </a:rPr>
              <a:t> + 972C</a:t>
            </a:r>
            <a:r>
              <a:rPr lang="en-HK" baseline="-25000" dirty="0">
                <a:latin typeface="Courier New" panose="02070309020205020404" pitchFamily="49" charset="0"/>
                <a:cs typeface="Courier New" panose="02070309020205020404" pitchFamily="49" charset="0"/>
              </a:rPr>
              <a:t>16</a:t>
            </a:r>
            <a:r>
              <a:rPr lang="en-HK" dirty="0"/>
              <a:t>.</a:t>
            </a:r>
          </a:p>
          <a:p>
            <a:pPr marL="457200" indent="-457200">
              <a:buAutoNum type="arabicPeriod" startAt="3"/>
            </a:pP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27</a:t>
            </a:fld>
            <a:endParaRPr lang="en-US" dirty="0"/>
          </a:p>
        </p:txBody>
      </p:sp>
      <p:sp>
        <p:nvSpPr>
          <p:cNvPr id="4" name="Text Placeholder 3"/>
          <p:cNvSpPr>
            <a:spLocks noGrp="1"/>
          </p:cNvSpPr>
          <p:nvPr>
            <p:ph type="body" sz="quarter" idx="13"/>
          </p:nvPr>
        </p:nvSpPr>
        <p:spPr/>
        <p:txBody>
          <a:bodyPr/>
          <a:lstStyle/>
          <a:p>
            <a:r>
              <a:rPr lang="en-HK" dirty="0"/>
              <a:t>3.2</a:t>
            </a:r>
            <a:endParaRPr lang="en-US" dirty="0"/>
          </a:p>
        </p:txBody>
      </p:sp>
      <p:graphicFrame>
        <p:nvGraphicFramePr>
          <p:cNvPr id="5" name="Table 4"/>
          <p:cNvGraphicFramePr>
            <a:graphicFrameLocks noGrp="1"/>
          </p:cNvGraphicFramePr>
          <p:nvPr/>
        </p:nvGraphicFramePr>
        <p:xfrm>
          <a:off x="838200" y="2110316"/>
          <a:ext cx="10515600" cy="2137834"/>
        </p:xfrm>
        <a:graphic>
          <a:graphicData uri="http://schemas.openxmlformats.org/drawingml/2006/table">
            <a:tbl>
              <a:tblPr firstRow="1" bandRow="1">
                <a:tableStyleId>{5C22544A-7EE6-4342-B048-85BDC9FD1C3A}</a:tableStyleId>
              </a:tblPr>
              <a:tblGrid>
                <a:gridCol w="10515600">
                  <a:extLst>
                    <a:ext uri="{9D8B030D-6E8A-4147-A177-3AD203B41FA5}">
                      <a16:colId xmlns:a16="http://schemas.microsoft.com/office/drawing/2014/main" val="20000"/>
                    </a:ext>
                  </a:extLst>
                </a:gridCol>
              </a:tblGrid>
              <a:tr h="2137834">
                <a:tc>
                  <a:txBody>
                    <a:bodyPr/>
                    <a:lstStyle/>
                    <a:p>
                      <a:endParaRPr lang="en-US" dirty="0"/>
                    </a:p>
                  </a:txBody>
                  <a:tcP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0756240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Font typeface="+mj-lt"/>
              <a:buAutoNum type="arabicPeriod" startAt="3"/>
            </a:pPr>
            <a:r>
              <a:rPr lang="en-HK" dirty="0"/>
              <a:t>Calculate </a:t>
            </a:r>
            <a:r>
              <a:rPr lang="en-HK" dirty="0">
                <a:latin typeface="Courier New" panose="02070309020205020404" pitchFamily="49" charset="0"/>
                <a:cs typeface="Courier New" panose="02070309020205020404" pitchFamily="49" charset="0"/>
              </a:rPr>
              <a:t>6D61</a:t>
            </a:r>
            <a:r>
              <a:rPr lang="en-HK" baseline="-25000" dirty="0">
                <a:latin typeface="Courier New" panose="02070309020205020404" pitchFamily="49" charset="0"/>
                <a:cs typeface="Courier New" panose="02070309020205020404" pitchFamily="49" charset="0"/>
              </a:rPr>
              <a:t>16</a:t>
            </a:r>
            <a:r>
              <a:rPr lang="en-HK" dirty="0">
                <a:latin typeface="Courier New" panose="02070309020205020404" pitchFamily="49" charset="0"/>
                <a:cs typeface="Courier New" panose="02070309020205020404" pitchFamily="49" charset="0"/>
              </a:rPr>
              <a:t> + 972C</a:t>
            </a:r>
            <a:r>
              <a:rPr lang="en-HK" baseline="-25000" dirty="0">
                <a:latin typeface="Courier New" panose="02070309020205020404" pitchFamily="49" charset="0"/>
                <a:cs typeface="Courier New" panose="02070309020205020404" pitchFamily="49" charset="0"/>
              </a:rPr>
              <a:t>16</a:t>
            </a:r>
            <a:r>
              <a:rPr lang="en-HK" dirty="0"/>
              <a:t>.</a:t>
            </a:r>
          </a:p>
          <a:p>
            <a:pPr marL="457200" indent="-457200">
              <a:buAutoNum type="arabicPeriod" startAt="3"/>
            </a:pP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28</a:t>
            </a:fld>
            <a:endParaRPr lang="en-US" dirty="0"/>
          </a:p>
        </p:txBody>
      </p:sp>
      <p:sp>
        <p:nvSpPr>
          <p:cNvPr id="4" name="Text Placeholder 3"/>
          <p:cNvSpPr>
            <a:spLocks noGrp="1"/>
          </p:cNvSpPr>
          <p:nvPr>
            <p:ph type="body" sz="quarter" idx="13"/>
          </p:nvPr>
        </p:nvSpPr>
        <p:spPr/>
        <p:txBody>
          <a:bodyPr/>
          <a:lstStyle/>
          <a:p>
            <a:r>
              <a:rPr lang="en-HK" dirty="0"/>
              <a:t>3.2</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2180093681"/>
              </p:ext>
            </p:extLst>
          </p:nvPr>
        </p:nvGraphicFramePr>
        <p:xfrm>
          <a:off x="838200" y="2110316"/>
          <a:ext cx="10515600" cy="2137834"/>
        </p:xfrm>
        <a:graphic>
          <a:graphicData uri="http://schemas.openxmlformats.org/drawingml/2006/table">
            <a:tbl>
              <a:tblPr firstRow="1" bandRow="1">
                <a:tableStyleId>{5C22544A-7EE6-4342-B048-85BDC9FD1C3A}</a:tableStyleId>
              </a:tblPr>
              <a:tblGrid>
                <a:gridCol w="10515600">
                  <a:extLst>
                    <a:ext uri="{9D8B030D-6E8A-4147-A177-3AD203B41FA5}">
                      <a16:colId xmlns:a16="http://schemas.microsoft.com/office/drawing/2014/main" val="20000"/>
                    </a:ext>
                  </a:extLst>
                </a:gridCol>
              </a:tblGrid>
              <a:tr h="2137834">
                <a:tc>
                  <a:txBody>
                    <a:bodyPr/>
                    <a:lstStyle/>
                    <a:p>
                      <a:endParaRPr lang="en-US" dirty="0"/>
                    </a:p>
                  </a:txBody>
                  <a:tcP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pic>
        <p:nvPicPr>
          <p:cNvPr id="6" name="Picture 5"/>
          <p:cNvPicPr>
            <a:picLocks noChangeAspect="1"/>
          </p:cNvPicPr>
          <p:nvPr/>
        </p:nvPicPr>
        <p:blipFill>
          <a:blip r:embed="rId2"/>
          <a:stretch>
            <a:fillRect/>
          </a:stretch>
        </p:blipFill>
        <p:spPr>
          <a:xfrm>
            <a:off x="3874011" y="2243244"/>
            <a:ext cx="4443978" cy="1895610"/>
          </a:xfrm>
          <a:prstGeom prst="rect">
            <a:avLst/>
          </a:prstGeom>
        </p:spPr>
      </p:pic>
    </p:spTree>
    <p:extLst>
      <p:ext uri="{BB962C8B-B14F-4D97-AF65-F5344CB8AC3E}">
        <p14:creationId xmlns:p14="http://schemas.microsoft.com/office/powerpoint/2010/main" val="35121184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Font typeface="+mj-lt"/>
              <a:buAutoNum type="arabicPeriod" startAt="4"/>
            </a:pPr>
            <a:r>
              <a:rPr lang="en-US" dirty="0"/>
              <a:t>Calculate </a:t>
            </a:r>
            <a:r>
              <a:rPr lang="en-US" dirty="0">
                <a:latin typeface="Courier New" panose="02070309020205020404" pitchFamily="49" charset="0"/>
                <a:cs typeface="Courier New" panose="02070309020205020404" pitchFamily="49" charset="0"/>
              </a:rPr>
              <a:t>972C</a:t>
            </a:r>
            <a:r>
              <a:rPr lang="en-US" baseline="-25000" dirty="0">
                <a:latin typeface="Courier New" panose="02070309020205020404" pitchFamily="49" charset="0"/>
                <a:cs typeface="Courier New" panose="02070309020205020404" pitchFamily="49" charset="0"/>
              </a:rPr>
              <a:t>16</a:t>
            </a:r>
            <a:r>
              <a:rPr lang="en-US" dirty="0">
                <a:latin typeface="Courier New" panose="02070309020205020404" pitchFamily="49" charset="0"/>
                <a:cs typeface="Courier New" panose="02070309020205020404" pitchFamily="49" charset="0"/>
              </a:rPr>
              <a:t> − 6D61</a:t>
            </a:r>
            <a:r>
              <a:rPr lang="en-US" baseline="-25000" dirty="0">
                <a:latin typeface="Courier New" panose="02070309020205020404" pitchFamily="49" charset="0"/>
                <a:cs typeface="Courier New" panose="02070309020205020404" pitchFamily="49" charset="0"/>
              </a:rPr>
              <a:t>16</a:t>
            </a:r>
            <a:r>
              <a:rPr lang="en-US" dirty="0">
                <a:latin typeface="Courier New" panose="02070309020205020404" pitchFamily="49" charset="0"/>
                <a:cs typeface="Courier New" panose="02070309020205020404" pitchFamily="49" charset="0"/>
              </a:rPr>
              <a:t> </a:t>
            </a:r>
            <a:r>
              <a:rPr lang="en-US" dirty="0"/>
              <a:t>.</a:t>
            </a:r>
          </a:p>
          <a:p>
            <a:endParaRPr lang="en-US" dirty="0"/>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29</a:t>
            </a:fld>
            <a:endParaRPr lang="en-US" dirty="0"/>
          </a:p>
        </p:txBody>
      </p:sp>
      <p:sp>
        <p:nvSpPr>
          <p:cNvPr id="4" name="Text Placeholder 3"/>
          <p:cNvSpPr>
            <a:spLocks noGrp="1"/>
          </p:cNvSpPr>
          <p:nvPr>
            <p:ph type="body" sz="quarter" idx="13"/>
          </p:nvPr>
        </p:nvSpPr>
        <p:spPr/>
        <p:txBody>
          <a:bodyPr/>
          <a:lstStyle/>
          <a:p>
            <a:r>
              <a:rPr lang="en-HK" dirty="0"/>
              <a:t>3.2</a:t>
            </a:r>
            <a:endParaRPr lang="en-US" dirty="0"/>
          </a:p>
        </p:txBody>
      </p:sp>
      <p:graphicFrame>
        <p:nvGraphicFramePr>
          <p:cNvPr id="5" name="Table 4"/>
          <p:cNvGraphicFramePr>
            <a:graphicFrameLocks noGrp="1"/>
          </p:cNvGraphicFramePr>
          <p:nvPr/>
        </p:nvGraphicFramePr>
        <p:xfrm>
          <a:off x="838200" y="2110315"/>
          <a:ext cx="10515600" cy="2794099"/>
        </p:xfrm>
        <a:graphic>
          <a:graphicData uri="http://schemas.openxmlformats.org/drawingml/2006/table">
            <a:tbl>
              <a:tblPr firstRow="1" bandRow="1">
                <a:tableStyleId>{5C22544A-7EE6-4342-B048-85BDC9FD1C3A}</a:tableStyleId>
              </a:tblPr>
              <a:tblGrid>
                <a:gridCol w="10515600">
                  <a:extLst>
                    <a:ext uri="{9D8B030D-6E8A-4147-A177-3AD203B41FA5}">
                      <a16:colId xmlns:a16="http://schemas.microsoft.com/office/drawing/2014/main" val="20000"/>
                    </a:ext>
                  </a:extLst>
                </a:gridCol>
              </a:tblGrid>
              <a:tr h="2794099">
                <a:tc>
                  <a:txBody>
                    <a:bodyPr/>
                    <a:lstStyle/>
                    <a:p>
                      <a:endParaRPr lang="en-US" dirty="0"/>
                    </a:p>
                  </a:txBody>
                  <a:tcP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2831097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Font typeface="+mj-lt"/>
              <a:buAutoNum type="arabicPeriod" startAt="4"/>
            </a:pPr>
            <a:r>
              <a:rPr lang="en-US" dirty="0"/>
              <a:t>Calculate </a:t>
            </a:r>
            <a:r>
              <a:rPr lang="en-US" dirty="0">
                <a:latin typeface="Courier New" panose="02070309020205020404" pitchFamily="49" charset="0"/>
                <a:cs typeface="Courier New" panose="02070309020205020404" pitchFamily="49" charset="0"/>
              </a:rPr>
              <a:t>972C</a:t>
            </a:r>
            <a:r>
              <a:rPr lang="en-US" baseline="-25000" dirty="0">
                <a:latin typeface="Courier New" panose="02070309020205020404" pitchFamily="49" charset="0"/>
                <a:cs typeface="Courier New" panose="02070309020205020404" pitchFamily="49" charset="0"/>
              </a:rPr>
              <a:t>16</a:t>
            </a:r>
            <a:r>
              <a:rPr lang="en-US" dirty="0">
                <a:latin typeface="Courier New" panose="02070309020205020404" pitchFamily="49" charset="0"/>
                <a:cs typeface="Courier New" panose="02070309020205020404" pitchFamily="49" charset="0"/>
              </a:rPr>
              <a:t> − 6D61</a:t>
            </a:r>
            <a:r>
              <a:rPr lang="en-US" baseline="-25000" dirty="0">
                <a:latin typeface="Courier New" panose="02070309020205020404" pitchFamily="49" charset="0"/>
                <a:cs typeface="Courier New" panose="02070309020205020404" pitchFamily="49" charset="0"/>
              </a:rPr>
              <a:t>16</a:t>
            </a:r>
            <a:r>
              <a:rPr lang="en-US" dirty="0">
                <a:latin typeface="Courier New" panose="02070309020205020404" pitchFamily="49" charset="0"/>
                <a:cs typeface="Courier New" panose="02070309020205020404" pitchFamily="49" charset="0"/>
              </a:rPr>
              <a:t> </a:t>
            </a:r>
            <a:r>
              <a:rPr lang="en-US" dirty="0"/>
              <a:t>.</a:t>
            </a:r>
          </a:p>
          <a:p>
            <a:endParaRPr lang="en-US" dirty="0"/>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30</a:t>
            </a:fld>
            <a:endParaRPr lang="en-US" dirty="0"/>
          </a:p>
        </p:txBody>
      </p:sp>
      <p:sp>
        <p:nvSpPr>
          <p:cNvPr id="4" name="Text Placeholder 3"/>
          <p:cNvSpPr>
            <a:spLocks noGrp="1"/>
          </p:cNvSpPr>
          <p:nvPr>
            <p:ph type="body" sz="quarter" idx="13"/>
          </p:nvPr>
        </p:nvSpPr>
        <p:spPr/>
        <p:txBody>
          <a:bodyPr/>
          <a:lstStyle/>
          <a:p>
            <a:r>
              <a:rPr lang="en-HK" dirty="0"/>
              <a:t>3.2</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4224756494"/>
              </p:ext>
            </p:extLst>
          </p:nvPr>
        </p:nvGraphicFramePr>
        <p:xfrm>
          <a:off x="838200" y="2110315"/>
          <a:ext cx="10515600" cy="2794099"/>
        </p:xfrm>
        <a:graphic>
          <a:graphicData uri="http://schemas.openxmlformats.org/drawingml/2006/table">
            <a:tbl>
              <a:tblPr firstRow="1" bandRow="1">
                <a:tableStyleId>{5C22544A-7EE6-4342-B048-85BDC9FD1C3A}</a:tableStyleId>
              </a:tblPr>
              <a:tblGrid>
                <a:gridCol w="10515600">
                  <a:extLst>
                    <a:ext uri="{9D8B030D-6E8A-4147-A177-3AD203B41FA5}">
                      <a16:colId xmlns:a16="http://schemas.microsoft.com/office/drawing/2014/main" val="20000"/>
                    </a:ext>
                  </a:extLst>
                </a:gridCol>
              </a:tblGrid>
              <a:tr h="2794099">
                <a:tc>
                  <a:txBody>
                    <a:bodyPr/>
                    <a:lstStyle/>
                    <a:p>
                      <a:endParaRPr lang="en-US" dirty="0"/>
                    </a:p>
                  </a:txBody>
                  <a:tcP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pic>
        <p:nvPicPr>
          <p:cNvPr id="6" name="Picture 5"/>
          <p:cNvPicPr>
            <a:picLocks noChangeAspect="1"/>
          </p:cNvPicPr>
          <p:nvPr/>
        </p:nvPicPr>
        <p:blipFill>
          <a:blip r:embed="rId2"/>
          <a:stretch>
            <a:fillRect/>
          </a:stretch>
        </p:blipFill>
        <p:spPr>
          <a:xfrm>
            <a:off x="3909639" y="2232452"/>
            <a:ext cx="4167562" cy="2309555"/>
          </a:xfrm>
          <a:prstGeom prst="rect">
            <a:avLst/>
          </a:prstGeom>
        </p:spPr>
      </p:pic>
    </p:spTree>
    <p:extLst>
      <p:ext uri="{BB962C8B-B14F-4D97-AF65-F5344CB8AC3E}">
        <p14:creationId xmlns:p14="http://schemas.microsoft.com/office/powerpoint/2010/main" val="11435137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AutoNum type="arabicPeriod"/>
            </a:pPr>
            <a:r>
              <a:rPr lang="en-US" dirty="0"/>
              <a:t>Here is a 3-digit combination lock. A digit can be 1 to 9 or A to F. The figure below shows this lock with a combination of "</a:t>
            </a:r>
            <a:r>
              <a:rPr lang="en-US" dirty="0">
                <a:latin typeface="Courier New" panose="02070309020205020404" pitchFamily="49" charset="0"/>
                <a:cs typeface="Courier New" panose="02070309020205020404" pitchFamily="49" charset="0"/>
              </a:rPr>
              <a:t>15A</a:t>
            </a:r>
            <a:r>
              <a:rPr lang="en-US" dirty="0"/>
              <a:t>".</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How many different combinations does the password of this lock have?</a:t>
            </a:r>
          </a:p>
          <a:p>
            <a:pPr marL="800100" lvl="1" indent="-342900">
              <a:buAutoNum type="alphaUcPeriod"/>
            </a:pPr>
            <a:r>
              <a:rPr lang="en-HK" dirty="0"/>
              <a:t>3374</a:t>
            </a:r>
          </a:p>
          <a:p>
            <a:pPr marL="800100" lvl="1" indent="-342900">
              <a:buAutoNum type="alphaUcPeriod"/>
            </a:pPr>
            <a:r>
              <a:rPr lang="en-HK" dirty="0"/>
              <a:t>3375</a:t>
            </a:r>
          </a:p>
          <a:p>
            <a:pPr marL="800100" lvl="1" indent="-342900">
              <a:buAutoNum type="alphaUcPeriod"/>
            </a:pPr>
            <a:r>
              <a:rPr lang="en-HK" dirty="0"/>
              <a:t>4095</a:t>
            </a:r>
          </a:p>
          <a:p>
            <a:pPr marL="800100" lvl="1" indent="-342900">
              <a:buAutoNum type="alphaUcPeriod"/>
            </a:pPr>
            <a:r>
              <a:rPr lang="en-HK" dirty="0"/>
              <a:t>4096</a:t>
            </a:r>
            <a:endParaRPr lang="en-US" dirty="0"/>
          </a:p>
          <a:p>
            <a:pPr marL="457200" indent="-457200">
              <a:buAutoNum type="arabicPeriod"/>
            </a:pP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31</a:t>
            </a:fld>
            <a:endParaRPr lang="en-US" dirty="0"/>
          </a:p>
        </p:txBody>
      </p:sp>
      <p:sp>
        <p:nvSpPr>
          <p:cNvPr id="4" name="Text Placeholder 3"/>
          <p:cNvSpPr>
            <a:spLocks noGrp="1"/>
          </p:cNvSpPr>
          <p:nvPr>
            <p:ph type="body" sz="quarter" idx="13"/>
          </p:nvPr>
        </p:nvSpPr>
        <p:spPr/>
        <p:txBody>
          <a:bodyPr/>
          <a:lstStyle/>
          <a:p>
            <a:r>
              <a:rPr lang="en-HK" dirty="0"/>
              <a:t>3.1</a:t>
            </a:r>
            <a:endParaRPr lang="en-US" dirty="0"/>
          </a:p>
        </p:txBody>
      </p:sp>
      <p:pic>
        <p:nvPicPr>
          <p:cNvPr id="5" name="Picture 4"/>
          <p:cNvPicPr>
            <a:picLocks noChangeAspect="1"/>
          </p:cNvPicPr>
          <p:nvPr/>
        </p:nvPicPr>
        <p:blipFill>
          <a:blip r:embed="rId2"/>
          <a:stretch>
            <a:fillRect/>
          </a:stretch>
        </p:blipFill>
        <p:spPr>
          <a:xfrm>
            <a:off x="4392500" y="2280209"/>
            <a:ext cx="3407000" cy="1770779"/>
          </a:xfrm>
          <a:prstGeom prst="rect">
            <a:avLst/>
          </a:prstGeom>
        </p:spPr>
      </p:pic>
    </p:spTree>
    <p:extLst>
      <p:ext uri="{BB962C8B-B14F-4D97-AF65-F5344CB8AC3E}">
        <p14:creationId xmlns:p14="http://schemas.microsoft.com/office/powerpoint/2010/main" val="1867754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342900" indent="-342900">
              <a:buSzPct val="100000"/>
              <a:buFont typeface="Noto Sans CJK TC Regular" panose="020B0500000000000000" pitchFamily="34" charset="-128"/>
              <a:buChar char="◣"/>
            </a:pPr>
            <a:r>
              <a:rPr lang="en-HK" b="1" dirty="0">
                <a:solidFill>
                  <a:srgbClr val="37A3D4"/>
                </a:solidFill>
              </a:rPr>
              <a:t>Analysis</a:t>
            </a:r>
          </a:p>
          <a:p>
            <a:pPr>
              <a:buSzPct val="100000"/>
            </a:pPr>
            <a:r>
              <a:rPr lang="en-HK" dirty="0"/>
              <a:t>There are 15 possible symbols for each digit, since 0 is excluded. The number of combinations = 15 × 15 × 15 = 3375.</a:t>
            </a:r>
          </a:p>
          <a:p>
            <a:pPr>
              <a:buSzPct val="100000"/>
            </a:pPr>
            <a:endParaRPr lang="en-HK" b="1" dirty="0">
              <a:solidFill>
                <a:srgbClr val="37A3D4"/>
              </a:solidFill>
            </a:endParaRPr>
          </a:p>
          <a:p>
            <a:pPr>
              <a:buSzPct val="100000"/>
            </a:pPr>
            <a:endParaRPr lang="en-HK" b="1" dirty="0">
              <a:solidFill>
                <a:srgbClr val="37A3D4"/>
              </a:solidFill>
            </a:endParaRPr>
          </a:p>
          <a:p>
            <a:pPr marL="342900" indent="-342900">
              <a:buSzPct val="100000"/>
              <a:buFont typeface="Noto Sans CJK TC Regular" panose="020B0500000000000000" pitchFamily="34" charset="-128"/>
              <a:buChar char="◣"/>
            </a:pPr>
            <a:r>
              <a:rPr lang="en-HK" b="1" dirty="0">
                <a:solidFill>
                  <a:srgbClr val="37A3D4"/>
                </a:solidFill>
              </a:rPr>
              <a:t>Solution</a:t>
            </a:r>
          </a:p>
          <a:p>
            <a:pPr>
              <a:buSzPct val="100000"/>
            </a:pPr>
            <a:r>
              <a:rPr lang="en-HK" dirty="0"/>
              <a:t>The answer is B.</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32</a:t>
            </a:fld>
            <a:endParaRPr lang="en-US" dirty="0"/>
          </a:p>
        </p:txBody>
      </p:sp>
      <p:sp>
        <p:nvSpPr>
          <p:cNvPr id="4" name="Text Placeholder 3"/>
          <p:cNvSpPr>
            <a:spLocks noGrp="1"/>
          </p:cNvSpPr>
          <p:nvPr>
            <p:ph type="body" sz="quarter" idx="13"/>
          </p:nvPr>
        </p:nvSpPr>
        <p:spPr/>
        <p:txBody>
          <a:bodyPr/>
          <a:lstStyle/>
          <a:p>
            <a:r>
              <a:rPr lang="en-HK" dirty="0"/>
              <a:t>3.1</a:t>
            </a:r>
            <a:endParaRPr lang="en-US" dirty="0"/>
          </a:p>
        </p:txBody>
      </p:sp>
    </p:spTree>
    <p:extLst>
      <p:ext uri="{BB962C8B-B14F-4D97-AF65-F5344CB8AC3E}">
        <p14:creationId xmlns:p14="http://schemas.microsoft.com/office/powerpoint/2010/main" val="19773896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457200" indent="-457200">
              <a:buSzPct val="100000"/>
              <a:buFont typeface="+mj-lt"/>
              <a:buAutoNum type="arabicPeriod" startAt="2"/>
            </a:pPr>
            <a:r>
              <a:rPr lang="en-US" dirty="0"/>
              <a:t>Tom is the owner of a store. He wants to distribute 50,000 redeem codes for promotion. Each redeem code occupies 8 KB and is stored in a computer system. How many MB of storage space should Tom allocate for all redeem codes?</a:t>
            </a:r>
          </a:p>
          <a:p>
            <a:pPr>
              <a:buSzPct val="100000"/>
            </a:pPr>
            <a:endParaRPr lang="en-HK" dirty="0"/>
          </a:p>
          <a:p>
            <a:pPr marL="342900" indent="-342900">
              <a:buSzPct val="100000"/>
              <a:buFont typeface="Noto Sans CJK TC Regular" panose="020B0500000000000000" pitchFamily="34" charset="-128"/>
              <a:buChar char="◣"/>
            </a:pPr>
            <a:r>
              <a:rPr lang="en-HK" b="1" dirty="0">
                <a:solidFill>
                  <a:srgbClr val="37A3D4"/>
                </a:solidFill>
              </a:rPr>
              <a:t>Analysis</a:t>
            </a:r>
          </a:p>
          <a:p>
            <a:pPr>
              <a:buSzPct val="100000"/>
            </a:pPr>
            <a:r>
              <a:rPr lang="en-US" dirty="0"/>
              <a:t>The storage space Tom should allocate = 8 KB × 50,000 = 400,000 KB = (400,000 ÷ 1024) MB = 390.625 MB </a:t>
            </a:r>
          </a:p>
          <a:p>
            <a:pPr>
              <a:buSzPct val="100000"/>
            </a:pPr>
            <a:r>
              <a:rPr lang="en-US" dirty="0"/>
              <a:t>Remember that you should convert 1024 KB, not 1000 KB, into 1 MB.</a:t>
            </a:r>
          </a:p>
          <a:p>
            <a:pPr>
              <a:buSzPct val="100000"/>
            </a:pPr>
            <a:endParaRPr lang="en-HK" b="1" dirty="0">
              <a:solidFill>
                <a:srgbClr val="37A3D4"/>
              </a:solidFill>
            </a:endParaRPr>
          </a:p>
          <a:p>
            <a:pPr marL="342900" indent="-342900">
              <a:buSzPct val="100000"/>
              <a:buFont typeface="Noto Sans CJK TC Regular" panose="020B0500000000000000" pitchFamily="34" charset="-128"/>
              <a:buChar char="◣"/>
            </a:pPr>
            <a:r>
              <a:rPr lang="en-HK" b="1" dirty="0">
                <a:solidFill>
                  <a:srgbClr val="37A3D4"/>
                </a:solidFill>
              </a:rPr>
              <a:t>Solution</a:t>
            </a:r>
          </a:p>
          <a:p>
            <a:pPr>
              <a:buSzPct val="100000"/>
            </a:pPr>
            <a:r>
              <a:rPr lang="en-US" dirty="0"/>
              <a:t>The answer is 390.625 MB. Rounding the result to the nearest integer is acceptable.</a:t>
            </a:r>
          </a:p>
          <a:p>
            <a:pPr marL="457200" indent="-457200">
              <a:buSzPct val="100000"/>
              <a:buAutoNum type="arabicPeriod" startAt="2"/>
            </a:pP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33</a:t>
            </a:fld>
            <a:endParaRPr lang="en-US" dirty="0"/>
          </a:p>
        </p:txBody>
      </p:sp>
      <p:sp>
        <p:nvSpPr>
          <p:cNvPr id="4" name="Text Placeholder 3"/>
          <p:cNvSpPr>
            <a:spLocks noGrp="1"/>
          </p:cNvSpPr>
          <p:nvPr>
            <p:ph type="body" sz="quarter" idx="13"/>
          </p:nvPr>
        </p:nvSpPr>
        <p:spPr/>
        <p:txBody>
          <a:bodyPr/>
          <a:lstStyle/>
          <a:p>
            <a:r>
              <a:rPr lang="en-HK" dirty="0"/>
              <a:t>3.1</a:t>
            </a:r>
            <a:endParaRPr lang="en-US" dirty="0"/>
          </a:p>
        </p:txBody>
      </p:sp>
    </p:spTree>
    <p:extLst>
      <p:ext uri="{BB962C8B-B14F-4D97-AF65-F5344CB8AC3E}">
        <p14:creationId xmlns:p14="http://schemas.microsoft.com/office/powerpoint/2010/main" val="23207461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SzPct val="100000"/>
              <a:buFont typeface="+mj-lt"/>
              <a:buAutoNum type="arabicPeriod" startAt="3"/>
            </a:pPr>
            <a:r>
              <a:rPr lang="en-US" dirty="0"/>
              <a:t>The computer system used by a school allocates 8 bits for a student identity number and 1 bit for the gender of a student. What is the maximum number of student accounts in the system?</a:t>
            </a:r>
            <a:br>
              <a:rPr lang="en-US" dirty="0"/>
            </a:br>
            <a:endParaRPr lang="en-US" dirty="0"/>
          </a:p>
          <a:p>
            <a:pPr marL="800100" lvl="1" indent="-342900">
              <a:buSzPct val="100000"/>
              <a:buAutoNum type="alphaUcPeriod"/>
            </a:pPr>
            <a:r>
              <a:rPr lang="en-US" dirty="0"/>
              <a:t>64</a:t>
            </a:r>
          </a:p>
          <a:p>
            <a:pPr marL="800100" lvl="1" indent="-342900">
              <a:buSzPct val="100000"/>
              <a:buAutoNum type="alphaUcPeriod"/>
            </a:pPr>
            <a:r>
              <a:rPr lang="en-HK" dirty="0"/>
              <a:t>128</a:t>
            </a:r>
          </a:p>
          <a:p>
            <a:pPr marL="800100" lvl="1" indent="-342900">
              <a:buSzPct val="100000"/>
              <a:buAutoNum type="alphaUcPeriod"/>
            </a:pPr>
            <a:r>
              <a:rPr lang="en-HK" dirty="0"/>
              <a:t>256</a:t>
            </a:r>
          </a:p>
          <a:p>
            <a:pPr marL="800100" lvl="1" indent="-342900">
              <a:buSzPct val="100000"/>
              <a:buAutoNum type="alphaUcPeriod"/>
            </a:pPr>
            <a:r>
              <a:rPr lang="en-HK" dirty="0"/>
              <a:t>512</a:t>
            </a:r>
            <a:endParaRPr lang="en-US" dirty="0"/>
          </a:p>
          <a:p>
            <a:pPr marL="800100" lvl="1" indent="-342900">
              <a:buSzPct val="100000"/>
              <a:buAutoNum type="alphaUcPeriod"/>
            </a:pPr>
            <a:endParaRPr lang="en-US" dirty="0"/>
          </a:p>
          <a:p>
            <a:pPr marL="457200" indent="-457200">
              <a:buSzPct val="100000"/>
              <a:buFont typeface="+mj-lt"/>
              <a:buAutoNum type="arabicPeriod" startAt="3"/>
            </a:pPr>
            <a:endParaRPr lang="en-US" dirty="0"/>
          </a:p>
          <a:p>
            <a:pPr>
              <a:buSzPct val="100000"/>
            </a:pP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34</a:t>
            </a:fld>
            <a:endParaRPr lang="en-US" dirty="0"/>
          </a:p>
        </p:txBody>
      </p:sp>
      <p:sp>
        <p:nvSpPr>
          <p:cNvPr id="4" name="Text Placeholder 3"/>
          <p:cNvSpPr>
            <a:spLocks noGrp="1"/>
          </p:cNvSpPr>
          <p:nvPr>
            <p:ph type="body" sz="quarter" idx="13"/>
          </p:nvPr>
        </p:nvSpPr>
        <p:spPr/>
        <p:txBody>
          <a:bodyPr/>
          <a:lstStyle/>
          <a:p>
            <a:r>
              <a:rPr lang="en-HK" dirty="0"/>
              <a:t>3.1</a:t>
            </a:r>
            <a:endParaRPr lang="en-US" dirty="0"/>
          </a:p>
        </p:txBody>
      </p:sp>
    </p:spTree>
    <p:extLst>
      <p:ext uri="{BB962C8B-B14F-4D97-AF65-F5344CB8AC3E}">
        <p14:creationId xmlns:p14="http://schemas.microsoft.com/office/powerpoint/2010/main" val="11949015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342900" indent="-342900">
              <a:buSzPct val="100000"/>
              <a:buFont typeface="Noto Sans CJK TC Regular" panose="020B0500000000000000" pitchFamily="34" charset="-128"/>
              <a:buChar char="◣"/>
            </a:pPr>
            <a:r>
              <a:rPr lang="en-HK" b="1" dirty="0">
                <a:solidFill>
                  <a:srgbClr val="37A3D4"/>
                </a:solidFill>
              </a:rPr>
              <a:t>Analysis</a:t>
            </a:r>
          </a:p>
          <a:p>
            <a:pPr>
              <a:buSzPct val="100000"/>
            </a:pPr>
            <a:r>
              <a:rPr lang="en-US" dirty="0"/>
              <a:t>The maximum number of student accounts in the system depends on the maximum number of student identity numbers, as each student should have a unique student identity number.</a:t>
            </a:r>
          </a:p>
          <a:p>
            <a:pPr>
              <a:buSzPct val="100000"/>
            </a:pPr>
            <a:r>
              <a:rPr lang="en-US" dirty="0"/>
              <a:t>The gender of a student is irrelevant. Two students of different genders cannot share the same student identity number.</a:t>
            </a:r>
          </a:p>
          <a:p>
            <a:pPr>
              <a:buSzPct val="100000"/>
            </a:pPr>
            <a:r>
              <a:rPr lang="en-US" dirty="0"/>
              <a:t>Since 8 bits are allocated for a student identity number, the maximum number of student accounts equals to the number of possible patterns that an 8-bit representation has, i.e. 2</a:t>
            </a:r>
            <a:r>
              <a:rPr lang="en-US" baseline="30000" dirty="0"/>
              <a:t>8</a:t>
            </a:r>
            <a:r>
              <a:rPr lang="en-US" dirty="0"/>
              <a:t> = 256.</a:t>
            </a:r>
          </a:p>
          <a:p>
            <a:pPr>
              <a:buSzPct val="100000"/>
            </a:pPr>
            <a:endParaRPr lang="en-HK" b="1" dirty="0">
              <a:solidFill>
                <a:srgbClr val="37A3D4"/>
              </a:solidFill>
            </a:endParaRPr>
          </a:p>
          <a:p>
            <a:pPr marL="342900" indent="-342900">
              <a:buSzPct val="100000"/>
              <a:buFont typeface="Noto Sans CJK TC Regular" panose="020B0500000000000000" pitchFamily="34" charset="-128"/>
              <a:buChar char="◣"/>
            </a:pPr>
            <a:r>
              <a:rPr lang="en-HK" b="1" dirty="0">
                <a:solidFill>
                  <a:srgbClr val="37A3D4"/>
                </a:solidFill>
              </a:rPr>
              <a:t>Solution</a:t>
            </a:r>
          </a:p>
          <a:p>
            <a:pPr>
              <a:buSzPct val="100000"/>
            </a:pPr>
            <a:r>
              <a:rPr lang="en-HK" dirty="0"/>
              <a:t>The answer is C.</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35</a:t>
            </a:fld>
            <a:endParaRPr lang="en-US" dirty="0"/>
          </a:p>
        </p:txBody>
      </p:sp>
      <p:sp>
        <p:nvSpPr>
          <p:cNvPr id="4" name="Text Placeholder 3"/>
          <p:cNvSpPr>
            <a:spLocks noGrp="1"/>
          </p:cNvSpPr>
          <p:nvPr>
            <p:ph type="body" sz="quarter" idx="13"/>
          </p:nvPr>
        </p:nvSpPr>
        <p:spPr/>
        <p:txBody>
          <a:bodyPr/>
          <a:lstStyle/>
          <a:p>
            <a:r>
              <a:rPr lang="en-HK" dirty="0"/>
              <a:t>3.1</a:t>
            </a:r>
            <a:endParaRPr lang="en-US" dirty="0"/>
          </a:p>
        </p:txBody>
      </p:sp>
    </p:spTree>
    <p:extLst>
      <p:ext uri="{BB962C8B-B14F-4D97-AF65-F5344CB8AC3E}">
        <p14:creationId xmlns:p14="http://schemas.microsoft.com/office/powerpoint/2010/main" val="34396425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Finish Checkpoint 3.1 on P. 67 of the textbook.</a:t>
            </a:r>
          </a:p>
          <a:p>
            <a:endParaRPr lang="en-HK" dirty="0">
              <a:solidFill>
                <a:srgbClr val="FF0000"/>
              </a:solidFill>
            </a:endParaRPr>
          </a:p>
          <a:p>
            <a:pPr marL="457200" indent="-457200">
              <a:buAutoNum type="arabicPeriod"/>
            </a:pPr>
            <a:r>
              <a:rPr lang="en-US" dirty="0">
                <a:solidFill>
                  <a:srgbClr val="FF0000"/>
                </a:solidFill>
              </a:rPr>
              <a:t>40 × 1024 × 1024 ÷ 500 ÷ 60 = 1398.1 hours. Rounding the result to the nearest hours is acceptable.</a:t>
            </a:r>
          </a:p>
          <a:p>
            <a:pPr marL="457200" indent="-457200">
              <a:buAutoNum type="arabicPeriod"/>
            </a:pPr>
            <a:r>
              <a:rPr lang="en-HK" dirty="0">
                <a:solidFill>
                  <a:srgbClr val="FF0000"/>
                </a:solidFill>
              </a:rPr>
              <a:t>C</a:t>
            </a:r>
          </a:p>
          <a:p>
            <a:pPr marL="457200" indent="-457200">
              <a:buAutoNum type="arabicPeriod"/>
            </a:pPr>
            <a:r>
              <a:rPr lang="en-HK" dirty="0">
                <a:solidFill>
                  <a:srgbClr val="FF0000"/>
                </a:solidFill>
              </a:rPr>
              <a:t>B</a:t>
            </a:r>
            <a:endParaRPr lang="en-US" dirty="0">
              <a:solidFill>
                <a:srgbClr val="FF0000"/>
              </a:solidFill>
            </a:endParaRPr>
          </a:p>
          <a:p>
            <a:endParaRPr lang="en-US" dirty="0">
              <a:solidFill>
                <a:srgbClr val="FF0000"/>
              </a:solidFill>
            </a:endParaRPr>
          </a:p>
        </p:txBody>
      </p:sp>
      <p:sp>
        <p:nvSpPr>
          <p:cNvPr id="3" name="Slide Number Placeholder 2"/>
          <p:cNvSpPr>
            <a:spLocks noGrp="1"/>
          </p:cNvSpPr>
          <p:nvPr>
            <p:ph type="sldNum" sz="quarter" idx="12"/>
          </p:nvPr>
        </p:nvSpPr>
        <p:spPr/>
        <p:txBody>
          <a:bodyPr/>
          <a:lstStyle/>
          <a:p>
            <a:fld id="{6D22F896-40B5-4ADD-8801-0D06FADFA095}" type="slidenum">
              <a:rPr lang="en-US" smtClean="0"/>
              <a:t>36</a:t>
            </a:fld>
            <a:endParaRPr lang="en-US" dirty="0"/>
          </a:p>
        </p:txBody>
      </p:sp>
      <p:sp>
        <p:nvSpPr>
          <p:cNvPr id="4" name="Text Placeholder 3"/>
          <p:cNvSpPr>
            <a:spLocks noGrp="1"/>
          </p:cNvSpPr>
          <p:nvPr>
            <p:ph type="body" sz="quarter" idx="13"/>
          </p:nvPr>
        </p:nvSpPr>
        <p:spPr/>
        <p:txBody>
          <a:bodyPr/>
          <a:lstStyle/>
          <a:p>
            <a:r>
              <a:rPr lang="en-HK" dirty="0"/>
              <a:t>3.1</a:t>
            </a:r>
            <a:endParaRPr lang="en-US" dirty="0"/>
          </a:p>
        </p:txBody>
      </p:sp>
    </p:spTree>
    <p:extLst>
      <p:ext uri="{BB962C8B-B14F-4D97-AF65-F5344CB8AC3E}">
        <p14:creationId xmlns:p14="http://schemas.microsoft.com/office/powerpoint/2010/main" val="3960393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50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fade">
                                      <p:cBhvr>
                                        <p:cTn id="12" dur="500"/>
                                        <p:tgtEl>
                                          <p:spTgt spid="2">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Effect transition="in" filter="fade">
                                      <p:cBhvr>
                                        <p:cTn id="1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Representation of unsigned integers</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37</a:t>
            </a:fld>
            <a:endParaRPr lang="en-US" dirty="0"/>
          </a:p>
        </p:txBody>
      </p:sp>
      <p:sp>
        <p:nvSpPr>
          <p:cNvPr id="4" name="Text Placeholder 3"/>
          <p:cNvSpPr>
            <a:spLocks noGrp="1"/>
          </p:cNvSpPr>
          <p:nvPr>
            <p:ph type="body" sz="quarter" idx="14"/>
          </p:nvPr>
        </p:nvSpPr>
        <p:spPr/>
        <p:txBody>
          <a:bodyPr/>
          <a:lstStyle/>
          <a:p>
            <a:r>
              <a:rPr lang="en-HK" dirty="0"/>
              <a:t>D</a:t>
            </a:r>
            <a:endParaRPr lang="en-US" dirty="0"/>
          </a:p>
        </p:txBody>
      </p:sp>
      <p:sp>
        <p:nvSpPr>
          <p:cNvPr id="5" name="Content Placeholder 4"/>
          <p:cNvSpPr>
            <a:spLocks noGrp="1"/>
          </p:cNvSpPr>
          <p:nvPr>
            <p:ph sz="quarter" idx="15"/>
          </p:nvPr>
        </p:nvSpPr>
        <p:spPr/>
        <p:txBody>
          <a:bodyPr/>
          <a:lstStyle/>
          <a:p>
            <a:r>
              <a:rPr lang="en-US" dirty="0"/>
              <a:t>When integers are stored in digital devices, they can be represented as unsigned integers or signed integers.</a:t>
            </a:r>
          </a:p>
          <a:p>
            <a:r>
              <a:rPr lang="en-US" b="1" dirty="0">
                <a:solidFill>
                  <a:srgbClr val="504FA1"/>
                </a:solidFill>
              </a:rPr>
              <a:t>Unsigned integers </a:t>
            </a:r>
            <a:r>
              <a:rPr lang="en-US" dirty="0"/>
              <a:t>are integers that do not have a negative sign, i.e. positive integers and zero.</a:t>
            </a:r>
          </a:p>
          <a:p>
            <a:endParaRPr lang="en-HK" dirty="0"/>
          </a:p>
          <a:p>
            <a:endParaRPr lang="en-US" dirty="0"/>
          </a:p>
        </p:txBody>
      </p:sp>
      <p:pic>
        <p:nvPicPr>
          <p:cNvPr id="6" name="Picture 5"/>
          <p:cNvPicPr>
            <a:picLocks noChangeAspect="1"/>
          </p:cNvPicPr>
          <p:nvPr/>
        </p:nvPicPr>
        <p:blipFill>
          <a:blip r:embed="rId2"/>
          <a:stretch>
            <a:fillRect/>
          </a:stretch>
        </p:blipFill>
        <p:spPr>
          <a:xfrm>
            <a:off x="2385509" y="3251587"/>
            <a:ext cx="7165815" cy="2362428"/>
          </a:xfrm>
          <a:prstGeom prst="rect">
            <a:avLst/>
          </a:prstGeom>
        </p:spPr>
      </p:pic>
    </p:spTree>
    <p:extLst>
      <p:ext uri="{BB962C8B-B14F-4D97-AF65-F5344CB8AC3E}">
        <p14:creationId xmlns:p14="http://schemas.microsoft.com/office/powerpoint/2010/main" val="28903132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Representation of signed integers</a:t>
            </a:r>
          </a:p>
        </p:txBody>
      </p:sp>
      <p:sp>
        <p:nvSpPr>
          <p:cNvPr id="3" name="Slide Number Placeholder 2"/>
          <p:cNvSpPr>
            <a:spLocks noGrp="1"/>
          </p:cNvSpPr>
          <p:nvPr>
            <p:ph type="sldNum" sz="quarter" idx="12"/>
          </p:nvPr>
        </p:nvSpPr>
        <p:spPr/>
        <p:txBody>
          <a:bodyPr/>
          <a:lstStyle/>
          <a:p>
            <a:fld id="{6D22F896-40B5-4ADD-8801-0D06FADFA095}" type="slidenum">
              <a:rPr lang="en-US" smtClean="0"/>
              <a:pPr/>
              <a:t>38</a:t>
            </a:fld>
            <a:endParaRPr lang="en-US" dirty="0"/>
          </a:p>
        </p:txBody>
      </p:sp>
      <p:sp>
        <p:nvSpPr>
          <p:cNvPr id="4" name="Text Placeholder 3"/>
          <p:cNvSpPr>
            <a:spLocks noGrp="1"/>
          </p:cNvSpPr>
          <p:nvPr>
            <p:ph type="body" sz="quarter" idx="14"/>
          </p:nvPr>
        </p:nvSpPr>
        <p:spPr/>
        <p:txBody>
          <a:bodyPr/>
          <a:lstStyle/>
          <a:p>
            <a:r>
              <a:rPr lang="en-HK" dirty="0"/>
              <a:t>E</a:t>
            </a:r>
            <a:endParaRPr lang="en-US" dirty="0"/>
          </a:p>
        </p:txBody>
      </p:sp>
      <p:sp>
        <p:nvSpPr>
          <p:cNvPr id="5" name="Content Placeholder 4"/>
          <p:cNvSpPr>
            <a:spLocks noGrp="1"/>
          </p:cNvSpPr>
          <p:nvPr>
            <p:ph sz="quarter" idx="15"/>
          </p:nvPr>
        </p:nvSpPr>
        <p:spPr/>
        <p:txBody>
          <a:bodyPr/>
          <a:lstStyle/>
          <a:p>
            <a:r>
              <a:rPr lang="en-US" b="1" dirty="0">
                <a:solidFill>
                  <a:srgbClr val="504FA1"/>
                </a:solidFill>
              </a:rPr>
              <a:t>Signed integers </a:t>
            </a:r>
            <a:r>
              <a:rPr lang="en-US" dirty="0"/>
              <a:t>are integers that may have a negative sign, i.e. positive integers, negative integers and zero.</a:t>
            </a:r>
          </a:p>
        </p:txBody>
      </p:sp>
      <p:pic>
        <p:nvPicPr>
          <p:cNvPr id="6" name="Picture 5"/>
          <p:cNvPicPr>
            <a:picLocks noChangeAspect="1"/>
          </p:cNvPicPr>
          <p:nvPr/>
        </p:nvPicPr>
        <p:blipFill>
          <a:blip r:embed="rId2"/>
          <a:stretch>
            <a:fillRect/>
          </a:stretch>
        </p:blipFill>
        <p:spPr>
          <a:xfrm>
            <a:off x="2542516" y="3237559"/>
            <a:ext cx="7042058" cy="2252943"/>
          </a:xfrm>
          <a:prstGeom prst="rect">
            <a:avLst/>
          </a:prstGeom>
        </p:spPr>
      </p:pic>
    </p:spTree>
    <p:extLst>
      <p:ext uri="{BB962C8B-B14F-4D97-AF65-F5344CB8AC3E}">
        <p14:creationId xmlns:p14="http://schemas.microsoft.com/office/powerpoint/2010/main" val="13021937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Representation of signed integers</a:t>
            </a:r>
          </a:p>
        </p:txBody>
      </p:sp>
      <p:sp>
        <p:nvSpPr>
          <p:cNvPr id="3" name="Slide Number Placeholder 2"/>
          <p:cNvSpPr>
            <a:spLocks noGrp="1"/>
          </p:cNvSpPr>
          <p:nvPr>
            <p:ph type="sldNum" sz="quarter" idx="12"/>
          </p:nvPr>
        </p:nvSpPr>
        <p:spPr/>
        <p:txBody>
          <a:bodyPr/>
          <a:lstStyle/>
          <a:p>
            <a:fld id="{6D22F896-40B5-4ADD-8801-0D06FADFA095}" type="slidenum">
              <a:rPr lang="en-US" smtClean="0"/>
              <a:pPr/>
              <a:t>39</a:t>
            </a:fld>
            <a:endParaRPr lang="en-US" dirty="0"/>
          </a:p>
        </p:txBody>
      </p:sp>
      <p:sp>
        <p:nvSpPr>
          <p:cNvPr id="4" name="Text Placeholder 3"/>
          <p:cNvSpPr>
            <a:spLocks noGrp="1"/>
          </p:cNvSpPr>
          <p:nvPr>
            <p:ph type="body" sz="quarter" idx="14"/>
          </p:nvPr>
        </p:nvSpPr>
        <p:spPr/>
        <p:txBody>
          <a:bodyPr/>
          <a:lstStyle/>
          <a:p>
            <a:r>
              <a:rPr lang="en-HK" dirty="0"/>
              <a:t>E</a:t>
            </a:r>
            <a:endParaRPr lang="en-US" dirty="0"/>
          </a:p>
        </p:txBody>
      </p:sp>
      <p:sp>
        <p:nvSpPr>
          <p:cNvPr id="5" name="Content Placeholder 4"/>
          <p:cNvSpPr>
            <a:spLocks noGrp="1"/>
          </p:cNvSpPr>
          <p:nvPr>
            <p:ph sz="quarter" idx="15"/>
          </p:nvPr>
        </p:nvSpPr>
        <p:spPr/>
        <p:txBody>
          <a:bodyPr/>
          <a:lstStyle/>
          <a:p>
            <a:r>
              <a:rPr lang="en-US" dirty="0"/>
              <a:t>The </a:t>
            </a:r>
            <a:r>
              <a:rPr lang="en-US" b="1" dirty="0">
                <a:solidFill>
                  <a:srgbClr val="504FA1"/>
                </a:solidFill>
              </a:rPr>
              <a:t>two’s complement </a:t>
            </a:r>
            <a:r>
              <a:rPr lang="en-US" dirty="0"/>
              <a:t>representation is a method for representation of signed integers in bit pattern.</a:t>
            </a:r>
          </a:p>
          <a:p>
            <a:endParaRPr lang="en-HK" dirty="0"/>
          </a:p>
          <a:p>
            <a:r>
              <a:rPr lang="en-US" dirty="0"/>
              <a:t>The two’s complement of a number is the result that comes from the negation of the number in twos complement representation, meaning that an integer −X can be represented by the two’s complement of X.</a:t>
            </a:r>
          </a:p>
          <a:p>
            <a:endParaRPr lang="en-HK" dirty="0"/>
          </a:p>
          <a:p>
            <a:r>
              <a:rPr lang="en-US" dirty="0"/>
              <a:t>All 3-bit two’s complement representations are listed below.</a:t>
            </a:r>
          </a:p>
        </p:txBody>
      </p:sp>
      <p:graphicFrame>
        <p:nvGraphicFramePr>
          <p:cNvPr id="6" name="Table 5"/>
          <p:cNvGraphicFramePr>
            <a:graphicFrameLocks noGrp="1"/>
          </p:cNvGraphicFramePr>
          <p:nvPr>
            <p:extLst>
              <p:ext uri="{D42A27DB-BD31-4B8C-83A1-F6EECF244321}">
                <p14:modId xmlns:p14="http://schemas.microsoft.com/office/powerpoint/2010/main" val="268103330"/>
              </p:ext>
            </p:extLst>
          </p:nvPr>
        </p:nvGraphicFramePr>
        <p:xfrm>
          <a:off x="972589" y="5241789"/>
          <a:ext cx="10390911" cy="1010920"/>
        </p:xfrm>
        <a:graphic>
          <a:graphicData uri="http://schemas.openxmlformats.org/drawingml/2006/table">
            <a:tbl>
              <a:tblPr firstRow="1" bandRow="1">
                <a:tableStyleId>{5940675A-B579-460E-94D1-54222C63F5DA}</a:tableStyleId>
              </a:tblPr>
              <a:tblGrid>
                <a:gridCol w="1948463">
                  <a:extLst>
                    <a:ext uri="{9D8B030D-6E8A-4147-A177-3AD203B41FA5}">
                      <a16:colId xmlns:a16="http://schemas.microsoft.com/office/drawing/2014/main" val="20000"/>
                    </a:ext>
                  </a:extLst>
                </a:gridCol>
                <a:gridCol w="1055306">
                  <a:extLst>
                    <a:ext uri="{9D8B030D-6E8A-4147-A177-3AD203B41FA5}">
                      <a16:colId xmlns:a16="http://schemas.microsoft.com/office/drawing/2014/main" val="20001"/>
                    </a:ext>
                  </a:extLst>
                </a:gridCol>
                <a:gridCol w="1055306">
                  <a:extLst>
                    <a:ext uri="{9D8B030D-6E8A-4147-A177-3AD203B41FA5}">
                      <a16:colId xmlns:a16="http://schemas.microsoft.com/office/drawing/2014/main" val="20002"/>
                    </a:ext>
                  </a:extLst>
                </a:gridCol>
                <a:gridCol w="1055306">
                  <a:extLst>
                    <a:ext uri="{9D8B030D-6E8A-4147-A177-3AD203B41FA5}">
                      <a16:colId xmlns:a16="http://schemas.microsoft.com/office/drawing/2014/main" val="20003"/>
                    </a:ext>
                  </a:extLst>
                </a:gridCol>
                <a:gridCol w="1055306">
                  <a:extLst>
                    <a:ext uri="{9D8B030D-6E8A-4147-A177-3AD203B41FA5}">
                      <a16:colId xmlns:a16="http://schemas.microsoft.com/office/drawing/2014/main" val="20004"/>
                    </a:ext>
                  </a:extLst>
                </a:gridCol>
                <a:gridCol w="1055306">
                  <a:extLst>
                    <a:ext uri="{9D8B030D-6E8A-4147-A177-3AD203B41FA5}">
                      <a16:colId xmlns:a16="http://schemas.microsoft.com/office/drawing/2014/main" val="20005"/>
                    </a:ext>
                  </a:extLst>
                </a:gridCol>
                <a:gridCol w="1055306">
                  <a:extLst>
                    <a:ext uri="{9D8B030D-6E8A-4147-A177-3AD203B41FA5}">
                      <a16:colId xmlns:a16="http://schemas.microsoft.com/office/drawing/2014/main" val="20006"/>
                    </a:ext>
                  </a:extLst>
                </a:gridCol>
                <a:gridCol w="1055306">
                  <a:extLst>
                    <a:ext uri="{9D8B030D-6E8A-4147-A177-3AD203B41FA5}">
                      <a16:colId xmlns:a16="http://schemas.microsoft.com/office/drawing/2014/main" val="20007"/>
                    </a:ext>
                  </a:extLst>
                </a:gridCol>
                <a:gridCol w="1055306">
                  <a:extLst>
                    <a:ext uri="{9D8B030D-6E8A-4147-A177-3AD203B41FA5}">
                      <a16:colId xmlns:a16="http://schemas.microsoft.com/office/drawing/2014/main" val="20008"/>
                    </a:ext>
                  </a:extLst>
                </a:gridCol>
              </a:tblGrid>
              <a:tr h="370840">
                <a:tc>
                  <a:txBody>
                    <a:bodyPr/>
                    <a:lstStyle/>
                    <a:p>
                      <a:pPr algn="ctr"/>
                      <a:r>
                        <a:rPr lang="en-HK" b="1" dirty="0">
                          <a:solidFill>
                            <a:schemeClr val="bg1"/>
                          </a:solidFill>
                        </a:rPr>
                        <a:t>Decimal number</a:t>
                      </a:r>
                      <a:endParaRPr lang="en-US" b="1" dirty="0">
                        <a:solidFill>
                          <a:schemeClr val="bg1"/>
                        </a:solidFill>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algn="ctr"/>
                      <a:r>
                        <a:rPr lang="en-HK" dirty="0"/>
                        <a:t>-4</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t>-3</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t>-2</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t>-1</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t>0</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t>1</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t>2</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t>3</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ctr"/>
                      <a:r>
                        <a:rPr lang="en-HK" b="1" dirty="0">
                          <a:solidFill>
                            <a:schemeClr val="bg1"/>
                          </a:solidFill>
                        </a:rPr>
                        <a:t>Two’s complement</a:t>
                      </a:r>
                      <a:r>
                        <a:rPr lang="en-HK" b="1" baseline="0" dirty="0">
                          <a:solidFill>
                            <a:schemeClr val="bg1"/>
                          </a:solidFill>
                        </a:rPr>
                        <a:t> representation</a:t>
                      </a:r>
                      <a:endParaRPr lang="en-US" b="1" dirty="0">
                        <a:solidFill>
                          <a:schemeClr val="bg1"/>
                        </a:solidFill>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dirty="0"/>
                        <a:t>100</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t>101</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t>110</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t>111</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t>000</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t>001</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t>010</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t>011</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8422857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dirty="0">
                <a:solidFill>
                  <a:srgbClr val="C6993D"/>
                </a:solidFill>
              </a:rPr>
              <a:t>Conversion of two’s complement representations into decimal numbers</a:t>
            </a:r>
          </a:p>
          <a:p>
            <a:r>
              <a:rPr lang="en-US" dirty="0"/>
              <a:t>For a 3-bit two’s complement representation, </a:t>
            </a:r>
            <a:r>
              <a:rPr lang="en-US" dirty="0">
                <a:latin typeface="Courier New" panose="02070309020205020404" pitchFamily="49" charset="0"/>
                <a:cs typeface="Courier New" panose="02070309020205020404" pitchFamily="49" charset="0"/>
              </a:rPr>
              <a:t>101</a:t>
            </a:r>
            <a:r>
              <a:rPr lang="en-US" dirty="0"/>
              <a:t> , we can convert it into a decimal number by expanding it like below.</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Therefore, </a:t>
            </a:r>
            <a:r>
              <a:rPr lang="en-US" dirty="0">
                <a:latin typeface="Courier New" panose="02070309020205020404" pitchFamily="49" charset="0"/>
                <a:cs typeface="Courier New" panose="02070309020205020404" pitchFamily="49" charset="0"/>
              </a:rPr>
              <a:t>101</a:t>
            </a:r>
            <a:r>
              <a:rPr lang="en-US" baseline="-25000" dirty="0">
                <a:latin typeface="Courier New" panose="02070309020205020404" pitchFamily="49" charset="0"/>
                <a:cs typeface="Courier New" panose="02070309020205020404" pitchFamily="49" charset="0"/>
              </a:rPr>
              <a:t>2</a:t>
            </a:r>
            <a:r>
              <a:rPr lang="en-US" dirty="0">
                <a:latin typeface="Courier New" panose="02070309020205020404" pitchFamily="49" charset="0"/>
                <a:cs typeface="Courier New" panose="02070309020205020404" pitchFamily="49" charset="0"/>
              </a:rPr>
              <a:t> = -4 + 0 + 1 = </a:t>
            </a:r>
            <a:r>
              <a:rPr lang="en-US" dirty="0" smtClean="0">
                <a:latin typeface="Courier New" panose="02070309020205020404" pitchFamily="49" charset="0"/>
                <a:cs typeface="Courier New" panose="02070309020205020404" pitchFamily="49" charset="0"/>
              </a:rPr>
              <a:t>-3</a:t>
            </a:r>
            <a:r>
              <a:rPr lang="en-US" baseline="-25000" dirty="0" smtClean="0">
                <a:latin typeface="Courier New" panose="02070309020205020404" pitchFamily="49" charset="0"/>
                <a:cs typeface="Courier New" panose="02070309020205020404" pitchFamily="49" charset="0"/>
              </a:rPr>
              <a:t>10</a:t>
            </a:r>
            <a:r>
              <a:rPr lang="en-US" dirty="0"/>
              <a:t>.</a:t>
            </a:r>
            <a:endParaRPr lang="en-US" b="1" dirty="0">
              <a:solidFill>
                <a:srgbClr val="C6993D"/>
              </a:solidFill>
            </a:endParaRPr>
          </a:p>
        </p:txBody>
      </p:sp>
      <p:sp>
        <p:nvSpPr>
          <p:cNvPr id="3" name="Slide Number Placeholder 2"/>
          <p:cNvSpPr>
            <a:spLocks noGrp="1"/>
          </p:cNvSpPr>
          <p:nvPr>
            <p:ph type="sldNum" sz="quarter" idx="12"/>
          </p:nvPr>
        </p:nvSpPr>
        <p:spPr/>
        <p:txBody>
          <a:bodyPr/>
          <a:lstStyle/>
          <a:p>
            <a:fld id="{6D22F896-40B5-4ADD-8801-0D06FADFA095}" type="slidenum">
              <a:rPr lang="en-US" smtClean="0"/>
              <a:t>40</a:t>
            </a:fld>
            <a:endParaRPr lang="en-US" dirty="0"/>
          </a:p>
        </p:txBody>
      </p:sp>
      <p:sp>
        <p:nvSpPr>
          <p:cNvPr id="4" name="Text Placeholder 3"/>
          <p:cNvSpPr>
            <a:spLocks noGrp="1"/>
          </p:cNvSpPr>
          <p:nvPr>
            <p:ph type="body" sz="quarter" idx="13"/>
          </p:nvPr>
        </p:nvSpPr>
        <p:spPr/>
        <p:txBody>
          <a:bodyPr/>
          <a:lstStyle/>
          <a:p>
            <a:r>
              <a:rPr lang="en-HK" dirty="0"/>
              <a:t>3.3</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907341591"/>
              </p:ext>
            </p:extLst>
          </p:nvPr>
        </p:nvGraphicFramePr>
        <p:xfrm>
          <a:off x="918094" y="2847722"/>
          <a:ext cx="7161876" cy="1479256"/>
        </p:xfrm>
        <a:graphic>
          <a:graphicData uri="http://schemas.openxmlformats.org/drawingml/2006/table">
            <a:tbl>
              <a:tblPr firstRow="1" bandRow="1">
                <a:tableStyleId>{5940675A-B579-460E-94D1-54222C63F5DA}</a:tableStyleId>
              </a:tblPr>
              <a:tblGrid>
                <a:gridCol w="1434408">
                  <a:extLst>
                    <a:ext uri="{9D8B030D-6E8A-4147-A177-3AD203B41FA5}">
                      <a16:colId xmlns:a16="http://schemas.microsoft.com/office/drawing/2014/main" val="20000"/>
                    </a:ext>
                  </a:extLst>
                </a:gridCol>
                <a:gridCol w="2146530">
                  <a:extLst>
                    <a:ext uri="{9D8B030D-6E8A-4147-A177-3AD203B41FA5}">
                      <a16:colId xmlns:a16="http://schemas.microsoft.com/office/drawing/2014/main" val="20001"/>
                    </a:ext>
                  </a:extLst>
                </a:gridCol>
                <a:gridCol w="1790469">
                  <a:extLst>
                    <a:ext uri="{9D8B030D-6E8A-4147-A177-3AD203B41FA5}">
                      <a16:colId xmlns:a16="http://schemas.microsoft.com/office/drawing/2014/main" val="20002"/>
                    </a:ext>
                  </a:extLst>
                </a:gridCol>
                <a:gridCol w="1790469">
                  <a:extLst>
                    <a:ext uri="{9D8B030D-6E8A-4147-A177-3AD203B41FA5}">
                      <a16:colId xmlns:a16="http://schemas.microsoft.com/office/drawing/2014/main" val="20003"/>
                    </a:ext>
                  </a:extLst>
                </a:gridCol>
              </a:tblGrid>
              <a:tr h="419588">
                <a:tc>
                  <a:txBody>
                    <a:bodyPr/>
                    <a:lstStyle/>
                    <a:p>
                      <a:pPr algn="ctr"/>
                      <a:r>
                        <a:rPr lang="en-HK" b="1" dirty="0">
                          <a:solidFill>
                            <a:schemeClr val="bg1"/>
                          </a:solidFill>
                        </a:rPr>
                        <a:t>Digit</a:t>
                      </a:r>
                      <a:endParaRPr lang="en-US" b="1" dirty="0">
                        <a:solidFill>
                          <a:schemeClr val="bg1"/>
                        </a:solidFill>
                      </a:endParaRPr>
                    </a:p>
                  </a:txBody>
                  <a:tcPr anchor="ctr">
                    <a:lnL w="12700" cap="flat" cmpd="sng" algn="ctr">
                      <a:solidFill>
                        <a:srgbClr val="C6993D"/>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1</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0</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1</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extLst>
                  <a:ext uri="{0D108BD9-81ED-4DB2-BD59-A6C34878D82A}">
                    <a16:rowId xmlns:a16="http://schemas.microsoft.com/office/drawing/2014/main" val="10000"/>
                  </a:ext>
                </a:extLst>
              </a:tr>
              <a:tr h="419588">
                <a:tc>
                  <a:txBody>
                    <a:bodyPr/>
                    <a:lstStyle/>
                    <a:p>
                      <a:pPr algn="ctr"/>
                      <a:r>
                        <a:rPr lang="en-HK" b="1" dirty="0">
                          <a:solidFill>
                            <a:schemeClr val="bg1"/>
                          </a:solidFill>
                        </a:rPr>
                        <a:t>Place</a:t>
                      </a:r>
                      <a:endParaRPr lang="en-US" b="1" dirty="0">
                        <a:solidFill>
                          <a:schemeClr val="bg1"/>
                        </a:solidFill>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93D"/>
                    </a:solidFill>
                  </a:tcPr>
                </a:tc>
                <a:tc>
                  <a:txBody>
                    <a:bodyPr/>
                    <a:lstStyle/>
                    <a:p>
                      <a:pPr algn="ctr"/>
                      <a:r>
                        <a:rPr lang="en-US" dirty="0">
                          <a:latin typeface="Courier New" panose="02070309020205020404" pitchFamily="49" charset="0"/>
                          <a:cs typeface="Courier New" panose="02070309020205020404" pitchFamily="49" charset="0"/>
                        </a:rPr>
                        <a:t>-(2</a:t>
                      </a:r>
                      <a:r>
                        <a:rPr lang="en-US" baseline="30000" dirty="0">
                          <a:latin typeface="Courier New" panose="02070309020205020404" pitchFamily="49" charset="0"/>
                          <a:cs typeface="Courier New" panose="02070309020205020404" pitchFamily="49" charset="0"/>
                        </a:rPr>
                        <a:t>2</a:t>
                      </a:r>
                      <a:r>
                        <a:rPr lang="en-US" dirty="0">
                          <a:latin typeface="Courier New" panose="02070309020205020404" pitchFamily="49" charset="0"/>
                          <a:cs typeface="Courier New" panose="02070309020205020404" pitchFamily="49" charset="0"/>
                        </a:rPr>
                        <a:t>) = -4</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US" dirty="0">
                          <a:latin typeface="Courier New" panose="02070309020205020404" pitchFamily="49" charset="0"/>
                          <a:cs typeface="Courier New" panose="02070309020205020404" pitchFamily="49" charset="0"/>
                        </a:rPr>
                        <a:t>2</a:t>
                      </a:r>
                      <a:r>
                        <a:rPr lang="en-US" strike="noStrike" baseline="30000" dirty="0">
                          <a:latin typeface="Courier New" panose="02070309020205020404" pitchFamily="49" charset="0"/>
                          <a:cs typeface="Courier New" panose="02070309020205020404" pitchFamily="49" charset="0"/>
                        </a:rPr>
                        <a:t>1</a:t>
                      </a:r>
                      <a:r>
                        <a:rPr lang="en-US" dirty="0">
                          <a:latin typeface="Courier New" panose="02070309020205020404" pitchFamily="49" charset="0"/>
                          <a:cs typeface="Courier New" panose="02070309020205020404" pitchFamily="49" charset="0"/>
                        </a:rPr>
                        <a:t> = 2</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US" dirty="0">
                          <a:latin typeface="Courier New" panose="02070309020205020404" pitchFamily="49" charset="0"/>
                          <a:cs typeface="Courier New" panose="02070309020205020404" pitchFamily="49" charset="0"/>
                        </a:rPr>
                        <a:t>2</a:t>
                      </a:r>
                      <a:r>
                        <a:rPr lang="en-US" baseline="30000" dirty="0">
                          <a:latin typeface="Courier New" panose="02070309020205020404" pitchFamily="49" charset="0"/>
                          <a:cs typeface="Courier New" panose="02070309020205020404" pitchFamily="49" charset="0"/>
                        </a:rPr>
                        <a:t>0</a:t>
                      </a:r>
                      <a:r>
                        <a:rPr lang="en-US" dirty="0">
                          <a:latin typeface="Courier New" panose="02070309020205020404" pitchFamily="49" charset="0"/>
                          <a:cs typeface="Courier New" panose="02070309020205020404" pitchFamily="49" charset="0"/>
                        </a:rPr>
                        <a:t> = 1</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extLst>
                  <a:ext uri="{0D108BD9-81ED-4DB2-BD59-A6C34878D82A}">
                    <a16:rowId xmlns:a16="http://schemas.microsoft.com/office/drawing/2014/main" val="10001"/>
                  </a:ext>
                </a:extLst>
              </a:tr>
              <a:tr h="419588">
                <a:tc>
                  <a:txBody>
                    <a:bodyPr/>
                    <a:lstStyle/>
                    <a:p>
                      <a:pPr algn="ctr"/>
                      <a:r>
                        <a:rPr lang="en-HK" b="1" dirty="0">
                          <a:solidFill>
                            <a:schemeClr val="bg1"/>
                          </a:solidFill>
                        </a:rPr>
                        <a:t>Value of</a:t>
                      </a:r>
                      <a:r>
                        <a:rPr lang="en-HK" b="1" baseline="0" dirty="0">
                          <a:solidFill>
                            <a:schemeClr val="bg1"/>
                          </a:solidFill>
                        </a:rPr>
                        <a:t> the digit</a:t>
                      </a:r>
                      <a:endParaRPr lang="en-US" b="1" dirty="0">
                        <a:solidFill>
                          <a:schemeClr val="bg1"/>
                        </a:solidFill>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US" dirty="0">
                          <a:latin typeface="Courier New" panose="02070309020205020404" pitchFamily="49" charset="0"/>
                          <a:cs typeface="Courier New" panose="02070309020205020404" pitchFamily="49" charset="0"/>
                        </a:rPr>
                        <a:t>-4 × 1 = -4</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US" dirty="0">
                          <a:latin typeface="Courier New" panose="02070309020205020404" pitchFamily="49" charset="0"/>
                          <a:cs typeface="Courier New" panose="02070309020205020404" pitchFamily="49" charset="0"/>
                        </a:rPr>
                        <a:t>2 × 0 = 0</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US" dirty="0">
                          <a:latin typeface="Courier New" panose="02070309020205020404" pitchFamily="49" charset="0"/>
                          <a:cs typeface="Courier New" panose="02070309020205020404" pitchFamily="49" charset="0"/>
                        </a:rPr>
                        <a:t>1 × 1 = 1</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5220045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For a 4-bit two’s complement representation, </a:t>
            </a:r>
            <a:r>
              <a:rPr lang="en-US" dirty="0">
                <a:latin typeface="Courier New" panose="02070309020205020404" pitchFamily="49" charset="0"/>
                <a:cs typeface="Courier New" panose="02070309020205020404" pitchFamily="49" charset="0"/>
              </a:rPr>
              <a:t>0101</a:t>
            </a:r>
            <a:r>
              <a:rPr lang="en-US" dirty="0"/>
              <a:t> , we can convert it into a decimal number by expanding it like below.</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Therefore, </a:t>
            </a:r>
            <a:r>
              <a:rPr lang="en-US" dirty="0">
                <a:latin typeface="Courier New" panose="02070309020205020404" pitchFamily="49" charset="0"/>
                <a:cs typeface="Courier New" panose="02070309020205020404" pitchFamily="49" charset="0"/>
              </a:rPr>
              <a:t>0101 = 4 + 0 + 1 = 5</a:t>
            </a:r>
            <a:r>
              <a:rPr lang="en-US" baseline="-25000" dirty="0">
                <a:latin typeface="Courier New" panose="02070309020205020404" pitchFamily="49" charset="0"/>
                <a:cs typeface="Courier New" panose="02070309020205020404" pitchFamily="49" charset="0"/>
              </a:rPr>
              <a:t>10</a:t>
            </a:r>
            <a:r>
              <a:rPr lang="en-US" dirty="0"/>
              <a:t>.</a:t>
            </a:r>
          </a:p>
        </p:txBody>
      </p:sp>
      <p:sp>
        <p:nvSpPr>
          <p:cNvPr id="3" name="Slide Number Placeholder 2"/>
          <p:cNvSpPr>
            <a:spLocks noGrp="1"/>
          </p:cNvSpPr>
          <p:nvPr>
            <p:ph type="sldNum" sz="quarter" idx="12"/>
          </p:nvPr>
        </p:nvSpPr>
        <p:spPr/>
        <p:txBody>
          <a:bodyPr/>
          <a:lstStyle/>
          <a:p>
            <a:fld id="{6D22F896-40B5-4ADD-8801-0D06FADFA095}" type="slidenum">
              <a:rPr lang="en-US" smtClean="0"/>
              <a:t>41</a:t>
            </a:fld>
            <a:endParaRPr lang="en-US" dirty="0"/>
          </a:p>
        </p:txBody>
      </p:sp>
      <p:sp>
        <p:nvSpPr>
          <p:cNvPr id="4" name="Text Placeholder 3"/>
          <p:cNvSpPr>
            <a:spLocks noGrp="1"/>
          </p:cNvSpPr>
          <p:nvPr>
            <p:ph type="body" sz="quarter" idx="13"/>
          </p:nvPr>
        </p:nvSpPr>
        <p:spPr/>
        <p:txBody>
          <a:bodyPr/>
          <a:lstStyle/>
          <a:p>
            <a:r>
              <a:rPr lang="en-HK" dirty="0"/>
              <a:t>3.3</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1884729250"/>
              </p:ext>
            </p:extLst>
          </p:nvPr>
        </p:nvGraphicFramePr>
        <p:xfrm>
          <a:off x="918094" y="2531841"/>
          <a:ext cx="8425411" cy="1479256"/>
        </p:xfrm>
        <a:graphic>
          <a:graphicData uri="http://schemas.openxmlformats.org/drawingml/2006/table">
            <a:tbl>
              <a:tblPr firstRow="1" bandRow="1">
                <a:tableStyleId>{5940675A-B579-460E-94D1-54222C63F5DA}</a:tableStyleId>
              </a:tblPr>
              <a:tblGrid>
                <a:gridCol w="1349979">
                  <a:extLst>
                    <a:ext uri="{9D8B030D-6E8A-4147-A177-3AD203B41FA5}">
                      <a16:colId xmlns:a16="http://schemas.microsoft.com/office/drawing/2014/main" val="20000"/>
                    </a:ext>
                  </a:extLst>
                </a:gridCol>
                <a:gridCol w="1846727">
                  <a:extLst>
                    <a:ext uri="{9D8B030D-6E8A-4147-A177-3AD203B41FA5}">
                      <a16:colId xmlns:a16="http://schemas.microsoft.com/office/drawing/2014/main" val="20001"/>
                    </a:ext>
                  </a:extLst>
                </a:gridCol>
                <a:gridCol w="1858541">
                  <a:extLst>
                    <a:ext uri="{9D8B030D-6E8A-4147-A177-3AD203B41FA5}">
                      <a16:colId xmlns:a16="http://schemas.microsoft.com/office/drawing/2014/main" val="20002"/>
                    </a:ext>
                  </a:extLst>
                </a:gridCol>
                <a:gridCol w="1685082">
                  <a:extLst>
                    <a:ext uri="{9D8B030D-6E8A-4147-A177-3AD203B41FA5}">
                      <a16:colId xmlns:a16="http://schemas.microsoft.com/office/drawing/2014/main" val="20003"/>
                    </a:ext>
                  </a:extLst>
                </a:gridCol>
                <a:gridCol w="1685082">
                  <a:extLst>
                    <a:ext uri="{9D8B030D-6E8A-4147-A177-3AD203B41FA5}">
                      <a16:colId xmlns:a16="http://schemas.microsoft.com/office/drawing/2014/main" val="20004"/>
                    </a:ext>
                  </a:extLst>
                </a:gridCol>
              </a:tblGrid>
              <a:tr h="419588">
                <a:tc>
                  <a:txBody>
                    <a:bodyPr/>
                    <a:lstStyle/>
                    <a:p>
                      <a:pPr algn="ctr"/>
                      <a:r>
                        <a:rPr lang="en-HK" b="1" dirty="0">
                          <a:solidFill>
                            <a:schemeClr val="bg1"/>
                          </a:solidFill>
                        </a:rPr>
                        <a:t>Digit</a:t>
                      </a:r>
                      <a:endParaRPr lang="en-US" b="1" dirty="0">
                        <a:solidFill>
                          <a:schemeClr val="bg1"/>
                        </a:solidFill>
                      </a:endParaRPr>
                    </a:p>
                  </a:txBody>
                  <a:tcPr anchor="ctr">
                    <a:lnL w="12700" cap="flat" cmpd="sng" algn="ctr">
                      <a:solidFill>
                        <a:srgbClr val="C6993D"/>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0</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1</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0</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1</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extLst>
                  <a:ext uri="{0D108BD9-81ED-4DB2-BD59-A6C34878D82A}">
                    <a16:rowId xmlns:a16="http://schemas.microsoft.com/office/drawing/2014/main" val="10000"/>
                  </a:ext>
                </a:extLst>
              </a:tr>
              <a:tr h="419588">
                <a:tc>
                  <a:txBody>
                    <a:bodyPr/>
                    <a:lstStyle/>
                    <a:p>
                      <a:pPr algn="ctr"/>
                      <a:r>
                        <a:rPr lang="en-HK" b="1" dirty="0">
                          <a:solidFill>
                            <a:schemeClr val="bg1"/>
                          </a:solidFill>
                        </a:rPr>
                        <a:t>Place</a:t>
                      </a:r>
                      <a:endParaRPr lang="en-US" b="1" dirty="0">
                        <a:solidFill>
                          <a:schemeClr val="bg1"/>
                        </a:solidFill>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93D"/>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latin typeface="Courier New" panose="02070309020205020404" pitchFamily="49" charset="0"/>
                          <a:cs typeface="Courier New" panose="02070309020205020404" pitchFamily="49" charset="0"/>
                        </a:rPr>
                        <a:t>-(2</a:t>
                      </a:r>
                      <a:r>
                        <a:rPr lang="en-US" baseline="30000" dirty="0">
                          <a:latin typeface="Courier New" panose="02070309020205020404" pitchFamily="49" charset="0"/>
                          <a:cs typeface="Courier New" panose="02070309020205020404" pitchFamily="49" charset="0"/>
                        </a:rPr>
                        <a:t>3</a:t>
                      </a:r>
                      <a:r>
                        <a:rPr lang="en-US" dirty="0">
                          <a:latin typeface="Courier New" panose="02070309020205020404" pitchFamily="49" charset="0"/>
                          <a:cs typeface="Courier New" panose="02070309020205020404" pitchFamily="49" charset="0"/>
                        </a:rPr>
                        <a:t>) = -8</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US" dirty="0">
                          <a:latin typeface="Courier New" panose="02070309020205020404" pitchFamily="49" charset="0"/>
                          <a:cs typeface="Courier New" panose="02070309020205020404" pitchFamily="49" charset="0"/>
                        </a:rPr>
                        <a:t>2</a:t>
                      </a:r>
                      <a:r>
                        <a:rPr lang="en-US" baseline="30000" dirty="0">
                          <a:latin typeface="Courier New" panose="02070309020205020404" pitchFamily="49" charset="0"/>
                          <a:cs typeface="Courier New" panose="02070309020205020404" pitchFamily="49" charset="0"/>
                        </a:rPr>
                        <a:t>2</a:t>
                      </a:r>
                      <a:r>
                        <a:rPr lang="en-US" dirty="0">
                          <a:latin typeface="Courier New" panose="02070309020205020404" pitchFamily="49" charset="0"/>
                          <a:cs typeface="Courier New" panose="02070309020205020404" pitchFamily="49" charset="0"/>
                        </a:rPr>
                        <a:t> = 4</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US" dirty="0">
                          <a:latin typeface="Courier New" panose="02070309020205020404" pitchFamily="49" charset="0"/>
                          <a:cs typeface="Courier New" panose="02070309020205020404" pitchFamily="49" charset="0"/>
                        </a:rPr>
                        <a:t>2</a:t>
                      </a:r>
                      <a:r>
                        <a:rPr lang="en-US" strike="noStrike" baseline="30000" dirty="0">
                          <a:latin typeface="Courier New" panose="02070309020205020404" pitchFamily="49" charset="0"/>
                          <a:cs typeface="Courier New" panose="02070309020205020404" pitchFamily="49" charset="0"/>
                        </a:rPr>
                        <a:t>1</a:t>
                      </a:r>
                      <a:r>
                        <a:rPr lang="en-US" dirty="0">
                          <a:latin typeface="Courier New" panose="02070309020205020404" pitchFamily="49" charset="0"/>
                          <a:cs typeface="Courier New" panose="02070309020205020404" pitchFamily="49" charset="0"/>
                        </a:rPr>
                        <a:t> = 2</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US" dirty="0">
                          <a:latin typeface="Courier New" panose="02070309020205020404" pitchFamily="49" charset="0"/>
                          <a:cs typeface="Courier New" panose="02070309020205020404" pitchFamily="49" charset="0"/>
                        </a:rPr>
                        <a:t>2</a:t>
                      </a:r>
                      <a:r>
                        <a:rPr lang="en-US" baseline="30000" dirty="0">
                          <a:latin typeface="Courier New" panose="02070309020205020404" pitchFamily="49" charset="0"/>
                          <a:cs typeface="Courier New" panose="02070309020205020404" pitchFamily="49" charset="0"/>
                        </a:rPr>
                        <a:t>0</a:t>
                      </a:r>
                      <a:r>
                        <a:rPr lang="en-US" dirty="0">
                          <a:latin typeface="Courier New" panose="02070309020205020404" pitchFamily="49" charset="0"/>
                          <a:cs typeface="Courier New" panose="02070309020205020404" pitchFamily="49" charset="0"/>
                        </a:rPr>
                        <a:t> = 1</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extLst>
                  <a:ext uri="{0D108BD9-81ED-4DB2-BD59-A6C34878D82A}">
                    <a16:rowId xmlns:a16="http://schemas.microsoft.com/office/drawing/2014/main" val="10001"/>
                  </a:ext>
                </a:extLst>
              </a:tr>
              <a:tr h="419588">
                <a:tc>
                  <a:txBody>
                    <a:bodyPr/>
                    <a:lstStyle/>
                    <a:p>
                      <a:pPr algn="ctr"/>
                      <a:r>
                        <a:rPr lang="en-HK" b="1" dirty="0">
                          <a:solidFill>
                            <a:schemeClr val="bg1"/>
                          </a:solidFill>
                        </a:rPr>
                        <a:t>Value of</a:t>
                      </a:r>
                      <a:r>
                        <a:rPr lang="en-HK" b="1" baseline="0" dirty="0">
                          <a:solidFill>
                            <a:schemeClr val="bg1"/>
                          </a:solidFill>
                        </a:rPr>
                        <a:t> the digit</a:t>
                      </a:r>
                      <a:endParaRPr lang="en-US" b="1" dirty="0">
                        <a:solidFill>
                          <a:schemeClr val="bg1"/>
                        </a:solidFill>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dirty="0">
                          <a:latin typeface="Courier New" panose="02070309020205020404" pitchFamily="49" charset="0"/>
                          <a:cs typeface="Courier New" panose="02070309020205020404" pitchFamily="49" charset="0"/>
                        </a:rPr>
                        <a:t>-8 </a:t>
                      </a:r>
                      <a:r>
                        <a:rPr lang="en-US" dirty="0">
                          <a:latin typeface="Courier New" panose="02070309020205020404" pitchFamily="49" charset="0"/>
                          <a:cs typeface="Courier New" panose="02070309020205020404" pitchFamily="49" charset="0"/>
                        </a:rPr>
                        <a:t>× 0 = 0</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US" dirty="0">
                          <a:latin typeface="Courier New" panose="02070309020205020404" pitchFamily="49" charset="0"/>
                          <a:cs typeface="Courier New" panose="02070309020205020404" pitchFamily="49" charset="0"/>
                        </a:rPr>
                        <a:t>4 × 1 = 4</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US" dirty="0">
                          <a:latin typeface="Courier New" panose="02070309020205020404" pitchFamily="49" charset="0"/>
                          <a:cs typeface="Courier New" panose="02070309020205020404" pitchFamily="49" charset="0"/>
                        </a:rPr>
                        <a:t>2 × 0 = 0</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US" dirty="0">
                          <a:latin typeface="Courier New" panose="02070309020205020404" pitchFamily="49" charset="0"/>
                          <a:cs typeface="Courier New" panose="02070309020205020404" pitchFamily="49" charset="0"/>
                        </a:rPr>
                        <a:t>1 × 1 = 1</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5398030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AutoNum type="arabicPeriod"/>
            </a:pPr>
            <a:r>
              <a:rPr lang="en-US" dirty="0"/>
              <a:t>Convert a 4-bit two’s complement representation, </a:t>
            </a:r>
            <a:r>
              <a:rPr lang="en-US" dirty="0">
                <a:latin typeface="Courier New" panose="02070309020205020404" pitchFamily="49" charset="0"/>
                <a:cs typeface="Courier New" panose="02070309020205020404" pitchFamily="49" charset="0"/>
              </a:rPr>
              <a:t>1010</a:t>
            </a:r>
            <a:r>
              <a:rPr lang="en-US" dirty="0"/>
              <a:t>, into a decimal number.</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Therefore, </a:t>
            </a:r>
            <a:r>
              <a:rPr lang="en-US" dirty="0">
                <a:latin typeface="Courier New" panose="02070309020205020404" pitchFamily="49" charset="0"/>
                <a:cs typeface="Courier New" panose="02070309020205020404" pitchFamily="49" charset="0"/>
              </a:rPr>
              <a:t>1010 =</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42</a:t>
            </a:fld>
            <a:endParaRPr lang="en-US" dirty="0"/>
          </a:p>
        </p:txBody>
      </p:sp>
      <p:sp>
        <p:nvSpPr>
          <p:cNvPr id="4" name="Text Placeholder 3"/>
          <p:cNvSpPr>
            <a:spLocks noGrp="1"/>
          </p:cNvSpPr>
          <p:nvPr>
            <p:ph type="body" sz="quarter" idx="13"/>
          </p:nvPr>
        </p:nvSpPr>
        <p:spPr/>
        <p:txBody>
          <a:bodyPr/>
          <a:lstStyle/>
          <a:p>
            <a:r>
              <a:rPr lang="en-HK" dirty="0"/>
              <a:t>3.3</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2723397790"/>
              </p:ext>
            </p:extLst>
          </p:nvPr>
        </p:nvGraphicFramePr>
        <p:xfrm>
          <a:off x="918094" y="2132828"/>
          <a:ext cx="8425411" cy="1479256"/>
        </p:xfrm>
        <a:graphic>
          <a:graphicData uri="http://schemas.openxmlformats.org/drawingml/2006/table">
            <a:tbl>
              <a:tblPr firstRow="1" bandRow="1">
                <a:tableStyleId>{5940675A-B579-460E-94D1-54222C63F5DA}</a:tableStyleId>
              </a:tblPr>
              <a:tblGrid>
                <a:gridCol w="1349979">
                  <a:extLst>
                    <a:ext uri="{9D8B030D-6E8A-4147-A177-3AD203B41FA5}">
                      <a16:colId xmlns:a16="http://schemas.microsoft.com/office/drawing/2014/main" val="20000"/>
                    </a:ext>
                  </a:extLst>
                </a:gridCol>
                <a:gridCol w="1846727">
                  <a:extLst>
                    <a:ext uri="{9D8B030D-6E8A-4147-A177-3AD203B41FA5}">
                      <a16:colId xmlns:a16="http://schemas.microsoft.com/office/drawing/2014/main" val="20001"/>
                    </a:ext>
                  </a:extLst>
                </a:gridCol>
                <a:gridCol w="1858541">
                  <a:extLst>
                    <a:ext uri="{9D8B030D-6E8A-4147-A177-3AD203B41FA5}">
                      <a16:colId xmlns:a16="http://schemas.microsoft.com/office/drawing/2014/main" val="20002"/>
                    </a:ext>
                  </a:extLst>
                </a:gridCol>
                <a:gridCol w="1685082">
                  <a:extLst>
                    <a:ext uri="{9D8B030D-6E8A-4147-A177-3AD203B41FA5}">
                      <a16:colId xmlns:a16="http://schemas.microsoft.com/office/drawing/2014/main" val="20003"/>
                    </a:ext>
                  </a:extLst>
                </a:gridCol>
                <a:gridCol w="1685082">
                  <a:extLst>
                    <a:ext uri="{9D8B030D-6E8A-4147-A177-3AD203B41FA5}">
                      <a16:colId xmlns:a16="http://schemas.microsoft.com/office/drawing/2014/main" val="20004"/>
                    </a:ext>
                  </a:extLst>
                </a:gridCol>
              </a:tblGrid>
              <a:tr h="419588">
                <a:tc>
                  <a:txBody>
                    <a:bodyPr/>
                    <a:lstStyle/>
                    <a:p>
                      <a:pPr algn="ctr"/>
                      <a:r>
                        <a:rPr lang="en-HK" b="1" dirty="0">
                          <a:solidFill>
                            <a:schemeClr val="bg1"/>
                          </a:solidFill>
                        </a:rPr>
                        <a:t>Digit</a:t>
                      </a:r>
                      <a:endParaRPr lang="en-US" b="1" dirty="0">
                        <a:solidFill>
                          <a:schemeClr val="bg1"/>
                        </a:solidFill>
                      </a:endParaRPr>
                    </a:p>
                  </a:txBody>
                  <a:tcPr anchor="ctr">
                    <a:lnL w="12700" cap="flat" cmpd="sng" algn="ctr">
                      <a:solidFill>
                        <a:srgbClr val="C6993D"/>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0</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1</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0</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1</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extLst>
                  <a:ext uri="{0D108BD9-81ED-4DB2-BD59-A6C34878D82A}">
                    <a16:rowId xmlns:a16="http://schemas.microsoft.com/office/drawing/2014/main" val="10000"/>
                  </a:ext>
                </a:extLst>
              </a:tr>
              <a:tr h="419588">
                <a:tc>
                  <a:txBody>
                    <a:bodyPr/>
                    <a:lstStyle/>
                    <a:p>
                      <a:pPr algn="ctr"/>
                      <a:r>
                        <a:rPr lang="en-HK" b="1" dirty="0">
                          <a:solidFill>
                            <a:schemeClr val="bg1"/>
                          </a:solidFill>
                        </a:rPr>
                        <a:t>Place value</a:t>
                      </a:r>
                      <a:endParaRPr lang="en-US" b="1" dirty="0">
                        <a:solidFill>
                          <a:schemeClr val="bg1"/>
                        </a:solidFill>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93D"/>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latin typeface="Courier New" panose="02070309020205020404" pitchFamily="49" charset="0"/>
                          <a:cs typeface="Courier New" panose="02070309020205020404" pitchFamily="49" charset="0"/>
                        </a:rPr>
                        <a:t>-(2</a:t>
                      </a:r>
                      <a:r>
                        <a:rPr lang="en-US" baseline="30000" dirty="0">
                          <a:latin typeface="Courier New" panose="02070309020205020404" pitchFamily="49" charset="0"/>
                          <a:cs typeface="Courier New" panose="02070309020205020404" pitchFamily="49" charset="0"/>
                        </a:rPr>
                        <a:t>3</a:t>
                      </a:r>
                      <a:r>
                        <a:rPr lang="en-US" dirty="0">
                          <a:latin typeface="Courier New" panose="02070309020205020404" pitchFamily="49" charset="0"/>
                          <a:cs typeface="Courier New" panose="02070309020205020404" pitchFamily="49" charset="0"/>
                        </a:rPr>
                        <a:t>) = -8</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US" dirty="0">
                          <a:latin typeface="Courier New" panose="02070309020205020404" pitchFamily="49" charset="0"/>
                          <a:cs typeface="Courier New" panose="02070309020205020404" pitchFamily="49" charset="0"/>
                        </a:rPr>
                        <a:t>2</a:t>
                      </a:r>
                      <a:r>
                        <a:rPr lang="en-US" baseline="30000" dirty="0">
                          <a:latin typeface="Courier New" panose="02070309020205020404" pitchFamily="49" charset="0"/>
                          <a:cs typeface="Courier New" panose="02070309020205020404" pitchFamily="49" charset="0"/>
                        </a:rPr>
                        <a:t>2</a:t>
                      </a:r>
                      <a:r>
                        <a:rPr lang="en-US" dirty="0">
                          <a:latin typeface="Courier New" panose="02070309020205020404" pitchFamily="49" charset="0"/>
                          <a:cs typeface="Courier New" panose="02070309020205020404" pitchFamily="49" charset="0"/>
                        </a:rPr>
                        <a:t> = 4</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US" dirty="0">
                          <a:latin typeface="Courier New" panose="02070309020205020404" pitchFamily="49" charset="0"/>
                          <a:cs typeface="Courier New" panose="02070309020205020404" pitchFamily="49" charset="0"/>
                        </a:rPr>
                        <a:t>2</a:t>
                      </a:r>
                      <a:r>
                        <a:rPr lang="en-US" strike="noStrike" baseline="30000" dirty="0">
                          <a:latin typeface="Courier New" panose="02070309020205020404" pitchFamily="49" charset="0"/>
                          <a:cs typeface="Courier New" panose="02070309020205020404" pitchFamily="49" charset="0"/>
                        </a:rPr>
                        <a:t>1</a:t>
                      </a:r>
                      <a:r>
                        <a:rPr lang="en-US" dirty="0">
                          <a:latin typeface="Courier New" panose="02070309020205020404" pitchFamily="49" charset="0"/>
                          <a:cs typeface="Courier New" panose="02070309020205020404" pitchFamily="49" charset="0"/>
                        </a:rPr>
                        <a:t> = 2</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US" dirty="0">
                          <a:latin typeface="Courier New" panose="02070309020205020404" pitchFamily="49" charset="0"/>
                          <a:cs typeface="Courier New" panose="02070309020205020404" pitchFamily="49" charset="0"/>
                        </a:rPr>
                        <a:t>2</a:t>
                      </a:r>
                      <a:r>
                        <a:rPr lang="en-US" baseline="30000" dirty="0">
                          <a:latin typeface="Courier New" panose="02070309020205020404" pitchFamily="49" charset="0"/>
                          <a:cs typeface="Courier New" panose="02070309020205020404" pitchFamily="49" charset="0"/>
                        </a:rPr>
                        <a:t>0</a:t>
                      </a:r>
                      <a:r>
                        <a:rPr lang="en-US" dirty="0">
                          <a:latin typeface="Courier New" panose="02070309020205020404" pitchFamily="49" charset="0"/>
                          <a:cs typeface="Courier New" panose="02070309020205020404" pitchFamily="49" charset="0"/>
                        </a:rPr>
                        <a:t> = 1</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extLst>
                  <a:ext uri="{0D108BD9-81ED-4DB2-BD59-A6C34878D82A}">
                    <a16:rowId xmlns:a16="http://schemas.microsoft.com/office/drawing/2014/main" val="10001"/>
                  </a:ext>
                </a:extLst>
              </a:tr>
              <a:tr h="419588">
                <a:tc>
                  <a:txBody>
                    <a:bodyPr/>
                    <a:lstStyle/>
                    <a:p>
                      <a:pPr algn="ctr"/>
                      <a:r>
                        <a:rPr lang="en-HK" b="1" dirty="0">
                          <a:solidFill>
                            <a:schemeClr val="bg1"/>
                          </a:solidFill>
                        </a:rPr>
                        <a:t>Value of</a:t>
                      </a:r>
                      <a:r>
                        <a:rPr lang="en-HK" b="1" baseline="0" dirty="0">
                          <a:solidFill>
                            <a:schemeClr val="bg1"/>
                          </a:solidFill>
                        </a:rPr>
                        <a:t> the digit</a:t>
                      </a:r>
                      <a:endParaRPr lang="en-US" b="1" dirty="0">
                        <a:solidFill>
                          <a:schemeClr val="bg1"/>
                        </a:solidFill>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endParaRPr lang="en-US" dirty="0">
                        <a:solidFill>
                          <a:srgbClr val="FF0000"/>
                        </a:solidFill>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endParaRPr lang="en-US" dirty="0">
                        <a:solidFill>
                          <a:srgbClr val="FF0000"/>
                        </a:solidFill>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endParaRPr lang="en-US" dirty="0">
                        <a:solidFill>
                          <a:srgbClr val="FF0000"/>
                        </a:solidFill>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endParaRPr lang="en-US" dirty="0">
                        <a:solidFill>
                          <a:srgbClr val="FF0000"/>
                        </a:solidFill>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9011969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AutoNum type="arabicPeriod"/>
            </a:pPr>
            <a:r>
              <a:rPr lang="en-US" dirty="0"/>
              <a:t>Convert a 4-bit two’s complement representation, </a:t>
            </a:r>
            <a:r>
              <a:rPr lang="en-US" dirty="0">
                <a:latin typeface="Courier New" panose="02070309020205020404" pitchFamily="49" charset="0"/>
                <a:cs typeface="Courier New" panose="02070309020205020404" pitchFamily="49" charset="0"/>
              </a:rPr>
              <a:t>1010</a:t>
            </a:r>
            <a:r>
              <a:rPr lang="en-US" dirty="0"/>
              <a:t>, into a decimal number.</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Therefore, </a:t>
            </a:r>
            <a:r>
              <a:rPr lang="en-US" dirty="0">
                <a:latin typeface="Courier New" panose="02070309020205020404" pitchFamily="49" charset="0"/>
                <a:cs typeface="Courier New" panose="02070309020205020404" pitchFamily="49" charset="0"/>
              </a:rPr>
              <a:t>1010 = </a:t>
            </a:r>
            <a:r>
              <a:rPr lang="en-US" dirty="0">
                <a:solidFill>
                  <a:srgbClr val="FF0000"/>
                </a:solidFill>
                <a:latin typeface="Courier New" panose="02070309020205020404" pitchFamily="49" charset="0"/>
                <a:cs typeface="Courier New" panose="02070309020205020404" pitchFamily="49" charset="0"/>
              </a:rPr>
              <a:t>-8 + 0 + 2 + 0 = -6</a:t>
            </a:r>
            <a:r>
              <a:rPr lang="en-US" baseline="-25000" dirty="0">
                <a:solidFill>
                  <a:srgbClr val="FF0000"/>
                </a:solidFill>
                <a:latin typeface="Courier New" panose="02070309020205020404" pitchFamily="49" charset="0"/>
                <a:cs typeface="Courier New" panose="02070309020205020404" pitchFamily="49" charset="0"/>
              </a:rPr>
              <a:t>10</a:t>
            </a:r>
          </a:p>
          <a:p>
            <a:pPr marL="457200" indent="-457200">
              <a:buAutoNum type="arabicPeriod"/>
            </a:pP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43</a:t>
            </a:fld>
            <a:endParaRPr lang="en-US" dirty="0"/>
          </a:p>
        </p:txBody>
      </p:sp>
      <p:sp>
        <p:nvSpPr>
          <p:cNvPr id="4" name="Text Placeholder 3"/>
          <p:cNvSpPr>
            <a:spLocks noGrp="1"/>
          </p:cNvSpPr>
          <p:nvPr>
            <p:ph type="body" sz="quarter" idx="13"/>
          </p:nvPr>
        </p:nvSpPr>
        <p:spPr/>
        <p:txBody>
          <a:bodyPr/>
          <a:lstStyle/>
          <a:p>
            <a:r>
              <a:rPr lang="en-HK" dirty="0"/>
              <a:t>3.3</a:t>
            </a:r>
            <a:endParaRPr lang="en-US" dirty="0"/>
          </a:p>
        </p:txBody>
      </p:sp>
      <p:graphicFrame>
        <p:nvGraphicFramePr>
          <p:cNvPr id="5" name="Table 4"/>
          <p:cNvGraphicFramePr>
            <a:graphicFrameLocks noGrp="1"/>
          </p:cNvGraphicFramePr>
          <p:nvPr/>
        </p:nvGraphicFramePr>
        <p:xfrm>
          <a:off x="918094" y="2132828"/>
          <a:ext cx="8425411" cy="1479256"/>
        </p:xfrm>
        <a:graphic>
          <a:graphicData uri="http://schemas.openxmlformats.org/drawingml/2006/table">
            <a:tbl>
              <a:tblPr firstRow="1" bandRow="1">
                <a:tableStyleId>{5940675A-B579-460E-94D1-54222C63F5DA}</a:tableStyleId>
              </a:tblPr>
              <a:tblGrid>
                <a:gridCol w="1349979">
                  <a:extLst>
                    <a:ext uri="{9D8B030D-6E8A-4147-A177-3AD203B41FA5}">
                      <a16:colId xmlns:a16="http://schemas.microsoft.com/office/drawing/2014/main" val="20000"/>
                    </a:ext>
                  </a:extLst>
                </a:gridCol>
                <a:gridCol w="1846727">
                  <a:extLst>
                    <a:ext uri="{9D8B030D-6E8A-4147-A177-3AD203B41FA5}">
                      <a16:colId xmlns:a16="http://schemas.microsoft.com/office/drawing/2014/main" val="20001"/>
                    </a:ext>
                  </a:extLst>
                </a:gridCol>
                <a:gridCol w="1858541">
                  <a:extLst>
                    <a:ext uri="{9D8B030D-6E8A-4147-A177-3AD203B41FA5}">
                      <a16:colId xmlns:a16="http://schemas.microsoft.com/office/drawing/2014/main" val="20002"/>
                    </a:ext>
                  </a:extLst>
                </a:gridCol>
                <a:gridCol w="1685082">
                  <a:extLst>
                    <a:ext uri="{9D8B030D-6E8A-4147-A177-3AD203B41FA5}">
                      <a16:colId xmlns:a16="http://schemas.microsoft.com/office/drawing/2014/main" val="20003"/>
                    </a:ext>
                  </a:extLst>
                </a:gridCol>
                <a:gridCol w="1685082">
                  <a:extLst>
                    <a:ext uri="{9D8B030D-6E8A-4147-A177-3AD203B41FA5}">
                      <a16:colId xmlns:a16="http://schemas.microsoft.com/office/drawing/2014/main" val="20004"/>
                    </a:ext>
                  </a:extLst>
                </a:gridCol>
              </a:tblGrid>
              <a:tr h="419588">
                <a:tc>
                  <a:txBody>
                    <a:bodyPr/>
                    <a:lstStyle/>
                    <a:p>
                      <a:pPr algn="ctr"/>
                      <a:r>
                        <a:rPr lang="en-HK" b="1" dirty="0">
                          <a:solidFill>
                            <a:schemeClr val="bg1"/>
                          </a:solidFill>
                        </a:rPr>
                        <a:t>Digit</a:t>
                      </a:r>
                      <a:endParaRPr lang="en-US" b="1" dirty="0">
                        <a:solidFill>
                          <a:schemeClr val="bg1"/>
                        </a:solidFill>
                      </a:endParaRPr>
                    </a:p>
                  </a:txBody>
                  <a:tcPr anchor="ctr">
                    <a:lnL w="12700" cap="flat" cmpd="sng" algn="ctr">
                      <a:solidFill>
                        <a:srgbClr val="C6993D"/>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0</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1</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0</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1</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extLst>
                  <a:ext uri="{0D108BD9-81ED-4DB2-BD59-A6C34878D82A}">
                    <a16:rowId xmlns:a16="http://schemas.microsoft.com/office/drawing/2014/main" val="10000"/>
                  </a:ext>
                </a:extLst>
              </a:tr>
              <a:tr h="419588">
                <a:tc>
                  <a:txBody>
                    <a:bodyPr/>
                    <a:lstStyle/>
                    <a:p>
                      <a:pPr algn="ctr"/>
                      <a:r>
                        <a:rPr lang="en-HK" b="1" dirty="0">
                          <a:solidFill>
                            <a:schemeClr val="bg1"/>
                          </a:solidFill>
                        </a:rPr>
                        <a:t>Place value</a:t>
                      </a:r>
                      <a:endParaRPr lang="en-US" b="1" dirty="0">
                        <a:solidFill>
                          <a:schemeClr val="bg1"/>
                        </a:solidFill>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93D"/>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latin typeface="Courier New" panose="02070309020205020404" pitchFamily="49" charset="0"/>
                          <a:cs typeface="Courier New" panose="02070309020205020404" pitchFamily="49" charset="0"/>
                        </a:rPr>
                        <a:t>-(2</a:t>
                      </a:r>
                      <a:r>
                        <a:rPr lang="en-US" baseline="30000" dirty="0">
                          <a:latin typeface="Courier New" panose="02070309020205020404" pitchFamily="49" charset="0"/>
                          <a:cs typeface="Courier New" panose="02070309020205020404" pitchFamily="49" charset="0"/>
                        </a:rPr>
                        <a:t>3</a:t>
                      </a:r>
                      <a:r>
                        <a:rPr lang="en-US" dirty="0">
                          <a:latin typeface="Courier New" panose="02070309020205020404" pitchFamily="49" charset="0"/>
                          <a:cs typeface="Courier New" panose="02070309020205020404" pitchFamily="49" charset="0"/>
                        </a:rPr>
                        <a:t>) = -8</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US" dirty="0">
                          <a:latin typeface="Courier New" panose="02070309020205020404" pitchFamily="49" charset="0"/>
                          <a:cs typeface="Courier New" panose="02070309020205020404" pitchFamily="49" charset="0"/>
                        </a:rPr>
                        <a:t>2</a:t>
                      </a:r>
                      <a:r>
                        <a:rPr lang="en-US" baseline="30000" dirty="0">
                          <a:latin typeface="Courier New" panose="02070309020205020404" pitchFamily="49" charset="0"/>
                          <a:cs typeface="Courier New" panose="02070309020205020404" pitchFamily="49" charset="0"/>
                        </a:rPr>
                        <a:t>2</a:t>
                      </a:r>
                      <a:r>
                        <a:rPr lang="en-US" dirty="0">
                          <a:latin typeface="Courier New" panose="02070309020205020404" pitchFamily="49" charset="0"/>
                          <a:cs typeface="Courier New" panose="02070309020205020404" pitchFamily="49" charset="0"/>
                        </a:rPr>
                        <a:t> = 4</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US" dirty="0">
                          <a:latin typeface="Courier New" panose="02070309020205020404" pitchFamily="49" charset="0"/>
                          <a:cs typeface="Courier New" panose="02070309020205020404" pitchFamily="49" charset="0"/>
                        </a:rPr>
                        <a:t>2</a:t>
                      </a:r>
                      <a:r>
                        <a:rPr lang="en-US" strike="noStrike" baseline="30000" dirty="0">
                          <a:latin typeface="Courier New" panose="02070309020205020404" pitchFamily="49" charset="0"/>
                          <a:cs typeface="Courier New" panose="02070309020205020404" pitchFamily="49" charset="0"/>
                        </a:rPr>
                        <a:t>1</a:t>
                      </a:r>
                      <a:r>
                        <a:rPr lang="en-US" dirty="0">
                          <a:latin typeface="Courier New" panose="02070309020205020404" pitchFamily="49" charset="0"/>
                          <a:cs typeface="Courier New" panose="02070309020205020404" pitchFamily="49" charset="0"/>
                        </a:rPr>
                        <a:t> = 2</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US" dirty="0">
                          <a:latin typeface="Courier New" panose="02070309020205020404" pitchFamily="49" charset="0"/>
                          <a:cs typeface="Courier New" panose="02070309020205020404" pitchFamily="49" charset="0"/>
                        </a:rPr>
                        <a:t>2</a:t>
                      </a:r>
                      <a:r>
                        <a:rPr lang="en-US" baseline="30000" dirty="0">
                          <a:latin typeface="Courier New" panose="02070309020205020404" pitchFamily="49" charset="0"/>
                          <a:cs typeface="Courier New" panose="02070309020205020404" pitchFamily="49" charset="0"/>
                        </a:rPr>
                        <a:t>0</a:t>
                      </a:r>
                      <a:r>
                        <a:rPr lang="en-US" dirty="0">
                          <a:latin typeface="Courier New" panose="02070309020205020404" pitchFamily="49" charset="0"/>
                          <a:cs typeface="Courier New" panose="02070309020205020404" pitchFamily="49" charset="0"/>
                        </a:rPr>
                        <a:t> = 1</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extLst>
                  <a:ext uri="{0D108BD9-81ED-4DB2-BD59-A6C34878D82A}">
                    <a16:rowId xmlns:a16="http://schemas.microsoft.com/office/drawing/2014/main" val="10001"/>
                  </a:ext>
                </a:extLst>
              </a:tr>
              <a:tr h="419588">
                <a:tc>
                  <a:txBody>
                    <a:bodyPr/>
                    <a:lstStyle/>
                    <a:p>
                      <a:pPr algn="ctr"/>
                      <a:r>
                        <a:rPr lang="en-HK" b="1" dirty="0">
                          <a:solidFill>
                            <a:schemeClr val="bg1"/>
                          </a:solidFill>
                        </a:rPr>
                        <a:t>Value of</a:t>
                      </a:r>
                      <a:r>
                        <a:rPr lang="en-HK" b="1" baseline="0" dirty="0">
                          <a:solidFill>
                            <a:schemeClr val="bg1"/>
                          </a:solidFill>
                        </a:rPr>
                        <a:t> the digit</a:t>
                      </a:r>
                      <a:endParaRPr lang="en-US" b="1" dirty="0">
                        <a:solidFill>
                          <a:schemeClr val="bg1"/>
                        </a:solidFill>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dirty="0">
                          <a:solidFill>
                            <a:srgbClr val="FF0000"/>
                          </a:solidFill>
                          <a:latin typeface="Courier New" panose="02070309020205020404" pitchFamily="49" charset="0"/>
                          <a:cs typeface="Courier New" panose="02070309020205020404" pitchFamily="49" charset="0"/>
                        </a:rPr>
                        <a:t>-8 </a:t>
                      </a:r>
                      <a:r>
                        <a:rPr lang="en-US" dirty="0">
                          <a:solidFill>
                            <a:srgbClr val="FF0000"/>
                          </a:solidFill>
                          <a:latin typeface="Courier New" panose="02070309020205020404" pitchFamily="49" charset="0"/>
                          <a:cs typeface="Courier New" panose="02070309020205020404" pitchFamily="49" charset="0"/>
                        </a:rPr>
                        <a:t>× 1 = -8</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US" dirty="0">
                          <a:solidFill>
                            <a:srgbClr val="FF0000"/>
                          </a:solidFill>
                          <a:latin typeface="Courier New" panose="02070309020205020404" pitchFamily="49" charset="0"/>
                          <a:cs typeface="Courier New" panose="02070309020205020404" pitchFamily="49" charset="0"/>
                        </a:rPr>
                        <a:t>4 × 0 = 0</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US" dirty="0">
                          <a:solidFill>
                            <a:srgbClr val="FF0000"/>
                          </a:solidFill>
                          <a:latin typeface="Courier New" panose="02070309020205020404" pitchFamily="49" charset="0"/>
                          <a:cs typeface="Courier New" panose="02070309020205020404" pitchFamily="49" charset="0"/>
                        </a:rPr>
                        <a:t>2 × 1 = 2</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US" dirty="0">
                          <a:solidFill>
                            <a:srgbClr val="FF0000"/>
                          </a:solidFill>
                          <a:latin typeface="Courier New" panose="02070309020205020404" pitchFamily="49" charset="0"/>
                          <a:cs typeface="Courier New" panose="02070309020205020404" pitchFamily="49" charset="0"/>
                        </a:rPr>
                        <a:t>1 × 0 = 0</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2671037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Font typeface="+mj-lt"/>
              <a:buAutoNum type="arabicPeriod" startAt="2"/>
            </a:pPr>
            <a:r>
              <a:rPr lang="en-US" dirty="0"/>
              <a:t>Convert a 5-bit two’s complement representation, </a:t>
            </a:r>
            <a:r>
              <a:rPr lang="en-US" dirty="0">
                <a:latin typeface="Courier New" panose="02070309020205020404" pitchFamily="49" charset="0"/>
                <a:cs typeface="Courier New" panose="02070309020205020404" pitchFamily="49" charset="0"/>
              </a:rPr>
              <a:t>10101</a:t>
            </a:r>
            <a:r>
              <a:rPr lang="en-US" dirty="0"/>
              <a:t>, into a decimal number.</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Therefore, </a:t>
            </a:r>
            <a:r>
              <a:rPr lang="en-US" dirty="0">
                <a:latin typeface="Courier New" panose="02070309020205020404" pitchFamily="49" charset="0"/>
                <a:cs typeface="Courier New" panose="02070309020205020404" pitchFamily="49" charset="0"/>
              </a:rPr>
              <a:t>10101 =</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44</a:t>
            </a:fld>
            <a:endParaRPr lang="en-US" dirty="0"/>
          </a:p>
        </p:txBody>
      </p:sp>
      <p:sp>
        <p:nvSpPr>
          <p:cNvPr id="4" name="Text Placeholder 3"/>
          <p:cNvSpPr>
            <a:spLocks noGrp="1"/>
          </p:cNvSpPr>
          <p:nvPr>
            <p:ph type="body" sz="quarter" idx="13"/>
          </p:nvPr>
        </p:nvSpPr>
        <p:spPr/>
        <p:txBody>
          <a:bodyPr/>
          <a:lstStyle/>
          <a:p>
            <a:r>
              <a:rPr lang="en-HK" dirty="0"/>
              <a:t>3.3</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2236257597"/>
              </p:ext>
            </p:extLst>
          </p:nvPr>
        </p:nvGraphicFramePr>
        <p:xfrm>
          <a:off x="918094" y="2132828"/>
          <a:ext cx="9871826" cy="1479256"/>
        </p:xfrm>
        <a:graphic>
          <a:graphicData uri="http://schemas.openxmlformats.org/drawingml/2006/table">
            <a:tbl>
              <a:tblPr firstRow="1" bandRow="1">
                <a:tableStyleId>{5940675A-B579-460E-94D1-54222C63F5DA}</a:tableStyleId>
              </a:tblPr>
              <a:tblGrid>
                <a:gridCol w="1297370">
                  <a:extLst>
                    <a:ext uri="{9D8B030D-6E8A-4147-A177-3AD203B41FA5}">
                      <a16:colId xmlns:a16="http://schemas.microsoft.com/office/drawing/2014/main" val="20000"/>
                    </a:ext>
                  </a:extLst>
                </a:gridCol>
                <a:gridCol w="1965838">
                  <a:extLst>
                    <a:ext uri="{9D8B030D-6E8A-4147-A177-3AD203B41FA5}">
                      <a16:colId xmlns:a16="http://schemas.microsoft.com/office/drawing/2014/main" val="20001"/>
                    </a:ext>
                  </a:extLst>
                </a:gridCol>
                <a:gridCol w="1654233">
                  <a:extLst>
                    <a:ext uri="{9D8B030D-6E8A-4147-A177-3AD203B41FA5}">
                      <a16:colId xmlns:a16="http://schemas.microsoft.com/office/drawing/2014/main" val="20002"/>
                    </a:ext>
                  </a:extLst>
                </a:gridCol>
                <a:gridCol w="1715559">
                  <a:extLst>
                    <a:ext uri="{9D8B030D-6E8A-4147-A177-3AD203B41FA5}">
                      <a16:colId xmlns:a16="http://schemas.microsoft.com/office/drawing/2014/main" val="20003"/>
                    </a:ext>
                  </a:extLst>
                </a:gridCol>
                <a:gridCol w="1619413">
                  <a:extLst>
                    <a:ext uri="{9D8B030D-6E8A-4147-A177-3AD203B41FA5}">
                      <a16:colId xmlns:a16="http://schemas.microsoft.com/office/drawing/2014/main" val="20004"/>
                    </a:ext>
                  </a:extLst>
                </a:gridCol>
                <a:gridCol w="1619413">
                  <a:extLst>
                    <a:ext uri="{9D8B030D-6E8A-4147-A177-3AD203B41FA5}">
                      <a16:colId xmlns:a16="http://schemas.microsoft.com/office/drawing/2014/main" val="20005"/>
                    </a:ext>
                  </a:extLst>
                </a:gridCol>
              </a:tblGrid>
              <a:tr h="419588">
                <a:tc>
                  <a:txBody>
                    <a:bodyPr/>
                    <a:lstStyle/>
                    <a:p>
                      <a:pPr algn="ctr"/>
                      <a:r>
                        <a:rPr lang="en-HK" b="1" dirty="0">
                          <a:solidFill>
                            <a:schemeClr val="bg1"/>
                          </a:solidFill>
                        </a:rPr>
                        <a:t>Digit</a:t>
                      </a:r>
                      <a:endParaRPr lang="en-US" b="1" dirty="0">
                        <a:solidFill>
                          <a:schemeClr val="bg1"/>
                        </a:solidFill>
                      </a:endParaRPr>
                    </a:p>
                  </a:txBody>
                  <a:tcPr anchor="ctr">
                    <a:lnL w="12700" cap="flat" cmpd="sng" algn="ctr">
                      <a:solidFill>
                        <a:srgbClr val="C6993D"/>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1</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0</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1</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0</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1</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extLst>
                  <a:ext uri="{0D108BD9-81ED-4DB2-BD59-A6C34878D82A}">
                    <a16:rowId xmlns:a16="http://schemas.microsoft.com/office/drawing/2014/main" val="10000"/>
                  </a:ext>
                </a:extLst>
              </a:tr>
              <a:tr h="419588">
                <a:tc>
                  <a:txBody>
                    <a:bodyPr/>
                    <a:lstStyle/>
                    <a:p>
                      <a:pPr algn="ctr"/>
                      <a:r>
                        <a:rPr lang="en-HK" b="1" dirty="0">
                          <a:solidFill>
                            <a:schemeClr val="bg1"/>
                          </a:solidFill>
                        </a:rPr>
                        <a:t>Place value</a:t>
                      </a:r>
                      <a:endParaRPr lang="en-US" b="1" dirty="0">
                        <a:solidFill>
                          <a:schemeClr val="bg1"/>
                        </a:solidFill>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93D"/>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latin typeface="Courier New" panose="02070309020205020404" pitchFamily="49" charset="0"/>
                          <a:cs typeface="Courier New" panose="02070309020205020404" pitchFamily="49" charset="0"/>
                        </a:rPr>
                        <a:t>-(2</a:t>
                      </a:r>
                      <a:r>
                        <a:rPr lang="en-US" baseline="30000" dirty="0">
                          <a:latin typeface="Courier New" panose="02070309020205020404" pitchFamily="49" charset="0"/>
                          <a:cs typeface="Courier New" panose="02070309020205020404" pitchFamily="49" charset="0"/>
                        </a:rPr>
                        <a:t>4</a:t>
                      </a:r>
                      <a:r>
                        <a:rPr lang="en-US" dirty="0">
                          <a:latin typeface="Courier New" panose="02070309020205020404" pitchFamily="49" charset="0"/>
                          <a:cs typeface="Courier New" panose="02070309020205020404" pitchFamily="49" charset="0"/>
                        </a:rPr>
                        <a:t>) = -16</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latin typeface="Courier New" panose="02070309020205020404" pitchFamily="49" charset="0"/>
                          <a:cs typeface="Courier New" panose="02070309020205020404" pitchFamily="49" charset="0"/>
                        </a:rPr>
                        <a:t>2</a:t>
                      </a:r>
                      <a:r>
                        <a:rPr lang="en-US" baseline="30000" dirty="0">
                          <a:latin typeface="Courier New" panose="02070309020205020404" pitchFamily="49" charset="0"/>
                          <a:cs typeface="Courier New" panose="02070309020205020404" pitchFamily="49" charset="0"/>
                        </a:rPr>
                        <a:t>3</a:t>
                      </a:r>
                      <a:r>
                        <a:rPr lang="en-US" dirty="0">
                          <a:latin typeface="Courier New" panose="02070309020205020404" pitchFamily="49" charset="0"/>
                          <a:cs typeface="Courier New" panose="02070309020205020404" pitchFamily="49" charset="0"/>
                        </a:rPr>
                        <a:t> = 8</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US" dirty="0">
                          <a:latin typeface="Courier New" panose="02070309020205020404" pitchFamily="49" charset="0"/>
                          <a:cs typeface="Courier New" panose="02070309020205020404" pitchFamily="49" charset="0"/>
                        </a:rPr>
                        <a:t>2</a:t>
                      </a:r>
                      <a:r>
                        <a:rPr lang="en-US" baseline="30000" dirty="0">
                          <a:latin typeface="Courier New" panose="02070309020205020404" pitchFamily="49" charset="0"/>
                          <a:cs typeface="Courier New" panose="02070309020205020404" pitchFamily="49" charset="0"/>
                        </a:rPr>
                        <a:t>2</a:t>
                      </a:r>
                      <a:r>
                        <a:rPr lang="en-US" dirty="0">
                          <a:latin typeface="Courier New" panose="02070309020205020404" pitchFamily="49" charset="0"/>
                          <a:cs typeface="Courier New" panose="02070309020205020404" pitchFamily="49" charset="0"/>
                        </a:rPr>
                        <a:t> = 4</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US" dirty="0">
                          <a:latin typeface="Courier New" panose="02070309020205020404" pitchFamily="49" charset="0"/>
                          <a:cs typeface="Courier New" panose="02070309020205020404" pitchFamily="49" charset="0"/>
                        </a:rPr>
                        <a:t>2</a:t>
                      </a:r>
                      <a:r>
                        <a:rPr lang="en-US" strike="noStrike" baseline="30000" dirty="0">
                          <a:latin typeface="Courier New" panose="02070309020205020404" pitchFamily="49" charset="0"/>
                          <a:cs typeface="Courier New" panose="02070309020205020404" pitchFamily="49" charset="0"/>
                        </a:rPr>
                        <a:t>1</a:t>
                      </a:r>
                      <a:r>
                        <a:rPr lang="en-US" dirty="0">
                          <a:latin typeface="Courier New" panose="02070309020205020404" pitchFamily="49" charset="0"/>
                          <a:cs typeface="Courier New" panose="02070309020205020404" pitchFamily="49" charset="0"/>
                        </a:rPr>
                        <a:t> = 2</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US" dirty="0">
                          <a:latin typeface="Courier New" panose="02070309020205020404" pitchFamily="49" charset="0"/>
                          <a:cs typeface="Courier New" panose="02070309020205020404" pitchFamily="49" charset="0"/>
                        </a:rPr>
                        <a:t>2</a:t>
                      </a:r>
                      <a:r>
                        <a:rPr lang="en-US" baseline="30000" dirty="0">
                          <a:latin typeface="Courier New" panose="02070309020205020404" pitchFamily="49" charset="0"/>
                          <a:cs typeface="Courier New" panose="02070309020205020404" pitchFamily="49" charset="0"/>
                        </a:rPr>
                        <a:t>0</a:t>
                      </a:r>
                      <a:r>
                        <a:rPr lang="en-US" dirty="0">
                          <a:latin typeface="Courier New" panose="02070309020205020404" pitchFamily="49" charset="0"/>
                          <a:cs typeface="Courier New" panose="02070309020205020404" pitchFamily="49" charset="0"/>
                        </a:rPr>
                        <a:t> = 1</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extLst>
                  <a:ext uri="{0D108BD9-81ED-4DB2-BD59-A6C34878D82A}">
                    <a16:rowId xmlns:a16="http://schemas.microsoft.com/office/drawing/2014/main" val="10001"/>
                  </a:ext>
                </a:extLst>
              </a:tr>
              <a:tr h="419588">
                <a:tc>
                  <a:txBody>
                    <a:bodyPr/>
                    <a:lstStyle/>
                    <a:p>
                      <a:pPr algn="ctr"/>
                      <a:r>
                        <a:rPr lang="en-HK" b="1" dirty="0">
                          <a:solidFill>
                            <a:schemeClr val="bg1"/>
                          </a:solidFill>
                        </a:rPr>
                        <a:t>Value of</a:t>
                      </a:r>
                      <a:r>
                        <a:rPr lang="en-HK" b="1" baseline="0" dirty="0">
                          <a:solidFill>
                            <a:schemeClr val="bg1"/>
                          </a:solidFill>
                        </a:rPr>
                        <a:t> the digit</a:t>
                      </a:r>
                      <a:endParaRPr lang="en-US" b="1" dirty="0">
                        <a:solidFill>
                          <a:schemeClr val="bg1"/>
                        </a:solidFill>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endParaRPr lang="en-US" dirty="0">
                        <a:solidFill>
                          <a:srgbClr val="FF0000"/>
                        </a:solidFill>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endParaRPr lang="en-US" dirty="0">
                        <a:solidFill>
                          <a:srgbClr val="FF0000"/>
                        </a:solidFill>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endParaRPr lang="en-US" dirty="0">
                        <a:solidFill>
                          <a:srgbClr val="FF0000"/>
                        </a:solidFill>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endParaRPr lang="en-US" dirty="0">
                        <a:solidFill>
                          <a:srgbClr val="FF0000"/>
                        </a:solidFill>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endParaRPr lang="en-US" dirty="0">
                        <a:solidFill>
                          <a:srgbClr val="FF0000"/>
                        </a:solidFill>
                        <a:latin typeface="Courier New" panose="02070309020205020404" pitchFamily="49" charset="0"/>
                        <a:cs typeface="Courier New" panose="02070309020205020404" pitchFamily="49" charset="0"/>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512572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Font typeface="+mj-lt"/>
              <a:buAutoNum type="arabicPeriod" startAt="2"/>
            </a:pPr>
            <a:r>
              <a:rPr lang="en-US" dirty="0"/>
              <a:t>Convert a 5-bit two’s complement representation, </a:t>
            </a:r>
            <a:r>
              <a:rPr lang="en-US" dirty="0">
                <a:latin typeface="Courier New" panose="02070309020205020404" pitchFamily="49" charset="0"/>
                <a:cs typeface="Courier New" panose="02070309020205020404" pitchFamily="49" charset="0"/>
              </a:rPr>
              <a:t>10101</a:t>
            </a:r>
            <a:r>
              <a:rPr lang="en-US" dirty="0"/>
              <a:t>, into a decimal number.</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Therefore, </a:t>
            </a:r>
            <a:r>
              <a:rPr lang="en-US" dirty="0">
                <a:latin typeface="Courier New" panose="02070309020205020404" pitchFamily="49" charset="0"/>
                <a:cs typeface="Courier New" panose="02070309020205020404" pitchFamily="49" charset="0"/>
              </a:rPr>
              <a:t>10101 = </a:t>
            </a:r>
            <a:r>
              <a:rPr lang="en-US" dirty="0">
                <a:solidFill>
                  <a:srgbClr val="FF0000"/>
                </a:solidFill>
                <a:latin typeface="Courier New" panose="02070309020205020404" pitchFamily="49" charset="0"/>
                <a:cs typeface="Courier New" panose="02070309020205020404" pitchFamily="49" charset="0"/>
              </a:rPr>
              <a:t>−16 + 0 + 4 + 0 + 1 = −11</a:t>
            </a:r>
            <a:r>
              <a:rPr lang="en-US" baseline="-25000" dirty="0">
                <a:solidFill>
                  <a:srgbClr val="FF0000"/>
                </a:solidFill>
                <a:latin typeface="Courier New" panose="02070309020205020404" pitchFamily="49" charset="0"/>
                <a:cs typeface="Courier New" panose="02070309020205020404" pitchFamily="49" charset="0"/>
              </a:rPr>
              <a:t>10</a:t>
            </a:r>
          </a:p>
          <a:p>
            <a:r>
              <a:rPr lang="en-HK" dirty="0"/>
              <a:t> </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45</a:t>
            </a:fld>
            <a:endParaRPr lang="en-US" dirty="0"/>
          </a:p>
        </p:txBody>
      </p:sp>
      <p:sp>
        <p:nvSpPr>
          <p:cNvPr id="4" name="Text Placeholder 3"/>
          <p:cNvSpPr>
            <a:spLocks noGrp="1"/>
          </p:cNvSpPr>
          <p:nvPr>
            <p:ph type="body" sz="quarter" idx="13"/>
          </p:nvPr>
        </p:nvSpPr>
        <p:spPr/>
        <p:txBody>
          <a:bodyPr/>
          <a:lstStyle/>
          <a:p>
            <a:r>
              <a:rPr lang="en-HK" dirty="0"/>
              <a:t>3.3</a:t>
            </a:r>
            <a:endParaRPr lang="en-US" dirty="0"/>
          </a:p>
        </p:txBody>
      </p:sp>
      <p:graphicFrame>
        <p:nvGraphicFramePr>
          <p:cNvPr id="5" name="Table 4"/>
          <p:cNvGraphicFramePr>
            <a:graphicFrameLocks noGrp="1"/>
          </p:cNvGraphicFramePr>
          <p:nvPr/>
        </p:nvGraphicFramePr>
        <p:xfrm>
          <a:off x="918094" y="2132828"/>
          <a:ext cx="9871826" cy="1479256"/>
        </p:xfrm>
        <a:graphic>
          <a:graphicData uri="http://schemas.openxmlformats.org/drawingml/2006/table">
            <a:tbl>
              <a:tblPr firstRow="1" bandRow="1">
                <a:tableStyleId>{5940675A-B579-460E-94D1-54222C63F5DA}</a:tableStyleId>
              </a:tblPr>
              <a:tblGrid>
                <a:gridCol w="1297370">
                  <a:extLst>
                    <a:ext uri="{9D8B030D-6E8A-4147-A177-3AD203B41FA5}">
                      <a16:colId xmlns:a16="http://schemas.microsoft.com/office/drawing/2014/main" val="20000"/>
                    </a:ext>
                  </a:extLst>
                </a:gridCol>
                <a:gridCol w="1965838">
                  <a:extLst>
                    <a:ext uri="{9D8B030D-6E8A-4147-A177-3AD203B41FA5}">
                      <a16:colId xmlns:a16="http://schemas.microsoft.com/office/drawing/2014/main" val="20001"/>
                    </a:ext>
                  </a:extLst>
                </a:gridCol>
                <a:gridCol w="1654233">
                  <a:extLst>
                    <a:ext uri="{9D8B030D-6E8A-4147-A177-3AD203B41FA5}">
                      <a16:colId xmlns:a16="http://schemas.microsoft.com/office/drawing/2014/main" val="20002"/>
                    </a:ext>
                  </a:extLst>
                </a:gridCol>
                <a:gridCol w="1715559">
                  <a:extLst>
                    <a:ext uri="{9D8B030D-6E8A-4147-A177-3AD203B41FA5}">
                      <a16:colId xmlns:a16="http://schemas.microsoft.com/office/drawing/2014/main" val="20003"/>
                    </a:ext>
                  </a:extLst>
                </a:gridCol>
                <a:gridCol w="1619413">
                  <a:extLst>
                    <a:ext uri="{9D8B030D-6E8A-4147-A177-3AD203B41FA5}">
                      <a16:colId xmlns:a16="http://schemas.microsoft.com/office/drawing/2014/main" val="20004"/>
                    </a:ext>
                  </a:extLst>
                </a:gridCol>
                <a:gridCol w="1619413">
                  <a:extLst>
                    <a:ext uri="{9D8B030D-6E8A-4147-A177-3AD203B41FA5}">
                      <a16:colId xmlns:a16="http://schemas.microsoft.com/office/drawing/2014/main" val="20005"/>
                    </a:ext>
                  </a:extLst>
                </a:gridCol>
              </a:tblGrid>
              <a:tr h="419588">
                <a:tc>
                  <a:txBody>
                    <a:bodyPr/>
                    <a:lstStyle/>
                    <a:p>
                      <a:pPr algn="ctr"/>
                      <a:r>
                        <a:rPr lang="en-HK" b="1" dirty="0">
                          <a:solidFill>
                            <a:schemeClr val="bg1"/>
                          </a:solidFill>
                        </a:rPr>
                        <a:t>Digit</a:t>
                      </a:r>
                      <a:endParaRPr lang="en-US" b="1" dirty="0">
                        <a:solidFill>
                          <a:schemeClr val="bg1"/>
                        </a:solidFill>
                      </a:endParaRPr>
                    </a:p>
                  </a:txBody>
                  <a:tcPr anchor="ctr">
                    <a:lnL w="12700" cap="flat" cmpd="sng" algn="ctr">
                      <a:solidFill>
                        <a:srgbClr val="C6993D"/>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1</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0</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1</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0</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b="1" dirty="0">
                          <a:solidFill>
                            <a:schemeClr val="bg1"/>
                          </a:solidFill>
                          <a:latin typeface="Courier New" panose="02070309020205020404" pitchFamily="49" charset="0"/>
                          <a:cs typeface="Courier New" panose="02070309020205020404" pitchFamily="49" charset="0"/>
                        </a:rPr>
                        <a:t>1</a:t>
                      </a:r>
                      <a:endParaRPr lang="en-US" b="1" dirty="0">
                        <a:solidFill>
                          <a:schemeClr val="bg1"/>
                        </a:solidFill>
                        <a:latin typeface="Courier New" panose="02070309020205020404" pitchFamily="49" charset="0"/>
                        <a:cs typeface="Courier New" panose="020703090202050204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extLst>
                  <a:ext uri="{0D108BD9-81ED-4DB2-BD59-A6C34878D82A}">
                    <a16:rowId xmlns:a16="http://schemas.microsoft.com/office/drawing/2014/main" val="10000"/>
                  </a:ext>
                </a:extLst>
              </a:tr>
              <a:tr h="419588">
                <a:tc>
                  <a:txBody>
                    <a:bodyPr/>
                    <a:lstStyle/>
                    <a:p>
                      <a:pPr algn="ctr"/>
                      <a:r>
                        <a:rPr lang="en-HK" b="1" dirty="0">
                          <a:solidFill>
                            <a:schemeClr val="bg1"/>
                          </a:solidFill>
                        </a:rPr>
                        <a:t>Place value</a:t>
                      </a:r>
                      <a:endParaRPr lang="en-US" b="1" dirty="0">
                        <a:solidFill>
                          <a:schemeClr val="bg1"/>
                        </a:solidFill>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93D"/>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latin typeface="Courier New" panose="02070309020205020404" pitchFamily="49" charset="0"/>
                          <a:cs typeface="Courier New" panose="02070309020205020404" pitchFamily="49" charset="0"/>
                        </a:rPr>
                        <a:t>-(2</a:t>
                      </a:r>
                      <a:r>
                        <a:rPr lang="en-US" baseline="30000" dirty="0">
                          <a:latin typeface="Courier New" panose="02070309020205020404" pitchFamily="49" charset="0"/>
                          <a:cs typeface="Courier New" panose="02070309020205020404" pitchFamily="49" charset="0"/>
                        </a:rPr>
                        <a:t>4</a:t>
                      </a:r>
                      <a:r>
                        <a:rPr lang="en-US" dirty="0">
                          <a:latin typeface="Courier New" panose="02070309020205020404" pitchFamily="49" charset="0"/>
                          <a:cs typeface="Courier New" panose="02070309020205020404" pitchFamily="49" charset="0"/>
                        </a:rPr>
                        <a:t>) = -16</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latin typeface="Courier New" panose="02070309020205020404" pitchFamily="49" charset="0"/>
                          <a:cs typeface="Courier New" panose="02070309020205020404" pitchFamily="49" charset="0"/>
                        </a:rPr>
                        <a:t>2</a:t>
                      </a:r>
                      <a:r>
                        <a:rPr lang="en-US" baseline="30000" dirty="0">
                          <a:latin typeface="Courier New" panose="02070309020205020404" pitchFamily="49" charset="0"/>
                          <a:cs typeface="Courier New" panose="02070309020205020404" pitchFamily="49" charset="0"/>
                        </a:rPr>
                        <a:t>3</a:t>
                      </a:r>
                      <a:r>
                        <a:rPr lang="en-US" dirty="0">
                          <a:latin typeface="Courier New" panose="02070309020205020404" pitchFamily="49" charset="0"/>
                          <a:cs typeface="Courier New" panose="02070309020205020404" pitchFamily="49" charset="0"/>
                        </a:rPr>
                        <a:t> = 8</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US" dirty="0">
                          <a:latin typeface="Courier New" panose="02070309020205020404" pitchFamily="49" charset="0"/>
                          <a:cs typeface="Courier New" panose="02070309020205020404" pitchFamily="49" charset="0"/>
                        </a:rPr>
                        <a:t>2</a:t>
                      </a:r>
                      <a:r>
                        <a:rPr lang="en-US" baseline="30000" dirty="0">
                          <a:latin typeface="Courier New" panose="02070309020205020404" pitchFamily="49" charset="0"/>
                          <a:cs typeface="Courier New" panose="02070309020205020404" pitchFamily="49" charset="0"/>
                        </a:rPr>
                        <a:t>2</a:t>
                      </a:r>
                      <a:r>
                        <a:rPr lang="en-US" dirty="0">
                          <a:latin typeface="Courier New" panose="02070309020205020404" pitchFamily="49" charset="0"/>
                          <a:cs typeface="Courier New" panose="02070309020205020404" pitchFamily="49" charset="0"/>
                        </a:rPr>
                        <a:t> = 4</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US" dirty="0">
                          <a:latin typeface="Courier New" panose="02070309020205020404" pitchFamily="49" charset="0"/>
                          <a:cs typeface="Courier New" panose="02070309020205020404" pitchFamily="49" charset="0"/>
                        </a:rPr>
                        <a:t>2</a:t>
                      </a:r>
                      <a:r>
                        <a:rPr lang="en-US" strike="noStrike" baseline="30000" dirty="0">
                          <a:latin typeface="Courier New" panose="02070309020205020404" pitchFamily="49" charset="0"/>
                          <a:cs typeface="Courier New" panose="02070309020205020404" pitchFamily="49" charset="0"/>
                        </a:rPr>
                        <a:t>1</a:t>
                      </a:r>
                      <a:r>
                        <a:rPr lang="en-US" dirty="0">
                          <a:latin typeface="Courier New" panose="02070309020205020404" pitchFamily="49" charset="0"/>
                          <a:cs typeface="Courier New" panose="02070309020205020404" pitchFamily="49" charset="0"/>
                        </a:rPr>
                        <a:t> = 2</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US" dirty="0">
                          <a:latin typeface="Courier New" panose="02070309020205020404" pitchFamily="49" charset="0"/>
                          <a:cs typeface="Courier New" panose="02070309020205020404" pitchFamily="49" charset="0"/>
                        </a:rPr>
                        <a:t>2</a:t>
                      </a:r>
                      <a:r>
                        <a:rPr lang="en-US" baseline="30000" dirty="0">
                          <a:latin typeface="Courier New" panose="02070309020205020404" pitchFamily="49" charset="0"/>
                          <a:cs typeface="Courier New" panose="02070309020205020404" pitchFamily="49" charset="0"/>
                        </a:rPr>
                        <a:t>0</a:t>
                      </a:r>
                      <a:r>
                        <a:rPr lang="en-US" dirty="0">
                          <a:latin typeface="Courier New" panose="02070309020205020404" pitchFamily="49" charset="0"/>
                          <a:cs typeface="Courier New" panose="02070309020205020404" pitchFamily="49" charset="0"/>
                        </a:rPr>
                        <a:t> = 1</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extLst>
                  <a:ext uri="{0D108BD9-81ED-4DB2-BD59-A6C34878D82A}">
                    <a16:rowId xmlns:a16="http://schemas.microsoft.com/office/drawing/2014/main" val="10001"/>
                  </a:ext>
                </a:extLst>
              </a:tr>
              <a:tr h="419588">
                <a:tc>
                  <a:txBody>
                    <a:bodyPr/>
                    <a:lstStyle/>
                    <a:p>
                      <a:pPr algn="ctr"/>
                      <a:r>
                        <a:rPr lang="en-HK" b="1" dirty="0">
                          <a:solidFill>
                            <a:schemeClr val="bg1"/>
                          </a:solidFill>
                        </a:rPr>
                        <a:t>Value of</a:t>
                      </a:r>
                      <a:r>
                        <a:rPr lang="en-HK" b="1" baseline="0" dirty="0">
                          <a:solidFill>
                            <a:schemeClr val="bg1"/>
                          </a:solidFill>
                        </a:rPr>
                        <a:t> the digit</a:t>
                      </a:r>
                      <a:endParaRPr lang="en-US" b="1" dirty="0">
                        <a:solidFill>
                          <a:schemeClr val="bg1"/>
                        </a:solidFill>
                      </a:endParaRP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C6993D"/>
                      </a:solidFill>
                      <a:prstDash val="solid"/>
                      <a:round/>
                      <a:headEnd type="none" w="med" len="med"/>
                      <a:tailEnd type="none" w="med" len="med"/>
                    </a:lnB>
                    <a:solidFill>
                      <a:srgbClr val="C6993D"/>
                    </a:solidFill>
                  </a:tcPr>
                </a:tc>
                <a:tc>
                  <a:txBody>
                    <a:bodyPr/>
                    <a:lstStyle/>
                    <a:p>
                      <a:pPr algn="ctr"/>
                      <a:r>
                        <a:rPr lang="en-HK" dirty="0">
                          <a:solidFill>
                            <a:srgbClr val="FF0000"/>
                          </a:solidFill>
                          <a:latin typeface="Courier New" panose="02070309020205020404" pitchFamily="49" charset="0"/>
                          <a:cs typeface="Courier New" panose="02070309020205020404" pitchFamily="49" charset="0"/>
                        </a:rPr>
                        <a:t>-16 </a:t>
                      </a:r>
                      <a:r>
                        <a:rPr lang="en-US" dirty="0">
                          <a:solidFill>
                            <a:srgbClr val="FF0000"/>
                          </a:solidFill>
                          <a:latin typeface="Courier New" panose="02070309020205020404" pitchFamily="49" charset="0"/>
                          <a:cs typeface="Courier New" panose="02070309020205020404" pitchFamily="49" charset="0"/>
                        </a:rPr>
                        <a:t>× 1 = -16</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HK" dirty="0">
                          <a:solidFill>
                            <a:srgbClr val="FF0000"/>
                          </a:solidFill>
                          <a:latin typeface="Courier New" panose="02070309020205020404" pitchFamily="49" charset="0"/>
                          <a:cs typeface="Courier New" panose="02070309020205020404" pitchFamily="49" charset="0"/>
                        </a:rPr>
                        <a:t>8 </a:t>
                      </a:r>
                      <a:r>
                        <a:rPr lang="en-US" dirty="0">
                          <a:solidFill>
                            <a:srgbClr val="FF0000"/>
                          </a:solidFill>
                          <a:latin typeface="Courier New" panose="02070309020205020404" pitchFamily="49" charset="0"/>
                          <a:cs typeface="Courier New" panose="02070309020205020404" pitchFamily="49" charset="0"/>
                        </a:rPr>
                        <a:t>× 0 = 0</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US" dirty="0">
                          <a:solidFill>
                            <a:srgbClr val="FF0000"/>
                          </a:solidFill>
                          <a:latin typeface="Courier New" panose="02070309020205020404" pitchFamily="49" charset="0"/>
                          <a:cs typeface="Courier New" panose="02070309020205020404" pitchFamily="49" charset="0"/>
                        </a:rPr>
                        <a:t>4 × 1 = 4</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US" dirty="0">
                          <a:solidFill>
                            <a:srgbClr val="FF0000"/>
                          </a:solidFill>
                          <a:latin typeface="Courier New" panose="02070309020205020404" pitchFamily="49" charset="0"/>
                          <a:cs typeface="Courier New" panose="02070309020205020404" pitchFamily="49" charset="0"/>
                        </a:rPr>
                        <a:t>2 × 0 = 0</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tc>
                  <a:txBody>
                    <a:bodyPr/>
                    <a:lstStyle/>
                    <a:p>
                      <a:pPr algn="ctr"/>
                      <a:r>
                        <a:rPr lang="en-US" dirty="0">
                          <a:solidFill>
                            <a:srgbClr val="FF0000"/>
                          </a:solidFill>
                          <a:latin typeface="Courier New" panose="02070309020205020404" pitchFamily="49" charset="0"/>
                          <a:cs typeface="Courier New" panose="02070309020205020404" pitchFamily="49" charset="0"/>
                        </a:rPr>
                        <a:t>1 × 1 = 1</a:t>
                      </a:r>
                    </a:p>
                  </a:txBody>
                  <a:tcPr anchor="ctr">
                    <a:lnL w="12700" cap="flat" cmpd="sng" algn="ctr">
                      <a:solidFill>
                        <a:srgbClr val="C6993D"/>
                      </a:solidFill>
                      <a:prstDash val="solid"/>
                      <a:round/>
                      <a:headEnd type="none" w="med" len="med"/>
                      <a:tailEnd type="none" w="med" len="med"/>
                    </a:lnL>
                    <a:lnR w="12700" cap="flat" cmpd="sng" algn="ctr">
                      <a:solidFill>
                        <a:srgbClr val="C6993D"/>
                      </a:solidFill>
                      <a:prstDash val="solid"/>
                      <a:round/>
                      <a:headEnd type="none" w="med" len="med"/>
                      <a:tailEnd type="none" w="med" len="med"/>
                    </a:lnR>
                    <a:lnT w="12700" cap="flat" cmpd="sng" algn="ctr">
                      <a:solidFill>
                        <a:srgbClr val="C6993D"/>
                      </a:solidFill>
                      <a:prstDash val="solid"/>
                      <a:round/>
                      <a:headEnd type="none" w="med" len="med"/>
                      <a:tailEnd type="none" w="med" len="med"/>
                    </a:lnT>
                    <a:lnB w="12700" cap="flat" cmpd="sng" algn="ctr">
                      <a:solidFill>
                        <a:srgbClr val="C6993D"/>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083228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D22F896-40B5-4ADD-8801-0D06FADFA095}" type="slidenum">
              <a:rPr lang="en-US" smtClean="0"/>
              <a:pPr/>
              <a:t>46</a:t>
            </a:fld>
            <a:endParaRPr lang="en-US" dirty="0"/>
          </a:p>
        </p:txBody>
      </p:sp>
      <p:sp>
        <p:nvSpPr>
          <p:cNvPr id="3" name="Content Placeholder 2"/>
          <p:cNvSpPr>
            <a:spLocks noGrp="1"/>
          </p:cNvSpPr>
          <p:nvPr>
            <p:ph sz="quarter" idx="15"/>
          </p:nvPr>
        </p:nvSpPr>
        <p:spPr/>
        <p:txBody>
          <a:bodyPr anchor="ctr"/>
          <a:lstStyle/>
          <a:p>
            <a:r>
              <a:rPr lang="en-US" dirty="0"/>
              <a:t>The two’s complement of </a:t>
            </a:r>
            <a:r>
              <a:rPr lang="en-US" altLang="zh-TW" dirty="0">
                <a:latin typeface="Courier New" panose="02070309020205020404" pitchFamily="49" charset="0"/>
                <a:cs typeface="Courier New" panose="02070309020205020404" pitchFamily="49" charset="0"/>
              </a:rPr>
              <a:t>3</a:t>
            </a:r>
            <a:r>
              <a:rPr lang="en-US" baseline="-25000" dirty="0">
                <a:latin typeface="Courier New" panose="02070309020205020404" pitchFamily="49" charset="0"/>
                <a:cs typeface="Courier New" panose="02070309020205020404" pitchFamily="49" charset="0"/>
              </a:rPr>
              <a:t>1</a:t>
            </a:r>
            <a:r>
              <a:rPr lang="en-US" altLang="zh-TW" baseline="-25000" dirty="0">
                <a:latin typeface="Courier New" panose="02070309020205020404" pitchFamily="49" charset="0"/>
                <a:cs typeface="Courier New" panose="02070309020205020404" pitchFamily="49" charset="0"/>
              </a:rPr>
              <a:t>0</a:t>
            </a:r>
            <a:r>
              <a:rPr lang="en-US" dirty="0"/>
              <a:t> is 011, which is also the two’s complement representation of </a:t>
            </a:r>
            <a:r>
              <a:rPr lang="en-US" altLang="zh-TW" dirty="0">
                <a:latin typeface="Courier New" panose="02070309020205020404" pitchFamily="49" charset="0"/>
                <a:cs typeface="Courier New" panose="02070309020205020404" pitchFamily="49" charset="0"/>
              </a:rPr>
              <a:t>3</a:t>
            </a:r>
            <a:r>
              <a:rPr lang="en-US" baseline="-25000" dirty="0">
                <a:latin typeface="Courier New" panose="02070309020205020404" pitchFamily="49" charset="0"/>
                <a:cs typeface="Courier New" panose="02070309020205020404" pitchFamily="49" charset="0"/>
              </a:rPr>
              <a:t>1</a:t>
            </a:r>
            <a:r>
              <a:rPr lang="en-US" altLang="zh-TW" baseline="-25000" dirty="0">
                <a:latin typeface="Courier New" panose="02070309020205020404" pitchFamily="49" charset="0"/>
                <a:cs typeface="Courier New" panose="02070309020205020404" pitchFamily="49" charset="0"/>
              </a:rPr>
              <a:t>0</a:t>
            </a:r>
            <a:endParaRPr lang="en-US" dirty="0"/>
          </a:p>
        </p:txBody>
      </p:sp>
      <p:sp>
        <p:nvSpPr>
          <p:cNvPr id="4" name="Content Placeholder 3"/>
          <p:cNvSpPr>
            <a:spLocks noGrp="1"/>
          </p:cNvSpPr>
          <p:nvPr>
            <p:ph sz="quarter" idx="14"/>
          </p:nvPr>
        </p:nvSpPr>
        <p:spPr/>
        <p:txBody>
          <a:bodyPr/>
          <a:lstStyle/>
          <a:p>
            <a:r>
              <a:rPr lang="en-US" dirty="0"/>
              <a:t>The two’s complement of  </a:t>
            </a:r>
            <a:r>
              <a:rPr lang="en-US" altLang="zh-TW" dirty="0">
                <a:latin typeface="Courier New" panose="02070309020205020404" pitchFamily="49" charset="0"/>
                <a:cs typeface="Courier New" panose="02070309020205020404" pitchFamily="49" charset="0"/>
              </a:rPr>
              <a:t>3</a:t>
            </a:r>
            <a:r>
              <a:rPr lang="en-US" baseline="-25000" dirty="0">
                <a:latin typeface="Courier New" panose="02070309020205020404" pitchFamily="49" charset="0"/>
                <a:cs typeface="Courier New" panose="02070309020205020404" pitchFamily="49" charset="0"/>
              </a:rPr>
              <a:t>1</a:t>
            </a:r>
            <a:r>
              <a:rPr lang="en-US" altLang="zh-TW" baseline="-25000" dirty="0">
                <a:latin typeface="Courier New" panose="02070309020205020404" pitchFamily="49" charset="0"/>
                <a:cs typeface="Courier New" panose="02070309020205020404" pitchFamily="49" charset="0"/>
              </a:rPr>
              <a:t>0 </a:t>
            </a:r>
            <a:r>
              <a:rPr lang="en-US" dirty="0"/>
              <a:t>is 101, which is also the two’s complement representation of -</a:t>
            </a:r>
            <a:r>
              <a:rPr lang="en-US" altLang="zh-TW" dirty="0">
                <a:latin typeface="Courier New" panose="02070309020205020404" pitchFamily="49" charset="0"/>
                <a:cs typeface="Courier New" panose="02070309020205020404" pitchFamily="49" charset="0"/>
              </a:rPr>
              <a:t>3</a:t>
            </a:r>
            <a:r>
              <a:rPr lang="en-US" baseline="-25000" dirty="0">
                <a:latin typeface="Courier New" panose="02070309020205020404" pitchFamily="49" charset="0"/>
                <a:cs typeface="Courier New" panose="02070309020205020404" pitchFamily="49" charset="0"/>
              </a:rPr>
              <a:t>1</a:t>
            </a:r>
            <a:r>
              <a:rPr lang="en-US" altLang="zh-TW" baseline="-25000" dirty="0">
                <a:latin typeface="Courier New" panose="02070309020205020404" pitchFamily="49" charset="0"/>
                <a:cs typeface="Courier New" panose="02070309020205020404" pitchFamily="49" charset="0"/>
              </a:rPr>
              <a:t>0</a:t>
            </a:r>
            <a:r>
              <a:rPr lang="en-US" dirty="0"/>
              <a:t>. In short, the two’s complement of an integer X is the two’s complement representation of −X. Pay attention to the word “representation”.</a:t>
            </a:r>
          </a:p>
        </p:txBody>
      </p:sp>
      <p:pic>
        <p:nvPicPr>
          <p:cNvPr id="5" name="Picture 4"/>
          <p:cNvPicPr>
            <a:picLocks noChangeAspect="1"/>
          </p:cNvPicPr>
          <p:nvPr/>
        </p:nvPicPr>
        <p:blipFill>
          <a:blip r:embed="rId2"/>
          <a:stretch>
            <a:fillRect/>
          </a:stretch>
        </p:blipFill>
        <p:spPr>
          <a:xfrm>
            <a:off x="963616" y="2237849"/>
            <a:ext cx="575721" cy="518859"/>
          </a:xfrm>
          <a:prstGeom prst="rect">
            <a:avLst/>
          </a:prstGeom>
        </p:spPr>
      </p:pic>
      <p:pic>
        <p:nvPicPr>
          <p:cNvPr id="6" name="Picture 5"/>
          <p:cNvPicPr>
            <a:picLocks noChangeAspect="1"/>
          </p:cNvPicPr>
          <p:nvPr/>
        </p:nvPicPr>
        <p:blipFill>
          <a:blip r:embed="rId3"/>
          <a:stretch>
            <a:fillRect/>
          </a:stretch>
        </p:blipFill>
        <p:spPr>
          <a:xfrm>
            <a:off x="997607" y="4018548"/>
            <a:ext cx="523622" cy="509658"/>
          </a:xfrm>
          <a:prstGeom prst="rect">
            <a:avLst/>
          </a:prstGeom>
        </p:spPr>
      </p:pic>
    </p:spTree>
    <p:extLst>
      <p:ext uri="{BB962C8B-B14F-4D97-AF65-F5344CB8AC3E}">
        <p14:creationId xmlns:p14="http://schemas.microsoft.com/office/powerpoint/2010/main" val="33418310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Representation of signed integers</a:t>
            </a:r>
          </a:p>
        </p:txBody>
      </p:sp>
      <p:sp>
        <p:nvSpPr>
          <p:cNvPr id="3" name="Slide Number Placeholder 2"/>
          <p:cNvSpPr>
            <a:spLocks noGrp="1"/>
          </p:cNvSpPr>
          <p:nvPr>
            <p:ph type="sldNum" sz="quarter" idx="12"/>
          </p:nvPr>
        </p:nvSpPr>
        <p:spPr/>
        <p:txBody>
          <a:bodyPr/>
          <a:lstStyle/>
          <a:p>
            <a:fld id="{6D22F896-40B5-4ADD-8801-0D06FADFA095}" type="slidenum">
              <a:rPr lang="en-US" smtClean="0"/>
              <a:pPr/>
              <a:t>47</a:t>
            </a:fld>
            <a:endParaRPr lang="en-US" dirty="0"/>
          </a:p>
        </p:txBody>
      </p:sp>
      <p:sp>
        <p:nvSpPr>
          <p:cNvPr id="4" name="Text Placeholder 3"/>
          <p:cNvSpPr>
            <a:spLocks noGrp="1"/>
          </p:cNvSpPr>
          <p:nvPr>
            <p:ph type="body" sz="quarter" idx="14"/>
          </p:nvPr>
        </p:nvSpPr>
        <p:spPr/>
        <p:txBody>
          <a:bodyPr/>
          <a:lstStyle/>
          <a:p>
            <a:r>
              <a:rPr lang="en-HK" dirty="0"/>
              <a:t>E</a:t>
            </a:r>
            <a:endParaRPr lang="en-US" dirty="0"/>
          </a:p>
        </p:txBody>
      </p:sp>
      <p:sp>
        <p:nvSpPr>
          <p:cNvPr id="5" name="Content Placeholder 4"/>
          <p:cNvSpPr>
            <a:spLocks noGrp="1"/>
          </p:cNvSpPr>
          <p:nvPr>
            <p:ph sz="quarter" idx="15"/>
          </p:nvPr>
        </p:nvSpPr>
        <p:spPr/>
        <p:txBody>
          <a:bodyPr/>
          <a:lstStyle/>
          <a:p>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As we can see from the above table, the two’s complement of </a:t>
            </a:r>
            <a:r>
              <a:rPr lang="en-US" dirty="0">
                <a:latin typeface="Courier New" panose="02070309020205020404" pitchFamily="49" charset="0"/>
                <a:cs typeface="Courier New" panose="02070309020205020404" pitchFamily="49" charset="0"/>
              </a:rPr>
              <a:t>1</a:t>
            </a:r>
            <a:r>
              <a:rPr lang="en-US" baseline="-25000" dirty="0">
                <a:latin typeface="Courier New" panose="02070309020205020404" pitchFamily="49" charset="0"/>
                <a:cs typeface="Courier New" panose="02070309020205020404" pitchFamily="49" charset="0"/>
              </a:rPr>
              <a:t>10</a:t>
            </a:r>
            <a:r>
              <a:rPr lang="en-US" dirty="0"/>
              <a:t> is </a:t>
            </a:r>
            <a:r>
              <a:rPr lang="en-US" dirty="0">
                <a:solidFill>
                  <a:srgbClr val="C26924"/>
                </a:solidFill>
                <a:latin typeface="Courier New" panose="02070309020205020404" pitchFamily="49" charset="0"/>
                <a:cs typeface="Courier New" panose="02070309020205020404" pitchFamily="49" charset="0"/>
              </a:rPr>
              <a:t>111</a:t>
            </a:r>
            <a:r>
              <a:rPr lang="en-US" dirty="0"/>
              <a:t>, which is the two’s complement representation of </a:t>
            </a:r>
            <a:r>
              <a:rPr lang="en-US" dirty="0">
                <a:latin typeface="Courier New" panose="02070309020205020404" pitchFamily="49" charset="0"/>
                <a:cs typeface="Courier New" panose="02070309020205020404" pitchFamily="49" charset="0"/>
              </a:rPr>
              <a:t>−1</a:t>
            </a:r>
            <a:r>
              <a:rPr lang="en-US" baseline="-25000" dirty="0">
                <a:latin typeface="Courier New" panose="02070309020205020404" pitchFamily="49" charset="0"/>
                <a:cs typeface="Courier New" panose="02070309020205020404" pitchFamily="49" charset="0"/>
              </a:rPr>
              <a:t>10</a:t>
            </a:r>
            <a:r>
              <a:rPr lang="en-US" dirty="0">
                <a:latin typeface="+mn-lt"/>
                <a:cs typeface="Courier New" panose="02070309020205020404" pitchFamily="49" charset="0"/>
              </a:rPr>
              <a:t> </a:t>
            </a:r>
            <a:r>
              <a:rPr lang="en-US" dirty="0"/>
              <a:t>.</a:t>
            </a:r>
          </a:p>
        </p:txBody>
      </p:sp>
      <p:graphicFrame>
        <p:nvGraphicFramePr>
          <p:cNvPr id="6" name="Table 5"/>
          <p:cNvGraphicFramePr>
            <a:graphicFrameLocks noGrp="1"/>
          </p:cNvGraphicFramePr>
          <p:nvPr>
            <p:extLst>
              <p:ext uri="{D42A27DB-BD31-4B8C-83A1-F6EECF244321}">
                <p14:modId xmlns:p14="http://schemas.microsoft.com/office/powerpoint/2010/main" val="599268932"/>
              </p:ext>
            </p:extLst>
          </p:nvPr>
        </p:nvGraphicFramePr>
        <p:xfrm>
          <a:off x="838799" y="2081741"/>
          <a:ext cx="10515002" cy="1760996"/>
        </p:xfrm>
        <a:graphic>
          <a:graphicData uri="http://schemas.openxmlformats.org/drawingml/2006/table">
            <a:tbl>
              <a:tblPr firstRow="1" bandRow="1">
                <a:tableStyleId>{5940675A-B579-460E-94D1-54222C63F5DA}</a:tableStyleId>
              </a:tblPr>
              <a:tblGrid>
                <a:gridCol w="2248430">
                  <a:extLst>
                    <a:ext uri="{9D8B030D-6E8A-4147-A177-3AD203B41FA5}">
                      <a16:colId xmlns:a16="http://schemas.microsoft.com/office/drawing/2014/main" val="20000"/>
                    </a:ext>
                  </a:extLst>
                </a:gridCol>
                <a:gridCol w="918508">
                  <a:extLst>
                    <a:ext uri="{9D8B030D-6E8A-4147-A177-3AD203B41FA5}">
                      <a16:colId xmlns:a16="http://schemas.microsoft.com/office/drawing/2014/main" val="20001"/>
                    </a:ext>
                  </a:extLst>
                </a:gridCol>
                <a:gridCol w="918508">
                  <a:extLst>
                    <a:ext uri="{9D8B030D-6E8A-4147-A177-3AD203B41FA5}">
                      <a16:colId xmlns:a16="http://schemas.microsoft.com/office/drawing/2014/main" val="20002"/>
                    </a:ext>
                  </a:extLst>
                </a:gridCol>
                <a:gridCol w="918508">
                  <a:extLst>
                    <a:ext uri="{9D8B030D-6E8A-4147-A177-3AD203B41FA5}">
                      <a16:colId xmlns:a16="http://schemas.microsoft.com/office/drawing/2014/main" val="20003"/>
                    </a:ext>
                  </a:extLst>
                </a:gridCol>
                <a:gridCol w="918508">
                  <a:extLst>
                    <a:ext uri="{9D8B030D-6E8A-4147-A177-3AD203B41FA5}">
                      <a16:colId xmlns:a16="http://schemas.microsoft.com/office/drawing/2014/main" val="20004"/>
                    </a:ext>
                  </a:extLst>
                </a:gridCol>
                <a:gridCol w="918508">
                  <a:extLst>
                    <a:ext uri="{9D8B030D-6E8A-4147-A177-3AD203B41FA5}">
                      <a16:colId xmlns:a16="http://schemas.microsoft.com/office/drawing/2014/main" val="20005"/>
                    </a:ext>
                  </a:extLst>
                </a:gridCol>
                <a:gridCol w="918508">
                  <a:extLst>
                    <a:ext uri="{9D8B030D-6E8A-4147-A177-3AD203B41FA5}">
                      <a16:colId xmlns:a16="http://schemas.microsoft.com/office/drawing/2014/main" val="20006"/>
                    </a:ext>
                  </a:extLst>
                </a:gridCol>
                <a:gridCol w="918508">
                  <a:extLst>
                    <a:ext uri="{9D8B030D-6E8A-4147-A177-3AD203B41FA5}">
                      <a16:colId xmlns:a16="http://schemas.microsoft.com/office/drawing/2014/main" val="20007"/>
                    </a:ext>
                  </a:extLst>
                </a:gridCol>
                <a:gridCol w="918508">
                  <a:extLst>
                    <a:ext uri="{9D8B030D-6E8A-4147-A177-3AD203B41FA5}">
                      <a16:colId xmlns:a16="http://schemas.microsoft.com/office/drawing/2014/main" val="20008"/>
                    </a:ext>
                  </a:extLst>
                </a:gridCol>
                <a:gridCol w="918508">
                  <a:extLst>
                    <a:ext uri="{9D8B030D-6E8A-4147-A177-3AD203B41FA5}">
                      <a16:colId xmlns:a16="http://schemas.microsoft.com/office/drawing/2014/main" val="20009"/>
                    </a:ext>
                  </a:extLst>
                </a:gridCol>
              </a:tblGrid>
              <a:tr h="480836">
                <a:tc>
                  <a:txBody>
                    <a:bodyPr/>
                    <a:lstStyle/>
                    <a:p>
                      <a:pPr algn="ctr"/>
                      <a:r>
                        <a:rPr lang="en-HK" b="1" dirty="0">
                          <a:solidFill>
                            <a:schemeClr val="bg1"/>
                          </a:solidFill>
                        </a:rPr>
                        <a:t>Decimal number</a:t>
                      </a:r>
                      <a:endParaRPr lang="en-US" b="1" dirty="0">
                        <a:solidFill>
                          <a:schemeClr val="bg1"/>
                        </a:solidFill>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algn="ctr"/>
                      <a:r>
                        <a:rPr lang="en-HK" dirty="0">
                          <a:latin typeface="Courier New" panose="02070309020205020404" pitchFamily="49" charset="0"/>
                          <a:cs typeface="Courier New" panose="02070309020205020404" pitchFamily="49" charset="0"/>
                        </a:rPr>
                        <a:t>-4</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-3</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-2</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-1</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0</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1</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2</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3</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4</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0"/>
                  </a:ext>
                </a:extLst>
              </a:tr>
              <a:tr h="480836">
                <a:tc>
                  <a:txBody>
                    <a:bodyPr/>
                    <a:lstStyle/>
                    <a:p>
                      <a:pPr algn="ctr"/>
                      <a:r>
                        <a:rPr lang="en-HK" b="1" dirty="0">
                          <a:solidFill>
                            <a:schemeClr val="bg1"/>
                          </a:solidFill>
                        </a:rPr>
                        <a:t>Two’s complement</a:t>
                      </a:r>
                      <a:r>
                        <a:rPr lang="en-HK" b="1" baseline="0" dirty="0">
                          <a:solidFill>
                            <a:schemeClr val="bg1"/>
                          </a:solidFill>
                        </a:rPr>
                        <a:t> representation</a:t>
                      </a:r>
                      <a:endParaRPr lang="en-US" b="1" dirty="0">
                        <a:solidFill>
                          <a:schemeClr val="bg1"/>
                        </a:solidFill>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algn="ctr"/>
                      <a:r>
                        <a:rPr lang="en-HK" dirty="0">
                          <a:solidFill>
                            <a:srgbClr val="565758"/>
                          </a:solidFill>
                          <a:latin typeface="Courier New" panose="02070309020205020404" pitchFamily="49" charset="0"/>
                          <a:cs typeface="Courier New" panose="02070309020205020404" pitchFamily="49" charset="0"/>
                        </a:rPr>
                        <a:t>100</a:t>
                      </a:r>
                      <a:endParaRPr lang="en-US" dirty="0">
                        <a:solidFill>
                          <a:srgbClr val="565758"/>
                        </a:solidFill>
                        <a:latin typeface="Courier New" panose="02070309020205020404" pitchFamily="49" charset="0"/>
                        <a:cs typeface="Courier New" panose="02070309020205020404" pitchFamily="49"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solidFill>
                            <a:srgbClr val="C6993D"/>
                          </a:solidFill>
                          <a:latin typeface="Courier New" panose="02070309020205020404" pitchFamily="49" charset="0"/>
                          <a:cs typeface="Courier New" panose="02070309020205020404" pitchFamily="49" charset="0"/>
                        </a:rPr>
                        <a:t>110</a:t>
                      </a:r>
                      <a:endParaRPr lang="en-US" dirty="0">
                        <a:solidFill>
                          <a:srgbClr val="C6993D"/>
                        </a:solidFill>
                        <a:latin typeface="Courier New" panose="02070309020205020404" pitchFamily="49" charset="0"/>
                        <a:cs typeface="Courier New" panose="02070309020205020404" pitchFamily="49"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solidFill>
                            <a:srgbClr val="4B4DA0"/>
                          </a:solidFill>
                          <a:latin typeface="Courier New" panose="02070309020205020404" pitchFamily="49" charset="0"/>
                          <a:cs typeface="Courier New" panose="02070309020205020404" pitchFamily="49" charset="0"/>
                        </a:rPr>
                        <a:t>110</a:t>
                      </a:r>
                      <a:endParaRPr lang="en-US" dirty="0">
                        <a:solidFill>
                          <a:srgbClr val="4B4DA0"/>
                        </a:solidFill>
                        <a:latin typeface="Courier New" panose="02070309020205020404" pitchFamily="49" charset="0"/>
                        <a:cs typeface="Courier New" panose="02070309020205020404" pitchFamily="49"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solidFill>
                            <a:srgbClr val="C26924"/>
                          </a:solidFill>
                          <a:latin typeface="Courier New" panose="02070309020205020404" pitchFamily="49" charset="0"/>
                          <a:cs typeface="Courier New" panose="02070309020205020404" pitchFamily="49" charset="0"/>
                        </a:rPr>
                        <a:t>111</a:t>
                      </a:r>
                      <a:endParaRPr lang="en-US" dirty="0">
                        <a:solidFill>
                          <a:srgbClr val="C26924"/>
                        </a:solidFill>
                        <a:latin typeface="Courier New" panose="02070309020205020404" pitchFamily="49" charset="0"/>
                        <a:cs typeface="Courier New" panose="02070309020205020404" pitchFamily="49"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000</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solidFill>
                            <a:srgbClr val="37A3D4"/>
                          </a:solidFill>
                          <a:latin typeface="Courier New" panose="02070309020205020404" pitchFamily="49" charset="0"/>
                          <a:cs typeface="Courier New" panose="02070309020205020404" pitchFamily="49" charset="0"/>
                        </a:rPr>
                        <a:t>001</a:t>
                      </a:r>
                      <a:endParaRPr lang="en-US" dirty="0">
                        <a:solidFill>
                          <a:srgbClr val="37A3D4"/>
                        </a:solidFill>
                        <a:latin typeface="Courier New" panose="02070309020205020404" pitchFamily="49" charset="0"/>
                        <a:cs typeface="Courier New" panose="02070309020205020404" pitchFamily="49"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solidFill>
                            <a:srgbClr val="AF1F50"/>
                          </a:solidFill>
                          <a:latin typeface="Courier New" panose="02070309020205020404" pitchFamily="49" charset="0"/>
                          <a:cs typeface="Courier New" panose="02070309020205020404" pitchFamily="49" charset="0"/>
                        </a:rPr>
                        <a:t>010</a:t>
                      </a:r>
                      <a:endParaRPr lang="en-US" dirty="0">
                        <a:solidFill>
                          <a:srgbClr val="AF1F50"/>
                        </a:solidFill>
                        <a:latin typeface="Courier New" panose="02070309020205020404" pitchFamily="49" charset="0"/>
                        <a:cs typeface="Courier New" panose="02070309020205020404" pitchFamily="49"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solidFill>
                            <a:srgbClr val="57A044"/>
                          </a:solidFill>
                          <a:latin typeface="Courier New" panose="02070309020205020404" pitchFamily="49" charset="0"/>
                          <a:cs typeface="Courier New" panose="02070309020205020404" pitchFamily="49" charset="0"/>
                        </a:rPr>
                        <a:t>011</a:t>
                      </a:r>
                      <a:endParaRPr lang="en-US" dirty="0">
                        <a:solidFill>
                          <a:srgbClr val="57A044"/>
                        </a:solidFill>
                        <a:latin typeface="Courier New" panose="02070309020205020404" pitchFamily="49" charset="0"/>
                        <a:cs typeface="Courier New" panose="02070309020205020404" pitchFamily="49"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t>Out</a:t>
                      </a:r>
                      <a:r>
                        <a:rPr lang="en-HK" baseline="0" dirty="0"/>
                        <a:t> of range</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1"/>
                  </a:ext>
                </a:extLst>
              </a:tr>
              <a:tr h="480836">
                <a:tc>
                  <a:txBody>
                    <a:bodyPr/>
                    <a:lstStyle/>
                    <a:p>
                      <a:pPr algn="ctr"/>
                      <a:r>
                        <a:rPr lang="en-HK" b="1" dirty="0">
                          <a:solidFill>
                            <a:schemeClr val="bg1"/>
                          </a:solidFill>
                        </a:rPr>
                        <a:t>Two’s complement</a:t>
                      </a:r>
                      <a:endParaRPr lang="en-US" b="1" dirty="0">
                        <a:solidFill>
                          <a:schemeClr val="bg1"/>
                        </a:solidFill>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dirty="0"/>
                        <a:t>Out</a:t>
                      </a:r>
                      <a:r>
                        <a:rPr lang="en-HK" baseline="0" dirty="0"/>
                        <a:t> of range</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solidFill>
                            <a:srgbClr val="57A044"/>
                          </a:solidFill>
                          <a:latin typeface="Courier New" panose="02070309020205020404" pitchFamily="49" charset="0"/>
                          <a:cs typeface="Courier New" panose="02070309020205020404" pitchFamily="49" charset="0"/>
                        </a:rPr>
                        <a:t>011</a:t>
                      </a:r>
                      <a:endParaRPr lang="en-US" dirty="0">
                        <a:solidFill>
                          <a:srgbClr val="57A044"/>
                        </a:solidFill>
                        <a:latin typeface="Courier New" panose="02070309020205020404" pitchFamily="49" charset="0"/>
                        <a:cs typeface="Courier New" panose="02070309020205020404" pitchFamily="49"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solidFill>
                            <a:srgbClr val="AF1F50"/>
                          </a:solidFill>
                          <a:latin typeface="Courier New" panose="02070309020205020404" pitchFamily="49" charset="0"/>
                          <a:cs typeface="Courier New" panose="02070309020205020404" pitchFamily="49" charset="0"/>
                        </a:rPr>
                        <a:t>010</a:t>
                      </a:r>
                      <a:endParaRPr lang="en-US" dirty="0">
                        <a:solidFill>
                          <a:srgbClr val="AF1F50"/>
                        </a:solidFill>
                        <a:latin typeface="Courier New" panose="02070309020205020404" pitchFamily="49" charset="0"/>
                        <a:cs typeface="Courier New" panose="02070309020205020404" pitchFamily="49"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solidFill>
                            <a:srgbClr val="37A3D4"/>
                          </a:solidFill>
                          <a:latin typeface="Courier New" panose="02070309020205020404" pitchFamily="49" charset="0"/>
                          <a:cs typeface="Courier New" panose="02070309020205020404" pitchFamily="49" charset="0"/>
                        </a:rPr>
                        <a:t>001</a:t>
                      </a:r>
                      <a:endParaRPr lang="en-US" dirty="0">
                        <a:solidFill>
                          <a:srgbClr val="37A3D4"/>
                        </a:solidFill>
                        <a:latin typeface="Courier New" panose="02070309020205020404" pitchFamily="49" charset="0"/>
                        <a:cs typeface="Courier New" panose="02070309020205020404" pitchFamily="49"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latin typeface="Courier New" panose="02070309020205020404" pitchFamily="49" charset="0"/>
                          <a:cs typeface="Courier New" panose="02070309020205020404" pitchFamily="49" charset="0"/>
                        </a:rPr>
                        <a:t>000</a:t>
                      </a:r>
                      <a:endParaRPr lang="en-US" dirty="0">
                        <a:latin typeface="Courier New" panose="02070309020205020404" pitchFamily="49" charset="0"/>
                        <a:cs typeface="Courier New" panose="02070309020205020404" pitchFamily="49"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solidFill>
                            <a:srgbClr val="C26924"/>
                          </a:solidFill>
                          <a:latin typeface="Courier New" panose="02070309020205020404" pitchFamily="49" charset="0"/>
                          <a:cs typeface="Courier New" panose="02070309020205020404" pitchFamily="49" charset="0"/>
                        </a:rPr>
                        <a:t>111</a:t>
                      </a:r>
                      <a:endParaRPr lang="en-US" dirty="0">
                        <a:solidFill>
                          <a:srgbClr val="C26924"/>
                        </a:solidFill>
                        <a:latin typeface="Courier New" panose="02070309020205020404" pitchFamily="49" charset="0"/>
                        <a:cs typeface="Courier New" panose="02070309020205020404" pitchFamily="49"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solidFill>
                            <a:srgbClr val="4B4DA0"/>
                          </a:solidFill>
                          <a:latin typeface="Courier New" panose="02070309020205020404" pitchFamily="49" charset="0"/>
                          <a:cs typeface="Courier New" panose="02070309020205020404" pitchFamily="49" charset="0"/>
                        </a:rPr>
                        <a:t>110</a:t>
                      </a:r>
                      <a:endParaRPr lang="en-US" dirty="0">
                        <a:solidFill>
                          <a:srgbClr val="4B4DA0"/>
                        </a:solidFill>
                        <a:latin typeface="Courier New" panose="02070309020205020404" pitchFamily="49" charset="0"/>
                        <a:cs typeface="Courier New" panose="02070309020205020404" pitchFamily="49"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solidFill>
                            <a:srgbClr val="C6993D"/>
                          </a:solidFill>
                          <a:latin typeface="Courier New" panose="02070309020205020404" pitchFamily="49" charset="0"/>
                          <a:cs typeface="Courier New" panose="02070309020205020404" pitchFamily="49" charset="0"/>
                        </a:rPr>
                        <a:t>101</a:t>
                      </a:r>
                      <a:endParaRPr lang="en-US" dirty="0">
                        <a:solidFill>
                          <a:srgbClr val="C6993D"/>
                        </a:solidFill>
                        <a:latin typeface="Courier New" panose="02070309020205020404" pitchFamily="49" charset="0"/>
                        <a:cs typeface="Courier New" panose="02070309020205020404" pitchFamily="49"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solidFill>
                            <a:srgbClr val="565758"/>
                          </a:solidFill>
                          <a:latin typeface="Courier New" panose="02070309020205020404" pitchFamily="49" charset="0"/>
                          <a:cs typeface="Courier New" panose="02070309020205020404" pitchFamily="49" charset="0"/>
                        </a:rPr>
                        <a:t>100</a:t>
                      </a:r>
                      <a:endParaRPr lang="en-US" dirty="0">
                        <a:solidFill>
                          <a:srgbClr val="565758"/>
                        </a:solidFill>
                        <a:latin typeface="Courier New" panose="02070309020205020404" pitchFamily="49" charset="0"/>
                        <a:cs typeface="Courier New" panose="02070309020205020404" pitchFamily="49"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76853052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Representation of signed integers</a:t>
            </a:r>
          </a:p>
        </p:txBody>
      </p:sp>
      <p:sp>
        <p:nvSpPr>
          <p:cNvPr id="3" name="Slide Number Placeholder 2"/>
          <p:cNvSpPr>
            <a:spLocks noGrp="1"/>
          </p:cNvSpPr>
          <p:nvPr>
            <p:ph type="sldNum" sz="quarter" idx="12"/>
          </p:nvPr>
        </p:nvSpPr>
        <p:spPr/>
        <p:txBody>
          <a:bodyPr/>
          <a:lstStyle/>
          <a:p>
            <a:fld id="{6D22F896-40B5-4ADD-8801-0D06FADFA095}" type="slidenum">
              <a:rPr lang="en-US" smtClean="0"/>
              <a:pPr/>
              <a:t>48</a:t>
            </a:fld>
            <a:endParaRPr lang="en-US" dirty="0"/>
          </a:p>
        </p:txBody>
      </p:sp>
      <p:sp>
        <p:nvSpPr>
          <p:cNvPr id="4" name="Text Placeholder 3"/>
          <p:cNvSpPr>
            <a:spLocks noGrp="1"/>
          </p:cNvSpPr>
          <p:nvPr>
            <p:ph type="body" sz="quarter" idx="14"/>
          </p:nvPr>
        </p:nvSpPr>
        <p:spPr/>
        <p:txBody>
          <a:bodyPr/>
          <a:lstStyle/>
          <a:p>
            <a:r>
              <a:rPr lang="en-HK" dirty="0"/>
              <a:t>E</a:t>
            </a:r>
            <a:endParaRPr lang="en-US" dirty="0"/>
          </a:p>
        </p:txBody>
      </p:sp>
      <p:sp>
        <p:nvSpPr>
          <p:cNvPr id="5" name="Content Placeholder 4"/>
          <p:cNvSpPr>
            <a:spLocks noGrp="1"/>
          </p:cNvSpPr>
          <p:nvPr>
            <p:ph sz="quarter" idx="15"/>
          </p:nvPr>
        </p:nvSpPr>
        <p:spPr/>
        <p:txBody>
          <a:bodyPr>
            <a:normAutofit fontScale="92500" lnSpcReduction="10000"/>
          </a:bodyPr>
          <a:lstStyle/>
          <a:p>
            <a:r>
              <a:rPr lang="en-HK" dirty="0"/>
              <a:t>The two’s complement of a binary integer can be found by subtraction from 2</a:t>
            </a:r>
            <a:r>
              <a:rPr lang="en-HK" baseline="30000" dirty="0"/>
              <a:t>N</a:t>
            </a:r>
            <a:r>
              <a:rPr lang="en-HK" dirty="0"/>
              <a:t>. </a:t>
            </a:r>
            <a:r>
              <a:rPr lang="en-US" dirty="0"/>
              <a:t>For example, to find the 8-bit two’s complement of </a:t>
            </a:r>
            <a:r>
              <a:rPr lang="en-US" dirty="0">
                <a:latin typeface="Courier New" panose="02070309020205020404" pitchFamily="49" charset="0"/>
                <a:cs typeface="Courier New" panose="02070309020205020404" pitchFamily="49" charset="0"/>
              </a:rPr>
              <a:t>27</a:t>
            </a:r>
            <a:r>
              <a:rPr lang="en-US" baseline="-25000" dirty="0">
                <a:latin typeface="Courier New" panose="02070309020205020404" pitchFamily="49" charset="0"/>
                <a:cs typeface="Courier New" panose="02070309020205020404" pitchFamily="49" charset="0"/>
              </a:rPr>
              <a:t>10</a:t>
            </a:r>
            <a:r>
              <a:rPr lang="en-US" dirty="0"/>
              <a:t> , we can:</a:t>
            </a:r>
            <a:endParaRPr lang="en-HK" dirty="0"/>
          </a:p>
          <a:p>
            <a:endParaRPr lang="en-HK" dirty="0"/>
          </a:p>
          <a:p>
            <a:pPr marL="457200" indent="-457200">
              <a:buFont typeface="+mj-lt"/>
              <a:buAutoNum type="arabicPeriod"/>
            </a:pPr>
            <a:r>
              <a:rPr lang="en-US" dirty="0"/>
              <a:t>Convert </a:t>
            </a:r>
            <a:r>
              <a:rPr lang="en-US" dirty="0">
                <a:latin typeface="Courier New" panose="02070309020205020404" pitchFamily="49" charset="0"/>
                <a:cs typeface="Courier New" panose="02070309020205020404" pitchFamily="49" charset="0"/>
              </a:rPr>
              <a:t>27</a:t>
            </a:r>
            <a:r>
              <a:rPr lang="en-US" baseline="-25000" dirty="0">
                <a:latin typeface="Courier New" panose="02070309020205020404" pitchFamily="49" charset="0"/>
                <a:cs typeface="Courier New" panose="02070309020205020404" pitchFamily="49" charset="0"/>
              </a:rPr>
              <a:t>10</a:t>
            </a:r>
            <a:r>
              <a:rPr lang="en-US" dirty="0"/>
              <a:t> into a binary number, which is </a:t>
            </a:r>
            <a:r>
              <a:rPr lang="en-US" dirty="0">
                <a:latin typeface="Courier New" panose="02070309020205020404" pitchFamily="49" charset="0"/>
                <a:cs typeface="Courier New" panose="02070309020205020404" pitchFamily="49" charset="0"/>
              </a:rPr>
              <a:t>11011</a:t>
            </a:r>
            <a:r>
              <a:rPr lang="en-US" dirty="0"/>
              <a:t>. Add leading 0s to change it to an 8-bit binary representation, i.e. </a:t>
            </a:r>
            <a:r>
              <a:rPr lang="en-US" dirty="0">
                <a:latin typeface="Courier New" panose="02070309020205020404" pitchFamily="49" charset="0"/>
                <a:cs typeface="Courier New" panose="02070309020205020404" pitchFamily="49" charset="0"/>
              </a:rPr>
              <a:t>0001 1011</a:t>
            </a:r>
            <a:r>
              <a:rPr lang="en-US" baseline="-25000" dirty="0">
                <a:latin typeface="Courier New" panose="02070309020205020404" pitchFamily="49" charset="0"/>
                <a:cs typeface="Courier New" panose="02070309020205020404" pitchFamily="49" charset="0"/>
              </a:rPr>
              <a:t>2</a:t>
            </a:r>
            <a:r>
              <a:rPr lang="en-US" dirty="0">
                <a:latin typeface="Courier New" panose="02070309020205020404" pitchFamily="49" charset="0"/>
                <a:cs typeface="Courier New" panose="02070309020205020404" pitchFamily="49" charset="0"/>
              </a:rPr>
              <a:t> </a:t>
            </a:r>
            <a:r>
              <a:rPr lang="en-US" dirty="0"/>
              <a:t>. </a:t>
            </a:r>
            <a:br>
              <a:rPr lang="en-US" dirty="0"/>
            </a:br>
            <a:endParaRPr lang="en-US" dirty="0"/>
          </a:p>
          <a:p>
            <a:pPr marL="457200" indent="-457200">
              <a:buFont typeface="+mj-lt"/>
              <a:buAutoNum type="arabicPeriod"/>
            </a:pPr>
            <a:r>
              <a:rPr lang="en-US" dirty="0"/>
              <a:t>Subtract it from </a:t>
            </a:r>
            <a:r>
              <a:rPr lang="en-US" dirty="0">
                <a:latin typeface="Courier New" panose="02070309020205020404" pitchFamily="49" charset="0"/>
                <a:cs typeface="Courier New" panose="02070309020205020404" pitchFamily="49" charset="0"/>
              </a:rPr>
              <a:t>2</a:t>
            </a:r>
            <a:r>
              <a:rPr lang="en-US" baseline="30000" dirty="0">
                <a:latin typeface="Courier New" panose="02070309020205020404" pitchFamily="49" charset="0"/>
                <a:cs typeface="Courier New" panose="02070309020205020404" pitchFamily="49" charset="0"/>
              </a:rPr>
              <a:t>8</a:t>
            </a:r>
            <a:r>
              <a:rPr lang="en-US" dirty="0"/>
              <a:t>, i.e. </a:t>
            </a:r>
            <a:r>
              <a:rPr lang="en-US" dirty="0">
                <a:latin typeface="Courier New" panose="02070309020205020404" pitchFamily="49" charset="0"/>
                <a:cs typeface="Courier New" panose="02070309020205020404" pitchFamily="49" charset="0"/>
              </a:rPr>
              <a:t>1 0000 0000</a:t>
            </a:r>
            <a:r>
              <a:rPr lang="en-US" dirty="0"/>
              <a:t>.</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The 8-bit two’s complement of </a:t>
            </a:r>
            <a:r>
              <a:rPr lang="en-US" dirty="0">
                <a:latin typeface="Courier New" panose="02070309020205020404" pitchFamily="49" charset="0"/>
                <a:cs typeface="Courier New" panose="02070309020205020404" pitchFamily="49" charset="0"/>
              </a:rPr>
              <a:t>27</a:t>
            </a:r>
            <a:r>
              <a:rPr lang="en-US" baseline="-25000" dirty="0">
                <a:latin typeface="Courier New" panose="02070309020205020404" pitchFamily="49" charset="0"/>
                <a:cs typeface="Courier New" panose="02070309020205020404" pitchFamily="49" charset="0"/>
              </a:rPr>
              <a:t>10</a:t>
            </a:r>
            <a:r>
              <a:rPr lang="en-US" dirty="0"/>
              <a:t> is </a:t>
            </a:r>
            <a:r>
              <a:rPr lang="en-US" dirty="0">
                <a:latin typeface="Courier New" panose="02070309020205020404" pitchFamily="49" charset="0"/>
                <a:cs typeface="Courier New" panose="02070309020205020404" pitchFamily="49" charset="0"/>
              </a:rPr>
              <a:t>1110 0101</a:t>
            </a:r>
            <a:r>
              <a:rPr lang="en-US" dirty="0"/>
              <a:t>, which is the 8-bit two’s complement representation of </a:t>
            </a:r>
            <a:r>
              <a:rPr lang="en-US" dirty="0">
                <a:latin typeface="Courier New" panose="02070309020205020404" pitchFamily="49" charset="0"/>
                <a:cs typeface="Courier New" panose="02070309020205020404" pitchFamily="49" charset="0"/>
              </a:rPr>
              <a:t>−27</a:t>
            </a:r>
            <a:r>
              <a:rPr lang="en-US" baseline="-25000" dirty="0">
                <a:latin typeface="Courier New" panose="02070309020205020404" pitchFamily="49" charset="0"/>
                <a:cs typeface="Courier New" panose="02070309020205020404" pitchFamily="49" charset="0"/>
              </a:rPr>
              <a:t>10</a:t>
            </a:r>
            <a:r>
              <a:rPr lang="en-US" dirty="0">
                <a:latin typeface="Courier New" panose="02070309020205020404" pitchFamily="49" charset="0"/>
                <a:cs typeface="Courier New" panose="02070309020205020404" pitchFamily="49" charset="0"/>
              </a:rPr>
              <a:t> </a:t>
            </a:r>
            <a:r>
              <a:rPr lang="en-US" dirty="0"/>
              <a:t>.</a:t>
            </a:r>
            <a:endParaRPr lang="en-HK" dirty="0"/>
          </a:p>
          <a:p>
            <a:endParaRPr lang="en-US" dirty="0"/>
          </a:p>
        </p:txBody>
      </p:sp>
      <p:pic>
        <p:nvPicPr>
          <p:cNvPr id="6" name="Picture 5"/>
          <p:cNvPicPr>
            <a:picLocks noChangeAspect="1"/>
          </p:cNvPicPr>
          <p:nvPr/>
        </p:nvPicPr>
        <p:blipFill>
          <a:blip r:embed="rId2"/>
          <a:stretch>
            <a:fillRect/>
          </a:stretch>
        </p:blipFill>
        <p:spPr>
          <a:xfrm>
            <a:off x="5561589" y="3450069"/>
            <a:ext cx="5286522" cy="1653354"/>
          </a:xfrm>
          <a:prstGeom prst="rect">
            <a:avLst/>
          </a:prstGeom>
        </p:spPr>
      </p:pic>
    </p:spTree>
    <p:extLst>
      <p:ext uri="{BB962C8B-B14F-4D97-AF65-F5344CB8AC3E}">
        <p14:creationId xmlns:p14="http://schemas.microsoft.com/office/powerpoint/2010/main" val="10772411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Representation of signed integers</a:t>
            </a:r>
          </a:p>
        </p:txBody>
      </p:sp>
      <p:sp>
        <p:nvSpPr>
          <p:cNvPr id="3" name="Slide Number Placeholder 2"/>
          <p:cNvSpPr>
            <a:spLocks noGrp="1"/>
          </p:cNvSpPr>
          <p:nvPr>
            <p:ph type="sldNum" sz="quarter" idx="12"/>
          </p:nvPr>
        </p:nvSpPr>
        <p:spPr/>
        <p:txBody>
          <a:bodyPr/>
          <a:lstStyle/>
          <a:p>
            <a:fld id="{6D22F896-40B5-4ADD-8801-0D06FADFA095}" type="slidenum">
              <a:rPr lang="en-US" smtClean="0"/>
              <a:pPr/>
              <a:t>49</a:t>
            </a:fld>
            <a:endParaRPr lang="en-US" dirty="0"/>
          </a:p>
        </p:txBody>
      </p:sp>
      <p:sp>
        <p:nvSpPr>
          <p:cNvPr id="4" name="Text Placeholder 3"/>
          <p:cNvSpPr>
            <a:spLocks noGrp="1"/>
          </p:cNvSpPr>
          <p:nvPr>
            <p:ph type="body" sz="quarter" idx="14"/>
          </p:nvPr>
        </p:nvSpPr>
        <p:spPr/>
        <p:txBody>
          <a:bodyPr/>
          <a:lstStyle/>
          <a:p>
            <a:r>
              <a:rPr lang="en-HK" dirty="0"/>
              <a:t>E</a:t>
            </a:r>
            <a:endParaRPr lang="en-US" dirty="0"/>
          </a:p>
        </p:txBody>
      </p:sp>
      <p:sp>
        <p:nvSpPr>
          <p:cNvPr id="5" name="Content Placeholder 4"/>
          <p:cNvSpPr>
            <a:spLocks noGrp="1"/>
          </p:cNvSpPr>
          <p:nvPr>
            <p:ph sz="quarter" idx="15"/>
          </p:nvPr>
        </p:nvSpPr>
        <p:spPr/>
        <p:txBody>
          <a:bodyPr/>
          <a:lstStyle/>
          <a:p>
            <a:r>
              <a:rPr lang="en-HK" dirty="0"/>
              <a:t>The two’s complement of a binary integer can also be found by adding 1 to its one’s complement.</a:t>
            </a:r>
          </a:p>
          <a:p>
            <a:endParaRPr lang="en-HK" dirty="0"/>
          </a:p>
          <a:p>
            <a:r>
              <a:rPr lang="en-US" dirty="0"/>
              <a:t>The </a:t>
            </a:r>
            <a:r>
              <a:rPr lang="en-US" b="1" dirty="0">
                <a:solidFill>
                  <a:srgbClr val="504FA1"/>
                </a:solidFill>
              </a:rPr>
              <a:t>one’s complement </a:t>
            </a:r>
            <a:r>
              <a:rPr lang="en-US" dirty="0"/>
              <a:t>of a binary representation is produced by inverting all its bits, i.e. change 0 to 1 and 1 to 0. </a:t>
            </a:r>
          </a:p>
        </p:txBody>
      </p:sp>
    </p:spTree>
    <p:extLst>
      <p:ext uri="{BB962C8B-B14F-4D97-AF65-F5344CB8AC3E}">
        <p14:creationId xmlns:p14="http://schemas.microsoft.com/office/powerpoint/2010/main" val="41734680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Representation of signed integers</a:t>
            </a:r>
          </a:p>
        </p:txBody>
      </p:sp>
      <p:sp>
        <p:nvSpPr>
          <p:cNvPr id="3" name="Slide Number Placeholder 2"/>
          <p:cNvSpPr>
            <a:spLocks noGrp="1"/>
          </p:cNvSpPr>
          <p:nvPr>
            <p:ph type="sldNum" sz="quarter" idx="12"/>
          </p:nvPr>
        </p:nvSpPr>
        <p:spPr/>
        <p:txBody>
          <a:bodyPr/>
          <a:lstStyle/>
          <a:p>
            <a:fld id="{6D22F896-40B5-4ADD-8801-0D06FADFA095}" type="slidenum">
              <a:rPr lang="en-US" smtClean="0"/>
              <a:pPr/>
              <a:t>50</a:t>
            </a:fld>
            <a:endParaRPr lang="en-US" dirty="0"/>
          </a:p>
        </p:txBody>
      </p:sp>
      <p:sp>
        <p:nvSpPr>
          <p:cNvPr id="4" name="Text Placeholder 3"/>
          <p:cNvSpPr>
            <a:spLocks noGrp="1"/>
          </p:cNvSpPr>
          <p:nvPr>
            <p:ph type="body" sz="quarter" idx="14"/>
          </p:nvPr>
        </p:nvSpPr>
        <p:spPr/>
        <p:txBody>
          <a:bodyPr/>
          <a:lstStyle/>
          <a:p>
            <a:r>
              <a:rPr lang="en-HK" dirty="0"/>
              <a:t>E</a:t>
            </a:r>
            <a:endParaRPr lang="en-US" dirty="0"/>
          </a:p>
        </p:txBody>
      </p:sp>
      <p:sp>
        <p:nvSpPr>
          <p:cNvPr id="5" name="Content Placeholder 4"/>
          <p:cNvSpPr>
            <a:spLocks noGrp="1"/>
          </p:cNvSpPr>
          <p:nvPr>
            <p:ph sz="quarter" idx="15"/>
          </p:nvPr>
        </p:nvSpPr>
        <p:spPr/>
        <p:txBody>
          <a:bodyPr>
            <a:normAutofit/>
          </a:bodyPr>
          <a:lstStyle/>
          <a:p>
            <a:r>
              <a:rPr lang="en-US" dirty="0"/>
              <a:t>For example, to find the 8-bit two’s complement of </a:t>
            </a:r>
            <a:r>
              <a:rPr lang="en-US" dirty="0">
                <a:latin typeface="Courier New" panose="02070309020205020404" pitchFamily="49" charset="0"/>
                <a:cs typeface="Courier New" panose="02070309020205020404" pitchFamily="49" charset="0"/>
              </a:rPr>
              <a:t>45</a:t>
            </a:r>
            <a:r>
              <a:rPr lang="en-US" baseline="-25000" dirty="0">
                <a:latin typeface="Courier New" panose="02070309020205020404" pitchFamily="49" charset="0"/>
                <a:cs typeface="Courier New" panose="02070309020205020404" pitchFamily="49" charset="0"/>
              </a:rPr>
              <a:t>10</a:t>
            </a:r>
            <a:r>
              <a:rPr lang="en-US" dirty="0"/>
              <a:t> , we can:</a:t>
            </a:r>
          </a:p>
          <a:p>
            <a:endParaRPr lang="en-HK" dirty="0"/>
          </a:p>
          <a:p>
            <a:pPr marL="457200" indent="-457200">
              <a:buFont typeface="+mj-lt"/>
              <a:buAutoNum type="arabicPeriod"/>
            </a:pPr>
            <a:r>
              <a:rPr lang="en-US" dirty="0"/>
              <a:t>Convert </a:t>
            </a:r>
            <a:r>
              <a:rPr lang="en-US" dirty="0">
                <a:latin typeface="Courier New" panose="02070309020205020404" pitchFamily="49" charset="0"/>
                <a:cs typeface="Courier New" panose="02070309020205020404" pitchFamily="49" charset="0"/>
              </a:rPr>
              <a:t>45</a:t>
            </a:r>
            <a:r>
              <a:rPr lang="en-US" baseline="-25000" dirty="0">
                <a:latin typeface="Courier New" panose="02070309020205020404" pitchFamily="49" charset="0"/>
                <a:cs typeface="Courier New" panose="02070309020205020404" pitchFamily="49" charset="0"/>
              </a:rPr>
              <a:t>10</a:t>
            </a:r>
            <a:r>
              <a:rPr lang="en-US" dirty="0"/>
              <a:t> into a binary number, which is </a:t>
            </a:r>
            <a:r>
              <a:rPr lang="en-US" dirty="0">
                <a:latin typeface="Courier New" panose="02070309020205020404" pitchFamily="49" charset="0"/>
                <a:cs typeface="Courier New" panose="02070309020205020404" pitchFamily="49" charset="0"/>
              </a:rPr>
              <a:t>101101</a:t>
            </a:r>
            <a:r>
              <a:rPr lang="en-US" dirty="0"/>
              <a:t>. Add leading 0s to change it to an 8-bit binary representation, i.e. </a:t>
            </a:r>
            <a:r>
              <a:rPr lang="en-US" dirty="0">
                <a:latin typeface="Courier New" panose="02070309020205020404" pitchFamily="49" charset="0"/>
                <a:cs typeface="Courier New" panose="02070309020205020404" pitchFamily="49" charset="0"/>
              </a:rPr>
              <a:t>0010 1101</a:t>
            </a:r>
            <a:r>
              <a:rPr lang="en-US" dirty="0"/>
              <a:t>.</a:t>
            </a:r>
            <a:br>
              <a:rPr lang="en-US" dirty="0"/>
            </a:br>
            <a:endParaRPr lang="en-US" dirty="0"/>
          </a:p>
          <a:p>
            <a:pPr marL="457200" indent="-457200">
              <a:buFont typeface="+mj-lt"/>
              <a:buAutoNum type="arabicPeriod"/>
            </a:pPr>
            <a:r>
              <a:rPr lang="en-US" dirty="0"/>
              <a:t>Invert all bits of the 8-bit representation.</a:t>
            </a:r>
            <a:br>
              <a:rPr lang="en-US" dirty="0"/>
            </a:br>
            <a:endParaRPr lang="en-US" dirty="0"/>
          </a:p>
          <a:p>
            <a:pPr marL="457200" indent="-457200">
              <a:buFont typeface="+mj-lt"/>
              <a:buAutoNum type="arabicPeriod"/>
            </a:pPr>
            <a:r>
              <a:rPr lang="en-US" dirty="0"/>
              <a:t>Add 1 to the one’s complement and we get </a:t>
            </a:r>
            <a:r>
              <a:rPr lang="en-US" dirty="0">
                <a:latin typeface="Courier New" panose="02070309020205020404" pitchFamily="49" charset="0"/>
                <a:cs typeface="Courier New" panose="02070309020205020404" pitchFamily="49" charset="0"/>
              </a:rPr>
              <a:t>1101 0011</a:t>
            </a:r>
            <a:r>
              <a:rPr lang="en-US" dirty="0"/>
              <a:t>. </a:t>
            </a:r>
            <a:br>
              <a:rPr lang="en-US" dirty="0"/>
            </a:br>
            <a:r>
              <a:rPr lang="en-US" dirty="0"/>
              <a:t>The 8-bit two’s complement of </a:t>
            </a:r>
            <a:r>
              <a:rPr lang="en-US" dirty="0">
                <a:latin typeface="Courier New" panose="02070309020205020404" pitchFamily="49" charset="0"/>
                <a:cs typeface="Courier New" panose="02070309020205020404" pitchFamily="49" charset="0"/>
              </a:rPr>
              <a:t>45</a:t>
            </a:r>
            <a:r>
              <a:rPr lang="en-US" baseline="-25000" dirty="0">
                <a:latin typeface="Courier New" panose="02070309020205020404" pitchFamily="49" charset="0"/>
                <a:cs typeface="Courier New" panose="02070309020205020404" pitchFamily="49" charset="0"/>
              </a:rPr>
              <a:t>10</a:t>
            </a:r>
            <a:r>
              <a:rPr lang="en-US" dirty="0"/>
              <a:t> is </a:t>
            </a:r>
            <a:r>
              <a:rPr lang="en-US" dirty="0">
                <a:latin typeface="Courier New" panose="02070309020205020404" pitchFamily="49" charset="0"/>
                <a:cs typeface="Courier New" panose="02070309020205020404" pitchFamily="49" charset="0"/>
              </a:rPr>
              <a:t>1101 0011</a:t>
            </a:r>
            <a:r>
              <a:rPr lang="en-US" dirty="0"/>
              <a:t>, which is the 8-bit two’s complement representation of </a:t>
            </a:r>
            <a:r>
              <a:rPr lang="en-US" dirty="0">
                <a:latin typeface="Courier New" panose="02070309020205020404" pitchFamily="49" charset="0"/>
                <a:cs typeface="Courier New" panose="02070309020205020404" pitchFamily="49" charset="0"/>
              </a:rPr>
              <a:t>−45</a:t>
            </a:r>
            <a:r>
              <a:rPr lang="en-US" baseline="-25000" dirty="0">
                <a:latin typeface="Courier New" panose="02070309020205020404" pitchFamily="49" charset="0"/>
                <a:cs typeface="Courier New" panose="02070309020205020404" pitchFamily="49" charset="0"/>
              </a:rPr>
              <a:t>10</a:t>
            </a:r>
            <a:r>
              <a:rPr lang="en-US" dirty="0">
                <a:latin typeface="Courier New" panose="02070309020205020404" pitchFamily="49" charset="0"/>
                <a:cs typeface="Courier New" panose="02070309020205020404" pitchFamily="49" charset="0"/>
              </a:rPr>
              <a:t> </a:t>
            </a:r>
            <a:r>
              <a:rPr lang="en-US" dirty="0"/>
              <a:t>.</a:t>
            </a:r>
          </a:p>
        </p:txBody>
      </p:sp>
      <p:pic>
        <p:nvPicPr>
          <p:cNvPr id="6" name="Picture 5"/>
          <p:cNvPicPr>
            <a:picLocks noChangeAspect="1"/>
          </p:cNvPicPr>
          <p:nvPr/>
        </p:nvPicPr>
        <p:blipFill>
          <a:blip r:embed="rId2"/>
          <a:stretch>
            <a:fillRect/>
          </a:stretch>
        </p:blipFill>
        <p:spPr>
          <a:xfrm>
            <a:off x="6651391" y="3302906"/>
            <a:ext cx="3864210" cy="1237129"/>
          </a:xfrm>
          <a:prstGeom prst="rect">
            <a:avLst/>
          </a:prstGeom>
        </p:spPr>
      </p:pic>
    </p:spTree>
    <p:extLst>
      <p:ext uri="{BB962C8B-B14F-4D97-AF65-F5344CB8AC3E}">
        <p14:creationId xmlns:p14="http://schemas.microsoft.com/office/powerpoint/2010/main" val="8175719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AutoNum type="arabicPeriod"/>
            </a:pPr>
            <a:r>
              <a:rPr lang="en-US" dirty="0"/>
              <a:t>What is the decimal value of the 4-bit two’s complement representation 1000?</a:t>
            </a:r>
            <a:br>
              <a:rPr lang="en-US" dirty="0"/>
            </a:br>
            <a:endParaRPr lang="en-US" dirty="0"/>
          </a:p>
          <a:p>
            <a:pPr marL="800100" lvl="1" indent="-342900">
              <a:buSzPct val="100000"/>
              <a:buAutoNum type="alphaUcPeriod"/>
            </a:pPr>
            <a:r>
              <a:rPr lang="en-HK" sz="2000" dirty="0"/>
              <a:t>0</a:t>
            </a:r>
          </a:p>
          <a:p>
            <a:pPr marL="800100" lvl="1" indent="-342900">
              <a:buSzPct val="100000"/>
              <a:buAutoNum type="alphaUcPeriod"/>
            </a:pPr>
            <a:r>
              <a:rPr lang="en-HK" sz="2000" dirty="0"/>
              <a:t>-8</a:t>
            </a:r>
          </a:p>
          <a:p>
            <a:pPr marL="800100" lvl="1" indent="-342900">
              <a:buSzPct val="100000"/>
              <a:buAutoNum type="alphaUcPeriod"/>
            </a:pPr>
            <a:r>
              <a:rPr lang="en-HK" sz="2000" dirty="0"/>
              <a:t>-15</a:t>
            </a:r>
          </a:p>
          <a:p>
            <a:pPr marL="800100" lvl="1" indent="-342900">
              <a:buSzPct val="100000"/>
              <a:buAutoNum type="alphaUcPeriod"/>
            </a:pPr>
            <a:r>
              <a:rPr lang="en-HK" sz="2000" dirty="0"/>
              <a:t>-16</a:t>
            </a:r>
            <a:endParaRPr lang="en-US" sz="2000" dirty="0"/>
          </a:p>
        </p:txBody>
      </p:sp>
      <p:sp>
        <p:nvSpPr>
          <p:cNvPr id="3" name="Slide Number Placeholder 2"/>
          <p:cNvSpPr>
            <a:spLocks noGrp="1"/>
          </p:cNvSpPr>
          <p:nvPr>
            <p:ph type="sldNum" sz="quarter" idx="12"/>
          </p:nvPr>
        </p:nvSpPr>
        <p:spPr/>
        <p:txBody>
          <a:bodyPr/>
          <a:lstStyle/>
          <a:p>
            <a:fld id="{6D22F896-40B5-4ADD-8801-0D06FADFA095}" type="slidenum">
              <a:rPr lang="en-US" smtClean="0"/>
              <a:t>51</a:t>
            </a:fld>
            <a:endParaRPr lang="en-US" dirty="0"/>
          </a:p>
        </p:txBody>
      </p:sp>
      <p:sp>
        <p:nvSpPr>
          <p:cNvPr id="4" name="Text Placeholder 3"/>
          <p:cNvSpPr>
            <a:spLocks noGrp="1"/>
          </p:cNvSpPr>
          <p:nvPr>
            <p:ph type="body" sz="quarter" idx="13"/>
          </p:nvPr>
        </p:nvSpPr>
        <p:spPr/>
        <p:txBody>
          <a:bodyPr/>
          <a:lstStyle/>
          <a:p>
            <a:r>
              <a:rPr lang="en-HK" dirty="0"/>
              <a:t>3.2</a:t>
            </a:r>
            <a:endParaRPr lang="en-US" dirty="0"/>
          </a:p>
        </p:txBody>
      </p:sp>
    </p:spTree>
    <p:extLst>
      <p:ext uri="{BB962C8B-B14F-4D97-AF65-F5344CB8AC3E}">
        <p14:creationId xmlns:p14="http://schemas.microsoft.com/office/powerpoint/2010/main" val="1895298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500" fill="hold"/>
                                        <p:tgtEl>
                                          <p:spTgt spid="2">
                                            <p:txEl>
                                              <p:pRg st="2" end="2"/>
                                            </p:txEl>
                                          </p:spTgt>
                                        </p:tgtEl>
                                        <p:attrNameLst>
                                          <p:attrName>style.color</p:attrName>
                                        </p:attrNameLst>
                                      </p:cBhvr>
                                      <p:to>
                                        <a:srgbClr val="FF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Font typeface="+mj-lt"/>
              <a:buAutoNum type="arabicPeriod" startAt="2"/>
            </a:pPr>
            <a:r>
              <a:rPr lang="en-US" dirty="0"/>
              <a:t>What is the 7-bit two’s complement of the decimal value 17?</a:t>
            </a:r>
            <a:br>
              <a:rPr lang="en-US" dirty="0"/>
            </a:br>
            <a:endParaRPr lang="en-US" dirty="0"/>
          </a:p>
          <a:p>
            <a:pPr marL="800100" lvl="1" indent="-342900">
              <a:buSzPct val="100000"/>
              <a:buAutoNum type="alphaUcPeriod"/>
            </a:pPr>
            <a:r>
              <a:rPr lang="en-HK" sz="2000" dirty="0"/>
              <a:t> </a:t>
            </a:r>
            <a:r>
              <a:rPr lang="en-HK" sz="2000" dirty="0">
                <a:latin typeface="Courier New" panose="02070309020205020404" pitchFamily="49" charset="0"/>
                <a:cs typeface="Courier New" panose="02070309020205020404" pitchFamily="49" charset="0"/>
              </a:rPr>
              <a:t>001 0001</a:t>
            </a:r>
          </a:p>
          <a:p>
            <a:pPr marL="800100" lvl="1" indent="-342900">
              <a:buSzPct val="100000"/>
              <a:buAutoNum type="alphaUcPeriod"/>
            </a:pPr>
            <a:r>
              <a:rPr lang="en-HK" sz="2000" dirty="0"/>
              <a:t> </a:t>
            </a:r>
            <a:r>
              <a:rPr lang="en-HK" sz="2000" dirty="0">
                <a:latin typeface="Courier New" panose="02070309020205020404" pitchFamily="49" charset="0"/>
                <a:cs typeface="Courier New" panose="02070309020205020404" pitchFamily="49" charset="0"/>
              </a:rPr>
              <a:t>001 0010</a:t>
            </a:r>
          </a:p>
          <a:p>
            <a:pPr marL="800100" lvl="1" indent="-342900">
              <a:buSzPct val="100000"/>
              <a:buAutoNum type="alphaUcPeriod"/>
            </a:pPr>
            <a:r>
              <a:rPr lang="en-HK" sz="2000" dirty="0"/>
              <a:t> </a:t>
            </a:r>
            <a:r>
              <a:rPr lang="en-HK" sz="2000" dirty="0">
                <a:latin typeface="Courier New" panose="02070309020205020404" pitchFamily="49" charset="0"/>
                <a:cs typeface="Courier New" panose="02070309020205020404" pitchFamily="49" charset="0"/>
              </a:rPr>
              <a:t>110 1110</a:t>
            </a:r>
          </a:p>
          <a:p>
            <a:pPr marL="800100" lvl="1" indent="-342900">
              <a:buSzPct val="100000"/>
              <a:buAutoNum type="alphaUcPeriod"/>
            </a:pPr>
            <a:r>
              <a:rPr lang="en-HK" sz="2000" dirty="0"/>
              <a:t> </a:t>
            </a:r>
            <a:r>
              <a:rPr lang="en-HK" sz="2000" dirty="0">
                <a:latin typeface="Courier New" panose="02070309020205020404" pitchFamily="49" charset="0"/>
                <a:cs typeface="Courier New" panose="02070309020205020404" pitchFamily="49" charset="0"/>
              </a:rPr>
              <a:t>110 1111</a:t>
            </a:r>
            <a:endParaRPr lang="en-US" sz="2000" dirty="0">
              <a:latin typeface="Courier New" panose="02070309020205020404" pitchFamily="49" charset="0"/>
              <a:cs typeface="Courier New" panose="02070309020205020404" pitchFamily="49" charset="0"/>
            </a:endParaRPr>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52</a:t>
            </a:fld>
            <a:endParaRPr lang="en-US" dirty="0"/>
          </a:p>
        </p:txBody>
      </p:sp>
      <p:sp>
        <p:nvSpPr>
          <p:cNvPr id="4" name="Text Placeholder 3"/>
          <p:cNvSpPr>
            <a:spLocks noGrp="1"/>
          </p:cNvSpPr>
          <p:nvPr>
            <p:ph type="body" sz="quarter" idx="13"/>
          </p:nvPr>
        </p:nvSpPr>
        <p:spPr/>
        <p:txBody>
          <a:bodyPr/>
          <a:lstStyle/>
          <a:p>
            <a:r>
              <a:rPr lang="en-HK" dirty="0"/>
              <a:t>3.2</a:t>
            </a:r>
            <a:endParaRPr lang="en-US" dirty="0"/>
          </a:p>
        </p:txBody>
      </p:sp>
    </p:spTree>
    <p:extLst>
      <p:ext uri="{BB962C8B-B14F-4D97-AF65-F5344CB8AC3E}">
        <p14:creationId xmlns:p14="http://schemas.microsoft.com/office/powerpoint/2010/main" val="3118404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500" fill="hold"/>
                                        <p:tgtEl>
                                          <p:spTgt spid="2">
                                            <p:txEl>
                                              <p:pRg st="4" end="4"/>
                                            </p:txEl>
                                          </p:spTgt>
                                        </p:tgtEl>
                                        <p:attrNameLst>
                                          <p:attrName>style.color</p:attrName>
                                        </p:attrNameLst>
                                      </p:cBhvr>
                                      <p:to>
                                        <a:srgbClr val="FF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Font typeface="+mj-lt"/>
              <a:buAutoNum type="arabicPeriod" startAt="3"/>
            </a:pPr>
            <a:r>
              <a:rPr lang="en-US" dirty="0"/>
              <a:t>What is the 8-bit two’s complement representation of the decimal value −1?</a:t>
            </a:r>
            <a:br>
              <a:rPr lang="en-US" dirty="0"/>
            </a:br>
            <a:endParaRPr lang="en-US" dirty="0"/>
          </a:p>
          <a:p>
            <a:pPr marL="800100" lvl="1" indent="-342900">
              <a:buSzPct val="100000"/>
              <a:buAutoNum type="alphaUcPeriod"/>
            </a:pPr>
            <a:r>
              <a:rPr lang="en-HK" sz="2000" dirty="0"/>
              <a:t> </a:t>
            </a:r>
            <a:r>
              <a:rPr lang="en-HK" sz="2000" dirty="0">
                <a:latin typeface="Courier New" panose="02070309020205020404" pitchFamily="49" charset="0"/>
                <a:cs typeface="Courier New" panose="02070309020205020404" pitchFamily="49" charset="0"/>
              </a:rPr>
              <a:t>0000 0001</a:t>
            </a:r>
          </a:p>
          <a:p>
            <a:pPr marL="800100" lvl="1" indent="-342900">
              <a:buSzPct val="100000"/>
              <a:buAutoNum type="alphaUcPeriod"/>
            </a:pPr>
            <a:r>
              <a:rPr lang="en-HK" sz="2000" dirty="0"/>
              <a:t> </a:t>
            </a:r>
            <a:r>
              <a:rPr lang="en-HK" sz="2000" dirty="0">
                <a:latin typeface="Courier New" panose="02070309020205020404" pitchFamily="49" charset="0"/>
                <a:cs typeface="Courier New" panose="02070309020205020404" pitchFamily="49" charset="0"/>
              </a:rPr>
              <a:t>1000 0001</a:t>
            </a:r>
          </a:p>
          <a:p>
            <a:pPr marL="800100" lvl="1" indent="-342900">
              <a:buSzPct val="100000"/>
              <a:buAutoNum type="alphaUcPeriod"/>
            </a:pPr>
            <a:r>
              <a:rPr lang="en-HK" sz="2000" dirty="0"/>
              <a:t> </a:t>
            </a:r>
            <a:r>
              <a:rPr lang="en-HK" sz="2000" dirty="0">
                <a:latin typeface="Courier New" panose="02070309020205020404" pitchFamily="49" charset="0"/>
                <a:cs typeface="Courier New" panose="02070309020205020404" pitchFamily="49" charset="0"/>
              </a:rPr>
              <a:t>1111 1110</a:t>
            </a:r>
          </a:p>
          <a:p>
            <a:pPr marL="800100" lvl="1" indent="-342900">
              <a:buSzPct val="100000"/>
              <a:buAutoNum type="alphaUcPeriod"/>
            </a:pPr>
            <a:r>
              <a:rPr lang="en-HK" sz="2000" dirty="0"/>
              <a:t> </a:t>
            </a:r>
            <a:r>
              <a:rPr lang="en-HK" sz="2000" dirty="0">
                <a:latin typeface="Courier New" panose="02070309020205020404" pitchFamily="49" charset="0"/>
                <a:cs typeface="Courier New" panose="02070309020205020404" pitchFamily="49" charset="0"/>
              </a:rPr>
              <a:t>1111 1111</a:t>
            </a:r>
            <a:endParaRPr lang="en-US" sz="2000" dirty="0">
              <a:latin typeface="Courier New" panose="02070309020205020404" pitchFamily="49" charset="0"/>
              <a:cs typeface="Courier New" panose="02070309020205020404" pitchFamily="49" charset="0"/>
            </a:endParaRPr>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53</a:t>
            </a:fld>
            <a:endParaRPr lang="en-US" dirty="0"/>
          </a:p>
        </p:txBody>
      </p:sp>
      <p:sp>
        <p:nvSpPr>
          <p:cNvPr id="4" name="Text Placeholder 3"/>
          <p:cNvSpPr>
            <a:spLocks noGrp="1"/>
          </p:cNvSpPr>
          <p:nvPr>
            <p:ph type="body" sz="quarter" idx="13"/>
          </p:nvPr>
        </p:nvSpPr>
        <p:spPr/>
        <p:txBody>
          <a:bodyPr/>
          <a:lstStyle/>
          <a:p>
            <a:r>
              <a:rPr lang="en-HK" dirty="0"/>
              <a:t>3.2</a:t>
            </a:r>
            <a:endParaRPr lang="en-US" dirty="0"/>
          </a:p>
        </p:txBody>
      </p:sp>
    </p:spTree>
    <p:extLst>
      <p:ext uri="{BB962C8B-B14F-4D97-AF65-F5344CB8AC3E}">
        <p14:creationId xmlns:p14="http://schemas.microsoft.com/office/powerpoint/2010/main" val="869787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500" fill="hold"/>
                                        <p:tgtEl>
                                          <p:spTgt spid="2">
                                            <p:txEl>
                                              <p:pRg st="4" end="4"/>
                                            </p:txEl>
                                          </p:spTgt>
                                        </p:tgtEl>
                                        <p:attrNameLst>
                                          <p:attrName>style.color</p:attrName>
                                        </p:attrNameLst>
                                      </p:cBhvr>
                                      <p:to>
                                        <a:srgbClr val="FF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Font typeface="+mj-lt"/>
              <a:buAutoNum type="arabicPeriod" startAt="4"/>
            </a:pPr>
            <a:r>
              <a:rPr lang="en-US" dirty="0"/>
              <a:t>What is the decimal value of the 4-bit two’s complement representation 1000?</a:t>
            </a:r>
            <a:br>
              <a:rPr lang="en-US" dirty="0"/>
            </a:br>
            <a:endParaRPr lang="en-US" dirty="0"/>
          </a:p>
          <a:p>
            <a:pPr marL="1257300" lvl="2" indent="-342900">
              <a:buSzPct val="100000"/>
              <a:buAutoNum type="arabicParenBoth"/>
            </a:pPr>
            <a:r>
              <a:rPr lang="en-US" sz="2000" dirty="0"/>
              <a:t>               </a:t>
            </a:r>
            <a:r>
              <a:rPr lang="en-US" sz="2000" dirty="0">
                <a:latin typeface="Courier New" panose="02070309020205020404" pitchFamily="49" charset="0"/>
                <a:cs typeface="Courier New" panose="02070309020205020404" pitchFamily="49" charset="0"/>
              </a:rPr>
              <a:t>1001</a:t>
            </a:r>
          </a:p>
          <a:p>
            <a:pPr marL="1257300" lvl="2" indent="-342900">
              <a:buSzPct val="100000"/>
              <a:buAutoNum type="arabicParenBoth"/>
            </a:pPr>
            <a:r>
              <a:rPr lang="en-US" sz="2000" dirty="0"/>
              <a:t>       </a:t>
            </a:r>
            <a:r>
              <a:rPr lang="en-US" sz="2000" dirty="0">
                <a:latin typeface="Courier New" panose="02070309020205020404" pitchFamily="49" charset="0"/>
                <a:cs typeface="Courier New" panose="02070309020205020404" pitchFamily="49" charset="0"/>
              </a:rPr>
              <a:t>11 0111</a:t>
            </a:r>
          </a:p>
          <a:p>
            <a:pPr marL="1257300" lvl="2" indent="-342900">
              <a:buSzPct val="100000"/>
              <a:buAutoNum type="arabicParenBoth"/>
            </a:pPr>
            <a:r>
              <a:rPr lang="en-US" sz="2000" dirty="0"/>
              <a:t> </a:t>
            </a:r>
            <a:r>
              <a:rPr lang="en-US" sz="2000" dirty="0">
                <a:latin typeface="Courier New" panose="02070309020205020404" pitchFamily="49" charset="0"/>
                <a:cs typeface="Courier New" panose="02070309020205020404" pitchFamily="49" charset="0"/>
              </a:rPr>
              <a:t>0001 0111</a:t>
            </a:r>
            <a:r>
              <a:rPr lang="en-US" dirty="0"/>
              <a:t/>
            </a:r>
            <a:br>
              <a:rPr lang="en-US" dirty="0"/>
            </a:br>
            <a:endParaRPr lang="en-US" dirty="0"/>
          </a:p>
          <a:p>
            <a:pPr marL="800100" lvl="1" indent="-342900">
              <a:buSzPct val="100000"/>
              <a:buAutoNum type="alphaUcPeriod"/>
            </a:pPr>
            <a:r>
              <a:rPr lang="en-HK" sz="2000" dirty="0"/>
              <a:t>(1) only</a:t>
            </a:r>
          </a:p>
          <a:p>
            <a:pPr marL="800100" lvl="1" indent="-342900">
              <a:buSzPct val="100000"/>
              <a:buAutoNum type="alphaUcPeriod"/>
            </a:pPr>
            <a:r>
              <a:rPr lang="en-HK" sz="2000" dirty="0"/>
              <a:t>(2) only</a:t>
            </a:r>
          </a:p>
          <a:p>
            <a:pPr marL="800100" lvl="1" indent="-342900">
              <a:buSzPct val="100000"/>
              <a:buAutoNum type="alphaUcPeriod"/>
            </a:pPr>
            <a:r>
              <a:rPr lang="en-HK" sz="2000" dirty="0"/>
              <a:t>(1) and (3) only</a:t>
            </a:r>
          </a:p>
          <a:p>
            <a:pPr marL="800100" lvl="1" indent="-342900">
              <a:buSzPct val="100000"/>
              <a:buAutoNum type="alphaUcPeriod"/>
            </a:pPr>
            <a:r>
              <a:rPr lang="en-HK" sz="2000" dirty="0"/>
              <a:t>(2) and (3) only</a:t>
            </a:r>
            <a:endParaRPr lang="en-US" sz="2000" dirty="0"/>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54</a:t>
            </a:fld>
            <a:endParaRPr lang="en-US" dirty="0"/>
          </a:p>
        </p:txBody>
      </p:sp>
      <p:sp>
        <p:nvSpPr>
          <p:cNvPr id="4" name="Text Placeholder 3"/>
          <p:cNvSpPr>
            <a:spLocks noGrp="1"/>
          </p:cNvSpPr>
          <p:nvPr>
            <p:ph type="body" sz="quarter" idx="13"/>
          </p:nvPr>
        </p:nvSpPr>
        <p:spPr/>
        <p:txBody>
          <a:bodyPr/>
          <a:lstStyle/>
          <a:p>
            <a:r>
              <a:rPr lang="en-HK" dirty="0"/>
              <a:t>3.2</a:t>
            </a:r>
            <a:endParaRPr lang="en-US" dirty="0"/>
          </a:p>
        </p:txBody>
      </p:sp>
    </p:spTree>
    <p:extLst>
      <p:ext uri="{BB962C8B-B14F-4D97-AF65-F5344CB8AC3E}">
        <p14:creationId xmlns:p14="http://schemas.microsoft.com/office/powerpoint/2010/main" val="754548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500" fill="hold"/>
                                        <p:tgtEl>
                                          <p:spTgt spid="2">
                                            <p:txEl>
                                              <p:pRg st="5" end="5"/>
                                            </p:txEl>
                                          </p:spTgt>
                                        </p:tgtEl>
                                        <p:attrNameLst>
                                          <p:attrName>style.color</p:attrName>
                                        </p:attrNameLst>
                                      </p:cBhvr>
                                      <p:to>
                                        <a:srgbClr val="FF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Font typeface="+mj-lt"/>
              <a:buAutoNum type="arabicPeriod" startAt="5"/>
            </a:pPr>
            <a:r>
              <a:rPr lang="en-US" dirty="0"/>
              <a:t>What is the decimal result of adding these two 8-bit two’s complement representations, </a:t>
            </a:r>
            <a:r>
              <a:rPr lang="en-US" dirty="0">
                <a:latin typeface="Courier New" panose="02070309020205020404" pitchFamily="49" charset="0"/>
                <a:cs typeface="Courier New" panose="02070309020205020404" pitchFamily="49" charset="0"/>
              </a:rPr>
              <a:t>0110</a:t>
            </a:r>
            <a:r>
              <a:rPr lang="en-US" dirty="0"/>
              <a:t> and </a:t>
            </a:r>
            <a:r>
              <a:rPr lang="en-US" dirty="0">
                <a:latin typeface="Courier New" panose="02070309020205020404" pitchFamily="49" charset="0"/>
                <a:cs typeface="Courier New" panose="02070309020205020404" pitchFamily="49" charset="0"/>
              </a:rPr>
              <a:t>1011</a:t>
            </a:r>
            <a:r>
              <a:rPr lang="en-US" dirty="0"/>
              <a:t>?</a:t>
            </a:r>
            <a:br>
              <a:rPr lang="en-US" dirty="0"/>
            </a:br>
            <a:endParaRPr lang="en-US" dirty="0"/>
          </a:p>
          <a:p>
            <a:pPr marL="800100" lvl="1" indent="-342900">
              <a:buSzPct val="100000"/>
              <a:buAutoNum type="alphaUcPeriod"/>
            </a:pPr>
            <a:r>
              <a:rPr lang="en-HK" sz="2000" dirty="0"/>
              <a:t>-15</a:t>
            </a:r>
          </a:p>
          <a:p>
            <a:pPr marL="800100" lvl="1" indent="-342900">
              <a:buSzPct val="100000"/>
              <a:buAutoNum type="alphaUcPeriod"/>
            </a:pPr>
            <a:r>
              <a:rPr lang="en-HK" sz="2000" dirty="0"/>
              <a:t>-1</a:t>
            </a:r>
          </a:p>
          <a:p>
            <a:pPr marL="800100" lvl="1" indent="-342900">
              <a:buSzPct val="100000"/>
              <a:buAutoNum type="alphaUcPeriod"/>
            </a:pPr>
            <a:r>
              <a:rPr lang="en-HK" sz="2000" dirty="0"/>
              <a:t>1</a:t>
            </a:r>
          </a:p>
          <a:p>
            <a:pPr marL="800100" lvl="1" indent="-342900">
              <a:buSzPct val="100000"/>
              <a:buAutoNum type="alphaUcPeriod"/>
            </a:pPr>
            <a:r>
              <a:rPr lang="en-HK" sz="2000" dirty="0"/>
              <a:t>17</a:t>
            </a:r>
            <a:endParaRPr lang="en-US" sz="2000" dirty="0"/>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55</a:t>
            </a:fld>
            <a:endParaRPr lang="en-US" dirty="0"/>
          </a:p>
        </p:txBody>
      </p:sp>
      <p:sp>
        <p:nvSpPr>
          <p:cNvPr id="4" name="Text Placeholder 3"/>
          <p:cNvSpPr>
            <a:spLocks noGrp="1"/>
          </p:cNvSpPr>
          <p:nvPr>
            <p:ph type="body" sz="quarter" idx="13"/>
          </p:nvPr>
        </p:nvSpPr>
        <p:spPr/>
        <p:txBody>
          <a:bodyPr/>
          <a:lstStyle/>
          <a:p>
            <a:r>
              <a:rPr lang="en-HK" dirty="0"/>
              <a:t>3.2</a:t>
            </a:r>
            <a:endParaRPr lang="en-US" dirty="0"/>
          </a:p>
        </p:txBody>
      </p:sp>
    </p:spTree>
    <p:extLst>
      <p:ext uri="{BB962C8B-B14F-4D97-AF65-F5344CB8AC3E}">
        <p14:creationId xmlns:p14="http://schemas.microsoft.com/office/powerpoint/2010/main" val="3613839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500" fill="hold"/>
                                        <p:tgtEl>
                                          <p:spTgt spid="2">
                                            <p:txEl>
                                              <p:pRg st="3" end="3"/>
                                            </p:txEl>
                                          </p:spTgt>
                                        </p:tgtEl>
                                        <p:attrNameLst>
                                          <p:attrName>style.color</p:attrName>
                                        </p:attrNameLst>
                                      </p:cBhvr>
                                      <p:to>
                                        <a:srgbClr val="FF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Overflow error</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56</a:t>
            </a:fld>
            <a:endParaRPr lang="en-US" dirty="0"/>
          </a:p>
        </p:txBody>
      </p:sp>
      <p:sp>
        <p:nvSpPr>
          <p:cNvPr id="4" name="Text Placeholder 3"/>
          <p:cNvSpPr>
            <a:spLocks noGrp="1"/>
          </p:cNvSpPr>
          <p:nvPr>
            <p:ph type="body" sz="quarter" idx="14"/>
          </p:nvPr>
        </p:nvSpPr>
        <p:spPr/>
        <p:txBody>
          <a:bodyPr/>
          <a:lstStyle/>
          <a:p>
            <a:r>
              <a:rPr lang="en-HK" dirty="0"/>
              <a:t>F</a:t>
            </a:r>
            <a:endParaRPr lang="en-US" dirty="0"/>
          </a:p>
        </p:txBody>
      </p:sp>
      <p:sp>
        <p:nvSpPr>
          <p:cNvPr id="5" name="Content Placeholder 4"/>
          <p:cNvSpPr>
            <a:spLocks noGrp="1"/>
          </p:cNvSpPr>
          <p:nvPr>
            <p:ph sz="quarter" idx="15"/>
          </p:nvPr>
        </p:nvSpPr>
        <p:spPr/>
        <p:txBody>
          <a:bodyPr/>
          <a:lstStyle/>
          <a:p>
            <a:r>
              <a:rPr lang="en-US" dirty="0"/>
              <a:t>An </a:t>
            </a:r>
            <a:r>
              <a:rPr lang="en-US" b="1" dirty="0">
                <a:solidFill>
                  <a:srgbClr val="504FA1"/>
                </a:solidFill>
              </a:rPr>
              <a:t>overflow error </a:t>
            </a:r>
            <a:r>
              <a:rPr lang="en-US" dirty="0"/>
              <a:t>occurs when the result of a calculation is out of range that the number of bits can represent. In such cases, the results will be incorrect. </a:t>
            </a:r>
          </a:p>
        </p:txBody>
      </p:sp>
    </p:spTree>
    <p:extLst>
      <p:ext uri="{BB962C8B-B14F-4D97-AF65-F5344CB8AC3E}">
        <p14:creationId xmlns:p14="http://schemas.microsoft.com/office/powerpoint/2010/main" val="355543591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Overflow error</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57</a:t>
            </a:fld>
            <a:endParaRPr lang="en-US" dirty="0"/>
          </a:p>
        </p:txBody>
      </p:sp>
      <p:sp>
        <p:nvSpPr>
          <p:cNvPr id="4" name="Text Placeholder 3"/>
          <p:cNvSpPr>
            <a:spLocks noGrp="1"/>
          </p:cNvSpPr>
          <p:nvPr>
            <p:ph type="body" sz="quarter" idx="14"/>
          </p:nvPr>
        </p:nvSpPr>
        <p:spPr/>
        <p:txBody>
          <a:bodyPr/>
          <a:lstStyle/>
          <a:p>
            <a:r>
              <a:rPr lang="en-HK" dirty="0"/>
              <a:t>F</a:t>
            </a:r>
            <a:endParaRPr lang="en-US" dirty="0"/>
          </a:p>
        </p:txBody>
      </p:sp>
      <p:sp>
        <p:nvSpPr>
          <p:cNvPr id="5" name="Content Placeholder 4"/>
          <p:cNvSpPr>
            <a:spLocks noGrp="1"/>
          </p:cNvSpPr>
          <p:nvPr>
            <p:ph sz="quarter" idx="15"/>
          </p:nvPr>
        </p:nvSpPr>
        <p:spPr/>
        <p:txBody>
          <a:bodyPr/>
          <a:lstStyle/>
          <a:p>
            <a:r>
              <a:rPr lang="en-HK" dirty="0"/>
              <a:t>For unsigned integers, overflow error occurs during:</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1548446620"/>
              </p:ext>
            </p:extLst>
          </p:nvPr>
        </p:nvGraphicFramePr>
        <p:xfrm>
          <a:off x="611796" y="2224960"/>
          <a:ext cx="10926268" cy="3918145"/>
        </p:xfrm>
        <a:graphic>
          <a:graphicData uri="http://schemas.openxmlformats.org/drawingml/2006/table">
            <a:tbl>
              <a:tblPr firstRow="1" bandRow="1">
                <a:tableStyleId>{5940675A-B579-460E-94D1-54222C63F5DA}</a:tableStyleId>
              </a:tblPr>
              <a:tblGrid>
                <a:gridCol w="5463134">
                  <a:extLst>
                    <a:ext uri="{9D8B030D-6E8A-4147-A177-3AD203B41FA5}">
                      <a16:colId xmlns:a16="http://schemas.microsoft.com/office/drawing/2014/main" val="20000"/>
                    </a:ext>
                  </a:extLst>
                </a:gridCol>
                <a:gridCol w="5463134">
                  <a:extLst>
                    <a:ext uri="{9D8B030D-6E8A-4147-A177-3AD203B41FA5}">
                      <a16:colId xmlns:a16="http://schemas.microsoft.com/office/drawing/2014/main" val="20001"/>
                    </a:ext>
                  </a:extLst>
                </a:gridCol>
              </a:tblGrid>
              <a:tr h="509927">
                <a:tc>
                  <a:txBody>
                    <a:bodyPr/>
                    <a:lstStyle/>
                    <a:p>
                      <a:pPr algn="ctr"/>
                      <a:r>
                        <a:rPr lang="en-HK" sz="2000" b="1" dirty="0">
                          <a:solidFill>
                            <a:schemeClr val="bg1"/>
                          </a:solidFill>
                        </a:rPr>
                        <a:t>Addition</a:t>
                      </a:r>
                      <a:endParaRPr lang="en-US" sz="2000" b="1" dirty="0">
                        <a:solidFill>
                          <a:schemeClr val="bg1"/>
                        </a:solidFill>
                      </a:endParaRPr>
                    </a:p>
                  </a:txBody>
                  <a:tcPr anchor="ctr">
                    <a:lnL w="12700" cap="flat" cmpd="sng" algn="ctr">
                      <a:solidFill>
                        <a:srgbClr val="57A044"/>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sz="2000" b="1" dirty="0">
                          <a:solidFill>
                            <a:schemeClr val="bg1"/>
                          </a:solidFill>
                        </a:rPr>
                        <a:t>Subtraction</a:t>
                      </a:r>
                      <a:endParaRPr lang="en-US" sz="2000"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extLst>
                  <a:ext uri="{0D108BD9-81ED-4DB2-BD59-A6C34878D82A}">
                    <a16:rowId xmlns:a16="http://schemas.microsoft.com/office/drawing/2014/main" val="10000"/>
                  </a:ext>
                </a:extLst>
              </a:tr>
              <a:tr h="3408218">
                <a:tc>
                  <a:txBody>
                    <a:bodyPr/>
                    <a:lstStyle/>
                    <a:p>
                      <a:r>
                        <a:rPr lang="en-US" dirty="0">
                          <a:latin typeface="Courier New" panose="02070309020205020404" pitchFamily="49" charset="0"/>
                          <a:cs typeface="Courier New" panose="02070309020205020404" pitchFamily="49" charset="0"/>
                        </a:rPr>
                        <a:t>9</a:t>
                      </a:r>
                      <a:r>
                        <a:rPr lang="en-US" baseline="-25000" dirty="0">
                          <a:latin typeface="Courier New" panose="02070309020205020404" pitchFamily="49" charset="0"/>
                          <a:cs typeface="Courier New" panose="02070309020205020404" pitchFamily="49" charset="0"/>
                        </a:rPr>
                        <a:t>10</a:t>
                      </a:r>
                      <a:r>
                        <a:rPr lang="en-US" dirty="0">
                          <a:latin typeface="Courier New" panose="02070309020205020404" pitchFamily="49" charset="0"/>
                          <a:cs typeface="Courier New" panose="02070309020205020404" pitchFamily="49" charset="0"/>
                        </a:rPr>
                        <a:t> + 9</a:t>
                      </a:r>
                      <a:r>
                        <a:rPr lang="en-US" baseline="-25000" dirty="0">
                          <a:latin typeface="Courier New" panose="02070309020205020404" pitchFamily="49" charset="0"/>
                          <a:cs typeface="Courier New" panose="02070309020205020404" pitchFamily="49" charset="0"/>
                        </a:rPr>
                        <a:t>10</a:t>
                      </a:r>
                      <a:r>
                        <a:rPr lang="en-US" dirty="0">
                          <a:latin typeface="Courier New" panose="02070309020205020404" pitchFamily="49" charset="0"/>
                          <a:cs typeface="Courier New" panose="02070309020205020404" pitchFamily="49" charset="0"/>
                        </a:rPr>
                        <a:t> = 1001 + 1001</a:t>
                      </a: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US" dirty="0">
                          <a:latin typeface="Courier New" panose="02070309020205020404" pitchFamily="49" charset="0"/>
                          <a:cs typeface="Courier New" panose="02070309020205020404" pitchFamily="49" charset="0"/>
                        </a:rPr>
                        <a:t>10</a:t>
                      </a:r>
                      <a:r>
                        <a:rPr lang="en-US" baseline="-25000" dirty="0">
                          <a:latin typeface="Courier New" panose="02070309020205020404" pitchFamily="49" charset="0"/>
                          <a:cs typeface="Courier New" panose="02070309020205020404" pitchFamily="49" charset="0"/>
                        </a:rPr>
                        <a:t>10</a:t>
                      </a:r>
                      <a:r>
                        <a:rPr lang="en-US" dirty="0">
                          <a:latin typeface="Courier New" panose="02070309020205020404" pitchFamily="49" charset="0"/>
                          <a:cs typeface="Courier New" panose="02070309020205020404" pitchFamily="49" charset="0"/>
                        </a:rPr>
                        <a:t> − 12</a:t>
                      </a:r>
                      <a:r>
                        <a:rPr lang="en-US" baseline="-25000" dirty="0">
                          <a:latin typeface="Courier New" panose="02070309020205020404" pitchFamily="49" charset="0"/>
                          <a:cs typeface="Courier New" panose="02070309020205020404" pitchFamily="49" charset="0"/>
                        </a:rPr>
                        <a:t>10</a:t>
                      </a:r>
                      <a:r>
                        <a:rPr lang="en-US" dirty="0">
                          <a:latin typeface="Courier New" panose="02070309020205020404" pitchFamily="49" charset="0"/>
                          <a:cs typeface="Courier New" panose="02070309020205020404" pitchFamily="49" charset="0"/>
                        </a:rPr>
                        <a:t> = 10</a:t>
                      </a:r>
                      <a:r>
                        <a:rPr lang="en-US" baseline="-25000" dirty="0">
                          <a:latin typeface="Courier New" panose="02070309020205020404" pitchFamily="49" charset="0"/>
                          <a:cs typeface="Courier New" panose="02070309020205020404" pitchFamily="49" charset="0"/>
                        </a:rPr>
                        <a:t>10</a:t>
                      </a:r>
                      <a:r>
                        <a:rPr lang="en-US" dirty="0">
                          <a:latin typeface="Courier New" panose="02070309020205020404" pitchFamily="49" charset="0"/>
                          <a:cs typeface="Courier New" panose="02070309020205020404" pitchFamily="49" charset="0"/>
                        </a:rPr>
                        <a:t> − 12</a:t>
                      </a:r>
                      <a:r>
                        <a:rPr lang="en-US" baseline="-25000" dirty="0">
                          <a:latin typeface="Courier New" panose="02070309020205020404" pitchFamily="49" charset="0"/>
                          <a:cs typeface="Courier New" panose="02070309020205020404" pitchFamily="49" charset="0"/>
                        </a:rPr>
                        <a:t>10</a:t>
                      </a:r>
                      <a:r>
                        <a:rPr lang="en-US" dirty="0">
                          <a:latin typeface="Courier New" panose="02070309020205020404" pitchFamily="49" charset="0"/>
                          <a:cs typeface="Courier New" panose="02070309020205020404" pitchFamily="49" charset="0"/>
                        </a:rPr>
                        <a:t> = 1010 − 1100</a:t>
                      </a: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pic>
        <p:nvPicPr>
          <p:cNvPr id="8" name="Picture 7"/>
          <p:cNvPicPr>
            <a:picLocks noChangeAspect="1"/>
          </p:cNvPicPr>
          <p:nvPr/>
        </p:nvPicPr>
        <p:blipFill>
          <a:blip r:embed="rId2"/>
          <a:stretch>
            <a:fillRect/>
          </a:stretch>
        </p:blipFill>
        <p:spPr>
          <a:xfrm>
            <a:off x="1645136" y="3972551"/>
            <a:ext cx="4049084" cy="1784997"/>
          </a:xfrm>
          <a:prstGeom prst="rect">
            <a:avLst/>
          </a:prstGeom>
        </p:spPr>
      </p:pic>
      <p:pic>
        <p:nvPicPr>
          <p:cNvPr id="10" name="Picture 9"/>
          <p:cNvPicPr>
            <a:picLocks noChangeAspect="1"/>
          </p:cNvPicPr>
          <p:nvPr/>
        </p:nvPicPr>
        <p:blipFill>
          <a:blip r:embed="rId3"/>
          <a:stretch>
            <a:fillRect/>
          </a:stretch>
        </p:blipFill>
        <p:spPr>
          <a:xfrm>
            <a:off x="6821746" y="3537931"/>
            <a:ext cx="4512615" cy="2226716"/>
          </a:xfrm>
          <a:prstGeom prst="rect">
            <a:avLst/>
          </a:prstGeom>
        </p:spPr>
      </p:pic>
    </p:spTree>
    <p:extLst>
      <p:ext uri="{BB962C8B-B14F-4D97-AF65-F5344CB8AC3E}">
        <p14:creationId xmlns:p14="http://schemas.microsoft.com/office/powerpoint/2010/main" val="14156139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Overflow error</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58</a:t>
            </a:fld>
            <a:endParaRPr lang="en-US" dirty="0"/>
          </a:p>
        </p:txBody>
      </p:sp>
      <p:sp>
        <p:nvSpPr>
          <p:cNvPr id="4" name="Text Placeholder 3"/>
          <p:cNvSpPr>
            <a:spLocks noGrp="1"/>
          </p:cNvSpPr>
          <p:nvPr>
            <p:ph type="body" sz="quarter" idx="14"/>
          </p:nvPr>
        </p:nvSpPr>
        <p:spPr/>
        <p:txBody>
          <a:bodyPr/>
          <a:lstStyle/>
          <a:p>
            <a:r>
              <a:rPr lang="en-HK" dirty="0"/>
              <a:t>F</a:t>
            </a:r>
            <a:endParaRPr lang="en-US" dirty="0"/>
          </a:p>
        </p:txBody>
      </p:sp>
      <p:sp>
        <p:nvSpPr>
          <p:cNvPr id="5" name="Content Placeholder 4"/>
          <p:cNvSpPr>
            <a:spLocks noGrp="1"/>
          </p:cNvSpPr>
          <p:nvPr>
            <p:ph sz="quarter" idx="15"/>
          </p:nvPr>
        </p:nvSpPr>
        <p:spPr/>
        <p:txBody>
          <a:bodyPr/>
          <a:lstStyle/>
          <a:p>
            <a:r>
              <a:rPr lang="en-HK" dirty="0"/>
              <a:t>For signed integers, overflow error occurs during:</a:t>
            </a:r>
            <a:endParaRPr lang="en-US" dirty="0"/>
          </a:p>
          <a:p>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1071592425"/>
              </p:ext>
            </p:extLst>
          </p:nvPr>
        </p:nvGraphicFramePr>
        <p:xfrm>
          <a:off x="611796" y="2224960"/>
          <a:ext cx="10926268" cy="3918145"/>
        </p:xfrm>
        <a:graphic>
          <a:graphicData uri="http://schemas.openxmlformats.org/drawingml/2006/table">
            <a:tbl>
              <a:tblPr firstRow="1" bandRow="1">
                <a:tableStyleId>{5940675A-B579-460E-94D1-54222C63F5DA}</a:tableStyleId>
              </a:tblPr>
              <a:tblGrid>
                <a:gridCol w="5463134">
                  <a:extLst>
                    <a:ext uri="{9D8B030D-6E8A-4147-A177-3AD203B41FA5}">
                      <a16:colId xmlns:a16="http://schemas.microsoft.com/office/drawing/2014/main" val="20000"/>
                    </a:ext>
                  </a:extLst>
                </a:gridCol>
                <a:gridCol w="5463134">
                  <a:extLst>
                    <a:ext uri="{9D8B030D-6E8A-4147-A177-3AD203B41FA5}">
                      <a16:colId xmlns:a16="http://schemas.microsoft.com/office/drawing/2014/main" val="20001"/>
                    </a:ext>
                  </a:extLst>
                </a:gridCol>
              </a:tblGrid>
              <a:tr h="509927">
                <a:tc>
                  <a:txBody>
                    <a:bodyPr/>
                    <a:lstStyle/>
                    <a:p>
                      <a:pPr algn="ctr"/>
                      <a:r>
                        <a:rPr lang="en-HK" sz="2000" b="1" dirty="0">
                          <a:solidFill>
                            <a:schemeClr val="bg1"/>
                          </a:solidFill>
                        </a:rPr>
                        <a:t>Addition</a:t>
                      </a:r>
                      <a:endParaRPr lang="en-US" sz="2000" b="1" dirty="0">
                        <a:solidFill>
                          <a:schemeClr val="bg1"/>
                        </a:solidFill>
                      </a:endParaRPr>
                    </a:p>
                  </a:txBody>
                  <a:tcPr anchor="ctr">
                    <a:lnL w="12700" cap="flat" cmpd="sng" algn="ctr">
                      <a:solidFill>
                        <a:srgbClr val="57A044"/>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sz="2000" b="1" dirty="0">
                          <a:solidFill>
                            <a:schemeClr val="bg1"/>
                          </a:solidFill>
                        </a:rPr>
                        <a:t>Subtraction</a:t>
                      </a:r>
                      <a:endParaRPr lang="en-US" sz="2000"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extLst>
                  <a:ext uri="{0D108BD9-81ED-4DB2-BD59-A6C34878D82A}">
                    <a16:rowId xmlns:a16="http://schemas.microsoft.com/office/drawing/2014/main" val="10000"/>
                  </a:ext>
                </a:extLst>
              </a:tr>
              <a:tr h="3408218">
                <a:tc>
                  <a:txBody>
                    <a:bodyPr/>
                    <a:lstStyle/>
                    <a:p>
                      <a:r>
                        <a:rPr lang="en-US" dirty="0">
                          <a:latin typeface="Courier New" panose="02070309020205020404" pitchFamily="49" charset="0"/>
                          <a:cs typeface="Courier New" panose="02070309020205020404" pitchFamily="49" charset="0"/>
                        </a:rPr>
                        <a:t>3</a:t>
                      </a:r>
                      <a:r>
                        <a:rPr lang="en-US" baseline="-25000" dirty="0">
                          <a:latin typeface="Courier New" panose="02070309020205020404" pitchFamily="49" charset="0"/>
                          <a:cs typeface="Courier New" panose="02070309020205020404" pitchFamily="49" charset="0"/>
                        </a:rPr>
                        <a:t>10</a:t>
                      </a:r>
                      <a:r>
                        <a:rPr lang="en-US" dirty="0">
                          <a:latin typeface="Courier New" panose="02070309020205020404" pitchFamily="49" charset="0"/>
                          <a:cs typeface="Courier New" panose="02070309020205020404" pitchFamily="49" charset="0"/>
                        </a:rPr>
                        <a:t> + 5</a:t>
                      </a:r>
                      <a:r>
                        <a:rPr lang="en-US" baseline="-25000" dirty="0">
                          <a:latin typeface="Courier New" panose="02070309020205020404" pitchFamily="49" charset="0"/>
                          <a:cs typeface="Courier New" panose="02070309020205020404" pitchFamily="49" charset="0"/>
                        </a:rPr>
                        <a:t>10</a:t>
                      </a:r>
                      <a:r>
                        <a:rPr lang="en-US" dirty="0">
                          <a:latin typeface="Courier New" panose="02070309020205020404" pitchFamily="49" charset="0"/>
                          <a:cs typeface="Courier New" panose="02070309020205020404" pitchFamily="49" charset="0"/>
                        </a:rPr>
                        <a:t> = 0011 + 0101</a:t>
                      </a: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US" dirty="0">
                          <a:latin typeface="Courier New" panose="02070309020205020404" pitchFamily="49" charset="0"/>
                          <a:cs typeface="Courier New" panose="02070309020205020404" pitchFamily="49" charset="0"/>
                        </a:rPr>
                        <a:t>−4</a:t>
                      </a:r>
                      <a:r>
                        <a:rPr lang="en-US" baseline="-25000" dirty="0">
                          <a:latin typeface="Courier New" panose="02070309020205020404" pitchFamily="49" charset="0"/>
                          <a:cs typeface="Courier New" panose="02070309020205020404" pitchFamily="49" charset="0"/>
                        </a:rPr>
                        <a:t>10</a:t>
                      </a:r>
                      <a:r>
                        <a:rPr lang="en-US" dirty="0">
                          <a:latin typeface="Courier New" panose="02070309020205020404" pitchFamily="49" charset="0"/>
                          <a:cs typeface="Courier New" panose="02070309020205020404" pitchFamily="49" charset="0"/>
                        </a:rPr>
                        <a:t> − 6</a:t>
                      </a:r>
                      <a:r>
                        <a:rPr lang="en-US" baseline="-25000" dirty="0">
                          <a:latin typeface="Courier New" panose="02070309020205020404" pitchFamily="49" charset="0"/>
                          <a:cs typeface="Courier New" panose="02070309020205020404" pitchFamily="49" charset="0"/>
                        </a:rPr>
                        <a:t>10</a:t>
                      </a:r>
                      <a:r>
                        <a:rPr lang="en-US" dirty="0">
                          <a:latin typeface="Courier New" panose="02070309020205020404" pitchFamily="49" charset="0"/>
                          <a:cs typeface="Courier New" panose="02070309020205020404" pitchFamily="49" charset="0"/>
                        </a:rPr>
                        <a:t> = −4</a:t>
                      </a:r>
                      <a:r>
                        <a:rPr lang="en-US" baseline="-25000" dirty="0">
                          <a:latin typeface="Courier New" panose="02070309020205020404" pitchFamily="49" charset="0"/>
                          <a:cs typeface="Courier New" panose="02070309020205020404" pitchFamily="49" charset="0"/>
                        </a:rPr>
                        <a:t>10</a:t>
                      </a:r>
                      <a:r>
                        <a:rPr lang="en-US" dirty="0">
                          <a:latin typeface="Courier New" panose="02070309020205020404" pitchFamily="49" charset="0"/>
                          <a:cs typeface="Courier New" panose="02070309020205020404" pitchFamily="49" charset="0"/>
                        </a:rPr>
                        <a:t> + (−6</a:t>
                      </a:r>
                      <a:r>
                        <a:rPr lang="en-US" baseline="-25000" dirty="0">
                          <a:latin typeface="Courier New" panose="02070309020205020404" pitchFamily="49" charset="0"/>
                          <a:cs typeface="Courier New" panose="02070309020205020404" pitchFamily="49" charset="0"/>
                        </a:rPr>
                        <a:t>10</a:t>
                      </a:r>
                      <a:r>
                        <a:rPr lang="en-US" dirty="0">
                          <a:latin typeface="Courier New" panose="02070309020205020404" pitchFamily="49" charset="0"/>
                          <a:cs typeface="Courier New" panose="02070309020205020404" pitchFamily="49" charset="0"/>
                        </a:rPr>
                        <a:t>) = 1100 + 1010</a:t>
                      </a: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pic>
        <p:nvPicPr>
          <p:cNvPr id="7" name="Picture 6"/>
          <p:cNvPicPr>
            <a:picLocks noChangeAspect="1"/>
          </p:cNvPicPr>
          <p:nvPr/>
        </p:nvPicPr>
        <p:blipFill>
          <a:blip r:embed="rId2"/>
          <a:stretch>
            <a:fillRect/>
          </a:stretch>
        </p:blipFill>
        <p:spPr>
          <a:xfrm>
            <a:off x="1685622" y="3819368"/>
            <a:ext cx="4344006" cy="2248214"/>
          </a:xfrm>
          <a:prstGeom prst="rect">
            <a:avLst/>
          </a:prstGeom>
        </p:spPr>
      </p:pic>
      <p:pic>
        <p:nvPicPr>
          <p:cNvPr id="9" name="Picture 8"/>
          <p:cNvPicPr>
            <a:picLocks noChangeAspect="1"/>
          </p:cNvPicPr>
          <p:nvPr/>
        </p:nvPicPr>
        <p:blipFill>
          <a:blip r:embed="rId3"/>
          <a:stretch>
            <a:fillRect/>
          </a:stretch>
        </p:blipFill>
        <p:spPr>
          <a:xfrm>
            <a:off x="6548094" y="3911100"/>
            <a:ext cx="4925112" cy="1924319"/>
          </a:xfrm>
          <a:prstGeom prst="rect">
            <a:avLst/>
          </a:prstGeom>
        </p:spPr>
      </p:pic>
      <p:pic>
        <p:nvPicPr>
          <p:cNvPr id="10" name="Picture 9"/>
          <p:cNvPicPr>
            <a:picLocks noChangeAspect="1"/>
          </p:cNvPicPr>
          <p:nvPr/>
        </p:nvPicPr>
        <p:blipFill>
          <a:blip r:embed="rId4"/>
          <a:stretch>
            <a:fillRect/>
          </a:stretch>
        </p:blipFill>
        <p:spPr>
          <a:xfrm>
            <a:off x="6138166" y="5301945"/>
            <a:ext cx="1381318" cy="533474"/>
          </a:xfrm>
          <a:prstGeom prst="rect">
            <a:avLst/>
          </a:prstGeom>
        </p:spPr>
      </p:pic>
    </p:spTree>
    <p:extLst>
      <p:ext uri="{BB962C8B-B14F-4D97-AF65-F5344CB8AC3E}">
        <p14:creationId xmlns:p14="http://schemas.microsoft.com/office/powerpoint/2010/main" val="155059591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D22F896-40B5-4ADD-8801-0D06FADFA095}" type="slidenum">
              <a:rPr lang="en-US" smtClean="0"/>
              <a:pPr/>
              <a:t>59</a:t>
            </a:fld>
            <a:endParaRPr lang="en-US" dirty="0"/>
          </a:p>
        </p:txBody>
      </p:sp>
      <p:sp>
        <p:nvSpPr>
          <p:cNvPr id="3" name="Content Placeholder 2"/>
          <p:cNvSpPr>
            <a:spLocks noGrp="1"/>
          </p:cNvSpPr>
          <p:nvPr>
            <p:ph sz="quarter" idx="15"/>
          </p:nvPr>
        </p:nvSpPr>
        <p:spPr/>
        <p:txBody>
          <a:bodyPr anchor="ctr"/>
          <a:lstStyle/>
          <a:p>
            <a:r>
              <a:rPr lang="en-US" dirty="0"/>
              <a:t>When an additional bit appears after the calculation of two’s complement representations, an overflow error occurs.</a:t>
            </a:r>
          </a:p>
        </p:txBody>
      </p:sp>
      <p:sp>
        <p:nvSpPr>
          <p:cNvPr id="4" name="Content Placeholder 3"/>
          <p:cNvSpPr>
            <a:spLocks noGrp="1"/>
          </p:cNvSpPr>
          <p:nvPr>
            <p:ph sz="quarter" idx="14"/>
          </p:nvPr>
        </p:nvSpPr>
        <p:spPr/>
        <p:txBody>
          <a:bodyPr/>
          <a:lstStyle/>
          <a:p>
            <a:r>
              <a:rPr lang="en-US" dirty="0"/>
              <a:t>When an additional bit appears after the calculation of two’s complement representations, it does not necessarily mean that an overflow occurs. The additional bit implies an overflow error only if it is a calculation of unsigned integer. The fundamental reason for overflow error is that the calculation result is out of range.</a:t>
            </a:r>
          </a:p>
        </p:txBody>
      </p:sp>
      <p:pic>
        <p:nvPicPr>
          <p:cNvPr id="5" name="Picture 4"/>
          <p:cNvPicPr>
            <a:picLocks noChangeAspect="1"/>
          </p:cNvPicPr>
          <p:nvPr/>
        </p:nvPicPr>
        <p:blipFill>
          <a:blip r:embed="rId2"/>
          <a:stretch>
            <a:fillRect/>
          </a:stretch>
        </p:blipFill>
        <p:spPr>
          <a:xfrm>
            <a:off x="963616" y="2237849"/>
            <a:ext cx="575721" cy="518859"/>
          </a:xfrm>
          <a:prstGeom prst="rect">
            <a:avLst/>
          </a:prstGeom>
        </p:spPr>
      </p:pic>
      <p:pic>
        <p:nvPicPr>
          <p:cNvPr id="6" name="Picture 5"/>
          <p:cNvPicPr>
            <a:picLocks noChangeAspect="1"/>
          </p:cNvPicPr>
          <p:nvPr/>
        </p:nvPicPr>
        <p:blipFill>
          <a:blip r:embed="rId3"/>
          <a:stretch>
            <a:fillRect/>
          </a:stretch>
        </p:blipFill>
        <p:spPr>
          <a:xfrm>
            <a:off x="997607" y="4018548"/>
            <a:ext cx="523622" cy="509658"/>
          </a:xfrm>
          <a:prstGeom prst="rect">
            <a:avLst/>
          </a:prstGeom>
        </p:spPr>
      </p:pic>
    </p:spTree>
    <p:extLst>
      <p:ext uri="{BB962C8B-B14F-4D97-AF65-F5344CB8AC3E}">
        <p14:creationId xmlns:p14="http://schemas.microsoft.com/office/powerpoint/2010/main" val="23399503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AutoNum type="arabicPeriod"/>
            </a:pPr>
            <a:r>
              <a:rPr lang="en-US" dirty="0"/>
              <a:t>A computer uses 4-bit two’s complement representation to store integers. Which of the following calculations involves an overflow error? </a:t>
            </a:r>
          </a:p>
          <a:p>
            <a:pPr marL="457200" indent="-457200">
              <a:buAutoNum type="arabicPeriod"/>
            </a:pPr>
            <a:endParaRPr lang="en-US" dirty="0"/>
          </a:p>
          <a:p>
            <a:pPr marL="800100" lvl="1" indent="-342900">
              <a:buSzPct val="100000"/>
              <a:buAutoNum type="alphaUcPeriod"/>
            </a:pPr>
            <a:r>
              <a:rPr lang="en-US" dirty="0"/>
              <a:t>2 − 3 + 4 − 2</a:t>
            </a:r>
          </a:p>
          <a:p>
            <a:pPr marL="800100" lvl="1" indent="-342900">
              <a:buSzPct val="100000"/>
              <a:buAutoNum type="alphaUcPeriod"/>
            </a:pPr>
            <a:r>
              <a:rPr lang="en-US" dirty="0"/>
              <a:t>3 + 4 + 2 − 2</a:t>
            </a:r>
          </a:p>
          <a:p>
            <a:pPr marL="800100" lvl="1" indent="-342900">
              <a:buSzPct val="100000"/>
              <a:buAutoNum type="alphaUcPeriod"/>
            </a:pPr>
            <a:r>
              <a:rPr lang="en-US" dirty="0"/>
              <a:t>2 + 3 − 4 − 2</a:t>
            </a:r>
          </a:p>
          <a:p>
            <a:pPr marL="800100" lvl="1" indent="-342900">
              <a:buSzPct val="100000"/>
              <a:buAutoNum type="alphaUcPeriod"/>
            </a:pPr>
            <a:r>
              <a:rPr lang="en-US" dirty="0"/>
              <a:t>−2 − 3 – 3</a:t>
            </a:r>
          </a:p>
        </p:txBody>
      </p:sp>
      <p:sp>
        <p:nvSpPr>
          <p:cNvPr id="3" name="Slide Number Placeholder 2"/>
          <p:cNvSpPr>
            <a:spLocks noGrp="1"/>
          </p:cNvSpPr>
          <p:nvPr>
            <p:ph type="sldNum" sz="quarter" idx="12"/>
          </p:nvPr>
        </p:nvSpPr>
        <p:spPr/>
        <p:txBody>
          <a:bodyPr/>
          <a:lstStyle/>
          <a:p>
            <a:fld id="{6D22F896-40B5-4ADD-8801-0D06FADFA095}" type="slidenum">
              <a:rPr lang="en-US" smtClean="0"/>
              <a:t>60</a:t>
            </a:fld>
            <a:endParaRPr lang="en-US" dirty="0"/>
          </a:p>
        </p:txBody>
      </p:sp>
      <p:sp>
        <p:nvSpPr>
          <p:cNvPr id="4" name="Text Placeholder 3"/>
          <p:cNvSpPr>
            <a:spLocks noGrp="1"/>
          </p:cNvSpPr>
          <p:nvPr>
            <p:ph type="body" sz="quarter" idx="13"/>
          </p:nvPr>
        </p:nvSpPr>
        <p:spPr/>
        <p:txBody>
          <a:bodyPr/>
          <a:lstStyle/>
          <a:p>
            <a:r>
              <a:rPr lang="en-HK" dirty="0"/>
              <a:t>3.3</a:t>
            </a:r>
            <a:endParaRPr lang="en-US" dirty="0"/>
          </a:p>
        </p:txBody>
      </p:sp>
    </p:spTree>
    <p:extLst>
      <p:ext uri="{BB962C8B-B14F-4D97-AF65-F5344CB8AC3E}">
        <p14:creationId xmlns:p14="http://schemas.microsoft.com/office/powerpoint/2010/main" val="278209147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pPr marL="342900" indent="-342900">
              <a:buSzPct val="100000"/>
              <a:buFont typeface="Noto Sans CJK TC Regular" panose="020B0500000000000000" pitchFamily="34" charset="-128"/>
              <a:buChar char="◣"/>
            </a:pPr>
            <a:r>
              <a:rPr lang="en-HK" b="1" dirty="0">
                <a:solidFill>
                  <a:srgbClr val="37A3D4"/>
                </a:solidFill>
              </a:rPr>
              <a:t>Analysis</a:t>
            </a:r>
          </a:p>
          <a:p>
            <a:pPr>
              <a:buSzPct val="100000"/>
            </a:pPr>
            <a:r>
              <a:rPr lang="en-US" dirty="0"/>
              <a:t>The range of a 4-bit two’s complement representation is from −24−1 to 24−1−1, i.e. from −8 to 7.</a:t>
            </a:r>
          </a:p>
          <a:p>
            <a:pPr>
              <a:buSzPct val="100000"/>
            </a:pPr>
            <a:r>
              <a:rPr lang="en-US" dirty="0"/>
              <a:t>For option A, 2 − 3 + 4 − 2 = −1 + 4 − 2 = 3 − 2 = 1. No result is out of range.</a:t>
            </a:r>
          </a:p>
          <a:p>
            <a:pPr>
              <a:buSzPct val="100000"/>
            </a:pPr>
            <a:r>
              <a:rPr lang="en-US" dirty="0"/>
              <a:t>For option B, 3 + 4 + 2 − 2 = 7 + 2 − 2 = 9 − 2 = 7. Although the final result is not out of range, a number which is out of range appears in the calculation, meaning that an overflow error occurs during the calculation.</a:t>
            </a:r>
          </a:p>
          <a:p>
            <a:pPr>
              <a:buSzPct val="100000"/>
            </a:pPr>
            <a:r>
              <a:rPr lang="en-US" dirty="0"/>
              <a:t>For option C, 2 + 3 − 4 − 2 = 5 − 4 − 2 = 1 − 2 = −1. No result is out of range.</a:t>
            </a:r>
          </a:p>
          <a:p>
            <a:pPr>
              <a:buSzPct val="100000"/>
            </a:pPr>
            <a:r>
              <a:rPr lang="en-US" dirty="0"/>
              <a:t>For option D, −2 − 3 − 3 = −5 − 3 = −8. No result is out of range.</a:t>
            </a:r>
          </a:p>
          <a:p>
            <a:pPr>
              <a:buSzPct val="100000"/>
            </a:pPr>
            <a:r>
              <a:rPr lang="en-US" dirty="0"/>
              <a:t>Only option B involves an overflow error.</a:t>
            </a:r>
          </a:p>
          <a:p>
            <a:pPr>
              <a:buSzPct val="100000"/>
            </a:pPr>
            <a:endParaRPr lang="en-HK" b="1" dirty="0">
              <a:solidFill>
                <a:srgbClr val="37A3D4"/>
              </a:solidFill>
            </a:endParaRPr>
          </a:p>
          <a:p>
            <a:pPr marL="342900" indent="-342900">
              <a:buSzPct val="100000"/>
              <a:buFont typeface="Noto Sans CJK TC Regular" panose="020B0500000000000000" pitchFamily="34" charset="-128"/>
              <a:buChar char="◣"/>
            </a:pPr>
            <a:r>
              <a:rPr lang="en-HK" b="1" dirty="0">
                <a:solidFill>
                  <a:srgbClr val="37A3D4"/>
                </a:solidFill>
              </a:rPr>
              <a:t>Solution</a:t>
            </a:r>
          </a:p>
          <a:p>
            <a:pPr>
              <a:buSzPct val="100000"/>
            </a:pPr>
            <a:r>
              <a:rPr lang="en-US" dirty="0"/>
              <a:t>The answer is B.</a:t>
            </a:r>
          </a:p>
        </p:txBody>
      </p:sp>
      <p:sp>
        <p:nvSpPr>
          <p:cNvPr id="3" name="Slide Number Placeholder 2"/>
          <p:cNvSpPr>
            <a:spLocks noGrp="1"/>
          </p:cNvSpPr>
          <p:nvPr>
            <p:ph type="sldNum" sz="quarter" idx="12"/>
          </p:nvPr>
        </p:nvSpPr>
        <p:spPr/>
        <p:txBody>
          <a:bodyPr/>
          <a:lstStyle/>
          <a:p>
            <a:fld id="{6D22F896-40B5-4ADD-8801-0D06FADFA095}" type="slidenum">
              <a:rPr lang="en-US" smtClean="0"/>
              <a:t>61</a:t>
            </a:fld>
            <a:endParaRPr lang="en-US" dirty="0"/>
          </a:p>
        </p:txBody>
      </p:sp>
      <p:sp>
        <p:nvSpPr>
          <p:cNvPr id="4" name="Text Placeholder 3"/>
          <p:cNvSpPr>
            <a:spLocks noGrp="1"/>
          </p:cNvSpPr>
          <p:nvPr>
            <p:ph type="body" sz="quarter" idx="13"/>
          </p:nvPr>
        </p:nvSpPr>
        <p:spPr/>
        <p:txBody>
          <a:bodyPr/>
          <a:lstStyle/>
          <a:p>
            <a:r>
              <a:rPr lang="en-HK" dirty="0"/>
              <a:t>3.3</a:t>
            </a:r>
            <a:endParaRPr lang="en-US" dirty="0"/>
          </a:p>
        </p:txBody>
      </p:sp>
    </p:spTree>
    <p:extLst>
      <p:ext uri="{BB962C8B-B14F-4D97-AF65-F5344CB8AC3E}">
        <p14:creationId xmlns:p14="http://schemas.microsoft.com/office/powerpoint/2010/main" val="366062514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Font typeface="+mj-lt"/>
              <a:buAutoNum type="arabicPeriod" startAt="2"/>
            </a:pPr>
            <a:r>
              <a:rPr lang="en-US" dirty="0"/>
              <a:t>Jane’s computer uses 8-bit two’s complement representation to store numbers. She increments a number X by 3, then an overflow error occurs. What is the number X?</a:t>
            </a:r>
          </a:p>
          <a:p>
            <a:endParaRPr lang="en-HK" dirty="0"/>
          </a:p>
          <a:p>
            <a:pPr marL="800100" lvl="1" indent="-342900">
              <a:buSzPct val="100000"/>
              <a:buAutoNum type="alphaUcPeriod"/>
            </a:pPr>
            <a:r>
              <a:rPr lang="en-HK" sz="2000" dirty="0"/>
              <a:t>0111 1110</a:t>
            </a:r>
          </a:p>
          <a:p>
            <a:pPr marL="800100" lvl="1" indent="-342900">
              <a:buSzPct val="100000"/>
              <a:buAutoNum type="alphaUcPeriod"/>
            </a:pPr>
            <a:r>
              <a:rPr lang="en-HK" sz="2000" dirty="0"/>
              <a:t>1111 1110</a:t>
            </a:r>
          </a:p>
          <a:p>
            <a:pPr marL="800100" lvl="1" indent="-342900">
              <a:buSzPct val="100000"/>
              <a:buAutoNum type="alphaUcPeriod"/>
            </a:pPr>
            <a:r>
              <a:rPr lang="en-HK" sz="2000" dirty="0"/>
              <a:t>0000 1101</a:t>
            </a:r>
          </a:p>
          <a:p>
            <a:pPr marL="800100" lvl="1" indent="-342900">
              <a:buSzPct val="100000"/>
              <a:buAutoNum type="alphaUcPeriod"/>
            </a:pPr>
            <a:r>
              <a:rPr lang="en-HK" sz="2000" dirty="0"/>
              <a:t>1000 0000</a:t>
            </a:r>
            <a:endParaRPr lang="en-US" sz="2000" dirty="0"/>
          </a:p>
        </p:txBody>
      </p:sp>
      <p:sp>
        <p:nvSpPr>
          <p:cNvPr id="3" name="Slide Number Placeholder 2"/>
          <p:cNvSpPr>
            <a:spLocks noGrp="1"/>
          </p:cNvSpPr>
          <p:nvPr>
            <p:ph type="sldNum" sz="quarter" idx="12"/>
          </p:nvPr>
        </p:nvSpPr>
        <p:spPr/>
        <p:txBody>
          <a:bodyPr/>
          <a:lstStyle/>
          <a:p>
            <a:fld id="{6D22F896-40B5-4ADD-8801-0D06FADFA095}" type="slidenum">
              <a:rPr lang="en-US" smtClean="0"/>
              <a:t>62</a:t>
            </a:fld>
            <a:endParaRPr lang="en-US" dirty="0"/>
          </a:p>
        </p:txBody>
      </p:sp>
      <p:sp>
        <p:nvSpPr>
          <p:cNvPr id="4" name="Text Placeholder 3"/>
          <p:cNvSpPr>
            <a:spLocks noGrp="1"/>
          </p:cNvSpPr>
          <p:nvPr>
            <p:ph type="body" sz="quarter" idx="13"/>
          </p:nvPr>
        </p:nvSpPr>
        <p:spPr/>
        <p:txBody>
          <a:bodyPr/>
          <a:lstStyle/>
          <a:p>
            <a:r>
              <a:rPr lang="en-HK" dirty="0"/>
              <a:t>3.3</a:t>
            </a:r>
            <a:endParaRPr lang="en-US" dirty="0"/>
          </a:p>
        </p:txBody>
      </p:sp>
    </p:spTree>
    <p:extLst>
      <p:ext uri="{BB962C8B-B14F-4D97-AF65-F5344CB8AC3E}">
        <p14:creationId xmlns:p14="http://schemas.microsoft.com/office/powerpoint/2010/main" val="36375697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pPr marL="342900" indent="-342900">
              <a:buSzPct val="100000"/>
              <a:buFont typeface="Noto Sans CJK TC Regular" panose="020B0500000000000000" pitchFamily="34" charset="-128"/>
              <a:buChar char="◣"/>
            </a:pPr>
            <a:r>
              <a:rPr lang="en-HK" b="1" dirty="0">
                <a:solidFill>
                  <a:srgbClr val="37A3D4"/>
                </a:solidFill>
              </a:rPr>
              <a:t>Analysis</a:t>
            </a:r>
          </a:p>
          <a:p>
            <a:pPr>
              <a:buSzPct val="100000"/>
            </a:pPr>
            <a:r>
              <a:rPr lang="en-US" dirty="0"/>
              <a:t>3 is a positive number. Overflow error occurs only if two numbers of the same sign are added together. </a:t>
            </a:r>
          </a:p>
          <a:p>
            <a:pPr>
              <a:buSzPct val="100000"/>
            </a:pPr>
            <a:r>
              <a:rPr lang="en-US" dirty="0"/>
              <a:t>The representations of option B and D both represent a negative number. Therefore, option B and D cannot be the answer. </a:t>
            </a:r>
          </a:p>
          <a:p>
            <a:pPr>
              <a:buSzPct val="100000"/>
            </a:pPr>
            <a:r>
              <a:rPr lang="en-US" dirty="0"/>
              <a:t>The 8-bit two’s complement representation of 3 is 0000 0011. </a:t>
            </a:r>
          </a:p>
          <a:p>
            <a:pPr>
              <a:buSzPct val="100000"/>
            </a:pPr>
            <a:r>
              <a:rPr lang="en-US" dirty="0"/>
              <a:t>For option A, 0111 1110 represents a positive number. 0111 1110 + 0000 0011 = 1000 0001, which represents a negative number. </a:t>
            </a:r>
          </a:p>
          <a:p>
            <a:pPr>
              <a:buSzPct val="100000"/>
            </a:pPr>
            <a:r>
              <a:rPr lang="en-US" dirty="0"/>
              <a:t>For option C, 0000 1101 represents a positive number. 0000 1101 + 0000 0011 = 0001 0000, which represents a positive number.</a:t>
            </a:r>
          </a:p>
          <a:p>
            <a:pPr>
              <a:buSzPct val="100000"/>
            </a:pPr>
            <a:endParaRPr lang="en-HK" b="1" dirty="0">
              <a:solidFill>
                <a:srgbClr val="37A3D4"/>
              </a:solidFill>
            </a:endParaRPr>
          </a:p>
          <a:p>
            <a:pPr marL="342900" indent="-342900">
              <a:buSzPct val="100000"/>
              <a:buFont typeface="Noto Sans CJK TC Regular" panose="020B0500000000000000" pitchFamily="34" charset="-128"/>
              <a:buChar char="◣"/>
            </a:pPr>
            <a:r>
              <a:rPr lang="en-HK" b="1" dirty="0">
                <a:solidFill>
                  <a:srgbClr val="37A3D4"/>
                </a:solidFill>
              </a:rPr>
              <a:t>Solution</a:t>
            </a:r>
          </a:p>
          <a:p>
            <a:pPr>
              <a:buSzPct val="100000"/>
            </a:pPr>
            <a:r>
              <a:rPr lang="en-US" dirty="0"/>
              <a:t>The answer is A.</a:t>
            </a:r>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63</a:t>
            </a:fld>
            <a:endParaRPr lang="en-US" dirty="0"/>
          </a:p>
        </p:txBody>
      </p:sp>
      <p:sp>
        <p:nvSpPr>
          <p:cNvPr id="4" name="Text Placeholder 3"/>
          <p:cNvSpPr>
            <a:spLocks noGrp="1"/>
          </p:cNvSpPr>
          <p:nvPr>
            <p:ph type="body" sz="quarter" idx="13"/>
          </p:nvPr>
        </p:nvSpPr>
        <p:spPr/>
        <p:txBody>
          <a:bodyPr/>
          <a:lstStyle/>
          <a:p>
            <a:r>
              <a:rPr lang="en-US" dirty="0"/>
              <a:t>3.3</a:t>
            </a:r>
          </a:p>
        </p:txBody>
      </p:sp>
    </p:spTree>
    <p:extLst>
      <p:ext uri="{BB962C8B-B14F-4D97-AF65-F5344CB8AC3E}">
        <p14:creationId xmlns:p14="http://schemas.microsoft.com/office/powerpoint/2010/main" val="264448822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Font typeface="+mj-lt"/>
              <a:buAutoNum type="arabicPeriod" startAt="3"/>
            </a:pPr>
            <a:r>
              <a:rPr lang="en-US" dirty="0"/>
              <a:t>A computer performs this calculation, P + Q, and returns R as the answer. Assume that P, Q and R are all 3-bit unsigned integers, under what conditions would an overflow error occur during this calculation?</a:t>
            </a:r>
          </a:p>
          <a:p>
            <a:pPr marL="1257300" lvl="2" indent="-342900">
              <a:buSzPct val="100000"/>
              <a:buAutoNum type="arabicParenBoth"/>
            </a:pPr>
            <a:r>
              <a:rPr lang="en-HK" sz="2000" dirty="0"/>
              <a:t>P = 7</a:t>
            </a:r>
          </a:p>
          <a:p>
            <a:pPr marL="1257300" lvl="2" indent="-342900">
              <a:buSzPct val="100000"/>
              <a:buAutoNum type="arabicParenBoth"/>
            </a:pPr>
            <a:r>
              <a:rPr lang="en-HK" sz="2000" dirty="0"/>
              <a:t>P &gt; R</a:t>
            </a:r>
          </a:p>
          <a:p>
            <a:pPr marL="1257300" lvl="2" indent="-342900">
              <a:buSzPct val="100000"/>
              <a:buAutoNum type="arabicParenBoth"/>
            </a:pPr>
            <a:r>
              <a:rPr lang="en-HK" sz="2000" dirty="0"/>
              <a:t>P &gt; 3 and Q &gt; 4</a:t>
            </a:r>
          </a:p>
          <a:p>
            <a:pPr marL="1257300" lvl="2" indent="-342900">
              <a:buSzPct val="100000"/>
              <a:buAutoNum type="arabicParenBoth"/>
            </a:pPr>
            <a:endParaRPr lang="en-HK" sz="2000" dirty="0"/>
          </a:p>
          <a:p>
            <a:pPr marL="914400" lvl="1" indent="-457200">
              <a:buSzPct val="100000"/>
              <a:buAutoNum type="alphaUcPeriod"/>
            </a:pPr>
            <a:r>
              <a:rPr lang="en-HK" sz="2200" dirty="0"/>
              <a:t>(1) and (2) only</a:t>
            </a:r>
          </a:p>
          <a:p>
            <a:pPr marL="914400" lvl="1" indent="-457200">
              <a:buSzPct val="100000"/>
              <a:buAutoNum type="alphaUcPeriod"/>
            </a:pPr>
            <a:r>
              <a:rPr lang="en-HK" sz="2200" dirty="0"/>
              <a:t>(1) and (3) only</a:t>
            </a:r>
          </a:p>
          <a:p>
            <a:pPr marL="914400" lvl="1" indent="-457200">
              <a:buSzPct val="100000"/>
              <a:buAutoNum type="alphaUcPeriod"/>
            </a:pPr>
            <a:r>
              <a:rPr lang="en-HK" sz="2200" dirty="0"/>
              <a:t>(2) and (3) only</a:t>
            </a:r>
          </a:p>
          <a:p>
            <a:pPr marL="914400" lvl="1" indent="-457200">
              <a:buSzPct val="100000"/>
              <a:buAutoNum type="alphaUcPeriod"/>
            </a:pPr>
            <a:r>
              <a:rPr lang="en-HK" sz="2200" dirty="0"/>
              <a:t>(1), (2) and (3)</a:t>
            </a:r>
          </a:p>
        </p:txBody>
      </p:sp>
      <p:sp>
        <p:nvSpPr>
          <p:cNvPr id="3" name="Slide Number Placeholder 2"/>
          <p:cNvSpPr>
            <a:spLocks noGrp="1"/>
          </p:cNvSpPr>
          <p:nvPr>
            <p:ph type="sldNum" sz="quarter" idx="12"/>
          </p:nvPr>
        </p:nvSpPr>
        <p:spPr/>
        <p:txBody>
          <a:bodyPr/>
          <a:lstStyle/>
          <a:p>
            <a:fld id="{6D22F896-40B5-4ADD-8801-0D06FADFA095}" type="slidenum">
              <a:rPr lang="en-US" smtClean="0"/>
              <a:t>64</a:t>
            </a:fld>
            <a:endParaRPr lang="en-US" dirty="0"/>
          </a:p>
        </p:txBody>
      </p:sp>
      <p:sp>
        <p:nvSpPr>
          <p:cNvPr id="4" name="Text Placeholder 3"/>
          <p:cNvSpPr>
            <a:spLocks noGrp="1"/>
          </p:cNvSpPr>
          <p:nvPr>
            <p:ph type="body" sz="quarter" idx="13"/>
          </p:nvPr>
        </p:nvSpPr>
        <p:spPr/>
        <p:txBody>
          <a:bodyPr/>
          <a:lstStyle/>
          <a:p>
            <a:r>
              <a:rPr lang="en-HK" dirty="0"/>
              <a:t>3.3</a:t>
            </a:r>
            <a:endParaRPr lang="en-US" dirty="0"/>
          </a:p>
        </p:txBody>
      </p:sp>
    </p:spTree>
    <p:extLst>
      <p:ext uri="{BB962C8B-B14F-4D97-AF65-F5344CB8AC3E}">
        <p14:creationId xmlns:p14="http://schemas.microsoft.com/office/powerpoint/2010/main" val="323355253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342900" indent="-342900">
              <a:buSzPct val="100000"/>
              <a:buFont typeface="Noto Sans CJK TC Regular" panose="020B0500000000000000" pitchFamily="34" charset="-128"/>
              <a:buChar char="◣"/>
            </a:pPr>
            <a:r>
              <a:rPr lang="en-HK" b="1" dirty="0">
                <a:solidFill>
                  <a:srgbClr val="37A3D4"/>
                </a:solidFill>
              </a:rPr>
              <a:t>Analysis</a:t>
            </a:r>
          </a:p>
          <a:p>
            <a:pPr>
              <a:buSzPct val="100000"/>
            </a:pPr>
            <a:r>
              <a:rPr lang="en-US" dirty="0"/>
              <a:t>For item (1), if Q = 0, then P + Q = 7, which is NOT out of the range of a 3-bit unsigned integer.</a:t>
            </a:r>
          </a:p>
          <a:p>
            <a:pPr>
              <a:buSzPct val="100000"/>
            </a:pPr>
            <a:r>
              <a:rPr lang="en-US" dirty="0"/>
              <a:t>For item (2), since P, Q and R are all unsigned integers, they can only be zero or positive. Adding zero or a positive integer to P should result in an integer larger than P.</a:t>
            </a:r>
          </a:p>
          <a:p>
            <a:pPr>
              <a:buSzPct val="100000"/>
            </a:pPr>
            <a:r>
              <a:rPr lang="en-US" dirty="0"/>
              <a:t>For item (3), if P &gt; 3 and Q &gt; 4, then P + Q &gt; 7. A 3-bit unsigned integer cannot be larger than 7.</a:t>
            </a:r>
          </a:p>
          <a:p>
            <a:pPr>
              <a:buSzPct val="100000"/>
            </a:pPr>
            <a:endParaRPr lang="en-HK" b="1" dirty="0">
              <a:solidFill>
                <a:srgbClr val="37A3D4"/>
              </a:solidFill>
            </a:endParaRPr>
          </a:p>
          <a:p>
            <a:pPr>
              <a:buSzPct val="100000"/>
            </a:pPr>
            <a:endParaRPr lang="en-HK" b="1" dirty="0">
              <a:solidFill>
                <a:srgbClr val="37A3D4"/>
              </a:solidFill>
            </a:endParaRPr>
          </a:p>
          <a:p>
            <a:pPr marL="342900" indent="-342900">
              <a:buSzPct val="100000"/>
              <a:buFont typeface="Noto Sans CJK TC Regular" panose="020B0500000000000000" pitchFamily="34" charset="-128"/>
              <a:buChar char="◣"/>
            </a:pPr>
            <a:r>
              <a:rPr lang="en-HK" b="1" dirty="0">
                <a:solidFill>
                  <a:srgbClr val="37A3D4"/>
                </a:solidFill>
              </a:rPr>
              <a:t>Solution</a:t>
            </a:r>
          </a:p>
          <a:p>
            <a:pPr>
              <a:buSzPct val="100000"/>
            </a:pPr>
            <a:r>
              <a:rPr lang="en-US" dirty="0"/>
              <a:t>The answer is C.</a:t>
            </a:r>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65</a:t>
            </a:fld>
            <a:endParaRPr lang="en-US" dirty="0"/>
          </a:p>
        </p:txBody>
      </p:sp>
      <p:sp>
        <p:nvSpPr>
          <p:cNvPr id="4" name="Text Placeholder 3"/>
          <p:cNvSpPr>
            <a:spLocks noGrp="1"/>
          </p:cNvSpPr>
          <p:nvPr>
            <p:ph type="body" sz="quarter" idx="13"/>
          </p:nvPr>
        </p:nvSpPr>
        <p:spPr/>
        <p:txBody>
          <a:bodyPr/>
          <a:lstStyle/>
          <a:p>
            <a:r>
              <a:rPr lang="en-HK" dirty="0"/>
              <a:t>3.3</a:t>
            </a:r>
            <a:endParaRPr lang="en-US" dirty="0"/>
          </a:p>
        </p:txBody>
      </p:sp>
    </p:spTree>
    <p:extLst>
      <p:ext uri="{BB962C8B-B14F-4D97-AF65-F5344CB8AC3E}">
        <p14:creationId xmlns:p14="http://schemas.microsoft.com/office/powerpoint/2010/main" val="265427455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HK" dirty="0"/>
              <a:t>Finish Checkpoint 3.3 on P. 81 of the textbook.</a:t>
            </a:r>
          </a:p>
          <a:p>
            <a:endParaRPr lang="en-HK" dirty="0"/>
          </a:p>
          <a:p>
            <a:pPr marL="457200" indent="-457200">
              <a:buAutoNum type="arabicPeriod"/>
            </a:pPr>
            <a:r>
              <a:rPr lang="en-HK" dirty="0">
                <a:solidFill>
                  <a:srgbClr val="FF0000"/>
                </a:solidFill>
              </a:rPr>
              <a:t>A</a:t>
            </a:r>
          </a:p>
          <a:p>
            <a:pPr marL="457200" indent="-457200">
              <a:buAutoNum type="arabicPeriod"/>
            </a:pPr>
            <a:r>
              <a:rPr lang="en-HK" dirty="0">
                <a:solidFill>
                  <a:srgbClr val="FF0000"/>
                </a:solidFill>
              </a:rPr>
              <a:t>B</a:t>
            </a:r>
          </a:p>
          <a:p>
            <a:pPr marL="457200" indent="-457200">
              <a:buAutoNum type="arabicPeriod"/>
            </a:pPr>
            <a:r>
              <a:rPr lang="en-HK" dirty="0" smtClean="0">
                <a:solidFill>
                  <a:srgbClr val="FF0000"/>
                </a:solidFill>
              </a:rPr>
              <a:t>D</a:t>
            </a:r>
            <a:endParaRPr lang="en-HK" dirty="0">
              <a:solidFill>
                <a:srgbClr val="FF0000"/>
              </a:solidFill>
            </a:endParaRPr>
          </a:p>
          <a:p>
            <a:pPr marL="457200" indent="-457200">
              <a:buAutoNum type="arabicPeriod"/>
            </a:pPr>
            <a:r>
              <a:rPr lang="en-HK" dirty="0">
                <a:solidFill>
                  <a:srgbClr val="FF0000"/>
                </a:solidFill>
              </a:rPr>
              <a:t>C</a:t>
            </a:r>
            <a:endParaRPr lang="en-US" dirty="0">
              <a:solidFill>
                <a:srgbClr val="FF0000"/>
              </a:solidFill>
            </a:endParaRPr>
          </a:p>
        </p:txBody>
      </p:sp>
      <p:sp>
        <p:nvSpPr>
          <p:cNvPr id="3" name="Slide Number Placeholder 2"/>
          <p:cNvSpPr>
            <a:spLocks noGrp="1"/>
          </p:cNvSpPr>
          <p:nvPr>
            <p:ph type="sldNum" sz="quarter" idx="12"/>
          </p:nvPr>
        </p:nvSpPr>
        <p:spPr/>
        <p:txBody>
          <a:bodyPr/>
          <a:lstStyle/>
          <a:p>
            <a:fld id="{6D22F896-40B5-4ADD-8801-0D06FADFA095}" type="slidenum">
              <a:rPr lang="en-US" smtClean="0"/>
              <a:t>66</a:t>
            </a:fld>
            <a:endParaRPr lang="en-US" dirty="0"/>
          </a:p>
        </p:txBody>
      </p:sp>
      <p:sp>
        <p:nvSpPr>
          <p:cNvPr id="4" name="Text Placeholder 3"/>
          <p:cNvSpPr>
            <a:spLocks noGrp="1"/>
          </p:cNvSpPr>
          <p:nvPr>
            <p:ph type="body" sz="quarter" idx="13"/>
          </p:nvPr>
        </p:nvSpPr>
        <p:spPr/>
        <p:txBody>
          <a:bodyPr/>
          <a:lstStyle/>
          <a:p>
            <a:r>
              <a:rPr lang="en-HK" dirty="0"/>
              <a:t>3.3</a:t>
            </a:r>
            <a:endParaRPr lang="en-US" dirty="0"/>
          </a:p>
        </p:txBody>
      </p:sp>
    </p:spTree>
    <p:extLst>
      <p:ext uri="{BB962C8B-B14F-4D97-AF65-F5344CB8AC3E}">
        <p14:creationId xmlns:p14="http://schemas.microsoft.com/office/powerpoint/2010/main" val="2857631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50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fade">
                                      <p:cBhvr>
                                        <p:cTn id="12" dur="500"/>
                                        <p:tgtEl>
                                          <p:spTgt spid="2">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Effect transition="in" filter="fade">
                                      <p:cBhvr>
                                        <p:cTn id="17" dur="500"/>
                                        <p:tgtEl>
                                          <p:spTgt spid="2">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5" end="5"/>
                                            </p:txEl>
                                          </p:spTgt>
                                        </p:tgtEl>
                                        <p:attrNameLst>
                                          <p:attrName>style.visibility</p:attrName>
                                        </p:attrNameLst>
                                      </p:cBhvr>
                                      <p:to>
                                        <p:strVal val="visible"/>
                                      </p:to>
                                    </p:set>
                                    <p:animEffect transition="in" filter="fade">
                                      <p:cBhvr>
                                        <p:cTn id="22"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Character Encoding</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67</a:t>
            </a:fld>
            <a:endParaRPr lang="en-US" dirty="0"/>
          </a:p>
        </p:txBody>
      </p:sp>
      <p:sp>
        <p:nvSpPr>
          <p:cNvPr id="4" name="Text Placeholder 3"/>
          <p:cNvSpPr>
            <a:spLocks noGrp="1"/>
          </p:cNvSpPr>
          <p:nvPr>
            <p:ph type="body" sz="quarter" idx="14"/>
          </p:nvPr>
        </p:nvSpPr>
        <p:spPr/>
        <p:txBody>
          <a:bodyPr/>
          <a:lstStyle/>
          <a:p>
            <a:r>
              <a:rPr lang="en-HK" dirty="0"/>
              <a:t>3.2</a:t>
            </a:r>
            <a:endParaRPr lang="en-US" dirty="0"/>
          </a:p>
        </p:txBody>
      </p:sp>
      <p:sp>
        <p:nvSpPr>
          <p:cNvPr id="5" name="Content Placeholder 4"/>
          <p:cNvSpPr>
            <a:spLocks noGrp="1"/>
          </p:cNvSpPr>
          <p:nvPr>
            <p:ph sz="quarter" idx="15"/>
          </p:nvPr>
        </p:nvSpPr>
        <p:spPr/>
        <p:txBody>
          <a:bodyPr/>
          <a:lstStyle/>
          <a:p>
            <a:r>
              <a:rPr lang="en-US" dirty="0"/>
              <a:t>Besides numbers, there are also representation methods for characters. </a:t>
            </a:r>
          </a:p>
          <a:p>
            <a:endParaRPr lang="en-US" dirty="0"/>
          </a:p>
          <a:p>
            <a:r>
              <a:rPr lang="en-US" dirty="0"/>
              <a:t>They are called </a:t>
            </a:r>
            <a:r>
              <a:rPr lang="en-US" b="1" dirty="0">
                <a:solidFill>
                  <a:srgbClr val="504FA1"/>
                </a:solidFill>
              </a:rPr>
              <a:t>character encoding </a:t>
            </a:r>
            <a:r>
              <a:rPr lang="en-US" dirty="0"/>
              <a:t>systems. Text in different languages may use different encoding systems.</a:t>
            </a:r>
          </a:p>
        </p:txBody>
      </p:sp>
    </p:spTree>
    <p:extLst>
      <p:ext uri="{BB962C8B-B14F-4D97-AF65-F5344CB8AC3E}">
        <p14:creationId xmlns:p14="http://schemas.microsoft.com/office/powerpoint/2010/main" val="164512653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English</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68</a:t>
            </a:fld>
            <a:endParaRPr lang="en-US" dirty="0"/>
          </a:p>
        </p:txBody>
      </p:sp>
      <p:sp>
        <p:nvSpPr>
          <p:cNvPr id="4" name="Text Placeholder 3"/>
          <p:cNvSpPr>
            <a:spLocks noGrp="1"/>
          </p:cNvSpPr>
          <p:nvPr>
            <p:ph type="body" sz="quarter" idx="14"/>
          </p:nvPr>
        </p:nvSpPr>
        <p:spPr/>
        <p:txBody>
          <a:bodyPr/>
          <a:lstStyle/>
          <a:p>
            <a:r>
              <a:rPr lang="en-HK" dirty="0"/>
              <a:t>A</a:t>
            </a:r>
            <a:endParaRPr lang="en-US" dirty="0"/>
          </a:p>
        </p:txBody>
      </p:sp>
      <p:sp>
        <p:nvSpPr>
          <p:cNvPr id="5" name="Content Placeholder 4"/>
          <p:cNvSpPr>
            <a:spLocks noGrp="1"/>
          </p:cNvSpPr>
          <p:nvPr>
            <p:ph sz="quarter" idx="15"/>
          </p:nvPr>
        </p:nvSpPr>
        <p:spPr>
          <a:xfrm>
            <a:off x="838800" y="1609200"/>
            <a:ext cx="7438425" cy="4680000"/>
          </a:xfrm>
        </p:spPr>
        <p:txBody>
          <a:bodyPr/>
          <a:lstStyle/>
          <a:p>
            <a:r>
              <a:rPr lang="en-US" b="1" dirty="0">
                <a:solidFill>
                  <a:srgbClr val="504FA1"/>
                </a:solidFill>
              </a:rPr>
              <a:t>American Standard Code for Information Interchange (ASCII) </a:t>
            </a:r>
            <a:r>
              <a:rPr lang="en-US" dirty="0"/>
              <a:t>is one of the commonly used character encoding systems for English.</a:t>
            </a:r>
          </a:p>
          <a:p>
            <a:endParaRPr lang="en-HK" dirty="0"/>
          </a:p>
          <a:p>
            <a:r>
              <a:rPr lang="en-US" dirty="0"/>
              <a:t>ASCII usually uses 7 bits to represent a character. Thus, it can represent 2</a:t>
            </a:r>
            <a:r>
              <a:rPr lang="en-US" baseline="30000" dirty="0"/>
              <a:t>7</a:t>
            </a:r>
            <a:r>
              <a:rPr lang="en-US" dirty="0"/>
              <a:t> = 128 characters.</a:t>
            </a:r>
          </a:p>
          <a:p>
            <a:endParaRPr lang="en-HK" dirty="0"/>
          </a:p>
          <a:p>
            <a:r>
              <a:rPr lang="en-HK" dirty="0"/>
              <a:t>See P. 83 of the textbook for the ASCII table.</a:t>
            </a:r>
            <a:endParaRPr lang="en-US" dirty="0"/>
          </a:p>
        </p:txBody>
      </p:sp>
      <p:pic>
        <p:nvPicPr>
          <p:cNvPr id="6" name="Picture 5"/>
          <p:cNvPicPr>
            <a:picLocks noChangeAspect="1"/>
          </p:cNvPicPr>
          <p:nvPr/>
        </p:nvPicPr>
        <p:blipFill>
          <a:blip r:embed="rId2"/>
          <a:stretch>
            <a:fillRect/>
          </a:stretch>
        </p:blipFill>
        <p:spPr>
          <a:xfrm>
            <a:off x="8382000" y="1984650"/>
            <a:ext cx="3287899" cy="3177167"/>
          </a:xfrm>
          <a:prstGeom prst="rect">
            <a:avLst/>
          </a:prstGeom>
        </p:spPr>
      </p:pic>
    </p:spTree>
    <p:extLst>
      <p:ext uri="{BB962C8B-B14F-4D97-AF65-F5344CB8AC3E}">
        <p14:creationId xmlns:p14="http://schemas.microsoft.com/office/powerpoint/2010/main" val="317697106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Chinese</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69</a:t>
            </a:fld>
            <a:endParaRPr lang="en-US" dirty="0"/>
          </a:p>
        </p:txBody>
      </p:sp>
      <p:sp>
        <p:nvSpPr>
          <p:cNvPr id="4" name="Text Placeholder 3"/>
          <p:cNvSpPr>
            <a:spLocks noGrp="1"/>
          </p:cNvSpPr>
          <p:nvPr>
            <p:ph type="body" sz="quarter" idx="14"/>
          </p:nvPr>
        </p:nvSpPr>
        <p:spPr/>
        <p:txBody>
          <a:bodyPr/>
          <a:lstStyle/>
          <a:p>
            <a:r>
              <a:rPr lang="en-HK" dirty="0"/>
              <a:t>B</a:t>
            </a:r>
            <a:endParaRPr lang="en-US" dirty="0"/>
          </a:p>
        </p:txBody>
      </p:sp>
      <p:sp>
        <p:nvSpPr>
          <p:cNvPr id="5" name="Content Placeholder 4"/>
          <p:cNvSpPr>
            <a:spLocks noGrp="1"/>
          </p:cNvSpPr>
          <p:nvPr>
            <p:ph sz="quarter" idx="15"/>
          </p:nvPr>
        </p:nvSpPr>
        <p:spPr/>
        <p:txBody>
          <a:bodyPr/>
          <a:lstStyle/>
          <a:p>
            <a:r>
              <a:rPr lang="en-US" dirty="0"/>
              <a:t>There are two sets of Chinese characters:</a:t>
            </a:r>
            <a:br>
              <a:rPr lang="en-US" dirty="0"/>
            </a:br>
            <a:endParaRPr lang="en-US" dirty="0"/>
          </a:p>
          <a:p>
            <a:pPr marL="342900" indent="-342900">
              <a:buFont typeface="Arial" panose="020B0604020202020204" pitchFamily="34" charset="0"/>
              <a:buChar char="•"/>
            </a:pPr>
            <a:r>
              <a:rPr lang="en-US" dirty="0"/>
              <a:t>Traditional Chinese</a:t>
            </a:r>
            <a:r>
              <a:rPr lang="en-US" altLang="zh-CN" dirty="0"/>
              <a:t>, </a:t>
            </a:r>
            <a:r>
              <a:rPr lang="en-US" dirty="0"/>
              <a:t>which is often encoded by </a:t>
            </a:r>
            <a:r>
              <a:rPr lang="en-US" b="1" dirty="0">
                <a:solidFill>
                  <a:srgbClr val="504FA1"/>
                </a:solidFill>
              </a:rPr>
              <a:t>Big-5 code</a:t>
            </a:r>
            <a:r>
              <a:rPr lang="en-US" dirty="0"/>
              <a:t>.</a:t>
            </a:r>
          </a:p>
          <a:p>
            <a:pPr marL="342900" indent="-342900">
              <a:buFont typeface="Arial" panose="020B0604020202020204" pitchFamily="34" charset="0"/>
              <a:buChar char="•"/>
            </a:pPr>
            <a:r>
              <a:rPr lang="en-US" dirty="0"/>
              <a:t>Simplified Chinese</a:t>
            </a:r>
            <a:r>
              <a:rPr lang="en-US" altLang="zh-CN" dirty="0"/>
              <a:t>, </a:t>
            </a:r>
            <a:r>
              <a:rPr lang="en-US" dirty="0"/>
              <a:t>which is often encoded by </a:t>
            </a:r>
            <a:r>
              <a:rPr lang="en-US" b="1" dirty="0" err="1">
                <a:solidFill>
                  <a:srgbClr val="504FA1"/>
                </a:solidFill>
              </a:rPr>
              <a:t>Guobiao</a:t>
            </a:r>
            <a:r>
              <a:rPr lang="en-US" b="1" dirty="0">
                <a:solidFill>
                  <a:srgbClr val="504FA1"/>
                </a:solidFill>
              </a:rPr>
              <a:t> (GB) code</a:t>
            </a:r>
            <a:r>
              <a:rPr lang="en-US" dirty="0"/>
              <a:t>.</a:t>
            </a:r>
          </a:p>
          <a:p>
            <a:endParaRPr lang="en-HK" dirty="0"/>
          </a:p>
        </p:txBody>
      </p:sp>
    </p:spTree>
    <p:extLst>
      <p:ext uri="{BB962C8B-B14F-4D97-AF65-F5344CB8AC3E}">
        <p14:creationId xmlns:p14="http://schemas.microsoft.com/office/powerpoint/2010/main" val="411127421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Chinese</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70</a:t>
            </a:fld>
            <a:endParaRPr lang="en-US" dirty="0"/>
          </a:p>
        </p:txBody>
      </p:sp>
      <p:sp>
        <p:nvSpPr>
          <p:cNvPr id="4" name="Text Placeholder 3"/>
          <p:cNvSpPr>
            <a:spLocks noGrp="1"/>
          </p:cNvSpPr>
          <p:nvPr>
            <p:ph type="body" sz="quarter" idx="14"/>
          </p:nvPr>
        </p:nvSpPr>
        <p:spPr/>
        <p:txBody>
          <a:bodyPr/>
          <a:lstStyle/>
          <a:p>
            <a:r>
              <a:rPr lang="en-HK" dirty="0"/>
              <a:t>B</a:t>
            </a:r>
            <a:endParaRPr lang="en-US" dirty="0"/>
          </a:p>
        </p:txBody>
      </p:sp>
      <p:sp>
        <p:nvSpPr>
          <p:cNvPr id="5" name="Content Placeholder 4"/>
          <p:cNvSpPr>
            <a:spLocks noGrp="1"/>
          </p:cNvSpPr>
          <p:nvPr>
            <p:ph sz="quarter" idx="15"/>
          </p:nvPr>
        </p:nvSpPr>
        <p:spPr/>
        <p:txBody>
          <a:bodyPr/>
          <a:lstStyle/>
          <a:p>
            <a:r>
              <a:rPr lang="en-US" dirty="0"/>
              <a:t>Both encoding systems represent Chinese, but they are not interchangeable.</a:t>
            </a:r>
          </a:p>
          <a:p>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3223107519"/>
              </p:ext>
            </p:extLst>
          </p:nvPr>
        </p:nvGraphicFramePr>
        <p:xfrm>
          <a:off x="600076" y="2348441"/>
          <a:ext cx="10925175" cy="1381760"/>
        </p:xfrm>
        <a:graphic>
          <a:graphicData uri="http://schemas.openxmlformats.org/drawingml/2006/table">
            <a:tbl>
              <a:tblPr firstRow="1" bandRow="1">
                <a:tableStyleId>{5940675A-B579-460E-94D1-54222C63F5DA}</a:tableStyleId>
              </a:tblPr>
              <a:tblGrid>
                <a:gridCol w="3215600">
                  <a:extLst>
                    <a:ext uri="{9D8B030D-6E8A-4147-A177-3AD203B41FA5}">
                      <a16:colId xmlns:a16="http://schemas.microsoft.com/office/drawing/2014/main" val="20000"/>
                    </a:ext>
                  </a:extLst>
                </a:gridCol>
                <a:gridCol w="973530">
                  <a:extLst>
                    <a:ext uri="{9D8B030D-6E8A-4147-A177-3AD203B41FA5}">
                      <a16:colId xmlns:a16="http://schemas.microsoft.com/office/drawing/2014/main" val="20001"/>
                    </a:ext>
                  </a:extLst>
                </a:gridCol>
                <a:gridCol w="983365">
                  <a:extLst>
                    <a:ext uri="{9D8B030D-6E8A-4147-A177-3AD203B41FA5}">
                      <a16:colId xmlns:a16="http://schemas.microsoft.com/office/drawing/2014/main" val="20002"/>
                    </a:ext>
                  </a:extLst>
                </a:gridCol>
                <a:gridCol w="958865">
                  <a:extLst>
                    <a:ext uri="{9D8B030D-6E8A-4147-A177-3AD203B41FA5}">
                      <a16:colId xmlns:a16="http://schemas.microsoft.com/office/drawing/2014/main" val="20003"/>
                    </a:ext>
                  </a:extLst>
                </a:gridCol>
                <a:gridCol w="968529">
                  <a:extLst>
                    <a:ext uri="{9D8B030D-6E8A-4147-A177-3AD203B41FA5}">
                      <a16:colId xmlns:a16="http://schemas.microsoft.com/office/drawing/2014/main" val="20004"/>
                    </a:ext>
                  </a:extLst>
                </a:gridCol>
                <a:gridCol w="924362">
                  <a:extLst>
                    <a:ext uri="{9D8B030D-6E8A-4147-A177-3AD203B41FA5}">
                      <a16:colId xmlns:a16="http://schemas.microsoft.com/office/drawing/2014/main" val="20005"/>
                    </a:ext>
                  </a:extLst>
                </a:gridCol>
                <a:gridCol w="963697">
                  <a:extLst>
                    <a:ext uri="{9D8B030D-6E8A-4147-A177-3AD203B41FA5}">
                      <a16:colId xmlns:a16="http://schemas.microsoft.com/office/drawing/2014/main" val="20006"/>
                    </a:ext>
                  </a:extLst>
                </a:gridCol>
                <a:gridCol w="963697">
                  <a:extLst>
                    <a:ext uri="{9D8B030D-6E8A-4147-A177-3AD203B41FA5}">
                      <a16:colId xmlns:a16="http://schemas.microsoft.com/office/drawing/2014/main" val="20007"/>
                    </a:ext>
                  </a:extLst>
                </a:gridCol>
                <a:gridCol w="973530">
                  <a:extLst>
                    <a:ext uri="{9D8B030D-6E8A-4147-A177-3AD203B41FA5}">
                      <a16:colId xmlns:a16="http://schemas.microsoft.com/office/drawing/2014/main" val="20008"/>
                    </a:ext>
                  </a:extLst>
                </a:gridCol>
              </a:tblGrid>
              <a:tr h="370840">
                <a:tc>
                  <a:txBody>
                    <a:bodyPr/>
                    <a:lstStyle/>
                    <a:p>
                      <a:pPr algn="ctr"/>
                      <a:r>
                        <a:rPr lang="en-HK" b="1" dirty="0">
                          <a:solidFill>
                            <a:schemeClr val="bg1"/>
                          </a:solidFill>
                        </a:rPr>
                        <a:t>Code</a:t>
                      </a:r>
                    </a:p>
                    <a:p>
                      <a:pPr algn="ctr"/>
                      <a:r>
                        <a:rPr lang="en-US" b="1" dirty="0">
                          <a:solidFill>
                            <a:schemeClr val="bg1"/>
                          </a:solidFill>
                        </a:rPr>
                        <a:t>(in hexadecimal representation)</a:t>
                      </a:r>
                    </a:p>
                  </a:txBody>
                  <a:tcPr>
                    <a:lnL w="12700" cap="flat" cmpd="sng" algn="ctr">
                      <a:solidFill>
                        <a:srgbClr val="57A044"/>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algn="ctr"/>
                      <a:r>
                        <a:rPr lang="en-HK" b="1" dirty="0">
                          <a:solidFill>
                            <a:schemeClr val="bg1"/>
                          </a:solidFill>
                        </a:rPr>
                        <a:t>BD73</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BD58</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A874</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B2CE</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B1E0</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C2EB</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CFB5</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CDB3</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extLst>
                  <a:ext uri="{0D108BD9-81ED-4DB2-BD59-A6C34878D82A}">
                    <a16:rowId xmlns:a16="http://schemas.microsoft.com/office/drawing/2014/main" val="10000"/>
                  </a:ext>
                </a:extLst>
              </a:tr>
              <a:tr h="370840">
                <a:tc>
                  <a:txBody>
                    <a:bodyPr/>
                    <a:lstStyle/>
                    <a:p>
                      <a:pPr algn="ctr"/>
                      <a:r>
                        <a:rPr lang="en-US" b="1" dirty="0">
                          <a:solidFill>
                            <a:schemeClr val="bg1"/>
                          </a:solidFill>
                        </a:rPr>
                        <a:t>Character in Big-5 code</a:t>
                      </a: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r>
                        <a:rPr lang="zh-CN" altLang="en-US" dirty="0"/>
                        <a:t>編 </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zh-CN" altLang="en-US" dirty="0"/>
                        <a:t>碼</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zh-CN" altLang="en-US" dirty="0"/>
                        <a:t>系</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zh-CN" altLang="en-US" dirty="0"/>
                        <a:t>統</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zh-CN" altLang="en-US" dirty="0"/>
                        <a:t>晤</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zh-CN" altLang="en-US" dirty="0"/>
                        <a:t>鎢</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zh-CN" altLang="en-US" dirty="0"/>
                        <a:t>炵</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zh-CN" altLang="en-US" dirty="0"/>
                        <a:t>苀</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a:r>
                        <a:rPr lang="en-US" b="1" dirty="0">
                          <a:solidFill>
                            <a:schemeClr val="bg1"/>
                          </a:solidFill>
                        </a:rPr>
                        <a:t>Character in </a:t>
                      </a:r>
                      <a:r>
                        <a:rPr lang="en-US" b="1" dirty="0" err="1">
                          <a:solidFill>
                            <a:schemeClr val="bg1"/>
                          </a:solidFill>
                        </a:rPr>
                        <a:t>Guobiao</a:t>
                      </a:r>
                      <a:r>
                        <a:rPr lang="en-US" b="1" dirty="0">
                          <a:solidFill>
                            <a:schemeClr val="bg1"/>
                          </a:solidFill>
                        </a:rPr>
                        <a:t> (GB) code</a:t>
                      </a: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r>
                        <a:rPr lang="zh-CN" altLang="en-US" dirty="0"/>
                        <a:t>絪</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zh-CN" altLang="en-US" dirty="0"/>
                        <a:t>絏 </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US" dirty="0"/>
                        <a:t>╰</a:t>
                      </a: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zh-CN" altLang="en-US" dirty="0"/>
                        <a:t>参</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zh-CN" altLang="en-US" dirty="0"/>
                        <a:t>编</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zh-CN" altLang="en-US" dirty="0"/>
                        <a:t>码 </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zh-CN" altLang="en-US" dirty="0"/>
                        <a:t>系</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zh-CN" altLang="en-US" dirty="0"/>
                        <a:t>统</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63966813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Chinese</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71</a:t>
            </a:fld>
            <a:endParaRPr lang="en-US" dirty="0"/>
          </a:p>
        </p:txBody>
      </p:sp>
      <p:sp>
        <p:nvSpPr>
          <p:cNvPr id="4" name="Text Placeholder 3"/>
          <p:cNvSpPr>
            <a:spLocks noGrp="1"/>
          </p:cNvSpPr>
          <p:nvPr>
            <p:ph type="body" sz="quarter" idx="14"/>
          </p:nvPr>
        </p:nvSpPr>
        <p:spPr/>
        <p:txBody>
          <a:bodyPr/>
          <a:lstStyle/>
          <a:p>
            <a:r>
              <a:rPr lang="en-HK" dirty="0"/>
              <a:t>B</a:t>
            </a:r>
            <a:endParaRPr lang="en-US" dirty="0"/>
          </a:p>
        </p:txBody>
      </p:sp>
      <p:sp>
        <p:nvSpPr>
          <p:cNvPr id="5" name="Content Placeholder 4"/>
          <p:cNvSpPr>
            <a:spLocks noGrp="1"/>
          </p:cNvSpPr>
          <p:nvPr>
            <p:ph sz="quarter" idx="15"/>
          </p:nvPr>
        </p:nvSpPr>
        <p:spPr/>
        <p:txBody>
          <a:bodyPr/>
          <a:lstStyle/>
          <a:p>
            <a:r>
              <a:rPr lang="en-US" dirty="0"/>
              <a:t>If a text file or a website is encoded by Big-5 code, but is decoded by </a:t>
            </a:r>
            <a:r>
              <a:rPr lang="en-US" dirty="0" err="1"/>
              <a:t>Guobiao</a:t>
            </a:r>
            <a:r>
              <a:rPr lang="en-US" dirty="0"/>
              <a:t> code, instead of being translated to simplified Chinese, the text will be displayed as garbled text</a:t>
            </a:r>
            <a:r>
              <a:rPr lang="en-US" altLang="zh-CN" dirty="0"/>
              <a:t>.</a:t>
            </a:r>
            <a:endParaRPr lang="en-US" dirty="0"/>
          </a:p>
        </p:txBody>
      </p:sp>
      <p:pic>
        <p:nvPicPr>
          <p:cNvPr id="6" name="Picture 5"/>
          <p:cNvPicPr>
            <a:picLocks noChangeAspect="1"/>
          </p:cNvPicPr>
          <p:nvPr/>
        </p:nvPicPr>
        <p:blipFill>
          <a:blip r:embed="rId2"/>
          <a:stretch>
            <a:fillRect/>
          </a:stretch>
        </p:blipFill>
        <p:spPr>
          <a:xfrm>
            <a:off x="2659274" y="2981325"/>
            <a:ext cx="6874651" cy="2624424"/>
          </a:xfrm>
          <a:prstGeom prst="rect">
            <a:avLst/>
          </a:prstGeom>
        </p:spPr>
      </p:pic>
    </p:spTree>
    <p:extLst>
      <p:ext uri="{BB962C8B-B14F-4D97-AF65-F5344CB8AC3E}">
        <p14:creationId xmlns:p14="http://schemas.microsoft.com/office/powerpoint/2010/main" val="157967288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Multi-languages</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72</a:t>
            </a:fld>
            <a:endParaRPr lang="en-US" dirty="0"/>
          </a:p>
        </p:txBody>
      </p:sp>
      <p:sp>
        <p:nvSpPr>
          <p:cNvPr id="4" name="Text Placeholder 3"/>
          <p:cNvSpPr>
            <a:spLocks noGrp="1"/>
          </p:cNvSpPr>
          <p:nvPr>
            <p:ph type="body" sz="quarter" idx="14"/>
          </p:nvPr>
        </p:nvSpPr>
        <p:spPr/>
        <p:txBody>
          <a:bodyPr/>
          <a:lstStyle/>
          <a:p>
            <a:r>
              <a:rPr lang="en-HK" dirty="0"/>
              <a:t>C</a:t>
            </a:r>
            <a:endParaRPr lang="en-US" dirty="0"/>
          </a:p>
        </p:txBody>
      </p:sp>
      <p:sp>
        <p:nvSpPr>
          <p:cNvPr id="5" name="Content Placeholder 4"/>
          <p:cNvSpPr>
            <a:spLocks noGrp="1"/>
          </p:cNvSpPr>
          <p:nvPr>
            <p:ph sz="quarter" idx="15"/>
          </p:nvPr>
        </p:nvSpPr>
        <p:spPr/>
        <p:txBody>
          <a:bodyPr/>
          <a:lstStyle/>
          <a:p>
            <a:r>
              <a:rPr lang="en-US" dirty="0"/>
              <a:t>A character encoding system named </a:t>
            </a:r>
            <a:r>
              <a:rPr lang="en-US" b="1" dirty="0">
                <a:solidFill>
                  <a:srgbClr val="504FA1"/>
                </a:solidFill>
              </a:rPr>
              <a:t>Unicode</a:t>
            </a:r>
            <a:r>
              <a:rPr lang="en-US" dirty="0"/>
              <a:t> is used to represent multiple languages.</a:t>
            </a:r>
          </a:p>
          <a:p>
            <a:endParaRPr lang="en-HK" dirty="0"/>
          </a:p>
          <a:p>
            <a:r>
              <a:rPr lang="en-US" dirty="0"/>
              <a:t>Unicode is made for representing all the existing languages, like Korean, Arabic, Thai, Russian, etc. </a:t>
            </a:r>
          </a:p>
        </p:txBody>
      </p:sp>
      <p:graphicFrame>
        <p:nvGraphicFramePr>
          <p:cNvPr id="6" name="Table 5"/>
          <p:cNvGraphicFramePr>
            <a:graphicFrameLocks noGrp="1"/>
          </p:cNvGraphicFramePr>
          <p:nvPr>
            <p:extLst>
              <p:ext uri="{D42A27DB-BD31-4B8C-83A1-F6EECF244321}">
                <p14:modId xmlns:p14="http://schemas.microsoft.com/office/powerpoint/2010/main" val="1633128549"/>
              </p:ext>
            </p:extLst>
          </p:nvPr>
        </p:nvGraphicFramePr>
        <p:xfrm>
          <a:off x="600076" y="3348566"/>
          <a:ext cx="10925175" cy="1010920"/>
        </p:xfrm>
        <a:graphic>
          <a:graphicData uri="http://schemas.openxmlformats.org/drawingml/2006/table">
            <a:tbl>
              <a:tblPr firstRow="1" bandRow="1">
                <a:tableStyleId>{5940675A-B579-460E-94D1-54222C63F5DA}</a:tableStyleId>
              </a:tblPr>
              <a:tblGrid>
                <a:gridCol w="3215600">
                  <a:extLst>
                    <a:ext uri="{9D8B030D-6E8A-4147-A177-3AD203B41FA5}">
                      <a16:colId xmlns:a16="http://schemas.microsoft.com/office/drawing/2014/main" val="20000"/>
                    </a:ext>
                  </a:extLst>
                </a:gridCol>
                <a:gridCol w="973530">
                  <a:extLst>
                    <a:ext uri="{9D8B030D-6E8A-4147-A177-3AD203B41FA5}">
                      <a16:colId xmlns:a16="http://schemas.microsoft.com/office/drawing/2014/main" val="20001"/>
                    </a:ext>
                  </a:extLst>
                </a:gridCol>
                <a:gridCol w="983365">
                  <a:extLst>
                    <a:ext uri="{9D8B030D-6E8A-4147-A177-3AD203B41FA5}">
                      <a16:colId xmlns:a16="http://schemas.microsoft.com/office/drawing/2014/main" val="20002"/>
                    </a:ext>
                  </a:extLst>
                </a:gridCol>
                <a:gridCol w="958865">
                  <a:extLst>
                    <a:ext uri="{9D8B030D-6E8A-4147-A177-3AD203B41FA5}">
                      <a16:colId xmlns:a16="http://schemas.microsoft.com/office/drawing/2014/main" val="20003"/>
                    </a:ext>
                  </a:extLst>
                </a:gridCol>
                <a:gridCol w="968529">
                  <a:extLst>
                    <a:ext uri="{9D8B030D-6E8A-4147-A177-3AD203B41FA5}">
                      <a16:colId xmlns:a16="http://schemas.microsoft.com/office/drawing/2014/main" val="20004"/>
                    </a:ext>
                  </a:extLst>
                </a:gridCol>
                <a:gridCol w="924362">
                  <a:extLst>
                    <a:ext uri="{9D8B030D-6E8A-4147-A177-3AD203B41FA5}">
                      <a16:colId xmlns:a16="http://schemas.microsoft.com/office/drawing/2014/main" val="20005"/>
                    </a:ext>
                  </a:extLst>
                </a:gridCol>
                <a:gridCol w="963697">
                  <a:extLst>
                    <a:ext uri="{9D8B030D-6E8A-4147-A177-3AD203B41FA5}">
                      <a16:colId xmlns:a16="http://schemas.microsoft.com/office/drawing/2014/main" val="20006"/>
                    </a:ext>
                  </a:extLst>
                </a:gridCol>
                <a:gridCol w="963697">
                  <a:extLst>
                    <a:ext uri="{9D8B030D-6E8A-4147-A177-3AD203B41FA5}">
                      <a16:colId xmlns:a16="http://schemas.microsoft.com/office/drawing/2014/main" val="20007"/>
                    </a:ext>
                  </a:extLst>
                </a:gridCol>
                <a:gridCol w="973530">
                  <a:extLst>
                    <a:ext uri="{9D8B030D-6E8A-4147-A177-3AD203B41FA5}">
                      <a16:colId xmlns:a16="http://schemas.microsoft.com/office/drawing/2014/main" val="20008"/>
                    </a:ext>
                  </a:extLst>
                </a:gridCol>
              </a:tblGrid>
              <a:tr h="370840">
                <a:tc>
                  <a:txBody>
                    <a:bodyPr/>
                    <a:lstStyle/>
                    <a:p>
                      <a:pPr algn="ctr"/>
                      <a:r>
                        <a:rPr lang="en-HK" b="1" dirty="0">
                          <a:solidFill>
                            <a:schemeClr val="bg1"/>
                          </a:solidFill>
                        </a:rPr>
                        <a:t>Code</a:t>
                      </a:r>
                    </a:p>
                    <a:p>
                      <a:pPr algn="ctr"/>
                      <a:r>
                        <a:rPr lang="en-US" b="1" dirty="0">
                          <a:solidFill>
                            <a:schemeClr val="bg1"/>
                          </a:solidFill>
                        </a:rPr>
                        <a:t>(in hexadecimal representation)</a:t>
                      </a:r>
                    </a:p>
                  </a:txBody>
                  <a:tcPr>
                    <a:lnL w="12700" cap="flat" cmpd="sng" algn="ctr">
                      <a:solidFill>
                        <a:srgbClr val="57A044"/>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algn="ctr"/>
                      <a:r>
                        <a:rPr lang="en-HK" b="1" dirty="0">
                          <a:solidFill>
                            <a:schemeClr val="bg1"/>
                          </a:solidFill>
                        </a:rPr>
                        <a:t>7DE8</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78DC</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7CFB</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7D71</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7F16</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7801</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7CFB</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7EDF</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extLst>
                  <a:ext uri="{0D108BD9-81ED-4DB2-BD59-A6C34878D82A}">
                    <a16:rowId xmlns:a16="http://schemas.microsoft.com/office/drawing/2014/main" val="10000"/>
                  </a:ext>
                </a:extLst>
              </a:tr>
              <a:tr h="370840">
                <a:tc>
                  <a:txBody>
                    <a:bodyPr/>
                    <a:lstStyle/>
                    <a:p>
                      <a:pPr algn="ctr"/>
                      <a:r>
                        <a:rPr lang="en-US" b="1" dirty="0">
                          <a:solidFill>
                            <a:schemeClr val="bg1"/>
                          </a:solidFill>
                        </a:rPr>
                        <a:t>Character in</a:t>
                      </a:r>
                      <a:r>
                        <a:rPr lang="en-US" b="1" baseline="0" dirty="0">
                          <a:solidFill>
                            <a:schemeClr val="bg1"/>
                          </a:solidFill>
                        </a:rPr>
                        <a:t> Unicode</a:t>
                      </a:r>
                      <a:endParaRPr lang="en-US" b="1" dirty="0">
                        <a:solidFill>
                          <a:schemeClr val="bg1"/>
                        </a:solidFill>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zh-CN" altLang="en-US" dirty="0"/>
                        <a:t>編 </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zh-CN" altLang="en-US" dirty="0"/>
                        <a:t>碼</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zh-CN" altLang="en-US" dirty="0"/>
                        <a:t>系</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zh-CN" altLang="en-US" dirty="0"/>
                        <a:t>統</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zh-CN" altLang="en-US" dirty="0"/>
                        <a:t>编</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zh-CN" altLang="en-US" dirty="0"/>
                        <a:t>码</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zh-CN" altLang="en-US" dirty="0"/>
                        <a:t>系</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dirty="0"/>
                        <a:t>统</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90993444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Multi-languages</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73</a:t>
            </a:fld>
            <a:endParaRPr lang="en-US" dirty="0"/>
          </a:p>
        </p:txBody>
      </p:sp>
      <p:sp>
        <p:nvSpPr>
          <p:cNvPr id="4" name="Text Placeholder 3"/>
          <p:cNvSpPr>
            <a:spLocks noGrp="1"/>
          </p:cNvSpPr>
          <p:nvPr>
            <p:ph type="body" sz="quarter" idx="14"/>
          </p:nvPr>
        </p:nvSpPr>
        <p:spPr/>
        <p:txBody>
          <a:bodyPr/>
          <a:lstStyle/>
          <a:p>
            <a:r>
              <a:rPr lang="en-HK" dirty="0"/>
              <a:t>C</a:t>
            </a:r>
            <a:endParaRPr lang="en-US" dirty="0"/>
          </a:p>
        </p:txBody>
      </p:sp>
      <p:sp>
        <p:nvSpPr>
          <p:cNvPr id="5" name="Content Placeholder 4"/>
          <p:cNvSpPr>
            <a:spLocks noGrp="1"/>
          </p:cNvSpPr>
          <p:nvPr>
            <p:ph sz="quarter" idx="15"/>
          </p:nvPr>
        </p:nvSpPr>
        <p:spPr/>
        <p:txBody>
          <a:bodyPr/>
          <a:lstStyle/>
          <a:p>
            <a:r>
              <a:rPr lang="en-US" dirty="0"/>
              <a:t>Due to the enormous number of Unicode characters, Unicode may use up to 4 bytes to represent a character. </a:t>
            </a:r>
          </a:p>
          <a:p>
            <a:r>
              <a:rPr lang="en-US" dirty="0"/>
              <a:t>It uses variable-width encoding, which allows codes of different lengths to be used to encode different characters. </a:t>
            </a:r>
          </a:p>
          <a:p>
            <a:endParaRPr lang="en-US" dirty="0"/>
          </a:p>
          <a:p>
            <a:r>
              <a:rPr lang="en-US" dirty="0"/>
              <a:t>Unicode characters may take 1 to 4 bytes, depending on the languages.</a:t>
            </a:r>
          </a:p>
        </p:txBody>
      </p:sp>
      <p:graphicFrame>
        <p:nvGraphicFramePr>
          <p:cNvPr id="8" name="Table 7"/>
          <p:cNvGraphicFramePr>
            <a:graphicFrameLocks noGrp="1"/>
          </p:cNvGraphicFramePr>
          <p:nvPr>
            <p:extLst>
              <p:ext uri="{D42A27DB-BD31-4B8C-83A1-F6EECF244321}">
                <p14:modId xmlns:p14="http://schemas.microsoft.com/office/powerpoint/2010/main" val="1282452843"/>
              </p:ext>
            </p:extLst>
          </p:nvPr>
        </p:nvGraphicFramePr>
        <p:xfrm>
          <a:off x="1718775" y="4435000"/>
          <a:ext cx="8596799" cy="1854200"/>
        </p:xfrm>
        <a:graphic>
          <a:graphicData uri="http://schemas.openxmlformats.org/drawingml/2006/table">
            <a:tbl>
              <a:tblPr firstRow="1" bandRow="1">
                <a:tableStyleId>{5940675A-B579-460E-94D1-54222C63F5DA}</a:tableStyleId>
              </a:tblPr>
              <a:tblGrid>
                <a:gridCol w="2967513">
                  <a:extLst>
                    <a:ext uri="{9D8B030D-6E8A-4147-A177-3AD203B41FA5}">
                      <a16:colId xmlns:a16="http://schemas.microsoft.com/office/drawing/2014/main" val="20000"/>
                    </a:ext>
                  </a:extLst>
                </a:gridCol>
                <a:gridCol w="2814643">
                  <a:extLst>
                    <a:ext uri="{9D8B030D-6E8A-4147-A177-3AD203B41FA5}">
                      <a16:colId xmlns:a16="http://schemas.microsoft.com/office/drawing/2014/main" val="20001"/>
                    </a:ext>
                  </a:extLst>
                </a:gridCol>
                <a:gridCol w="2814643">
                  <a:extLst>
                    <a:ext uri="{9D8B030D-6E8A-4147-A177-3AD203B41FA5}">
                      <a16:colId xmlns:a16="http://schemas.microsoft.com/office/drawing/2014/main" val="20002"/>
                    </a:ext>
                  </a:extLst>
                </a:gridCol>
              </a:tblGrid>
              <a:tr h="370840">
                <a:tc>
                  <a:txBody>
                    <a:bodyPr/>
                    <a:lstStyle/>
                    <a:p>
                      <a:pPr algn="ctr"/>
                      <a:r>
                        <a:rPr lang="en-HK" b="1" dirty="0">
                          <a:solidFill>
                            <a:schemeClr val="bg1"/>
                          </a:solidFill>
                        </a:rPr>
                        <a:t>Language</a:t>
                      </a:r>
                      <a:endParaRPr lang="en-US" b="1" dirty="0">
                        <a:solidFill>
                          <a:schemeClr val="bg1"/>
                        </a:solidFill>
                      </a:endParaRPr>
                    </a:p>
                  </a:txBody>
                  <a:tcPr>
                    <a:lnL w="12700" cap="flat" cmpd="sng" algn="ctr">
                      <a:solidFill>
                        <a:srgbClr val="57A044"/>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algn="ctr"/>
                      <a:r>
                        <a:rPr lang="en-HK" b="1" dirty="0">
                          <a:solidFill>
                            <a:schemeClr val="bg1"/>
                          </a:solidFill>
                        </a:rPr>
                        <a:t>Character</a:t>
                      </a:r>
                      <a:r>
                        <a:rPr lang="en-HK" b="1" baseline="0" dirty="0">
                          <a:solidFill>
                            <a:schemeClr val="bg1"/>
                          </a:solidFill>
                        </a:rPr>
                        <a:t> encoding system</a:t>
                      </a:r>
                      <a:endParaRPr lang="en-US" b="1"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Size per character</a:t>
                      </a:r>
                      <a:endParaRPr lang="en-US" b="1"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extLst>
                  <a:ext uri="{0D108BD9-81ED-4DB2-BD59-A6C34878D82A}">
                    <a16:rowId xmlns:a16="http://schemas.microsoft.com/office/drawing/2014/main" val="10000"/>
                  </a:ext>
                </a:extLst>
              </a:tr>
              <a:tr h="370840">
                <a:tc>
                  <a:txBody>
                    <a:bodyPr/>
                    <a:lstStyle/>
                    <a:p>
                      <a:pPr algn="ctr"/>
                      <a:r>
                        <a:rPr lang="en-HK" b="1" dirty="0">
                          <a:solidFill>
                            <a:schemeClr val="bg1"/>
                          </a:solidFill>
                        </a:rPr>
                        <a:t>English</a:t>
                      </a:r>
                      <a:endParaRPr lang="en-US" b="1" dirty="0">
                        <a:solidFill>
                          <a:schemeClr val="bg1"/>
                        </a:solidFill>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r>
                        <a:rPr lang="en-HK" dirty="0"/>
                        <a:t>ASCII</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HK" dirty="0"/>
                        <a:t>7 bits to 1 byte</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a:r>
                        <a:rPr lang="en-HK" b="1" dirty="0">
                          <a:solidFill>
                            <a:schemeClr val="bg1"/>
                          </a:solidFill>
                        </a:rPr>
                        <a:t>Traditional Chinese</a:t>
                      </a:r>
                      <a:endParaRPr lang="en-US" b="1" dirty="0">
                        <a:solidFill>
                          <a:schemeClr val="bg1"/>
                        </a:solidFill>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r>
                        <a:rPr lang="en-HK" dirty="0"/>
                        <a:t>Big-5 code</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rowSpan="2">
                  <a:txBody>
                    <a:bodyPr/>
                    <a:lstStyle/>
                    <a:p>
                      <a:r>
                        <a:rPr lang="en-HK" dirty="0"/>
                        <a:t>2 bytes</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en-HK" b="1" dirty="0">
                          <a:solidFill>
                            <a:schemeClr val="bg1"/>
                          </a:solidFill>
                        </a:rPr>
                        <a:t>Simplified Chinese</a:t>
                      </a:r>
                      <a:endParaRPr lang="en-US" b="1" dirty="0">
                        <a:solidFill>
                          <a:schemeClr val="bg1"/>
                        </a:solidFill>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r>
                        <a:rPr lang="en-HK" dirty="0" err="1"/>
                        <a:t>Guobiao</a:t>
                      </a:r>
                      <a:r>
                        <a:rPr lang="en-HK" dirty="0"/>
                        <a:t> (GB) code</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vMerge="1">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algn="ctr"/>
                      <a:r>
                        <a:rPr lang="en-HK" b="1" dirty="0">
                          <a:solidFill>
                            <a:schemeClr val="bg1"/>
                          </a:solidFill>
                        </a:rPr>
                        <a:t>Most languages in the world</a:t>
                      </a:r>
                      <a:endParaRPr lang="en-US" b="1" dirty="0">
                        <a:solidFill>
                          <a:schemeClr val="bg1"/>
                        </a:solidFill>
                      </a:endParaRP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r>
                        <a:rPr lang="en-HK" dirty="0"/>
                        <a:t>Unicode</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HK" dirty="0"/>
                        <a:t>1 to 4 bytes</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01416972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457200" indent="-457200">
              <a:buAutoNum type="arabicPeriod"/>
            </a:pPr>
            <a:r>
              <a:rPr lang="en-US" dirty="0"/>
              <a:t>Which of the following statements about Unicode, ASCII and Big-5 code is/are correct?</a:t>
            </a:r>
            <a:br>
              <a:rPr lang="en-US" dirty="0"/>
            </a:br>
            <a:endParaRPr lang="en-US" dirty="0"/>
          </a:p>
          <a:p>
            <a:pPr marL="1257300" lvl="2" indent="-342900">
              <a:buSzPct val="100000"/>
              <a:buAutoNum type="arabicParenBoth"/>
            </a:pPr>
            <a:r>
              <a:rPr lang="en-HK" sz="2000" dirty="0"/>
              <a:t>Among the three character encoding systems, ASCII has the smallest size of character set.</a:t>
            </a:r>
          </a:p>
          <a:p>
            <a:pPr marL="1257300" lvl="2" indent="-342900">
              <a:buSzPct val="100000"/>
              <a:buAutoNum type="arabicParenBoth"/>
            </a:pPr>
            <a:r>
              <a:rPr lang="en-HK" sz="2000" dirty="0"/>
              <a:t>Big-5 code does not support English letters.</a:t>
            </a:r>
          </a:p>
          <a:p>
            <a:pPr marL="1257300" lvl="2" indent="-342900">
              <a:buSzPct val="100000"/>
              <a:buAutoNum type="arabicParenBoth"/>
            </a:pPr>
            <a:r>
              <a:rPr lang="en-HK" sz="2000" dirty="0"/>
              <a:t>Unicode uses 4 bytes to store every character.</a:t>
            </a:r>
          </a:p>
          <a:p>
            <a:pPr lvl="2">
              <a:buSzPct val="100000"/>
            </a:pPr>
            <a:endParaRPr lang="en-HK" sz="2000" dirty="0"/>
          </a:p>
          <a:p>
            <a:pPr marL="914400" lvl="1" indent="-457200">
              <a:buSzPct val="100000"/>
              <a:buAutoNum type="alphaUcPeriod"/>
            </a:pPr>
            <a:r>
              <a:rPr lang="en-HK" sz="2200" dirty="0"/>
              <a:t>(1) only</a:t>
            </a:r>
          </a:p>
          <a:p>
            <a:pPr marL="914400" lvl="1" indent="-457200">
              <a:buSzPct val="100000"/>
              <a:buAutoNum type="alphaUcPeriod"/>
            </a:pPr>
            <a:r>
              <a:rPr lang="en-HK" sz="2200" dirty="0"/>
              <a:t>(2) only</a:t>
            </a:r>
          </a:p>
          <a:p>
            <a:pPr marL="914400" lvl="1" indent="-457200">
              <a:buSzPct val="100000"/>
              <a:buAutoNum type="alphaUcPeriod"/>
            </a:pPr>
            <a:r>
              <a:rPr lang="en-HK" sz="2200" dirty="0"/>
              <a:t>(1) and (3) only</a:t>
            </a:r>
          </a:p>
          <a:p>
            <a:pPr marL="914400" lvl="1" indent="-457200">
              <a:buSzPct val="100000"/>
              <a:buAutoNum type="alphaUcPeriod"/>
            </a:pPr>
            <a:r>
              <a:rPr lang="en-HK" sz="2200" dirty="0"/>
              <a:t>(2) and (3) only</a:t>
            </a:r>
            <a:endParaRPr lang="en-US" sz="2200" dirty="0"/>
          </a:p>
        </p:txBody>
      </p:sp>
      <p:sp>
        <p:nvSpPr>
          <p:cNvPr id="3" name="Slide Number Placeholder 2"/>
          <p:cNvSpPr>
            <a:spLocks noGrp="1"/>
          </p:cNvSpPr>
          <p:nvPr>
            <p:ph type="sldNum" sz="quarter" idx="12"/>
          </p:nvPr>
        </p:nvSpPr>
        <p:spPr/>
        <p:txBody>
          <a:bodyPr/>
          <a:lstStyle/>
          <a:p>
            <a:fld id="{6D22F896-40B5-4ADD-8801-0D06FADFA095}" type="slidenum">
              <a:rPr lang="en-US" smtClean="0"/>
              <a:t>74</a:t>
            </a:fld>
            <a:endParaRPr lang="en-US" dirty="0"/>
          </a:p>
        </p:txBody>
      </p:sp>
      <p:sp>
        <p:nvSpPr>
          <p:cNvPr id="4" name="Text Placeholder 3"/>
          <p:cNvSpPr>
            <a:spLocks noGrp="1"/>
          </p:cNvSpPr>
          <p:nvPr>
            <p:ph type="body" sz="quarter" idx="13"/>
          </p:nvPr>
        </p:nvSpPr>
        <p:spPr/>
        <p:txBody>
          <a:bodyPr/>
          <a:lstStyle/>
          <a:p>
            <a:r>
              <a:rPr lang="en-HK" dirty="0"/>
              <a:t>3.4</a:t>
            </a:r>
            <a:endParaRPr lang="en-US" dirty="0"/>
          </a:p>
        </p:txBody>
      </p:sp>
    </p:spTree>
    <p:extLst>
      <p:ext uri="{BB962C8B-B14F-4D97-AF65-F5344CB8AC3E}">
        <p14:creationId xmlns:p14="http://schemas.microsoft.com/office/powerpoint/2010/main" val="418636835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342900" indent="-342900">
              <a:buSzPct val="100000"/>
              <a:buFont typeface="Noto Sans CJK TC Regular" panose="020B0500000000000000" pitchFamily="34" charset="-128"/>
              <a:buChar char="◣"/>
            </a:pPr>
            <a:r>
              <a:rPr lang="en-HK" b="1" dirty="0">
                <a:solidFill>
                  <a:srgbClr val="37A3D4"/>
                </a:solidFill>
              </a:rPr>
              <a:t>Analysis</a:t>
            </a:r>
          </a:p>
          <a:p>
            <a:pPr>
              <a:buSzPct val="100000"/>
            </a:pPr>
            <a:r>
              <a:rPr lang="en-US" dirty="0"/>
              <a:t>ASCII does not support languages other than English. Big-5 code supports English and traditional Chinese characters. Unicode supports more than one language. Therefore, (1) is correct and (2) is incorrect.</a:t>
            </a:r>
          </a:p>
          <a:p>
            <a:pPr>
              <a:buSzPct val="100000"/>
            </a:pPr>
            <a:r>
              <a:rPr lang="en-US" dirty="0"/>
              <a:t>Unicode uses variable-width encoding, which allows codes of different lengths to be used to encode different characters. The size of a Unicode character varies from 1 to 4 bytes. Thus, (3) is incorrect.</a:t>
            </a:r>
          </a:p>
          <a:p>
            <a:pPr>
              <a:buSzPct val="100000"/>
            </a:pPr>
            <a:endParaRPr lang="en-HK" b="1" dirty="0">
              <a:solidFill>
                <a:srgbClr val="37A3D4"/>
              </a:solidFill>
            </a:endParaRPr>
          </a:p>
          <a:p>
            <a:pPr marL="342900" indent="-342900">
              <a:buSzPct val="100000"/>
              <a:buFont typeface="Noto Sans CJK TC Regular" panose="020B0500000000000000" pitchFamily="34" charset="-128"/>
              <a:buChar char="◣"/>
            </a:pPr>
            <a:r>
              <a:rPr lang="en-HK" b="1" dirty="0">
                <a:solidFill>
                  <a:srgbClr val="37A3D4"/>
                </a:solidFill>
              </a:rPr>
              <a:t>Solution</a:t>
            </a:r>
          </a:p>
          <a:p>
            <a:pPr>
              <a:buSzPct val="100000"/>
            </a:pPr>
            <a:r>
              <a:rPr lang="en-US" dirty="0"/>
              <a:t>The answer is A.</a:t>
            </a:r>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75</a:t>
            </a:fld>
            <a:endParaRPr lang="en-US" dirty="0"/>
          </a:p>
        </p:txBody>
      </p:sp>
      <p:sp>
        <p:nvSpPr>
          <p:cNvPr id="4" name="Text Placeholder 3"/>
          <p:cNvSpPr>
            <a:spLocks noGrp="1"/>
          </p:cNvSpPr>
          <p:nvPr>
            <p:ph type="body" sz="quarter" idx="13"/>
          </p:nvPr>
        </p:nvSpPr>
        <p:spPr/>
        <p:txBody>
          <a:bodyPr/>
          <a:lstStyle/>
          <a:p>
            <a:r>
              <a:rPr lang="en-HK" dirty="0"/>
              <a:t>3.4</a:t>
            </a:r>
            <a:endParaRPr lang="en-US" dirty="0"/>
          </a:p>
        </p:txBody>
      </p:sp>
    </p:spTree>
    <p:extLst>
      <p:ext uri="{BB962C8B-B14F-4D97-AF65-F5344CB8AC3E}">
        <p14:creationId xmlns:p14="http://schemas.microsoft.com/office/powerpoint/2010/main" val="62370237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Font typeface="+mj-lt"/>
              <a:buAutoNum type="arabicPeriod" startAt="2"/>
            </a:pPr>
            <a:r>
              <a:rPr lang="en-US" dirty="0"/>
              <a:t>A device uses 8 bits to store an integer and 16 bits to store a character. To store the text string “3D printer”, how many bytes are needed?</a:t>
            </a:r>
          </a:p>
          <a:p>
            <a:endParaRPr lang="en-US" dirty="0"/>
          </a:p>
          <a:p>
            <a:pPr marL="800100" lvl="1" indent="-342900">
              <a:buSzPct val="100000"/>
              <a:buAutoNum type="alphaUcPeriod"/>
            </a:pPr>
            <a:r>
              <a:rPr lang="en-HK" sz="2000" dirty="0"/>
              <a:t>17 bytes</a:t>
            </a:r>
          </a:p>
          <a:p>
            <a:pPr marL="800100" lvl="1" indent="-342900">
              <a:buSzPct val="100000"/>
              <a:buAutoNum type="alphaUcPeriod"/>
            </a:pPr>
            <a:r>
              <a:rPr lang="en-HK" sz="2000" dirty="0"/>
              <a:t>18 bytes</a:t>
            </a:r>
          </a:p>
          <a:p>
            <a:pPr marL="800100" lvl="1" indent="-342900">
              <a:buSzPct val="100000"/>
              <a:buAutoNum type="alphaUcPeriod"/>
            </a:pPr>
            <a:r>
              <a:rPr lang="en-HK" sz="2000" dirty="0"/>
              <a:t>19 bytes</a:t>
            </a:r>
          </a:p>
          <a:p>
            <a:pPr marL="800100" lvl="1" indent="-342900">
              <a:buSzPct val="100000"/>
              <a:buAutoNum type="alphaUcPeriod"/>
            </a:pPr>
            <a:r>
              <a:rPr lang="en-HK" sz="2000" dirty="0"/>
              <a:t>20 bytes</a:t>
            </a:r>
          </a:p>
        </p:txBody>
      </p:sp>
      <p:sp>
        <p:nvSpPr>
          <p:cNvPr id="3" name="Slide Number Placeholder 2"/>
          <p:cNvSpPr>
            <a:spLocks noGrp="1"/>
          </p:cNvSpPr>
          <p:nvPr>
            <p:ph type="sldNum" sz="quarter" idx="12"/>
          </p:nvPr>
        </p:nvSpPr>
        <p:spPr/>
        <p:txBody>
          <a:bodyPr/>
          <a:lstStyle/>
          <a:p>
            <a:fld id="{6D22F896-40B5-4ADD-8801-0D06FADFA095}" type="slidenum">
              <a:rPr lang="en-US" smtClean="0"/>
              <a:t>76</a:t>
            </a:fld>
            <a:endParaRPr lang="en-US" dirty="0"/>
          </a:p>
        </p:txBody>
      </p:sp>
      <p:sp>
        <p:nvSpPr>
          <p:cNvPr id="4" name="Text Placeholder 3"/>
          <p:cNvSpPr>
            <a:spLocks noGrp="1"/>
          </p:cNvSpPr>
          <p:nvPr>
            <p:ph type="body" sz="quarter" idx="13"/>
          </p:nvPr>
        </p:nvSpPr>
        <p:spPr/>
        <p:txBody>
          <a:bodyPr/>
          <a:lstStyle/>
          <a:p>
            <a:r>
              <a:rPr lang="en-HK" dirty="0"/>
              <a:t>3.4</a:t>
            </a:r>
            <a:endParaRPr lang="en-US" dirty="0"/>
          </a:p>
        </p:txBody>
      </p:sp>
    </p:spTree>
    <p:extLst>
      <p:ext uri="{BB962C8B-B14F-4D97-AF65-F5344CB8AC3E}">
        <p14:creationId xmlns:p14="http://schemas.microsoft.com/office/powerpoint/2010/main" val="381347498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342900" indent="-342900">
              <a:buSzPct val="100000"/>
              <a:buFont typeface="Noto Sans CJK TC Regular" panose="020B0500000000000000" pitchFamily="34" charset="-128"/>
              <a:buChar char="◣"/>
            </a:pPr>
            <a:r>
              <a:rPr lang="en-HK" b="1" dirty="0">
                <a:solidFill>
                  <a:srgbClr val="37A3D4"/>
                </a:solidFill>
              </a:rPr>
              <a:t>Analysis</a:t>
            </a:r>
          </a:p>
          <a:p>
            <a:pPr>
              <a:buSzPct val="100000"/>
            </a:pPr>
            <a:r>
              <a:rPr lang="en-US" dirty="0"/>
              <a:t>“3D printer” is a text string, meaning that it consists of characters. The “3” in “3D printer” is a numeric character, not an integer, and thus it occupies 16 bits instead of 8 bits. The whitespace after “3D” still counts as a character.</a:t>
            </a:r>
          </a:p>
          <a:p>
            <a:pPr>
              <a:buSzPct val="100000"/>
            </a:pPr>
            <a:r>
              <a:rPr lang="en-US" dirty="0"/>
              <a:t>As a result, there are 10 characters in the text string, occupying 16 × 10 bits = 160 bits = 20 bytes in total.</a:t>
            </a:r>
          </a:p>
          <a:p>
            <a:pPr>
              <a:buSzPct val="100000"/>
            </a:pPr>
            <a:endParaRPr lang="en-HK" b="1" dirty="0">
              <a:solidFill>
                <a:srgbClr val="37A3D4"/>
              </a:solidFill>
            </a:endParaRPr>
          </a:p>
          <a:p>
            <a:pPr marL="342900" indent="-342900">
              <a:buSzPct val="100000"/>
              <a:buFont typeface="Noto Sans CJK TC Regular" panose="020B0500000000000000" pitchFamily="34" charset="-128"/>
              <a:buChar char="◣"/>
            </a:pPr>
            <a:r>
              <a:rPr lang="en-HK" b="1" dirty="0">
                <a:solidFill>
                  <a:srgbClr val="37A3D4"/>
                </a:solidFill>
              </a:rPr>
              <a:t>Solution</a:t>
            </a:r>
          </a:p>
          <a:p>
            <a:pPr>
              <a:buSzPct val="100000"/>
            </a:pPr>
            <a:r>
              <a:rPr lang="en-US" dirty="0"/>
              <a:t>The answer is D.</a:t>
            </a:r>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77</a:t>
            </a:fld>
            <a:endParaRPr lang="en-US" dirty="0"/>
          </a:p>
        </p:txBody>
      </p:sp>
      <p:sp>
        <p:nvSpPr>
          <p:cNvPr id="4" name="Text Placeholder 3"/>
          <p:cNvSpPr>
            <a:spLocks noGrp="1"/>
          </p:cNvSpPr>
          <p:nvPr>
            <p:ph type="body" sz="quarter" idx="13"/>
          </p:nvPr>
        </p:nvSpPr>
        <p:spPr/>
        <p:txBody>
          <a:bodyPr/>
          <a:lstStyle/>
          <a:p>
            <a:r>
              <a:rPr lang="en-HK" dirty="0"/>
              <a:t>3.4</a:t>
            </a:r>
            <a:endParaRPr lang="en-US" dirty="0"/>
          </a:p>
        </p:txBody>
      </p:sp>
    </p:spTree>
    <p:extLst>
      <p:ext uri="{BB962C8B-B14F-4D97-AF65-F5344CB8AC3E}">
        <p14:creationId xmlns:p14="http://schemas.microsoft.com/office/powerpoint/2010/main" val="272791327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457200" indent="-457200">
              <a:buFont typeface="+mj-lt"/>
              <a:buAutoNum type="arabicPeriod" startAt="3"/>
            </a:pPr>
            <a:r>
              <a:rPr lang="en-US" dirty="0"/>
              <a:t>A device uses a hexadecimal code, ranging from 000 to FFF, to store a character. How many bytes are required to represent a text string of 6 characters?</a:t>
            </a:r>
          </a:p>
          <a:p>
            <a:endParaRPr lang="en-HK" dirty="0"/>
          </a:p>
          <a:p>
            <a:pPr marL="342900" indent="-342900">
              <a:buSzPct val="100000"/>
              <a:buFont typeface="Noto Sans CJK TC Regular" panose="020B0500000000000000" pitchFamily="34" charset="-128"/>
              <a:buChar char="◣"/>
            </a:pPr>
            <a:r>
              <a:rPr lang="en-HK" b="1" dirty="0">
                <a:solidFill>
                  <a:srgbClr val="37A3D4"/>
                </a:solidFill>
              </a:rPr>
              <a:t>Analysis</a:t>
            </a:r>
          </a:p>
          <a:p>
            <a:pPr>
              <a:buSzPct val="100000"/>
            </a:pPr>
            <a:r>
              <a:rPr lang="en-US" dirty="0"/>
              <a:t>Every digit in a hexadecimal code equals to 4 bits, as 24 = 16. Therefore, a 3-digit hexadecimal code takes 4 × 3 bits = 12 bits. 6 characters takes 12 × 6 bits = 72 bits = 72 ÷ 8 bytes = 9 bytes.</a:t>
            </a:r>
            <a:br>
              <a:rPr lang="en-US" dirty="0"/>
            </a:br>
            <a:endParaRPr lang="en-HK" b="1" dirty="0">
              <a:solidFill>
                <a:srgbClr val="37A3D4"/>
              </a:solidFill>
            </a:endParaRPr>
          </a:p>
          <a:p>
            <a:pPr marL="342900" indent="-342900">
              <a:buSzPct val="100000"/>
              <a:buFont typeface="Noto Sans CJK TC Regular" panose="020B0500000000000000" pitchFamily="34" charset="-128"/>
              <a:buChar char="◣"/>
            </a:pPr>
            <a:r>
              <a:rPr lang="en-HK" b="1" dirty="0">
                <a:solidFill>
                  <a:srgbClr val="37A3D4"/>
                </a:solidFill>
              </a:rPr>
              <a:t>Solution</a:t>
            </a:r>
          </a:p>
          <a:p>
            <a:pPr>
              <a:buSzPct val="100000"/>
            </a:pPr>
            <a:r>
              <a:rPr lang="sv-SE" dirty="0"/>
              <a:t>12 × 6 ÷ 8 = 9 bytes</a:t>
            </a:r>
            <a:endParaRPr lang="en-US" dirty="0"/>
          </a:p>
          <a:p>
            <a:pPr marL="457200" indent="-457200">
              <a:buAutoNum type="arabicPeriod"/>
            </a:pP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78</a:t>
            </a:fld>
            <a:endParaRPr lang="en-US" dirty="0"/>
          </a:p>
        </p:txBody>
      </p:sp>
      <p:sp>
        <p:nvSpPr>
          <p:cNvPr id="4" name="Text Placeholder 3"/>
          <p:cNvSpPr>
            <a:spLocks noGrp="1"/>
          </p:cNvSpPr>
          <p:nvPr>
            <p:ph type="body" sz="quarter" idx="13"/>
          </p:nvPr>
        </p:nvSpPr>
        <p:spPr/>
        <p:txBody>
          <a:bodyPr/>
          <a:lstStyle/>
          <a:p>
            <a:r>
              <a:rPr lang="en-HK" dirty="0"/>
              <a:t>3.4</a:t>
            </a:r>
            <a:endParaRPr lang="en-US" dirty="0"/>
          </a:p>
        </p:txBody>
      </p:sp>
    </p:spTree>
    <p:extLst>
      <p:ext uri="{BB962C8B-B14F-4D97-AF65-F5344CB8AC3E}">
        <p14:creationId xmlns:p14="http://schemas.microsoft.com/office/powerpoint/2010/main" val="230222870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HK" dirty="0"/>
              <a:t>Finish Checkpoint 3.4 on P. 87 of the textbook.</a:t>
            </a:r>
          </a:p>
          <a:p>
            <a:endParaRPr lang="en-HK" dirty="0"/>
          </a:p>
          <a:p>
            <a:pPr marL="457200" indent="-457200">
              <a:buAutoNum type="arabicPeriod"/>
            </a:pPr>
            <a:r>
              <a:rPr lang="en-HK" dirty="0">
                <a:solidFill>
                  <a:srgbClr val="FF0000"/>
                </a:solidFill>
              </a:rPr>
              <a:t>(a) </a:t>
            </a:r>
            <a:r>
              <a:rPr lang="en-US" dirty="0">
                <a:solidFill>
                  <a:srgbClr val="FF0000"/>
                </a:solidFill>
              </a:rPr>
              <a:t>Unicode. The data includes English, traditional and simplified Chinese. All three languages are supported by Unicode.</a:t>
            </a:r>
            <a:r>
              <a:rPr lang="en-HK" dirty="0">
                <a:solidFill>
                  <a:srgbClr val="FF0000"/>
                </a:solidFill>
              </a:rPr>
              <a:t> </a:t>
            </a:r>
          </a:p>
          <a:p>
            <a:pPr lvl="1"/>
            <a:r>
              <a:rPr lang="en-HK" sz="2000" dirty="0">
                <a:solidFill>
                  <a:srgbClr val="FF0000"/>
                </a:solidFill>
              </a:rPr>
              <a:t>(b)</a:t>
            </a:r>
            <a:r>
              <a:rPr lang="en-US" sz="2000" dirty="0">
                <a:solidFill>
                  <a:srgbClr val="FF0000"/>
                </a:solidFill>
              </a:rPr>
              <a:t> Any reasonable answer, such as Japanese, Arabic, Thai, Russian, etc.</a:t>
            </a:r>
            <a:endParaRPr lang="en-HK" sz="2000" dirty="0">
              <a:solidFill>
                <a:srgbClr val="FF0000"/>
              </a:solidFill>
            </a:endParaRPr>
          </a:p>
          <a:p>
            <a:endParaRPr lang="en-HK" dirty="0"/>
          </a:p>
          <a:p>
            <a:pPr marL="457200" indent="-457200">
              <a:buFont typeface="+mj-lt"/>
              <a:buAutoNum type="arabicPeriod" startAt="2"/>
            </a:pPr>
            <a:r>
              <a:rPr lang="en-US" dirty="0">
                <a:solidFill>
                  <a:srgbClr val="FF0000"/>
                </a:solidFill>
              </a:rPr>
              <a:t>Advantage: Unicode supports more languages. It can represent both traditional and simplified Chinese characters. </a:t>
            </a:r>
            <a:br>
              <a:rPr lang="en-US" dirty="0">
                <a:solidFill>
                  <a:srgbClr val="FF0000"/>
                </a:solidFill>
              </a:rPr>
            </a:br>
            <a:r>
              <a:rPr lang="en-US" dirty="0">
                <a:solidFill>
                  <a:srgbClr val="FF0000"/>
                </a:solidFill>
              </a:rPr>
              <a:t>Disadvantage: Unicode requires more storage space than Big-5 code does.</a:t>
            </a:r>
          </a:p>
        </p:txBody>
      </p:sp>
      <p:sp>
        <p:nvSpPr>
          <p:cNvPr id="3" name="Slide Number Placeholder 2"/>
          <p:cNvSpPr>
            <a:spLocks noGrp="1"/>
          </p:cNvSpPr>
          <p:nvPr>
            <p:ph type="sldNum" sz="quarter" idx="12"/>
          </p:nvPr>
        </p:nvSpPr>
        <p:spPr/>
        <p:txBody>
          <a:bodyPr/>
          <a:lstStyle/>
          <a:p>
            <a:fld id="{6D22F896-40B5-4ADD-8801-0D06FADFA095}" type="slidenum">
              <a:rPr lang="en-US" smtClean="0"/>
              <a:t>79</a:t>
            </a:fld>
            <a:endParaRPr lang="en-US" dirty="0"/>
          </a:p>
        </p:txBody>
      </p:sp>
      <p:sp>
        <p:nvSpPr>
          <p:cNvPr id="4" name="Text Placeholder 3"/>
          <p:cNvSpPr>
            <a:spLocks noGrp="1"/>
          </p:cNvSpPr>
          <p:nvPr>
            <p:ph type="body" sz="quarter" idx="13"/>
          </p:nvPr>
        </p:nvSpPr>
        <p:spPr/>
        <p:txBody>
          <a:bodyPr/>
          <a:lstStyle/>
          <a:p>
            <a:r>
              <a:rPr lang="en-HK" dirty="0"/>
              <a:t>3.4</a:t>
            </a:r>
            <a:endParaRPr lang="en-US" dirty="0"/>
          </a:p>
        </p:txBody>
      </p:sp>
    </p:spTree>
    <p:extLst>
      <p:ext uri="{BB962C8B-B14F-4D97-AF65-F5344CB8AC3E}">
        <p14:creationId xmlns:p14="http://schemas.microsoft.com/office/powerpoint/2010/main" val="3090958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50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fade">
                                      <p:cBhvr>
                                        <p:cTn id="12" dur="500"/>
                                        <p:tgtEl>
                                          <p:spTgt spid="2">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animEffect transition="in" filter="fade">
                                      <p:cBhvr>
                                        <p:cTn id="17"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Barcode Encoding</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80</a:t>
            </a:fld>
            <a:endParaRPr lang="en-US" dirty="0"/>
          </a:p>
        </p:txBody>
      </p:sp>
      <p:sp>
        <p:nvSpPr>
          <p:cNvPr id="4" name="Text Placeholder 3"/>
          <p:cNvSpPr>
            <a:spLocks noGrp="1"/>
          </p:cNvSpPr>
          <p:nvPr>
            <p:ph type="body" sz="quarter" idx="14"/>
          </p:nvPr>
        </p:nvSpPr>
        <p:spPr/>
        <p:txBody>
          <a:bodyPr/>
          <a:lstStyle/>
          <a:p>
            <a:r>
              <a:rPr lang="en-HK" dirty="0"/>
              <a:t>3.3</a:t>
            </a:r>
            <a:endParaRPr lang="en-US" dirty="0"/>
          </a:p>
        </p:txBody>
      </p:sp>
      <p:sp>
        <p:nvSpPr>
          <p:cNvPr id="5" name="Content Placeholder 4"/>
          <p:cNvSpPr>
            <a:spLocks noGrp="1"/>
          </p:cNvSpPr>
          <p:nvPr>
            <p:ph sz="quarter" idx="15"/>
          </p:nvPr>
        </p:nvSpPr>
        <p:spPr/>
        <p:txBody>
          <a:bodyPr/>
          <a:lstStyle/>
          <a:p>
            <a:r>
              <a:rPr lang="en-HK" dirty="0"/>
              <a:t>Can you give an example of where you have seen the following two images?</a:t>
            </a:r>
            <a:endParaRPr lang="en-US" dirty="0"/>
          </a:p>
        </p:txBody>
      </p:sp>
      <p:pic>
        <p:nvPicPr>
          <p:cNvPr id="6" name="Picture 5"/>
          <p:cNvPicPr>
            <a:picLocks noChangeAspect="1"/>
          </p:cNvPicPr>
          <p:nvPr/>
        </p:nvPicPr>
        <p:blipFill>
          <a:blip r:embed="rId2"/>
          <a:stretch>
            <a:fillRect/>
          </a:stretch>
        </p:blipFill>
        <p:spPr>
          <a:xfrm>
            <a:off x="1276310" y="3342108"/>
            <a:ext cx="3781466" cy="1851506"/>
          </a:xfrm>
          <a:prstGeom prst="rect">
            <a:avLst/>
          </a:prstGeom>
        </p:spPr>
      </p:pic>
      <p:pic>
        <p:nvPicPr>
          <p:cNvPr id="7" name="Picture 6"/>
          <p:cNvPicPr>
            <a:picLocks noChangeAspect="1"/>
          </p:cNvPicPr>
          <p:nvPr/>
        </p:nvPicPr>
        <p:blipFill>
          <a:blip r:embed="rId3"/>
          <a:stretch>
            <a:fillRect/>
          </a:stretch>
        </p:blipFill>
        <p:spPr>
          <a:xfrm>
            <a:off x="7410489" y="2652690"/>
            <a:ext cx="3245688" cy="3230342"/>
          </a:xfrm>
          <a:prstGeom prst="rect">
            <a:avLst/>
          </a:prstGeom>
        </p:spPr>
      </p:pic>
    </p:spTree>
    <p:extLst>
      <p:ext uri="{BB962C8B-B14F-4D97-AF65-F5344CB8AC3E}">
        <p14:creationId xmlns:p14="http://schemas.microsoft.com/office/powerpoint/2010/main" val="224002444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Barcode</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81</a:t>
            </a:fld>
            <a:endParaRPr lang="en-US" dirty="0"/>
          </a:p>
        </p:txBody>
      </p:sp>
      <p:sp>
        <p:nvSpPr>
          <p:cNvPr id="4" name="Text Placeholder 3"/>
          <p:cNvSpPr>
            <a:spLocks noGrp="1"/>
          </p:cNvSpPr>
          <p:nvPr>
            <p:ph type="body" sz="quarter" idx="14"/>
          </p:nvPr>
        </p:nvSpPr>
        <p:spPr/>
        <p:txBody>
          <a:bodyPr/>
          <a:lstStyle/>
          <a:p>
            <a:r>
              <a:rPr lang="en-HK" dirty="0"/>
              <a:t>A</a:t>
            </a:r>
            <a:endParaRPr lang="en-US" dirty="0"/>
          </a:p>
        </p:txBody>
      </p:sp>
      <p:sp>
        <p:nvSpPr>
          <p:cNvPr id="5" name="Content Placeholder 4"/>
          <p:cNvSpPr>
            <a:spLocks noGrp="1"/>
          </p:cNvSpPr>
          <p:nvPr>
            <p:ph sz="quarter" idx="15"/>
          </p:nvPr>
        </p:nvSpPr>
        <p:spPr/>
        <p:txBody>
          <a:bodyPr/>
          <a:lstStyle/>
          <a:p>
            <a:r>
              <a:rPr lang="en-US" b="1" dirty="0">
                <a:solidFill>
                  <a:srgbClr val="504FA1"/>
                </a:solidFill>
              </a:rPr>
              <a:t>Barcode</a:t>
            </a:r>
            <a:r>
              <a:rPr lang="en-US" dirty="0"/>
              <a:t> is widely used in our daily life. It can be seen on a packaged product sold in supermarkets or a coupon distributed by retailers.</a:t>
            </a:r>
          </a:p>
        </p:txBody>
      </p:sp>
      <p:pic>
        <p:nvPicPr>
          <p:cNvPr id="6" name="Picture 5"/>
          <p:cNvPicPr>
            <a:picLocks noChangeAspect="1"/>
          </p:cNvPicPr>
          <p:nvPr/>
        </p:nvPicPr>
        <p:blipFill>
          <a:blip r:embed="rId2"/>
          <a:stretch>
            <a:fillRect/>
          </a:stretch>
        </p:blipFill>
        <p:spPr>
          <a:xfrm>
            <a:off x="3986518" y="3176450"/>
            <a:ext cx="4220164" cy="1971950"/>
          </a:xfrm>
          <a:prstGeom prst="rect">
            <a:avLst/>
          </a:prstGeom>
        </p:spPr>
      </p:pic>
    </p:spTree>
    <p:extLst>
      <p:ext uri="{BB962C8B-B14F-4D97-AF65-F5344CB8AC3E}">
        <p14:creationId xmlns:p14="http://schemas.microsoft.com/office/powerpoint/2010/main" val="85936431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Barcode</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82</a:t>
            </a:fld>
            <a:endParaRPr lang="en-US" dirty="0"/>
          </a:p>
        </p:txBody>
      </p:sp>
      <p:sp>
        <p:nvSpPr>
          <p:cNvPr id="4" name="Text Placeholder 3"/>
          <p:cNvSpPr>
            <a:spLocks noGrp="1"/>
          </p:cNvSpPr>
          <p:nvPr>
            <p:ph type="body" sz="quarter" idx="14"/>
          </p:nvPr>
        </p:nvSpPr>
        <p:spPr/>
        <p:txBody>
          <a:bodyPr/>
          <a:lstStyle/>
          <a:p>
            <a:r>
              <a:rPr lang="en-HK" dirty="0"/>
              <a:t>A</a:t>
            </a:r>
            <a:endParaRPr lang="en-US" dirty="0"/>
          </a:p>
        </p:txBody>
      </p:sp>
      <p:sp>
        <p:nvSpPr>
          <p:cNvPr id="5" name="Content Placeholder 4"/>
          <p:cNvSpPr>
            <a:spLocks noGrp="1"/>
          </p:cNvSpPr>
          <p:nvPr>
            <p:ph sz="quarter" idx="15"/>
          </p:nvPr>
        </p:nvSpPr>
        <p:spPr/>
        <p:txBody>
          <a:bodyPr/>
          <a:lstStyle/>
          <a:p>
            <a:r>
              <a:rPr lang="en-US" dirty="0"/>
              <a:t>Barcodes are codes that consist of bars and spaces of different widths to represent a text string. This string is often a sequence of numbers representing a product ID.</a:t>
            </a:r>
          </a:p>
          <a:p>
            <a:endParaRPr lang="en-HK" dirty="0"/>
          </a:p>
          <a:p>
            <a:r>
              <a:rPr lang="en-US" dirty="0"/>
              <a:t>Compared with manually typing the numbers, barcode scanning reduces typing errors and input time.</a:t>
            </a:r>
          </a:p>
        </p:txBody>
      </p:sp>
    </p:spTree>
    <p:extLst>
      <p:ext uri="{BB962C8B-B14F-4D97-AF65-F5344CB8AC3E}">
        <p14:creationId xmlns:p14="http://schemas.microsoft.com/office/powerpoint/2010/main" val="152994891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Barcode</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83</a:t>
            </a:fld>
            <a:endParaRPr lang="en-US" dirty="0"/>
          </a:p>
        </p:txBody>
      </p:sp>
      <p:sp>
        <p:nvSpPr>
          <p:cNvPr id="4" name="Text Placeholder 3"/>
          <p:cNvSpPr>
            <a:spLocks noGrp="1"/>
          </p:cNvSpPr>
          <p:nvPr>
            <p:ph type="body" sz="quarter" idx="14"/>
          </p:nvPr>
        </p:nvSpPr>
        <p:spPr/>
        <p:txBody>
          <a:bodyPr/>
          <a:lstStyle/>
          <a:p>
            <a:r>
              <a:rPr lang="en-HK" dirty="0"/>
              <a:t>A</a:t>
            </a:r>
            <a:endParaRPr lang="en-US" dirty="0"/>
          </a:p>
        </p:txBody>
      </p:sp>
      <p:sp>
        <p:nvSpPr>
          <p:cNvPr id="5" name="Content Placeholder 4"/>
          <p:cNvSpPr>
            <a:spLocks noGrp="1"/>
          </p:cNvSpPr>
          <p:nvPr>
            <p:ph sz="quarter" idx="15"/>
          </p:nvPr>
        </p:nvSpPr>
        <p:spPr/>
        <p:txBody>
          <a:bodyPr/>
          <a:lstStyle/>
          <a:p>
            <a:r>
              <a:rPr lang="en-HK" dirty="0"/>
              <a:t>Here are the elements of a barcode.</a:t>
            </a:r>
            <a:endParaRPr lang="en-US" dirty="0"/>
          </a:p>
        </p:txBody>
      </p:sp>
      <p:pic>
        <p:nvPicPr>
          <p:cNvPr id="6" name="Picture 5"/>
          <p:cNvPicPr>
            <a:picLocks noChangeAspect="1"/>
          </p:cNvPicPr>
          <p:nvPr/>
        </p:nvPicPr>
        <p:blipFill>
          <a:blip r:embed="rId2"/>
          <a:stretch>
            <a:fillRect/>
          </a:stretch>
        </p:blipFill>
        <p:spPr>
          <a:xfrm>
            <a:off x="3330475" y="2202958"/>
            <a:ext cx="5532250" cy="3506884"/>
          </a:xfrm>
          <a:prstGeom prst="rect">
            <a:avLst/>
          </a:prstGeom>
        </p:spPr>
      </p:pic>
    </p:spTree>
    <p:extLst>
      <p:ext uri="{BB962C8B-B14F-4D97-AF65-F5344CB8AC3E}">
        <p14:creationId xmlns:p14="http://schemas.microsoft.com/office/powerpoint/2010/main" val="62218071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Barcode</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84</a:t>
            </a:fld>
            <a:endParaRPr lang="en-US" dirty="0"/>
          </a:p>
        </p:txBody>
      </p:sp>
      <p:sp>
        <p:nvSpPr>
          <p:cNvPr id="4" name="Text Placeholder 3"/>
          <p:cNvSpPr>
            <a:spLocks noGrp="1"/>
          </p:cNvSpPr>
          <p:nvPr>
            <p:ph type="body" sz="quarter" idx="14"/>
          </p:nvPr>
        </p:nvSpPr>
        <p:spPr/>
        <p:txBody>
          <a:bodyPr/>
          <a:lstStyle/>
          <a:p>
            <a:r>
              <a:rPr lang="en-HK" dirty="0"/>
              <a:t>A</a:t>
            </a:r>
            <a:endParaRPr lang="en-US" dirty="0"/>
          </a:p>
        </p:txBody>
      </p:sp>
      <p:sp>
        <p:nvSpPr>
          <p:cNvPr id="5" name="Content Placeholder 4"/>
          <p:cNvSpPr>
            <a:spLocks noGrp="1"/>
          </p:cNvSpPr>
          <p:nvPr>
            <p:ph sz="quarter" idx="15"/>
          </p:nvPr>
        </p:nvSpPr>
        <p:spPr/>
        <p:txBody>
          <a:bodyPr/>
          <a:lstStyle/>
          <a:p>
            <a:r>
              <a:rPr lang="en-US" dirty="0"/>
              <a:t>The heights of the bars do not matter in a barcode. It is the widths of the bars and spaces that matter.</a:t>
            </a:r>
          </a:p>
          <a:p>
            <a:r>
              <a:rPr lang="en-US" dirty="0"/>
              <a:t>A readable barcode must: </a:t>
            </a:r>
          </a:p>
          <a:p>
            <a:pPr marL="342900" indent="-342900">
              <a:buFont typeface="Arial" panose="020B0604020202020204" pitchFamily="34" charset="0"/>
              <a:buChar char="•"/>
            </a:pPr>
            <a:r>
              <a:rPr lang="en-US" dirty="0"/>
              <a:t>Have sufficient space for the quiet zone</a:t>
            </a:r>
          </a:p>
          <a:p>
            <a:pPr marL="342900" indent="-342900">
              <a:buFont typeface="Arial" panose="020B0604020202020204" pitchFamily="34" charset="0"/>
              <a:buChar char="•"/>
            </a:pPr>
            <a:r>
              <a:rPr lang="en-US" dirty="0"/>
              <a:t>Keep the widths of its bars and spaces unchanged</a:t>
            </a:r>
          </a:p>
        </p:txBody>
      </p:sp>
      <p:graphicFrame>
        <p:nvGraphicFramePr>
          <p:cNvPr id="6" name="Table 5"/>
          <p:cNvGraphicFramePr>
            <a:graphicFrameLocks noGrp="1"/>
          </p:cNvGraphicFramePr>
          <p:nvPr>
            <p:extLst>
              <p:ext uri="{D42A27DB-BD31-4B8C-83A1-F6EECF244321}">
                <p14:modId xmlns:p14="http://schemas.microsoft.com/office/powerpoint/2010/main" val="377157183"/>
              </p:ext>
            </p:extLst>
          </p:nvPr>
        </p:nvGraphicFramePr>
        <p:xfrm>
          <a:off x="666751" y="4167716"/>
          <a:ext cx="10656002" cy="2121484"/>
        </p:xfrm>
        <a:graphic>
          <a:graphicData uri="http://schemas.openxmlformats.org/drawingml/2006/table">
            <a:tbl>
              <a:tblPr firstRow="1" bandRow="1">
                <a:tableStyleId>{5940675A-B579-460E-94D1-54222C63F5DA}</a:tableStyleId>
              </a:tblPr>
              <a:tblGrid>
                <a:gridCol w="1595550">
                  <a:extLst>
                    <a:ext uri="{9D8B030D-6E8A-4147-A177-3AD203B41FA5}">
                      <a16:colId xmlns:a16="http://schemas.microsoft.com/office/drawing/2014/main" val="20000"/>
                    </a:ext>
                  </a:extLst>
                </a:gridCol>
                <a:gridCol w="2265113">
                  <a:extLst>
                    <a:ext uri="{9D8B030D-6E8A-4147-A177-3AD203B41FA5}">
                      <a16:colId xmlns:a16="http://schemas.microsoft.com/office/drawing/2014/main" val="20001"/>
                    </a:ext>
                  </a:extLst>
                </a:gridCol>
                <a:gridCol w="2265113">
                  <a:extLst>
                    <a:ext uri="{9D8B030D-6E8A-4147-A177-3AD203B41FA5}">
                      <a16:colId xmlns:a16="http://schemas.microsoft.com/office/drawing/2014/main" val="20002"/>
                    </a:ext>
                  </a:extLst>
                </a:gridCol>
                <a:gridCol w="2265113">
                  <a:extLst>
                    <a:ext uri="{9D8B030D-6E8A-4147-A177-3AD203B41FA5}">
                      <a16:colId xmlns:a16="http://schemas.microsoft.com/office/drawing/2014/main" val="20003"/>
                    </a:ext>
                  </a:extLst>
                </a:gridCol>
                <a:gridCol w="2265113">
                  <a:extLst>
                    <a:ext uri="{9D8B030D-6E8A-4147-A177-3AD203B41FA5}">
                      <a16:colId xmlns:a16="http://schemas.microsoft.com/office/drawing/2014/main" val="20004"/>
                    </a:ext>
                  </a:extLst>
                </a:gridCol>
              </a:tblGrid>
              <a:tr h="1060742">
                <a:tc>
                  <a:txBody>
                    <a:bodyPr/>
                    <a:lstStyle/>
                    <a:p>
                      <a:pPr algn="ctr"/>
                      <a:r>
                        <a:rPr lang="en-HK" b="1" dirty="0">
                          <a:solidFill>
                            <a:schemeClr val="bg1"/>
                          </a:solidFill>
                        </a:rPr>
                        <a:t>Readable barcode</a:t>
                      </a:r>
                      <a:endParaRPr lang="en-US" b="1" dirty="0">
                        <a:solidFill>
                          <a:schemeClr val="bg1"/>
                        </a:solidFill>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algn="ct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0"/>
                  </a:ext>
                </a:extLst>
              </a:tr>
              <a:tr h="1060742">
                <a:tc>
                  <a:txBody>
                    <a:bodyPr/>
                    <a:lstStyle/>
                    <a:p>
                      <a:pPr algn="ctr"/>
                      <a:r>
                        <a:rPr lang="en-HK" b="1" dirty="0">
                          <a:solidFill>
                            <a:schemeClr val="bg1"/>
                          </a:solidFill>
                        </a:rPr>
                        <a:t>Unreadable</a:t>
                      </a:r>
                      <a:r>
                        <a:rPr lang="en-HK" b="1" baseline="0" dirty="0">
                          <a:solidFill>
                            <a:schemeClr val="bg1"/>
                          </a:solidFill>
                        </a:rPr>
                        <a:t> barcode</a:t>
                      </a:r>
                      <a:endParaRPr lang="en-US" b="1" dirty="0">
                        <a:solidFill>
                          <a:schemeClr val="bg1"/>
                        </a:solidFill>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pic>
        <p:nvPicPr>
          <p:cNvPr id="7" name="Picture 6"/>
          <p:cNvPicPr>
            <a:picLocks noChangeAspect="1"/>
          </p:cNvPicPr>
          <p:nvPr/>
        </p:nvPicPr>
        <p:blipFill>
          <a:blip r:embed="rId2"/>
          <a:stretch>
            <a:fillRect/>
          </a:stretch>
        </p:blipFill>
        <p:spPr>
          <a:xfrm>
            <a:off x="2328640" y="4250583"/>
            <a:ext cx="2150425" cy="853751"/>
          </a:xfrm>
          <a:prstGeom prst="rect">
            <a:avLst/>
          </a:prstGeom>
        </p:spPr>
      </p:pic>
      <p:pic>
        <p:nvPicPr>
          <p:cNvPr id="8" name="Picture 7"/>
          <p:cNvPicPr>
            <a:picLocks noChangeAspect="1"/>
          </p:cNvPicPr>
          <p:nvPr/>
        </p:nvPicPr>
        <p:blipFill>
          <a:blip r:embed="rId3"/>
          <a:stretch>
            <a:fillRect/>
          </a:stretch>
        </p:blipFill>
        <p:spPr>
          <a:xfrm>
            <a:off x="2328640" y="5267549"/>
            <a:ext cx="2097288" cy="937917"/>
          </a:xfrm>
          <a:prstGeom prst="rect">
            <a:avLst/>
          </a:prstGeom>
        </p:spPr>
      </p:pic>
      <p:pic>
        <p:nvPicPr>
          <p:cNvPr id="9" name="Picture 8"/>
          <p:cNvPicPr>
            <a:picLocks noChangeAspect="1"/>
          </p:cNvPicPr>
          <p:nvPr/>
        </p:nvPicPr>
        <p:blipFill>
          <a:blip r:embed="rId4"/>
          <a:stretch>
            <a:fillRect/>
          </a:stretch>
        </p:blipFill>
        <p:spPr>
          <a:xfrm>
            <a:off x="4670491" y="4273443"/>
            <a:ext cx="2042729" cy="936513"/>
          </a:xfrm>
          <a:prstGeom prst="rect">
            <a:avLst/>
          </a:prstGeom>
        </p:spPr>
      </p:pic>
      <p:pic>
        <p:nvPicPr>
          <p:cNvPr id="10" name="Picture 9"/>
          <p:cNvPicPr>
            <a:picLocks noChangeAspect="1"/>
          </p:cNvPicPr>
          <p:nvPr/>
        </p:nvPicPr>
        <p:blipFill>
          <a:blip r:embed="rId5"/>
          <a:stretch>
            <a:fillRect/>
          </a:stretch>
        </p:blipFill>
        <p:spPr>
          <a:xfrm>
            <a:off x="6858926" y="4296303"/>
            <a:ext cx="2112870" cy="843898"/>
          </a:xfrm>
          <a:prstGeom prst="rect">
            <a:avLst/>
          </a:prstGeom>
        </p:spPr>
      </p:pic>
      <p:pic>
        <p:nvPicPr>
          <p:cNvPr id="11" name="Picture 10"/>
          <p:cNvPicPr>
            <a:picLocks noChangeAspect="1"/>
          </p:cNvPicPr>
          <p:nvPr/>
        </p:nvPicPr>
        <p:blipFill>
          <a:blip r:embed="rId6"/>
          <a:stretch>
            <a:fillRect/>
          </a:stretch>
        </p:blipFill>
        <p:spPr>
          <a:xfrm>
            <a:off x="9279991" y="4247887"/>
            <a:ext cx="1875689" cy="940730"/>
          </a:xfrm>
          <a:prstGeom prst="rect">
            <a:avLst/>
          </a:prstGeom>
        </p:spPr>
      </p:pic>
      <p:pic>
        <p:nvPicPr>
          <p:cNvPr id="12" name="Picture 11"/>
          <p:cNvPicPr>
            <a:picLocks noChangeAspect="1"/>
          </p:cNvPicPr>
          <p:nvPr/>
        </p:nvPicPr>
        <p:blipFill>
          <a:blip r:embed="rId7"/>
          <a:stretch>
            <a:fillRect/>
          </a:stretch>
        </p:blipFill>
        <p:spPr>
          <a:xfrm>
            <a:off x="4670491" y="5267549"/>
            <a:ext cx="2054623" cy="884187"/>
          </a:xfrm>
          <a:prstGeom prst="rect">
            <a:avLst/>
          </a:prstGeom>
        </p:spPr>
      </p:pic>
      <p:pic>
        <p:nvPicPr>
          <p:cNvPr id="13" name="Picture 12"/>
          <p:cNvPicPr>
            <a:picLocks noChangeAspect="1"/>
          </p:cNvPicPr>
          <p:nvPr/>
        </p:nvPicPr>
        <p:blipFill>
          <a:blip r:embed="rId8"/>
          <a:stretch>
            <a:fillRect/>
          </a:stretch>
        </p:blipFill>
        <p:spPr>
          <a:xfrm>
            <a:off x="6858926" y="5233954"/>
            <a:ext cx="2112870" cy="951376"/>
          </a:xfrm>
          <a:prstGeom prst="rect">
            <a:avLst/>
          </a:prstGeom>
        </p:spPr>
      </p:pic>
      <p:pic>
        <p:nvPicPr>
          <p:cNvPr id="14" name="Picture 13"/>
          <p:cNvPicPr>
            <a:picLocks noChangeAspect="1"/>
          </p:cNvPicPr>
          <p:nvPr/>
        </p:nvPicPr>
        <p:blipFill>
          <a:blip r:embed="rId9"/>
          <a:stretch>
            <a:fillRect/>
          </a:stretch>
        </p:blipFill>
        <p:spPr>
          <a:xfrm>
            <a:off x="9255662" y="5303570"/>
            <a:ext cx="1814688" cy="840546"/>
          </a:xfrm>
          <a:prstGeom prst="rect">
            <a:avLst/>
          </a:prstGeom>
        </p:spPr>
      </p:pic>
    </p:spTree>
    <p:extLst>
      <p:ext uri="{BB962C8B-B14F-4D97-AF65-F5344CB8AC3E}">
        <p14:creationId xmlns:p14="http://schemas.microsoft.com/office/powerpoint/2010/main" val="370253954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Quick Response code</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85</a:t>
            </a:fld>
            <a:endParaRPr lang="en-US" dirty="0"/>
          </a:p>
        </p:txBody>
      </p:sp>
      <p:sp>
        <p:nvSpPr>
          <p:cNvPr id="4" name="Text Placeholder 3"/>
          <p:cNvSpPr>
            <a:spLocks noGrp="1"/>
          </p:cNvSpPr>
          <p:nvPr>
            <p:ph type="body" sz="quarter" idx="14"/>
          </p:nvPr>
        </p:nvSpPr>
        <p:spPr/>
        <p:txBody>
          <a:bodyPr/>
          <a:lstStyle/>
          <a:p>
            <a:r>
              <a:rPr lang="en-HK" dirty="0"/>
              <a:t>B</a:t>
            </a:r>
            <a:endParaRPr lang="en-US" dirty="0"/>
          </a:p>
        </p:txBody>
      </p:sp>
      <p:sp>
        <p:nvSpPr>
          <p:cNvPr id="5" name="Content Placeholder 4"/>
          <p:cNvSpPr>
            <a:spLocks noGrp="1"/>
          </p:cNvSpPr>
          <p:nvPr>
            <p:ph sz="quarter" idx="15"/>
          </p:nvPr>
        </p:nvSpPr>
        <p:spPr/>
        <p:txBody>
          <a:bodyPr/>
          <a:lstStyle/>
          <a:p>
            <a:r>
              <a:rPr lang="en-US" b="1" dirty="0">
                <a:solidFill>
                  <a:srgbClr val="504FA1"/>
                </a:solidFill>
              </a:rPr>
              <a:t>Quick Response code (QR code) </a:t>
            </a:r>
            <a:r>
              <a:rPr lang="en-US" dirty="0"/>
              <a:t>is a two-dimensional barcode. It can be seen on various posters, books, websites, applications, etc.</a:t>
            </a:r>
          </a:p>
        </p:txBody>
      </p:sp>
      <p:pic>
        <p:nvPicPr>
          <p:cNvPr id="6" name="Picture 5"/>
          <p:cNvPicPr>
            <a:picLocks noChangeAspect="1"/>
          </p:cNvPicPr>
          <p:nvPr/>
        </p:nvPicPr>
        <p:blipFill>
          <a:blip r:embed="rId2"/>
          <a:stretch>
            <a:fillRect/>
          </a:stretch>
        </p:blipFill>
        <p:spPr>
          <a:xfrm>
            <a:off x="3484642" y="2705099"/>
            <a:ext cx="5223916" cy="3467403"/>
          </a:xfrm>
          <a:prstGeom prst="rect">
            <a:avLst/>
          </a:prstGeom>
        </p:spPr>
      </p:pic>
    </p:spTree>
    <p:extLst>
      <p:ext uri="{BB962C8B-B14F-4D97-AF65-F5344CB8AC3E}">
        <p14:creationId xmlns:p14="http://schemas.microsoft.com/office/powerpoint/2010/main" val="177995038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Quick Response code</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86</a:t>
            </a:fld>
            <a:endParaRPr lang="en-US" dirty="0"/>
          </a:p>
        </p:txBody>
      </p:sp>
      <p:sp>
        <p:nvSpPr>
          <p:cNvPr id="4" name="Text Placeholder 3"/>
          <p:cNvSpPr>
            <a:spLocks noGrp="1"/>
          </p:cNvSpPr>
          <p:nvPr>
            <p:ph type="body" sz="quarter" idx="14"/>
          </p:nvPr>
        </p:nvSpPr>
        <p:spPr/>
        <p:txBody>
          <a:bodyPr/>
          <a:lstStyle/>
          <a:p>
            <a:r>
              <a:rPr lang="en-HK" dirty="0"/>
              <a:t>B</a:t>
            </a:r>
            <a:endParaRPr lang="en-US" dirty="0"/>
          </a:p>
        </p:txBody>
      </p:sp>
      <p:sp>
        <p:nvSpPr>
          <p:cNvPr id="5" name="Content Placeholder 4"/>
          <p:cNvSpPr>
            <a:spLocks noGrp="1"/>
          </p:cNvSpPr>
          <p:nvPr>
            <p:ph sz="quarter" idx="15"/>
          </p:nvPr>
        </p:nvSpPr>
        <p:spPr/>
        <p:txBody>
          <a:bodyPr/>
          <a:lstStyle/>
          <a:p>
            <a:r>
              <a:rPr lang="en-US" dirty="0"/>
              <a:t>A QR code is made up of numerous black dots arranged in a white square background. It represents a text string which is usually a Uniform Resource Locator (URL), a phone number or an email address. </a:t>
            </a:r>
          </a:p>
          <a:p>
            <a:r>
              <a:rPr lang="en-US" dirty="0"/>
              <a:t>Here are the elements of a QR code.</a:t>
            </a:r>
          </a:p>
        </p:txBody>
      </p:sp>
      <p:pic>
        <p:nvPicPr>
          <p:cNvPr id="6" name="Picture 5"/>
          <p:cNvPicPr>
            <a:picLocks noChangeAspect="1"/>
          </p:cNvPicPr>
          <p:nvPr/>
        </p:nvPicPr>
        <p:blipFill>
          <a:blip r:embed="rId2"/>
          <a:stretch>
            <a:fillRect/>
          </a:stretch>
        </p:blipFill>
        <p:spPr>
          <a:xfrm>
            <a:off x="2908924" y="3286126"/>
            <a:ext cx="6375352" cy="2800664"/>
          </a:xfrm>
          <a:prstGeom prst="rect">
            <a:avLst/>
          </a:prstGeom>
        </p:spPr>
      </p:pic>
    </p:spTree>
    <p:extLst>
      <p:ext uri="{BB962C8B-B14F-4D97-AF65-F5344CB8AC3E}">
        <p14:creationId xmlns:p14="http://schemas.microsoft.com/office/powerpoint/2010/main" val="164393502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Quick Response code</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87</a:t>
            </a:fld>
            <a:endParaRPr lang="en-US" dirty="0"/>
          </a:p>
        </p:txBody>
      </p:sp>
      <p:sp>
        <p:nvSpPr>
          <p:cNvPr id="4" name="Text Placeholder 3"/>
          <p:cNvSpPr>
            <a:spLocks noGrp="1"/>
          </p:cNvSpPr>
          <p:nvPr>
            <p:ph type="body" sz="quarter" idx="14"/>
          </p:nvPr>
        </p:nvSpPr>
        <p:spPr/>
        <p:txBody>
          <a:bodyPr/>
          <a:lstStyle/>
          <a:p>
            <a:r>
              <a:rPr lang="en-HK" dirty="0"/>
              <a:t>B</a:t>
            </a:r>
            <a:endParaRPr lang="en-US" dirty="0"/>
          </a:p>
        </p:txBody>
      </p:sp>
      <p:sp>
        <p:nvSpPr>
          <p:cNvPr id="5" name="Content Placeholder 4"/>
          <p:cNvSpPr>
            <a:spLocks noGrp="1"/>
          </p:cNvSpPr>
          <p:nvPr>
            <p:ph sz="quarter" idx="15"/>
          </p:nvPr>
        </p:nvSpPr>
        <p:spPr/>
        <p:txBody>
          <a:bodyPr/>
          <a:lstStyle/>
          <a:p>
            <a:r>
              <a:rPr lang="en-HK" dirty="0"/>
              <a:t>QR codes can be still be scanned in different scenarios:</a:t>
            </a:r>
          </a:p>
        </p:txBody>
      </p:sp>
      <p:graphicFrame>
        <p:nvGraphicFramePr>
          <p:cNvPr id="7" name="Table 6"/>
          <p:cNvGraphicFramePr>
            <a:graphicFrameLocks noGrp="1"/>
          </p:cNvGraphicFramePr>
          <p:nvPr>
            <p:extLst>
              <p:ext uri="{D42A27DB-BD31-4B8C-83A1-F6EECF244321}">
                <p14:modId xmlns:p14="http://schemas.microsoft.com/office/powerpoint/2010/main" val="1230855308"/>
              </p:ext>
            </p:extLst>
          </p:nvPr>
        </p:nvGraphicFramePr>
        <p:xfrm>
          <a:off x="1918800" y="2133599"/>
          <a:ext cx="8127999" cy="4187584"/>
        </p:xfrm>
        <a:graphic>
          <a:graphicData uri="http://schemas.openxmlformats.org/drawingml/2006/table">
            <a:tbl>
              <a:tblPr firstRow="1" bandRow="1">
                <a:tableStyleId>{5940675A-B579-460E-94D1-54222C63F5DA}</a:tableStyleId>
              </a:tblPr>
              <a:tblGrid>
                <a:gridCol w="2709333">
                  <a:extLst>
                    <a:ext uri="{9D8B030D-6E8A-4147-A177-3AD203B41FA5}">
                      <a16:colId xmlns:a16="http://schemas.microsoft.com/office/drawing/2014/main" val="20000"/>
                    </a:ext>
                  </a:extLst>
                </a:gridCol>
                <a:gridCol w="2709333">
                  <a:extLst>
                    <a:ext uri="{9D8B030D-6E8A-4147-A177-3AD203B41FA5}">
                      <a16:colId xmlns:a16="http://schemas.microsoft.com/office/drawing/2014/main" val="20001"/>
                    </a:ext>
                  </a:extLst>
                </a:gridCol>
                <a:gridCol w="2709333">
                  <a:extLst>
                    <a:ext uri="{9D8B030D-6E8A-4147-A177-3AD203B41FA5}">
                      <a16:colId xmlns:a16="http://schemas.microsoft.com/office/drawing/2014/main" val="20002"/>
                    </a:ext>
                  </a:extLst>
                </a:gridCol>
              </a:tblGrid>
              <a:tr h="0">
                <a:tc>
                  <a:txBody>
                    <a:bodyPr/>
                    <a:lstStyle/>
                    <a:p>
                      <a:pPr algn="ctr"/>
                      <a:r>
                        <a:rPr lang="en-HK" b="1" dirty="0">
                          <a:solidFill>
                            <a:schemeClr val="bg1"/>
                          </a:solidFill>
                        </a:rPr>
                        <a:t>Rotated</a:t>
                      </a:r>
                      <a:endParaRPr lang="en-US" b="1" dirty="0">
                        <a:solidFill>
                          <a:schemeClr val="bg1"/>
                        </a:solidFill>
                      </a:endParaRPr>
                    </a:p>
                  </a:txBody>
                  <a:tcPr>
                    <a:lnL w="12700" cap="flat" cmpd="sng" algn="ctr">
                      <a:solidFill>
                        <a:srgbClr val="57A044"/>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Distorted</a:t>
                      </a:r>
                      <a:endParaRPr lang="en-US" b="1"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Dirtied</a:t>
                      </a:r>
                      <a:endParaRPr lang="en-US" b="1"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extLst>
                  <a:ext uri="{0D108BD9-81ED-4DB2-BD59-A6C34878D82A}">
                    <a16:rowId xmlns:a16="http://schemas.microsoft.com/office/drawing/2014/main" val="10000"/>
                  </a:ext>
                </a:extLst>
              </a:tr>
              <a:tr h="1728032">
                <a:tc>
                  <a:txBody>
                    <a:bodyPr/>
                    <a:lstStyle/>
                    <a:p>
                      <a:endParaRPr lang="en-US" b="1"/>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b="1"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b="1"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algn="ctr"/>
                      <a:r>
                        <a:rPr lang="en-HK" b="1" dirty="0">
                          <a:solidFill>
                            <a:schemeClr val="bg1"/>
                          </a:solidFill>
                        </a:rPr>
                        <a:t>Coloured</a:t>
                      </a:r>
                      <a:endParaRPr lang="en-US" b="1" dirty="0">
                        <a:solidFill>
                          <a:schemeClr val="bg1"/>
                        </a:solidFill>
                      </a:endParaRPr>
                    </a:p>
                  </a:txBody>
                  <a:tcPr>
                    <a:lnL w="12700" cap="flat" cmpd="sng" algn="ctr">
                      <a:solidFill>
                        <a:srgbClr val="57A044"/>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err="1">
                          <a:solidFill>
                            <a:schemeClr val="bg1"/>
                          </a:solidFill>
                        </a:rPr>
                        <a:t>Multicoloured</a:t>
                      </a:r>
                      <a:endParaRPr lang="en-US" b="1"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Obstructed by a logo</a:t>
                      </a:r>
                      <a:endParaRPr lang="en-US" b="1"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extLst>
                  <a:ext uri="{0D108BD9-81ED-4DB2-BD59-A6C34878D82A}">
                    <a16:rowId xmlns:a16="http://schemas.microsoft.com/office/drawing/2014/main" val="10002"/>
                  </a:ext>
                </a:extLst>
              </a:tr>
              <a:tr h="1728032">
                <a:tc>
                  <a:txBody>
                    <a:bodyPr/>
                    <a:lstStyle/>
                    <a:p>
                      <a:endParaRPr lang="en-US"/>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pic>
        <p:nvPicPr>
          <p:cNvPr id="8" name="Picture 7"/>
          <p:cNvPicPr>
            <a:picLocks noChangeAspect="1"/>
          </p:cNvPicPr>
          <p:nvPr/>
        </p:nvPicPr>
        <p:blipFill>
          <a:blip r:embed="rId2"/>
          <a:stretch>
            <a:fillRect/>
          </a:stretch>
        </p:blipFill>
        <p:spPr>
          <a:xfrm>
            <a:off x="2541420" y="2601884"/>
            <a:ext cx="1480585" cy="1475583"/>
          </a:xfrm>
          <a:prstGeom prst="rect">
            <a:avLst/>
          </a:prstGeom>
        </p:spPr>
      </p:pic>
      <p:pic>
        <p:nvPicPr>
          <p:cNvPr id="9" name="Picture 8"/>
          <p:cNvPicPr>
            <a:picLocks noChangeAspect="1"/>
          </p:cNvPicPr>
          <p:nvPr/>
        </p:nvPicPr>
        <p:blipFill>
          <a:blip r:embed="rId3"/>
          <a:stretch>
            <a:fillRect/>
          </a:stretch>
        </p:blipFill>
        <p:spPr>
          <a:xfrm>
            <a:off x="5299730" y="2552113"/>
            <a:ext cx="1211634" cy="1575124"/>
          </a:xfrm>
          <a:prstGeom prst="rect">
            <a:avLst/>
          </a:prstGeom>
        </p:spPr>
      </p:pic>
      <p:pic>
        <p:nvPicPr>
          <p:cNvPr id="10" name="Picture 9"/>
          <p:cNvPicPr>
            <a:picLocks noChangeAspect="1"/>
          </p:cNvPicPr>
          <p:nvPr/>
        </p:nvPicPr>
        <p:blipFill>
          <a:blip r:embed="rId4"/>
          <a:stretch>
            <a:fillRect/>
          </a:stretch>
        </p:blipFill>
        <p:spPr>
          <a:xfrm>
            <a:off x="8002976" y="2651758"/>
            <a:ext cx="1423659" cy="1423659"/>
          </a:xfrm>
          <a:prstGeom prst="rect">
            <a:avLst/>
          </a:prstGeom>
        </p:spPr>
      </p:pic>
      <p:pic>
        <p:nvPicPr>
          <p:cNvPr id="11" name="Picture 10"/>
          <p:cNvPicPr>
            <a:picLocks noChangeAspect="1"/>
          </p:cNvPicPr>
          <p:nvPr/>
        </p:nvPicPr>
        <p:blipFill>
          <a:blip r:embed="rId5"/>
          <a:stretch>
            <a:fillRect/>
          </a:stretch>
        </p:blipFill>
        <p:spPr>
          <a:xfrm>
            <a:off x="2541420" y="4654855"/>
            <a:ext cx="1565623" cy="1570310"/>
          </a:xfrm>
          <a:prstGeom prst="rect">
            <a:avLst/>
          </a:prstGeom>
        </p:spPr>
      </p:pic>
      <p:pic>
        <p:nvPicPr>
          <p:cNvPr id="12" name="Picture 11"/>
          <p:cNvPicPr>
            <a:picLocks noChangeAspect="1"/>
          </p:cNvPicPr>
          <p:nvPr/>
        </p:nvPicPr>
        <p:blipFill>
          <a:blip r:embed="rId6"/>
          <a:stretch>
            <a:fillRect/>
          </a:stretch>
        </p:blipFill>
        <p:spPr>
          <a:xfrm>
            <a:off x="5223376" y="4666404"/>
            <a:ext cx="1568123" cy="1558761"/>
          </a:xfrm>
          <a:prstGeom prst="rect">
            <a:avLst/>
          </a:prstGeom>
        </p:spPr>
      </p:pic>
      <p:pic>
        <p:nvPicPr>
          <p:cNvPr id="13" name="Picture 12"/>
          <p:cNvPicPr>
            <a:picLocks noChangeAspect="1"/>
          </p:cNvPicPr>
          <p:nvPr/>
        </p:nvPicPr>
        <p:blipFill>
          <a:blip r:embed="rId7"/>
          <a:stretch>
            <a:fillRect/>
          </a:stretch>
        </p:blipFill>
        <p:spPr>
          <a:xfrm>
            <a:off x="8002976" y="4654855"/>
            <a:ext cx="1562400" cy="1562400"/>
          </a:xfrm>
          <a:prstGeom prst="rect">
            <a:avLst/>
          </a:prstGeom>
        </p:spPr>
      </p:pic>
    </p:spTree>
    <p:extLst>
      <p:ext uri="{BB962C8B-B14F-4D97-AF65-F5344CB8AC3E}">
        <p14:creationId xmlns:p14="http://schemas.microsoft.com/office/powerpoint/2010/main" val="330095735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Quick Response code</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88</a:t>
            </a:fld>
            <a:endParaRPr lang="en-US" dirty="0"/>
          </a:p>
        </p:txBody>
      </p:sp>
      <p:sp>
        <p:nvSpPr>
          <p:cNvPr id="4" name="Text Placeholder 3"/>
          <p:cNvSpPr>
            <a:spLocks noGrp="1"/>
          </p:cNvSpPr>
          <p:nvPr>
            <p:ph type="body" sz="quarter" idx="14"/>
          </p:nvPr>
        </p:nvSpPr>
        <p:spPr/>
        <p:txBody>
          <a:bodyPr/>
          <a:lstStyle/>
          <a:p>
            <a:r>
              <a:rPr lang="en-HK" dirty="0"/>
              <a:t>B</a:t>
            </a:r>
            <a:endParaRPr lang="en-US" dirty="0"/>
          </a:p>
        </p:txBody>
      </p:sp>
      <p:sp>
        <p:nvSpPr>
          <p:cNvPr id="5" name="Content Placeholder 4"/>
          <p:cNvSpPr>
            <a:spLocks noGrp="1"/>
          </p:cNvSpPr>
          <p:nvPr>
            <p:ph sz="quarter" idx="15"/>
          </p:nvPr>
        </p:nvSpPr>
        <p:spPr/>
        <p:txBody>
          <a:bodyPr/>
          <a:lstStyle/>
          <a:p>
            <a:r>
              <a:rPr lang="en-US" dirty="0"/>
              <a:t>QR codes are becoming more and more popular due to their advantages over barcode. Refer to the comparison below.</a:t>
            </a:r>
          </a:p>
        </p:txBody>
      </p:sp>
      <p:graphicFrame>
        <p:nvGraphicFramePr>
          <p:cNvPr id="6" name="Table 5"/>
          <p:cNvGraphicFramePr>
            <a:graphicFrameLocks noGrp="1"/>
          </p:cNvGraphicFramePr>
          <p:nvPr>
            <p:extLst>
              <p:ext uri="{D42A27DB-BD31-4B8C-83A1-F6EECF244321}">
                <p14:modId xmlns:p14="http://schemas.microsoft.com/office/powerpoint/2010/main" val="1897502916"/>
              </p:ext>
            </p:extLst>
          </p:nvPr>
        </p:nvGraphicFramePr>
        <p:xfrm>
          <a:off x="1133476" y="2683192"/>
          <a:ext cx="9858374" cy="3696335"/>
        </p:xfrm>
        <a:graphic>
          <a:graphicData uri="http://schemas.openxmlformats.org/drawingml/2006/table">
            <a:tbl>
              <a:tblPr firstRow="1" bandRow="1">
                <a:tableStyleId>{5940675A-B579-460E-94D1-54222C63F5DA}</a:tableStyleId>
              </a:tblPr>
              <a:tblGrid>
                <a:gridCol w="2000249">
                  <a:extLst>
                    <a:ext uri="{9D8B030D-6E8A-4147-A177-3AD203B41FA5}">
                      <a16:colId xmlns:a16="http://schemas.microsoft.com/office/drawing/2014/main" val="20000"/>
                    </a:ext>
                  </a:extLst>
                </a:gridCol>
                <a:gridCol w="4012959">
                  <a:extLst>
                    <a:ext uri="{9D8B030D-6E8A-4147-A177-3AD203B41FA5}">
                      <a16:colId xmlns:a16="http://schemas.microsoft.com/office/drawing/2014/main" val="20001"/>
                    </a:ext>
                  </a:extLst>
                </a:gridCol>
                <a:gridCol w="3845166">
                  <a:extLst>
                    <a:ext uri="{9D8B030D-6E8A-4147-A177-3AD203B41FA5}">
                      <a16:colId xmlns:a16="http://schemas.microsoft.com/office/drawing/2014/main" val="20002"/>
                    </a:ext>
                  </a:extLst>
                </a:gridCol>
              </a:tblGrid>
              <a:tr h="434022">
                <a:tc>
                  <a:txBody>
                    <a:bodyPr/>
                    <a:lstStyle/>
                    <a:p>
                      <a:pPr algn="ctr"/>
                      <a:r>
                        <a:rPr lang="en-HK" b="1" dirty="0">
                          <a:solidFill>
                            <a:schemeClr val="bg1"/>
                          </a:solidFill>
                        </a:rPr>
                        <a:t>Attribute</a:t>
                      </a:r>
                      <a:endParaRPr lang="en-US" b="1" dirty="0">
                        <a:solidFill>
                          <a:schemeClr val="bg1"/>
                        </a:solidFill>
                      </a:endParaRPr>
                    </a:p>
                  </a:txBody>
                  <a:tcPr anchor="ctr">
                    <a:lnL w="12700" cap="flat" cmpd="sng" algn="ctr">
                      <a:solidFill>
                        <a:srgbClr val="57A044"/>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algn="ctr"/>
                      <a:r>
                        <a:rPr lang="en-HK" b="1" dirty="0">
                          <a:solidFill>
                            <a:schemeClr val="bg1"/>
                          </a:solidFill>
                        </a:rPr>
                        <a:t>Barcode</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QR code</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extLst>
                  <a:ext uri="{0D108BD9-81ED-4DB2-BD59-A6C34878D82A}">
                    <a16:rowId xmlns:a16="http://schemas.microsoft.com/office/drawing/2014/main" val="10000"/>
                  </a:ext>
                </a:extLst>
              </a:tr>
              <a:tr h="884873">
                <a:tc>
                  <a:txBody>
                    <a:bodyPr/>
                    <a:lstStyle/>
                    <a:p>
                      <a:pPr algn="ctr"/>
                      <a:r>
                        <a:rPr lang="en-HK" b="1" dirty="0">
                          <a:solidFill>
                            <a:schemeClr val="bg1"/>
                          </a:solidFill>
                        </a:rPr>
                        <a:t>Easiness to scan</a:t>
                      </a:r>
                      <a:endParaRPr lang="en-US" b="1" dirty="0">
                        <a:solidFill>
                          <a:schemeClr val="bg1"/>
                        </a:solidFill>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r>
                        <a:rPr lang="en-US" dirty="0"/>
                        <a:t>Normally, a barcode can only be scanned from two angles, which are 0° or 180°.</a:t>
                      </a: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US" dirty="0"/>
                        <a:t>A QR code can be scanned from any direction. Even if the scanner is at an angle that distorts the scanned image, it still has a chance to read the QR code successfully.</a:t>
                      </a: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1"/>
                  </a:ext>
                </a:extLst>
              </a:tr>
              <a:tr h="884873">
                <a:tc>
                  <a:txBody>
                    <a:bodyPr/>
                    <a:lstStyle/>
                    <a:p>
                      <a:pPr algn="ctr"/>
                      <a:r>
                        <a:rPr lang="en-HK" b="1" dirty="0">
                          <a:solidFill>
                            <a:schemeClr val="bg1"/>
                          </a:solidFill>
                        </a:rPr>
                        <a:t>Error correction</a:t>
                      </a:r>
                      <a:r>
                        <a:rPr lang="en-HK" b="1" baseline="0" dirty="0">
                          <a:solidFill>
                            <a:schemeClr val="bg1"/>
                          </a:solidFill>
                        </a:rPr>
                        <a:t> capability</a:t>
                      </a:r>
                      <a:endParaRPr lang="en-US" b="1" dirty="0">
                        <a:solidFill>
                          <a:schemeClr val="bg1"/>
                        </a:solidFill>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r>
                        <a:rPr lang="en-US" dirty="0"/>
                        <a:t>If the width of a single bar or a single space is altered, a barcode cannot be scanned correctly.</a:t>
                      </a: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US" dirty="0"/>
                        <a:t>A QR code has a higher error correction capability than a barcode. It can often restore up to 30% of data.</a:t>
                      </a: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2"/>
                  </a:ext>
                </a:extLst>
              </a:tr>
              <a:tr h="884873">
                <a:tc>
                  <a:txBody>
                    <a:bodyPr/>
                    <a:lstStyle/>
                    <a:p>
                      <a:pPr algn="ctr"/>
                      <a:r>
                        <a:rPr lang="en-HK" b="1" dirty="0">
                          <a:solidFill>
                            <a:schemeClr val="bg1"/>
                          </a:solidFill>
                        </a:rPr>
                        <a:t>Character limit</a:t>
                      </a:r>
                      <a:endParaRPr lang="en-US" b="1" dirty="0">
                        <a:solidFill>
                          <a:schemeClr val="bg1"/>
                        </a:solidFill>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r>
                        <a:rPr lang="en-US" dirty="0"/>
                        <a:t>The maximum length of the number sequence is around 50.</a:t>
                      </a: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US" dirty="0"/>
                        <a:t>Usually, the character limit of the text string is at least 1000.</a:t>
                      </a: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74119119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pPr marL="457200" indent="-457200">
              <a:buAutoNum type="arabicPeriod"/>
            </a:pPr>
            <a:r>
              <a:rPr lang="en-HK" sz="2200" dirty="0"/>
              <a:t>Which of the following statements about the barcode below is/are correct?</a:t>
            </a:r>
            <a:br>
              <a:rPr lang="en-HK" sz="2200" dirty="0"/>
            </a:br>
            <a:r>
              <a:rPr lang="en-HK" sz="2200" dirty="0"/>
              <a:t/>
            </a:r>
            <a:br>
              <a:rPr lang="en-HK" sz="2200" dirty="0"/>
            </a:br>
            <a:r>
              <a:rPr lang="en-HK" sz="2200" dirty="0"/>
              <a:t/>
            </a:r>
            <a:br>
              <a:rPr lang="en-HK" sz="2200" dirty="0"/>
            </a:br>
            <a:r>
              <a:rPr lang="en-HK" sz="2200" dirty="0"/>
              <a:t/>
            </a:r>
            <a:br>
              <a:rPr lang="en-HK" sz="2200" dirty="0"/>
            </a:br>
            <a:r>
              <a:rPr lang="en-HK" sz="2200" dirty="0"/>
              <a:t/>
            </a:r>
            <a:br>
              <a:rPr lang="en-HK" sz="2200" dirty="0"/>
            </a:br>
            <a:endParaRPr lang="en-HK" sz="2200" dirty="0"/>
          </a:p>
          <a:p>
            <a:pPr marL="1257300" lvl="2" indent="-342900">
              <a:buSzPct val="100000"/>
              <a:buAutoNum type="arabicParenBoth"/>
            </a:pPr>
            <a:r>
              <a:rPr lang="en-US" sz="2200" dirty="0"/>
              <a:t>This type of barcode cannot represent a number.</a:t>
            </a:r>
          </a:p>
          <a:p>
            <a:pPr marL="1257300" lvl="2" indent="-342900">
              <a:buSzPct val="100000"/>
              <a:buAutoNum type="arabicParenBoth"/>
            </a:pPr>
            <a:r>
              <a:rPr lang="en-US" sz="2200" dirty="0"/>
              <a:t>This type of barcode can be scanned in any direction.</a:t>
            </a:r>
          </a:p>
          <a:p>
            <a:pPr marL="1257300" lvl="2" indent="-342900">
              <a:buSzPct val="100000"/>
              <a:buAutoNum type="arabicParenBoth"/>
            </a:pPr>
            <a:r>
              <a:rPr lang="en-US" sz="2200" dirty="0"/>
              <a:t>This type of barcode may be decoded even if a logo is added to its </a:t>
            </a:r>
            <a:r>
              <a:rPr lang="en-US" sz="2200" dirty="0" err="1"/>
              <a:t>centre</a:t>
            </a:r>
            <a:r>
              <a:rPr lang="en-US" sz="2200" dirty="0"/>
              <a:t>.</a:t>
            </a:r>
            <a:br>
              <a:rPr lang="en-US" sz="2200" dirty="0"/>
            </a:br>
            <a:endParaRPr lang="en-US" sz="2200" dirty="0"/>
          </a:p>
          <a:p>
            <a:pPr marL="800100" lvl="1" indent="-342900">
              <a:buSzPct val="100000"/>
              <a:buFont typeface="+mj-lt"/>
              <a:buAutoNum type="alphaUcPeriod"/>
            </a:pPr>
            <a:r>
              <a:rPr lang="en-HK" sz="2200" dirty="0"/>
              <a:t>(1) only</a:t>
            </a:r>
          </a:p>
          <a:p>
            <a:pPr marL="800100" lvl="1" indent="-342900">
              <a:buSzPct val="100000"/>
              <a:buFont typeface="+mj-lt"/>
              <a:buAutoNum type="alphaUcPeriod"/>
            </a:pPr>
            <a:r>
              <a:rPr lang="en-HK" sz="2200" dirty="0"/>
              <a:t>(2) only</a:t>
            </a:r>
          </a:p>
          <a:p>
            <a:pPr marL="800100" lvl="1" indent="-342900">
              <a:buSzPct val="100000"/>
              <a:buFont typeface="+mj-lt"/>
              <a:buAutoNum type="alphaUcPeriod"/>
            </a:pPr>
            <a:r>
              <a:rPr lang="en-HK" sz="2200" dirty="0"/>
              <a:t>(1) and (3) only</a:t>
            </a:r>
          </a:p>
          <a:p>
            <a:pPr marL="800100" lvl="1" indent="-342900">
              <a:buSzPct val="100000"/>
              <a:buFont typeface="+mj-lt"/>
              <a:buAutoNum type="alphaUcPeriod"/>
            </a:pPr>
            <a:r>
              <a:rPr lang="en-HK" sz="2200" dirty="0"/>
              <a:t>(2) and (3) only</a:t>
            </a:r>
          </a:p>
          <a:p>
            <a:pPr marL="457200" indent="-457200">
              <a:buAutoNum type="arabicPeriod"/>
            </a:pP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89</a:t>
            </a:fld>
            <a:endParaRPr lang="en-US" dirty="0"/>
          </a:p>
        </p:txBody>
      </p:sp>
      <p:sp>
        <p:nvSpPr>
          <p:cNvPr id="4" name="Text Placeholder 3"/>
          <p:cNvSpPr>
            <a:spLocks noGrp="1"/>
          </p:cNvSpPr>
          <p:nvPr>
            <p:ph type="body" sz="quarter" idx="13"/>
          </p:nvPr>
        </p:nvSpPr>
        <p:spPr/>
        <p:txBody>
          <a:bodyPr/>
          <a:lstStyle/>
          <a:p>
            <a:r>
              <a:rPr lang="en-HK" dirty="0"/>
              <a:t>3.5</a:t>
            </a:r>
            <a:endParaRPr lang="en-US" dirty="0"/>
          </a:p>
        </p:txBody>
      </p:sp>
      <p:pic>
        <p:nvPicPr>
          <p:cNvPr id="5" name="Picture 4"/>
          <p:cNvPicPr>
            <a:picLocks noChangeAspect="1"/>
          </p:cNvPicPr>
          <p:nvPr/>
        </p:nvPicPr>
        <p:blipFill>
          <a:blip r:embed="rId2"/>
          <a:stretch>
            <a:fillRect/>
          </a:stretch>
        </p:blipFill>
        <p:spPr>
          <a:xfrm>
            <a:off x="5200364" y="1943101"/>
            <a:ext cx="1304500" cy="1295399"/>
          </a:xfrm>
          <a:prstGeom prst="rect">
            <a:avLst/>
          </a:prstGeom>
        </p:spPr>
      </p:pic>
    </p:spTree>
    <p:extLst>
      <p:ext uri="{BB962C8B-B14F-4D97-AF65-F5344CB8AC3E}">
        <p14:creationId xmlns:p14="http://schemas.microsoft.com/office/powerpoint/2010/main" val="170664980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342900" indent="-342900">
              <a:buSzPct val="100000"/>
              <a:buFont typeface="Noto Sans CJK TC Regular" panose="020B0500000000000000" pitchFamily="34" charset="-128"/>
              <a:buChar char="◣"/>
            </a:pPr>
            <a:r>
              <a:rPr lang="en-HK" b="1" dirty="0">
                <a:solidFill>
                  <a:srgbClr val="37A3D4"/>
                </a:solidFill>
              </a:rPr>
              <a:t>Analysis</a:t>
            </a:r>
          </a:p>
          <a:p>
            <a:pPr>
              <a:buSzPct val="100000"/>
            </a:pPr>
            <a:r>
              <a:rPr lang="en-US" dirty="0"/>
              <a:t>This type of barcode is a QR code. QR codes can represent any type of characters. Thus, (1) is incorrect. A QR code has three position patterns, allowing it to be scanned from any direction. Thus, (2) is correct. A QR code can restore up to 30% of data. Thus, (3) is correct.</a:t>
            </a:r>
            <a:br>
              <a:rPr lang="en-US" dirty="0"/>
            </a:br>
            <a:endParaRPr lang="en-US" dirty="0"/>
          </a:p>
          <a:p>
            <a:pPr>
              <a:buSzPct val="100000"/>
            </a:pPr>
            <a:endParaRPr lang="en-HK" b="1" dirty="0">
              <a:solidFill>
                <a:srgbClr val="37A3D4"/>
              </a:solidFill>
            </a:endParaRPr>
          </a:p>
          <a:p>
            <a:pPr marL="342900" indent="-342900">
              <a:buSzPct val="100000"/>
              <a:buFont typeface="Noto Sans CJK TC Regular" panose="020B0500000000000000" pitchFamily="34" charset="-128"/>
              <a:buChar char="◣"/>
            </a:pPr>
            <a:r>
              <a:rPr lang="en-HK" b="1" dirty="0">
                <a:solidFill>
                  <a:srgbClr val="37A3D4"/>
                </a:solidFill>
              </a:rPr>
              <a:t>Solution</a:t>
            </a:r>
          </a:p>
          <a:p>
            <a:pPr>
              <a:buSzPct val="100000"/>
            </a:pPr>
            <a:r>
              <a:rPr lang="en-US" dirty="0"/>
              <a:t>The answer is D.</a:t>
            </a:r>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90</a:t>
            </a:fld>
            <a:endParaRPr lang="en-US" dirty="0"/>
          </a:p>
        </p:txBody>
      </p:sp>
      <p:sp>
        <p:nvSpPr>
          <p:cNvPr id="4" name="Text Placeholder 3"/>
          <p:cNvSpPr>
            <a:spLocks noGrp="1"/>
          </p:cNvSpPr>
          <p:nvPr>
            <p:ph type="body" sz="quarter" idx="13"/>
          </p:nvPr>
        </p:nvSpPr>
        <p:spPr/>
        <p:txBody>
          <a:bodyPr/>
          <a:lstStyle/>
          <a:p>
            <a:r>
              <a:rPr lang="en-HK" dirty="0"/>
              <a:t>3.5</a:t>
            </a:r>
            <a:endParaRPr lang="en-US" dirty="0"/>
          </a:p>
        </p:txBody>
      </p:sp>
    </p:spTree>
    <p:extLst>
      <p:ext uri="{BB962C8B-B14F-4D97-AF65-F5344CB8AC3E}">
        <p14:creationId xmlns:p14="http://schemas.microsoft.com/office/powerpoint/2010/main" val="159808985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457200" indent="-457200">
              <a:buAutoNum type="arabicPeriod"/>
            </a:pPr>
            <a:r>
              <a:rPr lang="en-US" dirty="0"/>
              <a:t>Ben is a shop owner. Every product in his shop has a barcode on its package paper. When a product is bought, the cashier will scan the barcode using a barcode reader to update the number of products in stock. </a:t>
            </a:r>
          </a:p>
          <a:p>
            <a:endParaRPr lang="en-HK" dirty="0"/>
          </a:p>
          <a:p>
            <a:pPr marL="914400" lvl="1" indent="-457200">
              <a:buFont typeface="+mj-lt"/>
              <a:buAutoNum type="alphaLcParenR"/>
            </a:pPr>
            <a:r>
              <a:rPr lang="en-HK" sz="2000" dirty="0"/>
              <a:t>What does the barcode represent?</a:t>
            </a:r>
            <a:endParaRPr lang="en-US" sz="2000" dirty="0"/>
          </a:p>
          <a:p>
            <a:pPr lvl="2"/>
            <a:r>
              <a:rPr lang="en-US" sz="2000" dirty="0">
                <a:solidFill>
                  <a:srgbClr val="FF0000"/>
                </a:solidFill>
              </a:rPr>
              <a:t>A number (a sequence of numbers) (product ID)</a:t>
            </a:r>
          </a:p>
          <a:p>
            <a:pPr lvl="2"/>
            <a:endParaRPr lang="en-HK" sz="2000" dirty="0"/>
          </a:p>
          <a:p>
            <a:pPr marL="914400" lvl="1" indent="-457200">
              <a:buSzPct val="100000"/>
              <a:buFont typeface="+mj-lt"/>
              <a:buAutoNum type="alphaLcParenR"/>
            </a:pPr>
            <a:r>
              <a:rPr lang="en-HK" sz="2200" dirty="0"/>
              <a:t>Give two benefits of this method.</a:t>
            </a:r>
          </a:p>
          <a:p>
            <a:pPr lvl="2"/>
            <a:r>
              <a:rPr lang="en-US" sz="2000" dirty="0">
                <a:solidFill>
                  <a:srgbClr val="FF0000"/>
                </a:solidFill>
              </a:rPr>
              <a:t>Reduces typing errors and input time.</a:t>
            </a:r>
            <a:endParaRPr lang="en-HK" sz="2000" dirty="0">
              <a:solidFill>
                <a:srgbClr val="FF0000"/>
              </a:solidFill>
            </a:endParaRPr>
          </a:p>
          <a:p>
            <a:pPr lvl="1"/>
            <a:endParaRPr lang="en-HK" sz="2200" dirty="0"/>
          </a:p>
          <a:p>
            <a:pPr lvl="1"/>
            <a:endParaRPr lang="en-HK" sz="2200" dirty="0"/>
          </a:p>
          <a:p>
            <a:pPr lvl="2"/>
            <a:endParaRPr lang="en-HK" sz="2000" dirty="0"/>
          </a:p>
        </p:txBody>
      </p:sp>
      <p:sp>
        <p:nvSpPr>
          <p:cNvPr id="3" name="Slide Number Placeholder 2"/>
          <p:cNvSpPr>
            <a:spLocks noGrp="1"/>
          </p:cNvSpPr>
          <p:nvPr>
            <p:ph type="sldNum" sz="quarter" idx="12"/>
          </p:nvPr>
        </p:nvSpPr>
        <p:spPr/>
        <p:txBody>
          <a:bodyPr/>
          <a:lstStyle/>
          <a:p>
            <a:fld id="{6D22F896-40B5-4ADD-8801-0D06FADFA095}" type="slidenum">
              <a:rPr lang="en-US" smtClean="0"/>
              <a:t>91</a:t>
            </a:fld>
            <a:endParaRPr lang="en-US" dirty="0"/>
          </a:p>
        </p:txBody>
      </p:sp>
      <p:sp>
        <p:nvSpPr>
          <p:cNvPr id="4" name="Text Placeholder 3"/>
          <p:cNvSpPr>
            <a:spLocks noGrp="1"/>
          </p:cNvSpPr>
          <p:nvPr>
            <p:ph type="body" sz="quarter" idx="13"/>
          </p:nvPr>
        </p:nvSpPr>
        <p:spPr/>
        <p:txBody>
          <a:bodyPr/>
          <a:lstStyle/>
          <a:p>
            <a:r>
              <a:rPr lang="en-HK" dirty="0"/>
              <a:t>3.5</a:t>
            </a:r>
            <a:endParaRPr lang="en-US" dirty="0"/>
          </a:p>
        </p:txBody>
      </p:sp>
    </p:spTree>
    <p:extLst>
      <p:ext uri="{BB962C8B-B14F-4D97-AF65-F5344CB8AC3E}">
        <p14:creationId xmlns:p14="http://schemas.microsoft.com/office/powerpoint/2010/main" val="3579336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fade">
                                      <p:cBhvr>
                                        <p:cTn id="7" dur="500"/>
                                        <p:tgtEl>
                                          <p:spTgt spid="2">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6" end="6"/>
                                            </p:txEl>
                                          </p:spTgt>
                                        </p:tgtEl>
                                        <p:attrNameLst>
                                          <p:attrName>style.visibility</p:attrName>
                                        </p:attrNameLst>
                                      </p:cBhvr>
                                      <p:to>
                                        <p:strVal val="visible"/>
                                      </p:to>
                                    </p:set>
                                    <p:animEffect transition="in" filter="fade">
                                      <p:cBhvr>
                                        <p:cTn id="12"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err="1"/>
              <a:t>Analog</a:t>
            </a:r>
            <a:r>
              <a:rPr lang="en-HK" dirty="0"/>
              <a:t> and Digital Data</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92</a:t>
            </a:fld>
            <a:endParaRPr lang="en-US" dirty="0"/>
          </a:p>
        </p:txBody>
      </p:sp>
      <p:sp>
        <p:nvSpPr>
          <p:cNvPr id="4" name="Text Placeholder 3"/>
          <p:cNvSpPr>
            <a:spLocks noGrp="1"/>
          </p:cNvSpPr>
          <p:nvPr>
            <p:ph type="body" sz="quarter" idx="14"/>
          </p:nvPr>
        </p:nvSpPr>
        <p:spPr/>
        <p:txBody>
          <a:bodyPr/>
          <a:lstStyle/>
          <a:p>
            <a:r>
              <a:rPr lang="en-HK" dirty="0"/>
              <a:t>3.4</a:t>
            </a:r>
            <a:endParaRPr lang="en-US" dirty="0"/>
          </a:p>
        </p:txBody>
      </p:sp>
      <p:sp>
        <p:nvSpPr>
          <p:cNvPr id="5" name="Content Placeholder 4"/>
          <p:cNvSpPr>
            <a:spLocks noGrp="1"/>
          </p:cNvSpPr>
          <p:nvPr>
            <p:ph sz="quarter" idx="15"/>
          </p:nvPr>
        </p:nvSpPr>
        <p:spPr/>
        <p:txBody>
          <a:bodyPr/>
          <a:lstStyle/>
          <a:p>
            <a:r>
              <a:rPr lang="en-US" dirty="0"/>
              <a:t>There are different ways to represent a piece of data:</a:t>
            </a:r>
          </a:p>
          <a:p>
            <a:pPr marL="342900" indent="-342900">
              <a:buFont typeface="Arial" panose="020B0604020202020204" pitchFamily="34" charset="0"/>
              <a:buChar char="•"/>
            </a:pPr>
            <a:r>
              <a:rPr lang="en-US" b="1" dirty="0">
                <a:solidFill>
                  <a:srgbClr val="504FA1"/>
                </a:solidFill>
              </a:rPr>
              <a:t>Analog data</a:t>
            </a:r>
            <a:r>
              <a:rPr lang="en-US" dirty="0"/>
              <a:t> is represented in a physical way with continuous values, such as sound waves, written text and drawings.</a:t>
            </a:r>
          </a:p>
          <a:p>
            <a:pPr marL="342900" indent="-342900">
              <a:buFont typeface="Arial" panose="020B0604020202020204" pitchFamily="34" charset="0"/>
              <a:buChar char="•"/>
            </a:pPr>
            <a:r>
              <a:rPr lang="en-US" b="1" dirty="0">
                <a:solidFill>
                  <a:srgbClr val="504FA1"/>
                </a:solidFill>
              </a:rPr>
              <a:t>Digital data </a:t>
            </a:r>
            <a:r>
              <a:rPr lang="en-US" dirty="0"/>
              <a:t>is represented in discrete symbols (like “0” and “1”), such as text documents, digital photos and audio files.</a:t>
            </a:r>
          </a:p>
        </p:txBody>
      </p:sp>
    </p:spTree>
    <p:extLst>
      <p:ext uri="{BB962C8B-B14F-4D97-AF65-F5344CB8AC3E}">
        <p14:creationId xmlns:p14="http://schemas.microsoft.com/office/powerpoint/2010/main" val="90436745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err="1"/>
              <a:t>Analog</a:t>
            </a:r>
            <a:r>
              <a:rPr lang="en-HK" dirty="0"/>
              <a:t> and Digital Data</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93</a:t>
            </a:fld>
            <a:endParaRPr lang="en-US" dirty="0"/>
          </a:p>
        </p:txBody>
      </p:sp>
      <p:sp>
        <p:nvSpPr>
          <p:cNvPr id="4" name="Text Placeholder 3"/>
          <p:cNvSpPr>
            <a:spLocks noGrp="1"/>
          </p:cNvSpPr>
          <p:nvPr>
            <p:ph type="body" sz="quarter" idx="14"/>
          </p:nvPr>
        </p:nvSpPr>
        <p:spPr/>
        <p:txBody>
          <a:bodyPr/>
          <a:lstStyle/>
          <a:p>
            <a:r>
              <a:rPr lang="en-HK" dirty="0"/>
              <a:t>3.4</a:t>
            </a:r>
            <a:endParaRPr lang="en-US" dirty="0"/>
          </a:p>
        </p:txBody>
      </p:sp>
      <p:sp>
        <p:nvSpPr>
          <p:cNvPr id="5" name="Content Placeholder 4"/>
          <p:cNvSpPr>
            <a:spLocks noGrp="1"/>
          </p:cNvSpPr>
          <p:nvPr>
            <p:ph sz="quarter" idx="15"/>
          </p:nvPr>
        </p:nvSpPr>
        <p:spPr/>
        <p:txBody>
          <a:bodyPr/>
          <a:lstStyle/>
          <a:p>
            <a:r>
              <a:rPr lang="en-HK" dirty="0" err="1"/>
              <a:t>Analog</a:t>
            </a:r>
            <a:r>
              <a:rPr lang="en-HK" dirty="0"/>
              <a:t> data and digital data are stored in different kinds of storage media.</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1239407883"/>
              </p:ext>
            </p:extLst>
          </p:nvPr>
        </p:nvGraphicFramePr>
        <p:xfrm>
          <a:off x="2108200" y="2300816"/>
          <a:ext cx="8128000" cy="4018192"/>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0000"/>
                    </a:ext>
                  </a:extLst>
                </a:gridCol>
                <a:gridCol w="4064000">
                  <a:extLst>
                    <a:ext uri="{9D8B030D-6E8A-4147-A177-3AD203B41FA5}">
                      <a16:colId xmlns:a16="http://schemas.microsoft.com/office/drawing/2014/main" val="20001"/>
                    </a:ext>
                  </a:extLst>
                </a:gridCol>
              </a:tblGrid>
              <a:tr h="335952">
                <a:tc>
                  <a:txBody>
                    <a:bodyPr/>
                    <a:lstStyle/>
                    <a:p>
                      <a:pPr algn="ctr"/>
                      <a:r>
                        <a:rPr lang="en-HK" b="1" dirty="0" err="1">
                          <a:solidFill>
                            <a:schemeClr val="bg1"/>
                          </a:solidFill>
                        </a:rPr>
                        <a:t>Analog</a:t>
                      </a:r>
                      <a:r>
                        <a:rPr lang="en-HK" b="1" dirty="0">
                          <a:solidFill>
                            <a:schemeClr val="bg1"/>
                          </a:solidFill>
                        </a:rPr>
                        <a:t> data storage</a:t>
                      </a:r>
                      <a:endParaRPr lang="en-US" b="1" dirty="0">
                        <a:solidFill>
                          <a:schemeClr val="bg1"/>
                        </a:solidFill>
                      </a:endParaRPr>
                    </a:p>
                  </a:txBody>
                  <a:tcPr>
                    <a:lnL w="12700" cap="flat" cmpd="sng" algn="ctr">
                      <a:solidFill>
                        <a:srgbClr val="57A044"/>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Digital data storage</a:t>
                      </a:r>
                      <a:endParaRPr lang="en-US" b="1"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extLst>
                  <a:ext uri="{0D108BD9-81ED-4DB2-BD59-A6C34878D82A}">
                    <a16:rowId xmlns:a16="http://schemas.microsoft.com/office/drawing/2014/main" val="10000"/>
                  </a:ext>
                </a:extLst>
              </a:tr>
              <a:tr h="1826216">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1"/>
                  </a:ext>
                </a:extLst>
              </a:tr>
              <a:tr h="1826216">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pic>
        <p:nvPicPr>
          <p:cNvPr id="7" name="Picture 6"/>
          <p:cNvPicPr>
            <a:picLocks noChangeAspect="1"/>
          </p:cNvPicPr>
          <p:nvPr/>
        </p:nvPicPr>
        <p:blipFill>
          <a:blip r:embed="rId2"/>
          <a:stretch>
            <a:fillRect/>
          </a:stretch>
        </p:blipFill>
        <p:spPr>
          <a:xfrm>
            <a:off x="3000037" y="2762934"/>
            <a:ext cx="2438737" cy="1680232"/>
          </a:xfrm>
          <a:prstGeom prst="rect">
            <a:avLst/>
          </a:prstGeom>
        </p:spPr>
      </p:pic>
      <p:pic>
        <p:nvPicPr>
          <p:cNvPr id="8" name="Picture 7"/>
          <p:cNvPicPr>
            <a:picLocks noChangeAspect="1"/>
          </p:cNvPicPr>
          <p:nvPr/>
        </p:nvPicPr>
        <p:blipFill>
          <a:blip r:embed="rId3"/>
          <a:stretch>
            <a:fillRect/>
          </a:stretch>
        </p:blipFill>
        <p:spPr>
          <a:xfrm>
            <a:off x="7018625" y="2762934"/>
            <a:ext cx="2439700" cy="1672809"/>
          </a:xfrm>
          <a:prstGeom prst="rect">
            <a:avLst/>
          </a:prstGeom>
        </p:spPr>
      </p:pic>
      <p:pic>
        <p:nvPicPr>
          <p:cNvPr id="9" name="Picture 8"/>
          <p:cNvPicPr>
            <a:picLocks noChangeAspect="1"/>
          </p:cNvPicPr>
          <p:nvPr/>
        </p:nvPicPr>
        <p:blipFill>
          <a:blip r:embed="rId4"/>
          <a:stretch>
            <a:fillRect/>
          </a:stretch>
        </p:blipFill>
        <p:spPr>
          <a:xfrm>
            <a:off x="3000037" y="4622562"/>
            <a:ext cx="2601836" cy="1666638"/>
          </a:xfrm>
          <a:prstGeom prst="rect">
            <a:avLst/>
          </a:prstGeom>
        </p:spPr>
      </p:pic>
      <p:pic>
        <p:nvPicPr>
          <p:cNvPr id="10" name="Picture 9"/>
          <p:cNvPicPr>
            <a:picLocks noChangeAspect="1"/>
          </p:cNvPicPr>
          <p:nvPr/>
        </p:nvPicPr>
        <p:blipFill>
          <a:blip r:embed="rId5"/>
          <a:stretch>
            <a:fillRect/>
          </a:stretch>
        </p:blipFill>
        <p:spPr>
          <a:xfrm>
            <a:off x="6636300" y="4546170"/>
            <a:ext cx="3170652" cy="1632602"/>
          </a:xfrm>
          <a:prstGeom prst="rect">
            <a:avLst/>
          </a:prstGeom>
        </p:spPr>
      </p:pic>
    </p:spTree>
    <p:extLst>
      <p:ext uri="{BB962C8B-B14F-4D97-AF65-F5344CB8AC3E}">
        <p14:creationId xmlns:p14="http://schemas.microsoft.com/office/powerpoint/2010/main" val="128617482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err="1"/>
              <a:t>Analog</a:t>
            </a:r>
            <a:r>
              <a:rPr lang="en-HK" dirty="0"/>
              <a:t> and Digital Data</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94</a:t>
            </a:fld>
            <a:endParaRPr lang="en-US" dirty="0"/>
          </a:p>
        </p:txBody>
      </p:sp>
      <p:sp>
        <p:nvSpPr>
          <p:cNvPr id="4" name="Text Placeholder 3"/>
          <p:cNvSpPr>
            <a:spLocks noGrp="1"/>
          </p:cNvSpPr>
          <p:nvPr>
            <p:ph type="body" sz="quarter" idx="14"/>
          </p:nvPr>
        </p:nvSpPr>
        <p:spPr/>
        <p:txBody>
          <a:bodyPr/>
          <a:lstStyle/>
          <a:p>
            <a:r>
              <a:rPr lang="en-HK" dirty="0"/>
              <a:t>3.4</a:t>
            </a:r>
            <a:endParaRPr lang="en-US" dirty="0"/>
          </a:p>
        </p:txBody>
      </p:sp>
      <p:sp>
        <p:nvSpPr>
          <p:cNvPr id="5" name="Content Placeholder 4"/>
          <p:cNvSpPr>
            <a:spLocks noGrp="1"/>
          </p:cNvSpPr>
          <p:nvPr>
            <p:ph sz="quarter" idx="15"/>
          </p:nvPr>
        </p:nvSpPr>
        <p:spPr/>
        <p:txBody>
          <a:bodyPr/>
          <a:lstStyle/>
          <a:p>
            <a:r>
              <a:rPr lang="en-US" dirty="0"/>
              <a:t>See the following table for a comparison between analog and digital data.</a:t>
            </a:r>
          </a:p>
        </p:txBody>
      </p:sp>
      <p:graphicFrame>
        <p:nvGraphicFramePr>
          <p:cNvPr id="6" name="Table 5"/>
          <p:cNvGraphicFramePr>
            <a:graphicFrameLocks noGrp="1"/>
          </p:cNvGraphicFramePr>
          <p:nvPr>
            <p:extLst>
              <p:ext uri="{D42A27DB-BD31-4B8C-83A1-F6EECF244321}">
                <p14:modId xmlns:p14="http://schemas.microsoft.com/office/powerpoint/2010/main" val="993727840"/>
              </p:ext>
            </p:extLst>
          </p:nvPr>
        </p:nvGraphicFramePr>
        <p:xfrm>
          <a:off x="809625" y="2081737"/>
          <a:ext cx="10534650" cy="4335514"/>
        </p:xfrm>
        <a:graphic>
          <a:graphicData uri="http://schemas.openxmlformats.org/drawingml/2006/table">
            <a:tbl>
              <a:tblPr firstRow="1" bandRow="1">
                <a:tableStyleId>{5940675A-B579-460E-94D1-54222C63F5DA}</a:tableStyleId>
              </a:tblPr>
              <a:tblGrid>
                <a:gridCol w="2705100">
                  <a:extLst>
                    <a:ext uri="{9D8B030D-6E8A-4147-A177-3AD203B41FA5}">
                      <a16:colId xmlns:a16="http://schemas.microsoft.com/office/drawing/2014/main" val="20000"/>
                    </a:ext>
                  </a:extLst>
                </a:gridCol>
                <a:gridCol w="3943350">
                  <a:extLst>
                    <a:ext uri="{9D8B030D-6E8A-4147-A177-3AD203B41FA5}">
                      <a16:colId xmlns:a16="http://schemas.microsoft.com/office/drawing/2014/main" val="20001"/>
                    </a:ext>
                  </a:extLst>
                </a:gridCol>
                <a:gridCol w="3886200">
                  <a:extLst>
                    <a:ext uri="{9D8B030D-6E8A-4147-A177-3AD203B41FA5}">
                      <a16:colId xmlns:a16="http://schemas.microsoft.com/office/drawing/2014/main" val="20002"/>
                    </a:ext>
                  </a:extLst>
                </a:gridCol>
              </a:tblGrid>
              <a:tr h="0">
                <a:tc>
                  <a:txBody>
                    <a:bodyPr/>
                    <a:lstStyle/>
                    <a:p>
                      <a:pPr algn="ctr"/>
                      <a:r>
                        <a:rPr lang="en-HK" b="1" dirty="0">
                          <a:solidFill>
                            <a:schemeClr val="bg1"/>
                          </a:solidFill>
                        </a:rPr>
                        <a:t>Attribute</a:t>
                      </a:r>
                      <a:endParaRPr lang="en-US" b="1" dirty="0">
                        <a:solidFill>
                          <a:schemeClr val="bg1"/>
                        </a:solidFill>
                      </a:endParaRPr>
                    </a:p>
                  </a:txBody>
                  <a:tcPr anchor="ctr">
                    <a:lnL w="12700" cap="flat" cmpd="sng" algn="ctr">
                      <a:solidFill>
                        <a:srgbClr val="57A044"/>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algn="ctr"/>
                      <a:r>
                        <a:rPr lang="en-HK" b="1" dirty="0" err="1">
                          <a:solidFill>
                            <a:schemeClr val="bg1"/>
                          </a:solidFill>
                        </a:rPr>
                        <a:t>Analog</a:t>
                      </a:r>
                      <a:r>
                        <a:rPr lang="en-HK" b="1" dirty="0">
                          <a:solidFill>
                            <a:schemeClr val="bg1"/>
                          </a:solidFill>
                        </a:rPr>
                        <a:t> data</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Digital data</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extLst>
                  <a:ext uri="{0D108BD9-81ED-4DB2-BD59-A6C34878D82A}">
                    <a16:rowId xmlns:a16="http://schemas.microsoft.com/office/drawing/2014/main" val="10000"/>
                  </a:ext>
                </a:extLst>
              </a:tr>
              <a:tr h="1253357">
                <a:tc>
                  <a:txBody>
                    <a:bodyPr/>
                    <a:lstStyle/>
                    <a:p>
                      <a:pPr algn="ctr"/>
                      <a:r>
                        <a:rPr lang="en-US" b="1" dirty="0">
                          <a:solidFill>
                            <a:schemeClr val="bg1"/>
                          </a:solidFill>
                        </a:rPr>
                        <a:t>Way of representation</a:t>
                      </a: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r>
                        <a:rPr lang="en-US" dirty="0"/>
                        <a:t>Physical. The change between its values is continuous.</a:t>
                      </a: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US" dirty="0"/>
                        <a:t>Discrete symbols. Usually, the symbols are "0" and "1" in digital devices.</a:t>
                      </a: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1"/>
                  </a:ext>
                </a:extLst>
              </a:tr>
              <a:tr h="1253357">
                <a:tc>
                  <a:txBody>
                    <a:bodyPr/>
                    <a:lstStyle/>
                    <a:p>
                      <a:pPr algn="ctr"/>
                      <a:r>
                        <a:rPr lang="en-US" b="1" dirty="0">
                          <a:solidFill>
                            <a:schemeClr val="bg1"/>
                          </a:solidFill>
                        </a:rPr>
                        <a:t>Viability to reduce storage size by compression</a:t>
                      </a: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r>
                        <a:rPr lang="en-US" dirty="0"/>
                        <a:t>Low.</a:t>
                      </a: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US" dirty="0"/>
                        <a:t>High. </a:t>
                      </a:r>
                    </a:p>
                    <a:p>
                      <a:r>
                        <a:rPr lang="en-US" dirty="0"/>
                        <a:t>Digital television signals occupy less radio spectrum.</a:t>
                      </a: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2"/>
                  </a:ext>
                </a:extLst>
              </a:tr>
              <a:tr h="1253357">
                <a:tc>
                  <a:txBody>
                    <a:bodyPr/>
                    <a:lstStyle/>
                    <a:p>
                      <a:pPr algn="ctr"/>
                      <a:r>
                        <a:rPr lang="en-US" b="1" dirty="0">
                          <a:solidFill>
                            <a:schemeClr val="bg1"/>
                          </a:solidFill>
                        </a:rPr>
                        <a:t>Capability of data analysis</a:t>
                      </a: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r>
                        <a:rPr lang="en-US" dirty="0"/>
                        <a:t>Low. </a:t>
                      </a:r>
                    </a:p>
                    <a:p>
                      <a:r>
                        <a:rPr lang="en-US" dirty="0"/>
                        <a:t>Calculation results written on a ledger needs to be updated manually when relevant data is changed.</a:t>
                      </a: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US" dirty="0"/>
                        <a:t>High. </a:t>
                      </a:r>
                    </a:p>
                    <a:p>
                      <a:r>
                        <a:rPr lang="en-US" dirty="0"/>
                        <a:t>An electronic spreadsheet can update data automatically when relevant data is changed and even create charts in no time.</a:t>
                      </a: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51104243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Digitalisation</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95</a:t>
            </a:fld>
            <a:endParaRPr lang="en-US" dirty="0"/>
          </a:p>
        </p:txBody>
      </p:sp>
      <p:sp>
        <p:nvSpPr>
          <p:cNvPr id="4" name="Text Placeholder 3"/>
          <p:cNvSpPr>
            <a:spLocks noGrp="1"/>
          </p:cNvSpPr>
          <p:nvPr>
            <p:ph type="body" sz="quarter" idx="14"/>
          </p:nvPr>
        </p:nvSpPr>
        <p:spPr/>
        <p:txBody>
          <a:bodyPr/>
          <a:lstStyle/>
          <a:p>
            <a:r>
              <a:rPr lang="en-HK" dirty="0"/>
              <a:t>A</a:t>
            </a:r>
            <a:endParaRPr lang="en-US" dirty="0"/>
          </a:p>
        </p:txBody>
      </p:sp>
      <p:sp>
        <p:nvSpPr>
          <p:cNvPr id="5" name="Content Placeholder 4"/>
          <p:cNvSpPr>
            <a:spLocks noGrp="1"/>
          </p:cNvSpPr>
          <p:nvPr>
            <p:ph sz="quarter" idx="15"/>
          </p:nvPr>
        </p:nvSpPr>
        <p:spPr/>
        <p:txBody>
          <a:bodyPr/>
          <a:lstStyle/>
          <a:p>
            <a:r>
              <a:rPr lang="en-US" b="1" dirty="0" err="1">
                <a:solidFill>
                  <a:srgbClr val="504FA1"/>
                </a:solidFill>
              </a:rPr>
              <a:t>Digitalisation</a:t>
            </a:r>
            <a:r>
              <a:rPr lang="en-US" b="1" dirty="0">
                <a:solidFill>
                  <a:srgbClr val="504FA1"/>
                </a:solidFill>
              </a:rPr>
              <a:t> </a:t>
            </a:r>
            <a:r>
              <a:rPr lang="en-US" dirty="0"/>
              <a:t>is the conversion of analog data to digital data. </a:t>
            </a:r>
          </a:p>
          <a:p>
            <a:endParaRPr lang="en-HK" dirty="0"/>
          </a:p>
          <a:p>
            <a:r>
              <a:rPr lang="en-US" dirty="0"/>
              <a:t>We can break down </a:t>
            </a:r>
            <a:r>
              <a:rPr lang="en-US" dirty="0" err="1"/>
              <a:t>digitalisation</a:t>
            </a:r>
            <a:r>
              <a:rPr lang="en-US" dirty="0"/>
              <a:t> into two parts: </a:t>
            </a:r>
          </a:p>
          <a:p>
            <a:pPr marL="342900" indent="-342900">
              <a:buFont typeface="Arial" panose="020B0604020202020204" pitchFamily="34" charset="0"/>
              <a:buChar char="•"/>
            </a:pPr>
            <a:r>
              <a:rPr lang="en-US" dirty="0" err="1"/>
              <a:t>Discretisation</a:t>
            </a:r>
            <a:r>
              <a:rPr lang="en-US" dirty="0"/>
              <a:t> </a:t>
            </a:r>
          </a:p>
          <a:p>
            <a:pPr marL="342900" indent="-342900">
              <a:buFont typeface="Arial" panose="020B0604020202020204" pitchFamily="34" charset="0"/>
              <a:buChar char="•"/>
            </a:pPr>
            <a:r>
              <a:rPr lang="en-US" dirty="0" err="1"/>
              <a:t>Quantisation</a:t>
            </a:r>
            <a:endParaRPr lang="en-US" dirty="0"/>
          </a:p>
        </p:txBody>
      </p:sp>
    </p:spTree>
    <p:extLst>
      <p:ext uri="{BB962C8B-B14F-4D97-AF65-F5344CB8AC3E}">
        <p14:creationId xmlns:p14="http://schemas.microsoft.com/office/powerpoint/2010/main" val="342240096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Digitalisation</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96</a:t>
            </a:fld>
            <a:endParaRPr lang="en-US" dirty="0"/>
          </a:p>
        </p:txBody>
      </p:sp>
      <p:sp>
        <p:nvSpPr>
          <p:cNvPr id="4" name="Text Placeholder 3"/>
          <p:cNvSpPr>
            <a:spLocks noGrp="1"/>
          </p:cNvSpPr>
          <p:nvPr>
            <p:ph type="body" sz="quarter" idx="14"/>
          </p:nvPr>
        </p:nvSpPr>
        <p:spPr/>
        <p:txBody>
          <a:bodyPr/>
          <a:lstStyle/>
          <a:p>
            <a:r>
              <a:rPr lang="en-HK" dirty="0"/>
              <a:t>A</a:t>
            </a:r>
            <a:endParaRPr lang="en-US" dirty="0"/>
          </a:p>
        </p:txBody>
      </p:sp>
      <p:sp>
        <p:nvSpPr>
          <p:cNvPr id="5" name="Content Placeholder 4"/>
          <p:cNvSpPr>
            <a:spLocks noGrp="1"/>
          </p:cNvSpPr>
          <p:nvPr>
            <p:ph sz="quarter" idx="15"/>
          </p:nvPr>
        </p:nvSpPr>
        <p:spPr/>
        <p:txBody>
          <a:bodyPr/>
          <a:lstStyle/>
          <a:p>
            <a:r>
              <a:rPr lang="en-US" dirty="0"/>
              <a:t>To convert an analog signal into a digital signal, the value of the signal should be sampled at a regular time interval. The length of this time interval determines the sampling rate. This process is called “</a:t>
            </a:r>
            <a:r>
              <a:rPr lang="en-US" b="1" dirty="0" err="1">
                <a:solidFill>
                  <a:srgbClr val="504FA1"/>
                </a:solidFill>
              </a:rPr>
              <a:t>discretisation</a:t>
            </a:r>
            <a:r>
              <a:rPr lang="en-US" dirty="0"/>
              <a:t>”</a:t>
            </a:r>
            <a:r>
              <a:rPr lang="en-US" altLang="zh-CN" dirty="0"/>
              <a:t>.</a:t>
            </a:r>
            <a:endParaRPr lang="en-US" dirty="0"/>
          </a:p>
        </p:txBody>
      </p:sp>
      <p:pic>
        <p:nvPicPr>
          <p:cNvPr id="6" name="Picture 5"/>
          <p:cNvPicPr>
            <a:picLocks noChangeAspect="1"/>
          </p:cNvPicPr>
          <p:nvPr/>
        </p:nvPicPr>
        <p:blipFill>
          <a:blip r:embed="rId2"/>
          <a:stretch>
            <a:fillRect/>
          </a:stretch>
        </p:blipFill>
        <p:spPr>
          <a:xfrm>
            <a:off x="2981526" y="3033807"/>
            <a:ext cx="6230147" cy="3000663"/>
          </a:xfrm>
          <a:prstGeom prst="rect">
            <a:avLst/>
          </a:prstGeom>
        </p:spPr>
      </p:pic>
    </p:spTree>
    <p:extLst>
      <p:ext uri="{BB962C8B-B14F-4D97-AF65-F5344CB8AC3E}">
        <p14:creationId xmlns:p14="http://schemas.microsoft.com/office/powerpoint/2010/main" val="12030391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Digitalisation</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97</a:t>
            </a:fld>
            <a:endParaRPr lang="en-US" dirty="0"/>
          </a:p>
        </p:txBody>
      </p:sp>
      <p:sp>
        <p:nvSpPr>
          <p:cNvPr id="4" name="Text Placeholder 3"/>
          <p:cNvSpPr>
            <a:spLocks noGrp="1"/>
          </p:cNvSpPr>
          <p:nvPr>
            <p:ph type="body" sz="quarter" idx="14"/>
          </p:nvPr>
        </p:nvSpPr>
        <p:spPr/>
        <p:txBody>
          <a:bodyPr/>
          <a:lstStyle/>
          <a:p>
            <a:r>
              <a:rPr lang="en-HK" dirty="0"/>
              <a:t>A</a:t>
            </a:r>
            <a:endParaRPr lang="en-US" dirty="0"/>
          </a:p>
        </p:txBody>
      </p:sp>
      <p:sp>
        <p:nvSpPr>
          <p:cNvPr id="5" name="Content Placeholder 4"/>
          <p:cNvSpPr>
            <a:spLocks noGrp="1"/>
          </p:cNvSpPr>
          <p:nvPr>
            <p:ph sz="quarter" idx="15"/>
          </p:nvPr>
        </p:nvSpPr>
        <p:spPr/>
        <p:txBody>
          <a:bodyPr/>
          <a:lstStyle/>
          <a:p>
            <a:r>
              <a:rPr lang="en-US" dirty="0"/>
              <a:t>Sampled values are rounded to a fixed set of discrete values, which is usually represented by binary numbers in digital storage. This process is called “</a:t>
            </a:r>
            <a:r>
              <a:rPr lang="en-US" b="1" dirty="0" err="1">
                <a:solidFill>
                  <a:srgbClr val="504FA1"/>
                </a:solidFill>
              </a:rPr>
              <a:t>quantisation</a:t>
            </a:r>
            <a:r>
              <a:rPr lang="en-US" dirty="0"/>
              <a:t>”.</a:t>
            </a:r>
          </a:p>
        </p:txBody>
      </p:sp>
      <p:pic>
        <p:nvPicPr>
          <p:cNvPr id="6" name="Picture 5"/>
          <p:cNvPicPr>
            <a:picLocks noChangeAspect="1"/>
          </p:cNvPicPr>
          <p:nvPr/>
        </p:nvPicPr>
        <p:blipFill>
          <a:blip r:embed="rId2"/>
          <a:stretch>
            <a:fillRect/>
          </a:stretch>
        </p:blipFill>
        <p:spPr>
          <a:xfrm>
            <a:off x="301814" y="3181350"/>
            <a:ext cx="11589571" cy="2686271"/>
          </a:xfrm>
          <a:prstGeom prst="rect">
            <a:avLst/>
          </a:prstGeom>
        </p:spPr>
      </p:pic>
    </p:spTree>
    <p:extLst>
      <p:ext uri="{BB962C8B-B14F-4D97-AF65-F5344CB8AC3E}">
        <p14:creationId xmlns:p14="http://schemas.microsoft.com/office/powerpoint/2010/main" val="89906010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Digitalisation</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98</a:t>
            </a:fld>
            <a:endParaRPr lang="en-US" dirty="0"/>
          </a:p>
        </p:txBody>
      </p:sp>
      <p:sp>
        <p:nvSpPr>
          <p:cNvPr id="4" name="Text Placeholder 3"/>
          <p:cNvSpPr>
            <a:spLocks noGrp="1"/>
          </p:cNvSpPr>
          <p:nvPr>
            <p:ph type="body" sz="quarter" idx="14"/>
          </p:nvPr>
        </p:nvSpPr>
        <p:spPr/>
        <p:txBody>
          <a:bodyPr/>
          <a:lstStyle/>
          <a:p>
            <a:r>
              <a:rPr lang="en-HK" dirty="0"/>
              <a:t>A</a:t>
            </a:r>
            <a:endParaRPr lang="en-US" dirty="0"/>
          </a:p>
        </p:txBody>
      </p:sp>
      <p:sp>
        <p:nvSpPr>
          <p:cNvPr id="5" name="Content Placeholder 4"/>
          <p:cNvSpPr>
            <a:spLocks noGrp="1"/>
          </p:cNvSpPr>
          <p:nvPr>
            <p:ph sz="quarter" idx="15"/>
          </p:nvPr>
        </p:nvSpPr>
        <p:spPr/>
        <p:txBody>
          <a:bodyPr/>
          <a:lstStyle/>
          <a:p>
            <a:r>
              <a:rPr lang="en-US" dirty="0"/>
              <a:t>Converting physical books to electronic books is usually a </a:t>
            </a:r>
            <a:r>
              <a:rPr lang="en-US" dirty="0" err="1"/>
              <a:t>digitalisation</a:t>
            </a:r>
            <a:r>
              <a:rPr lang="en-US" dirty="0"/>
              <a:t> of text and images.</a:t>
            </a:r>
          </a:p>
        </p:txBody>
      </p:sp>
      <p:pic>
        <p:nvPicPr>
          <p:cNvPr id="6" name="Picture 5"/>
          <p:cNvPicPr>
            <a:picLocks noChangeAspect="1"/>
          </p:cNvPicPr>
          <p:nvPr/>
        </p:nvPicPr>
        <p:blipFill>
          <a:blip r:embed="rId2"/>
          <a:stretch>
            <a:fillRect/>
          </a:stretch>
        </p:blipFill>
        <p:spPr>
          <a:xfrm>
            <a:off x="2139487" y="2274764"/>
            <a:ext cx="7914225" cy="3944823"/>
          </a:xfrm>
          <a:prstGeom prst="rect">
            <a:avLst/>
          </a:prstGeom>
        </p:spPr>
      </p:pic>
    </p:spTree>
    <p:extLst>
      <p:ext uri="{BB962C8B-B14F-4D97-AF65-F5344CB8AC3E}">
        <p14:creationId xmlns:p14="http://schemas.microsoft.com/office/powerpoint/2010/main" val="60124298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Digitalisation</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99</a:t>
            </a:fld>
            <a:endParaRPr lang="en-US" dirty="0"/>
          </a:p>
        </p:txBody>
      </p:sp>
      <p:sp>
        <p:nvSpPr>
          <p:cNvPr id="4" name="Text Placeholder 3"/>
          <p:cNvSpPr>
            <a:spLocks noGrp="1"/>
          </p:cNvSpPr>
          <p:nvPr>
            <p:ph type="body" sz="quarter" idx="14"/>
          </p:nvPr>
        </p:nvSpPr>
        <p:spPr/>
        <p:txBody>
          <a:bodyPr/>
          <a:lstStyle/>
          <a:p>
            <a:r>
              <a:rPr lang="en-HK" dirty="0"/>
              <a:t>A</a:t>
            </a:r>
            <a:endParaRPr lang="en-US" dirty="0"/>
          </a:p>
        </p:txBody>
      </p:sp>
      <p:sp>
        <p:nvSpPr>
          <p:cNvPr id="5" name="Content Placeholder 4"/>
          <p:cNvSpPr>
            <a:spLocks noGrp="1"/>
          </p:cNvSpPr>
          <p:nvPr>
            <p:ph sz="quarter" idx="15"/>
          </p:nvPr>
        </p:nvSpPr>
        <p:spPr/>
        <p:txBody>
          <a:bodyPr/>
          <a:lstStyle/>
          <a:p>
            <a:r>
              <a:rPr lang="en-US" dirty="0"/>
              <a:t>Sound waves are analog data that can be converted into digital data through the following process:</a:t>
            </a:r>
          </a:p>
        </p:txBody>
      </p:sp>
      <p:pic>
        <p:nvPicPr>
          <p:cNvPr id="6" name="Picture 5"/>
          <p:cNvPicPr>
            <a:picLocks noChangeAspect="1"/>
          </p:cNvPicPr>
          <p:nvPr/>
        </p:nvPicPr>
        <p:blipFill>
          <a:blip r:embed="rId2"/>
          <a:stretch>
            <a:fillRect/>
          </a:stretch>
        </p:blipFill>
        <p:spPr>
          <a:xfrm>
            <a:off x="1918800" y="2438400"/>
            <a:ext cx="8354813" cy="3850800"/>
          </a:xfrm>
          <a:prstGeom prst="rect">
            <a:avLst/>
          </a:prstGeom>
        </p:spPr>
      </p:pic>
    </p:spTree>
    <p:extLst>
      <p:ext uri="{BB962C8B-B14F-4D97-AF65-F5344CB8AC3E}">
        <p14:creationId xmlns:p14="http://schemas.microsoft.com/office/powerpoint/2010/main" val="172302964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38200" y="1443600"/>
            <a:ext cx="10696074" cy="4860000"/>
          </a:xfrm>
        </p:spPr>
        <p:txBody>
          <a:bodyPr/>
          <a:lstStyle/>
          <a:p>
            <a:pPr marL="457200" indent="-457200">
              <a:buAutoNum type="arabicPeriod"/>
            </a:pPr>
            <a:r>
              <a:rPr lang="en-US" dirty="0"/>
              <a:t>Which of the following actions involve data conversion between analog data and digital data?</a:t>
            </a:r>
          </a:p>
          <a:p>
            <a:pPr marL="457200" indent="-457200">
              <a:buAutoNum type="arabicPeriod"/>
            </a:pPr>
            <a:endParaRPr lang="en-US" dirty="0"/>
          </a:p>
          <a:p>
            <a:pPr marL="1257300" lvl="2" indent="-342900">
              <a:buSzPct val="100000"/>
              <a:buAutoNum type="arabicParenBoth"/>
            </a:pPr>
            <a:r>
              <a:rPr lang="en-US" sz="2000" dirty="0"/>
              <a:t>Printing an electronic document</a:t>
            </a:r>
          </a:p>
          <a:p>
            <a:pPr marL="1257300" lvl="2" indent="-342900">
              <a:buSzPct val="100000"/>
              <a:buAutoNum type="arabicParenBoth"/>
            </a:pPr>
            <a:r>
              <a:rPr lang="en-US" sz="2000" dirty="0"/>
              <a:t>Combining multiple image files into a video file</a:t>
            </a:r>
          </a:p>
          <a:p>
            <a:pPr marL="1257300" lvl="2" indent="-342900">
              <a:buSzPct val="100000"/>
              <a:buAutoNum type="arabicParenBoth"/>
            </a:pPr>
            <a:r>
              <a:rPr lang="en-US" sz="2000" dirty="0"/>
              <a:t>Recording the sound of a fox</a:t>
            </a:r>
          </a:p>
          <a:p>
            <a:pPr marL="457200" indent="-457200">
              <a:buSzPct val="100000"/>
              <a:buAutoNum type="arabicPeriod"/>
            </a:pPr>
            <a:endParaRPr lang="en-HK" dirty="0"/>
          </a:p>
          <a:p>
            <a:pPr marL="800100" lvl="1" indent="-342900">
              <a:buSzPct val="100000"/>
              <a:buAutoNum type="alphaUcPeriod"/>
            </a:pPr>
            <a:r>
              <a:rPr lang="en-US" sz="2000" dirty="0"/>
              <a:t>(1) and (2) only</a:t>
            </a:r>
          </a:p>
          <a:p>
            <a:pPr marL="800100" lvl="1" indent="-342900">
              <a:buSzPct val="100000"/>
              <a:buAutoNum type="alphaUcPeriod"/>
            </a:pPr>
            <a:r>
              <a:rPr lang="en-US" sz="2000" dirty="0"/>
              <a:t>(1) and (3) only</a:t>
            </a:r>
          </a:p>
          <a:p>
            <a:pPr marL="800100" lvl="1" indent="-342900">
              <a:buSzPct val="100000"/>
              <a:buAutoNum type="alphaUcPeriod"/>
            </a:pPr>
            <a:r>
              <a:rPr lang="en-US" sz="2000" dirty="0"/>
              <a:t>(2) and (3) only</a:t>
            </a:r>
          </a:p>
          <a:p>
            <a:pPr marL="800100" lvl="1" indent="-342900">
              <a:buSzPct val="100000"/>
              <a:buAutoNum type="alphaUcPeriod"/>
            </a:pPr>
            <a:r>
              <a:rPr lang="en-US" sz="2000" dirty="0"/>
              <a:t>(1), (2) and (3)</a:t>
            </a:r>
          </a:p>
        </p:txBody>
      </p:sp>
      <p:sp>
        <p:nvSpPr>
          <p:cNvPr id="3" name="Slide Number Placeholder 2"/>
          <p:cNvSpPr>
            <a:spLocks noGrp="1"/>
          </p:cNvSpPr>
          <p:nvPr>
            <p:ph type="sldNum" sz="quarter" idx="12"/>
          </p:nvPr>
        </p:nvSpPr>
        <p:spPr/>
        <p:txBody>
          <a:bodyPr/>
          <a:lstStyle/>
          <a:p>
            <a:fld id="{6D22F896-40B5-4ADD-8801-0D06FADFA095}" type="slidenum">
              <a:rPr lang="en-US" smtClean="0"/>
              <a:t>100</a:t>
            </a:fld>
            <a:endParaRPr lang="en-US" dirty="0"/>
          </a:p>
        </p:txBody>
      </p:sp>
      <p:sp>
        <p:nvSpPr>
          <p:cNvPr id="4" name="Text Placeholder 3"/>
          <p:cNvSpPr>
            <a:spLocks noGrp="1"/>
          </p:cNvSpPr>
          <p:nvPr>
            <p:ph type="body" sz="quarter" idx="13"/>
          </p:nvPr>
        </p:nvSpPr>
        <p:spPr/>
        <p:txBody>
          <a:bodyPr/>
          <a:lstStyle/>
          <a:p>
            <a:r>
              <a:rPr lang="en-HK" dirty="0"/>
              <a:t>3.6</a:t>
            </a:r>
            <a:endParaRPr lang="en-US" dirty="0"/>
          </a:p>
        </p:txBody>
      </p:sp>
    </p:spTree>
    <p:extLst>
      <p:ext uri="{BB962C8B-B14F-4D97-AF65-F5344CB8AC3E}">
        <p14:creationId xmlns:p14="http://schemas.microsoft.com/office/powerpoint/2010/main" val="301860288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342900" indent="-342900">
              <a:buSzPct val="100000"/>
              <a:buFont typeface="Noto Sans CJK TC Regular" panose="020B0500000000000000" pitchFamily="34" charset="-128"/>
              <a:buChar char="◣"/>
            </a:pPr>
            <a:r>
              <a:rPr lang="en-HK" b="1" dirty="0">
                <a:solidFill>
                  <a:srgbClr val="37A3D4"/>
                </a:solidFill>
              </a:rPr>
              <a:t>Analysis</a:t>
            </a:r>
          </a:p>
          <a:p>
            <a:pPr>
              <a:buSzPct val="100000"/>
            </a:pPr>
            <a:r>
              <a:rPr lang="en-US" dirty="0"/>
              <a:t>For item (1), an electronic document is digital data while a printed document is an analog data.</a:t>
            </a:r>
          </a:p>
          <a:p>
            <a:pPr>
              <a:buSzPct val="100000"/>
            </a:pPr>
            <a:r>
              <a:rPr lang="en-US" dirty="0"/>
              <a:t>For item (2), both image files and video files are digital data. No analog data is involved. Therefore, (2) does not satisfy the requirement.</a:t>
            </a:r>
          </a:p>
          <a:p>
            <a:pPr>
              <a:buSzPct val="100000"/>
            </a:pPr>
            <a:r>
              <a:rPr lang="en-US" dirty="0"/>
              <a:t>For item (3), the sound waves produced by a fox are analog data while a sound recording is digital data.</a:t>
            </a:r>
          </a:p>
          <a:p>
            <a:pPr>
              <a:buSzPct val="100000"/>
            </a:pPr>
            <a:r>
              <a:rPr lang="en-US" dirty="0"/>
              <a:t>Therefore, both (1) and (3) satisfy the requirement.</a:t>
            </a:r>
            <a:br>
              <a:rPr lang="en-US" dirty="0"/>
            </a:br>
            <a:endParaRPr lang="en-HK" b="1" dirty="0">
              <a:solidFill>
                <a:srgbClr val="37A3D4"/>
              </a:solidFill>
            </a:endParaRPr>
          </a:p>
          <a:p>
            <a:pPr marL="342900" indent="-342900">
              <a:buSzPct val="100000"/>
              <a:buFont typeface="Noto Sans CJK TC Regular" panose="020B0500000000000000" pitchFamily="34" charset="-128"/>
              <a:buChar char="◣"/>
            </a:pPr>
            <a:r>
              <a:rPr lang="en-HK" b="1" dirty="0">
                <a:solidFill>
                  <a:srgbClr val="37A3D4"/>
                </a:solidFill>
              </a:rPr>
              <a:t>Solution</a:t>
            </a:r>
          </a:p>
          <a:p>
            <a:pPr>
              <a:buSzPct val="100000"/>
            </a:pPr>
            <a:r>
              <a:rPr lang="en-US" dirty="0"/>
              <a:t>The answer is B.</a:t>
            </a:r>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101</a:t>
            </a:fld>
            <a:endParaRPr lang="en-US" dirty="0"/>
          </a:p>
        </p:txBody>
      </p:sp>
      <p:sp>
        <p:nvSpPr>
          <p:cNvPr id="4" name="Text Placeholder 3"/>
          <p:cNvSpPr>
            <a:spLocks noGrp="1"/>
          </p:cNvSpPr>
          <p:nvPr>
            <p:ph type="body" sz="quarter" idx="13"/>
          </p:nvPr>
        </p:nvSpPr>
        <p:spPr/>
        <p:txBody>
          <a:bodyPr/>
          <a:lstStyle/>
          <a:p>
            <a:r>
              <a:rPr lang="en-HK" dirty="0"/>
              <a:t>3.6</a:t>
            </a:r>
            <a:endParaRPr lang="en-US" dirty="0"/>
          </a:p>
        </p:txBody>
      </p:sp>
    </p:spTree>
    <p:extLst>
      <p:ext uri="{BB962C8B-B14F-4D97-AF65-F5344CB8AC3E}">
        <p14:creationId xmlns:p14="http://schemas.microsoft.com/office/powerpoint/2010/main" val="186599097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pPr marL="457200" indent="-457200">
              <a:buFont typeface="+mj-lt"/>
              <a:buAutoNum type="arabicPeriod" startAt="2"/>
            </a:pPr>
            <a:r>
              <a:rPr lang="en-US" dirty="0"/>
              <a:t>Peter has a 1200-page book published in the 19th century. He uses a scanner to scan the books into a collection of image files, then converts the image files into text files by optical character recognition (OCR). Which of the following are the major benefits of this action?</a:t>
            </a:r>
          </a:p>
          <a:p>
            <a:pPr lvl="1"/>
            <a:endParaRPr lang="en-HK" dirty="0"/>
          </a:p>
          <a:p>
            <a:pPr marL="1257300" lvl="2" indent="-342900">
              <a:buSzPct val="100000"/>
              <a:buAutoNum type="arabicParenBoth"/>
            </a:pPr>
            <a:r>
              <a:rPr lang="en-US" sz="2200" dirty="0"/>
              <a:t>Peter can share the book with ease by uploading the image files on the internet.</a:t>
            </a:r>
          </a:p>
          <a:p>
            <a:pPr marL="1257300" lvl="2" indent="-342900">
              <a:buSzPct val="100000"/>
              <a:buAutoNum type="arabicParenBoth"/>
            </a:pPr>
            <a:r>
              <a:rPr lang="en-US" sz="2200" dirty="0"/>
              <a:t>Peter can search for text in the book with ease.</a:t>
            </a:r>
          </a:p>
          <a:p>
            <a:pPr marL="1257300" lvl="2" indent="-342900">
              <a:buSzPct val="100000"/>
              <a:buAutoNum type="arabicParenBoth"/>
            </a:pPr>
            <a:r>
              <a:rPr lang="en-US" sz="2200" dirty="0"/>
              <a:t>Peter can discard the book to save storage space.</a:t>
            </a:r>
          </a:p>
          <a:p>
            <a:pPr lvl="2">
              <a:buSzPct val="100000"/>
            </a:pPr>
            <a:endParaRPr lang="en-HK" sz="2200" dirty="0"/>
          </a:p>
          <a:p>
            <a:pPr marL="800100" lvl="1" indent="-342900">
              <a:buSzPct val="100000"/>
              <a:buAutoNum type="alphaUcPeriod"/>
            </a:pPr>
            <a:r>
              <a:rPr lang="en-HK" sz="2200" dirty="0"/>
              <a:t>(1) and (2) only</a:t>
            </a:r>
          </a:p>
          <a:p>
            <a:pPr marL="800100" lvl="1" indent="-342900">
              <a:buSzPct val="100000"/>
              <a:buAutoNum type="alphaUcPeriod"/>
            </a:pPr>
            <a:r>
              <a:rPr lang="en-HK" sz="2200" dirty="0"/>
              <a:t>(1) and (3) only</a:t>
            </a:r>
          </a:p>
          <a:p>
            <a:pPr marL="800100" lvl="1" indent="-342900">
              <a:buSzPct val="100000"/>
              <a:buAutoNum type="alphaUcPeriod"/>
            </a:pPr>
            <a:r>
              <a:rPr lang="en-HK" sz="2200" dirty="0"/>
              <a:t>(2) and (3) only</a:t>
            </a:r>
          </a:p>
          <a:p>
            <a:pPr marL="800100" lvl="1" indent="-342900">
              <a:buSzPct val="100000"/>
              <a:buAutoNum type="alphaUcPeriod"/>
            </a:pPr>
            <a:r>
              <a:rPr lang="en-HK" sz="2200" dirty="0"/>
              <a:t>(1), (2) and (3)</a:t>
            </a:r>
            <a:endParaRPr lang="en-US" sz="2200" dirty="0"/>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102</a:t>
            </a:fld>
            <a:endParaRPr lang="en-US" dirty="0"/>
          </a:p>
        </p:txBody>
      </p:sp>
      <p:sp>
        <p:nvSpPr>
          <p:cNvPr id="4" name="Text Placeholder 3"/>
          <p:cNvSpPr>
            <a:spLocks noGrp="1"/>
          </p:cNvSpPr>
          <p:nvPr>
            <p:ph type="body" sz="quarter" idx="13"/>
          </p:nvPr>
        </p:nvSpPr>
        <p:spPr/>
        <p:txBody>
          <a:bodyPr/>
          <a:lstStyle/>
          <a:p>
            <a:r>
              <a:rPr lang="en-HK" dirty="0"/>
              <a:t>3.6</a:t>
            </a:r>
            <a:endParaRPr lang="en-US" dirty="0"/>
          </a:p>
        </p:txBody>
      </p:sp>
    </p:spTree>
    <p:extLst>
      <p:ext uri="{BB962C8B-B14F-4D97-AF65-F5344CB8AC3E}">
        <p14:creationId xmlns:p14="http://schemas.microsoft.com/office/powerpoint/2010/main" val="117272362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pPr marL="342900" indent="-342900">
              <a:buSzPct val="100000"/>
              <a:buFont typeface="Noto Sans CJK TC Regular" panose="020B0500000000000000" pitchFamily="34" charset="-128"/>
              <a:buChar char="◣"/>
            </a:pPr>
            <a:r>
              <a:rPr lang="en-HK" b="1" dirty="0">
                <a:solidFill>
                  <a:srgbClr val="37A3D4"/>
                </a:solidFill>
              </a:rPr>
              <a:t>Analysis</a:t>
            </a:r>
          </a:p>
          <a:p>
            <a:pPr>
              <a:buSzPct val="100000"/>
            </a:pPr>
            <a:r>
              <a:rPr lang="en-US" dirty="0"/>
              <a:t>For item (1), it takes more time to share a book by transferring the physical copy between readers. Moreover, the book risks being damaged in the process. Therefore, being able to share the book in a digital form is a major benefit.</a:t>
            </a:r>
          </a:p>
          <a:p>
            <a:pPr>
              <a:buSzPct val="100000"/>
            </a:pPr>
            <a:r>
              <a:rPr lang="en-US" dirty="0"/>
              <a:t>For item (2), manually searching for text in a 1200-page book is very time-consuming but searching for text in an electronic document can be done fast and correctly by a computer. Therefore, the support of easy searching is a major benefit.</a:t>
            </a:r>
          </a:p>
          <a:p>
            <a:pPr>
              <a:buSzPct val="100000"/>
            </a:pPr>
            <a:r>
              <a:rPr lang="en-US" dirty="0"/>
              <a:t>For item (3), sometimes, the physical copy will be discarded after </a:t>
            </a:r>
            <a:r>
              <a:rPr lang="en-US" dirty="0" err="1"/>
              <a:t>digitalisation</a:t>
            </a:r>
            <a:r>
              <a:rPr lang="en-US" dirty="0"/>
              <a:t> for saving storage space. However, it is not a must. In this case, a book published in the 19th century is a valuable resource and is thus worth keeping.</a:t>
            </a:r>
          </a:p>
          <a:p>
            <a:pPr>
              <a:buSzPct val="100000"/>
            </a:pPr>
            <a:endParaRPr lang="en-HK" b="1" dirty="0">
              <a:solidFill>
                <a:srgbClr val="37A3D4"/>
              </a:solidFill>
            </a:endParaRPr>
          </a:p>
          <a:p>
            <a:pPr marL="342900" indent="-342900">
              <a:buSzPct val="100000"/>
              <a:buFont typeface="Noto Sans CJK TC Regular" panose="020B0500000000000000" pitchFamily="34" charset="-128"/>
              <a:buChar char="◣"/>
            </a:pPr>
            <a:r>
              <a:rPr lang="en-HK" b="1" dirty="0">
                <a:solidFill>
                  <a:srgbClr val="37A3D4"/>
                </a:solidFill>
              </a:rPr>
              <a:t>Solution</a:t>
            </a:r>
          </a:p>
          <a:p>
            <a:pPr>
              <a:buSzPct val="100000"/>
            </a:pPr>
            <a:r>
              <a:rPr lang="en-US" dirty="0"/>
              <a:t>The answer is A.</a:t>
            </a:r>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103</a:t>
            </a:fld>
            <a:endParaRPr lang="en-US" dirty="0"/>
          </a:p>
        </p:txBody>
      </p:sp>
      <p:sp>
        <p:nvSpPr>
          <p:cNvPr id="4" name="Text Placeholder 3"/>
          <p:cNvSpPr>
            <a:spLocks noGrp="1"/>
          </p:cNvSpPr>
          <p:nvPr>
            <p:ph type="body" sz="quarter" idx="13"/>
          </p:nvPr>
        </p:nvSpPr>
        <p:spPr/>
        <p:txBody>
          <a:bodyPr/>
          <a:lstStyle/>
          <a:p>
            <a:r>
              <a:rPr lang="en-HK" dirty="0"/>
              <a:t>3.6</a:t>
            </a:r>
            <a:endParaRPr lang="en-US" dirty="0"/>
          </a:p>
        </p:txBody>
      </p:sp>
    </p:spTree>
    <p:extLst>
      <p:ext uri="{BB962C8B-B14F-4D97-AF65-F5344CB8AC3E}">
        <p14:creationId xmlns:p14="http://schemas.microsoft.com/office/powerpoint/2010/main" val="347627264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HK" dirty="0"/>
              <a:t>Finish Checkpoint 3.6 on P. 100 of the textbook.</a:t>
            </a:r>
          </a:p>
          <a:p>
            <a:endParaRPr lang="en-HK" dirty="0"/>
          </a:p>
          <a:p>
            <a:pPr marL="457200" indent="-457200">
              <a:buAutoNum type="arabicPeriod"/>
            </a:pPr>
            <a:r>
              <a:rPr lang="en-HK" dirty="0">
                <a:solidFill>
                  <a:srgbClr val="FF0000"/>
                </a:solidFill>
              </a:rPr>
              <a:t>C</a:t>
            </a:r>
            <a:br>
              <a:rPr lang="en-HK" dirty="0">
                <a:solidFill>
                  <a:srgbClr val="FF0000"/>
                </a:solidFill>
              </a:rPr>
            </a:br>
            <a:endParaRPr lang="en-HK" dirty="0">
              <a:solidFill>
                <a:srgbClr val="FF0000"/>
              </a:solidFill>
            </a:endParaRPr>
          </a:p>
          <a:p>
            <a:pPr marL="457200" indent="-457200">
              <a:buAutoNum type="arabicPeriod"/>
            </a:pPr>
            <a:r>
              <a:rPr lang="en-HK" dirty="0">
                <a:solidFill>
                  <a:srgbClr val="FF0000"/>
                </a:solidFill>
              </a:rPr>
              <a:t>1. </a:t>
            </a:r>
            <a:r>
              <a:rPr lang="en-US" dirty="0">
                <a:solidFill>
                  <a:srgbClr val="FF0000"/>
                </a:solidFill>
              </a:rPr>
              <a:t>If students change their answers on the examination papers before appealing, the image files can prove them cheating.</a:t>
            </a:r>
            <a:br>
              <a:rPr lang="en-US" dirty="0">
                <a:solidFill>
                  <a:srgbClr val="FF0000"/>
                </a:solidFill>
              </a:rPr>
            </a:br>
            <a:r>
              <a:rPr lang="en-US" dirty="0">
                <a:solidFill>
                  <a:srgbClr val="FF0000"/>
                </a:solidFill>
              </a:rPr>
              <a:t/>
            </a:r>
            <a:br>
              <a:rPr lang="en-US" dirty="0">
                <a:solidFill>
                  <a:srgbClr val="FF0000"/>
                </a:solidFill>
              </a:rPr>
            </a:br>
            <a:r>
              <a:rPr lang="en-US" dirty="0">
                <a:solidFill>
                  <a:srgbClr val="FF0000"/>
                </a:solidFill>
              </a:rPr>
              <a:t>2. When a student tries to make an appeal, Mary can remark their paper at home.</a:t>
            </a:r>
            <a:br>
              <a:rPr lang="en-US" dirty="0">
                <a:solidFill>
                  <a:srgbClr val="FF0000"/>
                </a:solidFill>
              </a:rPr>
            </a:br>
            <a:r>
              <a:rPr lang="en-US" dirty="0">
                <a:solidFill>
                  <a:srgbClr val="FF0000"/>
                </a:solidFill>
              </a:rPr>
              <a:t/>
            </a:r>
            <a:br>
              <a:rPr lang="en-US" dirty="0">
                <a:solidFill>
                  <a:srgbClr val="FF0000"/>
                </a:solidFill>
              </a:rPr>
            </a:br>
            <a:r>
              <a:rPr lang="en-US" dirty="0">
                <a:solidFill>
                  <a:srgbClr val="FF0000"/>
                </a:solidFill>
              </a:rPr>
              <a:t>3. Students are allowed to keep their papers for revision.</a:t>
            </a:r>
          </a:p>
        </p:txBody>
      </p:sp>
      <p:sp>
        <p:nvSpPr>
          <p:cNvPr id="3" name="Slide Number Placeholder 2"/>
          <p:cNvSpPr>
            <a:spLocks noGrp="1"/>
          </p:cNvSpPr>
          <p:nvPr>
            <p:ph type="sldNum" sz="quarter" idx="12"/>
          </p:nvPr>
        </p:nvSpPr>
        <p:spPr/>
        <p:txBody>
          <a:bodyPr/>
          <a:lstStyle/>
          <a:p>
            <a:fld id="{6D22F896-40B5-4ADD-8801-0D06FADFA095}" type="slidenum">
              <a:rPr lang="en-US" smtClean="0"/>
              <a:t>104</a:t>
            </a:fld>
            <a:endParaRPr lang="en-US" dirty="0"/>
          </a:p>
        </p:txBody>
      </p:sp>
      <p:sp>
        <p:nvSpPr>
          <p:cNvPr id="4" name="Text Placeholder 3"/>
          <p:cNvSpPr>
            <a:spLocks noGrp="1"/>
          </p:cNvSpPr>
          <p:nvPr>
            <p:ph type="body" sz="quarter" idx="13"/>
          </p:nvPr>
        </p:nvSpPr>
        <p:spPr/>
        <p:txBody>
          <a:bodyPr/>
          <a:lstStyle/>
          <a:p>
            <a:r>
              <a:rPr lang="en-HK" dirty="0"/>
              <a:t>3.6</a:t>
            </a:r>
            <a:endParaRPr lang="en-US" dirty="0"/>
          </a:p>
        </p:txBody>
      </p:sp>
    </p:spTree>
    <p:extLst>
      <p:ext uri="{BB962C8B-B14F-4D97-AF65-F5344CB8AC3E}">
        <p14:creationId xmlns:p14="http://schemas.microsoft.com/office/powerpoint/2010/main" val="3756556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50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fade">
                                      <p:cBhvr>
                                        <p:cTn id="1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Multimedia</a:t>
            </a:r>
          </a:p>
        </p:txBody>
      </p:sp>
      <p:sp>
        <p:nvSpPr>
          <p:cNvPr id="3" name="Slide Number Placeholder 2"/>
          <p:cNvSpPr>
            <a:spLocks noGrp="1"/>
          </p:cNvSpPr>
          <p:nvPr>
            <p:ph type="sldNum" sz="quarter" idx="12"/>
          </p:nvPr>
        </p:nvSpPr>
        <p:spPr/>
        <p:txBody>
          <a:bodyPr/>
          <a:lstStyle/>
          <a:p>
            <a:fld id="{6D22F896-40B5-4ADD-8801-0D06FADFA095}" type="slidenum">
              <a:rPr lang="en-US" smtClean="0"/>
              <a:pPr/>
              <a:t>105</a:t>
            </a:fld>
            <a:endParaRPr lang="en-US" dirty="0"/>
          </a:p>
        </p:txBody>
      </p:sp>
      <p:sp>
        <p:nvSpPr>
          <p:cNvPr id="4" name="Text Placeholder 3"/>
          <p:cNvSpPr>
            <a:spLocks noGrp="1"/>
          </p:cNvSpPr>
          <p:nvPr>
            <p:ph type="body" sz="quarter" idx="14"/>
          </p:nvPr>
        </p:nvSpPr>
        <p:spPr/>
        <p:txBody>
          <a:bodyPr/>
          <a:lstStyle/>
          <a:p>
            <a:r>
              <a:rPr lang="en-HK" dirty="0"/>
              <a:t>3.5</a:t>
            </a:r>
            <a:endParaRPr lang="en-US" dirty="0"/>
          </a:p>
        </p:txBody>
      </p:sp>
      <p:sp>
        <p:nvSpPr>
          <p:cNvPr id="5" name="Content Placeholder 4"/>
          <p:cNvSpPr>
            <a:spLocks noGrp="1"/>
          </p:cNvSpPr>
          <p:nvPr>
            <p:ph sz="quarter" idx="15"/>
          </p:nvPr>
        </p:nvSpPr>
        <p:spPr>
          <a:xfrm>
            <a:off x="838800" y="1609200"/>
            <a:ext cx="7162200" cy="4680000"/>
          </a:xfrm>
        </p:spPr>
        <p:txBody>
          <a:bodyPr/>
          <a:lstStyle/>
          <a:p>
            <a:pPr lvl="0">
              <a:spcBef>
                <a:spcPts val="0"/>
              </a:spcBef>
            </a:pPr>
            <a:r>
              <a:rPr lang="en-HK" b="1" dirty="0">
                <a:solidFill>
                  <a:srgbClr val="504FA1"/>
                </a:solidFill>
                <a:cs typeface="Calibri" panose="020F0502020204030204" pitchFamily="34" charset="0"/>
              </a:rPr>
              <a:t>Multimedia</a:t>
            </a:r>
            <a:r>
              <a:rPr lang="en-HK" b="1" dirty="0">
                <a:solidFill>
                  <a:srgbClr val="38761D"/>
                </a:solidFill>
                <a:cs typeface="Calibri" panose="020F0502020204030204" pitchFamily="34" charset="0"/>
              </a:rPr>
              <a:t> </a:t>
            </a:r>
            <a:r>
              <a:rPr lang="en-HK" dirty="0">
                <a:cs typeface="Calibri" panose="020F0502020204030204" pitchFamily="34" charset="0"/>
              </a:rPr>
              <a:t>can be stored in various </a:t>
            </a:r>
            <a:r>
              <a:rPr lang="en-HK" b="1" dirty="0">
                <a:solidFill>
                  <a:srgbClr val="504FA1"/>
                </a:solidFill>
                <a:cs typeface="Calibri" panose="020F0502020204030204" pitchFamily="34" charset="0"/>
              </a:rPr>
              <a:t>file formats</a:t>
            </a:r>
            <a:r>
              <a:rPr lang="en-HK" dirty="0">
                <a:cs typeface="Calibri" panose="020F0502020204030204" pitchFamily="34" charset="0"/>
              </a:rPr>
              <a:t>.</a:t>
            </a:r>
            <a:endParaRPr lang="en-HK" b="1" dirty="0">
              <a:cs typeface="Calibri" panose="020F0502020204030204" pitchFamily="34" charset="0"/>
            </a:endParaRPr>
          </a:p>
          <a:p>
            <a:pPr lvl="0">
              <a:spcBef>
                <a:spcPts val="0"/>
              </a:spcBef>
            </a:pPr>
            <a:endParaRPr lang="en-HK" b="1" dirty="0">
              <a:cs typeface="Calibri" panose="020F0502020204030204" pitchFamily="34" charset="0"/>
            </a:endParaRPr>
          </a:p>
          <a:p>
            <a:r>
              <a:rPr lang="en-US" dirty="0">
                <a:cs typeface="Calibri" panose="020F0502020204030204" pitchFamily="34" charset="0"/>
              </a:rPr>
              <a:t>The file format and the </a:t>
            </a:r>
            <a:r>
              <a:rPr lang="en-US" b="1" dirty="0">
                <a:cs typeface="Calibri" panose="020F0502020204030204" pitchFamily="34" charset="0"/>
              </a:rPr>
              <a:t>metadata</a:t>
            </a:r>
            <a:r>
              <a:rPr lang="en-US" dirty="0">
                <a:cs typeface="Calibri" panose="020F0502020204030204" pitchFamily="34" charset="0"/>
              </a:rPr>
              <a:t> of a file are usually stored in its </a:t>
            </a:r>
            <a:r>
              <a:rPr lang="en-US" b="1" dirty="0">
                <a:cs typeface="Calibri" panose="020F0502020204030204" pitchFamily="34" charset="0"/>
              </a:rPr>
              <a:t>file header</a:t>
            </a:r>
            <a:r>
              <a:rPr lang="en-US" dirty="0">
                <a:cs typeface="Calibri" panose="020F0502020204030204" pitchFamily="34" charset="0"/>
              </a:rPr>
              <a:t>.</a:t>
            </a:r>
            <a:endParaRPr lang="en-HK" b="1" dirty="0">
              <a:cs typeface="Calibri" panose="020F0502020204030204" pitchFamily="34" charset="0"/>
            </a:endParaRPr>
          </a:p>
          <a:p>
            <a:pPr lvl="0">
              <a:spcBef>
                <a:spcPts val="0"/>
              </a:spcBef>
            </a:pPr>
            <a:endParaRPr lang="en-HK" b="1" dirty="0">
              <a:cs typeface="Calibri" panose="020F0502020204030204" pitchFamily="34" charset="0"/>
            </a:endParaRPr>
          </a:p>
          <a:p>
            <a:pPr lvl="0">
              <a:spcBef>
                <a:spcPts val="0"/>
              </a:spcBef>
            </a:pPr>
            <a:r>
              <a:rPr lang="en-HK" dirty="0">
                <a:cs typeface="Calibri" panose="020F0502020204030204" pitchFamily="34" charset="0"/>
              </a:rPr>
              <a:t>The file format of a file is usually indicated by its </a:t>
            </a:r>
            <a:r>
              <a:rPr lang="en-HK" b="1" dirty="0">
                <a:cs typeface="Calibri" panose="020F0502020204030204" pitchFamily="34" charset="0"/>
              </a:rPr>
              <a:t>file extension</a:t>
            </a:r>
            <a:r>
              <a:rPr lang="en-HK" dirty="0">
                <a:cs typeface="Calibri" panose="020F0502020204030204" pitchFamily="34" charset="0"/>
              </a:rPr>
              <a:t>.</a:t>
            </a:r>
          </a:p>
          <a:p>
            <a:endParaRPr lang="en-US" dirty="0"/>
          </a:p>
        </p:txBody>
      </p:sp>
      <p:pic>
        <p:nvPicPr>
          <p:cNvPr id="6" name="Picture 5"/>
          <p:cNvPicPr>
            <a:picLocks noChangeAspect="1"/>
          </p:cNvPicPr>
          <p:nvPr/>
        </p:nvPicPr>
        <p:blipFill>
          <a:blip r:embed="rId2"/>
          <a:stretch>
            <a:fillRect/>
          </a:stretch>
        </p:blipFill>
        <p:spPr>
          <a:xfrm>
            <a:off x="2860246" y="4910748"/>
            <a:ext cx="3236354" cy="1109051"/>
          </a:xfrm>
          <a:prstGeom prst="rect">
            <a:avLst/>
          </a:prstGeom>
        </p:spPr>
      </p:pic>
      <p:pic>
        <p:nvPicPr>
          <p:cNvPr id="7" name="Picture 6"/>
          <p:cNvPicPr>
            <a:picLocks noChangeAspect="1"/>
          </p:cNvPicPr>
          <p:nvPr/>
        </p:nvPicPr>
        <p:blipFill rotWithShape="1">
          <a:blip r:embed="rId3">
            <a:extLst>
              <a:ext uri="{28A0092B-C50C-407E-A947-70E740481C1C}">
                <a14:useLocalDpi xmlns:a14="http://schemas.microsoft.com/office/drawing/2010/main" val="0"/>
              </a:ext>
            </a:extLst>
          </a:blip>
          <a:srcRect b="3704"/>
          <a:stretch/>
        </p:blipFill>
        <p:spPr>
          <a:xfrm>
            <a:off x="8383282" y="1506854"/>
            <a:ext cx="3078518" cy="4242132"/>
          </a:xfrm>
          <a:prstGeom prst="rect">
            <a:avLst/>
          </a:prstGeom>
          <a:ln w="76200">
            <a:solidFill>
              <a:schemeClr val="bg1">
                <a:lumMod val="85000"/>
              </a:schemeClr>
            </a:solidFill>
          </a:ln>
        </p:spPr>
      </p:pic>
    </p:spTree>
    <p:extLst>
      <p:ext uri="{BB962C8B-B14F-4D97-AF65-F5344CB8AC3E}">
        <p14:creationId xmlns:p14="http://schemas.microsoft.com/office/powerpoint/2010/main" val="326744100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Multimedia</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106</a:t>
            </a:fld>
            <a:endParaRPr lang="en-US" dirty="0"/>
          </a:p>
        </p:txBody>
      </p:sp>
      <p:sp>
        <p:nvSpPr>
          <p:cNvPr id="4" name="Text Placeholder 3"/>
          <p:cNvSpPr>
            <a:spLocks noGrp="1"/>
          </p:cNvSpPr>
          <p:nvPr>
            <p:ph type="body" sz="quarter" idx="14"/>
          </p:nvPr>
        </p:nvSpPr>
        <p:spPr/>
        <p:txBody>
          <a:bodyPr/>
          <a:lstStyle/>
          <a:p>
            <a:r>
              <a:rPr lang="en-HK" dirty="0"/>
              <a:t>3.5</a:t>
            </a:r>
            <a:endParaRPr lang="en-US" dirty="0"/>
          </a:p>
        </p:txBody>
      </p:sp>
      <p:sp>
        <p:nvSpPr>
          <p:cNvPr id="5" name="Content Placeholder 4"/>
          <p:cNvSpPr>
            <a:spLocks noGrp="1"/>
          </p:cNvSpPr>
          <p:nvPr>
            <p:ph sz="quarter" idx="15"/>
          </p:nvPr>
        </p:nvSpPr>
        <p:spPr/>
        <p:txBody>
          <a:bodyPr/>
          <a:lstStyle/>
          <a:p>
            <a:r>
              <a:rPr lang="en-US" dirty="0"/>
              <a:t>File formats can be changed by:</a:t>
            </a:r>
          </a:p>
          <a:p>
            <a:endParaRPr lang="en-US" dirty="0"/>
          </a:p>
          <a:p>
            <a:pPr marL="342900" indent="-342900">
              <a:buFont typeface="Arial" panose="020B0604020202020204" pitchFamily="34" charset="0"/>
              <a:buChar char="•"/>
            </a:pPr>
            <a:r>
              <a:rPr lang="en-US" dirty="0"/>
              <a:t>Exporting in another file format with editing software</a:t>
            </a:r>
          </a:p>
          <a:p>
            <a:pPr marL="342900" indent="-342900">
              <a:buFont typeface="Arial" panose="020B0604020202020204" pitchFamily="34" charset="0"/>
              <a:buChar char="•"/>
            </a:pPr>
            <a:r>
              <a:rPr lang="en-US" dirty="0"/>
              <a:t>Using file format converting software</a:t>
            </a:r>
          </a:p>
          <a:p>
            <a:endParaRPr lang="en-US" dirty="0"/>
          </a:p>
        </p:txBody>
      </p:sp>
      <p:pic>
        <p:nvPicPr>
          <p:cNvPr id="6" name="Picture 5"/>
          <p:cNvPicPr>
            <a:picLocks noChangeAspect="1"/>
          </p:cNvPicPr>
          <p:nvPr/>
        </p:nvPicPr>
        <p:blipFill>
          <a:blip r:embed="rId2"/>
          <a:stretch>
            <a:fillRect/>
          </a:stretch>
        </p:blipFill>
        <p:spPr>
          <a:xfrm>
            <a:off x="7882664" y="2088228"/>
            <a:ext cx="3471136" cy="3195486"/>
          </a:xfrm>
          <a:prstGeom prst="rect">
            <a:avLst/>
          </a:prstGeom>
          <a:ln w="76200">
            <a:solidFill>
              <a:schemeClr val="bg1">
                <a:lumMod val="85000"/>
              </a:schemeClr>
            </a:solidFill>
          </a:ln>
        </p:spPr>
      </p:pic>
    </p:spTree>
    <p:extLst>
      <p:ext uri="{BB962C8B-B14F-4D97-AF65-F5344CB8AC3E}">
        <p14:creationId xmlns:p14="http://schemas.microsoft.com/office/powerpoint/2010/main" val="44571560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Compression</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107</a:t>
            </a:fld>
            <a:endParaRPr lang="en-US" dirty="0"/>
          </a:p>
        </p:txBody>
      </p:sp>
      <p:sp>
        <p:nvSpPr>
          <p:cNvPr id="4" name="Text Placeholder 3"/>
          <p:cNvSpPr>
            <a:spLocks noGrp="1"/>
          </p:cNvSpPr>
          <p:nvPr>
            <p:ph type="body" sz="quarter" idx="14"/>
          </p:nvPr>
        </p:nvSpPr>
        <p:spPr/>
        <p:txBody>
          <a:bodyPr/>
          <a:lstStyle/>
          <a:p>
            <a:r>
              <a:rPr lang="en-HK" dirty="0"/>
              <a:t>3.5</a:t>
            </a:r>
            <a:endParaRPr lang="en-US" dirty="0"/>
          </a:p>
        </p:txBody>
      </p:sp>
      <p:sp>
        <p:nvSpPr>
          <p:cNvPr id="5" name="Content Placeholder 4"/>
          <p:cNvSpPr>
            <a:spLocks noGrp="1"/>
          </p:cNvSpPr>
          <p:nvPr>
            <p:ph sz="quarter" idx="15"/>
          </p:nvPr>
        </p:nvSpPr>
        <p:spPr/>
        <p:txBody>
          <a:bodyPr/>
          <a:lstStyle/>
          <a:p>
            <a:pPr lvl="0">
              <a:spcBef>
                <a:spcPts val="0"/>
              </a:spcBef>
            </a:pPr>
            <a:r>
              <a:rPr lang="en-HK" dirty="0">
                <a:cs typeface="Calibri" panose="020F0502020204030204" pitchFamily="34" charset="0"/>
              </a:rPr>
              <a:t>Files are often </a:t>
            </a:r>
            <a:r>
              <a:rPr lang="en-HK" b="1" dirty="0">
                <a:solidFill>
                  <a:srgbClr val="504FA1"/>
                </a:solidFill>
                <a:cs typeface="Calibri" panose="020F0502020204030204" pitchFamily="34" charset="0"/>
              </a:rPr>
              <a:t>compressed</a:t>
            </a:r>
            <a:r>
              <a:rPr lang="en-HK" dirty="0">
                <a:cs typeface="Calibri" panose="020F0502020204030204" pitchFamily="34" charset="0"/>
              </a:rPr>
              <a:t> to facilitate file transmission and save storage space.</a:t>
            </a:r>
          </a:p>
          <a:p>
            <a:pPr lvl="0">
              <a:spcBef>
                <a:spcPts val="0"/>
              </a:spcBef>
            </a:pPr>
            <a:endParaRPr lang="en-HK" dirty="0">
              <a:cs typeface="Calibri" panose="020F0502020204030204" pitchFamily="34" charset="0"/>
            </a:endParaRPr>
          </a:p>
          <a:p>
            <a:pPr lvl="0">
              <a:spcBef>
                <a:spcPts val="0"/>
              </a:spcBef>
            </a:pPr>
            <a:endParaRPr lang="en-HK" dirty="0">
              <a:cs typeface="Calibri" panose="020F0502020204030204" pitchFamily="34" charset="0"/>
            </a:endParaRPr>
          </a:p>
          <a:p>
            <a:pPr lvl="0">
              <a:spcBef>
                <a:spcPts val="0"/>
              </a:spcBef>
            </a:pPr>
            <a:r>
              <a:rPr lang="en-HK" dirty="0">
                <a:cs typeface="Calibri" panose="020F0502020204030204" pitchFamily="34" charset="0"/>
              </a:rPr>
              <a:t>Details of compression method are usually stored in the file header.</a:t>
            </a:r>
          </a:p>
          <a:p>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37821" y="3351681"/>
            <a:ext cx="3544130" cy="2843094"/>
          </a:xfrm>
          <a:prstGeom prst="rect">
            <a:avLst/>
          </a:prstGeom>
          <a:ln>
            <a:solidFill>
              <a:schemeClr val="bg1">
                <a:lumMod val="85000"/>
              </a:schemeClr>
            </a:solidFill>
          </a:ln>
        </p:spPr>
      </p:pic>
    </p:spTree>
    <p:extLst>
      <p:ext uri="{BB962C8B-B14F-4D97-AF65-F5344CB8AC3E}">
        <p14:creationId xmlns:p14="http://schemas.microsoft.com/office/powerpoint/2010/main" val="414448571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Compression</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108</a:t>
            </a:fld>
            <a:endParaRPr lang="en-US" dirty="0"/>
          </a:p>
        </p:txBody>
      </p:sp>
      <p:sp>
        <p:nvSpPr>
          <p:cNvPr id="4" name="Text Placeholder 3"/>
          <p:cNvSpPr>
            <a:spLocks noGrp="1"/>
          </p:cNvSpPr>
          <p:nvPr>
            <p:ph type="body" sz="quarter" idx="14"/>
          </p:nvPr>
        </p:nvSpPr>
        <p:spPr/>
        <p:txBody>
          <a:bodyPr/>
          <a:lstStyle/>
          <a:p>
            <a:r>
              <a:rPr lang="en-HK" dirty="0"/>
              <a:t>3.5</a:t>
            </a:r>
            <a:endParaRPr lang="en-US" dirty="0"/>
          </a:p>
        </p:txBody>
      </p:sp>
      <p:sp>
        <p:nvSpPr>
          <p:cNvPr id="5" name="Content Placeholder 4"/>
          <p:cNvSpPr>
            <a:spLocks noGrp="1"/>
          </p:cNvSpPr>
          <p:nvPr>
            <p:ph sz="quarter" idx="15"/>
          </p:nvPr>
        </p:nvSpPr>
        <p:spPr/>
        <p:txBody>
          <a:bodyPr/>
          <a:lstStyle/>
          <a:p>
            <a:pPr lvl="0"/>
            <a:r>
              <a:rPr lang="en-HK" dirty="0">
                <a:cs typeface="Calibri" panose="020F0502020204030204" pitchFamily="34" charset="0"/>
              </a:rPr>
              <a:t>There are mainly two types of compressions:</a:t>
            </a:r>
          </a:p>
          <a:p>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2448361331"/>
              </p:ext>
            </p:extLst>
          </p:nvPr>
        </p:nvGraphicFramePr>
        <p:xfrm>
          <a:off x="1918800" y="2348947"/>
          <a:ext cx="8185826" cy="2657992"/>
        </p:xfrm>
        <a:graphic>
          <a:graphicData uri="http://schemas.openxmlformats.org/drawingml/2006/table">
            <a:tbl>
              <a:tblPr firstRow="1" bandRow="1">
                <a:tableStyleId>{5940675A-B579-460E-94D1-54222C63F5DA}</a:tableStyleId>
              </a:tblPr>
              <a:tblGrid>
                <a:gridCol w="4092913">
                  <a:extLst>
                    <a:ext uri="{9D8B030D-6E8A-4147-A177-3AD203B41FA5}">
                      <a16:colId xmlns:a16="http://schemas.microsoft.com/office/drawing/2014/main" val="20000"/>
                    </a:ext>
                  </a:extLst>
                </a:gridCol>
                <a:gridCol w="4092913">
                  <a:extLst>
                    <a:ext uri="{9D8B030D-6E8A-4147-A177-3AD203B41FA5}">
                      <a16:colId xmlns:a16="http://schemas.microsoft.com/office/drawing/2014/main" val="20001"/>
                    </a:ext>
                  </a:extLst>
                </a:gridCol>
              </a:tblGrid>
              <a:tr h="569986">
                <a:tc>
                  <a:txBody>
                    <a:bodyPr/>
                    <a:lstStyle/>
                    <a:p>
                      <a:pPr algn="ctr"/>
                      <a:r>
                        <a:rPr lang="en-HK" sz="2000" b="1" dirty="0">
                          <a:solidFill>
                            <a:schemeClr val="bg1"/>
                          </a:solidFill>
                          <a:latin typeface="+mn-lt"/>
                          <a:cs typeface="Calibri" panose="020F0502020204030204" pitchFamily="34" charset="0"/>
                        </a:rPr>
                        <a:t>Lossless</a:t>
                      </a:r>
                      <a:r>
                        <a:rPr lang="en-HK" sz="2000" b="1" baseline="0" dirty="0">
                          <a:solidFill>
                            <a:schemeClr val="bg1"/>
                          </a:solidFill>
                          <a:latin typeface="+mn-lt"/>
                          <a:cs typeface="Calibri" panose="020F0502020204030204" pitchFamily="34" charset="0"/>
                        </a:rPr>
                        <a:t> Compression</a:t>
                      </a:r>
                      <a:endParaRPr lang="en-US" sz="2000" b="1" dirty="0">
                        <a:solidFill>
                          <a:schemeClr val="bg1"/>
                        </a:solidFill>
                        <a:latin typeface="+mn-lt"/>
                        <a:cs typeface="Calibri" panose="020F0502020204030204" pitchFamily="34" charset="0"/>
                      </a:endParaRPr>
                    </a:p>
                  </a:txBody>
                  <a:tcPr anchor="ctr">
                    <a:lnL w="12700" cap="flat" cmpd="sng" algn="ctr">
                      <a:solidFill>
                        <a:srgbClr val="57A044"/>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sz="2000" b="1" u="none" dirty="0" err="1">
                          <a:solidFill>
                            <a:schemeClr val="bg1"/>
                          </a:solidFill>
                          <a:effectLst/>
                          <a:latin typeface="+mn-lt"/>
                          <a:cs typeface="Calibri" panose="020F0502020204030204" pitchFamily="34" charset="0"/>
                        </a:rPr>
                        <a:t>Lossy</a:t>
                      </a:r>
                      <a:r>
                        <a:rPr lang="en-HK" sz="2000" b="1" u="none" dirty="0">
                          <a:solidFill>
                            <a:schemeClr val="bg1"/>
                          </a:solidFill>
                          <a:effectLst/>
                          <a:latin typeface="+mn-lt"/>
                          <a:cs typeface="Calibri" panose="020F0502020204030204" pitchFamily="34" charset="0"/>
                        </a:rPr>
                        <a:t> compression</a:t>
                      </a:r>
                      <a:endParaRPr lang="en-US" sz="2000" b="1" u="none" dirty="0">
                        <a:solidFill>
                          <a:schemeClr val="bg1"/>
                        </a:solidFill>
                        <a:effectLst/>
                        <a:latin typeface="+mn-lt"/>
                        <a:cs typeface="Calibri" panose="020F050202020403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extLst>
                  <a:ext uri="{0D108BD9-81ED-4DB2-BD59-A6C34878D82A}">
                    <a16:rowId xmlns:a16="http://schemas.microsoft.com/office/drawing/2014/main" val="10000"/>
                  </a:ext>
                </a:extLst>
              </a:tr>
              <a:tr h="693483">
                <a:tc>
                  <a:txBody>
                    <a:bodyPr/>
                    <a:lstStyle/>
                    <a:p>
                      <a:pPr algn="ctr"/>
                      <a:r>
                        <a:rPr lang="en-HK" sz="2000" dirty="0">
                          <a:latin typeface="+mn-lt"/>
                          <a:cs typeface="Calibri" panose="020F0502020204030204" pitchFamily="34" charset="0"/>
                        </a:rPr>
                        <a:t>No data lost</a:t>
                      </a:r>
                      <a:r>
                        <a:rPr lang="en-HK" sz="2000" baseline="0" dirty="0">
                          <a:latin typeface="+mn-lt"/>
                          <a:cs typeface="Calibri" panose="020F0502020204030204" pitchFamily="34" charset="0"/>
                        </a:rPr>
                        <a:t> after compression</a:t>
                      </a:r>
                      <a:endParaRPr lang="en-US" sz="2000" dirty="0">
                        <a:latin typeface="+mn-lt"/>
                        <a:cs typeface="Calibri" panose="020F0502020204030204" pitchFamily="34"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sz="2000" dirty="0">
                          <a:latin typeface="+mn-lt"/>
                          <a:cs typeface="Calibri" panose="020F0502020204030204" pitchFamily="34" charset="0"/>
                        </a:rPr>
                        <a:t>Some data</a:t>
                      </a:r>
                      <a:r>
                        <a:rPr lang="en-HK" sz="2000" baseline="0" dirty="0">
                          <a:latin typeface="+mn-lt"/>
                          <a:cs typeface="Calibri" panose="020F0502020204030204" pitchFamily="34" charset="0"/>
                        </a:rPr>
                        <a:t> lost after compression</a:t>
                      </a:r>
                      <a:endParaRPr lang="en-US" sz="2000" dirty="0">
                        <a:latin typeface="+mn-lt"/>
                        <a:cs typeface="Calibri" panose="020F0502020204030204" pitchFamily="34"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1"/>
                  </a:ext>
                </a:extLst>
              </a:tr>
              <a:tr h="693483">
                <a:tc>
                  <a:txBody>
                    <a:bodyPr/>
                    <a:lstStyle/>
                    <a:p>
                      <a:pPr algn="ctr"/>
                      <a:r>
                        <a:rPr lang="en-HK" sz="2000" dirty="0">
                          <a:latin typeface="+mn-lt"/>
                          <a:cs typeface="Calibri" panose="020F0502020204030204" pitchFamily="34" charset="0"/>
                        </a:rPr>
                        <a:t>Original file can be retrieved completely</a:t>
                      </a:r>
                      <a:endParaRPr lang="en-US" sz="2000" dirty="0">
                        <a:latin typeface="+mn-lt"/>
                        <a:cs typeface="Calibri" panose="020F0502020204030204" pitchFamily="34"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sz="2000" dirty="0">
                          <a:latin typeface="+mn-lt"/>
                          <a:cs typeface="Calibri" panose="020F0502020204030204" pitchFamily="34" charset="0"/>
                        </a:rPr>
                        <a:t>File</a:t>
                      </a:r>
                      <a:r>
                        <a:rPr lang="en-HK" sz="2000" baseline="0" dirty="0">
                          <a:latin typeface="+mn-lt"/>
                          <a:cs typeface="Calibri" panose="020F0502020204030204" pitchFamily="34" charset="0"/>
                        </a:rPr>
                        <a:t> slightly different after decompression</a:t>
                      </a:r>
                      <a:endParaRPr lang="en-US" sz="2000" dirty="0">
                        <a:latin typeface="+mn-lt"/>
                        <a:cs typeface="Calibri" panose="020F0502020204030204" pitchFamily="34"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2"/>
                  </a:ext>
                </a:extLst>
              </a:tr>
              <a:tr h="693483">
                <a:tc>
                  <a:txBody>
                    <a:bodyPr/>
                    <a:lstStyle/>
                    <a:p>
                      <a:pPr algn="ctr"/>
                      <a:r>
                        <a:rPr lang="en-HK" sz="2000" dirty="0">
                          <a:latin typeface="+mn-lt"/>
                          <a:cs typeface="Calibri" panose="020F0502020204030204" pitchFamily="34" charset="0"/>
                        </a:rPr>
                        <a:t>Saves less storage</a:t>
                      </a:r>
                      <a:r>
                        <a:rPr lang="en-HK" sz="2000" baseline="0" dirty="0">
                          <a:latin typeface="+mn-lt"/>
                          <a:cs typeface="Calibri" panose="020F0502020204030204" pitchFamily="34" charset="0"/>
                        </a:rPr>
                        <a:t> space </a:t>
                      </a:r>
                      <a:endParaRPr lang="en-US" sz="2000" dirty="0">
                        <a:latin typeface="+mn-lt"/>
                        <a:cs typeface="Calibri" panose="020F0502020204030204" pitchFamily="34"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sz="2000" dirty="0">
                          <a:latin typeface="+mn-lt"/>
                          <a:cs typeface="Calibri" panose="020F0502020204030204" pitchFamily="34" charset="0"/>
                        </a:rPr>
                        <a:t>Saves more storage space</a:t>
                      </a:r>
                      <a:endParaRPr lang="en-US" sz="2000" dirty="0">
                        <a:latin typeface="+mn-lt"/>
                        <a:cs typeface="Calibri" panose="020F0502020204030204" pitchFamily="34" charset="0"/>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40095040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Compression</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109</a:t>
            </a:fld>
            <a:endParaRPr lang="en-US" dirty="0"/>
          </a:p>
        </p:txBody>
      </p:sp>
      <p:sp>
        <p:nvSpPr>
          <p:cNvPr id="4" name="Text Placeholder 3"/>
          <p:cNvSpPr>
            <a:spLocks noGrp="1"/>
          </p:cNvSpPr>
          <p:nvPr>
            <p:ph type="body" sz="quarter" idx="14"/>
          </p:nvPr>
        </p:nvSpPr>
        <p:spPr/>
        <p:txBody>
          <a:bodyPr/>
          <a:lstStyle/>
          <a:p>
            <a:r>
              <a:rPr lang="en-HK" dirty="0"/>
              <a:t>3.5</a:t>
            </a:r>
            <a:endParaRPr lang="en-US" dirty="0"/>
          </a:p>
        </p:txBody>
      </p:sp>
      <mc:AlternateContent xmlns:mc="http://schemas.openxmlformats.org/markup-compatibility/2006" xmlns:a14="http://schemas.microsoft.com/office/drawing/2010/main">
        <mc:Choice Requires="a14">
          <p:sp>
            <p:nvSpPr>
              <p:cNvPr id="5" name="Content Placeholder 4"/>
              <p:cNvSpPr>
                <a:spLocks noGrp="1"/>
              </p:cNvSpPr>
              <p:nvPr>
                <p:ph sz="quarter" idx="15"/>
              </p:nvPr>
            </p:nvSpPr>
            <p:spPr>
              <a:xfrm>
                <a:off x="838800" y="1609200"/>
                <a:ext cx="6724050" cy="4680000"/>
              </a:xfrm>
            </p:spPr>
            <p:txBody>
              <a:bodyPr/>
              <a:lstStyle/>
              <a:p>
                <a:pPr lvl="0">
                  <a:spcBef>
                    <a:spcPts val="0"/>
                  </a:spcBef>
                </a:pPr>
                <a:r>
                  <a:rPr lang="en-HK" dirty="0">
                    <a:cs typeface="Calibri" panose="020F0502020204030204" pitchFamily="34" charset="0"/>
                  </a:rPr>
                  <a:t>The </a:t>
                </a:r>
                <a:r>
                  <a:rPr lang="en-HK" b="1" dirty="0">
                    <a:solidFill>
                      <a:srgbClr val="504FA1"/>
                    </a:solidFill>
                    <a:cs typeface="Calibri" panose="020F0502020204030204" pitchFamily="34" charset="0"/>
                  </a:rPr>
                  <a:t>compression ratio</a:t>
                </a:r>
                <a:r>
                  <a:rPr lang="en-HK" b="1" dirty="0">
                    <a:solidFill>
                      <a:srgbClr val="57A044"/>
                    </a:solidFill>
                    <a:cs typeface="Calibri" panose="020F0502020204030204" pitchFamily="34" charset="0"/>
                  </a:rPr>
                  <a:t> </a:t>
                </a:r>
                <a:r>
                  <a:rPr lang="en-HK" dirty="0">
                    <a:cs typeface="Calibri" panose="020F0502020204030204" pitchFamily="34" charset="0"/>
                  </a:rPr>
                  <a:t>can be calculated by:</a:t>
                </a:r>
              </a:p>
              <a:p>
                <a:pPr lvl="0">
                  <a:spcBef>
                    <a:spcPts val="0"/>
                  </a:spcBef>
                </a:pPr>
                <a:endParaRPr lang="en-HK" dirty="0">
                  <a:cs typeface="Calibri" panose="020F0502020204030204" pitchFamily="34" charset="0"/>
                </a:endParaRPr>
              </a:p>
              <a:p>
                <a:pPr lvl="0">
                  <a:spcBef>
                    <a:spcPts val="0"/>
                  </a:spcBef>
                </a:pPr>
                <a14:m>
                  <m:oMathPara xmlns:m="http://schemas.openxmlformats.org/officeDocument/2006/math">
                    <m:oMathParaPr>
                      <m:jc m:val="centerGroup"/>
                    </m:oMathParaPr>
                    <m:oMath xmlns:m="http://schemas.openxmlformats.org/officeDocument/2006/math">
                      <m:r>
                        <a:rPr lang="en-HK" i="1">
                          <a:latin typeface="Cambria Math" panose="02040503050406030204" pitchFamily="18" charset="0"/>
                        </a:rPr>
                        <m:t>𝐶𝑜𝑚𝑝𝑟𝑒𝑠𝑠𝑖𝑜𝑛</m:t>
                      </m:r>
                      <m:r>
                        <a:rPr lang="en-HK" i="1">
                          <a:latin typeface="Cambria Math" panose="02040503050406030204" pitchFamily="18" charset="0"/>
                        </a:rPr>
                        <m:t> </m:t>
                      </m:r>
                      <m:r>
                        <a:rPr lang="en-HK" i="1">
                          <a:latin typeface="Cambria Math" panose="02040503050406030204" pitchFamily="18" charset="0"/>
                        </a:rPr>
                        <m:t>𝑅𝑎𝑡𝑖𝑜</m:t>
                      </m:r>
                      <m:r>
                        <a:rPr lang="en-HK" i="1">
                          <a:latin typeface="Cambria Math" panose="02040503050406030204" pitchFamily="18" charset="0"/>
                        </a:rPr>
                        <m:t>=</m:t>
                      </m:r>
                      <m:f>
                        <m:fPr>
                          <m:ctrlPr>
                            <a:rPr lang="en-HK" i="1">
                              <a:latin typeface="Cambria Math" panose="02040503050406030204" pitchFamily="18" charset="0"/>
                            </a:rPr>
                          </m:ctrlPr>
                        </m:fPr>
                        <m:num>
                          <m:r>
                            <a:rPr lang="en-HK" i="1">
                              <a:latin typeface="Cambria Math" panose="02040503050406030204" pitchFamily="18" charset="0"/>
                            </a:rPr>
                            <m:t>𝑈𝑛𝑐𝑜𝑚𝑝𝑟𝑒𝑠𝑠𝑒𝑑</m:t>
                          </m:r>
                          <m:r>
                            <a:rPr lang="en-HK" i="1">
                              <a:latin typeface="Cambria Math" panose="02040503050406030204" pitchFamily="18" charset="0"/>
                            </a:rPr>
                            <m:t> </m:t>
                          </m:r>
                          <m:r>
                            <a:rPr lang="en-HK" i="1">
                              <a:latin typeface="Cambria Math" panose="02040503050406030204" pitchFamily="18" charset="0"/>
                            </a:rPr>
                            <m:t>𝑆𝑖𝑧𝑒</m:t>
                          </m:r>
                        </m:num>
                        <m:den>
                          <m:r>
                            <a:rPr lang="en-HK" i="1">
                              <a:latin typeface="Cambria Math" panose="02040503050406030204" pitchFamily="18" charset="0"/>
                            </a:rPr>
                            <m:t>𝐶𝑜𝑚𝑝𝑟𝑒𝑠𝑠𝑒𝑑</m:t>
                          </m:r>
                          <m:r>
                            <a:rPr lang="en-HK" i="1">
                              <a:latin typeface="Cambria Math" panose="02040503050406030204" pitchFamily="18" charset="0"/>
                            </a:rPr>
                            <m:t> </m:t>
                          </m:r>
                          <m:r>
                            <a:rPr lang="en-HK" i="1">
                              <a:latin typeface="Cambria Math" panose="02040503050406030204" pitchFamily="18" charset="0"/>
                            </a:rPr>
                            <m:t>𝑆𝑖𝑧𝑒</m:t>
                          </m:r>
                        </m:den>
                      </m:f>
                    </m:oMath>
                  </m:oMathPara>
                </a14:m>
                <a:endParaRPr lang="en-HK" dirty="0">
                  <a:cs typeface="Calibri" panose="020F0502020204030204" pitchFamily="34" charset="0"/>
                </a:endParaRPr>
              </a:p>
              <a:p>
                <a:pPr lvl="0">
                  <a:spcBef>
                    <a:spcPts val="0"/>
                  </a:spcBef>
                </a:pPr>
                <a:endParaRPr lang="en-HK" dirty="0">
                  <a:cs typeface="Calibri" panose="020F0502020204030204" pitchFamily="34" charset="0"/>
                </a:endParaRPr>
              </a:p>
              <a:p>
                <a:pPr lvl="0">
                  <a:spcBef>
                    <a:spcPts val="0"/>
                  </a:spcBef>
                </a:pPr>
                <a:endParaRPr lang="en-HK" dirty="0">
                  <a:cs typeface="Calibri" panose="020F0502020204030204" pitchFamily="34" charset="0"/>
                </a:endParaRPr>
              </a:p>
              <a:p>
                <a:pPr lvl="0">
                  <a:spcBef>
                    <a:spcPts val="0"/>
                  </a:spcBef>
                </a:pPr>
                <a:r>
                  <a:rPr lang="en-HK" dirty="0">
                    <a:cs typeface="Calibri" panose="020F0502020204030204" pitchFamily="34" charset="0"/>
                  </a:rPr>
                  <a:t>Higher compression ratio means more storage saved.</a:t>
                </a:r>
                <a:br>
                  <a:rPr lang="en-HK" dirty="0">
                    <a:cs typeface="Calibri" panose="020F0502020204030204" pitchFamily="34" charset="0"/>
                  </a:rPr>
                </a:br>
                <a:endParaRPr lang="en-HK" dirty="0">
                  <a:cs typeface="Calibri" panose="020F0502020204030204" pitchFamily="34" charset="0"/>
                </a:endParaRPr>
              </a:p>
            </p:txBody>
          </p:sp>
        </mc:Choice>
        <mc:Fallback xmlns="">
          <p:sp>
            <p:nvSpPr>
              <p:cNvPr id="5" name="Content Placeholder 4"/>
              <p:cNvSpPr>
                <a:spLocks noGrp="1" noRot="1" noChangeAspect="1" noMove="1" noResize="1" noEditPoints="1" noAdjustHandles="1" noChangeArrowheads="1" noChangeShapeType="1" noTextEdit="1"/>
              </p:cNvSpPr>
              <p:nvPr>
                <p:ph sz="quarter" idx="15"/>
              </p:nvPr>
            </p:nvSpPr>
            <p:spPr>
              <a:xfrm>
                <a:off x="838800" y="1609200"/>
                <a:ext cx="6724050" cy="4680000"/>
              </a:xfrm>
              <a:blipFill rotWithShape="0">
                <a:blip r:embed="rId2"/>
                <a:stretch>
                  <a:fillRect l="-997" t="-130"/>
                </a:stretch>
              </a:blipFill>
            </p:spPr>
            <p:txBody>
              <a:bodyPr/>
              <a:lstStyle/>
              <a:p>
                <a:r>
                  <a:rPr lang="en-US">
                    <a:noFill/>
                  </a:rPr>
                  <a:t> </a:t>
                </a:r>
              </a:p>
            </p:txBody>
          </p:sp>
        </mc:Fallback>
      </mc:AlternateContent>
    </p:spTree>
    <p:extLst>
      <p:ext uri="{BB962C8B-B14F-4D97-AF65-F5344CB8AC3E}">
        <p14:creationId xmlns:p14="http://schemas.microsoft.com/office/powerpoint/2010/main" val="136287278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HK" dirty="0"/>
              <a:t>Finish Activity 3.1 on P. 103 of the textbook.</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110</a:t>
            </a:fld>
            <a:endParaRPr lang="en-US" dirty="0"/>
          </a:p>
        </p:txBody>
      </p:sp>
      <p:sp>
        <p:nvSpPr>
          <p:cNvPr id="4" name="Text Placeholder 3"/>
          <p:cNvSpPr>
            <a:spLocks noGrp="1"/>
          </p:cNvSpPr>
          <p:nvPr>
            <p:ph type="body" sz="quarter" idx="13"/>
          </p:nvPr>
        </p:nvSpPr>
        <p:spPr/>
        <p:txBody>
          <a:bodyPr/>
          <a:lstStyle/>
          <a:p>
            <a:r>
              <a:rPr lang="en-HK" dirty="0"/>
              <a:t>3.1</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3954249359"/>
              </p:ext>
            </p:extLst>
          </p:nvPr>
        </p:nvGraphicFramePr>
        <p:xfrm>
          <a:off x="1006337" y="1912095"/>
          <a:ext cx="10109337" cy="4288679"/>
        </p:xfrm>
        <a:graphic>
          <a:graphicData uri="http://schemas.openxmlformats.org/drawingml/2006/table">
            <a:tbl>
              <a:tblPr firstRow="1" bandRow="1">
                <a:tableStyleId>{5940675A-B579-460E-94D1-54222C63F5DA}</a:tableStyleId>
              </a:tblPr>
              <a:tblGrid>
                <a:gridCol w="1593275">
                  <a:extLst>
                    <a:ext uri="{9D8B030D-6E8A-4147-A177-3AD203B41FA5}">
                      <a16:colId xmlns:a16="http://schemas.microsoft.com/office/drawing/2014/main" val="20000"/>
                    </a:ext>
                  </a:extLst>
                </a:gridCol>
                <a:gridCol w="2875864">
                  <a:extLst>
                    <a:ext uri="{9D8B030D-6E8A-4147-A177-3AD203B41FA5}">
                      <a16:colId xmlns:a16="http://schemas.microsoft.com/office/drawing/2014/main" val="20001"/>
                    </a:ext>
                  </a:extLst>
                </a:gridCol>
                <a:gridCol w="2867896">
                  <a:extLst>
                    <a:ext uri="{9D8B030D-6E8A-4147-A177-3AD203B41FA5}">
                      <a16:colId xmlns:a16="http://schemas.microsoft.com/office/drawing/2014/main" val="20002"/>
                    </a:ext>
                  </a:extLst>
                </a:gridCol>
                <a:gridCol w="2772302">
                  <a:extLst>
                    <a:ext uri="{9D8B030D-6E8A-4147-A177-3AD203B41FA5}">
                      <a16:colId xmlns:a16="http://schemas.microsoft.com/office/drawing/2014/main" val="20003"/>
                    </a:ext>
                  </a:extLst>
                </a:gridCol>
              </a:tblGrid>
              <a:tr h="433446">
                <a:tc>
                  <a:txBody>
                    <a:bodyPr/>
                    <a:lstStyle/>
                    <a:p>
                      <a:pPr algn="ctr"/>
                      <a:r>
                        <a:rPr lang="en-HK" b="1" dirty="0">
                          <a:solidFill>
                            <a:schemeClr val="bg1"/>
                          </a:solidFill>
                        </a:rPr>
                        <a:t>File format</a:t>
                      </a:r>
                      <a:endParaRPr lang="en-US" b="1" dirty="0">
                        <a:solidFill>
                          <a:schemeClr val="bg1"/>
                        </a:solidFill>
                      </a:endParaRPr>
                    </a:p>
                  </a:txBody>
                  <a:tcPr anchor="ctr">
                    <a:lnL w="12700" cap="flat" cmpd="sng" algn="ctr">
                      <a:solidFill>
                        <a:srgbClr val="83AC4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3AC40"/>
                    </a:solidFill>
                  </a:tcPr>
                </a:tc>
                <a:tc>
                  <a:txBody>
                    <a:bodyPr/>
                    <a:lstStyle/>
                    <a:p>
                      <a:pPr algn="ctr"/>
                      <a:r>
                        <a:rPr lang="en-HK" b="1" dirty="0">
                          <a:solidFill>
                            <a:schemeClr val="bg1"/>
                          </a:solidFill>
                        </a:rPr>
                        <a:t>BMP</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solidFill>
                      <a:srgbClr val="83AC40"/>
                    </a:solidFill>
                  </a:tcPr>
                </a:tc>
                <a:tc>
                  <a:txBody>
                    <a:bodyPr/>
                    <a:lstStyle/>
                    <a:p>
                      <a:pPr algn="ctr"/>
                      <a:r>
                        <a:rPr lang="en-HK" b="1" dirty="0">
                          <a:solidFill>
                            <a:schemeClr val="bg1"/>
                          </a:solidFill>
                        </a:rPr>
                        <a:t>PNG</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solidFill>
                      <a:srgbClr val="83AC40"/>
                    </a:solidFill>
                  </a:tcPr>
                </a:tc>
                <a:tc>
                  <a:txBody>
                    <a:bodyPr/>
                    <a:lstStyle/>
                    <a:p>
                      <a:pPr algn="ctr"/>
                      <a:r>
                        <a:rPr lang="en-HK" b="1" dirty="0">
                          <a:solidFill>
                            <a:schemeClr val="bg1"/>
                          </a:solidFill>
                        </a:rPr>
                        <a:t>JPG</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solidFill>
                      <a:srgbClr val="83AC40"/>
                    </a:solidFill>
                  </a:tcPr>
                </a:tc>
                <a:extLst>
                  <a:ext uri="{0D108BD9-81ED-4DB2-BD59-A6C34878D82A}">
                    <a16:rowId xmlns:a16="http://schemas.microsoft.com/office/drawing/2014/main" val="10000"/>
                  </a:ext>
                </a:extLst>
              </a:tr>
              <a:tr h="758530">
                <a:tc>
                  <a:txBody>
                    <a:bodyPr/>
                    <a:lstStyle/>
                    <a:p>
                      <a:pPr algn="ctr"/>
                      <a:r>
                        <a:rPr lang="en-HK" b="1" dirty="0">
                          <a:solidFill>
                            <a:schemeClr val="bg1"/>
                          </a:solidFill>
                        </a:rPr>
                        <a:t>Compression</a:t>
                      </a:r>
                      <a:endParaRPr lang="en-US" b="1" dirty="0">
                        <a:solidFill>
                          <a:schemeClr val="bg1"/>
                        </a:solidFill>
                      </a:endParaRPr>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3AC40"/>
                    </a:solidFill>
                  </a:tcPr>
                </a:tc>
                <a:tc>
                  <a:txBody>
                    <a:bodyPr/>
                    <a:lstStyle/>
                    <a:p>
                      <a:pPr algn="ctr"/>
                      <a:r>
                        <a:rPr lang="en-HK" b="1" dirty="0">
                          <a:solidFill>
                            <a:srgbClr val="38761D"/>
                          </a:solidFill>
                        </a:rPr>
                        <a:t>Uncompressed</a:t>
                      </a:r>
                      <a:endParaRPr lang="en-US" b="1" dirty="0">
                        <a:solidFill>
                          <a:srgbClr val="38761D"/>
                        </a:solidFill>
                      </a:endParaRPr>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tcPr>
                </a:tc>
                <a:tc>
                  <a:txBody>
                    <a:bodyPr/>
                    <a:lstStyle/>
                    <a:p>
                      <a:pPr algn="ctr"/>
                      <a:r>
                        <a:rPr lang="en-HK" b="1" dirty="0">
                          <a:solidFill>
                            <a:srgbClr val="38761D"/>
                          </a:solidFill>
                        </a:rPr>
                        <a:t>Lossless</a:t>
                      </a:r>
                      <a:endParaRPr lang="en-US" b="1" dirty="0">
                        <a:solidFill>
                          <a:srgbClr val="38761D"/>
                        </a:solidFill>
                      </a:endParaRPr>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tcPr>
                </a:tc>
                <a:tc>
                  <a:txBody>
                    <a:bodyPr/>
                    <a:lstStyle/>
                    <a:p>
                      <a:pPr algn="ctr"/>
                      <a:r>
                        <a:rPr lang="en-HK" b="1" dirty="0" err="1">
                          <a:solidFill>
                            <a:srgbClr val="38761D"/>
                          </a:solidFill>
                        </a:rPr>
                        <a:t>Lossy</a:t>
                      </a:r>
                      <a:endParaRPr lang="en-US" b="1" dirty="0">
                        <a:solidFill>
                          <a:srgbClr val="38761D"/>
                        </a:solidFill>
                      </a:endParaRPr>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tcPr>
                </a:tc>
                <a:extLst>
                  <a:ext uri="{0D108BD9-81ED-4DB2-BD59-A6C34878D82A}">
                    <a16:rowId xmlns:a16="http://schemas.microsoft.com/office/drawing/2014/main" val="10001"/>
                  </a:ext>
                </a:extLst>
              </a:tr>
              <a:tr h="1904727">
                <a:tc>
                  <a:txBody>
                    <a:bodyPr/>
                    <a:lstStyle/>
                    <a:p>
                      <a:pPr algn="ctr"/>
                      <a:r>
                        <a:rPr lang="en-HK" b="1" dirty="0">
                          <a:solidFill>
                            <a:schemeClr val="bg1"/>
                          </a:solidFill>
                        </a:rPr>
                        <a:t>Image</a:t>
                      </a:r>
                      <a:endParaRPr lang="en-US" b="1" dirty="0">
                        <a:solidFill>
                          <a:schemeClr val="bg1"/>
                        </a:solidFill>
                      </a:endParaRPr>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3AC40"/>
                    </a:solidFill>
                  </a:tcPr>
                </a:tc>
                <a:tc>
                  <a:txBody>
                    <a:bodyPr/>
                    <a:lstStyle/>
                    <a:p>
                      <a:pPr algn="ctr"/>
                      <a:endParaRPr lang="en-US" dirty="0"/>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tcPr>
                </a:tc>
                <a:tc>
                  <a:txBody>
                    <a:bodyPr/>
                    <a:lstStyle/>
                    <a:p>
                      <a:pPr algn="ctr"/>
                      <a:endParaRPr lang="en-US" dirty="0"/>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tcPr>
                </a:tc>
                <a:tc>
                  <a:txBody>
                    <a:bodyPr/>
                    <a:lstStyle/>
                    <a:p>
                      <a:pPr algn="ctr"/>
                      <a:endParaRPr lang="en-US" dirty="0"/>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tcPr>
                </a:tc>
                <a:extLst>
                  <a:ext uri="{0D108BD9-81ED-4DB2-BD59-A6C34878D82A}">
                    <a16:rowId xmlns:a16="http://schemas.microsoft.com/office/drawing/2014/main" val="10002"/>
                  </a:ext>
                </a:extLst>
              </a:tr>
              <a:tr h="433446">
                <a:tc>
                  <a:txBody>
                    <a:bodyPr/>
                    <a:lstStyle/>
                    <a:p>
                      <a:pPr algn="ctr"/>
                      <a:r>
                        <a:rPr lang="en-HK" b="1" dirty="0">
                          <a:solidFill>
                            <a:schemeClr val="bg1"/>
                          </a:solidFill>
                        </a:rPr>
                        <a:t>File size</a:t>
                      </a:r>
                      <a:endParaRPr lang="en-US" b="1" dirty="0">
                        <a:solidFill>
                          <a:schemeClr val="bg1"/>
                        </a:solidFill>
                      </a:endParaRPr>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3AC40"/>
                    </a:solidFill>
                  </a:tcPr>
                </a:tc>
                <a:tc>
                  <a:txBody>
                    <a:bodyPr/>
                    <a:lstStyle/>
                    <a:p>
                      <a:pPr algn="ctr"/>
                      <a:r>
                        <a:rPr lang="en-HK" dirty="0"/>
                        <a:t>1376 KB</a:t>
                      </a:r>
                      <a:endParaRPr lang="en-US" dirty="0"/>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tcPr>
                </a:tc>
                <a:tc>
                  <a:txBody>
                    <a:bodyPr/>
                    <a:lstStyle/>
                    <a:p>
                      <a:pPr algn="ctr"/>
                      <a:r>
                        <a:rPr lang="en-HK" dirty="0"/>
                        <a:t>609 KB</a:t>
                      </a:r>
                      <a:endParaRPr lang="en-US" dirty="0"/>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tcPr>
                </a:tc>
                <a:tc>
                  <a:txBody>
                    <a:bodyPr/>
                    <a:lstStyle/>
                    <a:p>
                      <a:pPr algn="ctr"/>
                      <a:r>
                        <a:rPr lang="en-HK" dirty="0"/>
                        <a:t>5 KB</a:t>
                      </a:r>
                      <a:endParaRPr lang="en-US" dirty="0"/>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tcPr>
                </a:tc>
                <a:extLst>
                  <a:ext uri="{0D108BD9-81ED-4DB2-BD59-A6C34878D82A}">
                    <a16:rowId xmlns:a16="http://schemas.microsoft.com/office/drawing/2014/main" val="10003"/>
                  </a:ext>
                </a:extLst>
              </a:tr>
              <a:tr h="758530">
                <a:tc>
                  <a:txBody>
                    <a:bodyPr/>
                    <a:lstStyle/>
                    <a:p>
                      <a:pPr algn="ctr"/>
                      <a:r>
                        <a:rPr lang="en-HK" b="1" dirty="0">
                          <a:solidFill>
                            <a:schemeClr val="bg1"/>
                          </a:solidFill>
                        </a:rPr>
                        <a:t>Compression ratio</a:t>
                      </a:r>
                      <a:endParaRPr lang="en-US" b="1" dirty="0">
                        <a:solidFill>
                          <a:schemeClr val="bg1"/>
                        </a:solidFill>
                      </a:endParaRPr>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83AC40"/>
                      </a:solidFill>
                      <a:prstDash val="solid"/>
                      <a:round/>
                      <a:headEnd type="none" w="med" len="med"/>
                      <a:tailEnd type="none" w="med" len="med"/>
                    </a:lnB>
                    <a:solidFill>
                      <a:srgbClr val="83AC40"/>
                    </a:solidFill>
                  </a:tcPr>
                </a:tc>
                <a:tc>
                  <a:txBody>
                    <a:bodyPr/>
                    <a:lstStyle/>
                    <a:p>
                      <a:pPr algn="ctr"/>
                      <a:endParaRPr lang="en-US" dirty="0"/>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solidFill>
                      <a:schemeClr val="bg1">
                        <a:lumMod val="85000"/>
                      </a:schemeClr>
                    </a:solidFill>
                  </a:tcPr>
                </a:tc>
                <a:tc>
                  <a:txBody>
                    <a:bodyPr/>
                    <a:lstStyle/>
                    <a:p>
                      <a:pPr algn="ctr"/>
                      <a:r>
                        <a:rPr lang="en-HK" dirty="0"/>
                        <a:t>1376 KB / 609 KB = 2.26</a:t>
                      </a:r>
                      <a:endParaRPr lang="en-US" dirty="0"/>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tcPr>
                </a:tc>
                <a:tc>
                  <a:txBody>
                    <a:bodyPr/>
                    <a:lstStyle/>
                    <a:p>
                      <a:pPr algn="ctr"/>
                      <a:r>
                        <a:rPr lang="en-HK" dirty="0"/>
                        <a:t>1376 KB / 5 KB = 275</a:t>
                      </a:r>
                      <a:endParaRPr lang="en-US" dirty="0"/>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pic>
        <p:nvPicPr>
          <p:cNvPr id="6" name="Picture 5"/>
          <p:cNvPicPr>
            <a:picLocks noChangeAspect="1"/>
          </p:cNvPicPr>
          <p:nvPr/>
        </p:nvPicPr>
        <p:blipFill rotWithShape="1">
          <a:blip r:embed="rId2"/>
          <a:srcRect b="1847"/>
          <a:stretch/>
        </p:blipFill>
        <p:spPr>
          <a:xfrm>
            <a:off x="3183025" y="3143598"/>
            <a:ext cx="1741399" cy="1818912"/>
          </a:xfrm>
          <a:prstGeom prst="rect">
            <a:avLst/>
          </a:prstGeom>
        </p:spPr>
      </p:pic>
      <p:pic>
        <p:nvPicPr>
          <p:cNvPr id="7" name="Picture 6"/>
          <p:cNvPicPr>
            <a:picLocks noChangeAspect="1"/>
          </p:cNvPicPr>
          <p:nvPr/>
        </p:nvPicPr>
        <p:blipFill>
          <a:blip r:embed="rId3"/>
          <a:stretch>
            <a:fillRect/>
          </a:stretch>
        </p:blipFill>
        <p:spPr>
          <a:xfrm>
            <a:off x="6095107" y="3154939"/>
            <a:ext cx="1705867" cy="1807571"/>
          </a:xfrm>
          <a:prstGeom prst="rect">
            <a:avLst/>
          </a:prstGeom>
        </p:spPr>
      </p:pic>
      <p:pic>
        <p:nvPicPr>
          <p:cNvPr id="8" name="Picture 7"/>
          <p:cNvPicPr>
            <a:picLocks noChangeAspect="1"/>
          </p:cNvPicPr>
          <p:nvPr/>
        </p:nvPicPr>
        <p:blipFill>
          <a:blip r:embed="rId4"/>
          <a:stretch>
            <a:fillRect/>
          </a:stretch>
        </p:blipFill>
        <p:spPr>
          <a:xfrm>
            <a:off x="8900458" y="3173988"/>
            <a:ext cx="1653242" cy="1765251"/>
          </a:xfrm>
          <a:prstGeom prst="rect">
            <a:avLst/>
          </a:prstGeom>
        </p:spPr>
      </p:pic>
    </p:spTree>
    <p:extLst>
      <p:ext uri="{BB962C8B-B14F-4D97-AF65-F5344CB8AC3E}">
        <p14:creationId xmlns:p14="http://schemas.microsoft.com/office/powerpoint/2010/main" val="224040863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Font typeface="+mj-lt"/>
              <a:buAutoNum type="arabicPeriod"/>
            </a:pPr>
            <a:r>
              <a:rPr lang="en-HK" dirty="0">
                <a:solidFill>
                  <a:srgbClr val="FF0000"/>
                </a:solidFill>
              </a:rPr>
              <a:t>BMP and PNG</a:t>
            </a:r>
            <a:r>
              <a:rPr lang="en-HK" dirty="0"/>
              <a:t/>
            </a:r>
            <a:br>
              <a:rPr lang="en-HK" dirty="0"/>
            </a:br>
            <a:endParaRPr lang="en-HK" dirty="0"/>
          </a:p>
          <a:p>
            <a:pPr marL="457200" indent="-457200">
              <a:buFont typeface="+mj-lt"/>
              <a:buAutoNum type="arabicPeriod"/>
            </a:pPr>
            <a:r>
              <a:rPr lang="en-HK" dirty="0">
                <a:solidFill>
                  <a:srgbClr val="FF0000"/>
                </a:solidFill>
              </a:rPr>
              <a:t>BMP</a:t>
            </a:r>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111</a:t>
            </a:fld>
            <a:endParaRPr lang="en-US" dirty="0"/>
          </a:p>
        </p:txBody>
      </p:sp>
      <p:sp>
        <p:nvSpPr>
          <p:cNvPr id="4" name="Text Placeholder 3"/>
          <p:cNvSpPr>
            <a:spLocks noGrp="1"/>
          </p:cNvSpPr>
          <p:nvPr>
            <p:ph type="body" sz="quarter" idx="13"/>
          </p:nvPr>
        </p:nvSpPr>
        <p:spPr/>
        <p:txBody>
          <a:bodyPr/>
          <a:lstStyle/>
          <a:p>
            <a:r>
              <a:rPr lang="en-HK" dirty="0"/>
              <a:t>3.1</a:t>
            </a:r>
            <a:endParaRPr lang="en-US" dirty="0"/>
          </a:p>
        </p:txBody>
      </p:sp>
    </p:spTree>
    <p:extLst>
      <p:ext uri="{BB962C8B-B14F-4D97-AF65-F5344CB8AC3E}">
        <p14:creationId xmlns:p14="http://schemas.microsoft.com/office/powerpoint/2010/main" val="258235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HK" dirty="0"/>
              <a:t>Study and compare the two images on P. 104.</a:t>
            </a:r>
            <a:endParaRPr lang="en-US" dirty="0"/>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112</a:t>
            </a:fld>
            <a:endParaRPr lang="en-US" dirty="0"/>
          </a:p>
        </p:txBody>
      </p:sp>
      <p:sp>
        <p:nvSpPr>
          <p:cNvPr id="4" name="Text Placeholder 3"/>
          <p:cNvSpPr>
            <a:spLocks noGrp="1"/>
          </p:cNvSpPr>
          <p:nvPr>
            <p:ph type="body" sz="quarter" idx="13"/>
          </p:nvPr>
        </p:nvSpPr>
        <p:spPr/>
        <p:txBody>
          <a:bodyPr/>
          <a:lstStyle/>
          <a:p>
            <a:r>
              <a:rPr lang="en-HK" dirty="0"/>
              <a:t>3.2</a:t>
            </a:r>
            <a:endParaRPr lang="en-US" dirty="0"/>
          </a:p>
        </p:txBody>
      </p:sp>
    </p:spTree>
    <p:extLst>
      <p:ext uri="{BB962C8B-B14F-4D97-AF65-F5344CB8AC3E}">
        <p14:creationId xmlns:p14="http://schemas.microsoft.com/office/powerpoint/2010/main" val="375922108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6D22F896-40B5-4ADD-8801-0D06FADFA095}" type="slidenum">
              <a:rPr lang="en-US" smtClean="0"/>
              <a:t>113</a:t>
            </a:fld>
            <a:endParaRPr lang="en-US" dirty="0"/>
          </a:p>
        </p:txBody>
      </p:sp>
      <p:sp>
        <p:nvSpPr>
          <p:cNvPr id="4" name="Text Placeholder 3"/>
          <p:cNvSpPr>
            <a:spLocks noGrp="1"/>
          </p:cNvSpPr>
          <p:nvPr>
            <p:ph type="body" sz="quarter" idx="13"/>
          </p:nvPr>
        </p:nvSpPr>
        <p:spPr/>
        <p:txBody>
          <a:bodyPr/>
          <a:lstStyle/>
          <a:p>
            <a:r>
              <a:rPr lang="en-HK" dirty="0"/>
              <a:t>3.2</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3710779861"/>
              </p:ext>
            </p:extLst>
          </p:nvPr>
        </p:nvGraphicFramePr>
        <p:xfrm>
          <a:off x="1138321" y="1219051"/>
          <a:ext cx="10072604" cy="5107601"/>
        </p:xfrm>
        <a:graphic>
          <a:graphicData uri="http://schemas.openxmlformats.org/drawingml/2006/table">
            <a:tbl>
              <a:tblPr firstRow="1" bandRow="1">
                <a:tableStyleId>{5940675A-B579-460E-94D1-54222C63F5DA}</a:tableStyleId>
              </a:tblPr>
              <a:tblGrid>
                <a:gridCol w="2863243">
                  <a:extLst>
                    <a:ext uri="{9D8B030D-6E8A-4147-A177-3AD203B41FA5}">
                      <a16:colId xmlns:a16="http://schemas.microsoft.com/office/drawing/2014/main" val="20000"/>
                    </a:ext>
                  </a:extLst>
                </a:gridCol>
                <a:gridCol w="3851826">
                  <a:extLst>
                    <a:ext uri="{9D8B030D-6E8A-4147-A177-3AD203B41FA5}">
                      <a16:colId xmlns:a16="http://schemas.microsoft.com/office/drawing/2014/main" val="20001"/>
                    </a:ext>
                  </a:extLst>
                </a:gridCol>
                <a:gridCol w="3357535">
                  <a:extLst>
                    <a:ext uri="{9D8B030D-6E8A-4147-A177-3AD203B41FA5}">
                      <a16:colId xmlns:a16="http://schemas.microsoft.com/office/drawing/2014/main" val="20002"/>
                    </a:ext>
                  </a:extLst>
                </a:gridCol>
              </a:tblGrid>
              <a:tr h="377050">
                <a:tc>
                  <a:txBody>
                    <a:bodyPr/>
                    <a:lstStyle/>
                    <a:p>
                      <a:pPr algn="ctr"/>
                      <a:r>
                        <a:rPr lang="en-HK" b="1" dirty="0">
                          <a:solidFill>
                            <a:schemeClr val="bg1"/>
                          </a:solidFill>
                        </a:rPr>
                        <a:t>File format</a:t>
                      </a:r>
                      <a:endParaRPr lang="en-US" b="1" dirty="0">
                        <a:solidFill>
                          <a:schemeClr val="bg1"/>
                        </a:solidFill>
                      </a:endParaRPr>
                    </a:p>
                  </a:txBody>
                  <a:tcPr anchor="ctr">
                    <a:lnL w="12700" cap="flat" cmpd="sng" algn="ctr">
                      <a:solidFill>
                        <a:srgbClr val="83AC4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3AC40"/>
                    </a:solidFill>
                  </a:tcPr>
                </a:tc>
                <a:tc>
                  <a:txBody>
                    <a:bodyPr/>
                    <a:lstStyle/>
                    <a:p>
                      <a:pPr algn="ctr"/>
                      <a:r>
                        <a:rPr lang="en-HK" b="1" dirty="0">
                          <a:solidFill>
                            <a:schemeClr val="bg1"/>
                          </a:solidFill>
                        </a:rPr>
                        <a:t>BMP</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solidFill>
                      <a:srgbClr val="83AC40"/>
                    </a:solidFill>
                  </a:tcPr>
                </a:tc>
                <a:tc>
                  <a:txBody>
                    <a:bodyPr/>
                    <a:lstStyle/>
                    <a:p>
                      <a:pPr algn="ctr"/>
                      <a:r>
                        <a:rPr lang="en-HK" b="1" dirty="0">
                          <a:solidFill>
                            <a:schemeClr val="bg1"/>
                          </a:solidFill>
                        </a:rPr>
                        <a:t>JPG</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solidFill>
                      <a:srgbClr val="83AC40"/>
                    </a:solidFill>
                  </a:tcPr>
                </a:tc>
                <a:extLst>
                  <a:ext uri="{0D108BD9-81ED-4DB2-BD59-A6C34878D82A}">
                    <a16:rowId xmlns:a16="http://schemas.microsoft.com/office/drawing/2014/main" val="10000"/>
                  </a:ext>
                </a:extLst>
              </a:tr>
              <a:tr h="377050">
                <a:tc>
                  <a:txBody>
                    <a:bodyPr/>
                    <a:lstStyle/>
                    <a:p>
                      <a:pPr algn="ctr"/>
                      <a:r>
                        <a:rPr lang="en-HK" b="1" dirty="0">
                          <a:solidFill>
                            <a:schemeClr val="bg1"/>
                          </a:solidFill>
                        </a:rPr>
                        <a:t>Compression</a:t>
                      </a:r>
                      <a:endParaRPr lang="en-US" b="1" dirty="0">
                        <a:solidFill>
                          <a:schemeClr val="bg1"/>
                        </a:solidFill>
                      </a:endParaRPr>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3AC40"/>
                    </a:solidFill>
                  </a:tcPr>
                </a:tc>
                <a:tc>
                  <a:txBody>
                    <a:bodyPr/>
                    <a:lstStyle/>
                    <a:p>
                      <a:pPr algn="ctr"/>
                      <a:r>
                        <a:rPr lang="en-HK" dirty="0"/>
                        <a:t>Uncompressed</a:t>
                      </a:r>
                      <a:endParaRPr lang="en-US" dirty="0"/>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tcPr>
                </a:tc>
                <a:tc>
                  <a:txBody>
                    <a:bodyPr/>
                    <a:lstStyle/>
                    <a:p>
                      <a:pPr algn="ctr"/>
                      <a:r>
                        <a:rPr lang="en-HK" dirty="0" err="1"/>
                        <a:t>Lossy</a:t>
                      </a:r>
                      <a:endParaRPr lang="en-US" dirty="0"/>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tcPr>
                </a:tc>
                <a:extLst>
                  <a:ext uri="{0D108BD9-81ED-4DB2-BD59-A6C34878D82A}">
                    <a16:rowId xmlns:a16="http://schemas.microsoft.com/office/drawing/2014/main" val="10001"/>
                  </a:ext>
                </a:extLst>
              </a:tr>
              <a:tr h="1646349">
                <a:tc>
                  <a:txBody>
                    <a:bodyPr/>
                    <a:lstStyle/>
                    <a:p>
                      <a:pPr algn="ctr"/>
                      <a:r>
                        <a:rPr lang="en-HK" b="1" dirty="0">
                          <a:solidFill>
                            <a:schemeClr val="bg1"/>
                          </a:solidFill>
                        </a:rPr>
                        <a:t>Image</a:t>
                      </a:r>
                      <a:endParaRPr lang="en-US" b="1" dirty="0">
                        <a:solidFill>
                          <a:schemeClr val="bg1"/>
                        </a:solidFill>
                      </a:endParaRPr>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3AC40"/>
                    </a:solidFill>
                  </a:tcPr>
                </a:tc>
                <a:tc>
                  <a:txBody>
                    <a:bodyPr/>
                    <a:lstStyle/>
                    <a:p>
                      <a:pPr algn="ctr"/>
                      <a:endParaRPr lang="en-US" dirty="0"/>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tcPr>
                </a:tc>
                <a:tc>
                  <a:txBody>
                    <a:bodyPr/>
                    <a:lstStyle/>
                    <a:p>
                      <a:pPr algn="ctr"/>
                      <a:endParaRPr lang="en-US" dirty="0"/>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tcPr>
                </a:tc>
                <a:extLst>
                  <a:ext uri="{0D108BD9-81ED-4DB2-BD59-A6C34878D82A}">
                    <a16:rowId xmlns:a16="http://schemas.microsoft.com/office/drawing/2014/main" val="10002"/>
                  </a:ext>
                </a:extLst>
              </a:tr>
              <a:tr h="377050">
                <a:tc>
                  <a:txBody>
                    <a:bodyPr/>
                    <a:lstStyle/>
                    <a:p>
                      <a:pPr algn="ctr"/>
                      <a:r>
                        <a:rPr lang="en-HK" b="1" dirty="0">
                          <a:solidFill>
                            <a:schemeClr val="bg1"/>
                          </a:solidFill>
                        </a:rPr>
                        <a:t>File size</a:t>
                      </a:r>
                      <a:endParaRPr lang="en-US" b="1" dirty="0">
                        <a:solidFill>
                          <a:schemeClr val="bg1"/>
                        </a:solidFill>
                      </a:endParaRPr>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3AC40"/>
                    </a:solidFill>
                  </a:tcPr>
                </a:tc>
                <a:tc>
                  <a:txBody>
                    <a:bodyPr/>
                    <a:lstStyle/>
                    <a:p>
                      <a:pPr algn="ctr"/>
                      <a:r>
                        <a:rPr lang="en-HK" dirty="0"/>
                        <a:t>1 MB</a:t>
                      </a:r>
                      <a:endParaRPr lang="en-US" dirty="0"/>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tcPr>
                </a:tc>
                <a:tc>
                  <a:txBody>
                    <a:bodyPr/>
                    <a:lstStyle/>
                    <a:p>
                      <a:pPr algn="ctr"/>
                      <a:r>
                        <a:rPr lang="en-HK" dirty="0"/>
                        <a:t>1 MB</a:t>
                      </a:r>
                      <a:endParaRPr lang="en-US" dirty="0"/>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tcPr>
                </a:tc>
                <a:extLst>
                  <a:ext uri="{0D108BD9-81ED-4DB2-BD59-A6C34878D82A}">
                    <a16:rowId xmlns:a16="http://schemas.microsoft.com/office/drawing/2014/main" val="10003"/>
                  </a:ext>
                </a:extLst>
              </a:tr>
              <a:tr h="377050">
                <a:tc>
                  <a:txBody>
                    <a:bodyPr/>
                    <a:lstStyle/>
                    <a:p>
                      <a:pPr algn="ctr"/>
                      <a:r>
                        <a:rPr lang="en-HK" b="1" dirty="0">
                          <a:solidFill>
                            <a:schemeClr val="bg1"/>
                          </a:solidFill>
                        </a:rPr>
                        <a:t>Image width</a:t>
                      </a:r>
                      <a:endParaRPr lang="en-US" b="1" dirty="0">
                        <a:solidFill>
                          <a:schemeClr val="bg1"/>
                        </a:solidFill>
                      </a:endParaRPr>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3AC40"/>
                    </a:solidFill>
                  </a:tcPr>
                </a:tc>
                <a:tc>
                  <a:txBody>
                    <a:bodyPr/>
                    <a:lstStyle/>
                    <a:p>
                      <a:pPr algn="ctr"/>
                      <a:r>
                        <a:rPr lang="en-HK" dirty="0"/>
                        <a:t>550</a:t>
                      </a:r>
                      <a:endParaRPr lang="en-US" dirty="0"/>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tcPr>
                </a:tc>
                <a:tc>
                  <a:txBody>
                    <a:bodyPr/>
                    <a:lstStyle/>
                    <a:p>
                      <a:pPr algn="ctr"/>
                      <a:r>
                        <a:rPr lang="en-HK" dirty="0"/>
                        <a:t>1618</a:t>
                      </a:r>
                      <a:endParaRPr lang="en-US" dirty="0"/>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tcPr>
                </a:tc>
                <a:extLst>
                  <a:ext uri="{0D108BD9-81ED-4DB2-BD59-A6C34878D82A}">
                    <a16:rowId xmlns:a16="http://schemas.microsoft.com/office/drawing/2014/main" val="10004"/>
                  </a:ext>
                </a:extLst>
              </a:tr>
              <a:tr h="398572">
                <a:tc>
                  <a:txBody>
                    <a:bodyPr/>
                    <a:lstStyle/>
                    <a:p>
                      <a:pPr algn="ctr"/>
                      <a:r>
                        <a:rPr lang="en-HK" b="1" dirty="0">
                          <a:solidFill>
                            <a:schemeClr val="bg1"/>
                          </a:solidFill>
                        </a:rPr>
                        <a:t>Image height</a:t>
                      </a:r>
                      <a:endParaRPr lang="en-US" b="1" dirty="0">
                        <a:solidFill>
                          <a:schemeClr val="bg1"/>
                        </a:solidFill>
                      </a:endParaRPr>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3AC40"/>
                    </a:solidFill>
                  </a:tcPr>
                </a:tc>
                <a:tc>
                  <a:txBody>
                    <a:bodyPr/>
                    <a:lstStyle/>
                    <a:p>
                      <a:pPr algn="ctr"/>
                      <a:r>
                        <a:rPr lang="en-HK" dirty="0"/>
                        <a:t>635</a:t>
                      </a:r>
                      <a:endParaRPr lang="en-US" dirty="0"/>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tcPr>
                </a:tc>
                <a:tc>
                  <a:txBody>
                    <a:bodyPr/>
                    <a:lstStyle/>
                    <a:p>
                      <a:pPr algn="ctr"/>
                      <a:r>
                        <a:rPr lang="en-HK" dirty="0"/>
                        <a:t>1871</a:t>
                      </a:r>
                      <a:endParaRPr lang="en-US" dirty="0"/>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tcPr>
                </a:tc>
                <a:extLst>
                  <a:ext uri="{0D108BD9-81ED-4DB2-BD59-A6C34878D82A}">
                    <a16:rowId xmlns:a16="http://schemas.microsoft.com/office/drawing/2014/main" val="10005"/>
                  </a:ext>
                </a:extLst>
              </a:tr>
              <a:tr h="590550">
                <a:tc>
                  <a:txBody>
                    <a:bodyPr/>
                    <a:lstStyle/>
                    <a:p>
                      <a:pPr algn="ctr"/>
                      <a:r>
                        <a:rPr lang="en-HK" b="1" dirty="0">
                          <a:solidFill>
                            <a:schemeClr val="bg1"/>
                          </a:solidFill>
                        </a:rPr>
                        <a:t>File</a:t>
                      </a:r>
                      <a:r>
                        <a:rPr lang="en-HK" b="1" baseline="0" dirty="0">
                          <a:solidFill>
                            <a:schemeClr val="bg1"/>
                          </a:solidFill>
                        </a:rPr>
                        <a:t> size after compressing into a ZIP file</a:t>
                      </a:r>
                      <a:endParaRPr lang="en-US" b="1" dirty="0">
                        <a:solidFill>
                          <a:schemeClr val="bg1"/>
                        </a:solidFill>
                      </a:endParaRPr>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3AC40"/>
                    </a:solidFill>
                  </a:tcPr>
                </a:tc>
                <a:tc>
                  <a:txBody>
                    <a:bodyPr/>
                    <a:lstStyle/>
                    <a:p>
                      <a:pPr algn="ctr"/>
                      <a:r>
                        <a:rPr lang="en-HK" dirty="0"/>
                        <a:t>853 KB</a:t>
                      </a:r>
                      <a:endParaRPr lang="en-US" dirty="0"/>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tcPr>
                </a:tc>
                <a:tc>
                  <a:txBody>
                    <a:bodyPr/>
                    <a:lstStyle/>
                    <a:p>
                      <a:pPr algn="ctr"/>
                      <a:r>
                        <a:rPr lang="en-HK" dirty="0"/>
                        <a:t>1017 KB</a:t>
                      </a:r>
                      <a:endParaRPr lang="en-US" dirty="0"/>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tcPr>
                </a:tc>
                <a:extLst>
                  <a:ext uri="{0D108BD9-81ED-4DB2-BD59-A6C34878D82A}">
                    <a16:rowId xmlns:a16="http://schemas.microsoft.com/office/drawing/2014/main" val="10006"/>
                  </a:ext>
                </a:extLst>
              </a:tr>
              <a:tr h="650875">
                <a:tc>
                  <a:txBody>
                    <a:bodyPr/>
                    <a:lstStyle/>
                    <a:p>
                      <a:pPr algn="ctr"/>
                      <a:r>
                        <a:rPr lang="en-HK" b="1" dirty="0">
                          <a:solidFill>
                            <a:schemeClr val="bg1"/>
                          </a:solidFill>
                        </a:rPr>
                        <a:t>Compression ratio of compressing it into a ZIP file</a:t>
                      </a:r>
                      <a:endParaRPr lang="en-US" b="1" dirty="0">
                        <a:solidFill>
                          <a:schemeClr val="bg1"/>
                        </a:solidFill>
                      </a:endParaRPr>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83AC40"/>
                      </a:solidFill>
                      <a:prstDash val="solid"/>
                      <a:round/>
                      <a:headEnd type="none" w="med" len="med"/>
                      <a:tailEnd type="none" w="med" len="med"/>
                    </a:lnB>
                    <a:solidFill>
                      <a:srgbClr val="83AC40"/>
                    </a:solidFill>
                  </a:tcPr>
                </a:tc>
                <a:tc>
                  <a:txBody>
                    <a:bodyPr/>
                    <a:lstStyle/>
                    <a:p>
                      <a:pPr algn="ctr"/>
                      <a:r>
                        <a:rPr lang="en-HK" dirty="0"/>
                        <a:t>1024 ÷ 853 = 1.20</a:t>
                      </a:r>
                      <a:endParaRPr lang="en-US" dirty="0"/>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tcPr>
                </a:tc>
                <a:tc>
                  <a:txBody>
                    <a:bodyPr/>
                    <a:lstStyle/>
                    <a:p>
                      <a:pPr algn="ctr"/>
                      <a:r>
                        <a:rPr lang="en-HK" dirty="0"/>
                        <a:t>1024 ÷ 1017</a:t>
                      </a:r>
                      <a:r>
                        <a:rPr lang="en-HK" baseline="0" dirty="0"/>
                        <a:t> = 1.01</a:t>
                      </a:r>
                      <a:endParaRPr lang="en-US" dirty="0"/>
                    </a:p>
                  </a:txBody>
                  <a:tcPr anchor="ctr">
                    <a:lnL w="12700" cap="flat" cmpd="sng" algn="ctr">
                      <a:solidFill>
                        <a:srgbClr val="83AC40"/>
                      </a:solidFill>
                      <a:prstDash val="solid"/>
                      <a:round/>
                      <a:headEnd type="none" w="med" len="med"/>
                      <a:tailEnd type="none" w="med" len="med"/>
                    </a:lnL>
                    <a:lnR w="12700" cap="flat" cmpd="sng" algn="ctr">
                      <a:solidFill>
                        <a:srgbClr val="83AC40"/>
                      </a:solidFill>
                      <a:prstDash val="solid"/>
                      <a:round/>
                      <a:headEnd type="none" w="med" len="med"/>
                      <a:tailEnd type="none" w="med" len="med"/>
                    </a:lnR>
                    <a:lnT w="12700" cap="flat" cmpd="sng" algn="ctr">
                      <a:solidFill>
                        <a:srgbClr val="83AC40"/>
                      </a:solidFill>
                      <a:prstDash val="solid"/>
                      <a:round/>
                      <a:headEnd type="none" w="med" len="med"/>
                      <a:tailEnd type="none" w="med" len="med"/>
                    </a:lnT>
                    <a:lnB w="12700" cap="flat" cmpd="sng" algn="ctr">
                      <a:solidFill>
                        <a:srgbClr val="83AC4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pic>
        <p:nvPicPr>
          <p:cNvPr id="7" name="Picture 6"/>
          <p:cNvPicPr>
            <a:picLocks noChangeAspect="1"/>
          </p:cNvPicPr>
          <p:nvPr/>
        </p:nvPicPr>
        <p:blipFill rotWithShape="1">
          <a:blip r:embed="rId2"/>
          <a:srcRect l="-1" r="1712"/>
          <a:stretch/>
        </p:blipFill>
        <p:spPr>
          <a:xfrm>
            <a:off x="5573125" y="2336923"/>
            <a:ext cx="761000" cy="869444"/>
          </a:xfrm>
          <a:prstGeom prst="rect">
            <a:avLst/>
          </a:prstGeom>
        </p:spPr>
      </p:pic>
      <p:pic>
        <p:nvPicPr>
          <p:cNvPr id="8" name="Picture 7"/>
          <p:cNvPicPr>
            <a:picLocks noChangeAspect="1"/>
          </p:cNvPicPr>
          <p:nvPr/>
        </p:nvPicPr>
        <p:blipFill>
          <a:blip r:embed="rId3"/>
          <a:stretch>
            <a:fillRect/>
          </a:stretch>
        </p:blipFill>
        <p:spPr>
          <a:xfrm>
            <a:off x="8946847" y="2021370"/>
            <a:ext cx="1292528" cy="1504898"/>
          </a:xfrm>
          <a:prstGeom prst="rect">
            <a:avLst/>
          </a:prstGeom>
        </p:spPr>
      </p:pic>
    </p:spTree>
    <p:extLst>
      <p:ext uri="{BB962C8B-B14F-4D97-AF65-F5344CB8AC3E}">
        <p14:creationId xmlns:p14="http://schemas.microsoft.com/office/powerpoint/2010/main" val="99409809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38200" y="1443600"/>
            <a:ext cx="6448425" cy="4860000"/>
          </a:xfrm>
        </p:spPr>
        <p:txBody>
          <a:bodyPr/>
          <a:lstStyle/>
          <a:p>
            <a:r>
              <a:rPr lang="en-HK" dirty="0">
                <a:cs typeface="Calibri" panose="020F0502020204030204" pitchFamily="34" charset="0"/>
              </a:rPr>
              <a:t>JPG uses </a:t>
            </a:r>
            <a:r>
              <a:rPr lang="en-HK" dirty="0" err="1">
                <a:cs typeface="Calibri" panose="020F0502020204030204" pitchFamily="34" charset="0"/>
              </a:rPr>
              <a:t>lossy</a:t>
            </a:r>
            <a:r>
              <a:rPr lang="en-HK" dirty="0">
                <a:cs typeface="Calibri" panose="020F0502020204030204" pitchFamily="34" charset="0"/>
              </a:rPr>
              <a:t> compression, it can store a larger image at the same file size as BMP. </a:t>
            </a:r>
          </a:p>
          <a:p>
            <a:endParaRPr lang="en-HK" dirty="0">
              <a:cs typeface="Calibri" panose="020F0502020204030204" pitchFamily="34" charset="0"/>
            </a:endParaRPr>
          </a:p>
          <a:p>
            <a:endParaRPr lang="en-HK" dirty="0">
              <a:cs typeface="Calibri" panose="020F0502020204030204" pitchFamily="34" charset="0"/>
            </a:endParaRPr>
          </a:p>
          <a:p>
            <a:endParaRPr lang="en-HK" dirty="0">
              <a:cs typeface="Calibri" panose="020F0502020204030204" pitchFamily="34" charset="0"/>
            </a:endParaRPr>
          </a:p>
          <a:p>
            <a:r>
              <a:rPr lang="en-HK" dirty="0">
                <a:cs typeface="Calibri" panose="020F0502020204030204" pitchFamily="34" charset="0"/>
              </a:rPr>
              <a:t>Compressing a BMP image usually save more storage space than JPG images as JPG images are already compressed.</a:t>
            </a:r>
            <a:endParaRPr lang="en-US" dirty="0">
              <a:cs typeface="Calibri" panose="020F0502020204030204" pitchFamily="34" charset="0"/>
            </a:endParaRPr>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114</a:t>
            </a:fld>
            <a:endParaRPr lang="en-US" dirty="0"/>
          </a:p>
        </p:txBody>
      </p:sp>
      <p:sp>
        <p:nvSpPr>
          <p:cNvPr id="4" name="Text Placeholder 3"/>
          <p:cNvSpPr>
            <a:spLocks noGrp="1"/>
          </p:cNvSpPr>
          <p:nvPr>
            <p:ph type="body" sz="quarter" idx="13"/>
          </p:nvPr>
        </p:nvSpPr>
        <p:spPr/>
        <p:txBody>
          <a:bodyPr/>
          <a:lstStyle/>
          <a:p>
            <a:r>
              <a:rPr lang="en-HK" dirty="0"/>
              <a:t>3.2</a:t>
            </a:r>
            <a:endParaRPr lang="en-US" dirty="0"/>
          </a:p>
        </p:txBody>
      </p:sp>
      <p:grpSp>
        <p:nvGrpSpPr>
          <p:cNvPr id="5" name="Group 4"/>
          <p:cNvGrpSpPr/>
          <p:nvPr/>
        </p:nvGrpSpPr>
        <p:grpSpPr>
          <a:xfrm>
            <a:off x="8266410" y="1624575"/>
            <a:ext cx="2773501" cy="2269828"/>
            <a:chOff x="6076228" y="729477"/>
            <a:chExt cx="2773501" cy="2269828"/>
          </a:xfrm>
        </p:grpSpPr>
        <p:pic>
          <p:nvPicPr>
            <p:cNvPr id="6" name="Picture 5"/>
            <p:cNvPicPr>
              <a:picLocks noChangeAspect="1"/>
            </p:cNvPicPr>
            <p:nvPr/>
          </p:nvPicPr>
          <p:blipFill>
            <a:blip r:embed="rId2"/>
            <a:stretch>
              <a:fillRect/>
            </a:stretch>
          </p:blipFill>
          <p:spPr>
            <a:xfrm>
              <a:off x="6076228" y="1368359"/>
              <a:ext cx="997146" cy="1163337"/>
            </a:xfrm>
            <a:prstGeom prst="rect">
              <a:avLst/>
            </a:prstGeom>
            <a:ln w="57150">
              <a:solidFill>
                <a:schemeClr val="bg1">
                  <a:lumMod val="85000"/>
                </a:schemeClr>
              </a:solidFill>
            </a:ln>
          </p:spPr>
        </p:pic>
        <p:pic>
          <p:nvPicPr>
            <p:cNvPr id="7" name="Picture 6"/>
            <p:cNvPicPr>
              <a:picLocks noChangeAspect="1"/>
            </p:cNvPicPr>
            <p:nvPr/>
          </p:nvPicPr>
          <p:blipFill>
            <a:blip r:embed="rId3"/>
            <a:stretch>
              <a:fillRect/>
            </a:stretch>
          </p:blipFill>
          <p:spPr>
            <a:xfrm>
              <a:off x="7277073" y="729477"/>
              <a:ext cx="1572656" cy="1808778"/>
            </a:xfrm>
            <a:prstGeom prst="rect">
              <a:avLst/>
            </a:prstGeom>
            <a:ln w="57150">
              <a:solidFill>
                <a:schemeClr val="bg1">
                  <a:lumMod val="85000"/>
                </a:schemeClr>
              </a:solidFill>
            </a:ln>
          </p:spPr>
        </p:pic>
        <p:sp>
          <p:nvSpPr>
            <p:cNvPr id="8" name="TextBox 7"/>
            <p:cNvSpPr txBox="1"/>
            <p:nvPr/>
          </p:nvSpPr>
          <p:spPr>
            <a:xfrm>
              <a:off x="6282894" y="2691528"/>
              <a:ext cx="583814" cy="307777"/>
            </a:xfrm>
            <a:prstGeom prst="rect">
              <a:avLst/>
            </a:prstGeom>
            <a:noFill/>
          </p:spPr>
          <p:txBody>
            <a:bodyPr wrap="none" rtlCol="0">
              <a:spAutoFit/>
            </a:bodyPr>
            <a:lstStyle/>
            <a:p>
              <a:r>
                <a:rPr lang="en-HK" b="1" dirty="0"/>
                <a:t>BMP</a:t>
              </a:r>
              <a:endParaRPr lang="en-US" b="1" dirty="0"/>
            </a:p>
          </p:txBody>
        </p:sp>
        <p:sp>
          <p:nvSpPr>
            <p:cNvPr id="9" name="TextBox 8"/>
            <p:cNvSpPr txBox="1"/>
            <p:nvPr/>
          </p:nvSpPr>
          <p:spPr>
            <a:xfrm>
              <a:off x="7776303" y="2691528"/>
              <a:ext cx="543739" cy="307777"/>
            </a:xfrm>
            <a:prstGeom prst="rect">
              <a:avLst/>
            </a:prstGeom>
            <a:noFill/>
          </p:spPr>
          <p:txBody>
            <a:bodyPr wrap="none" rtlCol="0">
              <a:spAutoFit/>
            </a:bodyPr>
            <a:lstStyle/>
            <a:p>
              <a:r>
                <a:rPr lang="en-HK" b="1" dirty="0"/>
                <a:t>JPG</a:t>
              </a:r>
              <a:endParaRPr lang="en-US" b="1" dirty="0"/>
            </a:p>
          </p:txBody>
        </p:sp>
      </p:grpSp>
      <p:sp>
        <p:nvSpPr>
          <p:cNvPr id="10" name="Down Arrow 9"/>
          <p:cNvSpPr/>
          <p:nvPr/>
        </p:nvSpPr>
        <p:spPr>
          <a:xfrm>
            <a:off x="8621727" y="4054235"/>
            <a:ext cx="274320" cy="327660"/>
          </a:xfrm>
          <a:prstGeom prst="down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own Arrow 10"/>
          <p:cNvSpPr/>
          <p:nvPr/>
        </p:nvSpPr>
        <p:spPr>
          <a:xfrm>
            <a:off x="10101194" y="4054235"/>
            <a:ext cx="274320" cy="327660"/>
          </a:xfrm>
          <a:prstGeom prst="down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69758" y="4541727"/>
            <a:ext cx="1178258" cy="1037990"/>
          </a:xfrm>
          <a:prstGeom prst="rect">
            <a:avLst/>
          </a:prstGeom>
        </p:spPr>
      </p:pic>
      <p:pic>
        <p:nvPicPr>
          <p:cNvPr id="15"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87155" y="4433648"/>
            <a:ext cx="1732855" cy="1526564"/>
          </a:xfrm>
          <a:prstGeom prst="rect">
            <a:avLst/>
          </a:prstGeom>
        </p:spPr>
      </p:pic>
    </p:spTree>
    <p:extLst>
      <p:ext uri="{BB962C8B-B14F-4D97-AF65-F5344CB8AC3E}">
        <p14:creationId xmlns:p14="http://schemas.microsoft.com/office/powerpoint/2010/main" val="339480210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Text</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115</a:t>
            </a:fld>
            <a:endParaRPr lang="en-US" dirty="0"/>
          </a:p>
        </p:txBody>
      </p:sp>
      <p:sp>
        <p:nvSpPr>
          <p:cNvPr id="4" name="Text Placeholder 3"/>
          <p:cNvSpPr>
            <a:spLocks noGrp="1"/>
          </p:cNvSpPr>
          <p:nvPr>
            <p:ph type="body" sz="quarter" idx="14"/>
          </p:nvPr>
        </p:nvSpPr>
        <p:spPr/>
        <p:txBody>
          <a:bodyPr/>
          <a:lstStyle/>
          <a:p>
            <a:r>
              <a:rPr lang="en-HK" dirty="0"/>
              <a:t>A</a:t>
            </a:r>
            <a:endParaRPr lang="en-US" dirty="0"/>
          </a:p>
        </p:txBody>
      </p:sp>
      <p:sp>
        <p:nvSpPr>
          <p:cNvPr id="5" name="Content Placeholder 4"/>
          <p:cNvSpPr>
            <a:spLocks noGrp="1"/>
          </p:cNvSpPr>
          <p:nvPr>
            <p:ph sz="quarter" idx="15"/>
          </p:nvPr>
        </p:nvSpPr>
        <p:spPr/>
        <p:txBody>
          <a:bodyPr/>
          <a:lstStyle/>
          <a:p>
            <a:pPr lvl="0">
              <a:spcBef>
                <a:spcPts val="0"/>
              </a:spcBef>
            </a:pPr>
            <a:r>
              <a:rPr lang="en-US" dirty="0"/>
              <a:t>There are two types of text:</a:t>
            </a:r>
          </a:p>
          <a:p>
            <a:pPr lvl="0">
              <a:spcBef>
                <a:spcPts val="0"/>
              </a:spcBef>
            </a:pPr>
            <a:endParaRPr lang="en-US" dirty="0"/>
          </a:p>
          <a:p>
            <a:pPr marL="431800" lvl="0" indent="-342900">
              <a:spcBef>
                <a:spcPts val="0"/>
              </a:spcBef>
              <a:buSzPts val="2200"/>
              <a:buFont typeface="Arial" panose="020B0604020202020204" pitchFamily="34" charset="0"/>
              <a:buChar char="•"/>
            </a:pPr>
            <a:r>
              <a:rPr lang="en-US" b="1" dirty="0">
                <a:solidFill>
                  <a:srgbClr val="504FA1"/>
                </a:solidFill>
                <a:cs typeface="Calibri" panose="020F0502020204030204" pitchFamily="34" charset="0"/>
              </a:rPr>
              <a:t>Plain text</a:t>
            </a:r>
            <a:endParaRPr lang="en-US" b="1" dirty="0">
              <a:solidFill>
                <a:srgbClr val="57A044"/>
              </a:solidFill>
            </a:endParaRPr>
          </a:p>
          <a:p>
            <a:pPr marL="431800" indent="-342900">
              <a:buSzPts val="2200"/>
              <a:buFont typeface="Arial" panose="020B0604020202020204" pitchFamily="34" charset="0"/>
              <a:buChar char="•"/>
            </a:pPr>
            <a:r>
              <a:rPr lang="en-US" b="1" dirty="0">
                <a:solidFill>
                  <a:srgbClr val="504FA1"/>
                </a:solidFill>
                <a:cs typeface="Calibri" panose="020F0502020204030204" pitchFamily="34" charset="0"/>
              </a:rPr>
              <a:t>Formatted text</a:t>
            </a:r>
          </a:p>
          <a:p>
            <a:endParaRPr lang="en-US" dirty="0"/>
          </a:p>
        </p:txBody>
      </p:sp>
    </p:spTree>
    <p:extLst>
      <p:ext uri="{BB962C8B-B14F-4D97-AF65-F5344CB8AC3E}">
        <p14:creationId xmlns:p14="http://schemas.microsoft.com/office/powerpoint/2010/main" val="134067807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Text</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116</a:t>
            </a:fld>
            <a:endParaRPr lang="en-US" dirty="0"/>
          </a:p>
        </p:txBody>
      </p:sp>
      <p:sp>
        <p:nvSpPr>
          <p:cNvPr id="4" name="Text Placeholder 3"/>
          <p:cNvSpPr>
            <a:spLocks noGrp="1"/>
          </p:cNvSpPr>
          <p:nvPr>
            <p:ph type="body" sz="quarter" idx="14"/>
          </p:nvPr>
        </p:nvSpPr>
        <p:spPr/>
        <p:txBody>
          <a:bodyPr/>
          <a:lstStyle/>
          <a:p>
            <a:r>
              <a:rPr lang="en-HK" dirty="0"/>
              <a:t>A</a:t>
            </a:r>
            <a:endParaRPr lang="en-US" dirty="0"/>
          </a:p>
        </p:txBody>
      </p:sp>
      <p:sp>
        <p:nvSpPr>
          <p:cNvPr id="5" name="Content Placeholder 4"/>
          <p:cNvSpPr>
            <a:spLocks noGrp="1"/>
          </p:cNvSpPr>
          <p:nvPr>
            <p:ph sz="quarter" idx="15"/>
          </p:nvPr>
        </p:nvSpPr>
        <p:spPr/>
        <p:txBody>
          <a:bodyPr/>
          <a:lstStyle/>
          <a:p>
            <a:r>
              <a:rPr lang="en-HK" b="1" dirty="0"/>
              <a:t>Plain Text</a:t>
            </a:r>
            <a:endParaRPr lang="en-HK" dirty="0"/>
          </a:p>
          <a:p>
            <a:pPr marL="342900" indent="-342900">
              <a:buFont typeface="Arial" panose="020B0604020202020204" pitchFamily="34" charset="0"/>
              <a:buChar char="•"/>
            </a:pPr>
            <a:r>
              <a:rPr lang="en-HK" dirty="0"/>
              <a:t>Stores </a:t>
            </a:r>
            <a:r>
              <a:rPr lang="en-HK" b="1" dirty="0"/>
              <a:t>characters only</a:t>
            </a:r>
            <a:br>
              <a:rPr lang="en-HK" b="1" dirty="0"/>
            </a:br>
            <a:endParaRPr lang="en-HK" dirty="0"/>
          </a:p>
          <a:p>
            <a:pPr marL="342900" indent="-342900">
              <a:buFont typeface="Arial" panose="020B0604020202020204" pitchFamily="34" charset="0"/>
              <a:buChar char="•"/>
            </a:pPr>
            <a:r>
              <a:rPr lang="en-HK" dirty="0"/>
              <a:t>File size smaller than formatted text</a:t>
            </a:r>
            <a:br>
              <a:rPr lang="en-HK" dirty="0"/>
            </a:br>
            <a:endParaRPr lang="en-HK" dirty="0"/>
          </a:p>
          <a:p>
            <a:pPr marL="342900" indent="-342900">
              <a:buFont typeface="Arial" panose="020B0604020202020204" pitchFamily="34" charset="0"/>
              <a:buChar char="•"/>
            </a:pPr>
            <a:r>
              <a:rPr lang="en-HK" dirty="0"/>
              <a:t>Plain text file is approximately:</a:t>
            </a:r>
            <a:br>
              <a:rPr lang="en-HK" dirty="0"/>
            </a:br>
            <a:r>
              <a:rPr lang="en-HK" dirty="0"/>
              <a:t/>
            </a:r>
            <a:br>
              <a:rPr lang="en-HK" dirty="0"/>
            </a:br>
            <a:r>
              <a:rPr lang="en-HK" u="sng" dirty="0"/>
              <a:t>file size per character × number of characters</a:t>
            </a:r>
          </a:p>
          <a:p>
            <a:endParaRPr lang="en-US" dirty="0"/>
          </a:p>
        </p:txBody>
      </p:sp>
      <p:pic>
        <p:nvPicPr>
          <p:cNvPr id="6" name="Picture 5"/>
          <p:cNvPicPr>
            <a:picLocks noChangeAspect="1"/>
          </p:cNvPicPr>
          <p:nvPr/>
        </p:nvPicPr>
        <p:blipFill>
          <a:blip r:embed="rId2"/>
          <a:stretch>
            <a:fillRect/>
          </a:stretch>
        </p:blipFill>
        <p:spPr>
          <a:xfrm>
            <a:off x="7639500" y="1827275"/>
            <a:ext cx="3714300" cy="3277035"/>
          </a:xfrm>
          <a:prstGeom prst="rect">
            <a:avLst/>
          </a:prstGeom>
        </p:spPr>
      </p:pic>
    </p:spTree>
    <p:extLst>
      <p:ext uri="{BB962C8B-B14F-4D97-AF65-F5344CB8AC3E}">
        <p14:creationId xmlns:p14="http://schemas.microsoft.com/office/powerpoint/2010/main" val="183425905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Text</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117</a:t>
            </a:fld>
            <a:endParaRPr lang="en-US" dirty="0"/>
          </a:p>
        </p:txBody>
      </p:sp>
      <p:sp>
        <p:nvSpPr>
          <p:cNvPr id="4" name="Text Placeholder 3"/>
          <p:cNvSpPr>
            <a:spLocks noGrp="1"/>
          </p:cNvSpPr>
          <p:nvPr>
            <p:ph type="body" sz="quarter" idx="14"/>
          </p:nvPr>
        </p:nvSpPr>
        <p:spPr/>
        <p:txBody>
          <a:bodyPr/>
          <a:lstStyle/>
          <a:p>
            <a:r>
              <a:rPr lang="en-HK" dirty="0"/>
              <a:t>A</a:t>
            </a:r>
            <a:endParaRPr lang="en-US" dirty="0"/>
          </a:p>
        </p:txBody>
      </p:sp>
      <p:sp>
        <p:nvSpPr>
          <p:cNvPr id="5" name="Content Placeholder 4"/>
          <p:cNvSpPr>
            <a:spLocks noGrp="1"/>
          </p:cNvSpPr>
          <p:nvPr>
            <p:ph sz="quarter" idx="15"/>
          </p:nvPr>
        </p:nvSpPr>
        <p:spPr/>
        <p:txBody>
          <a:bodyPr/>
          <a:lstStyle/>
          <a:p>
            <a:r>
              <a:rPr lang="en-HK" b="1" dirty="0"/>
              <a:t>Formatted Text</a:t>
            </a:r>
          </a:p>
          <a:p>
            <a:endParaRPr lang="en-HK" dirty="0"/>
          </a:p>
          <a:p>
            <a:pPr marL="342900" indent="-342900">
              <a:buFont typeface="Arial" panose="020B0604020202020204" pitchFamily="34" charset="0"/>
              <a:buChar char="•"/>
            </a:pPr>
            <a:r>
              <a:rPr lang="en-HK" dirty="0"/>
              <a:t>Stores characters and </a:t>
            </a:r>
            <a:r>
              <a:rPr lang="en-HK" b="1" dirty="0"/>
              <a:t>formatting data</a:t>
            </a:r>
            <a:br>
              <a:rPr lang="en-HK" b="1" dirty="0"/>
            </a:br>
            <a:r>
              <a:rPr lang="en-HK" dirty="0"/>
              <a:t>(e.g. font type, font size, font colour)</a:t>
            </a:r>
            <a:endParaRPr lang="en-HK" b="1" dirty="0"/>
          </a:p>
          <a:p>
            <a:endParaRPr lang="en-HK" dirty="0"/>
          </a:p>
          <a:p>
            <a:pPr marL="342900" indent="-342900">
              <a:buFont typeface="Arial" panose="020B0604020202020204" pitchFamily="34" charset="0"/>
              <a:buChar char="•"/>
            </a:pPr>
            <a:r>
              <a:rPr lang="en-HK" dirty="0"/>
              <a:t>File size larger than plain text</a:t>
            </a:r>
          </a:p>
          <a:p>
            <a:endParaRPr lang="en-US" dirty="0"/>
          </a:p>
        </p:txBody>
      </p:sp>
      <p:pic>
        <p:nvPicPr>
          <p:cNvPr id="6" name="Picture 5"/>
          <p:cNvPicPr>
            <a:picLocks noChangeAspect="1"/>
          </p:cNvPicPr>
          <p:nvPr/>
        </p:nvPicPr>
        <p:blipFill>
          <a:blip r:embed="rId2"/>
          <a:stretch>
            <a:fillRect/>
          </a:stretch>
        </p:blipFill>
        <p:spPr>
          <a:xfrm>
            <a:off x="7672527" y="1827275"/>
            <a:ext cx="3408339" cy="2992895"/>
          </a:xfrm>
          <a:prstGeom prst="rect">
            <a:avLst/>
          </a:prstGeom>
        </p:spPr>
      </p:pic>
    </p:spTree>
    <p:extLst>
      <p:ext uri="{BB962C8B-B14F-4D97-AF65-F5344CB8AC3E}">
        <p14:creationId xmlns:p14="http://schemas.microsoft.com/office/powerpoint/2010/main" val="241858210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Text</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118</a:t>
            </a:fld>
            <a:endParaRPr lang="en-US" dirty="0"/>
          </a:p>
        </p:txBody>
      </p:sp>
      <p:sp>
        <p:nvSpPr>
          <p:cNvPr id="4" name="Text Placeholder 3"/>
          <p:cNvSpPr>
            <a:spLocks noGrp="1"/>
          </p:cNvSpPr>
          <p:nvPr>
            <p:ph type="body" sz="quarter" idx="14"/>
          </p:nvPr>
        </p:nvSpPr>
        <p:spPr/>
        <p:txBody>
          <a:bodyPr/>
          <a:lstStyle/>
          <a:p>
            <a:r>
              <a:rPr lang="en-HK" dirty="0"/>
              <a:t>A</a:t>
            </a:r>
            <a:endParaRPr lang="en-US" dirty="0"/>
          </a:p>
        </p:txBody>
      </p:sp>
      <p:sp>
        <p:nvSpPr>
          <p:cNvPr id="5" name="Content Placeholder 4"/>
          <p:cNvSpPr>
            <a:spLocks noGrp="1"/>
          </p:cNvSpPr>
          <p:nvPr>
            <p:ph sz="quarter" idx="15"/>
          </p:nvPr>
        </p:nvSpPr>
        <p:spPr/>
        <p:txBody>
          <a:bodyPr/>
          <a:lstStyle/>
          <a:p>
            <a:r>
              <a:rPr lang="en-HK" dirty="0"/>
              <a:t>Common text file formats include:</a:t>
            </a:r>
            <a:endParaRPr lang="en-US" dirty="0"/>
          </a:p>
          <a:p>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1260674063"/>
              </p:ext>
            </p:extLst>
          </p:nvPr>
        </p:nvGraphicFramePr>
        <p:xfrm>
          <a:off x="919836" y="2393097"/>
          <a:ext cx="10353528" cy="3126606"/>
        </p:xfrm>
        <a:graphic>
          <a:graphicData uri="http://schemas.openxmlformats.org/drawingml/2006/table">
            <a:tbl>
              <a:tblPr firstRow="1" bandRow="1">
                <a:tableStyleId>{5940675A-B579-460E-94D1-54222C63F5DA}</a:tableStyleId>
              </a:tblPr>
              <a:tblGrid>
                <a:gridCol w="1562816">
                  <a:extLst>
                    <a:ext uri="{9D8B030D-6E8A-4147-A177-3AD203B41FA5}">
                      <a16:colId xmlns:a16="http://schemas.microsoft.com/office/drawing/2014/main" val="20000"/>
                    </a:ext>
                  </a:extLst>
                </a:gridCol>
                <a:gridCol w="1611496">
                  <a:extLst>
                    <a:ext uri="{9D8B030D-6E8A-4147-A177-3AD203B41FA5}">
                      <a16:colId xmlns:a16="http://schemas.microsoft.com/office/drawing/2014/main" val="20001"/>
                    </a:ext>
                  </a:extLst>
                </a:gridCol>
                <a:gridCol w="7179216">
                  <a:extLst>
                    <a:ext uri="{9D8B030D-6E8A-4147-A177-3AD203B41FA5}">
                      <a16:colId xmlns:a16="http://schemas.microsoft.com/office/drawing/2014/main" val="20002"/>
                    </a:ext>
                  </a:extLst>
                </a:gridCol>
              </a:tblGrid>
              <a:tr h="312686">
                <a:tc>
                  <a:txBody>
                    <a:bodyPr/>
                    <a:lstStyle/>
                    <a:p>
                      <a:pPr algn="ctr"/>
                      <a:r>
                        <a:rPr lang="en-HK" b="1" dirty="0">
                          <a:solidFill>
                            <a:schemeClr val="bg1"/>
                          </a:solidFill>
                        </a:rPr>
                        <a:t>File</a:t>
                      </a:r>
                      <a:r>
                        <a:rPr lang="en-HK" b="1" baseline="0" dirty="0">
                          <a:solidFill>
                            <a:schemeClr val="bg1"/>
                          </a:solidFill>
                        </a:rPr>
                        <a:t> format</a:t>
                      </a:r>
                      <a:endParaRPr lang="en-US" b="1" dirty="0">
                        <a:solidFill>
                          <a:schemeClr val="bg1"/>
                        </a:solidFill>
                      </a:endParaRPr>
                    </a:p>
                  </a:txBody>
                  <a:tcPr anchor="ctr">
                    <a:lnL w="12700" cap="flat" cmpd="sng" algn="ctr">
                      <a:solidFill>
                        <a:srgbClr val="57A044"/>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algn="ctr"/>
                      <a:r>
                        <a:rPr lang="en-HK" b="1" dirty="0">
                          <a:solidFill>
                            <a:schemeClr val="bg1"/>
                          </a:solidFill>
                        </a:rPr>
                        <a:t>Type</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Remarks</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extLst>
                  <a:ext uri="{0D108BD9-81ED-4DB2-BD59-A6C34878D82A}">
                    <a16:rowId xmlns:a16="http://schemas.microsoft.com/office/drawing/2014/main" val="10000"/>
                  </a:ext>
                </a:extLst>
              </a:tr>
              <a:tr h="781716">
                <a:tc>
                  <a:txBody>
                    <a:bodyPr/>
                    <a:lstStyle/>
                    <a:p>
                      <a:pPr algn="ctr"/>
                      <a:r>
                        <a:rPr lang="en-HK" b="1" dirty="0">
                          <a:solidFill>
                            <a:schemeClr val="bg1"/>
                          </a:solidFill>
                        </a:rPr>
                        <a:t>TXT</a:t>
                      </a:r>
                      <a:endParaRPr lang="en-US" b="1" dirty="0">
                        <a:solidFill>
                          <a:schemeClr val="bg1"/>
                        </a:solidFill>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algn="ctr"/>
                      <a:r>
                        <a:rPr lang="en-HK" dirty="0"/>
                        <a:t>Plain text</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HK" dirty="0"/>
                        <a:t>Relatively small file size.</a:t>
                      </a:r>
                    </a:p>
                    <a:p>
                      <a:r>
                        <a:rPr lang="en-HK" dirty="0"/>
                        <a:t>Widely supported by different operating systems.</a:t>
                      </a:r>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1"/>
                  </a:ext>
                </a:extLst>
              </a:tr>
              <a:tr h="743888">
                <a:tc>
                  <a:txBody>
                    <a:bodyPr/>
                    <a:lstStyle/>
                    <a:p>
                      <a:pPr algn="ctr"/>
                      <a:r>
                        <a:rPr lang="en-HK" b="1" dirty="0">
                          <a:solidFill>
                            <a:schemeClr val="bg1"/>
                          </a:solidFill>
                        </a:rPr>
                        <a:t>DOC/DOCX</a:t>
                      </a:r>
                      <a:endParaRPr lang="en-US" b="1" dirty="0">
                        <a:solidFill>
                          <a:schemeClr val="bg1"/>
                        </a:solidFill>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HK" dirty="0"/>
                        <a:t>Formatted text</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HK" dirty="0"/>
                        <a:t>Native to Microsoft Word.</a:t>
                      </a:r>
                    </a:p>
                    <a:p>
                      <a:r>
                        <a:rPr lang="en-HK" dirty="0"/>
                        <a:t>Contain multimedia, including images, audio,</a:t>
                      </a:r>
                      <a:r>
                        <a:rPr lang="en-HK" baseline="0" dirty="0"/>
                        <a:t> videos and hyperlinks.</a:t>
                      </a: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2"/>
                  </a:ext>
                </a:extLst>
              </a:tr>
              <a:tr h="1235242">
                <a:tc>
                  <a:txBody>
                    <a:bodyPr/>
                    <a:lstStyle/>
                    <a:p>
                      <a:pPr algn="ctr"/>
                      <a:r>
                        <a:rPr lang="en-HK" b="1" dirty="0">
                          <a:solidFill>
                            <a:schemeClr val="bg1"/>
                          </a:solidFill>
                        </a:rPr>
                        <a:t>PDF</a:t>
                      </a:r>
                      <a:endParaRPr lang="en-US" b="1" dirty="0">
                        <a:solidFill>
                          <a:schemeClr val="bg1"/>
                        </a:solidFill>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HK" dirty="0"/>
                        <a:t>Formatted text</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US" dirty="0"/>
                        <a:t>Native to Adobe Acrobat, but is usually exported from other file formats.</a:t>
                      </a:r>
                    </a:p>
                    <a:p>
                      <a:r>
                        <a:rPr lang="en-US" dirty="0"/>
                        <a:t>Contain multimedia, including images, audios, videos and hyperlinks.</a:t>
                      </a:r>
                    </a:p>
                    <a:p>
                      <a:r>
                        <a:rPr lang="en-US" dirty="0"/>
                        <a:t>Provides consistent document layout and text format across different devices as well as operating systems, i.e. it is cross-platform.</a:t>
                      </a:r>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93254471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AutoNum type="arabicPeriod"/>
            </a:pPr>
            <a:r>
              <a:rPr lang="en-US" dirty="0"/>
              <a:t>Which of the following documents should be stored in the format of PDF instead of DOCX?</a:t>
            </a:r>
            <a:br>
              <a:rPr lang="en-US" dirty="0"/>
            </a:br>
            <a:endParaRPr lang="en-US" dirty="0"/>
          </a:p>
          <a:p>
            <a:pPr marL="1257300" lvl="2" indent="-342900">
              <a:buSzPct val="100000"/>
              <a:buAutoNum type="arabicParenBoth"/>
            </a:pPr>
            <a:r>
              <a:rPr lang="en-US" sz="2000" dirty="0"/>
              <a:t>Academic certificate</a:t>
            </a:r>
          </a:p>
          <a:p>
            <a:pPr marL="1257300" lvl="2" indent="-342900">
              <a:buSzPct val="100000"/>
              <a:buAutoNum type="arabicParenBoth"/>
            </a:pPr>
            <a:r>
              <a:rPr lang="en-US" sz="2000" dirty="0"/>
              <a:t>Template of a management report</a:t>
            </a:r>
          </a:p>
          <a:p>
            <a:pPr marL="1257300" lvl="2" indent="-342900">
              <a:buSzPct val="100000"/>
              <a:buAutoNum type="arabicParenBoth"/>
            </a:pPr>
            <a:r>
              <a:rPr lang="en-US" sz="2000" dirty="0"/>
              <a:t>Instruction manual containing a table of contents</a:t>
            </a:r>
            <a:br>
              <a:rPr lang="en-US" sz="2000" dirty="0"/>
            </a:br>
            <a:endParaRPr lang="en-US" sz="2000" dirty="0"/>
          </a:p>
          <a:p>
            <a:pPr marL="800100" lvl="1" indent="-342900">
              <a:buSzPct val="100000"/>
              <a:buAutoNum type="alphaUcPeriod"/>
            </a:pPr>
            <a:r>
              <a:rPr lang="en-HK" sz="2000" dirty="0"/>
              <a:t>(1) only</a:t>
            </a:r>
          </a:p>
          <a:p>
            <a:pPr marL="800100" lvl="1" indent="-342900">
              <a:buSzPct val="100000"/>
              <a:buAutoNum type="alphaUcPeriod"/>
            </a:pPr>
            <a:r>
              <a:rPr lang="en-HK" sz="2000" dirty="0"/>
              <a:t>(2) only</a:t>
            </a:r>
          </a:p>
          <a:p>
            <a:pPr marL="800100" lvl="1" indent="-342900">
              <a:buSzPct val="100000"/>
              <a:buAutoNum type="alphaUcPeriod"/>
            </a:pPr>
            <a:r>
              <a:rPr lang="en-HK" sz="2000" dirty="0"/>
              <a:t>(1) and (3) only</a:t>
            </a:r>
          </a:p>
          <a:p>
            <a:pPr marL="800100" lvl="1" indent="-342900">
              <a:buSzPct val="100000"/>
              <a:buAutoNum type="alphaUcPeriod"/>
            </a:pPr>
            <a:r>
              <a:rPr lang="en-HK" sz="2000" dirty="0"/>
              <a:t>(2) and (3) only</a:t>
            </a:r>
            <a:endParaRPr lang="en-US" sz="2000" dirty="0"/>
          </a:p>
        </p:txBody>
      </p:sp>
      <p:sp>
        <p:nvSpPr>
          <p:cNvPr id="3" name="Slide Number Placeholder 2"/>
          <p:cNvSpPr>
            <a:spLocks noGrp="1"/>
          </p:cNvSpPr>
          <p:nvPr>
            <p:ph type="sldNum" sz="quarter" idx="12"/>
          </p:nvPr>
        </p:nvSpPr>
        <p:spPr/>
        <p:txBody>
          <a:bodyPr/>
          <a:lstStyle/>
          <a:p>
            <a:fld id="{6D22F896-40B5-4ADD-8801-0D06FADFA095}" type="slidenum">
              <a:rPr lang="en-US" smtClean="0"/>
              <a:t>119</a:t>
            </a:fld>
            <a:endParaRPr lang="en-US" dirty="0"/>
          </a:p>
        </p:txBody>
      </p:sp>
      <p:sp>
        <p:nvSpPr>
          <p:cNvPr id="4" name="Text Placeholder 3"/>
          <p:cNvSpPr>
            <a:spLocks noGrp="1"/>
          </p:cNvSpPr>
          <p:nvPr>
            <p:ph type="body" sz="quarter" idx="13"/>
          </p:nvPr>
        </p:nvSpPr>
        <p:spPr/>
        <p:txBody>
          <a:bodyPr/>
          <a:lstStyle/>
          <a:p>
            <a:r>
              <a:rPr lang="en-HK" dirty="0"/>
              <a:t>3.7</a:t>
            </a:r>
            <a:endParaRPr lang="en-US" dirty="0"/>
          </a:p>
        </p:txBody>
      </p:sp>
    </p:spTree>
    <p:extLst>
      <p:ext uri="{BB962C8B-B14F-4D97-AF65-F5344CB8AC3E}">
        <p14:creationId xmlns:p14="http://schemas.microsoft.com/office/powerpoint/2010/main" val="320289934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pPr marL="342900" indent="-342900">
              <a:buSzPct val="100000"/>
              <a:buFont typeface="Noto Sans CJK TC Regular" panose="020B0500000000000000" pitchFamily="34" charset="-128"/>
              <a:buChar char="◣"/>
            </a:pPr>
            <a:r>
              <a:rPr lang="en-HK" b="1" dirty="0">
                <a:solidFill>
                  <a:srgbClr val="37A3D4"/>
                </a:solidFill>
              </a:rPr>
              <a:t>Analysis</a:t>
            </a:r>
          </a:p>
          <a:p>
            <a:pPr>
              <a:buSzPct val="100000"/>
            </a:pPr>
            <a:r>
              <a:rPr lang="en-US" dirty="0"/>
              <a:t>For item (1), PDF format provides a consistent document layout, which allows academic certificates to retain their authentic appearance on any devices and identical hard copies can be printed.</a:t>
            </a:r>
            <a:br>
              <a:rPr lang="en-US" dirty="0"/>
            </a:br>
            <a:endParaRPr lang="en-US" dirty="0"/>
          </a:p>
          <a:p>
            <a:pPr>
              <a:buSzPct val="100000"/>
            </a:pPr>
            <a:r>
              <a:rPr lang="en-US" dirty="0"/>
              <a:t>For item (2), the template of a management report is expected to be copied and edited multiple times. Its layout is not </a:t>
            </a:r>
            <a:r>
              <a:rPr lang="en-US" dirty="0" err="1"/>
              <a:t>finalised</a:t>
            </a:r>
            <a:r>
              <a:rPr lang="en-US" dirty="0"/>
              <a:t> as its contents are missing. DOCX format is better for editing. The report should only be exported as a PDF file after it is finished.</a:t>
            </a:r>
            <a:br>
              <a:rPr lang="en-US" dirty="0"/>
            </a:br>
            <a:endParaRPr lang="en-US" dirty="0"/>
          </a:p>
          <a:p>
            <a:pPr>
              <a:buSzPct val="100000"/>
            </a:pPr>
            <a:r>
              <a:rPr lang="en-US" dirty="0"/>
              <a:t>For item (3), PDF format provides a consistent document layout and also ensures that the text and image in the instruction manual will not be misplaced on any devices. If any of its contents is misplaced, the page number may change, invalidating its table of contents.</a:t>
            </a:r>
            <a:br>
              <a:rPr lang="en-US" dirty="0"/>
            </a:br>
            <a:endParaRPr lang="en-HK" b="1" dirty="0">
              <a:solidFill>
                <a:srgbClr val="37A3D4"/>
              </a:solidFill>
            </a:endParaRPr>
          </a:p>
          <a:p>
            <a:pPr marL="342900" indent="-342900">
              <a:buSzPct val="100000"/>
              <a:buFont typeface="Noto Sans CJK TC Regular" panose="020B0500000000000000" pitchFamily="34" charset="-128"/>
              <a:buChar char="◣"/>
            </a:pPr>
            <a:r>
              <a:rPr lang="en-HK" b="1" dirty="0">
                <a:solidFill>
                  <a:srgbClr val="37A3D4"/>
                </a:solidFill>
              </a:rPr>
              <a:t>Solution</a:t>
            </a:r>
          </a:p>
          <a:p>
            <a:pPr>
              <a:buSzPct val="100000"/>
            </a:pPr>
            <a:r>
              <a:rPr lang="en-US" dirty="0"/>
              <a:t>The answer is C.</a:t>
            </a:r>
          </a:p>
        </p:txBody>
      </p:sp>
      <p:sp>
        <p:nvSpPr>
          <p:cNvPr id="3" name="Slide Number Placeholder 2"/>
          <p:cNvSpPr>
            <a:spLocks noGrp="1"/>
          </p:cNvSpPr>
          <p:nvPr>
            <p:ph type="sldNum" sz="quarter" idx="12"/>
          </p:nvPr>
        </p:nvSpPr>
        <p:spPr/>
        <p:txBody>
          <a:bodyPr/>
          <a:lstStyle/>
          <a:p>
            <a:fld id="{6D22F896-40B5-4ADD-8801-0D06FADFA095}" type="slidenum">
              <a:rPr lang="en-US" smtClean="0"/>
              <a:t>120</a:t>
            </a:fld>
            <a:endParaRPr lang="en-US" dirty="0"/>
          </a:p>
        </p:txBody>
      </p:sp>
      <p:sp>
        <p:nvSpPr>
          <p:cNvPr id="4" name="Text Placeholder 3"/>
          <p:cNvSpPr>
            <a:spLocks noGrp="1"/>
          </p:cNvSpPr>
          <p:nvPr>
            <p:ph type="body" sz="quarter" idx="13"/>
          </p:nvPr>
        </p:nvSpPr>
        <p:spPr/>
        <p:txBody>
          <a:bodyPr/>
          <a:lstStyle/>
          <a:p>
            <a:r>
              <a:rPr lang="en-HK" dirty="0"/>
              <a:t>3.7</a:t>
            </a:r>
            <a:endParaRPr lang="en-US" dirty="0"/>
          </a:p>
        </p:txBody>
      </p:sp>
    </p:spTree>
    <p:extLst>
      <p:ext uri="{BB962C8B-B14F-4D97-AF65-F5344CB8AC3E}">
        <p14:creationId xmlns:p14="http://schemas.microsoft.com/office/powerpoint/2010/main" val="133989352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HK" dirty="0"/>
              <a:t>Finish Checkpoint 3.7 on P. 108.</a:t>
            </a:r>
          </a:p>
          <a:p>
            <a:endParaRPr lang="en-HK" dirty="0"/>
          </a:p>
          <a:p>
            <a:pPr marL="457200" indent="-457200">
              <a:buAutoNum type="arabicPeriod"/>
            </a:pPr>
            <a:r>
              <a:rPr lang="en-HK" dirty="0">
                <a:solidFill>
                  <a:srgbClr val="FF0000"/>
                </a:solidFill>
              </a:rPr>
              <a:t>D</a:t>
            </a:r>
          </a:p>
          <a:p>
            <a:pPr marL="457200" indent="-457200">
              <a:buAutoNum type="arabicPeriod"/>
            </a:pPr>
            <a:r>
              <a:rPr lang="en-HK" dirty="0">
                <a:solidFill>
                  <a:srgbClr val="FF0000"/>
                </a:solidFill>
              </a:rPr>
              <a:t>D</a:t>
            </a:r>
            <a:endParaRPr lang="en-US" dirty="0">
              <a:solidFill>
                <a:srgbClr val="FF0000"/>
              </a:solidFill>
            </a:endParaRPr>
          </a:p>
        </p:txBody>
      </p:sp>
      <p:sp>
        <p:nvSpPr>
          <p:cNvPr id="3" name="Slide Number Placeholder 2"/>
          <p:cNvSpPr>
            <a:spLocks noGrp="1"/>
          </p:cNvSpPr>
          <p:nvPr>
            <p:ph type="sldNum" sz="quarter" idx="12"/>
          </p:nvPr>
        </p:nvSpPr>
        <p:spPr/>
        <p:txBody>
          <a:bodyPr/>
          <a:lstStyle/>
          <a:p>
            <a:fld id="{6D22F896-40B5-4ADD-8801-0D06FADFA095}" type="slidenum">
              <a:rPr lang="en-US" smtClean="0"/>
              <a:t>121</a:t>
            </a:fld>
            <a:endParaRPr lang="en-US" dirty="0"/>
          </a:p>
        </p:txBody>
      </p:sp>
      <p:sp>
        <p:nvSpPr>
          <p:cNvPr id="4" name="Text Placeholder 3"/>
          <p:cNvSpPr>
            <a:spLocks noGrp="1"/>
          </p:cNvSpPr>
          <p:nvPr>
            <p:ph type="body" sz="quarter" idx="13"/>
          </p:nvPr>
        </p:nvSpPr>
        <p:spPr/>
        <p:txBody>
          <a:bodyPr/>
          <a:lstStyle/>
          <a:p>
            <a:r>
              <a:rPr lang="en-HK" dirty="0"/>
              <a:t>3.7</a:t>
            </a:r>
            <a:endParaRPr lang="en-US" dirty="0"/>
          </a:p>
        </p:txBody>
      </p:sp>
    </p:spTree>
    <p:extLst>
      <p:ext uri="{BB962C8B-B14F-4D97-AF65-F5344CB8AC3E}">
        <p14:creationId xmlns:p14="http://schemas.microsoft.com/office/powerpoint/2010/main" val="344830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50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fade">
                                      <p:cBhvr>
                                        <p:cTn id="1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Image</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122</a:t>
            </a:fld>
            <a:endParaRPr lang="en-US" dirty="0"/>
          </a:p>
        </p:txBody>
      </p:sp>
      <p:sp>
        <p:nvSpPr>
          <p:cNvPr id="4" name="Text Placeholder 3"/>
          <p:cNvSpPr>
            <a:spLocks noGrp="1"/>
          </p:cNvSpPr>
          <p:nvPr>
            <p:ph type="body" sz="quarter" idx="14"/>
          </p:nvPr>
        </p:nvSpPr>
        <p:spPr/>
        <p:txBody>
          <a:bodyPr/>
          <a:lstStyle/>
          <a:p>
            <a:r>
              <a:rPr lang="en-HK" dirty="0"/>
              <a:t>B</a:t>
            </a:r>
            <a:endParaRPr lang="en-US" dirty="0"/>
          </a:p>
        </p:txBody>
      </p:sp>
      <p:sp>
        <p:nvSpPr>
          <p:cNvPr id="5" name="Content Placeholder 4"/>
          <p:cNvSpPr>
            <a:spLocks noGrp="1"/>
          </p:cNvSpPr>
          <p:nvPr>
            <p:ph sz="quarter" idx="15"/>
          </p:nvPr>
        </p:nvSpPr>
        <p:spPr/>
        <p:txBody>
          <a:bodyPr/>
          <a:lstStyle/>
          <a:p>
            <a:pPr lvl="0">
              <a:spcBef>
                <a:spcPts val="0"/>
              </a:spcBef>
            </a:pPr>
            <a:r>
              <a:rPr lang="en-US" dirty="0"/>
              <a:t>There are two types of images:</a:t>
            </a:r>
          </a:p>
          <a:p>
            <a:pPr lvl="0">
              <a:spcBef>
                <a:spcPts val="0"/>
              </a:spcBef>
            </a:pPr>
            <a:endParaRPr lang="en-US" dirty="0"/>
          </a:p>
          <a:p>
            <a:pPr marL="431800" indent="-342900">
              <a:buSzPts val="2200"/>
              <a:buFont typeface="Arial" panose="020B0604020202020204" pitchFamily="34" charset="0"/>
              <a:buChar char="•"/>
            </a:pPr>
            <a:r>
              <a:rPr lang="en-US" b="1" dirty="0">
                <a:solidFill>
                  <a:srgbClr val="504FA1"/>
                </a:solidFill>
                <a:cs typeface="Calibri" panose="020F0502020204030204" pitchFamily="34" charset="0"/>
              </a:rPr>
              <a:t>Bitmap images</a:t>
            </a:r>
            <a:r>
              <a:rPr lang="en-US" b="1" dirty="0">
                <a:solidFill>
                  <a:srgbClr val="38761D"/>
                </a:solidFill>
              </a:rPr>
              <a:t/>
            </a:r>
            <a:br>
              <a:rPr lang="en-US" b="1" dirty="0">
                <a:solidFill>
                  <a:srgbClr val="38761D"/>
                </a:solidFill>
              </a:rPr>
            </a:br>
            <a:endParaRPr lang="en-US" b="1" dirty="0"/>
          </a:p>
          <a:p>
            <a:pPr marL="431800" indent="-342900">
              <a:buSzPts val="2200"/>
              <a:buFont typeface="Arial" panose="020B0604020202020204" pitchFamily="34" charset="0"/>
              <a:buChar char="•"/>
            </a:pPr>
            <a:r>
              <a:rPr lang="en-US" b="1" dirty="0">
                <a:solidFill>
                  <a:srgbClr val="504FA1"/>
                </a:solidFill>
                <a:cs typeface="Calibri" panose="020F0502020204030204" pitchFamily="34" charset="0"/>
              </a:rPr>
              <a:t>Vector images</a:t>
            </a:r>
          </a:p>
          <a:p>
            <a:endParaRPr lang="en-US" dirty="0"/>
          </a:p>
        </p:txBody>
      </p:sp>
      <p:pic>
        <p:nvPicPr>
          <p:cNvPr id="6" name="Google Shape;119;p19"/>
          <p:cNvPicPr preferRelativeResize="0"/>
          <p:nvPr/>
        </p:nvPicPr>
        <p:blipFill>
          <a:blip r:embed="rId2">
            <a:alphaModFix/>
          </a:blip>
          <a:stretch>
            <a:fillRect/>
          </a:stretch>
        </p:blipFill>
        <p:spPr>
          <a:xfrm flipH="1">
            <a:off x="-128337" y="4164676"/>
            <a:ext cx="3162150" cy="2693324"/>
          </a:xfrm>
          <a:prstGeom prst="rect">
            <a:avLst/>
          </a:prstGeom>
          <a:noFill/>
          <a:ln>
            <a:noFill/>
          </a:ln>
        </p:spPr>
      </p:pic>
      <p:pic>
        <p:nvPicPr>
          <p:cNvPr id="7" name="Google Shape;118;p19"/>
          <p:cNvPicPr preferRelativeResize="0"/>
          <p:nvPr/>
        </p:nvPicPr>
        <p:blipFill>
          <a:blip r:embed="rId3">
            <a:alphaModFix/>
          </a:blip>
          <a:stretch>
            <a:fillRect/>
          </a:stretch>
        </p:blipFill>
        <p:spPr>
          <a:xfrm>
            <a:off x="7940749" y="2959331"/>
            <a:ext cx="4252451" cy="3533544"/>
          </a:xfrm>
          <a:prstGeom prst="rect">
            <a:avLst/>
          </a:prstGeom>
          <a:noFill/>
          <a:ln>
            <a:noFill/>
          </a:ln>
        </p:spPr>
      </p:pic>
    </p:spTree>
    <p:extLst>
      <p:ext uri="{BB962C8B-B14F-4D97-AF65-F5344CB8AC3E}">
        <p14:creationId xmlns:p14="http://schemas.microsoft.com/office/powerpoint/2010/main" val="420881426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Image</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123</a:t>
            </a:fld>
            <a:endParaRPr lang="en-US" dirty="0"/>
          </a:p>
        </p:txBody>
      </p:sp>
      <p:sp>
        <p:nvSpPr>
          <p:cNvPr id="4" name="Text Placeholder 3"/>
          <p:cNvSpPr>
            <a:spLocks noGrp="1"/>
          </p:cNvSpPr>
          <p:nvPr>
            <p:ph type="body" sz="quarter" idx="14"/>
          </p:nvPr>
        </p:nvSpPr>
        <p:spPr/>
        <p:txBody>
          <a:bodyPr/>
          <a:lstStyle/>
          <a:p>
            <a:r>
              <a:rPr lang="en-HK" dirty="0"/>
              <a:t>B</a:t>
            </a:r>
            <a:endParaRPr lang="en-US" dirty="0"/>
          </a:p>
        </p:txBody>
      </p:sp>
      <p:sp>
        <p:nvSpPr>
          <p:cNvPr id="5" name="Content Placeholder 4"/>
          <p:cNvSpPr>
            <a:spLocks noGrp="1"/>
          </p:cNvSpPr>
          <p:nvPr>
            <p:ph sz="quarter" idx="15"/>
          </p:nvPr>
        </p:nvSpPr>
        <p:spPr/>
        <p:txBody>
          <a:bodyPr/>
          <a:lstStyle/>
          <a:p>
            <a:pPr lvl="0">
              <a:spcBef>
                <a:spcPts val="0"/>
              </a:spcBef>
            </a:pPr>
            <a:r>
              <a:rPr lang="en-US" b="1" dirty="0"/>
              <a:t>Bitmap images</a:t>
            </a:r>
          </a:p>
          <a:p>
            <a:pPr lvl="0">
              <a:spcBef>
                <a:spcPts val="0"/>
              </a:spcBef>
            </a:pPr>
            <a:endParaRPr lang="en-US" dirty="0"/>
          </a:p>
          <a:p>
            <a:pPr marL="450850" lvl="0" indent="-342900">
              <a:lnSpc>
                <a:spcPct val="115000"/>
              </a:lnSpc>
              <a:spcBef>
                <a:spcPts val="0"/>
              </a:spcBef>
              <a:buSzPts val="1900"/>
              <a:buFont typeface="Arial" panose="020B0604020202020204" pitchFamily="34" charset="0"/>
              <a:buChar char="•"/>
            </a:pPr>
            <a:r>
              <a:rPr lang="en-US" dirty="0"/>
              <a:t>Stored as a series of squares (</a:t>
            </a:r>
            <a:r>
              <a:rPr lang="en-US" b="1" dirty="0">
                <a:solidFill>
                  <a:srgbClr val="504FA1"/>
                </a:solidFill>
                <a:cs typeface="Calibri" panose="020F0502020204030204" pitchFamily="34" charset="0"/>
              </a:rPr>
              <a:t>pixels</a:t>
            </a:r>
            <a:r>
              <a:rPr lang="en-US" dirty="0"/>
              <a:t>).</a:t>
            </a:r>
          </a:p>
          <a:p>
            <a:pPr marL="800100" lvl="0" indent="-342900">
              <a:lnSpc>
                <a:spcPct val="115000"/>
              </a:lnSpc>
              <a:spcBef>
                <a:spcPts val="0"/>
              </a:spcBef>
              <a:buFont typeface="Arial" panose="020B0604020202020204" pitchFamily="34" charset="0"/>
              <a:buChar char="•"/>
            </a:pPr>
            <a:endParaRPr lang="en-US" dirty="0"/>
          </a:p>
          <a:p>
            <a:pPr marL="450850" lvl="0" indent="-342900">
              <a:lnSpc>
                <a:spcPct val="115000"/>
              </a:lnSpc>
              <a:spcBef>
                <a:spcPts val="0"/>
              </a:spcBef>
              <a:buSzPts val="1900"/>
              <a:buFont typeface="Arial" panose="020B0604020202020204" pitchFamily="34" charset="0"/>
              <a:buChar char="•"/>
            </a:pPr>
            <a:r>
              <a:rPr lang="en-US" dirty="0"/>
              <a:t>Can be edited by common image editing software. (e.g. Microsoft Paint)</a:t>
            </a:r>
          </a:p>
          <a:p>
            <a:pPr marL="450850" lvl="0" indent="-342900">
              <a:lnSpc>
                <a:spcPct val="115000"/>
              </a:lnSpc>
              <a:spcBef>
                <a:spcPts val="0"/>
              </a:spcBef>
              <a:buSzPts val="1900"/>
              <a:buFont typeface="Arial" panose="020B0604020202020204" pitchFamily="34" charset="0"/>
              <a:buChar char="•"/>
            </a:pPr>
            <a:endParaRPr lang="en-US" dirty="0"/>
          </a:p>
          <a:p>
            <a:pPr marL="450850" lvl="0" indent="-342900">
              <a:lnSpc>
                <a:spcPct val="115000"/>
              </a:lnSpc>
              <a:buSzPts val="1900"/>
              <a:buFont typeface="Arial" panose="020B0604020202020204" pitchFamily="34" charset="0"/>
              <a:buChar char="•"/>
            </a:pPr>
            <a:r>
              <a:rPr lang="en-US" dirty="0"/>
              <a:t>File size of an uncompressed bitmap image file:</a:t>
            </a:r>
            <a:br>
              <a:rPr lang="en-US" dirty="0"/>
            </a:br>
            <a:r>
              <a:rPr lang="en-US" dirty="0"/>
              <a:t>	</a:t>
            </a:r>
            <a:r>
              <a:rPr lang="en-US" u="sng" dirty="0" err="1"/>
              <a:t>colour</a:t>
            </a:r>
            <a:r>
              <a:rPr lang="en-US" u="sng" dirty="0"/>
              <a:t> depth × resolution</a:t>
            </a:r>
          </a:p>
          <a:p>
            <a:endParaRPr lang="en-US" dirty="0"/>
          </a:p>
        </p:txBody>
      </p:sp>
      <p:pic>
        <p:nvPicPr>
          <p:cNvPr id="6" name="Google Shape;129;p20"/>
          <p:cNvPicPr preferRelativeResize="0"/>
          <p:nvPr/>
        </p:nvPicPr>
        <p:blipFill>
          <a:blip r:embed="rId2">
            <a:alphaModFix/>
          </a:blip>
          <a:stretch>
            <a:fillRect/>
          </a:stretch>
        </p:blipFill>
        <p:spPr>
          <a:xfrm rot="1240396">
            <a:off x="9447842" y="3136452"/>
            <a:ext cx="1842701" cy="1802138"/>
          </a:xfrm>
          <a:prstGeom prst="rect">
            <a:avLst/>
          </a:prstGeom>
          <a:noFill/>
          <a:ln>
            <a:noFill/>
          </a:ln>
        </p:spPr>
      </p:pic>
      <p:pic>
        <p:nvPicPr>
          <p:cNvPr id="7" name="Google Shape;129;p20"/>
          <p:cNvPicPr preferRelativeResize="0"/>
          <p:nvPr/>
        </p:nvPicPr>
        <p:blipFill>
          <a:blip r:embed="rId2">
            <a:alphaModFix/>
          </a:blip>
          <a:stretch>
            <a:fillRect/>
          </a:stretch>
        </p:blipFill>
        <p:spPr>
          <a:xfrm rot="19132129">
            <a:off x="8990438" y="2181996"/>
            <a:ext cx="1150636" cy="1125307"/>
          </a:xfrm>
          <a:prstGeom prst="rect">
            <a:avLst/>
          </a:prstGeom>
          <a:noFill/>
          <a:ln>
            <a:noFill/>
          </a:ln>
        </p:spPr>
      </p:pic>
      <p:pic>
        <p:nvPicPr>
          <p:cNvPr id="8" name="Google Shape;129;p20"/>
          <p:cNvPicPr preferRelativeResize="0"/>
          <p:nvPr/>
        </p:nvPicPr>
        <p:blipFill>
          <a:blip r:embed="rId2">
            <a:alphaModFix/>
          </a:blip>
          <a:stretch>
            <a:fillRect/>
          </a:stretch>
        </p:blipFill>
        <p:spPr>
          <a:xfrm rot="862739">
            <a:off x="10298156" y="1596905"/>
            <a:ext cx="706587" cy="691033"/>
          </a:xfrm>
          <a:prstGeom prst="rect">
            <a:avLst/>
          </a:prstGeom>
          <a:noFill/>
          <a:ln>
            <a:noFill/>
          </a:ln>
        </p:spPr>
      </p:pic>
    </p:spTree>
    <p:extLst>
      <p:ext uri="{BB962C8B-B14F-4D97-AF65-F5344CB8AC3E}">
        <p14:creationId xmlns:p14="http://schemas.microsoft.com/office/powerpoint/2010/main" val="146556242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Image</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124</a:t>
            </a:fld>
            <a:endParaRPr lang="en-US" dirty="0"/>
          </a:p>
        </p:txBody>
      </p:sp>
      <p:sp>
        <p:nvSpPr>
          <p:cNvPr id="4" name="Text Placeholder 3"/>
          <p:cNvSpPr>
            <a:spLocks noGrp="1"/>
          </p:cNvSpPr>
          <p:nvPr>
            <p:ph type="body" sz="quarter" idx="14"/>
          </p:nvPr>
        </p:nvSpPr>
        <p:spPr/>
        <p:txBody>
          <a:bodyPr/>
          <a:lstStyle/>
          <a:p>
            <a:r>
              <a:rPr lang="en-HK" dirty="0"/>
              <a:t>B</a:t>
            </a:r>
            <a:endParaRPr lang="en-US" dirty="0"/>
          </a:p>
        </p:txBody>
      </p:sp>
      <p:sp>
        <p:nvSpPr>
          <p:cNvPr id="5" name="Content Placeholder 4"/>
          <p:cNvSpPr>
            <a:spLocks noGrp="1"/>
          </p:cNvSpPr>
          <p:nvPr>
            <p:ph sz="quarter" idx="15"/>
          </p:nvPr>
        </p:nvSpPr>
        <p:spPr>
          <a:xfrm>
            <a:off x="838801" y="1609200"/>
            <a:ext cx="6684218" cy="4680000"/>
          </a:xfrm>
        </p:spPr>
        <p:txBody>
          <a:bodyPr/>
          <a:lstStyle/>
          <a:p>
            <a:pPr lvl="0">
              <a:spcBef>
                <a:spcPts val="0"/>
              </a:spcBef>
            </a:pPr>
            <a:r>
              <a:rPr lang="en-US" b="1" dirty="0"/>
              <a:t>Vector images</a:t>
            </a:r>
          </a:p>
          <a:p>
            <a:pPr lvl="0">
              <a:spcBef>
                <a:spcPts val="0"/>
              </a:spcBef>
            </a:pPr>
            <a:endParaRPr lang="en-US" dirty="0"/>
          </a:p>
          <a:p>
            <a:pPr marL="450850" lvl="0" indent="-342900">
              <a:lnSpc>
                <a:spcPct val="115000"/>
              </a:lnSpc>
              <a:spcBef>
                <a:spcPts val="0"/>
              </a:spcBef>
              <a:buSzPts val="1900"/>
              <a:buFont typeface="Arial" panose="020B0604020202020204" pitchFamily="34" charset="0"/>
              <a:buChar char="•"/>
            </a:pPr>
            <a:r>
              <a:rPr lang="en-US" dirty="0"/>
              <a:t>Stored as mathematical formulae</a:t>
            </a:r>
          </a:p>
          <a:p>
            <a:pPr marL="457200" lvl="0">
              <a:lnSpc>
                <a:spcPct val="115000"/>
              </a:lnSpc>
              <a:spcBef>
                <a:spcPts val="0"/>
              </a:spcBef>
            </a:pPr>
            <a:endParaRPr lang="en-US" dirty="0"/>
          </a:p>
          <a:p>
            <a:pPr marL="450850" lvl="0" indent="-342900">
              <a:lnSpc>
                <a:spcPct val="115000"/>
              </a:lnSpc>
              <a:spcBef>
                <a:spcPts val="0"/>
              </a:spcBef>
              <a:buSzPts val="1900"/>
              <a:buFont typeface="Arial" panose="020B0604020202020204" pitchFamily="34" charset="0"/>
              <a:buChar char="•"/>
            </a:pPr>
            <a:r>
              <a:rPr lang="en-US" dirty="0"/>
              <a:t>Smaller file size</a:t>
            </a:r>
          </a:p>
          <a:p>
            <a:pPr marL="800100" lvl="0" indent="-342900">
              <a:lnSpc>
                <a:spcPct val="115000"/>
              </a:lnSpc>
              <a:spcBef>
                <a:spcPts val="0"/>
              </a:spcBef>
              <a:buFont typeface="Arial" panose="020B0604020202020204" pitchFamily="34" charset="0"/>
              <a:buChar char="•"/>
            </a:pPr>
            <a:endParaRPr lang="en-US" dirty="0"/>
          </a:p>
          <a:p>
            <a:pPr marL="450850" lvl="0" indent="-342900">
              <a:lnSpc>
                <a:spcPct val="115000"/>
              </a:lnSpc>
              <a:spcBef>
                <a:spcPts val="0"/>
              </a:spcBef>
              <a:buSzPts val="1900"/>
              <a:buFont typeface="Arial" panose="020B0604020202020204" pitchFamily="34" charset="0"/>
              <a:buChar char="•"/>
            </a:pPr>
            <a:r>
              <a:rPr lang="en-US" dirty="0"/>
              <a:t>Do not have rough edges, do not lose quality when scaled up or down.</a:t>
            </a:r>
          </a:p>
        </p:txBody>
      </p:sp>
      <p:pic>
        <p:nvPicPr>
          <p:cNvPr id="6" name="Picture 5"/>
          <p:cNvPicPr>
            <a:picLocks noChangeAspect="1"/>
          </p:cNvPicPr>
          <p:nvPr/>
        </p:nvPicPr>
        <p:blipFill>
          <a:blip r:embed="rId2"/>
          <a:stretch>
            <a:fillRect/>
          </a:stretch>
        </p:blipFill>
        <p:spPr>
          <a:xfrm>
            <a:off x="7770732" y="2217973"/>
            <a:ext cx="3768853" cy="2029830"/>
          </a:xfrm>
          <a:prstGeom prst="rect">
            <a:avLst/>
          </a:prstGeom>
        </p:spPr>
      </p:pic>
    </p:spTree>
    <p:extLst>
      <p:ext uri="{BB962C8B-B14F-4D97-AF65-F5344CB8AC3E}">
        <p14:creationId xmlns:p14="http://schemas.microsoft.com/office/powerpoint/2010/main" val="2127884809"/>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Image</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125</a:t>
            </a:fld>
            <a:endParaRPr lang="en-US" dirty="0"/>
          </a:p>
        </p:txBody>
      </p:sp>
      <p:sp>
        <p:nvSpPr>
          <p:cNvPr id="4" name="Text Placeholder 3"/>
          <p:cNvSpPr>
            <a:spLocks noGrp="1"/>
          </p:cNvSpPr>
          <p:nvPr>
            <p:ph type="body" sz="quarter" idx="14"/>
          </p:nvPr>
        </p:nvSpPr>
        <p:spPr/>
        <p:txBody>
          <a:bodyPr/>
          <a:lstStyle/>
          <a:p>
            <a:r>
              <a:rPr lang="en-HK" dirty="0"/>
              <a:t>B</a:t>
            </a:r>
            <a:endParaRPr lang="en-US" dirty="0"/>
          </a:p>
        </p:txBody>
      </p:sp>
      <p:sp>
        <p:nvSpPr>
          <p:cNvPr id="5" name="Content Placeholder 4"/>
          <p:cNvSpPr>
            <a:spLocks noGrp="1"/>
          </p:cNvSpPr>
          <p:nvPr>
            <p:ph sz="quarter" idx="15"/>
          </p:nvPr>
        </p:nvSpPr>
        <p:spPr/>
        <p:txBody>
          <a:bodyPr/>
          <a:lstStyle/>
          <a:p>
            <a:pPr lvl="0">
              <a:lnSpc>
                <a:spcPct val="115000"/>
              </a:lnSpc>
              <a:spcBef>
                <a:spcPts val="0"/>
              </a:spcBef>
            </a:pPr>
            <a:r>
              <a:rPr lang="en-HK" b="1" dirty="0">
                <a:solidFill>
                  <a:srgbClr val="504FA1"/>
                </a:solidFill>
                <a:cs typeface="Calibri" panose="020F0502020204030204" pitchFamily="34" charset="0"/>
              </a:rPr>
              <a:t>Colour depth</a:t>
            </a:r>
            <a:r>
              <a:rPr lang="en-HK" b="1" dirty="0">
                <a:solidFill>
                  <a:srgbClr val="57A044"/>
                </a:solidFill>
              </a:rPr>
              <a:t> </a:t>
            </a:r>
            <a:r>
              <a:rPr lang="en-HK" dirty="0"/>
              <a:t>is the number of bits used to represent the colour of a pixel.</a:t>
            </a:r>
          </a:p>
          <a:p>
            <a:pPr lvl="0">
              <a:lnSpc>
                <a:spcPct val="115000"/>
              </a:lnSpc>
              <a:spcBef>
                <a:spcPts val="0"/>
              </a:spcBef>
            </a:pPr>
            <a:endParaRPr lang="en-HK" dirty="0"/>
          </a:p>
          <a:p>
            <a:pPr lvl="0">
              <a:lnSpc>
                <a:spcPct val="115000"/>
              </a:lnSpc>
              <a:spcBef>
                <a:spcPts val="0"/>
              </a:spcBef>
            </a:pPr>
            <a:r>
              <a:rPr lang="en-HK" dirty="0"/>
              <a:t>Images with higher colour depth can include more colours.</a:t>
            </a:r>
          </a:p>
        </p:txBody>
      </p:sp>
      <p:graphicFrame>
        <p:nvGraphicFramePr>
          <p:cNvPr id="6" name="Table 5"/>
          <p:cNvGraphicFramePr>
            <a:graphicFrameLocks noGrp="1"/>
          </p:cNvGraphicFramePr>
          <p:nvPr>
            <p:extLst>
              <p:ext uri="{D42A27DB-BD31-4B8C-83A1-F6EECF244321}">
                <p14:modId xmlns:p14="http://schemas.microsoft.com/office/powerpoint/2010/main" val="2651195834"/>
              </p:ext>
            </p:extLst>
          </p:nvPr>
        </p:nvGraphicFramePr>
        <p:xfrm>
          <a:off x="1918800" y="3299074"/>
          <a:ext cx="8236848" cy="2210186"/>
        </p:xfrm>
        <a:graphic>
          <a:graphicData uri="http://schemas.openxmlformats.org/drawingml/2006/table">
            <a:tbl>
              <a:tblPr firstRow="1" bandRow="1">
                <a:tableStyleId>{5940675A-B579-460E-94D1-54222C63F5DA}</a:tableStyleId>
              </a:tblPr>
              <a:tblGrid>
                <a:gridCol w="2059212">
                  <a:extLst>
                    <a:ext uri="{9D8B030D-6E8A-4147-A177-3AD203B41FA5}">
                      <a16:colId xmlns:a16="http://schemas.microsoft.com/office/drawing/2014/main" val="20000"/>
                    </a:ext>
                  </a:extLst>
                </a:gridCol>
                <a:gridCol w="2059212">
                  <a:extLst>
                    <a:ext uri="{9D8B030D-6E8A-4147-A177-3AD203B41FA5}">
                      <a16:colId xmlns:a16="http://schemas.microsoft.com/office/drawing/2014/main" val="20001"/>
                    </a:ext>
                  </a:extLst>
                </a:gridCol>
                <a:gridCol w="2059212">
                  <a:extLst>
                    <a:ext uri="{9D8B030D-6E8A-4147-A177-3AD203B41FA5}">
                      <a16:colId xmlns:a16="http://schemas.microsoft.com/office/drawing/2014/main" val="20002"/>
                    </a:ext>
                  </a:extLst>
                </a:gridCol>
                <a:gridCol w="2059212">
                  <a:extLst>
                    <a:ext uri="{9D8B030D-6E8A-4147-A177-3AD203B41FA5}">
                      <a16:colId xmlns:a16="http://schemas.microsoft.com/office/drawing/2014/main" val="20003"/>
                    </a:ext>
                  </a:extLst>
                </a:gridCol>
              </a:tblGrid>
              <a:tr h="396626">
                <a:tc>
                  <a:txBody>
                    <a:bodyPr/>
                    <a:lstStyle/>
                    <a:p>
                      <a:pPr algn="ctr"/>
                      <a:r>
                        <a:rPr lang="en-HK" b="1" dirty="0">
                          <a:solidFill>
                            <a:schemeClr val="bg1"/>
                          </a:solidFill>
                        </a:rPr>
                        <a:t>1-bit</a:t>
                      </a:r>
                      <a:r>
                        <a:rPr lang="en-HK" b="1" baseline="0" dirty="0">
                          <a:solidFill>
                            <a:schemeClr val="bg1"/>
                          </a:solidFill>
                        </a:rPr>
                        <a:t> colour</a:t>
                      </a:r>
                      <a:endParaRPr lang="en-US" b="1" dirty="0">
                        <a:solidFill>
                          <a:schemeClr val="bg1"/>
                        </a:solidFill>
                      </a:endParaRPr>
                    </a:p>
                  </a:txBody>
                  <a:tcPr anchor="ctr">
                    <a:lnL w="12700" cap="flat" cmpd="sng" algn="ctr">
                      <a:solidFill>
                        <a:srgbClr val="57A044"/>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3-bit grayscale</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3-bit colour</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8-bit colour</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extLst>
                  <a:ext uri="{0D108BD9-81ED-4DB2-BD59-A6C34878D82A}">
                    <a16:rowId xmlns:a16="http://schemas.microsoft.com/office/drawing/2014/main" val="10000"/>
                  </a:ext>
                </a:extLst>
              </a:tr>
              <a:tr h="1813560">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pic>
        <p:nvPicPr>
          <p:cNvPr id="7" name="Picture 6"/>
          <p:cNvPicPr>
            <a:picLocks noChangeAspect="1"/>
          </p:cNvPicPr>
          <p:nvPr/>
        </p:nvPicPr>
        <p:blipFill>
          <a:blip r:embed="rId2"/>
          <a:stretch>
            <a:fillRect/>
          </a:stretch>
        </p:blipFill>
        <p:spPr>
          <a:xfrm>
            <a:off x="1990107" y="3844602"/>
            <a:ext cx="1940002" cy="1579072"/>
          </a:xfrm>
          <a:prstGeom prst="rect">
            <a:avLst/>
          </a:prstGeom>
        </p:spPr>
      </p:pic>
      <p:pic>
        <p:nvPicPr>
          <p:cNvPr id="8" name="Picture 7"/>
          <p:cNvPicPr>
            <a:picLocks noChangeAspect="1"/>
          </p:cNvPicPr>
          <p:nvPr/>
        </p:nvPicPr>
        <p:blipFill>
          <a:blip r:embed="rId3"/>
          <a:stretch>
            <a:fillRect/>
          </a:stretch>
        </p:blipFill>
        <p:spPr>
          <a:xfrm>
            <a:off x="4003372" y="3844603"/>
            <a:ext cx="1971951" cy="1579072"/>
          </a:xfrm>
          <a:prstGeom prst="rect">
            <a:avLst/>
          </a:prstGeom>
        </p:spPr>
      </p:pic>
      <p:pic>
        <p:nvPicPr>
          <p:cNvPr id="9" name="Picture 8"/>
          <p:cNvPicPr>
            <a:picLocks noChangeAspect="1"/>
          </p:cNvPicPr>
          <p:nvPr/>
        </p:nvPicPr>
        <p:blipFill>
          <a:blip r:embed="rId4"/>
          <a:stretch>
            <a:fillRect/>
          </a:stretch>
        </p:blipFill>
        <p:spPr>
          <a:xfrm>
            <a:off x="6114972" y="3847930"/>
            <a:ext cx="1945177" cy="1575744"/>
          </a:xfrm>
          <a:prstGeom prst="rect">
            <a:avLst/>
          </a:prstGeom>
        </p:spPr>
      </p:pic>
      <p:pic>
        <p:nvPicPr>
          <p:cNvPr id="10" name="Picture 9"/>
          <p:cNvPicPr>
            <a:picLocks noChangeAspect="1"/>
          </p:cNvPicPr>
          <p:nvPr/>
        </p:nvPicPr>
        <p:blipFill>
          <a:blip r:embed="rId5"/>
          <a:stretch>
            <a:fillRect/>
          </a:stretch>
        </p:blipFill>
        <p:spPr>
          <a:xfrm>
            <a:off x="8146458" y="3844602"/>
            <a:ext cx="2004206" cy="1579072"/>
          </a:xfrm>
          <a:prstGeom prst="rect">
            <a:avLst/>
          </a:prstGeom>
        </p:spPr>
      </p:pic>
    </p:spTree>
    <p:extLst>
      <p:ext uri="{BB962C8B-B14F-4D97-AF65-F5344CB8AC3E}">
        <p14:creationId xmlns:p14="http://schemas.microsoft.com/office/powerpoint/2010/main" val="4277246603"/>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Image</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126</a:t>
            </a:fld>
            <a:endParaRPr lang="en-US" dirty="0"/>
          </a:p>
        </p:txBody>
      </p:sp>
      <p:sp>
        <p:nvSpPr>
          <p:cNvPr id="4" name="Text Placeholder 3"/>
          <p:cNvSpPr>
            <a:spLocks noGrp="1"/>
          </p:cNvSpPr>
          <p:nvPr>
            <p:ph type="body" sz="quarter" idx="14"/>
          </p:nvPr>
        </p:nvSpPr>
        <p:spPr/>
        <p:txBody>
          <a:bodyPr/>
          <a:lstStyle/>
          <a:p>
            <a:r>
              <a:rPr lang="en-HK" dirty="0"/>
              <a:t>B</a:t>
            </a:r>
            <a:endParaRPr lang="en-US" dirty="0"/>
          </a:p>
        </p:txBody>
      </p:sp>
      <p:sp>
        <p:nvSpPr>
          <p:cNvPr id="5" name="Content Placeholder 4"/>
          <p:cNvSpPr>
            <a:spLocks noGrp="1"/>
          </p:cNvSpPr>
          <p:nvPr>
            <p:ph sz="quarter" idx="15"/>
          </p:nvPr>
        </p:nvSpPr>
        <p:spPr/>
        <p:txBody>
          <a:bodyPr/>
          <a:lstStyle/>
          <a:p>
            <a:pPr lvl="0">
              <a:lnSpc>
                <a:spcPct val="115000"/>
              </a:lnSpc>
              <a:spcBef>
                <a:spcPts val="0"/>
              </a:spcBef>
            </a:pPr>
            <a:r>
              <a:rPr lang="en-HK" b="1" dirty="0">
                <a:solidFill>
                  <a:srgbClr val="504FA1"/>
                </a:solidFill>
                <a:cs typeface="Calibri" panose="020F0502020204030204" pitchFamily="34" charset="0"/>
              </a:rPr>
              <a:t>Resolution</a:t>
            </a:r>
            <a:r>
              <a:rPr lang="en-HK" dirty="0"/>
              <a:t> is the total number of pixels in an image. It is usually presented as “no. of pixels per row × no. of pixels per column”.</a:t>
            </a:r>
          </a:p>
          <a:p>
            <a:pPr lvl="0">
              <a:lnSpc>
                <a:spcPct val="115000"/>
              </a:lnSpc>
              <a:spcBef>
                <a:spcPts val="0"/>
              </a:spcBef>
            </a:pPr>
            <a:endParaRPr lang="en-HK" dirty="0"/>
          </a:p>
          <a:p>
            <a:pPr lvl="0">
              <a:lnSpc>
                <a:spcPct val="115000"/>
              </a:lnSpc>
              <a:spcBef>
                <a:spcPts val="0"/>
              </a:spcBef>
            </a:pPr>
            <a:r>
              <a:rPr lang="en-HK" dirty="0"/>
              <a:t>Images with higher resolution will look less blurry.</a:t>
            </a:r>
          </a:p>
          <a:p>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3208773950"/>
              </p:ext>
            </p:extLst>
          </p:nvPr>
        </p:nvGraphicFramePr>
        <p:xfrm>
          <a:off x="3274080" y="3605260"/>
          <a:ext cx="5530482" cy="2390495"/>
        </p:xfrm>
        <a:graphic>
          <a:graphicData uri="http://schemas.openxmlformats.org/drawingml/2006/table">
            <a:tbl>
              <a:tblPr firstRow="1" bandRow="1">
                <a:tableStyleId>{5940675A-B579-460E-94D1-54222C63F5DA}</a:tableStyleId>
              </a:tblPr>
              <a:tblGrid>
                <a:gridCol w="2765241">
                  <a:extLst>
                    <a:ext uri="{9D8B030D-6E8A-4147-A177-3AD203B41FA5}">
                      <a16:colId xmlns:a16="http://schemas.microsoft.com/office/drawing/2014/main" val="20000"/>
                    </a:ext>
                  </a:extLst>
                </a:gridCol>
                <a:gridCol w="2765241">
                  <a:extLst>
                    <a:ext uri="{9D8B030D-6E8A-4147-A177-3AD203B41FA5}">
                      <a16:colId xmlns:a16="http://schemas.microsoft.com/office/drawing/2014/main" val="20001"/>
                    </a:ext>
                  </a:extLst>
                </a:gridCol>
              </a:tblGrid>
              <a:tr h="435382">
                <a:tc>
                  <a:txBody>
                    <a:bodyPr/>
                    <a:lstStyle/>
                    <a:p>
                      <a:pPr algn="ctr"/>
                      <a:r>
                        <a:rPr lang="en-HK" b="1" dirty="0">
                          <a:solidFill>
                            <a:schemeClr val="bg1"/>
                          </a:solidFill>
                        </a:rPr>
                        <a:t>High-resolution</a:t>
                      </a:r>
                      <a:r>
                        <a:rPr lang="en-HK" b="1" baseline="0" dirty="0">
                          <a:solidFill>
                            <a:schemeClr val="bg1"/>
                          </a:solidFill>
                        </a:rPr>
                        <a:t> image</a:t>
                      </a:r>
                      <a:endParaRPr lang="en-US" b="1" dirty="0">
                        <a:solidFill>
                          <a:schemeClr val="bg1"/>
                        </a:solidFill>
                      </a:endParaRPr>
                    </a:p>
                  </a:txBody>
                  <a:tcPr anchor="ctr">
                    <a:lnL w="12700" cap="flat" cmpd="sng" algn="ctr">
                      <a:solidFill>
                        <a:srgbClr val="57A044"/>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Low</a:t>
                      </a:r>
                      <a:r>
                        <a:rPr lang="en-HK" b="1" baseline="0" dirty="0">
                          <a:solidFill>
                            <a:schemeClr val="bg1"/>
                          </a:solidFill>
                        </a:rPr>
                        <a:t>-resolution image</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extLst>
                  <a:ext uri="{0D108BD9-81ED-4DB2-BD59-A6C34878D82A}">
                    <a16:rowId xmlns:a16="http://schemas.microsoft.com/office/drawing/2014/main" val="10000"/>
                  </a:ext>
                </a:extLst>
              </a:tr>
              <a:tr h="1955113">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pic>
        <p:nvPicPr>
          <p:cNvPr id="7" name="Picture 6"/>
          <p:cNvPicPr>
            <a:picLocks noChangeAspect="1"/>
          </p:cNvPicPr>
          <p:nvPr/>
        </p:nvPicPr>
        <p:blipFill>
          <a:blip r:embed="rId2"/>
          <a:stretch>
            <a:fillRect/>
          </a:stretch>
        </p:blipFill>
        <p:spPr>
          <a:xfrm>
            <a:off x="3447150" y="4100162"/>
            <a:ext cx="2457644" cy="1801151"/>
          </a:xfrm>
          <a:prstGeom prst="rect">
            <a:avLst/>
          </a:prstGeom>
        </p:spPr>
      </p:pic>
      <p:pic>
        <p:nvPicPr>
          <p:cNvPr id="8" name="Picture 7"/>
          <p:cNvPicPr>
            <a:picLocks noChangeAspect="1"/>
          </p:cNvPicPr>
          <p:nvPr/>
        </p:nvPicPr>
        <p:blipFill>
          <a:blip r:embed="rId3"/>
          <a:stretch>
            <a:fillRect/>
          </a:stretch>
        </p:blipFill>
        <p:spPr>
          <a:xfrm>
            <a:off x="6301231" y="4100162"/>
            <a:ext cx="2236632" cy="1879138"/>
          </a:xfrm>
          <a:prstGeom prst="rect">
            <a:avLst/>
          </a:prstGeom>
        </p:spPr>
      </p:pic>
    </p:spTree>
    <p:extLst>
      <p:ext uri="{BB962C8B-B14F-4D97-AF65-F5344CB8AC3E}">
        <p14:creationId xmlns:p14="http://schemas.microsoft.com/office/powerpoint/2010/main" val="76757418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Image</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127</a:t>
            </a:fld>
            <a:endParaRPr lang="en-US" dirty="0"/>
          </a:p>
        </p:txBody>
      </p:sp>
      <p:sp>
        <p:nvSpPr>
          <p:cNvPr id="4" name="Text Placeholder 3"/>
          <p:cNvSpPr>
            <a:spLocks noGrp="1"/>
          </p:cNvSpPr>
          <p:nvPr>
            <p:ph type="body" sz="quarter" idx="14"/>
          </p:nvPr>
        </p:nvSpPr>
        <p:spPr/>
        <p:txBody>
          <a:bodyPr/>
          <a:lstStyle/>
          <a:p>
            <a:r>
              <a:rPr lang="en-HK" dirty="0"/>
              <a:t>B</a:t>
            </a:r>
            <a:endParaRPr lang="en-US" dirty="0"/>
          </a:p>
        </p:txBody>
      </p:sp>
      <p:sp>
        <p:nvSpPr>
          <p:cNvPr id="5" name="Content Placeholder 4"/>
          <p:cNvSpPr>
            <a:spLocks noGrp="1"/>
          </p:cNvSpPr>
          <p:nvPr>
            <p:ph sz="quarter" idx="15"/>
          </p:nvPr>
        </p:nvSpPr>
        <p:spPr/>
        <p:txBody>
          <a:bodyPr/>
          <a:lstStyle/>
          <a:p>
            <a:pPr lvl="0">
              <a:lnSpc>
                <a:spcPct val="115000"/>
              </a:lnSpc>
              <a:spcBef>
                <a:spcPts val="0"/>
              </a:spcBef>
            </a:pPr>
            <a:r>
              <a:rPr lang="en-HK" b="1" dirty="0">
                <a:solidFill>
                  <a:srgbClr val="504FA1"/>
                </a:solidFill>
                <a:cs typeface="Calibri" panose="020F0502020204030204" pitchFamily="34" charset="0"/>
              </a:rPr>
              <a:t>Aspect Ratio</a:t>
            </a:r>
            <a:r>
              <a:rPr lang="en-HK" b="1" dirty="0">
                <a:solidFill>
                  <a:srgbClr val="57A044"/>
                </a:solidFill>
              </a:rPr>
              <a:t> </a:t>
            </a:r>
            <a:r>
              <a:rPr lang="en-HK" dirty="0"/>
              <a:t>is the ratio of width to height.</a:t>
            </a:r>
          </a:p>
          <a:p>
            <a:pPr lvl="0">
              <a:lnSpc>
                <a:spcPct val="115000"/>
              </a:lnSpc>
              <a:spcBef>
                <a:spcPts val="0"/>
              </a:spcBef>
            </a:pPr>
            <a:endParaRPr lang="en-HK" dirty="0"/>
          </a:p>
          <a:p>
            <a:pPr lvl="0">
              <a:lnSpc>
                <a:spcPct val="115000"/>
              </a:lnSpc>
              <a:spcBef>
                <a:spcPts val="0"/>
              </a:spcBef>
            </a:pPr>
            <a:r>
              <a:rPr lang="en-HK" dirty="0"/>
              <a:t>Changing the aspect ratio of an image will result in </a:t>
            </a:r>
            <a:r>
              <a:rPr lang="en-HK" b="1" dirty="0"/>
              <a:t>blank spaces </a:t>
            </a:r>
            <a:r>
              <a:rPr lang="en-HK" dirty="0"/>
              <a:t>or </a:t>
            </a:r>
            <a:r>
              <a:rPr lang="en-HK" b="1" dirty="0"/>
              <a:t>cropping</a:t>
            </a:r>
            <a:r>
              <a:rPr lang="en-HK" dirty="0"/>
              <a:t>.</a:t>
            </a:r>
          </a:p>
          <a:p>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2608594216"/>
              </p:ext>
            </p:extLst>
          </p:nvPr>
        </p:nvGraphicFramePr>
        <p:xfrm>
          <a:off x="954524" y="3037916"/>
          <a:ext cx="10467162" cy="3113502"/>
        </p:xfrm>
        <a:graphic>
          <a:graphicData uri="http://schemas.openxmlformats.org/drawingml/2006/table">
            <a:tbl>
              <a:tblPr firstRow="1" bandRow="1">
                <a:tableStyleId>{5940675A-B579-460E-94D1-54222C63F5DA}</a:tableStyleId>
              </a:tblPr>
              <a:tblGrid>
                <a:gridCol w="3489054">
                  <a:extLst>
                    <a:ext uri="{9D8B030D-6E8A-4147-A177-3AD203B41FA5}">
                      <a16:colId xmlns:a16="http://schemas.microsoft.com/office/drawing/2014/main" val="20000"/>
                    </a:ext>
                  </a:extLst>
                </a:gridCol>
                <a:gridCol w="3489054">
                  <a:extLst>
                    <a:ext uri="{9D8B030D-6E8A-4147-A177-3AD203B41FA5}">
                      <a16:colId xmlns:a16="http://schemas.microsoft.com/office/drawing/2014/main" val="20001"/>
                    </a:ext>
                  </a:extLst>
                </a:gridCol>
                <a:gridCol w="3489054">
                  <a:extLst>
                    <a:ext uri="{9D8B030D-6E8A-4147-A177-3AD203B41FA5}">
                      <a16:colId xmlns:a16="http://schemas.microsoft.com/office/drawing/2014/main" val="20002"/>
                    </a:ext>
                  </a:extLst>
                </a:gridCol>
              </a:tblGrid>
              <a:tr h="715634">
                <a:tc>
                  <a:txBody>
                    <a:bodyPr/>
                    <a:lstStyle/>
                    <a:p>
                      <a:pPr algn="ctr"/>
                      <a:r>
                        <a:rPr lang="en-HK" b="1" dirty="0">
                          <a:solidFill>
                            <a:schemeClr val="bg1"/>
                          </a:solidFill>
                        </a:rPr>
                        <a:t>Original image</a:t>
                      </a:r>
                      <a:endParaRPr lang="en-US" b="1" dirty="0">
                        <a:solidFill>
                          <a:schemeClr val="bg1"/>
                        </a:solidFill>
                      </a:endParaRP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57A044"/>
                    </a:solidFill>
                  </a:tcPr>
                </a:tc>
                <a:tc>
                  <a:txBody>
                    <a:bodyPr/>
                    <a:lstStyle/>
                    <a:p>
                      <a:pPr algn="ctr"/>
                      <a:r>
                        <a:rPr lang="en-HK" b="1" dirty="0">
                          <a:solidFill>
                            <a:schemeClr val="bg1"/>
                          </a:solidFill>
                        </a:rPr>
                        <a:t>Image with blank spaces</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57A044"/>
                    </a:solidFill>
                  </a:tcPr>
                </a:tc>
                <a:tc>
                  <a:txBody>
                    <a:bodyPr/>
                    <a:lstStyle/>
                    <a:p>
                      <a:pPr algn="ctr"/>
                      <a:r>
                        <a:rPr lang="en-HK" b="1" dirty="0">
                          <a:solidFill>
                            <a:schemeClr val="bg1"/>
                          </a:solidFill>
                        </a:rPr>
                        <a:t>Cropped image</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57A044"/>
                    </a:solidFill>
                  </a:tcPr>
                </a:tc>
                <a:extLst>
                  <a:ext uri="{0D108BD9-81ED-4DB2-BD59-A6C34878D82A}">
                    <a16:rowId xmlns:a16="http://schemas.microsoft.com/office/drawing/2014/main" val="10000"/>
                  </a:ext>
                </a:extLst>
              </a:tr>
              <a:tr h="2397868">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pic>
        <p:nvPicPr>
          <p:cNvPr id="7" name="Picture 6"/>
          <p:cNvPicPr>
            <a:picLocks noChangeAspect="1"/>
          </p:cNvPicPr>
          <p:nvPr/>
        </p:nvPicPr>
        <p:blipFill>
          <a:blip r:embed="rId2"/>
          <a:stretch>
            <a:fillRect/>
          </a:stretch>
        </p:blipFill>
        <p:spPr>
          <a:xfrm>
            <a:off x="1241673" y="3883848"/>
            <a:ext cx="2673622" cy="2194388"/>
          </a:xfrm>
          <a:prstGeom prst="rect">
            <a:avLst/>
          </a:prstGeom>
        </p:spPr>
      </p:pic>
      <p:pic>
        <p:nvPicPr>
          <p:cNvPr id="8" name="Picture 7"/>
          <p:cNvPicPr>
            <a:picLocks noChangeAspect="1"/>
          </p:cNvPicPr>
          <p:nvPr/>
        </p:nvPicPr>
        <p:blipFill>
          <a:blip r:embed="rId3"/>
          <a:stretch>
            <a:fillRect/>
          </a:stretch>
        </p:blipFill>
        <p:spPr>
          <a:xfrm>
            <a:off x="4586813" y="4021822"/>
            <a:ext cx="3094145" cy="1955437"/>
          </a:xfrm>
          <a:prstGeom prst="rect">
            <a:avLst/>
          </a:prstGeom>
        </p:spPr>
      </p:pic>
      <p:pic>
        <p:nvPicPr>
          <p:cNvPr id="9" name="Picture 8"/>
          <p:cNvPicPr>
            <a:picLocks noChangeAspect="1"/>
          </p:cNvPicPr>
          <p:nvPr/>
        </p:nvPicPr>
        <p:blipFill>
          <a:blip r:embed="rId4"/>
          <a:stretch>
            <a:fillRect/>
          </a:stretch>
        </p:blipFill>
        <p:spPr>
          <a:xfrm>
            <a:off x="8069343" y="4021822"/>
            <a:ext cx="2986583" cy="1921600"/>
          </a:xfrm>
          <a:prstGeom prst="rect">
            <a:avLst/>
          </a:prstGeom>
        </p:spPr>
      </p:pic>
    </p:spTree>
    <p:extLst>
      <p:ext uri="{BB962C8B-B14F-4D97-AF65-F5344CB8AC3E}">
        <p14:creationId xmlns:p14="http://schemas.microsoft.com/office/powerpoint/2010/main" val="242879226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HK" dirty="0"/>
              <a:t>Compare the two screens on P. 112.</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128</a:t>
            </a:fld>
            <a:endParaRPr lang="en-US" dirty="0"/>
          </a:p>
        </p:txBody>
      </p:sp>
      <p:sp>
        <p:nvSpPr>
          <p:cNvPr id="4" name="Text Placeholder 3"/>
          <p:cNvSpPr>
            <a:spLocks noGrp="1"/>
          </p:cNvSpPr>
          <p:nvPr>
            <p:ph type="body" sz="quarter" idx="13"/>
          </p:nvPr>
        </p:nvSpPr>
        <p:spPr/>
        <p:txBody>
          <a:bodyPr/>
          <a:lstStyle/>
          <a:p>
            <a:r>
              <a:rPr lang="en-HK" dirty="0"/>
              <a:t>3.3</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2933369012"/>
              </p:ext>
            </p:extLst>
          </p:nvPr>
        </p:nvGraphicFramePr>
        <p:xfrm>
          <a:off x="991663" y="2038636"/>
          <a:ext cx="10362136" cy="4096157"/>
        </p:xfrm>
        <a:graphic>
          <a:graphicData uri="http://schemas.openxmlformats.org/drawingml/2006/table">
            <a:tbl>
              <a:tblPr firstRow="1" bandRow="1">
                <a:tableStyleId>{5940675A-B579-460E-94D1-54222C63F5DA}</a:tableStyleId>
              </a:tblPr>
              <a:tblGrid>
                <a:gridCol w="5567079">
                  <a:extLst>
                    <a:ext uri="{9D8B030D-6E8A-4147-A177-3AD203B41FA5}">
                      <a16:colId xmlns:a16="http://schemas.microsoft.com/office/drawing/2014/main" val="20000"/>
                    </a:ext>
                  </a:extLst>
                </a:gridCol>
                <a:gridCol w="4795057">
                  <a:extLst>
                    <a:ext uri="{9D8B030D-6E8A-4147-A177-3AD203B41FA5}">
                      <a16:colId xmlns:a16="http://schemas.microsoft.com/office/drawing/2014/main" val="20001"/>
                    </a:ext>
                  </a:extLst>
                </a:gridCol>
              </a:tblGrid>
              <a:tr h="626006">
                <a:tc>
                  <a:txBody>
                    <a:bodyPr/>
                    <a:lstStyle/>
                    <a:p>
                      <a:pPr algn="ctr"/>
                      <a:r>
                        <a:rPr lang="en-HK" sz="2000" b="1" dirty="0">
                          <a:solidFill>
                            <a:schemeClr val="bg1"/>
                          </a:solidFill>
                        </a:rPr>
                        <a:t>16:9 monitor</a:t>
                      </a:r>
                      <a:endParaRPr lang="en-US" sz="2000" b="1" dirty="0">
                        <a:solidFill>
                          <a:schemeClr val="bg1"/>
                        </a:solidFill>
                      </a:endParaRPr>
                    </a:p>
                  </a:txBody>
                  <a:tcPr anchor="ctr">
                    <a:lnL w="12700" cap="flat" cmpd="sng" algn="ctr">
                      <a:solidFill>
                        <a:srgbClr val="57A044"/>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sz="2000" b="1" dirty="0">
                          <a:solidFill>
                            <a:schemeClr val="bg1"/>
                          </a:solidFill>
                        </a:rPr>
                        <a:t>4:3</a:t>
                      </a:r>
                      <a:r>
                        <a:rPr lang="en-HK" sz="2000" b="1" baseline="0" dirty="0">
                          <a:solidFill>
                            <a:schemeClr val="bg1"/>
                          </a:solidFill>
                        </a:rPr>
                        <a:t> monitor</a:t>
                      </a:r>
                      <a:endParaRPr lang="en-US" sz="2000"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extLst>
                  <a:ext uri="{0D108BD9-81ED-4DB2-BD59-A6C34878D82A}">
                    <a16:rowId xmlns:a16="http://schemas.microsoft.com/office/drawing/2014/main" val="10000"/>
                  </a:ext>
                </a:extLst>
              </a:tr>
              <a:tr h="3470151">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pic>
        <p:nvPicPr>
          <p:cNvPr id="6" name="Picture 5"/>
          <p:cNvPicPr>
            <a:picLocks noChangeAspect="1"/>
          </p:cNvPicPr>
          <p:nvPr/>
        </p:nvPicPr>
        <p:blipFill>
          <a:blip r:embed="rId2"/>
          <a:stretch>
            <a:fillRect/>
          </a:stretch>
        </p:blipFill>
        <p:spPr>
          <a:xfrm>
            <a:off x="1045886" y="2897087"/>
            <a:ext cx="5420511" cy="3038201"/>
          </a:xfrm>
          <a:prstGeom prst="rect">
            <a:avLst/>
          </a:prstGeom>
        </p:spPr>
      </p:pic>
      <p:pic>
        <p:nvPicPr>
          <p:cNvPr id="7" name="Picture 6"/>
          <p:cNvPicPr>
            <a:picLocks noChangeAspect="1"/>
          </p:cNvPicPr>
          <p:nvPr/>
        </p:nvPicPr>
        <p:blipFill>
          <a:blip r:embed="rId3"/>
          <a:stretch>
            <a:fillRect/>
          </a:stretch>
        </p:blipFill>
        <p:spPr>
          <a:xfrm>
            <a:off x="6892218" y="2897087"/>
            <a:ext cx="4076037" cy="3058912"/>
          </a:xfrm>
          <a:prstGeom prst="rect">
            <a:avLst/>
          </a:prstGeom>
        </p:spPr>
      </p:pic>
    </p:spTree>
    <p:extLst>
      <p:ext uri="{BB962C8B-B14F-4D97-AF65-F5344CB8AC3E}">
        <p14:creationId xmlns:p14="http://schemas.microsoft.com/office/powerpoint/2010/main" val="3721337390"/>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solidFill>
                  <a:srgbClr val="FF0000"/>
                </a:solidFill>
              </a:rPr>
              <a:t>High aspect ratio results in wider screen, which is usually good for gaming. In this example, 16:9 monitor makes it easier for the player to spot the purple enemy. </a:t>
            </a:r>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129</a:t>
            </a:fld>
            <a:endParaRPr lang="en-US" dirty="0"/>
          </a:p>
        </p:txBody>
      </p:sp>
      <p:sp>
        <p:nvSpPr>
          <p:cNvPr id="4" name="Text Placeholder 3"/>
          <p:cNvSpPr>
            <a:spLocks noGrp="1"/>
          </p:cNvSpPr>
          <p:nvPr>
            <p:ph type="body" sz="quarter" idx="13"/>
          </p:nvPr>
        </p:nvSpPr>
        <p:spPr/>
        <p:txBody>
          <a:bodyPr/>
          <a:lstStyle/>
          <a:p>
            <a:r>
              <a:rPr lang="en-HK" dirty="0"/>
              <a:t>3.3</a:t>
            </a:r>
            <a:endParaRPr lang="en-US" dirty="0"/>
          </a:p>
        </p:txBody>
      </p:sp>
    </p:spTree>
    <p:extLst>
      <p:ext uri="{BB962C8B-B14F-4D97-AF65-F5344CB8AC3E}">
        <p14:creationId xmlns:p14="http://schemas.microsoft.com/office/powerpoint/2010/main" val="3285444626"/>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Image</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130</a:t>
            </a:fld>
            <a:endParaRPr lang="en-US" dirty="0"/>
          </a:p>
        </p:txBody>
      </p:sp>
      <p:sp>
        <p:nvSpPr>
          <p:cNvPr id="4" name="Text Placeholder 3"/>
          <p:cNvSpPr>
            <a:spLocks noGrp="1"/>
          </p:cNvSpPr>
          <p:nvPr>
            <p:ph type="body" sz="quarter" idx="14"/>
          </p:nvPr>
        </p:nvSpPr>
        <p:spPr/>
        <p:txBody>
          <a:bodyPr/>
          <a:lstStyle/>
          <a:p>
            <a:r>
              <a:rPr lang="en-HK" dirty="0"/>
              <a:t>B</a:t>
            </a:r>
            <a:endParaRPr lang="en-US" dirty="0"/>
          </a:p>
        </p:txBody>
      </p:sp>
      <p:sp>
        <p:nvSpPr>
          <p:cNvPr id="5" name="Content Placeholder 4"/>
          <p:cNvSpPr>
            <a:spLocks noGrp="1"/>
          </p:cNvSpPr>
          <p:nvPr>
            <p:ph sz="quarter" idx="15"/>
          </p:nvPr>
        </p:nvSpPr>
        <p:spPr/>
        <p:txBody>
          <a:bodyPr/>
          <a:lstStyle/>
          <a:p>
            <a:pPr lvl="0"/>
            <a:r>
              <a:rPr lang="en-HK" b="1" dirty="0">
                <a:solidFill>
                  <a:srgbClr val="504FA1"/>
                </a:solidFill>
                <a:cs typeface="Calibri" panose="020F0502020204030204" pitchFamily="34" charset="0"/>
              </a:rPr>
              <a:t>Transparency</a:t>
            </a:r>
            <a:r>
              <a:rPr lang="en-HK" dirty="0"/>
              <a:t> means that whether an image can allow transparent areas or not.</a:t>
            </a:r>
          </a:p>
          <a:p>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3909128625"/>
              </p:ext>
            </p:extLst>
          </p:nvPr>
        </p:nvGraphicFramePr>
        <p:xfrm>
          <a:off x="628136" y="2375295"/>
          <a:ext cx="10949262" cy="3526741"/>
        </p:xfrm>
        <a:graphic>
          <a:graphicData uri="http://schemas.openxmlformats.org/drawingml/2006/table">
            <a:tbl>
              <a:tblPr firstRow="1" bandRow="1">
                <a:tableStyleId>{5940675A-B579-460E-94D1-54222C63F5DA}</a:tableStyleId>
              </a:tblPr>
              <a:tblGrid>
                <a:gridCol w="5478994">
                  <a:extLst>
                    <a:ext uri="{9D8B030D-6E8A-4147-A177-3AD203B41FA5}">
                      <a16:colId xmlns:a16="http://schemas.microsoft.com/office/drawing/2014/main" val="20000"/>
                    </a:ext>
                  </a:extLst>
                </a:gridCol>
                <a:gridCol w="5470268">
                  <a:extLst>
                    <a:ext uri="{9D8B030D-6E8A-4147-A177-3AD203B41FA5}">
                      <a16:colId xmlns:a16="http://schemas.microsoft.com/office/drawing/2014/main" val="20001"/>
                    </a:ext>
                  </a:extLst>
                </a:gridCol>
              </a:tblGrid>
              <a:tr h="617473">
                <a:tc>
                  <a:txBody>
                    <a:bodyPr/>
                    <a:lstStyle/>
                    <a:p>
                      <a:pPr algn="ctr"/>
                      <a:r>
                        <a:rPr lang="en-HK" sz="2000" b="1" dirty="0">
                          <a:solidFill>
                            <a:schemeClr val="bg1"/>
                          </a:solidFill>
                        </a:rPr>
                        <a:t>Transparent</a:t>
                      </a:r>
                      <a:endParaRPr lang="en-US" sz="2000" b="1" dirty="0">
                        <a:solidFill>
                          <a:schemeClr val="bg1"/>
                        </a:solidFill>
                      </a:endParaRPr>
                    </a:p>
                  </a:txBody>
                  <a:tcPr anchor="ctr">
                    <a:lnL w="12700" cap="flat" cmpd="sng" algn="ctr">
                      <a:solidFill>
                        <a:srgbClr val="57A044"/>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sz="2000" b="1" dirty="0">
                          <a:solidFill>
                            <a:schemeClr val="bg1"/>
                          </a:solidFill>
                        </a:rPr>
                        <a:t>Not Transparent</a:t>
                      </a:r>
                      <a:endParaRPr lang="en-US" sz="2000"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extLst>
                  <a:ext uri="{0D108BD9-81ED-4DB2-BD59-A6C34878D82A}">
                    <a16:rowId xmlns:a16="http://schemas.microsoft.com/office/drawing/2014/main" val="10000"/>
                  </a:ext>
                </a:extLst>
              </a:tr>
              <a:tr h="2909268">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pic>
        <p:nvPicPr>
          <p:cNvPr id="7" name="Picture 6"/>
          <p:cNvPicPr>
            <a:picLocks noChangeAspect="1"/>
          </p:cNvPicPr>
          <p:nvPr/>
        </p:nvPicPr>
        <p:blipFill>
          <a:blip r:embed="rId2"/>
          <a:stretch>
            <a:fillRect/>
          </a:stretch>
        </p:blipFill>
        <p:spPr>
          <a:xfrm>
            <a:off x="709128" y="3102410"/>
            <a:ext cx="5332678" cy="2683248"/>
          </a:xfrm>
          <a:prstGeom prst="rect">
            <a:avLst/>
          </a:prstGeom>
        </p:spPr>
      </p:pic>
      <p:pic>
        <p:nvPicPr>
          <p:cNvPr id="8" name="Picture 7"/>
          <p:cNvPicPr>
            <a:picLocks noChangeAspect="1"/>
          </p:cNvPicPr>
          <p:nvPr/>
        </p:nvPicPr>
        <p:blipFill>
          <a:blip r:embed="rId3"/>
          <a:stretch>
            <a:fillRect/>
          </a:stretch>
        </p:blipFill>
        <p:spPr>
          <a:xfrm>
            <a:off x="6171477" y="3102410"/>
            <a:ext cx="5355175" cy="2683248"/>
          </a:xfrm>
          <a:prstGeom prst="rect">
            <a:avLst/>
          </a:prstGeom>
        </p:spPr>
      </p:pic>
    </p:spTree>
    <p:extLst>
      <p:ext uri="{BB962C8B-B14F-4D97-AF65-F5344CB8AC3E}">
        <p14:creationId xmlns:p14="http://schemas.microsoft.com/office/powerpoint/2010/main" val="4196164053"/>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Image</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131</a:t>
            </a:fld>
            <a:endParaRPr lang="en-US" dirty="0"/>
          </a:p>
        </p:txBody>
      </p:sp>
      <p:sp>
        <p:nvSpPr>
          <p:cNvPr id="4" name="Text Placeholder 3"/>
          <p:cNvSpPr>
            <a:spLocks noGrp="1"/>
          </p:cNvSpPr>
          <p:nvPr>
            <p:ph type="body" sz="quarter" idx="14"/>
          </p:nvPr>
        </p:nvSpPr>
        <p:spPr/>
        <p:txBody>
          <a:bodyPr/>
          <a:lstStyle/>
          <a:p>
            <a:r>
              <a:rPr lang="en-HK" dirty="0"/>
              <a:t>B</a:t>
            </a:r>
            <a:endParaRPr lang="en-US" dirty="0"/>
          </a:p>
        </p:txBody>
      </p:sp>
      <p:sp>
        <p:nvSpPr>
          <p:cNvPr id="5" name="Content Placeholder 4"/>
          <p:cNvSpPr>
            <a:spLocks noGrp="1"/>
          </p:cNvSpPr>
          <p:nvPr>
            <p:ph sz="quarter" idx="15"/>
          </p:nvPr>
        </p:nvSpPr>
        <p:spPr/>
        <p:txBody>
          <a:bodyPr/>
          <a:lstStyle/>
          <a:p>
            <a:r>
              <a:rPr lang="en-HK" dirty="0"/>
              <a:t>Common image file formats include:</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4030687230"/>
              </p:ext>
            </p:extLst>
          </p:nvPr>
        </p:nvGraphicFramePr>
        <p:xfrm>
          <a:off x="2206017" y="2428434"/>
          <a:ext cx="7627248" cy="3865610"/>
        </p:xfrm>
        <a:graphic>
          <a:graphicData uri="http://schemas.openxmlformats.org/drawingml/2006/table">
            <a:tbl>
              <a:tblPr firstRow="1" bandRow="1">
                <a:tableStyleId>{5940675A-B579-460E-94D1-54222C63F5DA}</a:tableStyleId>
              </a:tblPr>
              <a:tblGrid>
                <a:gridCol w="1116255">
                  <a:extLst>
                    <a:ext uri="{9D8B030D-6E8A-4147-A177-3AD203B41FA5}">
                      <a16:colId xmlns:a16="http://schemas.microsoft.com/office/drawing/2014/main" val="20000"/>
                    </a:ext>
                  </a:extLst>
                </a:gridCol>
                <a:gridCol w="1225835">
                  <a:extLst>
                    <a:ext uri="{9D8B030D-6E8A-4147-A177-3AD203B41FA5}">
                      <a16:colId xmlns:a16="http://schemas.microsoft.com/office/drawing/2014/main" val="20001"/>
                    </a:ext>
                  </a:extLst>
                </a:gridCol>
                <a:gridCol w="1748322">
                  <a:extLst>
                    <a:ext uri="{9D8B030D-6E8A-4147-A177-3AD203B41FA5}">
                      <a16:colId xmlns:a16="http://schemas.microsoft.com/office/drawing/2014/main" val="20002"/>
                    </a:ext>
                  </a:extLst>
                </a:gridCol>
                <a:gridCol w="1688036">
                  <a:extLst>
                    <a:ext uri="{9D8B030D-6E8A-4147-A177-3AD203B41FA5}">
                      <a16:colId xmlns:a16="http://schemas.microsoft.com/office/drawing/2014/main" val="20003"/>
                    </a:ext>
                  </a:extLst>
                </a:gridCol>
                <a:gridCol w="1848800">
                  <a:extLst>
                    <a:ext uri="{9D8B030D-6E8A-4147-A177-3AD203B41FA5}">
                      <a16:colId xmlns:a16="http://schemas.microsoft.com/office/drawing/2014/main" val="20004"/>
                    </a:ext>
                  </a:extLst>
                </a:gridCol>
              </a:tblGrid>
              <a:tr h="465611">
                <a:tc>
                  <a:txBody>
                    <a:bodyPr/>
                    <a:lstStyle/>
                    <a:p>
                      <a:pPr algn="ctr"/>
                      <a:r>
                        <a:rPr lang="en-HK" b="1" dirty="0">
                          <a:solidFill>
                            <a:schemeClr val="bg1"/>
                          </a:solidFill>
                        </a:rPr>
                        <a:t>File</a:t>
                      </a:r>
                      <a:r>
                        <a:rPr lang="en-US" b="1" baseline="0" dirty="0">
                          <a:solidFill>
                            <a:schemeClr val="bg1"/>
                          </a:solidFill>
                        </a:rPr>
                        <a:t> format</a:t>
                      </a:r>
                      <a:endParaRPr lang="en-HK" b="1" dirty="0">
                        <a:solidFill>
                          <a:schemeClr val="bg1"/>
                        </a:solidFill>
                      </a:endParaRPr>
                    </a:p>
                  </a:txBody>
                  <a:tcPr anchor="ctr">
                    <a:lnL w="12700" cap="flat" cmpd="sng" algn="ctr">
                      <a:solidFill>
                        <a:srgbClr val="57A044"/>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algn="ctr"/>
                      <a:r>
                        <a:rPr lang="en-HK" b="1" dirty="0">
                          <a:solidFill>
                            <a:schemeClr val="bg1"/>
                          </a:solidFill>
                        </a:rPr>
                        <a:t>Type</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Support transparency</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Support animation</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Compression</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extLst>
                  <a:ext uri="{0D108BD9-81ED-4DB2-BD59-A6C34878D82A}">
                    <a16:rowId xmlns:a16="http://schemas.microsoft.com/office/drawing/2014/main" val="10000"/>
                  </a:ext>
                </a:extLst>
              </a:tr>
              <a:tr h="386063">
                <a:tc>
                  <a:txBody>
                    <a:bodyPr/>
                    <a:lstStyle/>
                    <a:p>
                      <a:pPr algn="ctr"/>
                      <a:r>
                        <a:rPr lang="en-HK" b="1" dirty="0">
                          <a:solidFill>
                            <a:schemeClr val="bg1"/>
                          </a:solidFill>
                        </a:rPr>
                        <a:t>BMP</a:t>
                      </a:r>
                      <a:endParaRPr lang="en-US" b="1" dirty="0">
                        <a:solidFill>
                          <a:schemeClr val="bg1"/>
                        </a:solidFill>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algn="ctr"/>
                      <a:r>
                        <a:rPr lang="en-HK" dirty="0"/>
                        <a:t>Bitmap</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t>Uncompressed</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1"/>
                  </a:ext>
                </a:extLst>
              </a:tr>
              <a:tr h="453331">
                <a:tc>
                  <a:txBody>
                    <a:bodyPr/>
                    <a:lstStyle/>
                    <a:p>
                      <a:pPr algn="ctr"/>
                      <a:r>
                        <a:rPr lang="en-HK" b="1" dirty="0">
                          <a:solidFill>
                            <a:schemeClr val="bg1"/>
                          </a:solidFill>
                        </a:rPr>
                        <a:t>JPEG/ JPG</a:t>
                      </a:r>
                      <a:endParaRPr lang="en-US" b="1" dirty="0">
                        <a:solidFill>
                          <a:schemeClr val="bg1"/>
                        </a:solidFill>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HK" dirty="0"/>
                        <a:t>Bitmap</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err="1"/>
                        <a:t>Lossy</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2"/>
                  </a:ext>
                </a:extLst>
              </a:tr>
              <a:tr h="453331">
                <a:tc>
                  <a:txBody>
                    <a:bodyPr/>
                    <a:lstStyle/>
                    <a:p>
                      <a:pPr algn="ctr"/>
                      <a:r>
                        <a:rPr lang="en-HK" b="1" dirty="0">
                          <a:solidFill>
                            <a:schemeClr val="bg1"/>
                          </a:solidFill>
                        </a:rPr>
                        <a:t>GIF</a:t>
                      </a:r>
                      <a:endParaRPr lang="en-US" b="1" dirty="0">
                        <a:solidFill>
                          <a:schemeClr val="bg1"/>
                        </a:solidFill>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HK" dirty="0"/>
                        <a:t>Bitmap</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t>Lossless</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3"/>
                  </a:ext>
                </a:extLst>
              </a:tr>
              <a:tr h="453331">
                <a:tc>
                  <a:txBody>
                    <a:bodyPr/>
                    <a:lstStyle/>
                    <a:p>
                      <a:pPr algn="ctr"/>
                      <a:r>
                        <a:rPr lang="en-HK" b="1" dirty="0">
                          <a:solidFill>
                            <a:schemeClr val="bg1"/>
                          </a:solidFill>
                        </a:rPr>
                        <a:t>PNG</a:t>
                      </a:r>
                      <a:endParaRPr lang="en-US" b="1" dirty="0">
                        <a:solidFill>
                          <a:schemeClr val="bg1"/>
                        </a:solidFill>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HK" dirty="0"/>
                        <a:t>Bitmap</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t>Lossless</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4"/>
                  </a:ext>
                </a:extLst>
              </a:tr>
              <a:tr h="453331">
                <a:tc>
                  <a:txBody>
                    <a:bodyPr/>
                    <a:lstStyle/>
                    <a:p>
                      <a:pPr algn="ctr"/>
                      <a:r>
                        <a:rPr lang="en-HK" b="1">
                          <a:solidFill>
                            <a:schemeClr val="bg1"/>
                          </a:solidFill>
                        </a:rPr>
                        <a:t>WebP</a:t>
                      </a:r>
                      <a:endParaRPr lang="en-US" b="1" dirty="0">
                        <a:solidFill>
                          <a:schemeClr val="bg1"/>
                        </a:solidFill>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HK" dirty="0"/>
                        <a:t>Bitmap</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t>Lossless</a:t>
                      </a:r>
                      <a:r>
                        <a:rPr lang="en-HK" baseline="0" dirty="0"/>
                        <a:t> or </a:t>
                      </a:r>
                      <a:r>
                        <a:rPr lang="en-HK" baseline="0" dirty="0" err="1"/>
                        <a:t>Lossy</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5"/>
                  </a:ext>
                </a:extLst>
              </a:tr>
              <a:tr h="453331">
                <a:tc>
                  <a:txBody>
                    <a:bodyPr/>
                    <a:lstStyle/>
                    <a:p>
                      <a:pPr algn="ctr"/>
                      <a:r>
                        <a:rPr lang="en-HK" b="1" dirty="0">
                          <a:solidFill>
                            <a:schemeClr val="bg1"/>
                          </a:solidFill>
                        </a:rPr>
                        <a:t>TIFF/TIF</a:t>
                      </a:r>
                      <a:endParaRPr lang="en-US" b="1" dirty="0">
                        <a:solidFill>
                          <a:schemeClr val="bg1"/>
                        </a:solidFill>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HK" dirty="0"/>
                        <a:t>Bitmap</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t>Lossless</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6"/>
                  </a:ext>
                </a:extLst>
              </a:tr>
              <a:tr h="386063">
                <a:tc>
                  <a:txBody>
                    <a:bodyPr/>
                    <a:lstStyle/>
                    <a:p>
                      <a:pPr algn="ctr"/>
                      <a:r>
                        <a:rPr lang="en-HK" b="1" dirty="0">
                          <a:solidFill>
                            <a:schemeClr val="bg1"/>
                          </a:solidFill>
                        </a:rPr>
                        <a:t>SVG</a:t>
                      </a:r>
                      <a:endParaRPr lang="en-US" b="1" dirty="0">
                        <a:solidFill>
                          <a:schemeClr val="bg1"/>
                        </a:solidFill>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dirty="0"/>
                        <a:t>Vector</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t>Uncompressed</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pic>
        <p:nvPicPr>
          <p:cNvPr id="7" name="Picture 6"/>
          <p:cNvPicPr>
            <a:picLocks noChangeAspect="1"/>
          </p:cNvPicPr>
          <p:nvPr/>
        </p:nvPicPr>
        <p:blipFill>
          <a:blip r:embed="rId2"/>
          <a:stretch>
            <a:fillRect/>
          </a:stretch>
        </p:blipFill>
        <p:spPr>
          <a:xfrm>
            <a:off x="5261429" y="3156964"/>
            <a:ext cx="292300" cy="295194"/>
          </a:xfrm>
          <a:prstGeom prst="rect">
            <a:avLst/>
          </a:prstGeom>
        </p:spPr>
      </p:pic>
      <p:pic>
        <p:nvPicPr>
          <p:cNvPr id="8" name="Picture 7"/>
          <p:cNvPicPr>
            <a:picLocks noChangeAspect="1"/>
          </p:cNvPicPr>
          <p:nvPr/>
        </p:nvPicPr>
        <p:blipFill>
          <a:blip r:embed="rId3"/>
          <a:stretch>
            <a:fillRect/>
          </a:stretch>
        </p:blipFill>
        <p:spPr>
          <a:xfrm>
            <a:off x="7049389" y="3200940"/>
            <a:ext cx="223556" cy="226281"/>
          </a:xfrm>
          <a:prstGeom prst="rect">
            <a:avLst/>
          </a:prstGeom>
        </p:spPr>
      </p:pic>
      <p:pic>
        <p:nvPicPr>
          <p:cNvPr id="9" name="Picture 8"/>
          <p:cNvPicPr>
            <a:picLocks noChangeAspect="1"/>
          </p:cNvPicPr>
          <p:nvPr/>
        </p:nvPicPr>
        <p:blipFill>
          <a:blip r:embed="rId3"/>
          <a:stretch>
            <a:fillRect/>
          </a:stretch>
        </p:blipFill>
        <p:spPr>
          <a:xfrm>
            <a:off x="7049388" y="3670765"/>
            <a:ext cx="223556" cy="226281"/>
          </a:xfrm>
          <a:prstGeom prst="rect">
            <a:avLst/>
          </a:prstGeom>
        </p:spPr>
      </p:pic>
      <p:pic>
        <p:nvPicPr>
          <p:cNvPr id="10" name="Picture 9"/>
          <p:cNvPicPr>
            <a:picLocks noChangeAspect="1"/>
          </p:cNvPicPr>
          <p:nvPr/>
        </p:nvPicPr>
        <p:blipFill>
          <a:blip r:embed="rId3"/>
          <a:stretch>
            <a:fillRect/>
          </a:stretch>
        </p:blipFill>
        <p:spPr>
          <a:xfrm>
            <a:off x="5311123" y="3670765"/>
            <a:ext cx="210828" cy="226483"/>
          </a:xfrm>
          <a:prstGeom prst="rect">
            <a:avLst/>
          </a:prstGeom>
        </p:spPr>
      </p:pic>
      <p:pic>
        <p:nvPicPr>
          <p:cNvPr id="11" name="Picture 10"/>
          <p:cNvPicPr>
            <a:picLocks noChangeAspect="1"/>
          </p:cNvPicPr>
          <p:nvPr/>
        </p:nvPicPr>
        <p:blipFill>
          <a:blip r:embed="rId2"/>
          <a:stretch>
            <a:fillRect/>
          </a:stretch>
        </p:blipFill>
        <p:spPr>
          <a:xfrm>
            <a:off x="5261428" y="4207338"/>
            <a:ext cx="292300" cy="295194"/>
          </a:xfrm>
          <a:prstGeom prst="rect">
            <a:avLst/>
          </a:prstGeom>
        </p:spPr>
      </p:pic>
      <p:pic>
        <p:nvPicPr>
          <p:cNvPr id="12" name="Picture 11"/>
          <p:cNvPicPr>
            <a:picLocks noChangeAspect="1"/>
          </p:cNvPicPr>
          <p:nvPr/>
        </p:nvPicPr>
        <p:blipFill>
          <a:blip r:embed="rId2"/>
          <a:stretch>
            <a:fillRect/>
          </a:stretch>
        </p:blipFill>
        <p:spPr>
          <a:xfrm>
            <a:off x="7007579" y="4207338"/>
            <a:ext cx="292040" cy="294931"/>
          </a:xfrm>
          <a:prstGeom prst="rect">
            <a:avLst/>
          </a:prstGeom>
        </p:spPr>
      </p:pic>
      <p:pic>
        <p:nvPicPr>
          <p:cNvPr id="13" name="Picture 12"/>
          <p:cNvPicPr>
            <a:picLocks noChangeAspect="1"/>
          </p:cNvPicPr>
          <p:nvPr/>
        </p:nvPicPr>
        <p:blipFill>
          <a:blip r:embed="rId2"/>
          <a:stretch>
            <a:fillRect/>
          </a:stretch>
        </p:blipFill>
        <p:spPr>
          <a:xfrm>
            <a:off x="5261428" y="4648865"/>
            <a:ext cx="292300" cy="295194"/>
          </a:xfrm>
          <a:prstGeom prst="rect">
            <a:avLst/>
          </a:prstGeom>
        </p:spPr>
      </p:pic>
      <p:pic>
        <p:nvPicPr>
          <p:cNvPr id="14" name="Picture 13"/>
          <p:cNvPicPr>
            <a:picLocks noChangeAspect="1"/>
          </p:cNvPicPr>
          <p:nvPr/>
        </p:nvPicPr>
        <p:blipFill>
          <a:blip r:embed="rId3"/>
          <a:stretch>
            <a:fillRect/>
          </a:stretch>
        </p:blipFill>
        <p:spPr>
          <a:xfrm>
            <a:off x="7049388" y="4680014"/>
            <a:ext cx="223556" cy="226281"/>
          </a:xfrm>
          <a:prstGeom prst="rect">
            <a:avLst/>
          </a:prstGeom>
        </p:spPr>
      </p:pic>
      <p:pic>
        <p:nvPicPr>
          <p:cNvPr id="15" name="Picture 14"/>
          <p:cNvPicPr>
            <a:picLocks noChangeAspect="1"/>
          </p:cNvPicPr>
          <p:nvPr/>
        </p:nvPicPr>
        <p:blipFill>
          <a:blip r:embed="rId2"/>
          <a:stretch>
            <a:fillRect/>
          </a:stretch>
        </p:blipFill>
        <p:spPr>
          <a:xfrm>
            <a:off x="5261428" y="5116395"/>
            <a:ext cx="292300" cy="295194"/>
          </a:xfrm>
          <a:prstGeom prst="rect">
            <a:avLst/>
          </a:prstGeom>
        </p:spPr>
      </p:pic>
      <p:pic>
        <p:nvPicPr>
          <p:cNvPr id="16" name="Picture 15"/>
          <p:cNvPicPr>
            <a:picLocks noChangeAspect="1"/>
          </p:cNvPicPr>
          <p:nvPr/>
        </p:nvPicPr>
        <p:blipFill>
          <a:blip r:embed="rId2"/>
          <a:stretch>
            <a:fillRect/>
          </a:stretch>
        </p:blipFill>
        <p:spPr>
          <a:xfrm>
            <a:off x="7007579" y="5092263"/>
            <a:ext cx="292040" cy="294931"/>
          </a:xfrm>
          <a:prstGeom prst="rect">
            <a:avLst/>
          </a:prstGeom>
        </p:spPr>
      </p:pic>
      <p:pic>
        <p:nvPicPr>
          <p:cNvPr id="17" name="Picture 16"/>
          <p:cNvPicPr>
            <a:picLocks noChangeAspect="1"/>
          </p:cNvPicPr>
          <p:nvPr/>
        </p:nvPicPr>
        <p:blipFill>
          <a:blip r:embed="rId3"/>
          <a:stretch>
            <a:fillRect/>
          </a:stretch>
        </p:blipFill>
        <p:spPr>
          <a:xfrm>
            <a:off x="5302502" y="5583925"/>
            <a:ext cx="223755" cy="226483"/>
          </a:xfrm>
          <a:prstGeom prst="rect">
            <a:avLst/>
          </a:prstGeom>
        </p:spPr>
      </p:pic>
      <p:pic>
        <p:nvPicPr>
          <p:cNvPr id="18" name="Picture 17"/>
          <p:cNvPicPr>
            <a:picLocks noChangeAspect="1"/>
          </p:cNvPicPr>
          <p:nvPr/>
        </p:nvPicPr>
        <p:blipFill>
          <a:blip r:embed="rId3"/>
          <a:stretch>
            <a:fillRect/>
          </a:stretch>
        </p:blipFill>
        <p:spPr>
          <a:xfrm>
            <a:off x="7049388" y="5583925"/>
            <a:ext cx="223556" cy="226281"/>
          </a:xfrm>
          <a:prstGeom prst="rect">
            <a:avLst/>
          </a:prstGeom>
        </p:spPr>
      </p:pic>
      <p:pic>
        <p:nvPicPr>
          <p:cNvPr id="19" name="Picture 18"/>
          <p:cNvPicPr>
            <a:picLocks noChangeAspect="1"/>
          </p:cNvPicPr>
          <p:nvPr/>
        </p:nvPicPr>
        <p:blipFill>
          <a:blip r:embed="rId2"/>
          <a:stretch>
            <a:fillRect/>
          </a:stretch>
        </p:blipFill>
        <p:spPr>
          <a:xfrm>
            <a:off x="5261428" y="5977844"/>
            <a:ext cx="292300" cy="295194"/>
          </a:xfrm>
          <a:prstGeom prst="rect">
            <a:avLst/>
          </a:prstGeom>
        </p:spPr>
      </p:pic>
      <p:pic>
        <p:nvPicPr>
          <p:cNvPr id="20" name="Picture 19"/>
          <p:cNvPicPr>
            <a:picLocks noChangeAspect="1"/>
          </p:cNvPicPr>
          <p:nvPr/>
        </p:nvPicPr>
        <p:blipFill>
          <a:blip r:embed="rId2"/>
          <a:stretch>
            <a:fillRect/>
          </a:stretch>
        </p:blipFill>
        <p:spPr>
          <a:xfrm>
            <a:off x="7015146" y="5977188"/>
            <a:ext cx="292040" cy="294931"/>
          </a:xfrm>
          <a:prstGeom prst="rect">
            <a:avLst/>
          </a:prstGeom>
        </p:spPr>
      </p:pic>
    </p:spTree>
    <p:extLst>
      <p:ext uri="{BB962C8B-B14F-4D97-AF65-F5344CB8AC3E}">
        <p14:creationId xmlns:p14="http://schemas.microsoft.com/office/powerpoint/2010/main" val="542005419"/>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HK" dirty="0"/>
              <a:t>Finish Lab 3.9 on P. 114 of the textbook.</a:t>
            </a:r>
            <a:br>
              <a:rPr lang="en-HK" dirty="0"/>
            </a:br>
            <a:r>
              <a:rPr lang="en-HK" dirty="0"/>
              <a:t/>
            </a:r>
            <a:br>
              <a:rPr lang="en-HK" dirty="0"/>
            </a:br>
            <a:r>
              <a:rPr lang="en-HK" dirty="0"/>
              <a:t/>
            </a:r>
            <a:br>
              <a:rPr lang="en-HK" dirty="0"/>
            </a:br>
            <a:r>
              <a:rPr lang="en-HK" dirty="0"/>
              <a:t/>
            </a:r>
            <a:br>
              <a:rPr lang="en-HK" dirty="0"/>
            </a:br>
            <a:r>
              <a:rPr lang="en-HK" dirty="0"/>
              <a:t>File size (in MB) =</a:t>
            </a:r>
          </a:p>
          <a:p>
            <a:r>
              <a:rPr lang="en-HK" dirty="0">
                <a:solidFill>
                  <a:srgbClr val="FF0000"/>
                </a:solidFill>
              </a:rPr>
              <a:t>24 bits × 1,024 × 768 = 3 bytes × 1,024 × 768 = 3 KB × 768 ≈ 2,304 KB  = (2,304 ÷ 1,024) MB ≈ 2.25 MB</a:t>
            </a:r>
            <a:endParaRPr lang="en-US" dirty="0">
              <a:solidFill>
                <a:srgbClr val="FF0000"/>
              </a:solidFill>
            </a:endParaRPr>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132</a:t>
            </a:fld>
            <a:endParaRPr lang="en-US" dirty="0"/>
          </a:p>
        </p:txBody>
      </p:sp>
      <p:sp>
        <p:nvSpPr>
          <p:cNvPr id="4" name="Text Placeholder 3"/>
          <p:cNvSpPr>
            <a:spLocks noGrp="1"/>
          </p:cNvSpPr>
          <p:nvPr>
            <p:ph type="body" sz="quarter" idx="13"/>
          </p:nvPr>
        </p:nvSpPr>
        <p:spPr/>
        <p:txBody>
          <a:bodyPr/>
          <a:lstStyle/>
          <a:p>
            <a:r>
              <a:rPr lang="en-HK" dirty="0"/>
              <a:t>3.9</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698050816"/>
              </p:ext>
            </p:extLst>
          </p:nvPr>
        </p:nvGraphicFramePr>
        <p:xfrm>
          <a:off x="954801" y="2038479"/>
          <a:ext cx="4607648" cy="741680"/>
        </p:xfrm>
        <a:graphic>
          <a:graphicData uri="http://schemas.openxmlformats.org/drawingml/2006/table">
            <a:tbl>
              <a:tblPr firstRow="1" bandRow="1">
                <a:tableStyleId>{5940675A-B579-460E-94D1-54222C63F5DA}</a:tableStyleId>
              </a:tblPr>
              <a:tblGrid>
                <a:gridCol w="2303824">
                  <a:extLst>
                    <a:ext uri="{9D8B030D-6E8A-4147-A177-3AD203B41FA5}">
                      <a16:colId xmlns:a16="http://schemas.microsoft.com/office/drawing/2014/main" val="20000"/>
                    </a:ext>
                  </a:extLst>
                </a:gridCol>
                <a:gridCol w="2303824">
                  <a:extLst>
                    <a:ext uri="{9D8B030D-6E8A-4147-A177-3AD203B41FA5}">
                      <a16:colId xmlns:a16="http://schemas.microsoft.com/office/drawing/2014/main" val="20001"/>
                    </a:ext>
                  </a:extLst>
                </a:gridCol>
              </a:tblGrid>
              <a:tr h="370840">
                <a:tc>
                  <a:txBody>
                    <a:bodyPr/>
                    <a:lstStyle/>
                    <a:p>
                      <a:r>
                        <a:rPr lang="en-HK" b="1" dirty="0">
                          <a:solidFill>
                            <a:schemeClr val="bg1"/>
                          </a:solidFill>
                        </a:rPr>
                        <a:t>Colour depth</a:t>
                      </a:r>
                      <a:endParaRPr lang="en-US" b="1" dirty="0">
                        <a:solidFill>
                          <a:schemeClr val="bg1"/>
                        </a:solidFill>
                      </a:endParaRPr>
                    </a:p>
                  </a:txBody>
                  <a:tcPr anchor="ctr">
                    <a:lnL w="12700" cap="flat" cmpd="sng" algn="ctr">
                      <a:solidFill>
                        <a:srgbClr val="C69A3C"/>
                      </a:solidFill>
                      <a:prstDash val="solid"/>
                      <a:round/>
                      <a:headEnd type="none" w="med" len="med"/>
                      <a:tailEnd type="none" w="med" len="med"/>
                    </a:lnL>
                    <a:lnR w="12700" cap="flat" cmpd="sng" algn="ctr">
                      <a:solidFill>
                        <a:srgbClr val="C69A3C"/>
                      </a:solidFill>
                      <a:prstDash val="solid"/>
                      <a:round/>
                      <a:headEnd type="none" w="med" len="med"/>
                      <a:tailEnd type="none" w="med" len="med"/>
                    </a:lnR>
                    <a:lnT w="12700" cap="flat" cmpd="sng" algn="ctr">
                      <a:solidFill>
                        <a:srgbClr val="C69A3C"/>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A3C"/>
                    </a:solidFill>
                  </a:tcPr>
                </a:tc>
                <a:tc>
                  <a:txBody>
                    <a:bodyPr/>
                    <a:lstStyle/>
                    <a:p>
                      <a:r>
                        <a:rPr lang="en-HK" dirty="0"/>
                        <a:t>24 bits</a:t>
                      </a:r>
                      <a:endParaRPr lang="en-US" dirty="0"/>
                    </a:p>
                  </a:txBody>
                  <a:tcPr anchor="ctr">
                    <a:lnL w="12700" cap="flat" cmpd="sng" algn="ctr">
                      <a:solidFill>
                        <a:srgbClr val="C69A3C"/>
                      </a:solidFill>
                      <a:prstDash val="solid"/>
                      <a:round/>
                      <a:headEnd type="none" w="med" len="med"/>
                      <a:tailEnd type="none" w="med" len="med"/>
                    </a:lnL>
                    <a:lnR w="12700" cap="flat" cmpd="sng" algn="ctr">
                      <a:solidFill>
                        <a:srgbClr val="C69A3C"/>
                      </a:solidFill>
                      <a:prstDash val="solid"/>
                      <a:round/>
                      <a:headEnd type="none" w="med" len="med"/>
                      <a:tailEnd type="none" w="med" len="med"/>
                    </a:lnR>
                    <a:lnT w="12700" cap="flat" cmpd="sng" algn="ctr">
                      <a:solidFill>
                        <a:srgbClr val="C69A3C"/>
                      </a:solidFill>
                      <a:prstDash val="solid"/>
                      <a:round/>
                      <a:headEnd type="none" w="med" len="med"/>
                      <a:tailEnd type="none" w="med" len="med"/>
                    </a:lnT>
                    <a:lnB w="12700" cap="flat" cmpd="sng" algn="ctr">
                      <a:solidFill>
                        <a:srgbClr val="C69A3C"/>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HK" b="1" dirty="0">
                          <a:solidFill>
                            <a:schemeClr val="bg1"/>
                          </a:solidFill>
                        </a:rPr>
                        <a:t>Resolution</a:t>
                      </a:r>
                      <a:endParaRPr lang="en-US" b="1" dirty="0">
                        <a:solidFill>
                          <a:schemeClr val="bg1"/>
                        </a:solidFill>
                      </a:endParaRPr>
                    </a:p>
                  </a:txBody>
                  <a:tcPr anchor="ctr">
                    <a:lnL w="12700" cap="flat" cmpd="sng" algn="ctr">
                      <a:solidFill>
                        <a:srgbClr val="C69A3C"/>
                      </a:solidFill>
                      <a:prstDash val="solid"/>
                      <a:round/>
                      <a:headEnd type="none" w="med" len="med"/>
                      <a:tailEnd type="none" w="med" len="med"/>
                    </a:lnL>
                    <a:lnR w="12700" cap="flat" cmpd="sng" algn="ctr">
                      <a:solidFill>
                        <a:srgbClr val="C69A3C"/>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C69A3C"/>
                      </a:solidFill>
                      <a:prstDash val="solid"/>
                      <a:round/>
                      <a:headEnd type="none" w="med" len="med"/>
                      <a:tailEnd type="none" w="med" len="med"/>
                    </a:lnB>
                    <a:solidFill>
                      <a:srgbClr val="C69A3C"/>
                    </a:solidFill>
                  </a:tcPr>
                </a:tc>
                <a:tc>
                  <a:txBody>
                    <a:bodyPr/>
                    <a:lstStyle/>
                    <a:p>
                      <a:r>
                        <a:rPr lang="en-HK" dirty="0"/>
                        <a:t>1024 × 768</a:t>
                      </a:r>
                      <a:endParaRPr lang="en-US" dirty="0"/>
                    </a:p>
                  </a:txBody>
                  <a:tcPr anchor="ctr">
                    <a:lnL w="12700" cap="flat" cmpd="sng" algn="ctr">
                      <a:solidFill>
                        <a:srgbClr val="C69A3C"/>
                      </a:solidFill>
                      <a:prstDash val="solid"/>
                      <a:round/>
                      <a:headEnd type="none" w="med" len="med"/>
                      <a:tailEnd type="none" w="med" len="med"/>
                    </a:lnL>
                    <a:lnR w="12700" cap="flat" cmpd="sng" algn="ctr">
                      <a:solidFill>
                        <a:srgbClr val="C69A3C"/>
                      </a:solidFill>
                      <a:prstDash val="solid"/>
                      <a:round/>
                      <a:headEnd type="none" w="med" len="med"/>
                      <a:tailEnd type="none" w="med" len="med"/>
                    </a:lnR>
                    <a:lnT w="12700" cap="flat" cmpd="sng" algn="ctr">
                      <a:solidFill>
                        <a:srgbClr val="C69A3C"/>
                      </a:solidFill>
                      <a:prstDash val="solid"/>
                      <a:round/>
                      <a:headEnd type="none" w="med" len="med"/>
                      <a:tailEnd type="none" w="med" len="med"/>
                    </a:lnT>
                    <a:lnB w="12700" cap="flat" cmpd="sng" algn="ctr">
                      <a:solidFill>
                        <a:srgbClr val="C69A3C"/>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108381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Read the following paragraph and answer questions 1 and 2. Henry took some photos during his journey. He wants to upload these photos to his social media account.</a:t>
            </a:r>
          </a:p>
          <a:p>
            <a:endParaRPr lang="en-HK" dirty="0"/>
          </a:p>
          <a:p>
            <a:pPr marL="457200" indent="-457200">
              <a:buAutoNum type="arabicPeriod"/>
            </a:pPr>
            <a:r>
              <a:rPr lang="en-US" dirty="0"/>
              <a:t>Which of the following image file formats is suitable for him to upload?</a:t>
            </a:r>
            <a:endParaRPr lang="en-HK" dirty="0"/>
          </a:p>
          <a:p>
            <a:pPr marL="800100" lvl="1" indent="-342900">
              <a:buAutoNum type="alphaUcPeriod"/>
            </a:pPr>
            <a:r>
              <a:rPr lang="en-HK" dirty="0"/>
              <a:t>TIFF</a:t>
            </a:r>
          </a:p>
          <a:p>
            <a:pPr marL="800100" lvl="1" indent="-342900">
              <a:buAutoNum type="alphaUcPeriod"/>
            </a:pPr>
            <a:r>
              <a:rPr lang="en-HK" dirty="0"/>
              <a:t>SVG</a:t>
            </a:r>
          </a:p>
          <a:p>
            <a:pPr marL="800100" lvl="1" indent="-342900">
              <a:buAutoNum type="alphaUcPeriod"/>
            </a:pPr>
            <a:r>
              <a:rPr lang="en-HK" dirty="0"/>
              <a:t>GIF</a:t>
            </a:r>
          </a:p>
          <a:p>
            <a:pPr marL="800100" lvl="1" indent="-342900">
              <a:buAutoNum type="alphaUcPeriod"/>
            </a:pPr>
            <a:r>
              <a:rPr lang="en-HK" dirty="0"/>
              <a:t>PNG</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133</a:t>
            </a:fld>
            <a:endParaRPr lang="en-US" dirty="0"/>
          </a:p>
        </p:txBody>
      </p:sp>
      <p:sp>
        <p:nvSpPr>
          <p:cNvPr id="4" name="Text Placeholder 3"/>
          <p:cNvSpPr>
            <a:spLocks noGrp="1"/>
          </p:cNvSpPr>
          <p:nvPr>
            <p:ph type="body" sz="quarter" idx="13"/>
          </p:nvPr>
        </p:nvSpPr>
        <p:spPr/>
        <p:txBody>
          <a:bodyPr/>
          <a:lstStyle/>
          <a:p>
            <a:r>
              <a:rPr lang="en-HK" dirty="0"/>
              <a:t>3.8</a:t>
            </a:r>
            <a:endParaRPr lang="en-US" dirty="0"/>
          </a:p>
        </p:txBody>
      </p:sp>
    </p:spTree>
    <p:extLst>
      <p:ext uri="{BB962C8B-B14F-4D97-AF65-F5344CB8AC3E}">
        <p14:creationId xmlns:p14="http://schemas.microsoft.com/office/powerpoint/2010/main" val="3882469869"/>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342900" indent="-342900">
              <a:buSzPct val="100000"/>
              <a:buFont typeface="Noto Sans CJK TC Regular" panose="020B0500000000000000" pitchFamily="34" charset="-128"/>
              <a:buChar char="◣"/>
            </a:pPr>
            <a:r>
              <a:rPr lang="en-HK" b="1" dirty="0">
                <a:solidFill>
                  <a:srgbClr val="37A3D4"/>
                </a:solidFill>
              </a:rPr>
              <a:t>Analysis</a:t>
            </a:r>
          </a:p>
          <a:p>
            <a:pPr>
              <a:buSzPct val="100000"/>
            </a:pPr>
            <a:r>
              <a:rPr lang="en-US" dirty="0"/>
              <a:t>TIFF is not widely supported by web browsers. Vector images are drawings that can be represented by mathematical formulae. Real life photos are better not stored as vector images. Thus, SVG is not suitable. For non-animated images, PNG is better than GIF due to its capability of having higher </a:t>
            </a:r>
            <a:r>
              <a:rPr lang="en-US" dirty="0" err="1"/>
              <a:t>colour</a:t>
            </a:r>
            <a:r>
              <a:rPr lang="en-US" dirty="0"/>
              <a:t> depth and higher compression ratio.</a:t>
            </a:r>
            <a:br>
              <a:rPr lang="en-US" dirty="0"/>
            </a:br>
            <a:endParaRPr lang="en-HK" b="1" dirty="0">
              <a:solidFill>
                <a:srgbClr val="37A3D4"/>
              </a:solidFill>
            </a:endParaRPr>
          </a:p>
          <a:p>
            <a:pPr marL="342900" indent="-342900">
              <a:buSzPct val="100000"/>
              <a:buFont typeface="Noto Sans CJK TC Regular" panose="020B0500000000000000" pitchFamily="34" charset="-128"/>
              <a:buChar char="◣"/>
            </a:pPr>
            <a:r>
              <a:rPr lang="en-HK" b="1" dirty="0">
                <a:solidFill>
                  <a:srgbClr val="37A3D4"/>
                </a:solidFill>
              </a:rPr>
              <a:t>Solution</a:t>
            </a:r>
          </a:p>
          <a:p>
            <a:pPr>
              <a:buSzPct val="100000"/>
            </a:pPr>
            <a:r>
              <a:rPr lang="en-US" dirty="0"/>
              <a:t>The answer is D.</a:t>
            </a:r>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134</a:t>
            </a:fld>
            <a:endParaRPr lang="en-US" dirty="0"/>
          </a:p>
        </p:txBody>
      </p:sp>
      <p:sp>
        <p:nvSpPr>
          <p:cNvPr id="4" name="Text Placeholder 3"/>
          <p:cNvSpPr>
            <a:spLocks noGrp="1"/>
          </p:cNvSpPr>
          <p:nvPr>
            <p:ph type="body" sz="quarter" idx="13"/>
          </p:nvPr>
        </p:nvSpPr>
        <p:spPr/>
        <p:txBody>
          <a:bodyPr/>
          <a:lstStyle/>
          <a:p>
            <a:r>
              <a:rPr lang="en-HK" dirty="0"/>
              <a:t>3.8</a:t>
            </a:r>
            <a:endParaRPr lang="en-US" dirty="0"/>
          </a:p>
        </p:txBody>
      </p:sp>
    </p:spTree>
    <p:extLst>
      <p:ext uri="{BB962C8B-B14F-4D97-AF65-F5344CB8AC3E}">
        <p14:creationId xmlns:p14="http://schemas.microsoft.com/office/powerpoint/2010/main" val="2463580394"/>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457200" indent="-457200">
              <a:buFont typeface="+mj-lt"/>
              <a:buAutoNum type="arabicPeriod" startAt="2"/>
            </a:pPr>
            <a:r>
              <a:rPr lang="en-US" dirty="0"/>
              <a:t>Henry decides to upload his photo in JPG format instead. Which of the following is/are the benefit(s) of his decision?</a:t>
            </a:r>
            <a:br>
              <a:rPr lang="en-US" dirty="0"/>
            </a:br>
            <a:endParaRPr lang="en-US" dirty="0"/>
          </a:p>
          <a:p>
            <a:pPr marL="1257300" lvl="2" indent="-342900">
              <a:buSzPct val="100000"/>
              <a:buAutoNum type="arabicParenBoth"/>
            </a:pPr>
            <a:r>
              <a:rPr lang="en-US" sz="2000" dirty="0"/>
              <a:t>JPG file has a relatively smaller size.</a:t>
            </a:r>
          </a:p>
          <a:p>
            <a:pPr marL="1257300" lvl="2" indent="-342900">
              <a:buSzPct val="100000"/>
              <a:buAutoNum type="arabicParenBoth"/>
            </a:pPr>
            <a:r>
              <a:rPr lang="en-US" sz="2000" dirty="0"/>
              <a:t>JPG file uses lossless compression.</a:t>
            </a:r>
          </a:p>
          <a:p>
            <a:pPr marL="1257300" lvl="2" indent="-342900">
              <a:buSzPct val="100000"/>
              <a:buAutoNum type="arabicParenBoth"/>
            </a:pPr>
            <a:r>
              <a:rPr lang="en-US" sz="2000" dirty="0"/>
              <a:t>JPG supports animation.</a:t>
            </a:r>
            <a:br>
              <a:rPr lang="en-US" sz="2000" dirty="0"/>
            </a:br>
            <a:endParaRPr lang="en-US" sz="2000" dirty="0"/>
          </a:p>
          <a:p>
            <a:pPr marL="800100" lvl="1" indent="-342900">
              <a:buSzPct val="100000"/>
              <a:buAutoNum type="alphaUcPeriod"/>
            </a:pPr>
            <a:r>
              <a:rPr lang="en-HK" sz="2000" dirty="0"/>
              <a:t>(1) only</a:t>
            </a:r>
          </a:p>
          <a:p>
            <a:pPr marL="800100" lvl="1" indent="-342900">
              <a:buSzPct val="100000"/>
              <a:buAutoNum type="alphaUcPeriod"/>
            </a:pPr>
            <a:r>
              <a:rPr lang="en-HK" sz="2000" dirty="0"/>
              <a:t>(2) only</a:t>
            </a:r>
          </a:p>
          <a:p>
            <a:pPr marL="800100" lvl="1" indent="-342900">
              <a:buSzPct val="100000"/>
              <a:buAutoNum type="alphaUcPeriod"/>
            </a:pPr>
            <a:r>
              <a:rPr lang="en-HK" sz="2000" dirty="0"/>
              <a:t>(1) and (3) only</a:t>
            </a:r>
          </a:p>
          <a:p>
            <a:pPr marL="800100" lvl="1" indent="-342900">
              <a:buSzPct val="100000"/>
              <a:buAutoNum type="alphaUcPeriod"/>
            </a:pPr>
            <a:r>
              <a:rPr lang="en-HK" sz="2000" dirty="0"/>
              <a:t>(2) and (3) only</a:t>
            </a:r>
            <a:endParaRPr lang="en-US" sz="2000" dirty="0"/>
          </a:p>
          <a:p>
            <a:r>
              <a:rPr lang="en-HK" dirty="0"/>
              <a:t> </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135</a:t>
            </a:fld>
            <a:endParaRPr lang="en-US" dirty="0"/>
          </a:p>
        </p:txBody>
      </p:sp>
      <p:sp>
        <p:nvSpPr>
          <p:cNvPr id="4" name="Text Placeholder 3"/>
          <p:cNvSpPr>
            <a:spLocks noGrp="1"/>
          </p:cNvSpPr>
          <p:nvPr>
            <p:ph type="body" sz="quarter" idx="13"/>
          </p:nvPr>
        </p:nvSpPr>
        <p:spPr/>
        <p:txBody>
          <a:bodyPr/>
          <a:lstStyle/>
          <a:p>
            <a:r>
              <a:rPr lang="en-HK" dirty="0"/>
              <a:t>3.8</a:t>
            </a:r>
            <a:endParaRPr lang="en-US" dirty="0"/>
          </a:p>
        </p:txBody>
      </p:sp>
    </p:spTree>
    <p:extLst>
      <p:ext uri="{BB962C8B-B14F-4D97-AF65-F5344CB8AC3E}">
        <p14:creationId xmlns:p14="http://schemas.microsoft.com/office/powerpoint/2010/main" val="1846570369"/>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342900" indent="-342900">
              <a:buSzPct val="100000"/>
              <a:buFont typeface="Noto Sans CJK TC Regular" panose="020B0500000000000000" pitchFamily="34" charset="-128"/>
              <a:buChar char="◣"/>
            </a:pPr>
            <a:r>
              <a:rPr lang="en-HK" b="1" dirty="0">
                <a:solidFill>
                  <a:srgbClr val="37A3D4"/>
                </a:solidFill>
              </a:rPr>
              <a:t>Analysis</a:t>
            </a:r>
          </a:p>
          <a:p>
            <a:pPr>
              <a:buSzPct val="100000"/>
            </a:pPr>
            <a:r>
              <a:rPr lang="en-US" dirty="0"/>
              <a:t>JPG uses </a:t>
            </a:r>
            <a:r>
              <a:rPr lang="en-US" dirty="0" err="1"/>
              <a:t>lossy</a:t>
            </a:r>
            <a:r>
              <a:rPr lang="en-US" dirty="0"/>
              <a:t> compression and thus its file size is relatively smaller. Among all the mentioned file formats, only GIF supports animation.</a:t>
            </a:r>
            <a:br>
              <a:rPr lang="en-US" dirty="0"/>
            </a:br>
            <a:endParaRPr lang="en-US" dirty="0"/>
          </a:p>
          <a:p>
            <a:pPr>
              <a:buSzPct val="100000"/>
            </a:pPr>
            <a:endParaRPr lang="en-HK" b="1" dirty="0">
              <a:solidFill>
                <a:srgbClr val="37A3D4"/>
              </a:solidFill>
            </a:endParaRPr>
          </a:p>
          <a:p>
            <a:pPr marL="342900" indent="-342900">
              <a:buSzPct val="100000"/>
              <a:buFont typeface="Noto Sans CJK TC Regular" panose="020B0500000000000000" pitchFamily="34" charset="-128"/>
              <a:buChar char="◣"/>
            </a:pPr>
            <a:r>
              <a:rPr lang="en-HK" b="1" dirty="0">
                <a:solidFill>
                  <a:srgbClr val="37A3D4"/>
                </a:solidFill>
              </a:rPr>
              <a:t>Solution</a:t>
            </a:r>
          </a:p>
          <a:p>
            <a:pPr>
              <a:buSzPct val="100000"/>
            </a:pPr>
            <a:r>
              <a:rPr lang="en-US" dirty="0"/>
              <a:t>The answer is A.</a:t>
            </a:r>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136</a:t>
            </a:fld>
            <a:endParaRPr lang="en-US" dirty="0"/>
          </a:p>
        </p:txBody>
      </p:sp>
      <p:sp>
        <p:nvSpPr>
          <p:cNvPr id="4" name="Text Placeholder 3"/>
          <p:cNvSpPr>
            <a:spLocks noGrp="1"/>
          </p:cNvSpPr>
          <p:nvPr>
            <p:ph type="body" sz="quarter" idx="13"/>
          </p:nvPr>
        </p:nvSpPr>
        <p:spPr/>
        <p:txBody>
          <a:bodyPr/>
          <a:lstStyle/>
          <a:p>
            <a:r>
              <a:rPr lang="en-HK" dirty="0"/>
              <a:t>3.8</a:t>
            </a:r>
            <a:endParaRPr lang="en-US" dirty="0"/>
          </a:p>
        </p:txBody>
      </p:sp>
    </p:spTree>
    <p:extLst>
      <p:ext uri="{BB962C8B-B14F-4D97-AF65-F5344CB8AC3E}">
        <p14:creationId xmlns:p14="http://schemas.microsoft.com/office/powerpoint/2010/main" val="10050455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HK" dirty="0"/>
              <a:t>Finish Checkpoint 3.8 on P. 115 of the textbook.</a:t>
            </a:r>
          </a:p>
          <a:p>
            <a:endParaRPr lang="en-HK" dirty="0"/>
          </a:p>
          <a:p>
            <a:pPr marL="457200" indent="-457200">
              <a:buAutoNum type="arabicPeriod"/>
            </a:pPr>
            <a:r>
              <a:rPr lang="en-HK" dirty="0">
                <a:solidFill>
                  <a:srgbClr val="FF0000"/>
                </a:solidFill>
              </a:rPr>
              <a:t>B</a:t>
            </a:r>
          </a:p>
          <a:p>
            <a:pPr marL="457200" indent="-457200">
              <a:buAutoNum type="arabicPeriod"/>
            </a:pPr>
            <a:endParaRPr lang="en-HK" dirty="0"/>
          </a:p>
        </p:txBody>
      </p:sp>
      <p:sp>
        <p:nvSpPr>
          <p:cNvPr id="3" name="Slide Number Placeholder 2"/>
          <p:cNvSpPr>
            <a:spLocks noGrp="1"/>
          </p:cNvSpPr>
          <p:nvPr>
            <p:ph type="sldNum" sz="quarter" idx="12"/>
          </p:nvPr>
        </p:nvSpPr>
        <p:spPr/>
        <p:txBody>
          <a:bodyPr/>
          <a:lstStyle/>
          <a:p>
            <a:fld id="{6D22F896-40B5-4ADD-8801-0D06FADFA095}" type="slidenum">
              <a:rPr lang="en-US" smtClean="0"/>
              <a:t>137</a:t>
            </a:fld>
            <a:endParaRPr lang="en-US" dirty="0"/>
          </a:p>
        </p:txBody>
      </p:sp>
      <p:sp>
        <p:nvSpPr>
          <p:cNvPr id="4" name="Text Placeholder 3"/>
          <p:cNvSpPr>
            <a:spLocks noGrp="1"/>
          </p:cNvSpPr>
          <p:nvPr>
            <p:ph type="body" sz="quarter" idx="13"/>
          </p:nvPr>
        </p:nvSpPr>
        <p:spPr/>
        <p:txBody>
          <a:bodyPr/>
          <a:lstStyle/>
          <a:p>
            <a:r>
              <a:rPr lang="en-HK" dirty="0"/>
              <a:t>3.8</a:t>
            </a:r>
            <a:endParaRPr lang="en-US" dirty="0"/>
          </a:p>
        </p:txBody>
      </p:sp>
    </p:spTree>
    <p:extLst>
      <p:ext uri="{BB962C8B-B14F-4D97-AF65-F5344CB8AC3E}">
        <p14:creationId xmlns:p14="http://schemas.microsoft.com/office/powerpoint/2010/main" val="1569904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Audio</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138</a:t>
            </a:fld>
            <a:endParaRPr lang="en-US" dirty="0"/>
          </a:p>
        </p:txBody>
      </p:sp>
      <p:sp>
        <p:nvSpPr>
          <p:cNvPr id="4" name="Text Placeholder 3"/>
          <p:cNvSpPr>
            <a:spLocks noGrp="1"/>
          </p:cNvSpPr>
          <p:nvPr>
            <p:ph type="body" sz="quarter" idx="14"/>
          </p:nvPr>
        </p:nvSpPr>
        <p:spPr/>
        <p:txBody>
          <a:bodyPr/>
          <a:lstStyle/>
          <a:p>
            <a:r>
              <a:rPr lang="en-HK" dirty="0"/>
              <a:t>C</a:t>
            </a:r>
            <a:endParaRPr lang="en-US" dirty="0"/>
          </a:p>
        </p:txBody>
      </p:sp>
      <p:sp>
        <p:nvSpPr>
          <p:cNvPr id="5" name="Content Placeholder 4"/>
          <p:cNvSpPr>
            <a:spLocks noGrp="1"/>
          </p:cNvSpPr>
          <p:nvPr>
            <p:ph sz="quarter" idx="15"/>
          </p:nvPr>
        </p:nvSpPr>
        <p:spPr/>
        <p:txBody>
          <a:bodyPr/>
          <a:lstStyle/>
          <a:p>
            <a:pPr lvl="0">
              <a:spcBef>
                <a:spcPts val="0"/>
              </a:spcBef>
            </a:pPr>
            <a:r>
              <a:rPr lang="en-HK" dirty="0"/>
              <a:t>An </a:t>
            </a:r>
            <a:r>
              <a:rPr lang="en-HK" b="1" dirty="0">
                <a:solidFill>
                  <a:srgbClr val="504FA1"/>
                </a:solidFill>
                <a:cs typeface="Calibri" panose="020F0502020204030204" pitchFamily="34" charset="0"/>
              </a:rPr>
              <a:t>audio</a:t>
            </a:r>
            <a:r>
              <a:rPr lang="en-HK" dirty="0"/>
              <a:t> file has three attributes:</a:t>
            </a:r>
          </a:p>
          <a:p>
            <a:pPr lvl="0">
              <a:spcBef>
                <a:spcPts val="0"/>
              </a:spcBef>
            </a:pPr>
            <a:endParaRPr lang="en-HK" dirty="0"/>
          </a:p>
          <a:p>
            <a:pPr marL="431800" indent="-342900">
              <a:buSzPts val="2200"/>
              <a:buFont typeface="Arial" panose="020B0604020202020204" pitchFamily="34" charset="0"/>
              <a:buChar char="•"/>
            </a:pPr>
            <a:r>
              <a:rPr lang="en-HK" b="1" dirty="0">
                <a:solidFill>
                  <a:srgbClr val="504FA1"/>
                </a:solidFill>
                <a:cs typeface="Calibri" panose="020F0502020204030204" pitchFamily="34" charset="0"/>
              </a:rPr>
              <a:t>Bit depth</a:t>
            </a:r>
            <a:endParaRPr lang="en-HK" dirty="0">
              <a:solidFill>
                <a:srgbClr val="57A044"/>
              </a:solidFill>
            </a:endParaRPr>
          </a:p>
          <a:p>
            <a:pPr marL="431800" indent="-342900">
              <a:buSzPts val="2200"/>
              <a:buFont typeface="Arial" panose="020B0604020202020204" pitchFamily="34" charset="0"/>
              <a:buChar char="•"/>
            </a:pPr>
            <a:r>
              <a:rPr lang="en-HK" b="1" dirty="0">
                <a:solidFill>
                  <a:srgbClr val="504FA1"/>
                </a:solidFill>
                <a:cs typeface="Calibri" panose="020F0502020204030204" pitchFamily="34" charset="0"/>
              </a:rPr>
              <a:t>Sampling rate</a:t>
            </a:r>
            <a:endParaRPr lang="en-HK" dirty="0">
              <a:solidFill>
                <a:srgbClr val="57A044"/>
              </a:solidFill>
            </a:endParaRPr>
          </a:p>
          <a:p>
            <a:pPr marL="431800" indent="-342900">
              <a:buSzPts val="2200"/>
              <a:buFont typeface="Arial" panose="020B0604020202020204" pitchFamily="34" charset="0"/>
              <a:buChar char="•"/>
            </a:pPr>
            <a:r>
              <a:rPr lang="en-HK" b="1" dirty="0">
                <a:solidFill>
                  <a:srgbClr val="504FA1"/>
                </a:solidFill>
                <a:cs typeface="Calibri" panose="020F0502020204030204" pitchFamily="34" charset="0"/>
              </a:rPr>
              <a:t>Number of channels</a:t>
            </a:r>
          </a:p>
          <a:p>
            <a:endParaRPr lang="en-US" dirty="0"/>
          </a:p>
        </p:txBody>
      </p:sp>
    </p:spTree>
    <p:extLst>
      <p:ext uri="{BB962C8B-B14F-4D97-AF65-F5344CB8AC3E}">
        <p14:creationId xmlns:p14="http://schemas.microsoft.com/office/powerpoint/2010/main" val="2790396767"/>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Audio</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139</a:t>
            </a:fld>
            <a:endParaRPr lang="en-US" dirty="0"/>
          </a:p>
        </p:txBody>
      </p:sp>
      <p:sp>
        <p:nvSpPr>
          <p:cNvPr id="4" name="Text Placeholder 3"/>
          <p:cNvSpPr>
            <a:spLocks noGrp="1"/>
          </p:cNvSpPr>
          <p:nvPr>
            <p:ph type="body" sz="quarter" idx="14"/>
          </p:nvPr>
        </p:nvSpPr>
        <p:spPr/>
        <p:txBody>
          <a:bodyPr/>
          <a:lstStyle/>
          <a:p>
            <a:r>
              <a:rPr lang="en-HK" dirty="0"/>
              <a:t>C</a:t>
            </a:r>
            <a:endParaRPr lang="en-US" dirty="0"/>
          </a:p>
        </p:txBody>
      </p:sp>
      <p:sp>
        <p:nvSpPr>
          <p:cNvPr id="5" name="Content Placeholder 4"/>
          <p:cNvSpPr>
            <a:spLocks noGrp="1"/>
          </p:cNvSpPr>
          <p:nvPr>
            <p:ph sz="quarter" idx="15"/>
          </p:nvPr>
        </p:nvSpPr>
        <p:spPr/>
        <p:txBody>
          <a:bodyPr/>
          <a:lstStyle/>
          <a:p>
            <a:pPr lvl="0"/>
            <a:r>
              <a:rPr lang="en-HK" b="1" dirty="0"/>
              <a:t>Bit depth </a:t>
            </a:r>
            <a:r>
              <a:rPr lang="en-HK" dirty="0"/>
              <a:t>is the number of bits used to represent an audio sample.</a:t>
            </a:r>
          </a:p>
          <a:p>
            <a:endParaRPr lang="en-US" dirty="0"/>
          </a:p>
        </p:txBody>
      </p:sp>
      <p:pic>
        <p:nvPicPr>
          <p:cNvPr id="6" name="Picture 5"/>
          <p:cNvPicPr>
            <a:picLocks noChangeAspect="1"/>
          </p:cNvPicPr>
          <p:nvPr/>
        </p:nvPicPr>
        <p:blipFill>
          <a:blip r:embed="rId2"/>
          <a:stretch>
            <a:fillRect/>
          </a:stretch>
        </p:blipFill>
        <p:spPr>
          <a:xfrm>
            <a:off x="1810800" y="2449685"/>
            <a:ext cx="2932033" cy="2804302"/>
          </a:xfrm>
          <a:prstGeom prst="rect">
            <a:avLst/>
          </a:prstGeom>
        </p:spPr>
      </p:pic>
      <p:pic>
        <p:nvPicPr>
          <p:cNvPr id="7" name="Picture 6"/>
          <p:cNvPicPr>
            <a:picLocks noChangeAspect="1"/>
          </p:cNvPicPr>
          <p:nvPr/>
        </p:nvPicPr>
        <p:blipFill>
          <a:blip r:embed="rId3"/>
          <a:stretch>
            <a:fillRect/>
          </a:stretch>
        </p:blipFill>
        <p:spPr>
          <a:xfrm>
            <a:off x="7707637" y="2449685"/>
            <a:ext cx="2986934" cy="2804301"/>
          </a:xfrm>
          <a:prstGeom prst="rect">
            <a:avLst/>
          </a:prstGeom>
        </p:spPr>
      </p:pic>
      <p:sp>
        <p:nvSpPr>
          <p:cNvPr id="8" name="Rectangle 7"/>
          <p:cNvSpPr/>
          <p:nvPr/>
        </p:nvSpPr>
        <p:spPr>
          <a:xfrm>
            <a:off x="7779966" y="5390145"/>
            <a:ext cx="2504212" cy="307777"/>
          </a:xfrm>
          <a:prstGeom prst="rect">
            <a:avLst/>
          </a:prstGeom>
        </p:spPr>
        <p:txBody>
          <a:bodyPr wrap="none">
            <a:spAutoFit/>
          </a:bodyPr>
          <a:lstStyle/>
          <a:p>
            <a:r>
              <a:rPr lang="en-US" dirty="0"/>
              <a:t>Sampling with a low bit depth</a:t>
            </a:r>
          </a:p>
        </p:txBody>
      </p:sp>
      <p:sp>
        <p:nvSpPr>
          <p:cNvPr id="9" name="Rectangle 8"/>
          <p:cNvSpPr/>
          <p:nvPr/>
        </p:nvSpPr>
        <p:spPr>
          <a:xfrm>
            <a:off x="1810800" y="5390144"/>
            <a:ext cx="2573140" cy="307777"/>
          </a:xfrm>
          <a:prstGeom prst="rect">
            <a:avLst/>
          </a:prstGeom>
        </p:spPr>
        <p:txBody>
          <a:bodyPr wrap="none">
            <a:spAutoFit/>
          </a:bodyPr>
          <a:lstStyle/>
          <a:p>
            <a:r>
              <a:rPr lang="en-US" dirty="0"/>
              <a:t>Sampling with a high bit depth</a:t>
            </a:r>
          </a:p>
        </p:txBody>
      </p:sp>
    </p:spTree>
    <p:extLst>
      <p:ext uri="{BB962C8B-B14F-4D97-AF65-F5344CB8AC3E}">
        <p14:creationId xmlns:p14="http://schemas.microsoft.com/office/powerpoint/2010/main" val="3112382307"/>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Audio</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140</a:t>
            </a:fld>
            <a:endParaRPr lang="en-US" dirty="0"/>
          </a:p>
        </p:txBody>
      </p:sp>
      <p:sp>
        <p:nvSpPr>
          <p:cNvPr id="4" name="Text Placeholder 3"/>
          <p:cNvSpPr>
            <a:spLocks noGrp="1"/>
          </p:cNvSpPr>
          <p:nvPr>
            <p:ph type="body" sz="quarter" idx="14"/>
          </p:nvPr>
        </p:nvSpPr>
        <p:spPr/>
        <p:txBody>
          <a:bodyPr/>
          <a:lstStyle/>
          <a:p>
            <a:r>
              <a:rPr lang="en-HK" dirty="0"/>
              <a:t>C</a:t>
            </a:r>
            <a:endParaRPr lang="en-US" dirty="0"/>
          </a:p>
        </p:txBody>
      </p:sp>
      <p:sp>
        <p:nvSpPr>
          <p:cNvPr id="5" name="Content Placeholder 4"/>
          <p:cNvSpPr>
            <a:spLocks noGrp="1"/>
          </p:cNvSpPr>
          <p:nvPr>
            <p:ph sz="quarter" idx="15"/>
          </p:nvPr>
        </p:nvSpPr>
        <p:spPr/>
        <p:txBody>
          <a:bodyPr/>
          <a:lstStyle/>
          <a:p>
            <a:pPr lvl="0"/>
            <a:r>
              <a:rPr lang="en-HK" b="1" dirty="0"/>
              <a:t>Sampling rate </a:t>
            </a:r>
            <a:r>
              <a:rPr lang="en-HK" dirty="0"/>
              <a:t>is the number of audio samples taken per second.</a:t>
            </a:r>
          </a:p>
          <a:p>
            <a:endParaRPr lang="en-US" dirty="0"/>
          </a:p>
        </p:txBody>
      </p:sp>
      <p:sp>
        <p:nvSpPr>
          <p:cNvPr id="6" name="Rectangle 5"/>
          <p:cNvSpPr/>
          <p:nvPr/>
        </p:nvSpPr>
        <p:spPr>
          <a:xfrm>
            <a:off x="7464957" y="5376312"/>
            <a:ext cx="2504212" cy="307777"/>
          </a:xfrm>
          <a:prstGeom prst="rect">
            <a:avLst/>
          </a:prstGeom>
        </p:spPr>
        <p:txBody>
          <a:bodyPr wrap="none">
            <a:spAutoFit/>
          </a:bodyPr>
          <a:lstStyle/>
          <a:p>
            <a:r>
              <a:rPr lang="en-US" dirty="0"/>
              <a:t>Sampling with a low bit depth</a:t>
            </a:r>
          </a:p>
        </p:txBody>
      </p:sp>
      <p:sp>
        <p:nvSpPr>
          <p:cNvPr id="7" name="Rectangle 6"/>
          <p:cNvSpPr/>
          <p:nvPr/>
        </p:nvSpPr>
        <p:spPr>
          <a:xfrm>
            <a:off x="2312116" y="5424356"/>
            <a:ext cx="2573140" cy="307777"/>
          </a:xfrm>
          <a:prstGeom prst="rect">
            <a:avLst/>
          </a:prstGeom>
        </p:spPr>
        <p:txBody>
          <a:bodyPr wrap="none">
            <a:spAutoFit/>
          </a:bodyPr>
          <a:lstStyle/>
          <a:p>
            <a:r>
              <a:rPr lang="en-US" dirty="0"/>
              <a:t>Sampling with a high bit depth</a:t>
            </a:r>
          </a:p>
        </p:txBody>
      </p:sp>
      <p:pic>
        <p:nvPicPr>
          <p:cNvPr id="8" name="Picture 7"/>
          <p:cNvPicPr>
            <a:picLocks noChangeAspect="1"/>
          </p:cNvPicPr>
          <p:nvPr/>
        </p:nvPicPr>
        <p:blipFill rotWithShape="1">
          <a:blip r:embed="rId2"/>
          <a:srcRect l="467"/>
          <a:stretch/>
        </p:blipFill>
        <p:spPr>
          <a:xfrm>
            <a:off x="2512002" y="2382559"/>
            <a:ext cx="2400820" cy="3058519"/>
          </a:xfrm>
          <a:prstGeom prst="rect">
            <a:avLst/>
          </a:prstGeom>
        </p:spPr>
      </p:pic>
      <p:pic>
        <p:nvPicPr>
          <p:cNvPr id="9" name="Picture 8"/>
          <p:cNvPicPr>
            <a:picLocks noChangeAspect="1"/>
          </p:cNvPicPr>
          <p:nvPr/>
        </p:nvPicPr>
        <p:blipFill rotWithShape="1">
          <a:blip r:embed="rId3"/>
          <a:srcRect l="813" r="464"/>
          <a:stretch/>
        </p:blipFill>
        <p:spPr>
          <a:xfrm>
            <a:off x="7728278" y="2382559"/>
            <a:ext cx="2341557" cy="2993753"/>
          </a:xfrm>
          <a:prstGeom prst="rect">
            <a:avLst/>
          </a:prstGeom>
        </p:spPr>
      </p:pic>
    </p:spTree>
    <p:extLst>
      <p:ext uri="{BB962C8B-B14F-4D97-AF65-F5344CB8AC3E}">
        <p14:creationId xmlns:p14="http://schemas.microsoft.com/office/powerpoint/2010/main" val="3099503634"/>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Audio</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141</a:t>
            </a:fld>
            <a:endParaRPr lang="en-US" dirty="0"/>
          </a:p>
        </p:txBody>
      </p:sp>
      <p:sp>
        <p:nvSpPr>
          <p:cNvPr id="4" name="Text Placeholder 3"/>
          <p:cNvSpPr>
            <a:spLocks noGrp="1"/>
          </p:cNvSpPr>
          <p:nvPr>
            <p:ph type="body" sz="quarter" idx="14"/>
          </p:nvPr>
        </p:nvSpPr>
        <p:spPr/>
        <p:txBody>
          <a:bodyPr/>
          <a:lstStyle/>
          <a:p>
            <a:r>
              <a:rPr lang="en-HK" dirty="0"/>
              <a:t>C</a:t>
            </a:r>
            <a:endParaRPr lang="en-US" dirty="0"/>
          </a:p>
        </p:txBody>
      </p:sp>
      <p:sp>
        <p:nvSpPr>
          <p:cNvPr id="5" name="Content Placeholder 4"/>
          <p:cNvSpPr>
            <a:spLocks noGrp="1"/>
          </p:cNvSpPr>
          <p:nvPr>
            <p:ph sz="quarter" idx="15"/>
          </p:nvPr>
        </p:nvSpPr>
        <p:spPr/>
        <p:txBody>
          <a:bodyPr/>
          <a:lstStyle/>
          <a:p>
            <a:pPr lvl="0">
              <a:spcBef>
                <a:spcPts val="0"/>
              </a:spcBef>
            </a:pPr>
            <a:r>
              <a:rPr lang="en-HK" dirty="0"/>
              <a:t>An audio file can contain more than one </a:t>
            </a:r>
            <a:r>
              <a:rPr lang="en-HK" b="1" dirty="0"/>
              <a:t>channel</a:t>
            </a:r>
            <a:r>
              <a:rPr lang="en-HK" dirty="0"/>
              <a:t>. For example:</a:t>
            </a:r>
          </a:p>
          <a:p>
            <a:pPr lvl="0">
              <a:spcBef>
                <a:spcPts val="0"/>
              </a:spcBef>
            </a:pPr>
            <a:endParaRPr lang="en-HK" dirty="0"/>
          </a:p>
          <a:p>
            <a:pPr marL="342900" lvl="0" indent="-342900">
              <a:spcBef>
                <a:spcPts val="0"/>
              </a:spcBef>
              <a:buFont typeface="Arial" panose="020B0604020202020204" pitchFamily="34" charset="0"/>
              <a:buChar char="•"/>
            </a:pPr>
            <a:r>
              <a:rPr lang="en-HK" dirty="0"/>
              <a:t>Stereo (2 channels)</a:t>
            </a:r>
          </a:p>
          <a:p>
            <a:pPr marL="342900" lvl="0" indent="-342900">
              <a:spcBef>
                <a:spcPts val="0"/>
              </a:spcBef>
              <a:buFont typeface="Arial" panose="020B0604020202020204" pitchFamily="34" charset="0"/>
              <a:buChar char="•"/>
            </a:pPr>
            <a:endParaRPr lang="en-HK" dirty="0"/>
          </a:p>
          <a:p>
            <a:pPr marL="342900" lvl="0" indent="-342900">
              <a:spcBef>
                <a:spcPts val="0"/>
              </a:spcBef>
              <a:buFont typeface="Arial" panose="020B0604020202020204" pitchFamily="34" charset="0"/>
              <a:buChar char="•"/>
            </a:pPr>
            <a:r>
              <a:rPr lang="en-HK" dirty="0"/>
              <a:t>5.1 surround sound (6 channels)</a:t>
            </a:r>
          </a:p>
          <a:p>
            <a:pPr marL="342900" lvl="0" indent="-342900">
              <a:spcBef>
                <a:spcPts val="0"/>
              </a:spcBef>
              <a:buFont typeface="Arial" panose="020B0604020202020204" pitchFamily="34" charset="0"/>
              <a:buChar char="•"/>
            </a:pPr>
            <a:endParaRPr lang="en-HK" dirty="0"/>
          </a:p>
          <a:p>
            <a:pPr lvl="0"/>
            <a:r>
              <a:rPr lang="en-HK" dirty="0"/>
              <a:t>File size of an </a:t>
            </a:r>
            <a:r>
              <a:rPr lang="en-HK" b="1" dirty="0"/>
              <a:t>uncompressed</a:t>
            </a:r>
            <a:r>
              <a:rPr lang="en-HK" dirty="0"/>
              <a:t> audio file:</a:t>
            </a:r>
          </a:p>
          <a:p>
            <a:pPr lvl="0"/>
            <a:r>
              <a:rPr lang="en-HK" dirty="0"/>
              <a:t>	</a:t>
            </a:r>
            <a:r>
              <a:rPr lang="en-HK" u="sng" dirty="0"/>
              <a:t>Bit depth × number of channels × sampling rate × duration</a:t>
            </a:r>
          </a:p>
          <a:p>
            <a:endParaRPr lang="en-US" dirty="0"/>
          </a:p>
        </p:txBody>
      </p:sp>
      <p:pic>
        <p:nvPicPr>
          <p:cNvPr id="6" name="Picture 5"/>
          <p:cNvPicPr>
            <a:picLocks noChangeAspect="1"/>
          </p:cNvPicPr>
          <p:nvPr/>
        </p:nvPicPr>
        <p:blipFill>
          <a:blip r:embed="rId2"/>
          <a:stretch>
            <a:fillRect/>
          </a:stretch>
        </p:blipFill>
        <p:spPr>
          <a:xfrm>
            <a:off x="8274444" y="2275979"/>
            <a:ext cx="3398519" cy="1881323"/>
          </a:xfrm>
          <a:prstGeom prst="rect">
            <a:avLst/>
          </a:prstGeom>
        </p:spPr>
      </p:pic>
    </p:spTree>
    <p:extLst>
      <p:ext uri="{BB962C8B-B14F-4D97-AF65-F5344CB8AC3E}">
        <p14:creationId xmlns:p14="http://schemas.microsoft.com/office/powerpoint/2010/main" val="3560397709"/>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Audio</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142</a:t>
            </a:fld>
            <a:endParaRPr lang="en-US" dirty="0"/>
          </a:p>
        </p:txBody>
      </p:sp>
      <p:sp>
        <p:nvSpPr>
          <p:cNvPr id="4" name="Text Placeholder 3"/>
          <p:cNvSpPr>
            <a:spLocks noGrp="1"/>
          </p:cNvSpPr>
          <p:nvPr>
            <p:ph type="body" sz="quarter" idx="14"/>
          </p:nvPr>
        </p:nvSpPr>
        <p:spPr/>
        <p:txBody>
          <a:bodyPr/>
          <a:lstStyle/>
          <a:p>
            <a:r>
              <a:rPr lang="en-HK" dirty="0"/>
              <a:t>C</a:t>
            </a:r>
            <a:endParaRPr lang="en-US" dirty="0"/>
          </a:p>
        </p:txBody>
      </p:sp>
      <p:sp>
        <p:nvSpPr>
          <p:cNvPr id="5" name="Content Placeholder 4"/>
          <p:cNvSpPr>
            <a:spLocks noGrp="1"/>
          </p:cNvSpPr>
          <p:nvPr>
            <p:ph sz="quarter" idx="15"/>
          </p:nvPr>
        </p:nvSpPr>
        <p:spPr/>
        <p:txBody>
          <a:bodyPr/>
          <a:lstStyle/>
          <a:p>
            <a:r>
              <a:rPr lang="en-HK" dirty="0"/>
              <a:t>Common audio file formats include:</a:t>
            </a:r>
            <a:endParaRPr lang="en-US" dirty="0"/>
          </a:p>
          <a:p>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1666905096"/>
              </p:ext>
            </p:extLst>
          </p:nvPr>
        </p:nvGraphicFramePr>
        <p:xfrm>
          <a:off x="931151" y="2252749"/>
          <a:ext cx="8278590" cy="2926080"/>
        </p:xfrm>
        <a:graphic>
          <a:graphicData uri="http://schemas.openxmlformats.org/drawingml/2006/table">
            <a:tbl>
              <a:tblPr firstRow="1" bandRow="1">
                <a:tableStyleId>{5940675A-B579-460E-94D1-54222C63F5DA}</a:tableStyleId>
              </a:tblPr>
              <a:tblGrid>
                <a:gridCol w="1486077">
                  <a:extLst>
                    <a:ext uri="{9D8B030D-6E8A-4147-A177-3AD203B41FA5}">
                      <a16:colId xmlns:a16="http://schemas.microsoft.com/office/drawing/2014/main" val="20000"/>
                    </a:ext>
                  </a:extLst>
                </a:gridCol>
                <a:gridCol w="1541782">
                  <a:extLst>
                    <a:ext uri="{9D8B030D-6E8A-4147-A177-3AD203B41FA5}">
                      <a16:colId xmlns:a16="http://schemas.microsoft.com/office/drawing/2014/main" val="20001"/>
                    </a:ext>
                  </a:extLst>
                </a:gridCol>
                <a:gridCol w="5250731">
                  <a:extLst>
                    <a:ext uri="{9D8B030D-6E8A-4147-A177-3AD203B41FA5}">
                      <a16:colId xmlns:a16="http://schemas.microsoft.com/office/drawing/2014/main" val="20002"/>
                    </a:ext>
                  </a:extLst>
                </a:gridCol>
              </a:tblGrid>
              <a:tr h="452572">
                <a:tc>
                  <a:txBody>
                    <a:bodyPr/>
                    <a:lstStyle/>
                    <a:p>
                      <a:pPr algn="ctr"/>
                      <a:r>
                        <a:rPr lang="en-HK" b="1" dirty="0">
                          <a:solidFill>
                            <a:schemeClr val="bg1"/>
                          </a:solidFill>
                        </a:rPr>
                        <a:t>File</a:t>
                      </a:r>
                      <a:r>
                        <a:rPr lang="en-HK" b="1" baseline="0" dirty="0">
                          <a:solidFill>
                            <a:schemeClr val="bg1"/>
                          </a:solidFill>
                        </a:rPr>
                        <a:t> format</a:t>
                      </a:r>
                      <a:endParaRPr lang="en-US" b="1" dirty="0">
                        <a:solidFill>
                          <a:schemeClr val="bg1"/>
                        </a:solidFill>
                      </a:endParaRPr>
                    </a:p>
                  </a:txBody>
                  <a:tcPr anchor="ctr">
                    <a:lnL w="12700" cap="flat" cmpd="sng" algn="ctr">
                      <a:solidFill>
                        <a:srgbClr val="57A044"/>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algn="ctr"/>
                      <a:r>
                        <a:rPr lang="en-HK" b="1" dirty="0">
                          <a:solidFill>
                            <a:schemeClr val="bg1"/>
                          </a:solidFill>
                        </a:rPr>
                        <a:t>Compression</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Remarks</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extLst>
                  <a:ext uri="{0D108BD9-81ED-4DB2-BD59-A6C34878D82A}">
                    <a16:rowId xmlns:a16="http://schemas.microsoft.com/office/drawing/2014/main" val="10000"/>
                  </a:ext>
                </a:extLst>
              </a:tr>
              <a:tr h="700993">
                <a:tc>
                  <a:txBody>
                    <a:bodyPr/>
                    <a:lstStyle/>
                    <a:p>
                      <a:pPr algn="ctr"/>
                      <a:r>
                        <a:rPr lang="en-HK" b="1">
                          <a:solidFill>
                            <a:schemeClr val="bg1"/>
                          </a:solidFill>
                        </a:rPr>
                        <a:t>WAV/WAVE</a:t>
                      </a:r>
                      <a:endParaRPr lang="en-US" b="1" dirty="0">
                        <a:solidFill>
                          <a:schemeClr val="bg1"/>
                        </a:solidFill>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algn="ctr"/>
                      <a:r>
                        <a:rPr lang="en-HK" dirty="0"/>
                        <a:t>Uncompressed</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l"/>
                      <a:r>
                        <a:rPr lang="en-HK" dirty="0"/>
                        <a:t>High audio </a:t>
                      </a:r>
                      <a:r>
                        <a:rPr lang="en-HK"/>
                        <a:t>quality.</a:t>
                      </a:r>
                    </a:p>
                    <a:p>
                      <a:pPr algn="l"/>
                      <a:endParaRPr lang="en-HK"/>
                    </a:p>
                    <a:p>
                      <a:pPr algn="l"/>
                      <a:r>
                        <a:rPr lang="en-HK"/>
                        <a:t>Relatively </a:t>
                      </a:r>
                      <a:r>
                        <a:rPr lang="en-HK" dirty="0"/>
                        <a:t>large</a:t>
                      </a:r>
                      <a:r>
                        <a:rPr lang="en-HK" baseline="0" dirty="0"/>
                        <a:t> file size.</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1"/>
                  </a:ext>
                </a:extLst>
              </a:tr>
              <a:tr h="644708">
                <a:tc>
                  <a:txBody>
                    <a:bodyPr/>
                    <a:lstStyle/>
                    <a:p>
                      <a:pPr algn="ctr"/>
                      <a:r>
                        <a:rPr lang="en-HK" b="1" dirty="0">
                          <a:solidFill>
                            <a:schemeClr val="bg1"/>
                          </a:solidFill>
                        </a:rPr>
                        <a:t>MP3,</a:t>
                      </a:r>
                      <a:r>
                        <a:rPr lang="en-HK" b="1" baseline="0" dirty="0">
                          <a:solidFill>
                            <a:schemeClr val="bg1"/>
                          </a:solidFill>
                        </a:rPr>
                        <a:t> AAC, OGG</a:t>
                      </a:r>
                      <a:endParaRPr lang="en-US" b="1" dirty="0">
                        <a:solidFill>
                          <a:schemeClr val="bg1"/>
                        </a:solidFill>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algn="ctr"/>
                      <a:r>
                        <a:rPr lang="en-HK" dirty="0" err="1"/>
                        <a:t>Lossy</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l"/>
                      <a:r>
                        <a:rPr lang="en-HK" dirty="0"/>
                        <a:t>Relatively</a:t>
                      </a:r>
                      <a:r>
                        <a:rPr lang="en-HK" baseline="0" dirty="0"/>
                        <a:t> small file size.</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2"/>
                  </a:ext>
                </a:extLst>
              </a:tr>
              <a:tr h="700993">
                <a:tc>
                  <a:txBody>
                    <a:bodyPr/>
                    <a:lstStyle/>
                    <a:p>
                      <a:pPr algn="ctr"/>
                      <a:r>
                        <a:rPr lang="en-HK" b="1" dirty="0">
                          <a:solidFill>
                            <a:schemeClr val="bg1"/>
                          </a:solidFill>
                        </a:rPr>
                        <a:t>FLAC, ALAC</a:t>
                      </a:r>
                      <a:endParaRPr lang="en-US" b="1" dirty="0">
                        <a:solidFill>
                          <a:schemeClr val="bg1"/>
                        </a:solidFill>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dirty="0" err="1"/>
                        <a:t>Loseless</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l"/>
                      <a:r>
                        <a:rPr lang="en-HK" dirty="0"/>
                        <a:t>High audio quality.</a:t>
                      </a:r>
                    </a:p>
                    <a:p>
                      <a:pPr algn="l"/>
                      <a:endParaRPr lang="en-HK" dirty="0"/>
                    </a:p>
                    <a:p>
                      <a:pPr algn="l"/>
                      <a:r>
                        <a:rPr lang="en-HK" dirty="0"/>
                        <a:t>Relatively</a:t>
                      </a:r>
                      <a:r>
                        <a:rPr lang="en-HK" baseline="0" dirty="0"/>
                        <a:t> large file size.</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831908641"/>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HK" dirty="0"/>
              <a:t>Finish Lab 3.10 on P. 119 of the textbook.</a:t>
            </a:r>
            <a:br>
              <a:rPr lang="en-HK" dirty="0"/>
            </a:br>
            <a:r>
              <a:rPr lang="en-HK" dirty="0"/>
              <a:t/>
            </a:r>
            <a:br>
              <a:rPr lang="en-HK" dirty="0"/>
            </a:br>
            <a:r>
              <a:rPr lang="en-HK" dirty="0"/>
              <a:t/>
            </a:r>
            <a:br>
              <a:rPr lang="en-HK" dirty="0"/>
            </a:br>
            <a:r>
              <a:rPr lang="en-HK" dirty="0"/>
              <a:t/>
            </a:r>
            <a:br>
              <a:rPr lang="en-HK" dirty="0"/>
            </a:br>
            <a:r>
              <a:rPr lang="en-HK" dirty="0"/>
              <a:t/>
            </a:r>
            <a:br>
              <a:rPr lang="en-HK" dirty="0"/>
            </a:br>
            <a:r>
              <a:rPr lang="en-HK" dirty="0"/>
              <a:t/>
            </a:r>
            <a:br>
              <a:rPr lang="en-HK" dirty="0"/>
            </a:br>
            <a:r>
              <a:rPr lang="en-HK" dirty="0"/>
              <a:t/>
            </a:r>
            <a:br>
              <a:rPr lang="en-HK" dirty="0"/>
            </a:br>
            <a:r>
              <a:rPr lang="en-HK" dirty="0"/>
              <a:t>File size (in MB) =</a:t>
            </a:r>
          </a:p>
          <a:p>
            <a:r>
              <a:rPr lang="en-US" dirty="0">
                <a:solidFill>
                  <a:srgbClr val="FF0000"/>
                </a:solidFill>
              </a:rPr>
              <a:t>16 bits × 2 × 96,000 × (60 × 2 + 30) = 4 bytes × 96,000 × 150 = (57,600,000 ÷ 1,024) KB = (56,250 ÷ 1,024) MB ≈ 54.9 MB</a:t>
            </a:r>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143</a:t>
            </a:fld>
            <a:endParaRPr lang="en-US" dirty="0"/>
          </a:p>
        </p:txBody>
      </p:sp>
      <p:sp>
        <p:nvSpPr>
          <p:cNvPr id="4" name="Text Placeholder 3"/>
          <p:cNvSpPr>
            <a:spLocks noGrp="1"/>
          </p:cNvSpPr>
          <p:nvPr>
            <p:ph type="body" sz="quarter" idx="13"/>
          </p:nvPr>
        </p:nvSpPr>
        <p:spPr/>
        <p:txBody>
          <a:bodyPr/>
          <a:lstStyle/>
          <a:p>
            <a:r>
              <a:rPr lang="en-HK" dirty="0"/>
              <a:t>3.10</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4267203180"/>
              </p:ext>
            </p:extLst>
          </p:nvPr>
        </p:nvGraphicFramePr>
        <p:xfrm>
          <a:off x="969349" y="2100132"/>
          <a:ext cx="4607648" cy="1752600"/>
        </p:xfrm>
        <a:graphic>
          <a:graphicData uri="http://schemas.openxmlformats.org/drawingml/2006/table">
            <a:tbl>
              <a:tblPr firstRow="1" bandRow="1">
                <a:tableStyleId>{5940675A-B579-460E-94D1-54222C63F5DA}</a:tableStyleId>
              </a:tblPr>
              <a:tblGrid>
                <a:gridCol w="2303824">
                  <a:extLst>
                    <a:ext uri="{9D8B030D-6E8A-4147-A177-3AD203B41FA5}">
                      <a16:colId xmlns:a16="http://schemas.microsoft.com/office/drawing/2014/main" val="20000"/>
                    </a:ext>
                  </a:extLst>
                </a:gridCol>
                <a:gridCol w="2303824">
                  <a:extLst>
                    <a:ext uri="{9D8B030D-6E8A-4147-A177-3AD203B41FA5}">
                      <a16:colId xmlns:a16="http://schemas.microsoft.com/office/drawing/2014/main" val="20001"/>
                    </a:ext>
                  </a:extLst>
                </a:gridCol>
              </a:tblGrid>
              <a:tr h="370840">
                <a:tc>
                  <a:txBody>
                    <a:bodyPr/>
                    <a:lstStyle/>
                    <a:p>
                      <a:r>
                        <a:rPr lang="en-HK" b="1" dirty="0">
                          <a:solidFill>
                            <a:schemeClr val="bg1"/>
                          </a:solidFill>
                        </a:rPr>
                        <a:t>Bit</a:t>
                      </a:r>
                      <a:r>
                        <a:rPr lang="en-HK" b="1" baseline="0" dirty="0">
                          <a:solidFill>
                            <a:schemeClr val="bg1"/>
                          </a:solidFill>
                        </a:rPr>
                        <a:t> </a:t>
                      </a:r>
                      <a:r>
                        <a:rPr lang="en-HK" b="1" dirty="0">
                          <a:solidFill>
                            <a:schemeClr val="bg1"/>
                          </a:solidFill>
                        </a:rPr>
                        <a:t>depth</a:t>
                      </a:r>
                      <a:endParaRPr lang="en-US" b="1" dirty="0">
                        <a:solidFill>
                          <a:schemeClr val="bg1"/>
                        </a:solidFill>
                      </a:endParaRPr>
                    </a:p>
                  </a:txBody>
                  <a:tcPr anchor="ctr">
                    <a:lnL w="12700" cap="flat" cmpd="sng" algn="ctr">
                      <a:solidFill>
                        <a:srgbClr val="C69A3C"/>
                      </a:solidFill>
                      <a:prstDash val="solid"/>
                      <a:round/>
                      <a:headEnd type="none" w="med" len="med"/>
                      <a:tailEnd type="none" w="med" len="med"/>
                    </a:lnL>
                    <a:lnR w="12700" cap="flat" cmpd="sng" algn="ctr">
                      <a:solidFill>
                        <a:srgbClr val="C69A3C"/>
                      </a:solidFill>
                      <a:prstDash val="solid"/>
                      <a:round/>
                      <a:headEnd type="none" w="med" len="med"/>
                      <a:tailEnd type="none" w="med" len="med"/>
                    </a:lnR>
                    <a:lnT w="12700" cap="flat" cmpd="sng" algn="ctr">
                      <a:solidFill>
                        <a:srgbClr val="C69A3C"/>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A3C"/>
                    </a:solidFill>
                  </a:tcPr>
                </a:tc>
                <a:tc>
                  <a:txBody>
                    <a:bodyPr/>
                    <a:lstStyle/>
                    <a:p>
                      <a:r>
                        <a:rPr lang="en-HK" dirty="0"/>
                        <a:t>16 bits</a:t>
                      </a:r>
                      <a:endParaRPr lang="en-US" dirty="0"/>
                    </a:p>
                  </a:txBody>
                  <a:tcPr anchor="ctr">
                    <a:lnL w="12700" cap="flat" cmpd="sng" algn="ctr">
                      <a:solidFill>
                        <a:srgbClr val="C69A3C"/>
                      </a:solidFill>
                      <a:prstDash val="solid"/>
                      <a:round/>
                      <a:headEnd type="none" w="med" len="med"/>
                      <a:tailEnd type="none" w="med" len="med"/>
                    </a:lnL>
                    <a:lnR w="12700" cap="flat" cmpd="sng" algn="ctr">
                      <a:solidFill>
                        <a:srgbClr val="C69A3C"/>
                      </a:solidFill>
                      <a:prstDash val="solid"/>
                      <a:round/>
                      <a:headEnd type="none" w="med" len="med"/>
                      <a:tailEnd type="none" w="med" len="med"/>
                    </a:lnR>
                    <a:lnT w="12700" cap="flat" cmpd="sng" algn="ctr">
                      <a:solidFill>
                        <a:srgbClr val="C69A3C"/>
                      </a:solidFill>
                      <a:prstDash val="solid"/>
                      <a:round/>
                      <a:headEnd type="none" w="med" len="med"/>
                      <a:tailEnd type="none" w="med" len="med"/>
                    </a:lnT>
                    <a:lnB w="12700" cap="flat" cmpd="sng" algn="ctr">
                      <a:solidFill>
                        <a:srgbClr val="C69A3C"/>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HK" b="1" dirty="0">
                          <a:solidFill>
                            <a:schemeClr val="bg1"/>
                          </a:solidFill>
                        </a:rPr>
                        <a:t>Number of channel(s)</a:t>
                      </a:r>
                      <a:endParaRPr lang="en-US" b="1" dirty="0">
                        <a:solidFill>
                          <a:schemeClr val="bg1"/>
                        </a:solidFill>
                      </a:endParaRPr>
                    </a:p>
                  </a:txBody>
                  <a:tcPr anchor="ctr">
                    <a:lnL w="12700" cap="flat" cmpd="sng" algn="ctr">
                      <a:solidFill>
                        <a:srgbClr val="C69A3C"/>
                      </a:solidFill>
                      <a:prstDash val="solid"/>
                      <a:round/>
                      <a:headEnd type="none" w="med" len="med"/>
                      <a:tailEnd type="none" w="med" len="med"/>
                    </a:lnL>
                    <a:lnR w="12700" cap="flat" cmpd="sng" algn="ctr">
                      <a:solidFill>
                        <a:srgbClr val="C69A3C"/>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A3C"/>
                    </a:solidFill>
                  </a:tcPr>
                </a:tc>
                <a:tc>
                  <a:txBody>
                    <a:bodyPr/>
                    <a:lstStyle/>
                    <a:p>
                      <a:r>
                        <a:rPr lang="en-HK" dirty="0"/>
                        <a:t>2</a:t>
                      </a:r>
                      <a:endParaRPr lang="en-US" dirty="0"/>
                    </a:p>
                  </a:txBody>
                  <a:tcPr anchor="ctr">
                    <a:lnL w="12700" cap="flat" cmpd="sng" algn="ctr">
                      <a:solidFill>
                        <a:srgbClr val="C69A3C"/>
                      </a:solidFill>
                      <a:prstDash val="solid"/>
                      <a:round/>
                      <a:headEnd type="none" w="med" len="med"/>
                      <a:tailEnd type="none" w="med" len="med"/>
                    </a:lnL>
                    <a:lnR w="12700" cap="flat" cmpd="sng" algn="ctr">
                      <a:solidFill>
                        <a:srgbClr val="C69A3C"/>
                      </a:solidFill>
                      <a:prstDash val="solid"/>
                      <a:round/>
                      <a:headEnd type="none" w="med" len="med"/>
                      <a:tailEnd type="none" w="med" len="med"/>
                    </a:lnR>
                    <a:lnT w="12700" cap="flat" cmpd="sng" algn="ctr">
                      <a:solidFill>
                        <a:srgbClr val="C69A3C"/>
                      </a:solidFill>
                      <a:prstDash val="solid"/>
                      <a:round/>
                      <a:headEnd type="none" w="med" len="med"/>
                      <a:tailEnd type="none" w="med" len="med"/>
                    </a:lnT>
                    <a:lnB w="12700" cap="flat" cmpd="sng" algn="ctr">
                      <a:solidFill>
                        <a:srgbClr val="C69A3C"/>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HK" b="1" dirty="0">
                          <a:solidFill>
                            <a:schemeClr val="bg1"/>
                          </a:solidFill>
                        </a:rPr>
                        <a:t>Sampling rate</a:t>
                      </a:r>
                      <a:endParaRPr lang="en-US" b="1" dirty="0">
                        <a:solidFill>
                          <a:schemeClr val="bg1"/>
                        </a:solidFill>
                      </a:endParaRPr>
                    </a:p>
                  </a:txBody>
                  <a:tcPr anchor="ctr">
                    <a:lnL w="12700" cap="flat" cmpd="sng" algn="ctr">
                      <a:solidFill>
                        <a:srgbClr val="C69A3C"/>
                      </a:solidFill>
                      <a:prstDash val="solid"/>
                      <a:round/>
                      <a:headEnd type="none" w="med" len="med"/>
                      <a:tailEnd type="none" w="med" len="med"/>
                    </a:lnL>
                    <a:lnR w="12700" cap="flat" cmpd="sng" algn="ctr">
                      <a:solidFill>
                        <a:srgbClr val="C69A3C"/>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A3C"/>
                    </a:solidFill>
                  </a:tcPr>
                </a:tc>
                <a:tc>
                  <a:txBody>
                    <a:bodyPr/>
                    <a:lstStyle/>
                    <a:p>
                      <a:r>
                        <a:rPr lang="en-HK" dirty="0"/>
                        <a:t>96,000</a:t>
                      </a:r>
                      <a:r>
                        <a:rPr lang="en-HK" baseline="0" dirty="0"/>
                        <a:t> Hz</a:t>
                      </a:r>
                      <a:endParaRPr lang="en-US" dirty="0"/>
                    </a:p>
                  </a:txBody>
                  <a:tcPr anchor="ctr">
                    <a:lnL w="12700" cap="flat" cmpd="sng" algn="ctr">
                      <a:solidFill>
                        <a:srgbClr val="C69A3C"/>
                      </a:solidFill>
                      <a:prstDash val="solid"/>
                      <a:round/>
                      <a:headEnd type="none" w="med" len="med"/>
                      <a:tailEnd type="none" w="med" len="med"/>
                    </a:lnL>
                    <a:lnR w="12700" cap="flat" cmpd="sng" algn="ctr">
                      <a:solidFill>
                        <a:srgbClr val="C69A3C"/>
                      </a:solidFill>
                      <a:prstDash val="solid"/>
                      <a:round/>
                      <a:headEnd type="none" w="med" len="med"/>
                      <a:tailEnd type="none" w="med" len="med"/>
                    </a:lnR>
                    <a:lnT w="12700" cap="flat" cmpd="sng" algn="ctr">
                      <a:solidFill>
                        <a:srgbClr val="C69A3C"/>
                      </a:solidFill>
                      <a:prstDash val="solid"/>
                      <a:round/>
                      <a:headEnd type="none" w="med" len="med"/>
                      <a:tailEnd type="none" w="med" len="med"/>
                    </a:lnT>
                    <a:lnB w="12700" cap="flat" cmpd="sng" algn="ctr">
                      <a:solidFill>
                        <a:srgbClr val="C69A3C"/>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HK" b="1" dirty="0">
                          <a:solidFill>
                            <a:schemeClr val="bg1"/>
                          </a:solidFill>
                        </a:rPr>
                        <a:t>Duration</a:t>
                      </a:r>
                      <a:endParaRPr lang="en-US" b="1" dirty="0">
                        <a:solidFill>
                          <a:schemeClr val="bg1"/>
                        </a:solidFill>
                      </a:endParaRPr>
                    </a:p>
                  </a:txBody>
                  <a:tcPr anchor="ctr">
                    <a:lnL w="12700" cap="flat" cmpd="sng" algn="ctr">
                      <a:solidFill>
                        <a:srgbClr val="C69A3C"/>
                      </a:solidFill>
                      <a:prstDash val="solid"/>
                      <a:round/>
                      <a:headEnd type="none" w="med" len="med"/>
                      <a:tailEnd type="none" w="med" len="med"/>
                    </a:lnL>
                    <a:lnR w="12700" cap="flat" cmpd="sng" algn="ctr">
                      <a:solidFill>
                        <a:srgbClr val="C69A3C"/>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C69A3C"/>
                      </a:solidFill>
                      <a:prstDash val="solid"/>
                      <a:round/>
                      <a:headEnd type="none" w="med" len="med"/>
                      <a:tailEnd type="none" w="med" len="med"/>
                    </a:lnB>
                    <a:solidFill>
                      <a:srgbClr val="C69A3C"/>
                    </a:solidFill>
                  </a:tcPr>
                </a:tc>
                <a:tc>
                  <a:txBody>
                    <a:bodyPr/>
                    <a:lstStyle/>
                    <a:p>
                      <a:r>
                        <a:rPr lang="en-HK" dirty="0"/>
                        <a:t>2</a:t>
                      </a:r>
                      <a:r>
                        <a:rPr lang="en-HK" baseline="0" dirty="0"/>
                        <a:t> minutes and 30 seconds</a:t>
                      </a:r>
                      <a:endParaRPr lang="en-US" dirty="0"/>
                    </a:p>
                  </a:txBody>
                  <a:tcPr anchor="ctr">
                    <a:lnL w="12700" cap="flat" cmpd="sng" algn="ctr">
                      <a:solidFill>
                        <a:srgbClr val="C69A3C"/>
                      </a:solidFill>
                      <a:prstDash val="solid"/>
                      <a:round/>
                      <a:headEnd type="none" w="med" len="med"/>
                      <a:tailEnd type="none" w="med" len="med"/>
                    </a:lnL>
                    <a:lnR w="12700" cap="flat" cmpd="sng" algn="ctr">
                      <a:solidFill>
                        <a:srgbClr val="C69A3C"/>
                      </a:solidFill>
                      <a:prstDash val="solid"/>
                      <a:round/>
                      <a:headEnd type="none" w="med" len="med"/>
                      <a:tailEnd type="none" w="med" len="med"/>
                    </a:lnR>
                    <a:lnT w="12700" cap="flat" cmpd="sng" algn="ctr">
                      <a:solidFill>
                        <a:srgbClr val="C69A3C"/>
                      </a:solidFill>
                      <a:prstDash val="solid"/>
                      <a:round/>
                      <a:headEnd type="none" w="med" len="med"/>
                      <a:tailEnd type="none" w="med" len="med"/>
                    </a:lnT>
                    <a:lnB w="12700" cap="flat" cmpd="sng" algn="ctr">
                      <a:solidFill>
                        <a:srgbClr val="C69A3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14943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AutoNum type="arabicPeriod"/>
            </a:pPr>
            <a:r>
              <a:rPr lang="en-US" dirty="0"/>
              <a:t>John wants to upload his song to his personal website. However, the storage space of his website is limited. Which audio format should he choose?</a:t>
            </a:r>
          </a:p>
          <a:p>
            <a:endParaRPr lang="en-HK" dirty="0"/>
          </a:p>
          <a:p>
            <a:pPr marL="800100" lvl="1" indent="-342900">
              <a:buAutoNum type="alphaUcPeriod"/>
            </a:pPr>
            <a:r>
              <a:rPr lang="en-HK" sz="2000" dirty="0"/>
              <a:t>MP3</a:t>
            </a:r>
          </a:p>
          <a:p>
            <a:pPr marL="800100" lvl="1" indent="-342900">
              <a:buAutoNum type="alphaUcPeriod"/>
            </a:pPr>
            <a:r>
              <a:rPr lang="en-HK" sz="2000" dirty="0"/>
              <a:t>AVI</a:t>
            </a:r>
          </a:p>
          <a:p>
            <a:pPr marL="800100" lvl="1" indent="-342900">
              <a:buAutoNum type="alphaUcPeriod"/>
            </a:pPr>
            <a:r>
              <a:rPr lang="en-HK" sz="2000" dirty="0"/>
              <a:t>WAV</a:t>
            </a:r>
          </a:p>
          <a:p>
            <a:pPr marL="800100" lvl="1" indent="-342900">
              <a:buAutoNum type="alphaUcPeriod"/>
            </a:pPr>
            <a:r>
              <a:rPr lang="en-HK" sz="2000" dirty="0"/>
              <a:t>WMV</a:t>
            </a:r>
            <a:endParaRPr lang="en-US" sz="2000" dirty="0"/>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144</a:t>
            </a:fld>
            <a:endParaRPr lang="en-US" dirty="0"/>
          </a:p>
        </p:txBody>
      </p:sp>
      <p:sp>
        <p:nvSpPr>
          <p:cNvPr id="4" name="Text Placeholder 3"/>
          <p:cNvSpPr>
            <a:spLocks noGrp="1"/>
          </p:cNvSpPr>
          <p:nvPr>
            <p:ph type="body" sz="quarter" idx="13"/>
          </p:nvPr>
        </p:nvSpPr>
        <p:spPr/>
        <p:txBody>
          <a:bodyPr/>
          <a:lstStyle/>
          <a:p>
            <a:r>
              <a:rPr lang="en-HK" dirty="0"/>
              <a:t>3.9</a:t>
            </a:r>
            <a:endParaRPr lang="en-US" dirty="0"/>
          </a:p>
        </p:txBody>
      </p:sp>
    </p:spTree>
    <p:extLst>
      <p:ext uri="{BB962C8B-B14F-4D97-AF65-F5344CB8AC3E}">
        <p14:creationId xmlns:p14="http://schemas.microsoft.com/office/powerpoint/2010/main" val="1763430415"/>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342900" indent="-342900">
              <a:buSzPct val="100000"/>
              <a:buFont typeface="Noto Sans CJK TC Regular" panose="020B0500000000000000" pitchFamily="34" charset="-128"/>
              <a:buChar char="◣"/>
            </a:pPr>
            <a:r>
              <a:rPr lang="en-HK" b="1" dirty="0">
                <a:solidFill>
                  <a:srgbClr val="37A3D4"/>
                </a:solidFill>
              </a:rPr>
              <a:t>Analysis</a:t>
            </a:r>
          </a:p>
          <a:p>
            <a:pPr>
              <a:buSzPct val="100000"/>
            </a:pPr>
            <a:r>
              <a:rPr lang="en-US" dirty="0"/>
              <a:t>AVI and WMV are not audio file formats. WAV is an uncompressed file format, while MP3 is a compressed file format. Thus, MP3 has a relatively smaller file size.</a:t>
            </a:r>
            <a:br>
              <a:rPr lang="en-US" dirty="0"/>
            </a:br>
            <a:endParaRPr lang="en-US" dirty="0"/>
          </a:p>
          <a:p>
            <a:pPr>
              <a:buSzPct val="100000"/>
            </a:pPr>
            <a:endParaRPr lang="en-US" b="1" dirty="0">
              <a:solidFill>
                <a:srgbClr val="37A3D4"/>
              </a:solidFill>
            </a:endParaRPr>
          </a:p>
          <a:p>
            <a:pPr>
              <a:buSzPct val="100000"/>
            </a:pPr>
            <a:endParaRPr lang="en-HK" b="1" dirty="0">
              <a:solidFill>
                <a:srgbClr val="37A3D4"/>
              </a:solidFill>
            </a:endParaRPr>
          </a:p>
          <a:p>
            <a:pPr marL="342900" indent="-342900">
              <a:buSzPct val="100000"/>
              <a:buFont typeface="Noto Sans CJK TC Regular" panose="020B0500000000000000" pitchFamily="34" charset="-128"/>
              <a:buChar char="◣"/>
            </a:pPr>
            <a:r>
              <a:rPr lang="en-HK" b="1" dirty="0">
                <a:solidFill>
                  <a:srgbClr val="37A3D4"/>
                </a:solidFill>
              </a:rPr>
              <a:t>Solution</a:t>
            </a:r>
          </a:p>
          <a:p>
            <a:pPr>
              <a:buSzPct val="100000"/>
            </a:pPr>
            <a:r>
              <a:rPr lang="en-US" dirty="0"/>
              <a:t>The answer is A.</a:t>
            </a:r>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145</a:t>
            </a:fld>
            <a:endParaRPr lang="en-US" dirty="0"/>
          </a:p>
        </p:txBody>
      </p:sp>
      <p:sp>
        <p:nvSpPr>
          <p:cNvPr id="4" name="Text Placeholder 3"/>
          <p:cNvSpPr>
            <a:spLocks noGrp="1"/>
          </p:cNvSpPr>
          <p:nvPr>
            <p:ph type="body" sz="quarter" idx="13"/>
          </p:nvPr>
        </p:nvSpPr>
        <p:spPr/>
        <p:txBody>
          <a:bodyPr/>
          <a:lstStyle/>
          <a:p>
            <a:r>
              <a:rPr lang="en-HK" dirty="0"/>
              <a:t>3.9</a:t>
            </a:r>
            <a:endParaRPr lang="en-US" dirty="0"/>
          </a:p>
        </p:txBody>
      </p:sp>
    </p:spTree>
    <p:extLst>
      <p:ext uri="{BB962C8B-B14F-4D97-AF65-F5344CB8AC3E}">
        <p14:creationId xmlns:p14="http://schemas.microsoft.com/office/powerpoint/2010/main" val="2460211769"/>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HK" dirty="0"/>
              <a:t>Finish Checkpoint 3.9 on P. 119 of the textbook.</a:t>
            </a:r>
          </a:p>
          <a:p>
            <a:endParaRPr lang="en-HK" dirty="0"/>
          </a:p>
          <a:p>
            <a:pPr marL="457200" lvl="0" indent="-342900">
              <a:buClr>
                <a:schemeClr val="dk1"/>
              </a:buClr>
              <a:buSzPts val="1800"/>
              <a:buFont typeface="+mj-lt"/>
              <a:buAutoNum type="arabicPeriod"/>
            </a:pPr>
            <a:r>
              <a:rPr lang="en-HK" dirty="0">
                <a:latin typeface="Calibri"/>
                <a:ea typeface="Calibri"/>
                <a:cs typeface="Calibri"/>
                <a:sym typeface="Calibri"/>
              </a:rPr>
              <a:t>Advantage: </a:t>
            </a:r>
            <a:r>
              <a:rPr lang="en-HK" dirty="0">
                <a:solidFill>
                  <a:srgbClr val="FF0000"/>
                </a:solidFill>
                <a:latin typeface="Calibri"/>
                <a:ea typeface="Calibri"/>
                <a:cs typeface="Calibri"/>
                <a:sym typeface="Calibri"/>
              </a:rPr>
              <a:t>WAV has a higher audio quality. </a:t>
            </a:r>
            <a:endParaRPr lang="en-US" dirty="0">
              <a:solidFill>
                <a:schemeClr val="dk1"/>
              </a:solidFill>
              <a:latin typeface="Calibri"/>
              <a:ea typeface="Calibri"/>
              <a:cs typeface="Calibri"/>
              <a:sym typeface="Calibri"/>
            </a:endParaRPr>
          </a:p>
          <a:p>
            <a:pPr marL="457200" lvl="0"/>
            <a:endParaRPr lang="en-US" dirty="0">
              <a:solidFill>
                <a:srgbClr val="FF0000"/>
              </a:solidFill>
              <a:latin typeface="Calibri"/>
              <a:ea typeface="Calibri"/>
              <a:cs typeface="Calibri"/>
              <a:sym typeface="Calibri"/>
            </a:endParaRPr>
          </a:p>
          <a:p>
            <a:pPr marL="457200"/>
            <a:r>
              <a:rPr lang="en-HK" dirty="0">
                <a:latin typeface="Calibri"/>
                <a:ea typeface="Calibri"/>
                <a:cs typeface="Calibri"/>
                <a:sym typeface="Calibri"/>
              </a:rPr>
              <a:t>Disadvantage: </a:t>
            </a:r>
            <a:r>
              <a:rPr lang="en-HK" dirty="0">
                <a:solidFill>
                  <a:srgbClr val="FF0000"/>
                </a:solidFill>
                <a:latin typeface="Calibri"/>
                <a:ea typeface="Calibri"/>
                <a:cs typeface="Calibri"/>
                <a:sym typeface="Calibri"/>
              </a:rPr>
              <a:t>WAV has a larger file size.</a:t>
            </a:r>
            <a:endParaRPr lang="en-US" dirty="0">
              <a:latin typeface="Calibri"/>
              <a:ea typeface="Calibri"/>
              <a:cs typeface="Calibri"/>
              <a:sym typeface="Calibri"/>
            </a:endParaRPr>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146</a:t>
            </a:fld>
            <a:endParaRPr lang="en-US" dirty="0"/>
          </a:p>
        </p:txBody>
      </p:sp>
      <p:sp>
        <p:nvSpPr>
          <p:cNvPr id="4" name="Text Placeholder 3"/>
          <p:cNvSpPr>
            <a:spLocks noGrp="1"/>
          </p:cNvSpPr>
          <p:nvPr>
            <p:ph type="body" sz="quarter" idx="13"/>
          </p:nvPr>
        </p:nvSpPr>
        <p:spPr/>
        <p:txBody>
          <a:bodyPr/>
          <a:lstStyle/>
          <a:p>
            <a:r>
              <a:rPr lang="en-HK" dirty="0"/>
              <a:t>3.9</a:t>
            </a:r>
            <a:endParaRPr lang="en-US" dirty="0"/>
          </a:p>
        </p:txBody>
      </p:sp>
    </p:spTree>
    <p:extLst>
      <p:ext uri="{BB962C8B-B14F-4D97-AF65-F5344CB8AC3E}">
        <p14:creationId xmlns:p14="http://schemas.microsoft.com/office/powerpoint/2010/main" val="1477450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500"/>
                                        <p:tgtEl>
                                          <p:spTgt spid="2">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4" end="4"/>
                                            </p:txEl>
                                          </p:spTgt>
                                        </p:tgtEl>
                                        <p:attrNameLst>
                                          <p:attrName>style.visibility</p:attrName>
                                        </p:attrNameLst>
                                      </p:cBhvr>
                                      <p:to>
                                        <p:strVal val="visible"/>
                                      </p:to>
                                    </p:set>
                                    <p:animEffect transition="in" filter="fade">
                                      <p:cBhvr>
                                        <p:cTn id="10"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Video</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147</a:t>
            </a:fld>
            <a:endParaRPr lang="en-US" dirty="0"/>
          </a:p>
        </p:txBody>
      </p:sp>
      <p:sp>
        <p:nvSpPr>
          <p:cNvPr id="4" name="Text Placeholder 3"/>
          <p:cNvSpPr>
            <a:spLocks noGrp="1"/>
          </p:cNvSpPr>
          <p:nvPr>
            <p:ph type="body" sz="quarter" idx="14"/>
          </p:nvPr>
        </p:nvSpPr>
        <p:spPr/>
        <p:txBody>
          <a:bodyPr/>
          <a:lstStyle/>
          <a:p>
            <a:r>
              <a:rPr lang="en-HK" dirty="0"/>
              <a:t>D</a:t>
            </a:r>
            <a:endParaRPr lang="en-US" dirty="0"/>
          </a:p>
        </p:txBody>
      </p:sp>
      <p:sp>
        <p:nvSpPr>
          <p:cNvPr id="5" name="Content Placeholder 4"/>
          <p:cNvSpPr>
            <a:spLocks noGrp="1"/>
          </p:cNvSpPr>
          <p:nvPr>
            <p:ph sz="quarter" idx="15"/>
          </p:nvPr>
        </p:nvSpPr>
        <p:spPr/>
        <p:txBody>
          <a:bodyPr>
            <a:normAutofit/>
          </a:bodyPr>
          <a:lstStyle/>
          <a:p>
            <a:pPr lvl="0">
              <a:spcBef>
                <a:spcPts val="0"/>
              </a:spcBef>
            </a:pPr>
            <a:r>
              <a:rPr lang="en-HK" b="1" dirty="0">
                <a:solidFill>
                  <a:srgbClr val="504FA1"/>
                </a:solidFill>
                <a:cs typeface="Calibri" panose="020F0502020204030204" pitchFamily="34" charset="0"/>
              </a:rPr>
              <a:t>Videos</a:t>
            </a:r>
            <a:r>
              <a:rPr lang="en-HK" dirty="0"/>
              <a:t> are sequences of images shown within a certain duration. It may contain audio track(s).</a:t>
            </a:r>
          </a:p>
          <a:p>
            <a:pPr lvl="0">
              <a:spcBef>
                <a:spcPts val="0"/>
              </a:spcBef>
            </a:pPr>
            <a:endParaRPr lang="en-HK" dirty="0"/>
          </a:p>
          <a:p>
            <a:pPr lvl="0">
              <a:spcBef>
                <a:spcPts val="0"/>
              </a:spcBef>
            </a:pPr>
            <a:endParaRPr lang="en-HK" dirty="0"/>
          </a:p>
          <a:p>
            <a:pPr lvl="0">
              <a:spcBef>
                <a:spcPts val="0"/>
              </a:spcBef>
            </a:pPr>
            <a:r>
              <a:rPr lang="en-HK" dirty="0"/>
              <a:t>A video file has four attributes:</a:t>
            </a:r>
          </a:p>
          <a:p>
            <a:pPr marL="431800" indent="-342900">
              <a:buSzPct val="100000"/>
              <a:buFont typeface="Arial" panose="020B0604020202020204" pitchFamily="34" charset="0"/>
              <a:buChar char="•"/>
            </a:pPr>
            <a:r>
              <a:rPr lang="en-HK" b="1" dirty="0">
                <a:solidFill>
                  <a:srgbClr val="504FA1"/>
                </a:solidFill>
                <a:cs typeface="Calibri" panose="020F0502020204030204" pitchFamily="34" charset="0"/>
              </a:rPr>
              <a:t>Colour depth</a:t>
            </a:r>
            <a:endParaRPr lang="en-HK" b="1" dirty="0">
              <a:solidFill>
                <a:srgbClr val="57A044"/>
              </a:solidFill>
            </a:endParaRPr>
          </a:p>
          <a:p>
            <a:pPr marL="431800" indent="-342900">
              <a:buSzPct val="100000"/>
              <a:buFont typeface="Arial" panose="020B0604020202020204" pitchFamily="34" charset="0"/>
              <a:buChar char="•"/>
            </a:pPr>
            <a:r>
              <a:rPr lang="en-HK" b="1" dirty="0">
                <a:solidFill>
                  <a:srgbClr val="504FA1"/>
                </a:solidFill>
                <a:cs typeface="Calibri" panose="020F0502020204030204" pitchFamily="34" charset="0"/>
              </a:rPr>
              <a:t>Resolution</a:t>
            </a:r>
            <a:endParaRPr lang="en-HK" b="1" dirty="0">
              <a:solidFill>
                <a:srgbClr val="57A044"/>
              </a:solidFill>
            </a:endParaRPr>
          </a:p>
          <a:p>
            <a:pPr marL="431800" indent="-342900">
              <a:buSzPct val="100000"/>
              <a:buFont typeface="Arial" panose="020B0604020202020204" pitchFamily="34" charset="0"/>
              <a:buChar char="•"/>
            </a:pPr>
            <a:r>
              <a:rPr lang="en-HK" b="1" dirty="0">
                <a:solidFill>
                  <a:srgbClr val="504FA1"/>
                </a:solidFill>
                <a:cs typeface="Calibri" panose="020F0502020204030204" pitchFamily="34" charset="0"/>
              </a:rPr>
              <a:t>Frame rate</a:t>
            </a:r>
            <a:endParaRPr lang="en-HK" b="1" dirty="0">
              <a:solidFill>
                <a:srgbClr val="57A044"/>
              </a:solidFill>
            </a:endParaRPr>
          </a:p>
          <a:p>
            <a:pPr marL="431800" indent="-342900">
              <a:buSzPct val="100000"/>
              <a:buFont typeface="Arial" panose="020B0604020202020204" pitchFamily="34" charset="0"/>
              <a:buChar char="•"/>
            </a:pPr>
            <a:r>
              <a:rPr lang="en-HK" b="1" dirty="0">
                <a:solidFill>
                  <a:srgbClr val="504FA1"/>
                </a:solidFill>
                <a:cs typeface="Calibri" panose="020F0502020204030204" pitchFamily="34" charset="0"/>
              </a:rPr>
              <a:t>Duration</a:t>
            </a:r>
          </a:p>
          <a:p>
            <a:endParaRPr lang="en-US" dirty="0"/>
          </a:p>
        </p:txBody>
      </p:sp>
    </p:spTree>
    <p:extLst>
      <p:ext uri="{BB962C8B-B14F-4D97-AF65-F5344CB8AC3E}">
        <p14:creationId xmlns:p14="http://schemas.microsoft.com/office/powerpoint/2010/main" val="2239682928"/>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Video</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148</a:t>
            </a:fld>
            <a:endParaRPr lang="en-US" dirty="0"/>
          </a:p>
        </p:txBody>
      </p:sp>
      <p:sp>
        <p:nvSpPr>
          <p:cNvPr id="4" name="Text Placeholder 3"/>
          <p:cNvSpPr>
            <a:spLocks noGrp="1"/>
          </p:cNvSpPr>
          <p:nvPr>
            <p:ph type="body" sz="quarter" idx="14"/>
          </p:nvPr>
        </p:nvSpPr>
        <p:spPr/>
        <p:txBody>
          <a:bodyPr/>
          <a:lstStyle/>
          <a:p>
            <a:r>
              <a:rPr lang="en-HK" dirty="0"/>
              <a:t>D</a:t>
            </a:r>
            <a:endParaRPr lang="en-US" dirty="0"/>
          </a:p>
        </p:txBody>
      </p:sp>
      <p:sp>
        <p:nvSpPr>
          <p:cNvPr id="5" name="Content Placeholder 4"/>
          <p:cNvSpPr>
            <a:spLocks noGrp="1"/>
          </p:cNvSpPr>
          <p:nvPr>
            <p:ph sz="quarter" idx="15"/>
          </p:nvPr>
        </p:nvSpPr>
        <p:spPr/>
        <p:txBody>
          <a:bodyPr/>
          <a:lstStyle/>
          <a:p>
            <a:pPr lvl="0">
              <a:spcBef>
                <a:spcPts val="0"/>
              </a:spcBef>
            </a:pPr>
            <a:r>
              <a:rPr lang="en-HK" b="1" dirty="0"/>
              <a:t>Frame rate </a:t>
            </a:r>
            <a:r>
              <a:rPr lang="en-HK" dirty="0"/>
              <a:t>is the number of frames shown per second.</a:t>
            </a:r>
            <a:endParaRPr lang="en-HK" b="1" dirty="0"/>
          </a:p>
          <a:p>
            <a:pPr lvl="0">
              <a:spcBef>
                <a:spcPts val="0"/>
              </a:spcBef>
            </a:pPr>
            <a:endParaRPr lang="en-HK" b="1" dirty="0"/>
          </a:p>
          <a:p>
            <a:pPr lvl="0">
              <a:spcBef>
                <a:spcPts val="0"/>
              </a:spcBef>
            </a:pPr>
            <a:r>
              <a:rPr lang="en-HK" dirty="0"/>
              <a:t>It is measured in fps (frame per second).</a:t>
            </a:r>
          </a:p>
          <a:p>
            <a:endParaRPr lang="en-US" dirty="0"/>
          </a:p>
        </p:txBody>
      </p:sp>
      <p:pic>
        <p:nvPicPr>
          <p:cNvPr id="6" name="Picture 5"/>
          <p:cNvPicPr>
            <a:picLocks noChangeAspect="1"/>
          </p:cNvPicPr>
          <p:nvPr/>
        </p:nvPicPr>
        <p:blipFill>
          <a:blip r:embed="rId2"/>
          <a:stretch>
            <a:fillRect/>
          </a:stretch>
        </p:blipFill>
        <p:spPr>
          <a:xfrm>
            <a:off x="1392755" y="3063996"/>
            <a:ext cx="9779551" cy="2984604"/>
          </a:xfrm>
          <a:prstGeom prst="rect">
            <a:avLst/>
          </a:prstGeom>
        </p:spPr>
      </p:pic>
    </p:spTree>
    <p:extLst>
      <p:ext uri="{BB962C8B-B14F-4D97-AF65-F5344CB8AC3E}">
        <p14:creationId xmlns:p14="http://schemas.microsoft.com/office/powerpoint/2010/main" val="1686673494"/>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Video</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149</a:t>
            </a:fld>
            <a:endParaRPr lang="en-US" dirty="0"/>
          </a:p>
        </p:txBody>
      </p:sp>
      <p:sp>
        <p:nvSpPr>
          <p:cNvPr id="4" name="Text Placeholder 3"/>
          <p:cNvSpPr>
            <a:spLocks noGrp="1"/>
          </p:cNvSpPr>
          <p:nvPr>
            <p:ph type="body" sz="quarter" idx="14"/>
          </p:nvPr>
        </p:nvSpPr>
        <p:spPr/>
        <p:txBody>
          <a:bodyPr/>
          <a:lstStyle/>
          <a:p>
            <a:r>
              <a:rPr lang="en-HK" dirty="0"/>
              <a:t>D</a:t>
            </a:r>
            <a:endParaRPr lang="en-US" dirty="0"/>
          </a:p>
        </p:txBody>
      </p:sp>
      <p:sp>
        <p:nvSpPr>
          <p:cNvPr id="5" name="Content Placeholder 4"/>
          <p:cNvSpPr>
            <a:spLocks noGrp="1"/>
          </p:cNvSpPr>
          <p:nvPr>
            <p:ph sz="quarter" idx="15"/>
          </p:nvPr>
        </p:nvSpPr>
        <p:spPr>
          <a:xfrm>
            <a:off x="838800" y="1609200"/>
            <a:ext cx="10623000" cy="4680000"/>
          </a:xfrm>
        </p:spPr>
        <p:txBody>
          <a:bodyPr/>
          <a:lstStyle/>
          <a:p>
            <a:pPr lvl="0">
              <a:spcBef>
                <a:spcPts val="0"/>
              </a:spcBef>
            </a:pPr>
            <a:r>
              <a:rPr lang="en-HK" dirty="0"/>
              <a:t>The </a:t>
            </a:r>
            <a:r>
              <a:rPr lang="en-HK" b="1" dirty="0"/>
              <a:t>colour depth </a:t>
            </a:r>
            <a:r>
              <a:rPr lang="en-HK" dirty="0"/>
              <a:t>and </a:t>
            </a:r>
            <a:r>
              <a:rPr lang="en-HK" b="1" dirty="0"/>
              <a:t>resolution</a:t>
            </a:r>
            <a:r>
              <a:rPr lang="en-HK" dirty="0"/>
              <a:t> of a frame are similar to that of an image.</a:t>
            </a:r>
          </a:p>
          <a:p>
            <a:pPr lvl="0">
              <a:spcBef>
                <a:spcPts val="0"/>
              </a:spcBef>
            </a:pPr>
            <a:r>
              <a:rPr lang="en-HK" dirty="0"/>
              <a:t/>
            </a:r>
            <a:br>
              <a:rPr lang="en-HK" dirty="0"/>
            </a:br>
            <a:endParaRPr lang="en-HK" dirty="0"/>
          </a:p>
          <a:p>
            <a:pPr lvl="0">
              <a:spcBef>
                <a:spcPts val="0"/>
              </a:spcBef>
            </a:pPr>
            <a:r>
              <a:rPr lang="en-HK" dirty="0"/>
              <a:t>File size of an </a:t>
            </a:r>
            <a:r>
              <a:rPr lang="en-HK" b="1" dirty="0"/>
              <a:t>uncompressed</a:t>
            </a:r>
            <a:r>
              <a:rPr lang="en-HK" dirty="0"/>
              <a:t> video file:</a:t>
            </a:r>
            <a:endParaRPr lang="en-HK" u="sng" dirty="0"/>
          </a:p>
          <a:p>
            <a:pPr lvl="0"/>
            <a:r>
              <a:rPr lang="en-US" dirty="0"/>
              <a:t>	</a:t>
            </a:r>
            <a:r>
              <a:rPr lang="en-US" u="sng" dirty="0" err="1"/>
              <a:t>colour</a:t>
            </a:r>
            <a:r>
              <a:rPr lang="en-US" u="sng" dirty="0"/>
              <a:t> depth × resolution × frame rate × duration + size of the audio track</a:t>
            </a:r>
            <a:endParaRPr lang="en-HK" u="sng" dirty="0"/>
          </a:p>
          <a:p>
            <a:endParaRPr lang="en-US" dirty="0"/>
          </a:p>
        </p:txBody>
      </p:sp>
      <p:pic>
        <p:nvPicPr>
          <p:cNvPr id="6" name="Picture 5"/>
          <p:cNvPicPr>
            <a:picLocks noChangeAspect="1"/>
          </p:cNvPicPr>
          <p:nvPr/>
        </p:nvPicPr>
        <p:blipFill>
          <a:blip r:embed="rId2"/>
          <a:stretch>
            <a:fillRect/>
          </a:stretch>
        </p:blipFill>
        <p:spPr>
          <a:xfrm>
            <a:off x="4714562" y="3949200"/>
            <a:ext cx="2871476" cy="2169848"/>
          </a:xfrm>
          <a:prstGeom prst="rect">
            <a:avLst/>
          </a:prstGeom>
        </p:spPr>
      </p:pic>
    </p:spTree>
    <p:extLst>
      <p:ext uri="{BB962C8B-B14F-4D97-AF65-F5344CB8AC3E}">
        <p14:creationId xmlns:p14="http://schemas.microsoft.com/office/powerpoint/2010/main" val="2994921983"/>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Video</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150</a:t>
            </a:fld>
            <a:endParaRPr lang="en-US" dirty="0"/>
          </a:p>
        </p:txBody>
      </p:sp>
      <p:sp>
        <p:nvSpPr>
          <p:cNvPr id="4" name="Text Placeholder 3"/>
          <p:cNvSpPr>
            <a:spLocks noGrp="1"/>
          </p:cNvSpPr>
          <p:nvPr>
            <p:ph type="body" sz="quarter" idx="14"/>
          </p:nvPr>
        </p:nvSpPr>
        <p:spPr/>
        <p:txBody>
          <a:bodyPr/>
          <a:lstStyle/>
          <a:p>
            <a:r>
              <a:rPr lang="en-HK" dirty="0"/>
              <a:t>D</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467792993"/>
              </p:ext>
            </p:extLst>
          </p:nvPr>
        </p:nvGraphicFramePr>
        <p:xfrm>
          <a:off x="1211422" y="2028305"/>
          <a:ext cx="10308633" cy="4379159"/>
        </p:xfrm>
        <a:graphic>
          <a:graphicData uri="http://schemas.openxmlformats.org/drawingml/2006/table">
            <a:tbl>
              <a:tblPr firstRow="1" bandRow="1">
                <a:tableStyleId>{5940675A-B579-460E-94D1-54222C63F5DA}</a:tableStyleId>
              </a:tblPr>
              <a:tblGrid>
                <a:gridCol w="1249631">
                  <a:extLst>
                    <a:ext uri="{9D8B030D-6E8A-4147-A177-3AD203B41FA5}">
                      <a16:colId xmlns:a16="http://schemas.microsoft.com/office/drawing/2014/main" val="20000"/>
                    </a:ext>
                  </a:extLst>
                </a:gridCol>
                <a:gridCol w="1254446">
                  <a:extLst>
                    <a:ext uri="{9D8B030D-6E8A-4147-A177-3AD203B41FA5}">
                      <a16:colId xmlns:a16="http://schemas.microsoft.com/office/drawing/2014/main" val="20001"/>
                    </a:ext>
                  </a:extLst>
                </a:gridCol>
                <a:gridCol w="1079776">
                  <a:extLst>
                    <a:ext uri="{9D8B030D-6E8A-4147-A177-3AD203B41FA5}">
                      <a16:colId xmlns:a16="http://schemas.microsoft.com/office/drawing/2014/main" val="20002"/>
                    </a:ext>
                  </a:extLst>
                </a:gridCol>
                <a:gridCol w="2643862">
                  <a:extLst>
                    <a:ext uri="{9D8B030D-6E8A-4147-A177-3AD203B41FA5}">
                      <a16:colId xmlns:a16="http://schemas.microsoft.com/office/drawing/2014/main" val="20003"/>
                    </a:ext>
                  </a:extLst>
                </a:gridCol>
                <a:gridCol w="4080918">
                  <a:extLst>
                    <a:ext uri="{9D8B030D-6E8A-4147-A177-3AD203B41FA5}">
                      <a16:colId xmlns:a16="http://schemas.microsoft.com/office/drawing/2014/main" val="20004"/>
                    </a:ext>
                  </a:extLst>
                </a:gridCol>
              </a:tblGrid>
              <a:tr h="614980">
                <a:tc>
                  <a:txBody>
                    <a:bodyPr/>
                    <a:lstStyle/>
                    <a:p>
                      <a:pPr algn="ctr"/>
                      <a:r>
                        <a:rPr lang="en-HK" b="1" dirty="0">
                          <a:solidFill>
                            <a:schemeClr val="bg1"/>
                          </a:solidFill>
                        </a:rPr>
                        <a:t>File format</a:t>
                      </a:r>
                      <a:endParaRPr lang="en-US" b="1" dirty="0">
                        <a:solidFill>
                          <a:schemeClr val="bg1"/>
                        </a:solidFill>
                      </a:endParaRPr>
                    </a:p>
                  </a:txBody>
                  <a:tcPr anchor="ctr">
                    <a:lnL w="12700" cap="flat" cmpd="sng" algn="ctr">
                      <a:solidFill>
                        <a:srgbClr val="57A044"/>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algn="ctr"/>
                      <a:r>
                        <a:rPr lang="en-HK" b="1" dirty="0">
                          <a:solidFill>
                            <a:schemeClr val="bg1"/>
                          </a:solidFill>
                        </a:rPr>
                        <a:t>Codec</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Browser support</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File size</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b="1" dirty="0">
                          <a:solidFill>
                            <a:schemeClr val="bg1"/>
                          </a:solidFill>
                        </a:rPr>
                        <a:t>Features and</a:t>
                      </a:r>
                      <a:r>
                        <a:rPr lang="en-HK" b="1" baseline="0" dirty="0">
                          <a:solidFill>
                            <a:schemeClr val="bg1"/>
                          </a:solidFill>
                        </a:rPr>
                        <a:t> applications</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extLst>
                  <a:ext uri="{0D108BD9-81ED-4DB2-BD59-A6C34878D82A}">
                    <a16:rowId xmlns:a16="http://schemas.microsoft.com/office/drawing/2014/main" val="10000"/>
                  </a:ext>
                </a:extLst>
              </a:tr>
              <a:tr h="721559">
                <a:tc rowSpan="3">
                  <a:txBody>
                    <a:bodyPr/>
                    <a:lstStyle/>
                    <a:p>
                      <a:pPr algn="ctr"/>
                      <a:r>
                        <a:rPr lang="en-HK" b="1" dirty="0">
                          <a:solidFill>
                            <a:schemeClr val="bg1"/>
                          </a:solidFill>
                        </a:rPr>
                        <a:t>MP4</a:t>
                      </a:r>
                      <a:endParaRPr lang="en-US" b="1" dirty="0">
                        <a:solidFill>
                          <a:schemeClr val="bg1"/>
                        </a:solidFill>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algn="ctr"/>
                      <a:r>
                        <a:rPr lang="en-HK" dirty="0"/>
                        <a:t>MPEG-4</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t>Most</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US" dirty="0"/>
                        <a:t>Relatively small with high </a:t>
                      </a:r>
                    </a:p>
                    <a:p>
                      <a:r>
                        <a:rPr lang="en-US" dirty="0"/>
                        <a:t>compression rate</a:t>
                      </a: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dirty="0"/>
                        <a:t>Video streaming</a:t>
                      </a: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1"/>
                  </a:ext>
                </a:extLst>
              </a:tr>
              <a:tr h="878543">
                <a:tc vMerge="1">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algn="ctr"/>
                      <a:r>
                        <a:rPr lang="en-HK" dirty="0"/>
                        <a:t>H.264</a:t>
                      </a:r>
                    </a:p>
                    <a:p>
                      <a:pPr algn="ctr"/>
                      <a:r>
                        <a:rPr lang="en-HK" dirty="0"/>
                        <a:t>(AVC)</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t>Most</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US" dirty="0"/>
                        <a:t>Smaller than MPEG-4</a:t>
                      </a: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dirty="0"/>
                        <a:t>Live streaming</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HD and Full HD video</a:t>
                      </a:r>
                      <a:r>
                        <a:rPr lang="en-US" baseline="0" dirty="0"/>
                        <a:t> </a:t>
                      </a:r>
                      <a:r>
                        <a:rPr lang="en-US" dirty="0"/>
                        <a:t>streaming</a:t>
                      </a: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2"/>
                  </a:ext>
                </a:extLst>
              </a:tr>
              <a:tr h="1154495">
                <a:tc vMerge="1">
                  <a:txBody>
                    <a:bodyPr/>
                    <a:lstStyle/>
                    <a:p>
                      <a:endParaRPr lang="en-US" dirty="0"/>
                    </a:p>
                  </a:txBody>
                  <a:tcP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7A044"/>
                    </a:solidFill>
                  </a:tcPr>
                </a:tc>
                <a:tc>
                  <a:txBody>
                    <a:bodyPr/>
                    <a:lstStyle/>
                    <a:p>
                      <a:pPr algn="ctr"/>
                      <a:r>
                        <a:rPr lang="en-HK" dirty="0"/>
                        <a:t>H.265</a:t>
                      </a:r>
                    </a:p>
                    <a:p>
                      <a:pPr algn="ctr"/>
                      <a:r>
                        <a:rPr lang="en-HK" dirty="0"/>
                        <a:t>(HEVC)</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t>Few</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US" dirty="0"/>
                        <a:t>Smaller than H.264</a:t>
                      </a: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dirty="0"/>
                        <a:t>Live streaming</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Better image quality for</a:t>
                      </a:r>
                      <a:r>
                        <a:rPr lang="en-US" baseline="0" dirty="0"/>
                        <a:t> </a:t>
                      </a:r>
                      <a:r>
                        <a:rPr lang="en-US" dirty="0"/>
                        <a:t>streaming videos with a</a:t>
                      </a:r>
                      <a:r>
                        <a:rPr lang="en-US" baseline="0" dirty="0"/>
                        <a:t> </a:t>
                      </a:r>
                      <a:r>
                        <a:rPr lang="en-US" dirty="0"/>
                        <a:t>resolution above 2K</a:t>
                      </a: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3"/>
                  </a:ext>
                </a:extLst>
              </a:tr>
              <a:tr h="878543">
                <a:tc>
                  <a:txBody>
                    <a:bodyPr/>
                    <a:lstStyle/>
                    <a:p>
                      <a:pPr algn="ctr"/>
                      <a:r>
                        <a:rPr lang="en-HK" b="1" dirty="0" err="1">
                          <a:solidFill>
                            <a:schemeClr val="bg1"/>
                          </a:solidFill>
                        </a:rPr>
                        <a:t>WebM</a:t>
                      </a:r>
                      <a:endParaRPr lang="en-US" b="1" dirty="0">
                        <a:solidFill>
                          <a:schemeClr val="bg1"/>
                        </a:solidFill>
                      </a:endParaRP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57A044"/>
                      </a:solidFill>
                      <a:prstDash val="solid"/>
                      <a:round/>
                      <a:headEnd type="none" w="med" len="med"/>
                      <a:tailEnd type="none" w="med" len="med"/>
                    </a:lnB>
                    <a:solidFill>
                      <a:srgbClr val="57A044"/>
                    </a:solidFill>
                  </a:tcPr>
                </a:tc>
                <a:tc>
                  <a:txBody>
                    <a:bodyPr/>
                    <a:lstStyle/>
                    <a:p>
                      <a:pPr algn="ctr"/>
                      <a:r>
                        <a:rPr lang="en-HK" dirty="0"/>
                        <a:t>VP8</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algn="ctr"/>
                      <a:r>
                        <a:rPr lang="en-HK" dirty="0"/>
                        <a:t>Most latest</a:t>
                      </a:r>
                      <a:r>
                        <a:rPr lang="en-HK" baseline="0" dirty="0"/>
                        <a:t> versions</a:t>
                      </a:r>
                      <a:endParaRPr lang="en-US" dirty="0"/>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r>
                        <a:rPr lang="en-US" dirty="0"/>
                        <a:t>Smaller than H.264 with </a:t>
                      </a:r>
                    </a:p>
                    <a:p>
                      <a:r>
                        <a:rPr lang="en-US" dirty="0"/>
                        <a:t>higher compression rate</a:t>
                      </a: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dirty="0"/>
                        <a:t>Video streaming</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Live streaming</a:t>
                      </a:r>
                    </a:p>
                  </a:txBody>
                  <a:tcPr anchor="ctr">
                    <a:lnL w="12700" cap="flat" cmpd="sng" algn="ctr">
                      <a:solidFill>
                        <a:srgbClr val="57A044"/>
                      </a:solidFill>
                      <a:prstDash val="solid"/>
                      <a:round/>
                      <a:headEnd type="none" w="med" len="med"/>
                      <a:tailEnd type="none" w="med" len="med"/>
                    </a:lnL>
                    <a:lnR w="12700" cap="flat" cmpd="sng" algn="ctr">
                      <a:solidFill>
                        <a:srgbClr val="57A044"/>
                      </a:solidFill>
                      <a:prstDash val="solid"/>
                      <a:round/>
                      <a:headEnd type="none" w="med" len="med"/>
                      <a:tailEnd type="none" w="med" len="med"/>
                    </a:lnR>
                    <a:lnT w="12700" cap="flat" cmpd="sng" algn="ctr">
                      <a:solidFill>
                        <a:srgbClr val="57A044"/>
                      </a:solidFill>
                      <a:prstDash val="solid"/>
                      <a:round/>
                      <a:headEnd type="none" w="med" len="med"/>
                      <a:tailEnd type="none" w="med" len="med"/>
                    </a:lnT>
                    <a:lnB w="12700" cap="flat" cmpd="sng" algn="ctr">
                      <a:solidFill>
                        <a:srgbClr val="57A044"/>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Content Placeholder 6"/>
          <p:cNvSpPr>
            <a:spLocks noGrp="1"/>
          </p:cNvSpPr>
          <p:nvPr>
            <p:ph sz="quarter" idx="15"/>
          </p:nvPr>
        </p:nvSpPr>
        <p:spPr/>
        <p:txBody>
          <a:bodyPr/>
          <a:lstStyle/>
          <a:p>
            <a:r>
              <a:rPr lang="en-HK" dirty="0"/>
              <a:t>Common video file formats include:</a:t>
            </a:r>
            <a:endParaRPr lang="en-US" dirty="0"/>
          </a:p>
        </p:txBody>
      </p:sp>
    </p:spTree>
    <p:extLst>
      <p:ext uri="{BB962C8B-B14F-4D97-AF65-F5344CB8AC3E}">
        <p14:creationId xmlns:p14="http://schemas.microsoft.com/office/powerpoint/2010/main" val="1133711687"/>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HK" dirty="0"/>
              <a:t>Finish Lab 3.11 on P. 121 of the textbook.</a:t>
            </a:r>
          </a:p>
          <a:p>
            <a:endParaRPr lang="en-HK" dirty="0"/>
          </a:p>
          <a:p>
            <a:endParaRPr lang="en-HK" dirty="0"/>
          </a:p>
          <a:p>
            <a:endParaRPr lang="en-HK" dirty="0"/>
          </a:p>
          <a:p>
            <a:r>
              <a:rPr lang="en-HK" dirty="0"/>
              <a:t/>
            </a:r>
            <a:br>
              <a:rPr lang="en-HK" dirty="0"/>
            </a:br>
            <a:r>
              <a:rPr lang="en-HK" dirty="0"/>
              <a:t>File size (in GB) = </a:t>
            </a:r>
          </a:p>
          <a:p>
            <a:r>
              <a:rPr lang="en-HK" dirty="0">
                <a:solidFill>
                  <a:srgbClr val="FF0000"/>
                </a:solidFill>
              </a:rPr>
              <a:t> 16 bits × 640 × 360 × 24 × (60 × 60) = 2 bytes × 640 × 360 × 24 × 3600 </a:t>
            </a:r>
            <a:br>
              <a:rPr lang="en-HK" dirty="0">
                <a:solidFill>
                  <a:srgbClr val="FF0000"/>
                </a:solidFill>
              </a:rPr>
            </a:br>
            <a:r>
              <a:rPr lang="en-HK" dirty="0">
                <a:solidFill>
                  <a:srgbClr val="FF0000"/>
                </a:solidFill>
              </a:rPr>
              <a:t>= (39,813,120,000 ÷ 1,0243) GB ≈ 37.1 GB</a:t>
            </a:r>
          </a:p>
        </p:txBody>
      </p:sp>
      <p:sp>
        <p:nvSpPr>
          <p:cNvPr id="3" name="Slide Number Placeholder 2"/>
          <p:cNvSpPr>
            <a:spLocks noGrp="1"/>
          </p:cNvSpPr>
          <p:nvPr>
            <p:ph type="sldNum" sz="quarter" idx="12"/>
          </p:nvPr>
        </p:nvSpPr>
        <p:spPr/>
        <p:txBody>
          <a:bodyPr/>
          <a:lstStyle/>
          <a:p>
            <a:fld id="{6D22F896-40B5-4ADD-8801-0D06FADFA095}" type="slidenum">
              <a:rPr lang="en-US" smtClean="0"/>
              <a:t>151</a:t>
            </a:fld>
            <a:endParaRPr lang="en-US" dirty="0"/>
          </a:p>
        </p:txBody>
      </p:sp>
      <p:sp>
        <p:nvSpPr>
          <p:cNvPr id="4" name="Text Placeholder 3"/>
          <p:cNvSpPr>
            <a:spLocks noGrp="1"/>
          </p:cNvSpPr>
          <p:nvPr>
            <p:ph type="body" sz="quarter" idx="13"/>
          </p:nvPr>
        </p:nvSpPr>
        <p:spPr/>
        <p:txBody>
          <a:bodyPr/>
          <a:lstStyle/>
          <a:p>
            <a:r>
              <a:rPr lang="en-HK" dirty="0"/>
              <a:t>3.11</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1079282407"/>
              </p:ext>
            </p:extLst>
          </p:nvPr>
        </p:nvGraphicFramePr>
        <p:xfrm>
          <a:off x="969349" y="2100132"/>
          <a:ext cx="4607648" cy="1483360"/>
        </p:xfrm>
        <a:graphic>
          <a:graphicData uri="http://schemas.openxmlformats.org/drawingml/2006/table">
            <a:tbl>
              <a:tblPr firstRow="1" bandRow="1">
                <a:tableStyleId>{5940675A-B579-460E-94D1-54222C63F5DA}</a:tableStyleId>
              </a:tblPr>
              <a:tblGrid>
                <a:gridCol w="2303824">
                  <a:extLst>
                    <a:ext uri="{9D8B030D-6E8A-4147-A177-3AD203B41FA5}">
                      <a16:colId xmlns:a16="http://schemas.microsoft.com/office/drawing/2014/main" val="20000"/>
                    </a:ext>
                  </a:extLst>
                </a:gridCol>
                <a:gridCol w="2303824">
                  <a:extLst>
                    <a:ext uri="{9D8B030D-6E8A-4147-A177-3AD203B41FA5}">
                      <a16:colId xmlns:a16="http://schemas.microsoft.com/office/drawing/2014/main" val="20001"/>
                    </a:ext>
                  </a:extLst>
                </a:gridCol>
              </a:tblGrid>
              <a:tr h="370840">
                <a:tc>
                  <a:txBody>
                    <a:bodyPr/>
                    <a:lstStyle/>
                    <a:p>
                      <a:r>
                        <a:rPr lang="en-HK" b="1" dirty="0">
                          <a:solidFill>
                            <a:schemeClr val="bg1"/>
                          </a:solidFill>
                        </a:rPr>
                        <a:t>Bit</a:t>
                      </a:r>
                      <a:r>
                        <a:rPr lang="en-HK" b="1" baseline="0" dirty="0">
                          <a:solidFill>
                            <a:schemeClr val="bg1"/>
                          </a:solidFill>
                        </a:rPr>
                        <a:t> </a:t>
                      </a:r>
                      <a:r>
                        <a:rPr lang="en-HK" b="1" dirty="0">
                          <a:solidFill>
                            <a:schemeClr val="bg1"/>
                          </a:solidFill>
                        </a:rPr>
                        <a:t>depth</a:t>
                      </a:r>
                      <a:endParaRPr lang="en-US" b="1" dirty="0">
                        <a:solidFill>
                          <a:schemeClr val="bg1"/>
                        </a:solidFill>
                      </a:endParaRPr>
                    </a:p>
                  </a:txBody>
                  <a:tcPr anchor="ctr">
                    <a:lnL w="12700" cap="flat" cmpd="sng" algn="ctr">
                      <a:solidFill>
                        <a:srgbClr val="C69A3C"/>
                      </a:solidFill>
                      <a:prstDash val="solid"/>
                      <a:round/>
                      <a:headEnd type="none" w="med" len="med"/>
                      <a:tailEnd type="none" w="med" len="med"/>
                    </a:lnL>
                    <a:lnR w="12700" cap="flat" cmpd="sng" algn="ctr">
                      <a:solidFill>
                        <a:srgbClr val="C69A3C"/>
                      </a:solidFill>
                      <a:prstDash val="solid"/>
                      <a:round/>
                      <a:headEnd type="none" w="med" len="med"/>
                      <a:tailEnd type="none" w="med" len="med"/>
                    </a:lnR>
                    <a:lnT w="12700" cap="flat" cmpd="sng" algn="ctr">
                      <a:solidFill>
                        <a:srgbClr val="C69A3C"/>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A3C"/>
                    </a:solidFill>
                  </a:tcPr>
                </a:tc>
                <a:tc>
                  <a:txBody>
                    <a:bodyPr/>
                    <a:lstStyle/>
                    <a:p>
                      <a:r>
                        <a:rPr lang="en-HK" dirty="0"/>
                        <a:t>16 bits</a:t>
                      </a:r>
                      <a:endParaRPr lang="en-US" dirty="0"/>
                    </a:p>
                  </a:txBody>
                  <a:tcPr anchor="ctr">
                    <a:lnL w="12700" cap="flat" cmpd="sng" algn="ctr">
                      <a:solidFill>
                        <a:srgbClr val="C69A3C"/>
                      </a:solidFill>
                      <a:prstDash val="solid"/>
                      <a:round/>
                      <a:headEnd type="none" w="med" len="med"/>
                      <a:tailEnd type="none" w="med" len="med"/>
                    </a:lnL>
                    <a:lnR w="12700" cap="flat" cmpd="sng" algn="ctr">
                      <a:solidFill>
                        <a:srgbClr val="C69A3C"/>
                      </a:solidFill>
                      <a:prstDash val="solid"/>
                      <a:round/>
                      <a:headEnd type="none" w="med" len="med"/>
                      <a:tailEnd type="none" w="med" len="med"/>
                    </a:lnR>
                    <a:lnT w="12700" cap="flat" cmpd="sng" algn="ctr">
                      <a:solidFill>
                        <a:srgbClr val="C69A3C"/>
                      </a:solidFill>
                      <a:prstDash val="solid"/>
                      <a:round/>
                      <a:headEnd type="none" w="med" len="med"/>
                      <a:tailEnd type="none" w="med" len="med"/>
                    </a:lnT>
                    <a:lnB w="12700" cap="flat" cmpd="sng" algn="ctr">
                      <a:solidFill>
                        <a:srgbClr val="C69A3C"/>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HK" b="1" dirty="0">
                          <a:solidFill>
                            <a:schemeClr val="bg1"/>
                          </a:solidFill>
                        </a:rPr>
                        <a:t>Resolution</a:t>
                      </a:r>
                      <a:endParaRPr lang="en-US" b="1" dirty="0">
                        <a:solidFill>
                          <a:schemeClr val="bg1"/>
                        </a:solidFill>
                      </a:endParaRPr>
                    </a:p>
                  </a:txBody>
                  <a:tcPr anchor="ctr">
                    <a:lnL w="12700" cap="flat" cmpd="sng" algn="ctr">
                      <a:solidFill>
                        <a:srgbClr val="C69A3C"/>
                      </a:solidFill>
                      <a:prstDash val="solid"/>
                      <a:round/>
                      <a:headEnd type="none" w="med" len="med"/>
                      <a:tailEnd type="none" w="med" len="med"/>
                    </a:lnL>
                    <a:lnR w="12700" cap="flat" cmpd="sng" algn="ctr">
                      <a:solidFill>
                        <a:srgbClr val="C69A3C"/>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A3C"/>
                    </a:solidFill>
                  </a:tcPr>
                </a:tc>
                <a:tc>
                  <a:txBody>
                    <a:bodyPr/>
                    <a:lstStyle/>
                    <a:p>
                      <a:r>
                        <a:rPr lang="en-HK" dirty="0"/>
                        <a:t>640 × 360</a:t>
                      </a:r>
                      <a:endParaRPr lang="en-US" dirty="0"/>
                    </a:p>
                  </a:txBody>
                  <a:tcPr anchor="ctr">
                    <a:lnL w="12700" cap="flat" cmpd="sng" algn="ctr">
                      <a:solidFill>
                        <a:srgbClr val="C69A3C"/>
                      </a:solidFill>
                      <a:prstDash val="solid"/>
                      <a:round/>
                      <a:headEnd type="none" w="med" len="med"/>
                      <a:tailEnd type="none" w="med" len="med"/>
                    </a:lnL>
                    <a:lnR w="12700" cap="flat" cmpd="sng" algn="ctr">
                      <a:solidFill>
                        <a:srgbClr val="C69A3C"/>
                      </a:solidFill>
                      <a:prstDash val="solid"/>
                      <a:round/>
                      <a:headEnd type="none" w="med" len="med"/>
                      <a:tailEnd type="none" w="med" len="med"/>
                    </a:lnR>
                    <a:lnT w="12700" cap="flat" cmpd="sng" algn="ctr">
                      <a:solidFill>
                        <a:srgbClr val="C69A3C"/>
                      </a:solidFill>
                      <a:prstDash val="solid"/>
                      <a:round/>
                      <a:headEnd type="none" w="med" len="med"/>
                      <a:tailEnd type="none" w="med" len="med"/>
                    </a:lnT>
                    <a:lnB w="12700" cap="flat" cmpd="sng" algn="ctr">
                      <a:solidFill>
                        <a:srgbClr val="C69A3C"/>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HK" b="1" dirty="0">
                          <a:solidFill>
                            <a:schemeClr val="bg1"/>
                          </a:solidFill>
                        </a:rPr>
                        <a:t>Frame rate</a:t>
                      </a:r>
                      <a:endParaRPr lang="en-US" b="1" dirty="0">
                        <a:solidFill>
                          <a:schemeClr val="bg1"/>
                        </a:solidFill>
                      </a:endParaRPr>
                    </a:p>
                  </a:txBody>
                  <a:tcPr anchor="ctr">
                    <a:lnL w="12700" cap="flat" cmpd="sng" algn="ctr">
                      <a:solidFill>
                        <a:srgbClr val="C69A3C"/>
                      </a:solidFill>
                      <a:prstDash val="solid"/>
                      <a:round/>
                      <a:headEnd type="none" w="med" len="med"/>
                      <a:tailEnd type="none" w="med" len="med"/>
                    </a:lnL>
                    <a:lnR w="12700" cap="flat" cmpd="sng" algn="ctr">
                      <a:solidFill>
                        <a:srgbClr val="C69A3C"/>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69A3C"/>
                    </a:solidFill>
                  </a:tcPr>
                </a:tc>
                <a:tc>
                  <a:txBody>
                    <a:bodyPr/>
                    <a:lstStyle/>
                    <a:p>
                      <a:r>
                        <a:rPr lang="en-HK" dirty="0"/>
                        <a:t>24</a:t>
                      </a:r>
                      <a:r>
                        <a:rPr lang="en-HK" baseline="0" dirty="0"/>
                        <a:t> fps</a:t>
                      </a:r>
                      <a:endParaRPr lang="en-US" dirty="0"/>
                    </a:p>
                  </a:txBody>
                  <a:tcPr anchor="ctr">
                    <a:lnL w="12700" cap="flat" cmpd="sng" algn="ctr">
                      <a:solidFill>
                        <a:srgbClr val="C69A3C"/>
                      </a:solidFill>
                      <a:prstDash val="solid"/>
                      <a:round/>
                      <a:headEnd type="none" w="med" len="med"/>
                      <a:tailEnd type="none" w="med" len="med"/>
                    </a:lnL>
                    <a:lnR w="12700" cap="flat" cmpd="sng" algn="ctr">
                      <a:solidFill>
                        <a:srgbClr val="C69A3C"/>
                      </a:solidFill>
                      <a:prstDash val="solid"/>
                      <a:round/>
                      <a:headEnd type="none" w="med" len="med"/>
                      <a:tailEnd type="none" w="med" len="med"/>
                    </a:lnR>
                    <a:lnT w="12700" cap="flat" cmpd="sng" algn="ctr">
                      <a:solidFill>
                        <a:srgbClr val="C69A3C"/>
                      </a:solidFill>
                      <a:prstDash val="solid"/>
                      <a:round/>
                      <a:headEnd type="none" w="med" len="med"/>
                      <a:tailEnd type="none" w="med" len="med"/>
                    </a:lnT>
                    <a:lnB w="12700" cap="flat" cmpd="sng" algn="ctr">
                      <a:solidFill>
                        <a:srgbClr val="C69A3C"/>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HK" b="1" dirty="0">
                          <a:solidFill>
                            <a:schemeClr val="bg1"/>
                          </a:solidFill>
                        </a:rPr>
                        <a:t>Duration</a:t>
                      </a:r>
                      <a:endParaRPr lang="en-US" b="1" dirty="0">
                        <a:solidFill>
                          <a:schemeClr val="bg1"/>
                        </a:solidFill>
                      </a:endParaRPr>
                    </a:p>
                  </a:txBody>
                  <a:tcPr anchor="ctr">
                    <a:lnL w="12700" cap="flat" cmpd="sng" algn="ctr">
                      <a:solidFill>
                        <a:srgbClr val="C69A3C"/>
                      </a:solidFill>
                      <a:prstDash val="solid"/>
                      <a:round/>
                      <a:headEnd type="none" w="med" len="med"/>
                      <a:tailEnd type="none" w="med" len="med"/>
                    </a:lnL>
                    <a:lnR w="12700" cap="flat" cmpd="sng" algn="ctr">
                      <a:solidFill>
                        <a:srgbClr val="C69A3C"/>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C69A3C"/>
                      </a:solidFill>
                      <a:prstDash val="solid"/>
                      <a:round/>
                      <a:headEnd type="none" w="med" len="med"/>
                      <a:tailEnd type="none" w="med" len="med"/>
                    </a:lnB>
                    <a:solidFill>
                      <a:srgbClr val="C69A3C"/>
                    </a:solidFill>
                  </a:tcPr>
                </a:tc>
                <a:tc>
                  <a:txBody>
                    <a:bodyPr/>
                    <a:lstStyle/>
                    <a:p>
                      <a:r>
                        <a:rPr lang="en-HK" dirty="0"/>
                        <a:t>1</a:t>
                      </a:r>
                      <a:r>
                        <a:rPr lang="en-HK" baseline="0" dirty="0"/>
                        <a:t> hour</a:t>
                      </a:r>
                      <a:endParaRPr lang="en-US" dirty="0"/>
                    </a:p>
                  </a:txBody>
                  <a:tcPr anchor="ctr">
                    <a:lnL w="12700" cap="flat" cmpd="sng" algn="ctr">
                      <a:solidFill>
                        <a:srgbClr val="C69A3C"/>
                      </a:solidFill>
                      <a:prstDash val="solid"/>
                      <a:round/>
                      <a:headEnd type="none" w="med" len="med"/>
                      <a:tailEnd type="none" w="med" len="med"/>
                    </a:lnL>
                    <a:lnR w="12700" cap="flat" cmpd="sng" algn="ctr">
                      <a:solidFill>
                        <a:srgbClr val="C69A3C"/>
                      </a:solidFill>
                      <a:prstDash val="solid"/>
                      <a:round/>
                      <a:headEnd type="none" w="med" len="med"/>
                      <a:tailEnd type="none" w="med" len="med"/>
                    </a:lnR>
                    <a:lnT w="12700" cap="flat" cmpd="sng" algn="ctr">
                      <a:solidFill>
                        <a:srgbClr val="C69A3C"/>
                      </a:solidFill>
                      <a:prstDash val="solid"/>
                      <a:round/>
                      <a:headEnd type="none" w="med" len="med"/>
                      <a:tailEnd type="none" w="med" len="med"/>
                    </a:lnT>
                    <a:lnB w="12700" cap="flat" cmpd="sng" algn="ctr">
                      <a:solidFill>
                        <a:srgbClr val="C69A3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153640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animEffect transition="in" filter="fade">
                                      <p:cBhvr>
                                        <p:cTn id="7"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AutoNum type="arabicPeriod"/>
            </a:pPr>
            <a:r>
              <a:rPr lang="en-US" dirty="0"/>
              <a:t>Fanny has four files, the file sizes of which are all 20 MB. She compresses them to ZIP files. Which of the compressed files has the smallest file size under normal circumstances?</a:t>
            </a:r>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152</a:t>
            </a:fld>
            <a:endParaRPr lang="en-US" dirty="0"/>
          </a:p>
        </p:txBody>
      </p:sp>
      <p:sp>
        <p:nvSpPr>
          <p:cNvPr id="4" name="Text Placeholder 3"/>
          <p:cNvSpPr>
            <a:spLocks noGrp="1"/>
          </p:cNvSpPr>
          <p:nvPr>
            <p:ph type="body" sz="quarter" idx="13"/>
          </p:nvPr>
        </p:nvSpPr>
        <p:spPr/>
        <p:txBody>
          <a:bodyPr/>
          <a:lstStyle/>
          <a:p>
            <a:r>
              <a:rPr lang="en-HK" dirty="0"/>
              <a:t>3.10</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2494749654"/>
              </p:ext>
            </p:extLst>
          </p:nvPr>
        </p:nvGraphicFramePr>
        <p:xfrm>
          <a:off x="1404851" y="2481964"/>
          <a:ext cx="4299527" cy="1854200"/>
        </p:xfrm>
        <a:graphic>
          <a:graphicData uri="http://schemas.openxmlformats.org/drawingml/2006/table">
            <a:tbl>
              <a:tblPr firstRow="1" bandRow="1">
                <a:tableStyleId>{5940675A-B579-460E-94D1-54222C63F5DA}</a:tableStyleId>
              </a:tblPr>
              <a:tblGrid>
                <a:gridCol w="407939">
                  <a:extLst>
                    <a:ext uri="{9D8B030D-6E8A-4147-A177-3AD203B41FA5}">
                      <a16:colId xmlns:a16="http://schemas.microsoft.com/office/drawing/2014/main" val="20000"/>
                    </a:ext>
                  </a:extLst>
                </a:gridCol>
                <a:gridCol w="1945794">
                  <a:extLst>
                    <a:ext uri="{9D8B030D-6E8A-4147-A177-3AD203B41FA5}">
                      <a16:colId xmlns:a16="http://schemas.microsoft.com/office/drawing/2014/main" val="20001"/>
                    </a:ext>
                  </a:extLst>
                </a:gridCol>
                <a:gridCol w="1945794">
                  <a:extLst>
                    <a:ext uri="{9D8B030D-6E8A-4147-A177-3AD203B41FA5}">
                      <a16:colId xmlns:a16="http://schemas.microsoft.com/office/drawing/2014/main" val="20002"/>
                    </a:ext>
                  </a:extLst>
                </a:gridCol>
              </a:tblGrid>
              <a:tr h="370840">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HK" b="1" u="sng" dirty="0"/>
                        <a:t>Original files</a:t>
                      </a:r>
                      <a:endParaRPr lang="en-US" b="1" u="sng"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HK" b="1" u="sng" dirty="0"/>
                        <a:t>Compressed files</a:t>
                      </a:r>
                      <a:endParaRPr lang="en-US" b="1" u="sng"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HK" dirty="0"/>
                        <a:t>A. </a:t>
                      </a:r>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HK" dirty="0"/>
                        <a:t>A.png</a:t>
                      </a:r>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HK" dirty="0"/>
                        <a:t>A.zip</a:t>
                      </a:r>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HK" dirty="0"/>
                        <a:t>B.</a:t>
                      </a:r>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HK" dirty="0"/>
                        <a:t>B.jpg</a:t>
                      </a:r>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HK" dirty="0"/>
                        <a:t>B.zip</a:t>
                      </a:r>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HK" dirty="0"/>
                        <a:t>C.</a:t>
                      </a:r>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HK" dirty="0"/>
                        <a:t>C.wav</a:t>
                      </a:r>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HK" dirty="0"/>
                        <a:t>C.zip</a:t>
                      </a:r>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r>
                        <a:rPr lang="en-HK" dirty="0"/>
                        <a:t>D.</a:t>
                      </a:r>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HK" dirty="0"/>
                        <a:t>D.wmv</a:t>
                      </a:r>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HK" dirty="0"/>
                        <a:t>D.zip</a:t>
                      </a:r>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091254621"/>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342900" indent="-342900">
              <a:buSzPct val="100000"/>
              <a:buFont typeface="Noto Sans CJK TC Regular" panose="020B0500000000000000" pitchFamily="34" charset="-128"/>
              <a:buChar char="◣"/>
            </a:pPr>
            <a:r>
              <a:rPr lang="en-HK" b="1" dirty="0">
                <a:solidFill>
                  <a:srgbClr val="37A3D4"/>
                </a:solidFill>
              </a:rPr>
              <a:t>Analysis</a:t>
            </a:r>
          </a:p>
          <a:p>
            <a:pPr>
              <a:buSzPct val="100000"/>
            </a:pPr>
            <a:r>
              <a:rPr lang="en-US" dirty="0"/>
              <a:t>Compressing a compressed file saves less storage space than compressing an uncompressed file. Among all four files, only C.wav has an uncompressed file format.</a:t>
            </a:r>
            <a:br>
              <a:rPr lang="en-US" dirty="0"/>
            </a:br>
            <a:endParaRPr lang="en-US" dirty="0"/>
          </a:p>
          <a:p>
            <a:pPr>
              <a:buSzPct val="100000"/>
            </a:pPr>
            <a:endParaRPr lang="en-HK" b="1" dirty="0">
              <a:solidFill>
                <a:srgbClr val="37A3D4"/>
              </a:solidFill>
            </a:endParaRPr>
          </a:p>
          <a:p>
            <a:pPr marL="342900" indent="-342900">
              <a:buSzPct val="100000"/>
              <a:buFont typeface="Noto Sans CJK TC Regular" panose="020B0500000000000000" pitchFamily="34" charset="-128"/>
              <a:buChar char="◣"/>
            </a:pPr>
            <a:r>
              <a:rPr lang="en-HK" b="1" dirty="0">
                <a:solidFill>
                  <a:srgbClr val="37A3D4"/>
                </a:solidFill>
              </a:rPr>
              <a:t>Solution</a:t>
            </a:r>
          </a:p>
          <a:p>
            <a:pPr>
              <a:buSzPct val="100000"/>
            </a:pPr>
            <a:r>
              <a:rPr lang="en-US" dirty="0"/>
              <a:t>The answer is C.</a:t>
            </a:r>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153</a:t>
            </a:fld>
            <a:endParaRPr lang="en-US" dirty="0"/>
          </a:p>
        </p:txBody>
      </p:sp>
      <p:sp>
        <p:nvSpPr>
          <p:cNvPr id="4" name="Text Placeholder 3"/>
          <p:cNvSpPr>
            <a:spLocks noGrp="1"/>
          </p:cNvSpPr>
          <p:nvPr>
            <p:ph type="body" sz="quarter" idx="13"/>
          </p:nvPr>
        </p:nvSpPr>
        <p:spPr/>
        <p:txBody>
          <a:bodyPr/>
          <a:lstStyle/>
          <a:p>
            <a:r>
              <a:rPr lang="en-HK" dirty="0"/>
              <a:t>3.10</a:t>
            </a:r>
            <a:endParaRPr lang="en-US" dirty="0"/>
          </a:p>
        </p:txBody>
      </p:sp>
    </p:spTree>
    <p:extLst>
      <p:ext uri="{BB962C8B-B14F-4D97-AF65-F5344CB8AC3E}">
        <p14:creationId xmlns:p14="http://schemas.microsoft.com/office/powerpoint/2010/main" val="2203025524"/>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HK" dirty="0"/>
              <a:t>Finish Checkpoint 3.10 on P. 122 of the textbook.</a:t>
            </a:r>
          </a:p>
          <a:p>
            <a:endParaRPr lang="en-HK" dirty="0"/>
          </a:p>
          <a:p>
            <a:pPr marL="457200" indent="-457200">
              <a:buAutoNum type="arabicPeriod"/>
            </a:pPr>
            <a:r>
              <a:rPr lang="en-HK" dirty="0">
                <a:solidFill>
                  <a:srgbClr val="FF0000"/>
                </a:solidFill>
              </a:rPr>
              <a:t>Advantage: </a:t>
            </a:r>
            <a:r>
              <a:rPr lang="en-US" dirty="0">
                <a:solidFill>
                  <a:srgbClr val="FF0000"/>
                </a:solidFill>
              </a:rPr>
              <a:t>MP4 has a relatively smaller file size.</a:t>
            </a:r>
            <a:br>
              <a:rPr lang="en-US" dirty="0">
                <a:solidFill>
                  <a:srgbClr val="FF0000"/>
                </a:solidFill>
              </a:rPr>
            </a:br>
            <a:r>
              <a:rPr lang="en-US" dirty="0">
                <a:solidFill>
                  <a:srgbClr val="FF0000"/>
                </a:solidFill>
              </a:rPr>
              <a:t/>
            </a:r>
            <a:br>
              <a:rPr lang="en-US" dirty="0">
                <a:solidFill>
                  <a:srgbClr val="FF0000"/>
                </a:solidFill>
              </a:rPr>
            </a:br>
            <a:r>
              <a:rPr lang="en-US" dirty="0">
                <a:solidFill>
                  <a:srgbClr val="FF0000"/>
                </a:solidFill>
              </a:rPr>
              <a:t>Disadvantage: AVI has better video quality.</a:t>
            </a:r>
            <a:br>
              <a:rPr lang="en-US" dirty="0">
                <a:solidFill>
                  <a:srgbClr val="FF0000"/>
                </a:solidFill>
              </a:rPr>
            </a:br>
            <a:endParaRPr lang="en-US" dirty="0"/>
          </a:p>
          <a:p>
            <a:pPr marL="457200" indent="-457200">
              <a:buFont typeface="+mj-lt"/>
              <a:buAutoNum type="arabicPeriod"/>
            </a:pPr>
            <a:r>
              <a:rPr lang="en-HK" dirty="0">
                <a:solidFill>
                  <a:srgbClr val="FF0000"/>
                </a:solidFill>
              </a:rPr>
              <a:t>C</a:t>
            </a:r>
            <a:endParaRPr lang="en-US" dirty="0"/>
          </a:p>
          <a:p>
            <a:endParaRPr lang="en-HK" dirty="0"/>
          </a:p>
        </p:txBody>
      </p:sp>
      <p:sp>
        <p:nvSpPr>
          <p:cNvPr id="3" name="Slide Number Placeholder 2"/>
          <p:cNvSpPr>
            <a:spLocks noGrp="1"/>
          </p:cNvSpPr>
          <p:nvPr>
            <p:ph type="sldNum" sz="quarter" idx="12"/>
          </p:nvPr>
        </p:nvSpPr>
        <p:spPr/>
        <p:txBody>
          <a:bodyPr/>
          <a:lstStyle/>
          <a:p>
            <a:fld id="{6D22F896-40B5-4ADD-8801-0D06FADFA095}" type="slidenum">
              <a:rPr lang="en-US" smtClean="0"/>
              <a:t>154</a:t>
            </a:fld>
            <a:endParaRPr lang="en-US" dirty="0"/>
          </a:p>
        </p:txBody>
      </p:sp>
      <p:sp>
        <p:nvSpPr>
          <p:cNvPr id="4" name="Text Placeholder 3"/>
          <p:cNvSpPr>
            <a:spLocks noGrp="1"/>
          </p:cNvSpPr>
          <p:nvPr>
            <p:ph type="body" sz="quarter" idx="13"/>
          </p:nvPr>
        </p:nvSpPr>
        <p:spPr/>
        <p:txBody>
          <a:bodyPr/>
          <a:lstStyle/>
          <a:p>
            <a:r>
              <a:rPr lang="en-HK" dirty="0"/>
              <a:t>3.10</a:t>
            </a:r>
            <a:endParaRPr lang="en-US" dirty="0"/>
          </a:p>
        </p:txBody>
      </p:sp>
    </p:spTree>
    <p:extLst>
      <p:ext uri="{BB962C8B-B14F-4D97-AF65-F5344CB8AC3E}">
        <p14:creationId xmlns:p14="http://schemas.microsoft.com/office/powerpoint/2010/main" val="4112547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50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fade">
                                      <p:cBhvr>
                                        <p:cTn id="1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SEPPT_EN_Kelie_20220801">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DSEPPT_EN_Kelie_20220801" id="{6A643CDD-4324-4CDB-A99F-5B6D7C095AD8}" vid="{541C2CAE-1C37-4D60-9199-C14FA6BC1DD0}"/>
    </a:ext>
  </a:extLst>
</a:theme>
</file>

<file path=docProps/app.xml><?xml version="1.0" encoding="utf-8"?>
<Properties xmlns="http://schemas.openxmlformats.org/officeDocument/2006/extended-properties" xmlns:vt="http://schemas.openxmlformats.org/officeDocument/2006/docPropsVTypes">
  <Template>Template</Template>
  <TotalTime>911</TotalTime>
  <Words>6958</Words>
  <Application>Microsoft Office PowerPoint</Application>
  <PresentationFormat>Widescreen</PresentationFormat>
  <Paragraphs>1512</Paragraphs>
  <Slides>154</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154</vt:i4>
      </vt:variant>
    </vt:vector>
  </HeadingPairs>
  <TitlesOfParts>
    <vt:vector size="166" baseType="lpstr">
      <vt:lpstr>Noto Sans CJK KR Black</vt:lpstr>
      <vt:lpstr>Noto Sans CJK TC Light</vt:lpstr>
      <vt:lpstr>Noto Sans CJK TC Regular</vt:lpstr>
      <vt:lpstr>新細明體</vt:lpstr>
      <vt:lpstr>宋体</vt:lpstr>
      <vt:lpstr>Arial</vt:lpstr>
      <vt:lpstr>Calibri</vt:lpstr>
      <vt:lpstr>Cambria Math</vt:lpstr>
      <vt:lpstr>Courier New</vt:lpstr>
      <vt:lpstr>Myriad Pro</vt:lpstr>
      <vt:lpstr>Tw Cen MT</vt:lpstr>
      <vt:lpstr>DSEPPT_EN_Kelie_20220801</vt:lpstr>
      <vt:lpstr>Chapter 3 Data Representation</vt:lpstr>
      <vt:lpstr>PowerPoint Presentation</vt:lpstr>
      <vt:lpstr>Number System and Representation</vt:lpstr>
      <vt:lpstr>Unit of data</vt:lpstr>
      <vt:lpstr>Unit of data</vt:lpstr>
      <vt:lpstr>Binary number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Binary number</vt:lpstr>
      <vt:lpstr>Hexadecimal number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Representation of unsigned integers</vt:lpstr>
      <vt:lpstr>Representation of signed integers</vt:lpstr>
      <vt:lpstr>Representation of signed integers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Representation of signed integers</vt:lpstr>
      <vt:lpstr>Representation of signed integers</vt:lpstr>
      <vt:lpstr>Representation of signed integers</vt:lpstr>
      <vt:lpstr>Representation of signed integers</vt:lpstr>
      <vt:lpstr>PowerPoint Presentation</vt:lpstr>
      <vt:lpstr>PowerPoint Presentation</vt:lpstr>
      <vt:lpstr>PowerPoint Presentation</vt:lpstr>
      <vt:lpstr>PowerPoint Presentation</vt:lpstr>
      <vt:lpstr>PowerPoint Presentation</vt:lpstr>
      <vt:lpstr>Overflow error</vt:lpstr>
      <vt:lpstr>Overflow error</vt:lpstr>
      <vt:lpstr>Overflow error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Character Encoding</vt:lpstr>
      <vt:lpstr>English</vt:lpstr>
      <vt:lpstr>Chinese</vt:lpstr>
      <vt:lpstr>Chinese</vt:lpstr>
      <vt:lpstr>Chinese</vt:lpstr>
      <vt:lpstr>Multi-languages</vt:lpstr>
      <vt:lpstr>Multi-languages</vt:lpstr>
      <vt:lpstr>PowerPoint Presentation</vt:lpstr>
      <vt:lpstr>PowerPoint Presentation</vt:lpstr>
      <vt:lpstr>PowerPoint Presentation</vt:lpstr>
      <vt:lpstr>PowerPoint Presentation</vt:lpstr>
      <vt:lpstr>PowerPoint Presentation</vt:lpstr>
      <vt:lpstr>PowerPoint Presentation</vt:lpstr>
      <vt:lpstr>Barcode Encoding</vt:lpstr>
      <vt:lpstr>Barcode</vt:lpstr>
      <vt:lpstr>Barcode</vt:lpstr>
      <vt:lpstr>Barcode</vt:lpstr>
      <vt:lpstr>Barcode</vt:lpstr>
      <vt:lpstr>Quick Response code</vt:lpstr>
      <vt:lpstr>Quick Response code</vt:lpstr>
      <vt:lpstr>Quick Response code</vt:lpstr>
      <vt:lpstr>Quick Response code</vt:lpstr>
      <vt:lpstr>PowerPoint Presentation</vt:lpstr>
      <vt:lpstr>PowerPoint Presentation</vt:lpstr>
      <vt:lpstr>PowerPoint Presentation</vt:lpstr>
      <vt:lpstr>Analog and Digital Data</vt:lpstr>
      <vt:lpstr>Analog and Digital Data</vt:lpstr>
      <vt:lpstr>Analog and Digital Data</vt:lpstr>
      <vt:lpstr>Digitalisation</vt:lpstr>
      <vt:lpstr>Digitalisation</vt:lpstr>
      <vt:lpstr>Digitalisation</vt:lpstr>
      <vt:lpstr>Digitalisation</vt:lpstr>
      <vt:lpstr>Digitalisation</vt:lpstr>
      <vt:lpstr>PowerPoint Presentation</vt:lpstr>
      <vt:lpstr>PowerPoint Presentation</vt:lpstr>
      <vt:lpstr>PowerPoint Presentation</vt:lpstr>
      <vt:lpstr>PowerPoint Presentation</vt:lpstr>
      <vt:lpstr>PowerPoint Presentation</vt:lpstr>
      <vt:lpstr>Multimedia</vt:lpstr>
      <vt:lpstr>Multimedia</vt:lpstr>
      <vt:lpstr>Compression</vt:lpstr>
      <vt:lpstr>Compression</vt:lpstr>
      <vt:lpstr>Compression</vt:lpstr>
      <vt:lpstr>PowerPoint Presentation</vt:lpstr>
      <vt:lpstr>PowerPoint Presentation</vt:lpstr>
      <vt:lpstr>PowerPoint Presentation</vt:lpstr>
      <vt:lpstr>PowerPoint Presentation</vt:lpstr>
      <vt:lpstr>PowerPoint Presentation</vt:lpstr>
      <vt:lpstr>Text</vt:lpstr>
      <vt:lpstr>Text</vt:lpstr>
      <vt:lpstr>Text</vt:lpstr>
      <vt:lpstr>Text</vt:lpstr>
      <vt:lpstr>PowerPoint Presentation</vt:lpstr>
      <vt:lpstr>PowerPoint Presentation</vt:lpstr>
      <vt:lpstr>PowerPoint Presentation</vt:lpstr>
      <vt:lpstr>Image</vt:lpstr>
      <vt:lpstr>Image</vt:lpstr>
      <vt:lpstr>Image</vt:lpstr>
      <vt:lpstr>Image</vt:lpstr>
      <vt:lpstr>Image</vt:lpstr>
      <vt:lpstr>Image</vt:lpstr>
      <vt:lpstr>PowerPoint Presentation</vt:lpstr>
      <vt:lpstr>PowerPoint Presentation</vt:lpstr>
      <vt:lpstr>Image</vt:lpstr>
      <vt:lpstr>Image</vt:lpstr>
      <vt:lpstr>PowerPoint Presentation</vt:lpstr>
      <vt:lpstr>PowerPoint Presentation</vt:lpstr>
      <vt:lpstr>PowerPoint Presentation</vt:lpstr>
      <vt:lpstr>PowerPoint Presentation</vt:lpstr>
      <vt:lpstr>PowerPoint Presentation</vt:lpstr>
      <vt:lpstr>PowerPoint Presentation</vt:lpstr>
      <vt:lpstr>Audio</vt:lpstr>
      <vt:lpstr>Audio</vt:lpstr>
      <vt:lpstr>Audio</vt:lpstr>
      <vt:lpstr>Audio</vt:lpstr>
      <vt:lpstr>Audio</vt:lpstr>
      <vt:lpstr>PowerPoint Presentation</vt:lpstr>
      <vt:lpstr>PowerPoint Presentation</vt:lpstr>
      <vt:lpstr>PowerPoint Presentation</vt:lpstr>
      <vt:lpstr>PowerPoint Presentation</vt:lpstr>
      <vt:lpstr>Video</vt:lpstr>
      <vt:lpstr>Video</vt:lpstr>
      <vt:lpstr>Video</vt:lpstr>
      <vt:lpstr>Video</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 Data Representation</dc:title>
  <dc:creator>iClass</dc:creator>
  <cp:lastModifiedBy>Steve</cp:lastModifiedBy>
  <cp:revision>97</cp:revision>
  <dcterms:created xsi:type="dcterms:W3CDTF">2022-08-15T01:04:01Z</dcterms:created>
  <dcterms:modified xsi:type="dcterms:W3CDTF">2024-01-05T04:45:53Z</dcterms:modified>
</cp:coreProperties>
</file>