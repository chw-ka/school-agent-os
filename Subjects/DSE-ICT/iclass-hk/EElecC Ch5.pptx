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91" r:id="rId32"/>
    <p:sldId id="287" r:id="rId33"/>
    <p:sldId id="292" r:id="rId34"/>
    <p:sldId id="288" r:id="rId35"/>
    <p:sldId id="289" r:id="rId36"/>
    <p:sldId id="290"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6" r:id="rId50"/>
    <p:sldId id="305"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56"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57" r:id="rId78"/>
    <p:sldId id="358" r:id="rId79"/>
    <p:sldId id="359" r:id="rId80"/>
    <p:sldId id="332" r:id="rId81"/>
    <p:sldId id="360" r:id="rId82"/>
    <p:sldId id="361" r:id="rId83"/>
    <p:sldId id="333" r:id="rId84"/>
    <p:sldId id="334" r:id="rId85"/>
    <p:sldId id="335" r:id="rId86"/>
    <p:sldId id="336" r:id="rId87"/>
    <p:sldId id="337" r:id="rId88"/>
    <p:sldId id="339" r:id="rId89"/>
    <p:sldId id="340" r:id="rId90"/>
    <p:sldId id="341" r:id="rId91"/>
    <p:sldId id="342" r:id="rId92"/>
    <p:sldId id="343" r:id="rId93"/>
    <p:sldId id="344" r:id="rId94"/>
    <p:sldId id="345" r:id="rId95"/>
    <p:sldId id="346" r:id="rId96"/>
    <p:sldId id="347" r:id="rId97"/>
    <p:sldId id="348" r:id="rId98"/>
    <p:sldId id="362" r:id="rId99"/>
    <p:sldId id="363" r:id="rId100"/>
    <p:sldId id="364" r:id="rId101"/>
    <p:sldId id="365" r:id="rId102"/>
    <p:sldId id="367" r:id="rId103"/>
    <p:sldId id="368" r:id="rId104"/>
    <p:sldId id="369" r:id="rId105"/>
    <p:sldId id="370" r:id="rId106"/>
    <p:sldId id="349" r:id="rId107"/>
    <p:sldId id="350" r:id="rId108"/>
    <p:sldId id="351" r:id="rId109"/>
    <p:sldId id="352" r:id="rId110"/>
    <p:sldId id="353" r:id="rId111"/>
    <p:sldId id="371" r:id="rId112"/>
    <p:sldId id="372" r:id="rId113"/>
    <p:sldId id="373" r:id="rId114"/>
    <p:sldId id="374" r:id="rId115"/>
    <p:sldId id="375" r:id="rId116"/>
    <p:sldId id="354" r:id="rId1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A3D4"/>
    <a:srgbClr val="4D4F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7" d="100"/>
          <a:sy n="77" d="100"/>
        </p:scale>
        <p:origin x="642" y="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3" name="Picture 2">
            <a:extLst>
              <a:ext uri="{FF2B5EF4-FFF2-40B4-BE49-F238E27FC236}">
                <a16:creationId xmlns:a16="http://schemas.microsoft.com/office/drawing/2014/main" id="{BF7CD102-4498-ACB1-C72C-8082CD03250A}"/>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5" name="Picture 4">
            <a:extLst>
              <a:ext uri="{FF2B5EF4-FFF2-40B4-BE49-F238E27FC236}">
                <a16:creationId xmlns:a16="http://schemas.microsoft.com/office/drawing/2014/main" id="{154FA34B-69E2-DB1D-D9D7-52FE3BD9BD06}"/>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5/29/2023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5/29/2023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9.xml"/><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9.xml"/><Relationship Id="rId4" Type="http://schemas.openxmlformats.org/officeDocument/2006/relationships/image" Target="../media/image106.png"/></Relationships>
</file>

<file path=ppt/slides/_rels/slide7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5</a:t>
            </a:r>
            <a:br>
              <a:rPr lang="en-US" dirty="0" smtClean="0"/>
            </a:br>
            <a:r>
              <a:rPr lang="en-US" dirty="0" smtClean="0"/>
              <a:t>Data Structures</a:t>
            </a:r>
            <a:endParaRPr lang="en-US" dirty="0"/>
          </a:p>
        </p:txBody>
      </p:sp>
    </p:spTree>
    <p:extLst>
      <p:ext uri="{BB962C8B-B14F-4D97-AF65-F5344CB8AC3E}">
        <p14:creationId xmlns:p14="http://schemas.microsoft.com/office/powerpoint/2010/main" val="3552015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a:t>
            </a:fld>
            <a:endParaRPr lang="en-US" dirty="0"/>
          </a:p>
        </p:txBody>
      </p:sp>
      <p:sp>
        <p:nvSpPr>
          <p:cNvPr id="4" name="Text Placeholder 3"/>
          <p:cNvSpPr>
            <a:spLocks noGrp="1"/>
          </p:cNvSpPr>
          <p:nvPr>
            <p:ph type="body" sz="quarter" idx="14"/>
          </p:nvPr>
        </p:nvSpPr>
        <p:spPr/>
        <p:txBody>
          <a:bodyPr/>
          <a:lstStyle/>
          <a:p>
            <a:r>
              <a:rPr lang="en-US" dirty="0" smtClean="0"/>
              <a:t>5.1</a:t>
            </a:r>
            <a:endParaRPr lang="en-US" dirty="0"/>
          </a:p>
        </p:txBody>
      </p:sp>
      <p:sp>
        <p:nvSpPr>
          <p:cNvPr id="5" name="Content Placeholder 4"/>
          <p:cNvSpPr>
            <a:spLocks noGrp="1"/>
          </p:cNvSpPr>
          <p:nvPr>
            <p:ph sz="quarter" idx="15"/>
          </p:nvPr>
        </p:nvSpPr>
        <p:spPr/>
        <p:txBody>
          <a:bodyPr/>
          <a:lstStyle/>
          <a:p>
            <a:r>
              <a:rPr lang="en-US" dirty="0"/>
              <a:t>When writing programs, we usually use variables to store data. </a:t>
            </a:r>
            <a:endParaRPr lang="en-US" dirty="0" smtClean="0"/>
          </a:p>
          <a:p>
            <a:endParaRPr lang="en-US" dirty="0"/>
          </a:p>
          <a:p>
            <a:r>
              <a:rPr lang="en-US" dirty="0" smtClean="0"/>
              <a:t>However</a:t>
            </a:r>
            <a:r>
              <a:rPr lang="en-US" dirty="0"/>
              <a:t>, when it comes to storing a lot of related data items, we will use data structures to </a:t>
            </a:r>
            <a:r>
              <a:rPr lang="en-US" dirty="0" err="1"/>
              <a:t>organise</a:t>
            </a:r>
            <a:r>
              <a:rPr lang="en-US" dirty="0"/>
              <a:t> the data.</a:t>
            </a:r>
          </a:p>
        </p:txBody>
      </p:sp>
    </p:spTree>
    <p:extLst>
      <p:ext uri="{BB962C8B-B14F-4D97-AF65-F5344CB8AC3E}">
        <p14:creationId xmlns:p14="http://schemas.microsoft.com/office/powerpoint/2010/main" val="4199616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US" dirty="0" smtClean="0"/>
              <a:t>5.1</a:t>
            </a:r>
            <a:endParaRPr lang="en-US" dirty="0"/>
          </a:p>
        </p:txBody>
      </p:sp>
      <p:sp>
        <p:nvSpPr>
          <p:cNvPr id="5" name="Content Placeholder 4"/>
          <p:cNvSpPr>
            <a:spLocks noGrp="1"/>
          </p:cNvSpPr>
          <p:nvPr>
            <p:ph sz="quarter" idx="15"/>
          </p:nvPr>
        </p:nvSpPr>
        <p:spPr/>
        <p:txBody>
          <a:bodyPr/>
          <a:lstStyle/>
          <a:p>
            <a:r>
              <a:rPr lang="en-US" dirty="0"/>
              <a:t>Data is stored in computer memory cells arranged in a row. Each computer memory location stores only one piece of data. </a:t>
            </a:r>
            <a:endParaRPr lang="en-US" dirty="0" smtClean="0"/>
          </a:p>
          <a:p>
            <a:endParaRPr lang="en-US" dirty="0" smtClean="0"/>
          </a:p>
          <a:p>
            <a:r>
              <a:rPr lang="en-US" b="1" dirty="0" smtClean="0">
                <a:solidFill>
                  <a:srgbClr val="4D4FA0"/>
                </a:solidFill>
              </a:rPr>
              <a:t>Data </a:t>
            </a:r>
            <a:r>
              <a:rPr lang="en-US" b="1" dirty="0">
                <a:solidFill>
                  <a:srgbClr val="4D4FA0"/>
                </a:solidFill>
              </a:rPr>
              <a:t>structures</a:t>
            </a:r>
            <a:r>
              <a:rPr lang="en-US" dirty="0"/>
              <a:t> refer to the methods of storing and </a:t>
            </a:r>
            <a:r>
              <a:rPr lang="en-US" dirty="0" err="1"/>
              <a:t>organising</a:t>
            </a:r>
            <a:r>
              <a:rPr lang="en-US" dirty="0"/>
              <a:t> data in the computer memory. They determine the sequences and locations of data items in the computer memory.</a:t>
            </a:r>
          </a:p>
        </p:txBody>
      </p:sp>
      <p:pic>
        <p:nvPicPr>
          <p:cNvPr id="7" name="Picture 6"/>
          <p:cNvPicPr>
            <a:picLocks noChangeAspect="1"/>
          </p:cNvPicPr>
          <p:nvPr/>
        </p:nvPicPr>
        <p:blipFill>
          <a:blip r:embed="rId2"/>
          <a:stretch>
            <a:fillRect/>
          </a:stretch>
        </p:blipFill>
        <p:spPr>
          <a:xfrm>
            <a:off x="4101475" y="3859370"/>
            <a:ext cx="3754053" cy="2567001"/>
          </a:xfrm>
          <a:prstGeom prst="rect">
            <a:avLst/>
          </a:prstGeom>
        </p:spPr>
      </p:pic>
    </p:spTree>
    <p:extLst>
      <p:ext uri="{BB962C8B-B14F-4D97-AF65-F5344CB8AC3E}">
        <p14:creationId xmlns:p14="http://schemas.microsoft.com/office/powerpoint/2010/main" val="22322334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As mentioned in Module D of the Compulsory Part, an </a:t>
            </a:r>
            <a:r>
              <a:rPr lang="en-US" b="1" dirty="0">
                <a:solidFill>
                  <a:srgbClr val="4D4FA0"/>
                </a:solidFill>
              </a:rPr>
              <a:t>array</a:t>
            </a:r>
            <a:r>
              <a:rPr lang="en-US" dirty="0"/>
              <a:t> is a simple linear data structure that stores a set of data sequentially in a continuous computer memory. </a:t>
            </a:r>
            <a:endParaRPr lang="en-US" dirty="0" smtClean="0"/>
          </a:p>
          <a:p>
            <a:endParaRPr lang="en-US" dirty="0"/>
          </a:p>
          <a:p>
            <a:endParaRPr lang="en-US" dirty="0" smtClean="0"/>
          </a:p>
          <a:p>
            <a:r>
              <a:rPr lang="en-US" dirty="0" smtClean="0"/>
              <a:t>The </a:t>
            </a:r>
            <a:r>
              <a:rPr lang="en-US" dirty="0"/>
              <a:t>following diagram shows an array that arranges data items in a row:</a:t>
            </a:r>
          </a:p>
        </p:txBody>
      </p:sp>
      <p:pic>
        <p:nvPicPr>
          <p:cNvPr id="6" name="Picture 5"/>
          <p:cNvPicPr>
            <a:picLocks noChangeAspect="1"/>
          </p:cNvPicPr>
          <p:nvPr/>
        </p:nvPicPr>
        <p:blipFill>
          <a:blip r:embed="rId2"/>
          <a:stretch>
            <a:fillRect/>
          </a:stretch>
        </p:blipFill>
        <p:spPr>
          <a:xfrm>
            <a:off x="1918800" y="4359322"/>
            <a:ext cx="8031186" cy="1188288"/>
          </a:xfrm>
          <a:prstGeom prst="rect">
            <a:avLst/>
          </a:prstGeom>
        </p:spPr>
      </p:pic>
    </p:spTree>
    <p:extLst>
      <p:ext uri="{BB962C8B-B14F-4D97-AF65-F5344CB8AC3E}">
        <p14:creationId xmlns:p14="http://schemas.microsoft.com/office/powerpoint/2010/main" val="42826267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4D4FA0"/>
                </a:solidFill>
              </a:rPr>
              <a:t>pointer</a:t>
            </a:r>
            <a:r>
              <a:rPr lang="en-US" dirty="0"/>
              <a:t> is a variable for storing computer memory address, which is usually the address of another </a:t>
            </a:r>
            <a:r>
              <a:rPr lang="en-US" dirty="0" smtClean="0"/>
              <a:t>variable. A </a:t>
            </a:r>
            <a:r>
              <a:rPr lang="en-US" dirty="0"/>
              <a:t>pointer can be compared to an arrow in that it points to a specific variable. </a:t>
            </a:r>
            <a:endParaRPr lang="en-US" b="1" dirty="0"/>
          </a:p>
        </p:txBody>
      </p:sp>
      <p:pic>
        <p:nvPicPr>
          <p:cNvPr id="9" name="Picture 8"/>
          <p:cNvPicPr>
            <a:picLocks noChangeAspect="1"/>
          </p:cNvPicPr>
          <p:nvPr/>
        </p:nvPicPr>
        <p:blipFill>
          <a:blip r:embed="rId2"/>
          <a:stretch>
            <a:fillRect/>
          </a:stretch>
        </p:blipFill>
        <p:spPr>
          <a:xfrm>
            <a:off x="2142318" y="2730423"/>
            <a:ext cx="7537183" cy="3558777"/>
          </a:xfrm>
          <a:prstGeom prst="rect">
            <a:avLst/>
          </a:prstGeom>
        </p:spPr>
      </p:pic>
    </p:spTree>
    <p:extLst>
      <p:ext uri="{BB962C8B-B14F-4D97-AF65-F5344CB8AC3E}">
        <p14:creationId xmlns:p14="http://schemas.microsoft.com/office/powerpoint/2010/main" val="37776728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Data structures have different methods of data </a:t>
            </a:r>
            <a:r>
              <a:rPr lang="en-US" dirty="0" err="1"/>
              <a:t>organisation</a:t>
            </a:r>
            <a:r>
              <a:rPr lang="en-US" dirty="0"/>
              <a:t> as well as ways of manipulation. </a:t>
            </a:r>
            <a:endParaRPr lang="en-US" dirty="0" smtClean="0"/>
          </a:p>
          <a:p>
            <a:r>
              <a:rPr lang="en-US" dirty="0"/>
              <a:t/>
            </a:r>
            <a:br>
              <a:rPr lang="en-US" dirty="0"/>
            </a:br>
            <a:endParaRPr lang="en-US" dirty="0"/>
          </a:p>
          <a:p>
            <a:r>
              <a:rPr lang="en-US" dirty="0" smtClean="0"/>
              <a:t>This </a:t>
            </a:r>
            <a:r>
              <a:rPr lang="en-US" dirty="0"/>
              <a:t>chapter will explain three common </a:t>
            </a:r>
            <a:r>
              <a:rPr lang="en-US" dirty="0" smtClean="0"/>
              <a:t>data </a:t>
            </a:r>
            <a:r>
              <a:rPr lang="en-US" dirty="0"/>
              <a:t>structures individually and they will be represented using arrays and </a:t>
            </a:r>
            <a:r>
              <a:rPr lang="en-US" dirty="0" smtClean="0"/>
              <a:t>pointers:</a:t>
            </a:r>
          </a:p>
          <a:p>
            <a:endParaRPr lang="en-US" dirty="0"/>
          </a:p>
          <a:p>
            <a:pPr marL="342900" indent="-342900">
              <a:buFont typeface="Arial" panose="020B0604020202020204" pitchFamily="34" charset="0"/>
              <a:buChar char="•"/>
            </a:pPr>
            <a:r>
              <a:rPr lang="en-US" dirty="0" smtClean="0"/>
              <a:t>stack </a:t>
            </a:r>
            <a:r>
              <a:rPr lang="en-US" dirty="0"/>
              <a:t>(</a:t>
            </a:r>
            <a:r>
              <a:rPr lang="zh-TW" altLang="en-US" dirty="0">
                <a:latin typeface="+mj-lt"/>
              </a:rPr>
              <a:t>堆疊</a:t>
            </a:r>
            <a:r>
              <a:rPr lang="en-US" altLang="zh-TW" dirty="0"/>
              <a:t>)</a:t>
            </a:r>
          </a:p>
          <a:p>
            <a:pPr marL="342900" indent="-342900">
              <a:buFont typeface="Arial" panose="020B0604020202020204" pitchFamily="34" charset="0"/>
              <a:buChar char="•"/>
            </a:pPr>
            <a:r>
              <a:rPr lang="en-US" dirty="0" smtClean="0"/>
              <a:t>queue </a:t>
            </a:r>
            <a:r>
              <a:rPr lang="en-US" dirty="0"/>
              <a:t>(</a:t>
            </a:r>
            <a:r>
              <a:rPr lang="zh-TW" altLang="en-US" dirty="0"/>
              <a:t>隊列</a:t>
            </a:r>
            <a:r>
              <a:rPr lang="en-US" altLang="zh-TW" dirty="0"/>
              <a:t>)</a:t>
            </a:r>
          </a:p>
          <a:p>
            <a:pPr marL="342900" indent="-342900">
              <a:buFont typeface="Arial" panose="020B0604020202020204" pitchFamily="34" charset="0"/>
              <a:buChar char="•"/>
            </a:pPr>
            <a:r>
              <a:rPr lang="en-US" dirty="0" smtClean="0"/>
              <a:t>linked </a:t>
            </a:r>
            <a:r>
              <a:rPr lang="en-US" dirty="0"/>
              <a:t>list (</a:t>
            </a:r>
            <a:r>
              <a:rPr lang="zh-TW" altLang="en-US" dirty="0"/>
              <a:t>鏈表</a:t>
            </a:r>
            <a:r>
              <a:rPr lang="en-US" altLang="zh-TW" dirty="0"/>
              <a:t>)</a:t>
            </a:r>
            <a:endParaRPr lang="en-US" dirty="0"/>
          </a:p>
        </p:txBody>
      </p:sp>
    </p:spTree>
    <p:extLst>
      <p:ext uri="{BB962C8B-B14F-4D97-AF65-F5344CB8AC3E}">
        <p14:creationId xmlns:p14="http://schemas.microsoft.com/office/powerpoint/2010/main" val="1744309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Stacks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US" dirty="0" smtClean="0"/>
              <a:t>5.2</a:t>
            </a:r>
            <a:endParaRPr lang="en-US" dirty="0"/>
          </a:p>
        </p:txBody>
      </p:sp>
      <p:sp>
        <p:nvSpPr>
          <p:cNvPr id="5" name="Content Placeholder 4"/>
          <p:cNvSpPr>
            <a:spLocks noGrp="1"/>
          </p:cNvSpPr>
          <p:nvPr>
            <p:ph sz="quarter" idx="15"/>
          </p:nvPr>
        </p:nvSpPr>
        <p:spPr/>
        <p:txBody>
          <a:bodyPr/>
          <a:lstStyle/>
          <a:p>
            <a:r>
              <a:rPr lang="en-US" dirty="0"/>
              <a:t>Imagine that you are a librarian. You need to take books from a bookshelf and put them onto another bookshelf. </a:t>
            </a:r>
            <a:br>
              <a:rPr lang="en-US" dirty="0"/>
            </a:br>
            <a:endParaRPr lang="en-US" dirty="0" smtClean="0"/>
          </a:p>
          <a:p>
            <a:r>
              <a:rPr lang="en-US" dirty="0" smtClean="0"/>
              <a:t>While </a:t>
            </a:r>
            <a:r>
              <a:rPr lang="en-US" dirty="0"/>
              <a:t>you are taking out the books, they are stacked up and the first one you have taken out becomes the bottom of the stack. </a:t>
            </a:r>
            <a:endParaRPr lang="en-US" dirty="0" smtClean="0"/>
          </a:p>
          <a:p>
            <a:endParaRPr lang="en-US" dirty="0"/>
          </a:p>
          <a:p>
            <a:endParaRPr lang="en-US" dirty="0" smtClean="0"/>
          </a:p>
        </p:txBody>
      </p:sp>
      <p:pic>
        <p:nvPicPr>
          <p:cNvPr id="7" name="Picture 6"/>
          <p:cNvPicPr>
            <a:picLocks noChangeAspect="1"/>
          </p:cNvPicPr>
          <p:nvPr/>
        </p:nvPicPr>
        <p:blipFill>
          <a:blip r:embed="rId2"/>
          <a:stretch>
            <a:fillRect/>
          </a:stretch>
        </p:blipFill>
        <p:spPr>
          <a:xfrm>
            <a:off x="4105707" y="3724922"/>
            <a:ext cx="3981786" cy="2666116"/>
          </a:xfrm>
          <a:prstGeom prst="rect">
            <a:avLst/>
          </a:prstGeom>
        </p:spPr>
      </p:pic>
    </p:spTree>
    <p:extLst>
      <p:ext uri="{BB962C8B-B14F-4D97-AF65-F5344CB8AC3E}">
        <p14:creationId xmlns:p14="http://schemas.microsoft.com/office/powerpoint/2010/main" val="20394063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stacks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While you are putting the books back onto the bookshelf, you pick up the one at the top of the stack, i.e. the last book you have taken out. </a:t>
            </a:r>
            <a:endParaRPr lang="en-US" dirty="0" smtClean="0"/>
          </a:p>
          <a:p>
            <a:endParaRPr lang="en-US" dirty="0"/>
          </a:p>
          <a:p>
            <a:r>
              <a:rPr lang="en-US" dirty="0" smtClean="0"/>
              <a:t>This </a:t>
            </a:r>
            <a:r>
              <a:rPr lang="en-US" dirty="0"/>
              <a:t>mode of manipulation is called </a:t>
            </a:r>
            <a:r>
              <a:rPr lang="en-US" b="1" dirty="0">
                <a:solidFill>
                  <a:srgbClr val="4D4FA0"/>
                </a:solidFill>
              </a:rPr>
              <a:t>Last-In First-Out (LIFO)</a:t>
            </a:r>
            <a:r>
              <a:rPr lang="en-US" dirty="0"/>
              <a:t>.</a:t>
            </a:r>
          </a:p>
          <a:p>
            <a:endParaRPr lang="en-US" dirty="0"/>
          </a:p>
        </p:txBody>
      </p:sp>
      <p:pic>
        <p:nvPicPr>
          <p:cNvPr id="6" name="Picture 5"/>
          <p:cNvPicPr>
            <a:picLocks noChangeAspect="1"/>
          </p:cNvPicPr>
          <p:nvPr/>
        </p:nvPicPr>
        <p:blipFill>
          <a:blip r:embed="rId2"/>
          <a:stretch>
            <a:fillRect/>
          </a:stretch>
        </p:blipFill>
        <p:spPr>
          <a:xfrm>
            <a:off x="3736157" y="3548632"/>
            <a:ext cx="4720886" cy="2927617"/>
          </a:xfrm>
          <a:prstGeom prst="rect">
            <a:avLst/>
          </a:prstGeom>
        </p:spPr>
      </p:pic>
    </p:spTree>
    <p:extLst>
      <p:ext uri="{BB962C8B-B14F-4D97-AF65-F5344CB8AC3E}">
        <p14:creationId xmlns:p14="http://schemas.microsoft.com/office/powerpoint/2010/main" val="3477067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stacks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 </a:t>
            </a:r>
            <a:r>
              <a:rPr lang="en-US" b="1" dirty="0" smtClean="0">
                <a:solidFill>
                  <a:srgbClr val="4D4FA0"/>
                </a:solidFill>
              </a:rPr>
              <a:t>stack</a:t>
            </a:r>
            <a:r>
              <a:rPr lang="en-US" dirty="0" smtClean="0"/>
              <a:t> </a:t>
            </a:r>
            <a:r>
              <a:rPr lang="en-US" dirty="0"/>
              <a:t>is a data structure that adopts the above mode of manipulation. </a:t>
            </a:r>
            <a:endParaRPr lang="en-US" dirty="0" smtClean="0"/>
          </a:p>
          <a:p>
            <a:endParaRPr lang="en-US" dirty="0"/>
          </a:p>
          <a:p>
            <a:pPr marL="342900" indent="-342900">
              <a:buFont typeface="Arial" panose="020B0604020202020204" pitchFamily="34" charset="0"/>
              <a:buChar char="•"/>
            </a:pPr>
            <a:r>
              <a:rPr lang="en-US" dirty="0" smtClean="0"/>
              <a:t>When </a:t>
            </a:r>
            <a:r>
              <a:rPr lang="en-US" dirty="0"/>
              <a:t>you add (</a:t>
            </a:r>
            <a:r>
              <a:rPr lang="en-US" b="1" dirty="0">
                <a:solidFill>
                  <a:srgbClr val="4D4FA0"/>
                </a:solidFill>
              </a:rPr>
              <a:t>push</a:t>
            </a:r>
            <a:r>
              <a:rPr lang="en-US" dirty="0"/>
              <a:t>) a data item into a stack, </a:t>
            </a:r>
            <a:r>
              <a:rPr lang="en-US" dirty="0" smtClean="0"/>
              <a:t/>
            </a:r>
            <a:br>
              <a:rPr lang="en-US" dirty="0" smtClean="0"/>
            </a:br>
            <a:r>
              <a:rPr lang="en-US" dirty="0" smtClean="0"/>
              <a:t>the </a:t>
            </a:r>
            <a:r>
              <a:rPr lang="en-US" dirty="0"/>
              <a:t>item will be added to the top of the </a:t>
            </a:r>
            <a:r>
              <a:rPr lang="en-US" dirty="0" smtClean="0"/>
              <a:t>stack</a:t>
            </a:r>
            <a:r>
              <a:rPr lang="en-US" dirty="0"/>
              <a:t>.</a:t>
            </a:r>
            <a:endParaRPr lang="en-US" dirty="0" smtClean="0"/>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smtClean="0"/>
              <a:t>when </a:t>
            </a:r>
            <a:r>
              <a:rPr lang="en-US" dirty="0"/>
              <a:t>you remove (</a:t>
            </a:r>
            <a:r>
              <a:rPr lang="en-US" b="1" dirty="0">
                <a:solidFill>
                  <a:srgbClr val="4D4FA0"/>
                </a:solidFill>
              </a:rPr>
              <a:t>pop</a:t>
            </a:r>
            <a:r>
              <a:rPr lang="en-US" dirty="0"/>
              <a:t>) a data item from a stack, </a:t>
            </a:r>
            <a:r>
              <a:rPr lang="en-US" dirty="0" smtClean="0"/>
              <a:t/>
            </a:r>
            <a:br>
              <a:rPr lang="en-US" dirty="0" smtClean="0"/>
            </a:br>
            <a:r>
              <a:rPr lang="en-US" dirty="0" smtClean="0"/>
              <a:t>the </a:t>
            </a:r>
            <a:r>
              <a:rPr lang="en-US" dirty="0"/>
              <a:t>removed item will be the one at the top of the </a:t>
            </a:r>
            <a:r>
              <a:rPr lang="en-US" dirty="0" smtClean="0"/>
              <a:t>stack.</a:t>
            </a:r>
            <a:endParaRPr lang="en-US" dirty="0"/>
          </a:p>
        </p:txBody>
      </p:sp>
      <p:pic>
        <p:nvPicPr>
          <p:cNvPr id="8" name="Picture 7"/>
          <p:cNvPicPr>
            <a:picLocks noChangeAspect="1"/>
          </p:cNvPicPr>
          <p:nvPr/>
        </p:nvPicPr>
        <p:blipFill>
          <a:blip r:embed="rId2"/>
          <a:stretch>
            <a:fillRect/>
          </a:stretch>
        </p:blipFill>
        <p:spPr>
          <a:xfrm>
            <a:off x="7518111" y="2292069"/>
            <a:ext cx="2847859" cy="1933030"/>
          </a:xfrm>
          <a:prstGeom prst="rect">
            <a:avLst/>
          </a:prstGeom>
        </p:spPr>
      </p:pic>
      <p:pic>
        <p:nvPicPr>
          <p:cNvPr id="9" name="Picture 8"/>
          <p:cNvPicPr>
            <a:picLocks noChangeAspect="1"/>
          </p:cNvPicPr>
          <p:nvPr/>
        </p:nvPicPr>
        <p:blipFill>
          <a:blip r:embed="rId3"/>
          <a:stretch>
            <a:fillRect/>
          </a:stretch>
        </p:blipFill>
        <p:spPr>
          <a:xfrm>
            <a:off x="8091690" y="4316539"/>
            <a:ext cx="2964237" cy="1972661"/>
          </a:xfrm>
          <a:prstGeom prst="rect">
            <a:avLst/>
          </a:prstGeom>
        </p:spPr>
      </p:pic>
    </p:spTree>
    <p:extLst>
      <p:ext uri="{BB962C8B-B14F-4D97-AF65-F5344CB8AC3E}">
        <p14:creationId xmlns:p14="http://schemas.microsoft.com/office/powerpoint/2010/main" val="690075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The “undo” (</a:t>
            </a:r>
            <a:r>
              <a:rPr lang="zh-TW" altLang="en-US" dirty="0"/>
              <a:t>復原</a:t>
            </a:r>
            <a:r>
              <a:rPr lang="en-US" altLang="zh-TW" dirty="0"/>
              <a:t>) </a:t>
            </a:r>
            <a:r>
              <a:rPr lang="en-US" dirty="0"/>
              <a:t>and “redo” (</a:t>
            </a:r>
            <a:r>
              <a:rPr lang="zh-TW" altLang="en-US" dirty="0"/>
              <a:t>取消復原</a:t>
            </a:r>
            <a:r>
              <a:rPr lang="en-US" altLang="zh-TW" dirty="0"/>
              <a:t>) </a:t>
            </a:r>
            <a:r>
              <a:rPr lang="en-US" dirty="0"/>
              <a:t>operations that we frequently perform make use of the stack data structure. </a:t>
            </a:r>
            <a:endParaRPr lang="en-US" dirty="0" smtClean="0"/>
          </a:p>
          <a:p>
            <a:endParaRPr lang="en-US" dirty="0"/>
          </a:p>
        </p:txBody>
      </p:sp>
      <p:pic>
        <p:nvPicPr>
          <p:cNvPr id="6" name="Picture 5"/>
          <p:cNvPicPr>
            <a:picLocks noChangeAspect="1"/>
          </p:cNvPicPr>
          <p:nvPr/>
        </p:nvPicPr>
        <p:blipFill>
          <a:blip r:embed="rId2"/>
          <a:stretch>
            <a:fillRect/>
          </a:stretch>
        </p:blipFill>
        <p:spPr>
          <a:xfrm>
            <a:off x="4267544" y="3140656"/>
            <a:ext cx="3658111" cy="2438740"/>
          </a:xfrm>
          <a:prstGeom prst="rect">
            <a:avLst/>
          </a:prstGeom>
        </p:spPr>
      </p:pic>
    </p:spTree>
    <p:extLst>
      <p:ext uri="{BB962C8B-B14F-4D97-AF65-F5344CB8AC3E}">
        <p14:creationId xmlns:p14="http://schemas.microsoft.com/office/powerpoint/2010/main" val="17446530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Suppose that we are using a drawing software</a:t>
            </a:r>
            <a:r>
              <a:rPr lang="en-US" dirty="0" smtClean="0"/>
              <a:t>:</a:t>
            </a:r>
          </a:p>
          <a:p>
            <a:endParaRPr lang="en-US" dirty="0"/>
          </a:p>
          <a:p>
            <a:r>
              <a:rPr lang="en-US" dirty="0"/>
              <a:t>1. When we perform an operation, it will be added to the undo stack.</a:t>
            </a:r>
          </a:p>
        </p:txBody>
      </p:sp>
      <p:pic>
        <p:nvPicPr>
          <p:cNvPr id="6" name="Picture 5"/>
          <p:cNvPicPr>
            <a:picLocks noChangeAspect="1"/>
          </p:cNvPicPr>
          <p:nvPr/>
        </p:nvPicPr>
        <p:blipFill>
          <a:blip r:embed="rId2"/>
          <a:stretch>
            <a:fillRect/>
          </a:stretch>
        </p:blipFill>
        <p:spPr>
          <a:xfrm>
            <a:off x="2660366" y="3427321"/>
            <a:ext cx="6872468" cy="2341005"/>
          </a:xfrm>
          <a:prstGeom prst="rect">
            <a:avLst/>
          </a:prstGeom>
        </p:spPr>
      </p:pic>
    </p:spTree>
    <p:extLst>
      <p:ext uri="{BB962C8B-B14F-4D97-AF65-F5344CB8AC3E}">
        <p14:creationId xmlns:p14="http://schemas.microsoft.com/office/powerpoint/2010/main" val="5206422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2. When we perform another operation, it will be added on top of the previous operation.</a:t>
            </a:r>
          </a:p>
        </p:txBody>
      </p:sp>
      <p:pic>
        <p:nvPicPr>
          <p:cNvPr id="6" name="Picture 5"/>
          <p:cNvPicPr>
            <a:picLocks noChangeAspect="1"/>
          </p:cNvPicPr>
          <p:nvPr/>
        </p:nvPicPr>
        <p:blipFill>
          <a:blip r:embed="rId2"/>
          <a:stretch>
            <a:fillRect/>
          </a:stretch>
        </p:blipFill>
        <p:spPr>
          <a:xfrm>
            <a:off x="2503729" y="2703913"/>
            <a:ext cx="7185742" cy="2504974"/>
          </a:xfrm>
          <a:prstGeom prst="rect">
            <a:avLst/>
          </a:prstGeom>
        </p:spPr>
      </p:pic>
    </p:spTree>
    <p:extLst>
      <p:ext uri="{BB962C8B-B14F-4D97-AF65-F5344CB8AC3E}">
        <p14:creationId xmlns:p14="http://schemas.microsoft.com/office/powerpoint/2010/main" val="21991050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3. If we press the “undo” button, the program will follow the last-in first-out mode of manipulation, which means taking our last operation from the undo stack and put it into the redo stack.</a:t>
            </a:r>
          </a:p>
        </p:txBody>
      </p:sp>
      <p:pic>
        <p:nvPicPr>
          <p:cNvPr id="6" name="Picture 5"/>
          <p:cNvPicPr>
            <a:picLocks noChangeAspect="1"/>
          </p:cNvPicPr>
          <p:nvPr/>
        </p:nvPicPr>
        <p:blipFill>
          <a:blip r:embed="rId2"/>
          <a:stretch>
            <a:fillRect/>
          </a:stretch>
        </p:blipFill>
        <p:spPr>
          <a:xfrm>
            <a:off x="2821579" y="2594879"/>
            <a:ext cx="6550042" cy="3142589"/>
          </a:xfrm>
          <a:prstGeom prst="rect">
            <a:avLst/>
          </a:prstGeom>
        </p:spPr>
      </p:pic>
    </p:spTree>
    <p:extLst>
      <p:ext uri="{BB962C8B-B14F-4D97-AF65-F5344CB8AC3E}">
        <p14:creationId xmlns:p14="http://schemas.microsoft.com/office/powerpoint/2010/main" val="41492222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4. If we press the “redo” button, the program will pop the last operation that we have undone from the redo stack and put it back into the undo stack.</a:t>
            </a:r>
          </a:p>
        </p:txBody>
      </p:sp>
      <p:pic>
        <p:nvPicPr>
          <p:cNvPr id="6" name="Picture 5"/>
          <p:cNvPicPr>
            <a:picLocks noChangeAspect="1"/>
          </p:cNvPicPr>
          <p:nvPr/>
        </p:nvPicPr>
        <p:blipFill>
          <a:blip r:embed="rId2"/>
          <a:stretch>
            <a:fillRect/>
          </a:stretch>
        </p:blipFill>
        <p:spPr>
          <a:xfrm>
            <a:off x="2791341" y="2684030"/>
            <a:ext cx="6610518" cy="2746470"/>
          </a:xfrm>
          <a:prstGeom prst="rect">
            <a:avLst/>
          </a:prstGeom>
        </p:spPr>
      </p:pic>
    </p:spTree>
    <p:extLst>
      <p:ext uri="{BB962C8B-B14F-4D97-AF65-F5344CB8AC3E}">
        <p14:creationId xmlns:p14="http://schemas.microsoft.com/office/powerpoint/2010/main" val="39701552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5. When we perform the next operation, the program will clear the redo stack.</a:t>
            </a:r>
          </a:p>
        </p:txBody>
      </p:sp>
      <p:pic>
        <p:nvPicPr>
          <p:cNvPr id="6" name="Picture 5"/>
          <p:cNvPicPr>
            <a:picLocks noChangeAspect="1"/>
          </p:cNvPicPr>
          <p:nvPr/>
        </p:nvPicPr>
        <p:blipFill>
          <a:blip r:embed="rId2"/>
          <a:stretch>
            <a:fillRect/>
          </a:stretch>
        </p:blipFill>
        <p:spPr>
          <a:xfrm>
            <a:off x="2553319" y="2869200"/>
            <a:ext cx="7086561" cy="2440405"/>
          </a:xfrm>
          <a:prstGeom prst="rect">
            <a:avLst/>
          </a:prstGeom>
        </p:spPr>
      </p:pic>
    </p:spTree>
    <p:extLst>
      <p:ext uri="{BB962C8B-B14F-4D97-AF65-F5344CB8AC3E}">
        <p14:creationId xmlns:p14="http://schemas.microsoft.com/office/powerpoint/2010/main" val="1523447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Moreover, we need to use stacks when a program calls its sub-program. Call stack (</a:t>
            </a:r>
            <a:r>
              <a:rPr lang="zh-TW" altLang="en-US" dirty="0"/>
              <a:t>調用堆疊</a:t>
            </a:r>
            <a:r>
              <a:rPr lang="en-US" altLang="zh-TW" dirty="0"/>
              <a:t>) </a:t>
            </a:r>
            <a:r>
              <a:rPr lang="en-US" dirty="0"/>
              <a:t>is a stack stored in RAM and used to coordinate sub-programs</a:t>
            </a:r>
            <a:r>
              <a:rPr lang="en-US" dirty="0" smtClean="0"/>
              <a:t>.</a:t>
            </a:r>
          </a:p>
          <a:p>
            <a:endParaRPr lang="en-US" dirty="0" smtClean="0"/>
          </a:p>
          <a:p>
            <a:endParaRPr lang="en-US" dirty="0"/>
          </a:p>
          <a:p>
            <a:endParaRPr lang="en-US" dirty="0" smtClean="0"/>
          </a:p>
          <a:p>
            <a:endParaRPr lang="en-US" dirty="0"/>
          </a:p>
        </p:txBody>
      </p:sp>
      <p:pic>
        <p:nvPicPr>
          <p:cNvPr id="8" name="Picture 7"/>
          <p:cNvPicPr>
            <a:picLocks noChangeAspect="1"/>
          </p:cNvPicPr>
          <p:nvPr/>
        </p:nvPicPr>
        <p:blipFill>
          <a:blip r:embed="rId2"/>
          <a:stretch>
            <a:fillRect/>
          </a:stretch>
        </p:blipFill>
        <p:spPr>
          <a:xfrm>
            <a:off x="3852761" y="2490701"/>
            <a:ext cx="3587130" cy="3941902"/>
          </a:xfrm>
          <a:prstGeom prst="rect">
            <a:avLst/>
          </a:prstGeom>
        </p:spPr>
      </p:pic>
    </p:spTree>
    <p:extLst>
      <p:ext uri="{BB962C8B-B14F-4D97-AF65-F5344CB8AC3E}">
        <p14:creationId xmlns:p14="http://schemas.microsoft.com/office/powerpoint/2010/main" val="30370851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When we call a sub-program, its stack frame, which stores information such as return address, will be pushed into the call stack.</a:t>
            </a:r>
          </a:p>
        </p:txBody>
      </p:sp>
      <p:pic>
        <p:nvPicPr>
          <p:cNvPr id="6" name="Picture 5"/>
          <p:cNvPicPr>
            <a:picLocks noChangeAspect="1"/>
          </p:cNvPicPr>
          <p:nvPr/>
        </p:nvPicPr>
        <p:blipFill>
          <a:blip r:embed="rId2"/>
          <a:stretch>
            <a:fillRect/>
          </a:stretch>
        </p:blipFill>
        <p:spPr>
          <a:xfrm>
            <a:off x="2973879" y="3362853"/>
            <a:ext cx="6660572" cy="2318141"/>
          </a:xfrm>
          <a:prstGeom prst="rect">
            <a:avLst/>
          </a:prstGeom>
        </p:spPr>
      </p:pic>
    </p:spTree>
    <p:extLst>
      <p:ext uri="{BB962C8B-B14F-4D97-AF65-F5344CB8AC3E}">
        <p14:creationId xmlns:p14="http://schemas.microsoft.com/office/powerpoint/2010/main" val="10718544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stacks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When the sub-program has been executed, its stack frame will be popped. The following is the operating principle of a call stack.</a:t>
            </a:r>
          </a:p>
        </p:txBody>
      </p:sp>
      <p:pic>
        <p:nvPicPr>
          <p:cNvPr id="9" name="Picture 8"/>
          <p:cNvPicPr>
            <a:picLocks noChangeAspect="1"/>
          </p:cNvPicPr>
          <p:nvPr/>
        </p:nvPicPr>
        <p:blipFill>
          <a:blip r:embed="rId2"/>
          <a:stretch>
            <a:fillRect/>
          </a:stretch>
        </p:blipFill>
        <p:spPr>
          <a:xfrm>
            <a:off x="3142973" y="3203136"/>
            <a:ext cx="6555390" cy="2554448"/>
          </a:xfrm>
          <a:prstGeom prst="rect">
            <a:avLst/>
          </a:prstGeom>
        </p:spPr>
      </p:pic>
    </p:spTree>
    <p:extLst>
      <p:ext uri="{BB962C8B-B14F-4D97-AF65-F5344CB8AC3E}">
        <p14:creationId xmlns:p14="http://schemas.microsoft.com/office/powerpoint/2010/main" val="33201110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We can use a Python list to store items in a stack and implement various stack manipulations. See the following basic stack manipulations:</a:t>
            </a:r>
          </a:p>
        </p:txBody>
      </p:sp>
      <p:pic>
        <p:nvPicPr>
          <p:cNvPr id="6" name="Picture 5"/>
          <p:cNvPicPr>
            <a:picLocks noChangeAspect="1"/>
          </p:cNvPicPr>
          <p:nvPr/>
        </p:nvPicPr>
        <p:blipFill>
          <a:blip r:embed="rId2"/>
          <a:stretch>
            <a:fillRect/>
          </a:stretch>
        </p:blipFill>
        <p:spPr>
          <a:xfrm>
            <a:off x="1054246" y="2889289"/>
            <a:ext cx="10084708" cy="2134221"/>
          </a:xfrm>
          <a:prstGeom prst="rect">
            <a:avLst/>
          </a:prstGeom>
        </p:spPr>
      </p:pic>
    </p:spTree>
    <p:extLst>
      <p:ext uri="{BB962C8B-B14F-4D97-AF65-F5344CB8AC3E}">
        <p14:creationId xmlns:p14="http://schemas.microsoft.com/office/powerpoint/2010/main" val="11503734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The following diagrams explain how to implement stack manipulations using a list:</a:t>
            </a:r>
          </a:p>
        </p:txBody>
      </p:sp>
      <p:pic>
        <p:nvPicPr>
          <p:cNvPr id="6" name="Picture 5"/>
          <p:cNvPicPr>
            <a:picLocks noChangeAspect="1"/>
          </p:cNvPicPr>
          <p:nvPr/>
        </p:nvPicPr>
        <p:blipFill>
          <a:blip r:embed="rId2"/>
          <a:stretch>
            <a:fillRect/>
          </a:stretch>
        </p:blipFill>
        <p:spPr>
          <a:xfrm>
            <a:off x="1165384" y="2163880"/>
            <a:ext cx="10010616" cy="4227158"/>
          </a:xfrm>
          <a:prstGeom prst="rect">
            <a:avLst/>
          </a:prstGeom>
        </p:spPr>
      </p:pic>
    </p:spTree>
    <p:extLst>
      <p:ext uri="{BB962C8B-B14F-4D97-AF65-F5344CB8AC3E}">
        <p14:creationId xmlns:p14="http://schemas.microsoft.com/office/powerpoint/2010/main" val="23826662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8" name="Picture 7"/>
          <p:cNvPicPr>
            <a:picLocks noChangeAspect="1"/>
          </p:cNvPicPr>
          <p:nvPr/>
        </p:nvPicPr>
        <p:blipFill>
          <a:blip r:embed="rId2"/>
          <a:stretch>
            <a:fillRect/>
          </a:stretch>
        </p:blipFill>
        <p:spPr>
          <a:xfrm>
            <a:off x="1386757" y="1622695"/>
            <a:ext cx="9581498" cy="4667410"/>
          </a:xfrm>
          <a:prstGeom prst="rect">
            <a:avLst/>
          </a:prstGeom>
        </p:spPr>
      </p:pic>
    </p:spTree>
    <p:extLst>
      <p:ext uri="{BB962C8B-B14F-4D97-AF65-F5344CB8AC3E}">
        <p14:creationId xmlns:p14="http://schemas.microsoft.com/office/powerpoint/2010/main" val="35186765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a:blip r:embed="rId2"/>
          <a:stretch>
            <a:fillRect/>
          </a:stretch>
        </p:blipFill>
        <p:spPr>
          <a:xfrm>
            <a:off x="1333439" y="1623600"/>
            <a:ext cx="9634816" cy="4683500"/>
          </a:xfrm>
          <a:prstGeom prst="rect">
            <a:avLst/>
          </a:prstGeom>
        </p:spPr>
      </p:pic>
    </p:spTree>
    <p:extLst>
      <p:ext uri="{BB962C8B-B14F-4D97-AF65-F5344CB8AC3E}">
        <p14:creationId xmlns:p14="http://schemas.microsoft.com/office/powerpoint/2010/main" val="3808865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Before performing stack manipulations, there are two things that we need to pay </a:t>
            </a:r>
            <a:r>
              <a:rPr lang="en-US" dirty="0" smtClean="0"/>
              <a:t>attention </a:t>
            </a:r>
            <a:r>
              <a:rPr lang="en-US" dirty="0"/>
              <a:t>to</a:t>
            </a:r>
            <a:r>
              <a:rPr lang="en-US" dirty="0" smtClean="0"/>
              <a:t>:</a:t>
            </a:r>
          </a:p>
          <a:p>
            <a:endParaRPr lang="en-US" dirty="0"/>
          </a:p>
          <a:p>
            <a:r>
              <a:rPr lang="en-US" dirty="0"/>
              <a:t>1. We cannot pop items from an empty stack, otherwise an underflow error will occur.</a:t>
            </a:r>
          </a:p>
        </p:txBody>
      </p:sp>
      <p:pic>
        <p:nvPicPr>
          <p:cNvPr id="6" name="Picture 5"/>
          <p:cNvPicPr>
            <a:picLocks noChangeAspect="1"/>
          </p:cNvPicPr>
          <p:nvPr/>
        </p:nvPicPr>
        <p:blipFill>
          <a:blip r:embed="rId2"/>
          <a:stretch>
            <a:fillRect/>
          </a:stretch>
        </p:blipFill>
        <p:spPr>
          <a:xfrm>
            <a:off x="3893930" y="3391920"/>
            <a:ext cx="3770404" cy="2650943"/>
          </a:xfrm>
          <a:prstGeom prst="rect">
            <a:avLst/>
          </a:prstGeom>
        </p:spPr>
      </p:pic>
    </p:spTree>
    <p:extLst>
      <p:ext uri="{BB962C8B-B14F-4D97-AF65-F5344CB8AC3E}">
        <p14:creationId xmlns:p14="http://schemas.microsoft.com/office/powerpoint/2010/main" val="5416381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stacks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24</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2. We cannot push items into a full stack, otherwise an overflow error will occur.</a:t>
            </a:r>
          </a:p>
        </p:txBody>
      </p:sp>
      <p:pic>
        <p:nvPicPr>
          <p:cNvPr id="6" name="Picture 5"/>
          <p:cNvPicPr>
            <a:picLocks noChangeAspect="1"/>
          </p:cNvPicPr>
          <p:nvPr/>
        </p:nvPicPr>
        <p:blipFill>
          <a:blip r:embed="rId2"/>
          <a:stretch>
            <a:fillRect/>
          </a:stretch>
        </p:blipFill>
        <p:spPr>
          <a:xfrm>
            <a:off x="2932920" y="2493007"/>
            <a:ext cx="5171990" cy="2926785"/>
          </a:xfrm>
          <a:prstGeom prst="rect">
            <a:avLst/>
          </a:prstGeom>
        </p:spPr>
      </p:pic>
    </p:spTree>
    <p:extLst>
      <p:ext uri="{BB962C8B-B14F-4D97-AF65-F5344CB8AC3E}">
        <p14:creationId xmlns:p14="http://schemas.microsoft.com/office/powerpoint/2010/main" val="12519496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Austin uses stacks to manage plastic boxes storing soft drinks. The following stack has four plastic boxes, which store 10, 15, 10 and 20 bottles of soft drinks respectively, as shown below:</a:t>
            </a:r>
          </a:p>
        </p:txBody>
      </p:sp>
      <p:sp>
        <p:nvSpPr>
          <p:cNvPr id="3" name="Slide Number Placeholder 2"/>
          <p:cNvSpPr>
            <a:spLocks noGrp="1"/>
          </p:cNvSpPr>
          <p:nvPr>
            <p:ph type="sldNum" sz="quarter" idx="12"/>
          </p:nvPr>
        </p:nvSpPr>
        <p:spPr/>
        <p:txBody>
          <a:bodyPr/>
          <a:lstStyle/>
          <a:p>
            <a:fld id="{6D22F896-40B5-4ADD-8801-0D06FADFA095}" type="slidenum">
              <a:rPr lang="en-US" smtClean="0"/>
              <a:t>25</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2199074" y="2808266"/>
            <a:ext cx="7793852" cy="2570070"/>
          </a:xfrm>
          <a:prstGeom prst="rect">
            <a:avLst/>
          </a:prstGeom>
        </p:spPr>
      </p:pic>
    </p:spTree>
    <p:extLst>
      <p:ext uri="{BB962C8B-B14F-4D97-AF65-F5344CB8AC3E}">
        <p14:creationId xmlns:p14="http://schemas.microsoft.com/office/powerpoint/2010/main" val="41128404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Refer to the following sub-programs for stack manipulations: </a:t>
            </a:r>
          </a:p>
        </p:txBody>
      </p:sp>
      <p:sp>
        <p:nvSpPr>
          <p:cNvPr id="3" name="Slide Number Placeholder 2"/>
          <p:cNvSpPr>
            <a:spLocks noGrp="1"/>
          </p:cNvSpPr>
          <p:nvPr>
            <p:ph type="sldNum" sz="quarter" idx="12"/>
          </p:nvPr>
        </p:nvSpPr>
        <p:spPr/>
        <p:txBody>
          <a:bodyPr/>
          <a:lstStyle/>
          <a:p>
            <a:fld id="{6D22F896-40B5-4ADD-8801-0D06FADFA095}" type="slidenum">
              <a:rPr lang="en-US" smtClean="0"/>
              <a:t>26</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484534" y="2162848"/>
            <a:ext cx="9222931" cy="2168354"/>
          </a:xfrm>
          <a:prstGeom prst="rect">
            <a:avLst/>
          </a:prstGeom>
        </p:spPr>
      </p:pic>
    </p:spTree>
    <p:extLst>
      <p:ext uri="{BB962C8B-B14F-4D97-AF65-F5344CB8AC3E}">
        <p14:creationId xmlns:p14="http://schemas.microsoft.com/office/powerpoint/2010/main" val="27104056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a:t>
            </a:r>
            <a:r>
              <a:rPr lang="en-US" dirty="0" err="1"/>
              <a:t>i</a:t>
            </a:r>
            <a:r>
              <a:rPr lang="en-US" dirty="0"/>
              <a:t>) Suppose that initially there is an empty stack </a:t>
            </a:r>
            <a:r>
              <a:rPr lang="en-US" dirty="0">
                <a:latin typeface="Courier New" panose="02070309020205020404" pitchFamily="49" charset="0"/>
                <a:cs typeface="Courier New" panose="02070309020205020404" pitchFamily="49" charset="0"/>
              </a:rPr>
              <a:t>S1</a:t>
            </a:r>
            <a:r>
              <a:rPr lang="en-US" dirty="0"/>
              <a:t>. Write down the content of stack </a:t>
            </a:r>
            <a:r>
              <a:rPr lang="en-US" dirty="0">
                <a:latin typeface="Courier New" panose="02070309020205020404" pitchFamily="49" charset="0"/>
                <a:cs typeface="Courier New" panose="02070309020205020404" pitchFamily="49" charset="0"/>
              </a:rPr>
              <a:t>S1</a:t>
            </a:r>
            <a:r>
              <a:rPr lang="en-US" dirty="0"/>
              <a:t> after the following algorithm has been executed</a:t>
            </a:r>
            <a:r>
              <a:rPr lang="en-US" dirty="0" smtClean="0"/>
              <a:t>.</a:t>
            </a:r>
          </a:p>
          <a:p>
            <a:endParaRPr lang="en-US" dirty="0" smtClean="0"/>
          </a:p>
          <a:p>
            <a:pPr marL="914400" lvl="4">
              <a:spcBef>
                <a:spcPts val="1000"/>
              </a:spcBef>
            </a:pPr>
            <a:r>
              <a:rPr lang="en-US" sz="2000" dirty="0">
                <a:latin typeface="Courier New" panose="02070309020205020404" pitchFamily="49" charset="0"/>
                <a:cs typeface="Courier New" panose="02070309020205020404" pitchFamily="49" charset="0"/>
              </a:rPr>
              <a:t>push(S1, 30)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push(S1, 10)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push(S1, 10)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push(S1, pop(S1)+pop(S1))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push(S1, 25)</a:t>
            </a:r>
          </a:p>
        </p:txBody>
      </p:sp>
      <p:sp>
        <p:nvSpPr>
          <p:cNvPr id="3" name="Slide Number Placeholder 2"/>
          <p:cNvSpPr>
            <a:spLocks noGrp="1"/>
          </p:cNvSpPr>
          <p:nvPr>
            <p:ph type="sldNum" sz="quarter" idx="12"/>
          </p:nvPr>
        </p:nvSpPr>
        <p:spPr/>
        <p:txBody>
          <a:bodyPr/>
          <a:lstStyle/>
          <a:p>
            <a:fld id="{6D22F896-40B5-4ADD-8801-0D06FADFA095}" type="slidenum">
              <a:rPr lang="en-US" smtClean="0"/>
              <a:t>27</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10" name="Picture 9"/>
          <p:cNvPicPr>
            <a:picLocks noChangeAspect="1"/>
          </p:cNvPicPr>
          <p:nvPr/>
        </p:nvPicPr>
        <p:blipFill>
          <a:blip r:embed="rId2"/>
          <a:stretch>
            <a:fillRect/>
          </a:stretch>
        </p:blipFill>
        <p:spPr>
          <a:xfrm>
            <a:off x="8660471" y="2765122"/>
            <a:ext cx="1068789" cy="2870907"/>
          </a:xfrm>
          <a:prstGeom prst="rect">
            <a:avLst/>
          </a:prstGeom>
        </p:spPr>
      </p:pic>
    </p:spTree>
    <p:extLst>
      <p:ext uri="{BB962C8B-B14F-4D97-AF65-F5344CB8AC3E}">
        <p14:creationId xmlns:p14="http://schemas.microsoft.com/office/powerpoint/2010/main" val="7318322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(ii) Suppose that initially there is an empty stack </a:t>
            </a:r>
            <a:r>
              <a:rPr lang="en-US" dirty="0">
                <a:latin typeface="Courier New" panose="02070309020205020404" pitchFamily="49" charset="0"/>
                <a:cs typeface="Courier New" panose="02070309020205020404" pitchFamily="49" charset="0"/>
              </a:rPr>
              <a:t>S2</a:t>
            </a:r>
            <a:r>
              <a:rPr lang="en-US" dirty="0"/>
              <a:t>. Write down the content of stack </a:t>
            </a:r>
            <a:r>
              <a:rPr lang="en-US" dirty="0">
                <a:latin typeface="Courier New" panose="02070309020205020404" pitchFamily="49" charset="0"/>
                <a:cs typeface="Courier New" panose="02070309020205020404" pitchFamily="49" charset="0"/>
              </a:rPr>
              <a:t>S2</a:t>
            </a:r>
            <a:r>
              <a:rPr lang="en-US" dirty="0"/>
              <a:t> after the following algorithm has been executed</a:t>
            </a:r>
            <a:r>
              <a:rPr lang="en-US" dirty="0" smtClean="0"/>
              <a:t>.</a:t>
            </a:r>
          </a:p>
          <a:p>
            <a:endParaRPr lang="en-US" dirty="0" smtClean="0"/>
          </a:p>
          <a:p>
            <a:pPr lvl="2"/>
            <a:r>
              <a:rPr lang="en-US" sz="2000" dirty="0">
                <a:latin typeface="Courier New" panose="02070309020205020404" pitchFamily="49" charset="0"/>
                <a:cs typeface="Courier New" panose="02070309020205020404" pitchFamily="49" charset="0"/>
              </a:rPr>
              <a:t>push(S2, 20)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push(S2, 10)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pop(S2)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if </a:t>
            </a:r>
            <a:r>
              <a:rPr lang="en-US" sz="2000" dirty="0" err="1">
                <a:latin typeface="Courier New" panose="02070309020205020404" pitchFamily="49" charset="0"/>
                <a:cs typeface="Courier New" panose="02070309020205020404" pitchFamily="49" charset="0"/>
              </a:rPr>
              <a:t>isEmpty</a:t>
            </a:r>
            <a:r>
              <a:rPr lang="en-US" sz="2000" dirty="0">
                <a:latin typeface="Courier New" panose="02070309020205020404" pitchFamily="49" charset="0"/>
                <a:cs typeface="Courier New" panose="02070309020205020404" pitchFamily="49" charset="0"/>
              </a:rPr>
              <a:t>(S2) then</a:t>
            </a:r>
            <a:br>
              <a:rPr lang="en-US" sz="2000" dirty="0">
                <a:latin typeface="Courier New" panose="02070309020205020404" pitchFamily="49" charset="0"/>
                <a:cs typeface="Courier New" panose="02070309020205020404" pitchFamily="49" charset="0"/>
              </a:rPr>
            </a:br>
            <a:r>
              <a:rPr lang="en-US" sz="2000" dirty="0" smtClean="0">
                <a:latin typeface="Courier New" panose="02070309020205020404" pitchFamily="49" charset="0"/>
                <a:cs typeface="Courier New" panose="02070309020205020404" pitchFamily="49" charset="0"/>
              </a:rPr>
              <a:t>	push(S2</a:t>
            </a:r>
            <a:r>
              <a:rPr lang="en-US" sz="2000" dirty="0">
                <a:latin typeface="Courier New" panose="02070309020205020404" pitchFamily="49" charset="0"/>
                <a:cs typeface="Courier New" panose="02070309020205020404" pitchFamily="49" charset="0"/>
              </a:rPr>
              <a:t>, 15)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else</a:t>
            </a:r>
            <a:br>
              <a:rPr lang="en-US" sz="2000" dirty="0">
                <a:latin typeface="Courier New" panose="02070309020205020404" pitchFamily="49" charset="0"/>
                <a:cs typeface="Courier New" panose="02070309020205020404" pitchFamily="49" charset="0"/>
              </a:rPr>
            </a:br>
            <a:r>
              <a:rPr lang="en-US" sz="2000" dirty="0" smtClean="0">
                <a:latin typeface="Courier New" panose="02070309020205020404" pitchFamily="49" charset="0"/>
                <a:cs typeface="Courier New" panose="02070309020205020404" pitchFamily="49" charset="0"/>
              </a:rPr>
              <a:t>	push(S2</a:t>
            </a:r>
            <a:r>
              <a:rPr lang="en-US" sz="2000" dirty="0">
                <a:latin typeface="Courier New" panose="02070309020205020404" pitchFamily="49" charset="0"/>
                <a:cs typeface="Courier New" panose="02070309020205020404" pitchFamily="49" charset="0"/>
              </a:rPr>
              <a:t>, 25)</a:t>
            </a:r>
          </a:p>
        </p:txBody>
      </p:sp>
      <p:sp>
        <p:nvSpPr>
          <p:cNvPr id="3" name="Slide Number Placeholder 2"/>
          <p:cNvSpPr>
            <a:spLocks noGrp="1"/>
          </p:cNvSpPr>
          <p:nvPr>
            <p:ph type="sldNum" sz="quarter" idx="12"/>
          </p:nvPr>
        </p:nvSpPr>
        <p:spPr/>
        <p:txBody>
          <a:bodyPr/>
          <a:lstStyle/>
          <a:p>
            <a:fld id="{6D22F896-40B5-4ADD-8801-0D06FADFA095}" type="slidenum">
              <a:rPr lang="en-US" smtClean="0"/>
              <a:t>28</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8" name="Picture 7"/>
          <p:cNvPicPr>
            <a:picLocks noChangeAspect="1"/>
          </p:cNvPicPr>
          <p:nvPr/>
        </p:nvPicPr>
        <p:blipFill>
          <a:blip r:embed="rId2"/>
          <a:stretch>
            <a:fillRect/>
          </a:stretch>
        </p:blipFill>
        <p:spPr>
          <a:xfrm>
            <a:off x="8673550" y="2838541"/>
            <a:ext cx="977528" cy="2760081"/>
          </a:xfrm>
          <a:prstGeom prst="rect">
            <a:avLst/>
          </a:prstGeom>
        </p:spPr>
      </p:pic>
    </p:spTree>
    <p:extLst>
      <p:ext uri="{BB962C8B-B14F-4D97-AF65-F5344CB8AC3E}">
        <p14:creationId xmlns:p14="http://schemas.microsoft.com/office/powerpoint/2010/main" val="6970458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(b) Suppose that the initial content of stack </a:t>
            </a:r>
            <a:r>
              <a:rPr lang="en-US" dirty="0">
                <a:latin typeface="Courier New" panose="02070309020205020404" pitchFamily="49" charset="0"/>
                <a:cs typeface="Courier New" panose="02070309020205020404" pitchFamily="49" charset="0"/>
              </a:rPr>
              <a:t>S1</a:t>
            </a:r>
            <a:r>
              <a:rPr lang="en-US" dirty="0"/>
              <a:t> and stack </a:t>
            </a:r>
            <a:r>
              <a:rPr lang="en-US" dirty="0">
                <a:latin typeface="Courier New" panose="02070309020205020404" pitchFamily="49" charset="0"/>
                <a:cs typeface="Courier New" panose="02070309020205020404" pitchFamily="49" charset="0"/>
              </a:rPr>
              <a:t>S2</a:t>
            </a:r>
            <a:r>
              <a:rPr lang="en-US" dirty="0"/>
              <a:t> is as follows</a:t>
            </a:r>
            <a:r>
              <a:rPr lang="en-US" dirty="0" smtClean="0"/>
              <a:t>:</a:t>
            </a:r>
          </a:p>
          <a:p>
            <a:endParaRPr lang="en-US" dirty="0" smtClean="0"/>
          </a:p>
          <a:p>
            <a:r>
              <a:rPr lang="en-US" dirty="0"/>
              <a:t>Write down the content of stacks </a:t>
            </a:r>
            <a:r>
              <a:rPr lang="en-US" dirty="0">
                <a:latin typeface="Courier New" panose="02070309020205020404" pitchFamily="49" charset="0"/>
                <a:cs typeface="Courier New" panose="02070309020205020404" pitchFamily="49" charset="0"/>
              </a:rPr>
              <a:t>S1</a:t>
            </a:r>
            <a:r>
              <a:rPr lang="en-US" dirty="0"/>
              <a:t> and </a:t>
            </a:r>
            <a:r>
              <a:rPr lang="en-US" dirty="0">
                <a:latin typeface="Courier New" panose="02070309020205020404" pitchFamily="49" charset="0"/>
                <a:cs typeface="Courier New" panose="02070309020205020404" pitchFamily="49" charset="0"/>
              </a:rPr>
              <a:t>S2</a:t>
            </a:r>
            <a:r>
              <a:rPr lang="en-US" dirty="0"/>
              <a:t> after the following algorithm has been executed.</a:t>
            </a:r>
          </a:p>
          <a:p>
            <a:pPr>
              <a:lnSpc>
                <a:spcPct val="140000"/>
              </a:lnSpc>
            </a:pPr>
            <a:r>
              <a:rPr lang="en-US" sz="2200"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temp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0</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while </a:t>
            </a:r>
            <a:r>
              <a:rPr lang="en-US" dirty="0">
                <a:latin typeface="Courier New" panose="02070309020205020404" pitchFamily="49" charset="0"/>
                <a:cs typeface="Courier New" panose="02070309020205020404" pitchFamily="49" charset="0"/>
              </a:rPr>
              <a:t>not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(S1)</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temp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temp + pop(S1)</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temp &gt; 25 then</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push(S2</a:t>
            </a:r>
            <a:r>
              <a:rPr lang="en-US" dirty="0">
                <a:latin typeface="Courier New" panose="02070309020205020404" pitchFamily="49" charset="0"/>
                <a:cs typeface="Courier New" panose="02070309020205020404" pitchFamily="49" charset="0"/>
              </a:rPr>
              <a:t>, 25)</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temp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temp – 25</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push(S2</a:t>
            </a:r>
            <a:r>
              <a:rPr lang="en-US" dirty="0">
                <a:latin typeface="Courier New" panose="02070309020205020404" pitchFamily="49" charset="0"/>
                <a:cs typeface="Courier New" panose="02070309020205020404" pitchFamily="49" charset="0"/>
              </a:rPr>
              <a:t>, temp)</a:t>
            </a:r>
          </a:p>
        </p:txBody>
      </p:sp>
      <p:sp>
        <p:nvSpPr>
          <p:cNvPr id="3" name="Slide Number Placeholder 2"/>
          <p:cNvSpPr>
            <a:spLocks noGrp="1"/>
          </p:cNvSpPr>
          <p:nvPr>
            <p:ph type="sldNum" sz="quarter" idx="12"/>
          </p:nvPr>
        </p:nvSpPr>
        <p:spPr/>
        <p:txBody>
          <a:bodyPr/>
          <a:lstStyle/>
          <a:p>
            <a:fld id="{6D22F896-40B5-4ADD-8801-0D06FADFA095}" type="slidenum">
              <a:rPr lang="en-US" smtClean="0"/>
              <a:t>29</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8086419" y="3177282"/>
            <a:ext cx="2666114" cy="2866072"/>
          </a:xfrm>
          <a:prstGeom prst="rect">
            <a:avLst/>
          </a:prstGeom>
        </p:spPr>
      </p:pic>
    </p:spTree>
    <p:extLst>
      <p:ext uri="{BB962C8B-B14F-4D97-AF65-F5344CB8AC3E}">
        <p14:creationId xmlns:p14="http://schemas.microsoft.com/office/powerpoint/2010/main" val="41084061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(c) Austin writes the sub-program </a:t>
            </a:r>
            <a:r>
              <a:rPr lang="en-US" dirty="0">
                <a:latin typeface="Courier New" panose="02070309020205020404" pitchFamily="49" charset="0"/>
                <a:cs typeface="Courier New" panose="02070309020205020404" pitchFamily="49" charset="0"/>
              </a:rPr>
              <a:t>reverse(A, B)</a:t>
            </a:r>
            <a:r>
              <a:rPr lang="en-US" dirty="0"/>
              <a:t> to move all the plastic boxes in stack </a:t>
            </a:r>
            <a:r>
              <a:rPr lang="en-US" dirty="0">
                <a:latin typeface="Courier New" panose="02070309020205020404" pitchFamily="49" charset="0"/>
                <a:cs typeface="Courier New" panose="02070309020205020404" pitchFamily="49" charset="0"/>
              </a:rPr>
              <a:t>A</a:t>
            </a:r>
            <a:r>
              <a:rPr lang="en-US" dirty="0"/>
              <a:t> to stack </a:t>
            </a:r>
            <a:r>
              <a:rPr lang="en-US" dirty="0">
                <a:latin typeface="Courier New" panose="02070309020205020404" pitchFamily="49" charset="0"/>
                <a:cs typeface="Courier New" panose="02070309020205020404" pitchFamily="49" charset="0"/>
              </a:rPr>
              <a:t>B</a:t>
            </a:r>
            <a:r>
              <a:rPr lang="en-US" dirty="0"/>
              <a:t>, where the boxes in </a:t>
            </a:r>
            <a:r>
              <a:rPr lang="en-US" dirty="0">
                <a:latin typeface="Courier New" panose="02070309020205020404" pitchFamily="49" charset="0"/>
                <a:cs typeface="Courier New" panose="02070309020205020404" pitchFamily="49" charset="0"/>
              </a:rPr>
              <a:t>B</a:t>
            </a:r>
            <a:r>
              <a:rPr lang="en-US" dirty="0"/>
              <a:t> are in reverse order. Suppose that there are a non-empty stack </a:t>
            </a:r>
            <a:r>
              <a:rPr lang="en-US" dirty="0">
                <a:latin typeface="Courier New" panose="02070309020205020404" pitchFamily="49" charset="0"/>
                <a:cs typeface="Courier New" panose="02070309020205020404" pitchFamily="49" charset="0"/>
              </a:rPr>
              <a:t>S1</a:t>
            </a:r>
            <a:r>
              <a:rPr lang="en-US" dirty="0"/>
              <a:t> and an empty stack </a:t>
            </a:r>
            <a:r>
              <a:rPr lang="en-US" dirty="0">
                <a:latin typeface="Courier New" panose="02070309020205020404" pitchFamily="49" charset="0"/>
                <a:cs typeface="Courier New" panose="02070309020205020404" pitchFamily="49" charset="0"/>
              </a:rPr>
              <a:t>S2</a:t>
            </a:r>
            <a:r>
              <a:rPr lang="en-US" dirty="0"/>
              <a:t>, the content of </a:t>
            </a:r>
            <a:r>
              <a:rPr lang="en-US" dirty="0">
                <a:latin typeface="Courier New" panose="02070309020205020404" pitchFamily="49" charset="0"/>
                <a:cs typeface="Courier New" panose="02070309020205020404" pitchFamily="49" charset="0"/>
              </a:rPr>
              <a:t>S1</a:t>
            </a:r>
            <a:r>
              <a:rPr lang="en-US" dirty="0"/>
              <a:t> and </a:t>
            </a:r>
            <a:r>
              <a:rPr lang="en-US" dirty="0">
                <a:latin typeface="Courier New" panose="02070309020205020404" pitchFamily="49" charset="0"/>
                <a:cs typeface="Courier New" panose="02070309020205020404" pitchFamily="49" charset="0"/>
              </a:rPr>
              <a:t>S2</a:t>
            </a:r>
            <a:r>
              <a:rPr lang="en-US" dirty="0"/>
              <a:t> after the sub-program </a:t>
            </a:r>
            <a:r>
              <a:rPr lang="en-US" dirty="0">
                <a:latin typeface="Courier New" panose="02070309020205020404" pitchFamily="49" charset="0"/>
                <a:cs typeface="Courier New" panose="02070309020205020404" pitchFamily="49" charset="0"/>
              </a:rPr>
              <a:t>reverse(S1, S2)</a:t>
            </a:r>
            <a:r>
              <a:rPr lang="en-US" dirty="0"/>
              <a:t> has been executed is as shown below</a:t>
            </a:r>
            <a:r>
              <a:rPr lang="en-US" dirty="0" smtClean="0"/>
              <a:t>:</a:t>
            </a:r>
          </a:p>
          <a:p>
            <a:endParaRPr lang="en-US" dirty="0"/>
          </a:p>
          <a:p>
            <a:endParaRPr lang="en-US" dirty="0" smtClean="0"/>
          </a:p>
          <a:p>
            <a:endParaRPr lang="en-US" dirty="0"/>
          </a:p>
          <a:p>
            <a:endParaRPr lang="en-US" dirty="0" smtClean="0"/>
          </a:p>
          <a:p>
            <a:endParaRPr lang="en-US" dirty="0" smtClean="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30</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885546" y="3217595"/>
            <a:ext cx="8731025" cy="3000325"/>
          </a:xfrm>
          <a:prstGeom prst="rect">
            <a:avLst/>
          </a:prstGeom>
        </p:spPr>
      </p:pic>
    </p:spTree>
    <p:extLst>
      <p:ext uri="{BB962C8B-B14F-4D97-AF65-F5344CB8AC3E}">
        <p14:creationId xmlns:p14="http://schemas.microsoft.com/office/powerpoint/2010/main" val="23230179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the pseudocode for the sub-program </a:t>
            </a:r>
            <a:r>
              <a:rPr lang="en-US" dirty="0">
                <a:latin typeface="Courier New" panose="02070309020205020404" pitchFamily="49" charset="0"/>
                <a:cs typeface="Courier New" panose="02070309020205020404" pitchFamily="49" charset="0"/>
              </a:rPr>
              <a:t>reverse(A, B)</a:t>
            </a:r>
            <a:r>
              <a:rPr lang="en-US" dirty="0"/>
              <a:t>.</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31</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7" name="Picture 6"/>
          <p:cNvPicPr>
            <a:picLocks noChangeAspect="1"/>
          </p:cNvPicPr>
          <p:nvPr/>
        </p:nvPicPr>
        <p:blipFill>
          <a:blip r:embed="rId2"/>
          <a:stretch>
            <a:fillRect/>
          </a:stretch>
        </p:blipFill>
        <p:spPr>
          <a:xfrm>
            <a:off x="1083235" y="1990179"/>
            <a:ext cx="10065599" cy="1950054"/>
          </a:xfrm>
          <a:prstGeom prst="rect">
            <a:avLst/>
          </a:prstGeom>
        </p:spPr>
      </p:pic>
    </p:spTree>
    <p:extLst>
      <p:ext uri="{BB962C8B-B14F-4D97-AF65-F5344CB8AC3E}">
        <p14:creationId xmlns:p14="http://schemas.microsoft.com/office/powerpoint/2010/main" val="12728198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Austin finds that the soft drinks in the bottom </a:t>
            </a:r>
            <a:r>
              <a:rPr lang="en-US" dirty="0">
                <a:latin typeface="Courier New" panose="02070309020205020404" pitchFamily="49" charset="0"/>
                <a:cs typeface="Courier New" panose="02070309020205020404" pitchFamily="49" charset="0"/>
              </a:rPr>
              <a:t>N</a:t>
            </a:r>
            <a:r>
              <a:rPr lang="en-US" dirty="0"/>
              <a:t> boxes in stack </a:t>
            </a:r>
            <a:r>
              <a:rPr lang="en-US" dirty="0">
                <a:latin typeface="Courier New" panose="02070309020205020404" pitchFamily="49" charset="0"/>
                <a:cs typeface="Courier New" panose="02070309020205020404" pitchFamily="49" charset="0"/>
              </a:rPr>
              <a:t>S1</a:t>
            </a:r>
            <a:r>
              <a:rPr lang="en-US" dirty="0"/>
              <a:t> are expired. He plans to use the sub-program </a:t>
            </a:r>
            <a:r>
              <a:rPr lang="en-US" dirty="0">
                <a:latin typeface="Courier New" panose="02070309020205020404" pitchFamily="49" charset="0"/>
                <a:cs typeface="Courier New" panose="02070309020205020404" pitchFamily="49" charset="0"/>
              </a:rPr>
              <a:t>reverse(A, B)</a:t>
            </a:r>
            <a:r>
              <a:rPr lang="en-US" dirty="0"/>
              <a:t> to design an algorithm, so that he can remove the bottom </a:t>
            </a:r>
            <a:r>
              <a:rPr lang="en-US" dirty="0">
                <a:latin typeface="Courier New" panose="02070309020205020404" pitchFamily="49" charset="0"/>
                <a:cs typeface="Courier New" panose="02070309020205020404" pitchFamily="49" charset="0"/>
              </a:rPr>
              <a:t>N</a:t>
            </a:r>
            <a:r>
              <a:rPr lang="en-US" dirty="0"/>
              <a:t> plastic boxes in stack </a:t>
            </a:r>
            <a:r>
              <a:rPr lang="en-US" dirty="0">
                <a:latin typeface="Courier New" panose="02070309020205020404" pitchFamily="49" charset="0"/>
                <a:cs typeface="Courier New" panose="02070309020205020404" pitchFamily="49" charset="0"/>
              </a:rPr>
              <a:t>S1</a:t>
            </a:r>
            <a:r>
              <a:rPr lang="en-US" dirty="0"/>
              <a:t> and keep the remaining boxes in the original order in </a:t>
            </a:r>
            <a:r>
              <a:rPr lang="en-US" dirty="0">
                <a:latin typeface="Courier New" panose="02070309020205020404" pitchFamily="49" charset="0"/>
                <a:cs typeface="Courier New" panose="02070309020205020404" pitchFamily="49" charset="0"/>
              </a:rPr>
              <a:t>S1</a:t>
            </a:r>
            <a:r>
              <a:rPr lang="en-US" dirty="0"/>
              <a:t>. Suppose that initially there are a non-empty stack </a:t>
            </a:r>
            <a:r>
              <a:rPr lang="en-US" dirty="0">
                <a:latin typeface="Courier New" panose="02070309020205020404" pitchFamily="49" charset="0"/>
                <a:cs typeface="Courier New" panose="02070309020205020404" pitchFamily="49" charset="0"/>
              </a:rPr>
              <a:t>S1</a:t>
            </a:r>
            <a:r>
              <a:rPr lang="en-US" dirty="0"/>
              <a:t> and an empty stack </a:t>
            </a:r>
            <a:r>
              <a:rPr lang="en-US" dirty="0">
                <a:latin typeface="Courier New" panose="02070309020205020404" pitchFamily="49" charset="0"/>
                <a:cs typeface="Courier New" panose="02070309020205020404" pitchFamily="49" charset="0"/>
              </a:rPr>
              <a:t>S2</a:t>
            </a:r>
            <a:r>
              <a:rPr lang="en-US" dirty="0"/>
              <a:t>, the content of </a:t>
            </a:r>
            <a:r>
              <a:rPr lang="en-US" dirty="0">
                <a:latin typeface="Courier New" panose="02070309020205020404" pitchFamily="49" charset="0"/>
                <a:cs typeface="Courier New" panose="02070309020205020404" pitchFamily="49" charset="0"/>
              </a:rPr>
              <a:t>S1</a:t>
            </a:r>
            <a:r>
              <a:rPr lang="en-US" dirty="0"/>
              <a:t> and </a:t>
            </a:r>
            <a:r>
              <a:rPr lang="en-US" dirty="0">
                <a:latin typeface="Courier New" panose="02070309020205020404" pitchFamily="49" charset="0"/>
                <a:cs typeface="Courier New" panose="02070309020205020404" pitchFamily="49" charset="0"/>
              </a:rPr>
              <a:t>S2</a:t>
            </a:r>
            <a:r>
              <a:rPr lang="en-US" dirty="0"/>
              <a:t> after the algorithm has been executed is as shown below</a:t>
            </a:r>
            <a:r>
              <a:rPr lang="en-US" dirty="0" smtClean="0"/>
              <a:t>:</a:t>
            </a:r>
          </a:p>
          <a:p>
            <a:endParaRPr lang="en-US" dirty="0"/>
          </a:p>
          <a:p>
            <a:endParaRPr lang="en-US" dirty="0" smtClean="0"/>
          </a:p>
          <a:p>
            <a:endParaRPr lang="en-US" dirty="0"/>
          </a:p>
          <a:p>
            <a:endParaRPr lang="en-US" dirty="0" smtClean="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32</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768968" y="3569885"/>
            <a:ext cx="8129823" cy="2656348"/>
          </a:xfrm>
          <a:prstGeom prst="rect">
            <a:avLst/>
          </a:prstGeom>
        </p:spPr>
      </p:pic>
    </p:spTree>
    <p:extLst>
      <p:ext uri="{BB962C8B-B14F-4D97-AF65-F5344CB8AC3E}">
        <p14:creationId xmlns:p14="http://schemas.microsoft.com/office/powerpoint/2010/main" val="42532249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the algorithm for Austin.</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33</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7" name="Picture 6"/>
          <p:cNvPicPr>
            <a:picLocks noChangeAspect="1"/>
          </p:cNvPicPr>
          <p:nvPr/>
        </p:nvPicPr>
        <p:blipFill>
          <a:blip r:embed="rId2"/>
          <a:stretch>
            <a:fillRect/>
          </a:stretch>
        </p:blipFill>
        <p:spPr>
          <a:xfrm>
            <a:off x="1048248" y="1949508"/>
            <a:ext cx="10095504" cy="2121933"/>
          </a:xfrm>
          <a:prstGeom prst="rect">
            <a:avLst/>
          </a:prstGeom>
        </p:spPr>
      </p:pic>
    </p:spTree>
    <p:extLst>
      <p:ext uri="{BB962C8B-B14F-4D97-AF65-F5344CB8AC3E}">
        <p14:creationId xmlns:p14="http://schemas.microsoft.com/office/powerpoint/2010/main" val="36589436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 Austin finds that at the </a:t>
            </a:r>
            <a:r>
              <a:rPr lang="en-US" dirty="0">
                <a:latin typeface="Courier New" panose="02070309020205020404" pitchFamily="49" charset="0"/>
                <a:cs typeface="Courier New" panose="02070309020205020404" pitchFamily="49" charset="0"/>
              </a:rPr>
              <a:t>n</a:t>
            </a:r>
            <a:r>
              <a:rPr lang="en-US" dirty="0" smtClean="0"/>
              <a:t>th </a:t>
            </a:r>
            <a:r>
              <a:rPr lang="en-US" dirty="0"/>
              <a:t>layer of stack </a:t>
            </a:r>
            <a:r>
              <a:rPr lang="en-US" dirty="0">
                <a:latin typeface="Courier New" panose="02070309020205020404" pitchFamily="49" charset="0"/>
                <a:cs typeface="Courier New" panose="02070309020205020404" pitchFamily="49" charset="0"/>
              </a:rPr>
              <a:t>S1</a:t>
            </a:r>
            <a:r>
              <a:rPr lang="en-US" dirty="0"/>
              <a:t>, there are </a:t>
            </a:r>
            <a:r>
              <a:rPr lang="en-US" dirty="0">
                <a:latin typeface="Courier New" panose="02070309020205020404" pitchFamily="49" charset="0"/>
                <a:cs typeface="Courier New" panose="02070309020205020404" pitchFamily="49" charset="0"/>
              </a:rPr>
              <a:t>k</a:t>
            </a:r>
            <a:r>
              <a:rPr lang="en-US" dirty="0"/>
              <a:t> boxes of soft drinks that are not placed in the designated stacks for their brands. He plans to design a sub-program </a:t>
            </a:r>
            <a:r>
              <a:rPr lang="en-US" dirty="0">
                <a:latin typeface="Courier New" panose="02070309020205020404" pitchFamily="49" charset="0"/>
                <a:cs typeface="Courier New" panose="02070309020205020404" pitchFamily="49" charset="0"/>
              </a:rPr>
              <a:t>get(n, k)</a:t>
            </a:r>
            <a:r>
              <a:rPr lang="en-US" dirty="0"/>
              <a:t>, so that he can move the </a:t>
            </a:r>
            <a:r>
              <a:rPr lang="en-US" dirty="0">
                <a:latin typeface="Courier New" panose="02070309020205020404" pitchFamily="49" charset="0"/>
                <a:cs typeface="Courier New" panose="02070309020205020404" pitchFamily="49" charset="0"/>
              </a:rPr>
              <a:t>k</a:t>
            </a:r>
            <a:r>
              <a:rPr lang="en-US" dirty="0"/>
              <a:t> boxes of soft drinks at the </a:t>
            </a:r>
            <a:r>
              <a:rPr lang="en-US" dirty="0">
                <a:latin typeface="Courier New" panose="02070309020205020404" pitchFamily="49" charset="0"/>
                <a:cs typeface="Courier New" panose="02070309020205020404" pitchFamily="49" charset="0"/>
              </a:rPr>
              <a:t>n</a:t>
            </a:r>
            <a:r>
              <a:rPr lang="en-US" dirty="0"/>
              <a:t>th layer of stack </a:t>
            </a:r>
            <a:r>
              <a:rPr lang="en-US" dirty="0">
                <a:latin typeface="Courier New" panose="02070309020205020404" pitchFamily="49" charset="0"/>
                <a:cs typeface="Courier New" panose="02070309020205020404" pitchFamily="49" charset="0"/>
              </a:rPr>
              <a:t>S1</a:t>
            </a:r>
            <a:r>
              <a:rPr lang="en-US" dirty="0"/>
              <a:t> to stack </a:t>
            </a:r>
            <a:r>
              <a:rPr lang="en-US" dirty="0">
                <a:latin typeface="Courier New" panose="02070309020205020404" pitchFamily="49" charset="0"/>
                <a:cs typeface="Courier New" panose="02070309020205020404" pitchFamily="49" charset="0"/>
              </a:rPr>
              <a:t>S2</a:t>
            </a:r>
            <a:r>
              <a:rPr lang="en-US" dirty="0"/>
              <a:t>, and keep the remaining boxes in the original order in </a:t>
            </a:r>
            <a:r>
              <a:rPr lang="en-US" dirty="0">
                <a:latin typeface="Courier New" panose="02070309020205020404" pitchFamily="49" charset="0"/>
                <a:cs typeface="Courier New" panose="02070309020205020404" pitchFamily="49" charset="0"/>
              </a:rPr>
              <a:t>S1</a:t>
            </a:r>
            <a:r>
              <a:rPr lang="en-US" dirty="0"/>
              <a:t>. Suppose that initially there are a non-empty stack </a:t>
            </a:r>
            <a:r>
              <a:rPr lang="en-US" dirty="0">
                <a:latin typeface="Courier New" panose="02070309020205020404" pitchFamily="49" charset="0"/>
                <a:cs typeface="Courier New" panose="02070309020205020404" pitchFamily="49" charset="0"/>
              </a:rPr>
              <a:t>S1</a:t>
            </a:r>
            <a:r>
              <a:rPr lang="en-US" dirty="0"/>
              <a:t> and an empty stack </a:t>
            </a:r>
            <a:r>
              <a:rPr lang="en-US" dirty="0">
                <a:latin typeface="Courier New" panose="02070309020205020404" pitchFamily="49" charset="0"/>
                <a:cs typeface="Courier New" panose="02070309020205020404" pitchFamily="49" charset="0"/>
              </a:rPr>
              <a:t>S2</a:t>
            </a:r>
            <a:r>
              <a:rPr lang="en-US" dirty="0"/>
              <a:t>, the content of </a:t>
            </a:r>
            <a:r>
              <a:rPr lang="en-US" dirty="0">
                <a:latin typeface="Courier New" panose="02070309020205020404" pitchFamily="49" charset="0"/>
                <a:cs typeface="Courier New" panose="02070309020205020404" pitchFamily="49" charset="0"/>
              </a:rPr>
              <a:t>S1</a:t>
            </a:r>
            <a:r>
              <a:rPr lang="en-US" dirty="0"/>
              <a:t> and </a:t>
            </a:r>
            <a:r>
              <a:rPr lang="en-US" dirty="0">
                <a:latin typeface="Courier New" panose="02070309020205020404" pitchFamily="49" charset="0"/>
                <a:cs typeface="Courier New" panose="02070309020205020404" pitchFamily="49" charset="0"/>
              </a:rPr>
              <a:t>S2</a:t>
            </a:r>
            <a:r>
              <a:rPr lang="en-US" dirty="0"/>
              <a:t> after the algorithm has been executed is as shown below:</a:t>
            </a:r>
          </a:p>
        </p:txBody>
      </p:sp>
      <p:sp>
        <p:nvSpPr>
          <p:cNvPr id="3" name="Slide Number Placeholder 2"/>
          <p:cNvSpPr>
            <a:spLocks noGrp="1"/>
          </p:cNvSpPr>
          <p:nvPr>
            <p:ph type="sldNum" sz="quarter" idx="12"/>
          </p:nvPr>
        </p:nvSpPr>
        <p:spPr/>
        <p:txBody>
          <a:bodyPr/>
          <a:lstStyle/>
          <a:p>
            <a:fld id="{6D22F896-40B5-4ADD-8801-0D06FADFA095}" type="slidenum">
              <a:rPr lang="en-US" smtClean="0"/>
              <a:t>34</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2822264" y="3387550"/>
            <a:ext cx="6321735" cy="2916050"/>
          </a:xfrm>
          <a:prstGeom prst="rect">
            <a:avLst/>
          </a:prstGeom>
        </p:spPr>
      </p:pic>
    </p:spTree>
    <p:extLst>
      <p:ext uri="{BB962C8B-B14F-4D97-AF65-F5344CB8AC3E}">
        <p14:creationId xmlns:p14="http://schemas.microsoft.com/office/powerpoint/2010/main" val="39806096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the pseudocode for the sub-program get(n, k) for Austin. New stacks can be added when needed.</a:t>
            </a:r>
          </a:p>
        </p:txBody>
      </p:sp>
      <p:sp>
        <p:nvSpPr>
          <p:cNvPr id="3" name="Slide Number Placeholder 2"/>
          <p:cNvSpPr>
            <a:spLocks noGrp="1"/>
          </p:cNvSpPr>
          <p:nvPr>
            <p:ph type="sldNum" sz="quarter" idx="12"/>
          </p:nvPr>
        </p:nvSpPr>
        <p:spPr/>
        <p:txBody>
          <a:bodyPr/>
          <a:lstStyle/>
          <a:p>
            <a:fld id="{6D22F896-40B5-4ADD-8801-0D06FADFA095}" type="slidenum">
              <a:rPr lang="en-US" smtClean="0"/>
              <a:t>35</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7" name="Picture 6"/>
          <p:cNvPicPr>
            <a:picLocks noChangeAspect="1"/>
          </p:cNvPicPr>
          <p:nvPr/>
        </p:nvPicPr>
        <p:blipFill>
          <a:blip r:embed="rId2"/>
          <a:stretch>
            <a:fillRect/>
          </a:stretch>
        </p:blipFill>
        <p:spPr>
          <a:xfrm>
            <a:off x="1537889" y="2459158"/>
            <a:ext cx="9365915" cy="3567570"/>
          </a:xfrm>
          <a:prstGeom prst="rect">
            <a:avLst/>
          </a:prstGeom>
        </p:spPr>
      </p:pic>
    </p:spTree>
    <p:extLst>
      <p:ext uri="{BB962C8B-B14F-4D97-AF65-F5344CB8AC3E}">
        <p14:creationId xmlns:p14="http://schemas.microsoft.com/office/powerpoint/2010/main" val="4900713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37A3D4"/>
                </a:solidFill>
              </a:rPr>
              <a:t>◣ Solution</a:t>
            </a:r>
          </a:p>
          <a:p>
            <a:r>
              <a:rPr lang="en-US" dirty="0" smtClean="0"/>
              <a:t>(a) (</a:t>
            </a:r>
            <a:r>
              <a:rPr lang="en-US" dirty="0" err="1" smtClean="0"/>
              <a:t>i</a:t>
            </a:r>
            <a:r>
              <a:rPr lang="en-US" dirty="0" smtClean="0"/>
              <a:t>)			(ii)			(b)</a:t>
            </a:r>
          </a:p>
          <a:p>
            <a:endParaRPr lang="en-US" dirty="0"/>
          </a:p>
          <a:p>
            <a:endParaRPr lang="en-US" dirty="0" smtClean="0"/>
          </a:p>
          <a:p>
            <a:endParaRPr lang="en-US" dirty="0" smtClean="0"/>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36</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6" name="Picture 5"/>
          <p:cNvPicPr>
            <a:picLocks noChangeAspect="1"/>
          </p:cNvPicPr>
          <p:nvPr/>
        </p:nvPicPr>
        <p:blipFill>
          <a:blip r:embed="rId2"/>
          <a:stretch>
            <a:fillRect/>
          </a:stretch>
        </p:blipFill>
        <p:spPr>
          <a:xfrm>
            <a:off x="1730412" y="2025741"/>
            <a:ext cx="1051981" cy="3155943"/>
          </a:xfrm>
          <a:prstGeom prst="rect">
            <a:avLst/>
          </a:prstGeom>
        </p:spPr>
      </p:pic>
      <p:pic>
        <p:nvPicPr>
          <p:cNvPr id="7" name="Picture 6"/>
          <p:cNvPicPr>
            <a:picLocks noChangeAspect="1"/>
          </p:cNvPicPr>
          <p:nvPr/>
        </p:nvPicPr>
        <p:blipFill>
          <a:blip r:embed="rId3"/>
          <a:stretch>
            <a:fillRect/>
          </a:stretch>
        </p:blipFill>
        <p:spPr>
          <a:xfrm>
            <a:off x="4528771" y="2025741"/>
            <a:ext cx="1040756" cy="3115682"/>
          </a:xfrm>
          <a:prstGeom prst="rect">
            <a:avLst/>
          </a:prstGeom>
        </p:spPr>
      </p:pic>
      <p:pic>
        <p:nvPicPr>
          <p:cNvPr id="8" name="Picture 7"/>
          <p:cNvPicPr>
            <a:picLocks noChangeAspect="1"/>
          </p:cNvPicPr>
          <p:nvPr/>
        </p:nvPicPr>
        <p:blipFill>
          <a:blip r:embed="rId4"/>
          <a:stretch>
            <a:fillRect/>
          </a:stretch>
        </p:blipFill>
        <p:spPr>
          <a:xfrm>
            <a:off x="7218440" y="2025740"/>
            <a:ext cx="2906462" cy="3164667"/>
          </a:xfrm>
          <a:prstGeom prst="rect">
            <a:avLst/>
          </a:prstGeom>
        </p:spPr>
      </p:pic>
    </p:spTree>
    <p:extLst>
      <p:ext uri="{BB962C8B-B14F-4D97-AF65-F5344CB8AC3E}">
        <p14:creationId xmlns:p14="http://schemas.microsoft.com/office/powerpoint/2010/main" val="155545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r>
              <a:rPr lang="en-US" dirty="0" smtClean="0"/>
              <a:t>(</a:t>
            </a:r>
            <a:r>
              <a:rPr lang="en-US" dirty="0"/>
              <a:t>c) </a:t>
            </a:r>
            <a:r>
              <a:rPr lang="en-US" dirty="0" smtClean="0"/>
              <a:t>	</a:t>
            </a:r>
            <a:r>
              <a:rPr lang="en-US" dirty="0" smtClean="0">
                <a:latin typeface="Courier New" panose="02070309020205020404" pitchFamily="49" charset="0"/>
                <a:cs typeface="Courier New" panose="02070309020205020404" pitchFamily="49" charset="0"/>
              </a:rPr>
              <a:t>while </a:t>
            </a:r>
            <a:r>
              <a:rPr lang="en-US" dirty="0">
                <a:latin typeface="Courier New" panose="02070309020205020404" pitchFamily="49" charset="0"/>
                <a:cs typeface="Courier New" panose="02070309020205020404" pitchFamily="49" charset="0"/>
              </a:rPr>
              <a:t>not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(A)</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push(B</a:t>
            </a:r>
            <a:r>
              <a:rPr lang="en-US" dirty="0">
                <a:latin typeface="Courier New" panose="02070309020205020404" pitchFamily="49" charset="0"/>
                <a:cs typeface="Courier New" panose="02070309020205020404" pitchFamily="49" charset="0"/>
              </a:rPr>
              <a:t>, pop(A</a:t>
            </a:r>
            <a:r>
              <a:rPr lang="en-US" dirty="0" smtClean="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t>(d)</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reverse(S1</a:t>
            </a:r>
            <a:r>
              <a:rPr lang="en-US" dirty="0">
                <a:latin typeface="Courier New" panose="02070309020205020404" pitchFamily="49" charset="0"/>
                <a:cs typeface="Courier New" panose="02070309020205020404" pitchFamily="49" charset="0"/>
              </a:rPr>
              <a:t>, S2)</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1 to N</a:t>
            </a:r>
          </a:p>
          <a:p>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pop(S2)</a:t>
            </a:r>
          </a:p>
          <a:p>
            <a:r>
              <a:rPr lang="en-US" dirty="0" smtClean="0">
                <a:latin typeface="Courier New" panose="02070309020205020404" pitchFamily="49" charset="0"/>
                <a:cs typeface="Courier New" panose="02070309020205020404" pitchFamily="49" charset="0"/>
              </a:rPr>
              <a:t>	reverse(S2</a:t>
            </a:r>
            <a:r>
              <a:rPr lang="en-US" dirty="0">
                <a:latin typeface="Courier New" panose="02070309020205020404" pitchFamily="49" charset="0"/>
                <a:cs typeface="Courier New" panose="02070309020205020404" pitchFamily="49" charset="0"/>
              </a:rPr>
              <a:t>, S1)</a:t>
            </a:r>
          </a:p>
        </p:txBody>
      </p:sp>
      <p:sp>
        <p:nvSpPr>
          <p:cNvPr id="3" name="Slide Number Placeholder 2"/>
          <p:cNvSpPr>
            <a:spLocks noGrp="1"/>
          </p:cNvSpPr>
          <p:nvPr>
            <p:ph type="sldNum" sz="quarter" idx="12"/>
          </p:nvPr>
        </p:nvSpPr>
        <p:spPr/>
        <p:txBody>
          <a:bodyPr/>
          <a:lstStyle/>
          <a:p>
            <a:fld id="{6D22F896-40B5-4ADD-8801-0D06FADFA095}" type="slidenum">
              <a:rPr lang="en-US" smtClean="0"/>
              <a:t>37</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40641600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 </a:t>
            </a:r>
            <a:r>
              <a:rPr lang="en-US" dirty="0" smtClean="0"/>
              <a:t>	</a:t>
            </a:r>
            <a:r>
              <a:rPr lang="en-US" dirty="0" smtClean="0">
                <a:latin typeface="Courier New" panose="02070309020205020404" pitchFamily="49" charset="0"/>
                <a:cs typeface="Courier New" panose="02070309020205020404" pitchFamily="49" charset="0"/>
              </a:rPr>
              <a:t>define </a:t>
            </a:r>
            <a:r>
              <a:rPr lang="en-US" dirty="0">
                <a:latin typeface="Courier New" panose="02070309020205020404" pitchFamily="49" charset="0"/>
                <a:cs typeface="Courier New" panose="02070309020205020404" pitchFamily="49" charset="0"/>
              </a:rPr>
              <a:t>stack S3</a:t>
            </a:r>
          </a:p>
          <a:p>
            <a:r>
              <a:rPr lang="en-US" dirty="0" smtClean="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t down to n</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push(S3</a:t>
            </a:r>
            <a:r>
              <a:rPr lang="en-US" dirty="0">
                <a:latin typeface="Courier New" panose="02070309020205020404" pitchFamily="49" charset="0"/>
                <a:cs typeface="Courier New" panose="02070309020205020404" pitchFamily="49" charset="0"/>
              </a:rPr>
              <a:t>, pop(S1))</a:t>
            </a:r>
          </a:p>
          <a:p>
            <a:r>
              <a:rPr lang="en-US" dirty="0" smtClean="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1 to k</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push(S2</a:t>
            </a:r>
            <a:r>
              <a:rPr lang="en-US" dirty="0">
                <a:latin typeface="Courier New" panose="02070309020205020404" pitchFamily="49" charset="0"/>
                <a:cs typeface="Courier New" panose="02070309020205020404" pitchFamily="49" charset="0"/>
              </a:rPr>
              <a:t>, pop(S3))</a:t>
            </a:r>
          </a:p>
          <a:p>
            <a:r>
              <a:rPr lang="en-US" dirty="0" smtClean="0">
                <a:latin typeface="Courier New" panose="02070309020205020404" pitchFamily="49" charset="0"/>
                <a:cs typeface="Courier New" panose="02070309020205020404" pitchFamily="49" charset="0"/>
              </a:rPr>
              <a:t>	reverse(S3</a:t>
            </a:r>
            <a:r>
              <a:rPr lang="en-US" dirty="0">
                <a:latin typeface="Courier New" panose="02070309020205020404" pitchFamily="49" charset="0"/>
                <a:cs typeface="Courier New" panose="02070309020205020404" pitchFamily="49" charset="0"/>
              </a:rPr>
              <a:t>, S1)</a:t>
            </a:r>
          </a:p>
        </p:txBody>
      </p:sp>
      <p:sp>
        <p:nvSpPr>
          <p:cNvPr id="3" name="Slide Number Placeholder 2"/>
          <p:cNvSpPr>
            <a:spLocks noGrp="1"/>
          </p:cNvSpPr>
          <p:nvPr>
            <p:ph type="sldNum" sz="quarter" idx="12"/>
          </p:nvPr>
        </p:nvSpPr>
        <p:spPr/>
        <p:txBody>
          <a:bodyPr/>
          <a:lstStyle/>
          <a:p>
            <a:fld id="{6D22F896-40B5-4ADD-8801-0D06FADFA095}" type="slidenum">
              <a:rPr lang="en-US" smtClean="0"/>
              <a:t>38</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25169215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5.1 on P. 164 of the textbook.</a:t>
            </a:r>
            <a:endParaRPr lang="en-US" dirty="0"/>
          </a:p>
          <a:p>
            <a:r>
              <a:rPr lang="en-US" dirty="0" smtClean="0">
                <a:solidFill>
                  <a:srgbClr val="FF0000"/>
                </a:solidFill>
              </a:rPr>
              <a:t>(a) (</a:t>
            </a:r>
            <a:r>
              <a:rPr lang="en-US" dirty="0" err="1" smtClean="0">
                <a:solidFill>
                  <a:srgbClr val="FF0000"/>
                </a:solidFill>
              </a:rPr>
              <a:t>i</a:t>
            </a:r>
            <a:r>
              <a:rPr lang="en-US" dirty="0" smtClean="0">
                <a:solidFill>
                  <a:srgbClr val="FF0000"/>
                </a:solidFill>
              </a:rPr>
              <a:t>) </a:t>
            </a:r>
          </a:p>
          <a:p>
            <a:endParaRPr lang="en-US" dirty="0" smtClean="0">
              <a:solidFill>
                <a:srgbClr val="FF0000"/>
              </a:solidFill>
            </a:endParaRPr>
          </a:p>
          <a:p>
            <a:r>
              <a:rPr lang="en-US" dirty="0" smtClean="0">
                <a:solidFill>
                  <a:srgbClr val="FF0000"/>
                </a:solidFill>
              </a:rPr>
              <a:t/>
            </a:r>
            <a:br>
              <a:rPr lang="en-US" dirty="0" smtClean="0">
                <a:solidFill>
                  <a:srgbClr val="FF0000"/>
                </a:solidFill>
              </a:rPr>
            </a:br>
            <a:endParaRPr lang="en-US" dirty="0">
              <a:solidFill>
                <a:srgbClr val="FF0000"/>
              </a:solidFill>
            </a:endParaRPr>
          </a:p>
          <a:p>
            <a:endParaRPr lang="en-US" dirty="0" smtClean="0">
              <a:solidFill>
                <a:srgbClr val="FF0000"/>
              </a:solidFill>
            </a:endParaRPr>
          </a:p>
          <a:p>
            <a:r>
              <a:rPr lang="en-US" dirty="0">
                <a:solidFill>
                  <a:srgbClr val="FF0000"/>
                </a:solidFill>
              </a:rPr>
              <a:t> </a:t>
            </a:r>
            <a:r>
              <a:rPr lang="en-US" dirty="0" smtClean="0">
                <a:solidFill>
                  <a:srgbClr val="FF0000"/>
                </a:solidFill>
              </a:rPr>
              <a:t>    (ii)</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39</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833917" y="2073909"/>
            <a:ext cx="3248021" cy="2055388"/>
          </a:xfrm>
          <a:prstGeom prst="rect">
            <a:avLst/>
          </a:prstGeom>
        </p:spPr>
      </p:pic>
      <p:pic>
        <p:nvPicPr>
          <p:cNvPr id="6" name="Picture 5"/>
          <p:cNvPicPr>
            <a:picLocks noChangeAspect="1"/>
          </p:cNvPicPr>
          <p:nvPr/>
        </p:nvPicPr>
        <p:blipFill>
          <a:blip r:embed="rId3"/>
          <a:stretch>
            <a:fillRect/>
          </a:stretch>
        </p:blipFill>
        <p:spPr>
          <a:xfrm>
            <a:off x="1833917" y="4318572"/>
            <a:ext cx="3248021" cy="2028732"/>
          </a:xfrm>
          <a:prstGeom prst="rect">
            <a:avLst/>
          </a:prstGeom>
        </p:spPr>
      </p:pic>
    </p:spTree>
    <p:extLst>
      <p:ext uri="{BB962C8B-B14F-4D97-AF65-F5344CB8AC3E}">
        <p14:creationId xmlns:p14="http://schemas.microsoft.com/office/powerpoint/2010/main" val="372529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fade">
                                      <p:cBhvr>
                                        <p:cTn id="15" dur="500"/>
                                        <p:tgtEl>
                                          <p:spTgt spid="2">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(b) (</a:t>
            </a:r>
            <a:r>
              <a:rPr lang="en-US" dirty="0" err="1" smtClean="0">
                <a:solidFill>
                  <a:srgbClr val="FF0000"/>
                </a:solidFill>
              </a:rPr>
              <a:t>i</a:t>
            </a:r>
            <a:r>
              <a:rPr lang="en-US" dirty="0" smtClean="0">
                <a:solidFill>
                  <a:srgbClr val="FF0000"/>
                </a:solidFill>
              </a:rPr>
              <a:t>) </a:t>
            </a:r>
          </a:p>
          <a:p>
            <a:r>
              <a:rPr lang="en-US" dirty="0" smtClean="0">
                <a:solidFill>
                  <a:srgbClr val="FF0000"/>
                </a:solidFill>
              </a:rPr>
              <a:t/>
            </a:r>
            <a:br>
              <a:rPr lang="en-US" dirty="0" smtClean="0">
                <a:solidFill>
                  <a:srgbClr val="FF0000"/>
                </a:solidFill>
              </a:rPr>
            </a:br>
            <a:r>
              <a:rPr lang="en-US" dirty="0">
                <a:solidFill>
                  <a:srgbClr val="FF0000"/>
                </a:solidFill>
              </a:rPr>
              <a:t/>
            </a:r>
            <a:br>
              <a:rPr lang="en-US" dirty="0">
                <a:solidFill>
                  <a:srgbClr val="FF0000"/>
                </a:solidFill>
              </a:rPr>
            </a:br>
            <a:endParaRPr lang="en-US" dirty="0">
              <a:solidFill>
                <a:srgbClr val="FF0000"/>
              </a:solidFill>
            </a:endParaRPr>
          </a:p>
          <a:p>
            <a:r>
              <a:rPr lang="en-US" dirty="0" smtClean="0">
                <a:solidFill>
                  <a:srgbClr val="FF0000"/>
                </a:solidFill>
              </a:rPr>
              <a:t>     (ii)</a:t>
            </a:r>
          </a:p>
        </p:txBody>
      </p:sp>
      <p:sp>
        <p:nvSpPr>
          <p:cNvPr id="3" name="Slide Number Placeholder 2"/>
          <p:cNvSpPr>
            <a:spLocks noGrp="1"/>
          </p:cNvSpPr>
          <p:nvPr>
            <p:ph type="sldNum" sz="quarter" idx="12"/>
          </p:nvPr>
        </p:nvSpPr>
        <p:spPr/>
        <p:txBody>
          <a:bodyPr/>
          <a:lstStyle/>
          <a:p>
            <a:fld id="{6D22F896-40B5-4ADD-8801-0D06FADFA095}" type="slidenum">
              <a:rPr lang="en-US" smtClean="0"/>
              <a:t>40</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648501" y="1535058"/>
            <a:ext cx="9573682" cy="1349418"/>
          </a:xfrm>
          <a:prstGeom prst="rect">
            <a:avLst/>
          </a:prstGeom>
        </p:spPr>
      </p:pic>
      <p:pic>
        <p:nvPicPr>
          <p:cNvPr id="6" name="Picture 5"/>
          <p:cNvPicPr>
            <a:picLocks noChangeAspect="1"/>
          </p:cNvPicPr>
          <p:nvPr/>
        </p:nvPicPr>
        <p:blipFill>
          <a:blip r:embed="rId3"/>
          <a:stretch>
            <a:fillRect/>
          </a:stretch>
        </p:blipFill>
        <p:spPr>
          <a:xfrm>
            <a:off x="1648501" y="3284985"/>
            <a:ext cx="9573682" cy="1313098"/>
          </a:xfrm>
          <a:prstGeom prst="rect">
            <a:avLst/>
          </a:prstGeom>
        </p:spPr>
      </p:pic>
    </p:spTree>
    <p:extLst>
      <p:ext uri="{BB962C8B-B14F-4D97-AF65-F5344CB8AC3E}">
        <p14:creationId xmlns:p14="http://schemas.microsoft.com/office/powerpoint/2010/main" val="61356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(c) No action</a:t>
            </a:r>
          </a:p>
          <a:p>
            <a:endParaRPr lang="en-US" dirty="0">
              <a:solidFill>
                <a:srgbClr val="FF0000"/>
              </a:solidFill>
            </a:endParaRPr>
          </a:p>
          <a:p>
            <a:r>
              <a:rPr lang="en-US" dirty="0">
                <a:solidFill>
                  <a:srgbClr val="FF0000"/>
                </a:solidFill>
              </a:rPr>
              <a:t>(d) Firstly, remove the bottommost item in </a:t>
            </a:r>
            <a:r>
              <a:rPr lang="en-US" dirty="0" err="1">
                <a:solidFill>
                  <a:srgbClr val="FF0000"/>
                </a:solidFill>
                <a:latin typeface="Courier New" panose="02070309020205020404" pitchFamily="49" charset="0"/>
                <a:cs typeface="Courier New" panose="02070309020205020404" pitchFamily="49" charset="0"/>
              </a:rPr>
              <a:t>goForward</a:t>
            </a:r>
            <a:r>
              <a:rPr lang="en-US" dirty="0">
                <a:solidFill>
                  <a:srgbClr val="FF0000"/>
                </a:solidFill>
              </a:rPr>
              <a:t>. Then, perform the stack manipulation for clicking “go back”, i.e. </a:t>
            </a:r>
            <a:r>
              <a:rPr lang="en-US" dirty="0">
                <a:solidFill>
                  <a:srgbClr val="FF0000"/>
                </a:solidFill>
                <a:latin typeface="Courier New" panose="02070309020205020404" pitchFamily="49" charset="0"/>
                <a:cs typeface="Courier New" panose="02070309020205020404" pitchFamily="49" charset="0"/>
              </a:rPr>
              <a:t>push(</a:t>
            </a:r>
            <a:r>
              <a:rPr lang="en-US" dirty="0" err="1">
                <a:solidFill>
                  <a:srgbClr val="FF0000"/>
                </a:solidFill>
                <a:latin typeface="Courier New" panose="02070309020205020404" pitchFamily="49" charset="0"/>
                <a:cs typeface="Courier New" panose="02070309020205020404" pitchFamily="49" charset="0"/>
              </a:rPr>
              <a:t>goForward</a:t>
            </a:r>
            <a:r>
              <a:rPr lang="en-US" dirty="0">
                <a:solidFill>
                  <a:srgbClr val="FF0000"/>
                </a:solidFill>
                <a:latin typeface="Courier New" panose="02070309020205020404" pitchFamily="49" charset="0"/>
                <a:cs typeface="Courier New" panose="02070309020205020404" pitchFamily="49" charset="0"/>
              </a:rPr>
              <a:t>, pop(</a:t>
            </a:r>
            <a:r>
              <a:rPr lang="en-US" dirty="0" err="1">
                <a:solidFill>
                  <a:srgbClr val="FF0000"/>
                </a:solidFill>
                <a:latin typeface="Courier New" panose="02070309020205020404" pitchFamily="49" charset="0"/>
                <a:cs typeface="Courier New" panose="02070309020205020404" pitchFamily="49" charset="0"/>
              </a:rPr>
              <a:t>goBack</a:t>
            </a:r>
            <a:r>
              <a:rPr lang="en-US" dirty="0">
                <a:solidFill>
                  <a:srgbClr val="FF0000"/>
                </a:solidFill>
                <a:latin typeface="Courier New" panose="02070309020205020404" pitchFamily="49" charset="0"/>
                <a:cs typeface="Courier New" panose="02070309020205020404" pitchFamily="49" charset="0"/>
              </a:rPr>
              <a:t>))</a:t>
            </a:r>
            <a:r>
              <a:rPr lang="en-US" dirty="0">
                <a:solidFill>
                  <a:srgbClr val="FF0000"/>
                </a:solidFill>
              </a:rPr>
              <a:t>.</a:t>
            </a:r>
          </a:p>
        </p:txBody>
      </p:sp>
      <p:sp>
        <p:nvSpPr>
          <p:cNvPr id="3" name="Slide Number Placeholder 2"/>
          <p:cNvSpPr>
            <a:spLocks noGrp="1"/>
          </p:cNvSpPr>
          <p:nvPr>
            <p:ph type="sldNum" sz="quarter" idx="12"/>
          </p:nvPr>
        </p:nvSpPr>
        <p:spPr/>
        <p:txBody>
          <a:bodyPr/>
          <a:lstStyle/>
          <a:p>
            <a:fld id="{6D22F896-40B5-4ADD-8801-0D06FADFA095}" type="slidenum">
              <a:rPr lang="en-US" smtClean="0"/>
              <a:t>41</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3854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42</a:t>
            </a:fld>
            <a:endParaRPr lang="en-US" dirty="0"/>
          </a:p>
        </p:txBody>
      </p:sp>
      <p:sp>
        <p:nvSpPr>
          <p:cNvPr id="4" name="Text Placeholder 3"/>
          <p:cNvSpPr>
            <a:spLocks noGrp="1"/>
          </p:cNvSpPr>
          <p:nvPr>
            <p:ph type="body" sz="quarter" idx="14"/>
          </p:nvPr>
        </p:nvSpPr>
        <p:spPr/>
        <p:txBody>
          <a:bodyPr/>
          <a:lstStyle/>
          <a:p>
            <a:r>
              <a:rPr lang="en-US" dirty="0" smtClean="0"/>
              <a:t>5.3</a:t>
            </a:r>
            <a:endParaRPr lang="en-US" dirty="0"/>
          </a:p>
        </p:txBody>
      </p:sp>
      <p:sp>
        <p:nvSpPr>
          <p:cNvPr id="5" name="Content Placeholder 4"/>
          <p:cNvSpPr>
            <a:spLocks noGrp="1"/>
          </p:cNvSpPr>
          <p:nvPr>
            <p:ph sz="quarter" idx="15"/>
          </p:nvPr>
        </p:nvSpPr>
        <p:spPr/>
        <p:txBody>
          <a:bodyPr/>
          <a:lstStyle/>
          <a:p>
            <a:r>
              <a:rPr lang="en-US" dirty="0"/>
              <a:t>Suppose that you are now waiting in a queue outside a newly opened restaurant. The restaurant has no table reservation </a:t>
            </a:r>
            <a:r>
              <a:rPr lang="en-US" dirty="0" smtClean="0"/>
              <a:t>system.</a:t>
            </a:r>
          </a:p>
          <a:p>
            <a:endParaRPr lang="en-US" dirty="0"/>
          </a:p>
          <a:p>
            <a:r>
              <a:rPr lang="en-US" dirty="0" smtClean="0"/>
              <a:t>Instead</a:t>
            </a:r>
            <a:r>
              <a:rPr lang="en-US" dirty="0"/>
              <a:t>, it let diners enter sequentially using the first-come, first-served approach.</a:t>
            </a:r>
          </a:p>
        </p:txBody>
      </p:sp>
      <p:pic>
        <p:nvPicPr>
          <p:cNvPr id="6" name="Picture 5"/>
          <p:cNvPicPr>
            <a:picLocks noChangeAspect="1"/>
          </p:cNvPicPr>
          <p:nvPr/>
        </p:nvPicPr>
        <p:blipFill>
          <a:blip r:embed="rId2"/>
          <a:stretch>
            <a:fillRect/>
          </a:stretch>
        </p:blipFill>
        <p:spPr>
          <a:xfrm>
            <a:off x="3738234" y="3488918"/>
            <a:ext cx="4200422" cy="2800282"/>
          </a:xfrm>
          <a:prstGeom prst="rect">
            <a:avLst/>
          </a:prstGeom>
        </p:spPr>
      </p:pic>
    </p:spTree>
    <p:extLst>
      <p:ext uri="{BB962C8B-B14F-4D97-AF65-F5344CB8AC3E}">
        <p14:creationId xmlns:p14="http://schemas.microsoft.com/office/powerpoint/2010/main" val="6630920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queues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43</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Since you are the first diner in the queue, you can enter the restaurant first. This mode of manipulation is called </a:t>
            </a:r>
            <a:r>
              <a:rPr lang="en-US" b="1" dirty="0">
                <a:solidFill>
                  <a:srgbClr val="4D4FA0"/>
                </a:solidFill>
              </a:rPr>
              <a:t>First-In First-Out (FIFO).</a:t>
            </a:r>
          </a:p>
        </p:txBody>
      </p:sp>
      <p:pic>
        <p:nvPicPr>
          <p:cNvPr id="6" name="Picture 5"/>
          <p:cNvPicPr>
            <a:picLocks noChangeAspect="1"/>
          </p:cNvPicPr>
          <p:nvPr/>
        </p:nvPicPr>
        <p:blipFill>
          <a:blip r:embed="rId2"/>
          <a:stretch>
            <a:fillRect/>
          </a:stretch>
        </p:blipFill>
        <p:spPr>
          <a:xfrm>
            <a:off x="3830115" y="2791732"/>
            <a:ext cx="4532969" cy="2758112"/>
          </a:xfrm>
          <a:prstGeom prst="rect">
            <a:avLst/>
          </a:prstGeom>
        </p:spPr>
      </p:pic>
    </p:spTree>
    <p:extLst>
      <p:ext uri="{BB962C8B-B14F-4D97-AF65-F5344CB8AC3E}">
        <p14:creationId xmlns:p14="http://schemas.microsoft.com/office/powerpoint/2010/main" val="28846548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queues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44</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4D4FA0"/>
                </a:solidFill>
              </a:rPr>
              <a:t>queue</a:t>
            </a:r>
            <a:r>
              <a:rPr lang="en-US" dirty="0"/>
              <a:t> is a data structure that adopts the above mode of manipulation. </a:t>
            </a:r>
            <a:endParaRPr lang="en-US" dirty="0" smtClean="0"/>
          </a:p>
          <a:p>
            <a:endParaRPr lang="en-US" dirty="0"/>
          </a:p>
          <a:p>
            <a:r>
              <a:rPr lang="en-US" dirty="0" smtClean="0"/>
              <a:t>When </a:t>
            </a:r>
            <a:r>
              <a:rPr lang="en-US" dirty="0"/>
              <a:t>you add a data item to a queue (</a:t>
            </a:r>
            <a:r>
              <a:rPr lang="en-US" b="1" dirty="0" err="1">
                <a:solidFill>
                  <a:srgbClr val="4D4FA0"/>
                </a:solidFill>
              </a:rPr>
              <a:t>enqueue</a:t>
            </a:r>
            <a:r>
              <a:rPr lang="en-US" dirty="0"/>
              <a:t>), that data item will be added to the end of the queue.</a:t>
            </a:r>
          </a:p>
        </p:txBody>
      </p:sp>
      <p:pic>
        <p:nvPicPr>
          <p:cNvPr id="6" name="Picture 5"/>
          <p:cNvPicPr>
            <a:picLocks noChangeAspect="1"/>
          </p:cNvPicPr>
          <p:nvPr/>
        </p:nvPicPr>
        <p:blipFill>
          <a:blip r:embed="rId2"/>
          <a:stretch>
            <a:fillRect/>
          </a:stretch>
        </p:blipFill>
        <p:spPr>
          <a:xfrm>
            <a:off x="3708493" y="3550107"/>
            <a:ext cx="4620608" cy="2526497"/>
          </a:xfrm>
          <a:prstGeom prst="rect">
            <a:avLst/>
          </a:prstGeom>
        </p:spPr>
      </p:pic>
    </p:spTree>
    <p:extLst>
      <p:ext uri="{BB962C8B-B14F-4D97-AF65-F5344CB8AC3E}">
        <p14:creationId xmlns:p14="http://schemas.microsoft.com/office/powerpoint/2010/main" val="3373537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queues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45</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When you take a data item from the queue (</a:t>
            </a:r>
            <a:r>
              <a:rPr lang="en-US" b="1" dirty="0" err="1">
                <a:solidFill>
                  <a:srgbClr val="4D4FA0"/>
                </a:solidFill>
              </a:rPr>
              <a:t>dequeue</a:t>
            </a:r>
            <a:r>
              <a:rPr lang="en-US" dirty="0"/>
              <a:t>), the removed item will be the one at the beginning of the queue, i.e. the first item that you have added.</a:t>
            </a:r>
          </a:p>
        </p:txBody>
      </p:sp>
      <p:pic>
        <p:nvPicPr>
          <p:cNvPr id="7" name="Picture 6"/>
          <p:cNvPicPr>
            <a:picLocks noChangeAspect="1"/>
          </p:cNvPicPr>
          <p:nvPr/>
        </p:nvPicPr>
        <p:blipFill>
          <a:blip r:embed="rId2"/>
          <a:stretch>
            <a:fillRect/>
          </a:stretch>
        </p:blipFill>
        <p:spPr>
          <a:xfrm>
            <a:off x="3438754" y="2869200"/>
            <a:ext cx="4549777" cy="2389041"/>
          </a:xfrm>
          <a:prstGeom prst="rect">
            <a:avLst/>
          </a:prstGeom>
        </p:spPr>
      </p:pic>
    </p:spTree>
    <p:extLst>
      <p:ext uri="{BB962C8B-B14F-4D97-AF65-F5344CB8AC3E}">
        <p14:creationId xmlns:p14="http://schemas.microsoft.com/office/powerpoint/2010/main" val="24018460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queues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Queues are widely applied in computer systems. For example, the order of printing documents is stored as a queue in the printer memory. </a:t>
            </a:r>
          </a:p>
        </p:txBody>
      </p:sp>
      <p:pic>
        <p:nvPicPr>
          <p:cNvPr id="6" name="Picture 5"/>
          <p:cNvPicPr>
            <a:picLocks noChangeAspect="1"/>
          </p:cNvPicPr>
          <p:nvPr/>
        </p:nvPicPr>
        <p:blipFill>
          <a:blip r:embed="rId2"/>
          <a:stretch>
            <a:fillRect/>
          </a:stretch>
        </p:blipFill>
        <p:spPr>
          <a:xfrm>
            <a:off x="1918800" y="2649829"/>
            <a:ext cx="8112733" cy="2598741"/>
          </a:xfrm>
          <a:prstGeom prst="rect">
            <a:avLst/>
          </a:prstGeom>
        </p:spPr>
      </p:pic>
    </p:spTree>
    <p:extLst>
      <p:ext uri="{BB962C8B-B14F-4D97-AF65-F5344CB8AC3E}">
        <p14:creationId xmlns:p14="http://schemas.microsoft.com/office/powerpoint/2010/main" val="242447143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queues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47</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We can use a Python list to store items in a queue and implement various queue manipulations. See the following basic queue manipulations:</a:t>
            </a:r>
          </a:p>
        </p:txBody>
      </p:sp>
      <p:pic>
        <p:nvPicPr>
          <p:cNvPr id="6" name="Picture 5"/>
          <p:cNvPicPr>
            <a:picLocks noChangeAspect="1"/>
          </p:cNvPicPr>
          <p:nvPr/>
        </p:nvPicPr>
        <p:blipFill>
          <a:blip r:embed="rId2"/>
          <a:stretch>
            <a:fillRect/>
          </a:stretch>
        </p:blipFill>
        <p:spPr>
          <a:xfrm>
            <a:off x="1205870" y="2745556"/>
            <a:ext cx="9762385" cy="2084641"/>
          </a:xfrm>
          <a:prstGeom prst="rect">
            <a:avLst/>
          </a:prstGeom>
        </p:spPr>
      </p:pic>
    </p:spTree>
    <p:extLst>
      <p:ext uri="{BB962C8B-B14F-4D97-AF65-F5344CB8AC3E}">
        <p14:creationId xmlns:p14="http://schemas.microsoft.com/office/powerpoint/2010/main" val="10823365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queues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48</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The following diagrams explain how to implement queue manipulations using a list:</a:t>
            </a:r>
          </a:p>
        </p:txBody>
      </p:sp>
      <p:pic>
        <p:nvPicPr>
          <p:cNvPr id="6" name="Picture 5"/>
          <p:cNvPicPr>
            <a:picLocks noChangeAspect="1"/>
          </p:cNvPicPr>
          <p:nvPr/>
        </p:nvPicPr>
        <p:blipFill>
          <a:blip r:embed="rId2"/>
          <a:stretch>
            <a:fillRect/>
          </a:stretch>
        </p:blipFill>
        <p:spPr>
          <a:xfrm>
            <a:off x="1232081" y="2189535"/>
            <a:ext cx="9795541" cy="4099665"/>
          </a:xfrm>
          <a:prstGeom prst="rect">
            <a:avLst/>
          </a:prstGeom>
        </p:spPr>
      </p:pic>
    </p:spTree>
    <p:extLst>
      <p:ext uri="{BB962C8B-B14F-4D97-AF65-F5344CB8AC3E}">
        <p14:creationId xmlns:p14="http://schemas.microsoft.com/office/powerpoint/2010/main" val="350806385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queues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49</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a:blip r:embed="rId2"/>
          <a:stretch>
            <a:fillRect/>
          </a:stretch>
        </p:blipFill>
        <p:spPr>
          <a:xfrm>
            <a:off x="1113263" y="1520523"/>
            <a:ext cx="9966674" cy="4857354"/>
          </a:xfrm>
          <a:prstGeom prst="rect">
            <a:avLst/>
          </a:prstGeom>
        </p:spPr>
      </p:pic>
    </p:spTree>
    <p:extLst>
      <p:ext uri="{BB962C8B-B14F-4D97-AF65-F5344CB8AC3E}">
        <p14:creationId xmlns:p14="http://schemas.microsoft.com/office/powerpoint/2010/main" val="11728440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Manipulation of queues in Python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50</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8" name="Picture 7"/>
          <p:cNvPicPr>
            <a:picLocks noChangeAspect="1"/>
          </p:cNvPicPr>
          <p:nvPr/>
        </p:nvPicPr>
        <p:blipFill>
          <a:blip r:embed="rId2"/>
          <a:stretch>
            <a:fillRect/>
          </a:stretch>
        </p:blipFill>
        <p:spPr>
          <a:xfrm>
            <a:off x="1234475" y="1609200"/>
            <a:ext cx="9724249" cy="4812237"/>
          </a:xfrm>
          <a:prstGeom prst="rect">
            <a:avLst/>
          </a:prstGeom>
        </p:spPr>
      </p:pic>
    </p:spTree>
    <p:extLst>
      <p:ext uri="{BB962C8B-B14F-4D97-AF65-F5344CB8AC3E}">
        <p14:creationId xmlns:p14="http://schemas.microsoft.com/office/powerpoint/2010/main" val="137332472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Marco </a:t>
            </a:r>
            <a:r>
              <a:rPr lang="en-US" dirty="0"/>
              <a:t>creates a number array </a:t>
            </a:r>
            <a:r>
              <a:rPr lang="en-US" dirty="0">
                <a:latin typeface="Courier New" panose="02070309020205020404" pitchFamily="49" charset="0"/>
                <a:cs typeface="Courier New" panose="02070309020205020404" pitchFamily="49" charset="0"/>
              </a:rPr>
              <a:t>Q</a:t>
            </a:r>
            <a:r>
              <a:rPr lang="en-US" dirty="0"/>
              <a:t> with indexes from 1 to 10 and manipulates the array as a </a:t>
            </a:r>
            <a:r>
              <a:rPr lang="en-US" dirty="0" smtClean="0"/>
              <a:t>queue:</a:t>
            </a:r>
          </a:p>
          <a:p>
            <a:r>
              <a:rPr lang="en-US" dirty="0"/>
              <a:t/>
            </a:r>
            <a:br>
              <a:rPr lang="en-US" dirty="0"/>
            </a:br>
            <a:endParaRPr lang="en-US" dirty="0"/>
          </a:p>
          <a:p>
            <a:r>
              <a:rPr lang="en-US" dirty="0"/>
              <a:t>Refer to the following sub-programs for queue manipulation:</a:t>
            </a:r>
          </a:p>
        </p:txBody>
      </p:sp>
      <p:sp>
        <p:nvSpPr>
          <p:cNvPr id="3" name="Slide Number Placeholder 2"/>
          <p:cNvSpPr>
            <a:spLocks noGrp="1"/>
          </p:cNvSpPr>
          <p:nvPr>
            <p:ph type="sldNum" sz="quarter" idx="12"/>
          </p:nvPr>
        </p:nvSpPr>
        <p:spPr/>
        <p:txBody>
          <a:bodyPr/>
          <a:lstStyle/>
          <a:p>
            <a:fld id="{6D22F896-40B5-4ADD-8801-0D06FADFA095}" type="slidenum">
              <a:rPr lang="en-US" smtClean="0"/>
              <a:t>51</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1693893" y="2309750"/>
            <a:ext cx="8202582" cy="627852"/>
          </a:xfrm>
          <a:prstGeom prst="rect">
            <a:avLst/>
          </a:prstGeom>
        </p:spPr>
      </p:pic>
      <p:pic>
        <p:nvPicPr>
          <p:cNvPr id="6" name="Picture 5"/>
          <p:cNvPicPr>
            <a:picLocks noChangeAspect="1"/>
          </p:cNvPicPr>
          <p:nvPr/>
        </p:nvPicPr>
        <p:blipFill>
          <a:blip r:embed="rId3"/>
          <a:stretch>
            <a:fillRect/>
          </a:stretch>
        </p:blipFill>
        <p:spPr>
          <a:xfrm>
            <a:off x="2650971" y="3632881"/>
            <a:ext cx="7338466" cy="2703971"/>
          </a:xfrm>
          <a:prstGeom prst="rect">
            <a:avLst/>
          </a:prstGeom>
        </p:spPr>
      </p:pic>
    </p:spTree>
    <p:extLst>
      <p:ext uri="{BB962C8B-B14F-4D97-AF65-F5344CB8AC3E}">
        <p14:creationId xmlns:p14="http://schemas.microsoft.com/office/powerpoint/2010/main" val="82782101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Write </a:t>
            </a:r>
            <a:r>
              <a:rPr lang="en-US" dirty="0"/>
              <a:t>down the content of array Q after the following algorithm has been executed</a:t>
            </a:r>
            <a:r>
              <a:rPr lang="en-US" dirty="0" smtClean="0"/>
              <a:t>.</a:t>
            </a:r>
          </a:p>
          <a:p>
            <a:r>
              <a:rPr lang="en-US" dirty="0" smtClean="0"/>
              <a:t>	</a:t>
            </a:r>
            <a:r>
              <a:rPr lang="en-US" dirty="0" err="1" smtClean="0">
                <a:latin typeface="Courier New" panose="02070309020205020404" pitchFamily="49" charset="0"/>
                <a:cs typeface="Courier New" panose="02070309020205020404" pitchFamily="49" charset="0"/>
              </a:rPr>
              <a:t>enq</a:t>
            </a:r>
            <a:r>
              <a:rPr lang="en-US" dirty="0" smtClean="0">
                <a:latin typeface="Courier New" panose="02070309020205020404" pitchFamily="49" charset="0"/>
                <a:cs typeface="Courier New" panose="02070309020205020404" pitchFamily="49" charset="0"/>
              </a:rPr>
              <a:t>(Q</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20)</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deq</a:t>
            </a:r>
            <a:r>
              <a:rPr lang="en-US" dirty="0" smtClean="0">
                <a:latin typeface="Courier New" panose="02070309020205020404" pitchFamily="49" charset="0"/>
                <a:cs typeface="Courier New" panose="02070309020205020404" pitchFamily="49" charset="0"/>
              </a:rPr>
              <a:t>(Q)</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deq</a:t>
            </a:r>
            <a:r>
              <a:rPr lang="en-US" dirty="0" smtClean="0">
                <a:latin typeface="Courier New" panose="02070309020205020404" pitchFamily="49" charset="0"/>
                <a:cs typeface="Courier New" panose="02070309020205020404" pitchFamily="49" charset="0"/>
              </a:rPr>
              <a:t>(Q</a:t>
            </a:r>
            <a:r>
              <a:rPr lang="en-US" dirty="0">
                <a:latin typeface="Courier New" panose="02070309020205020404" pitchFamily="49" charset="0"/>
                <a:cs typeface="Courier New" panose="02070309020205020404" pitchFamily="49" charset="0"/>
              </a:rPr>
              <a:t>)</a:t>
            </a:r>
          </a:p>
        </p:txBody>
      </p:sp>
      <p:sp>
        <p:nvSpPr>
          <p:cNvPr id="3" name="Slide Number Placeholder 2"/>
          <p:cNvSpPr>
            <a:spLocks noGrp="1"/>
          </p:cNvSpPr>
          <p:nvPr>
            <p:ph type="sldNum" sz="quarter" idx="12"/>
          </p:nvPr>
        </p:nvSpPr>
        <p:spPr/>
        <p:txBody>
          <a:bodyPr/>
          <a:lstStyle/>
          <a:p>
            <a:fld id="{6D22F896-40B5-4ADD-8801-0D06FADFA095}" type="slidenum">
              <a:rPr lang="en-US" smtClean="0"/>
              <a:t>52</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11" name="Picture 10"/>
          <p:cNvPicPr>
            <a:picLocks noChangeAspect="1"/>
          </p:cNvPicPr>
          <p:nvPr/>
        </p:nvPicPr>
        <p:blipFill>
          <a:blip r:embed="rId2"/>
          <a:stretch>
            <a:fillRect/>
          </a:stretch>
        </p:blipFill>
        <p:spPr>
          <a:xfrm>
            <a:off x="1544006" y="3479788"/>
            <a:ext cx="9103988" cy="787623"/>
          </a:xfrm>
          <a:prstGeom prst="rect">
            <a:avLst/>
          </a:prstGeom>
        </p:spPr>
      </p:pic>
    </p:spTree>
    <p:extLst>
      <p:ext uri="{BB962C8B-B14F-4D97-AF65-F5344CB8AC3E}">
        <p14:creationId xmlns:p14="http://schemas.microsoft.com/office/powerpoint/2010/main" val="24968502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t>
            </a:r>
            <a:r>
              <a:rPr lang="en-US" dirty="0"/>
              <a:t>b) Marco writes the pseudocode for the sub-program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(Q)</a:t>
            </a:r>
            <a:r>
              <a:rPr lang="en-US" dirty="0"/>
              <a:t>, as follows</a:t>
            </a:r>
            <a:r>
              <a:rPr lang="en-US" dirty="0" smtClean="0"/>
              <a:t>:</a:t>
            </a:r>
          </a:p>
          <a:p>
            <a:endParaRPr lang="en-US" dirty="0"/>
          </a:p>
          <a:p>
            <a:r>
              <a:rPr lang="en-US" dirty="0" smtClean="0">
                <a:latin typeface="Courier New" panose="02070309020205020404" pitchFamily="49" charset="0"/>
                <a:cs typeface="Courier New" panose="02070309020205020404" pitchFamily="49" charset="0"/>
              </a:rPr>
              <a:t>	Sub-program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(Q)</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item(Q) = 0 then</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True</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smtClean="0">
                <a:latin typeface="Courier New" panose="02070309020205020404" pitchFamily="49" charset="0"/>
                <a:cs typeface="Courier New" panose="02070309020205020404" pitchFamily="49" charset="0"/>
              </a:rPr>
              <a:t>False</a:t>
            </a:r>
          </a:p>
          <a:p>
            <a:endParaRPr lang="en-US" dirty="0">
              <a:latin typeface="Courier New" panose="02070309020205020404" pitchFamily="49" charset="0"/>
              <a:cs typeface="Courier New" panose="02070309020205020404" pitchFamily="49" charset="0"/>
            </a:endParaRPr>
          </a:p>
          <a:p>
            <a:r>
              <a:rPr lang="en-US" dirty="0" smtClean="0"/>
              <a:t>       Write </a:t>
            </a:r>
            <a:r>
              <a:rPr lang="en-US" dirty="0"/>
              <a:t>the pseudocode for the sub-program </a:t>
            </a:r>
            <a:r>
              <a:rPr lang="en-US" dirty="0" err="1">
                <a:latin typeface="Courier New" panose="02070309020205020404" pitchFamily="49" charset="0"/>
                <a:cs typeface="Courier New" panose="02070309020205020404" pitchFamily="49" charset="0"/>
              </a:rPr>
              <a:t>isFull</a:t>
            </a:r>
            <a:r>
              <a:rPr lang="en-US" dirty="0">
                <a:latin typeface="Courier New" panose="02070309020205020404" pitchFamily="49" charset="0"/>
                <a:cs typeface="Courier New" panose="02070309020205020404" pitchFamily="49" charset="0"/>
              </a:rPr>
              <a:t>(Q)</a:t>
            </a:r>
            <a:r>
              <a:rPr lang="en-US" dirty="0"/>
              <a:t>.</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53</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420319981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Complete the pseudocode for the following sub-program </a:t>
            </a:r>
            <a:r>
              <a:rPr lang="en-US" dirty="0" err="1">
                <a:latin typeface="Courier New" panose="02070309020205020404" pitchFamily="49" charset="0"/>
                <a:cs typeface="Courier New" panose="02070309020205020404" pitchFamily="49" charset="0"/>
              </a:rPr>
              <a:t>enq</a:t>
            </a:r>
            <a:r>
              <a:rPr lang="en-US" dirty="0">
                <a:latin typeface="Courier New" panose="02070309020205020404" pitchFamily="49" charset="0"/>
                <a:cs typeface="Courier New" panose="02070309020205020404" pitchFamily="49" charset="0"/>
              </a:rPr>
              <a:t>(Q, </a:t>
            </a:r>
            <a:r>
              <a:rPr lang="en-US" dirty="0" err="1" smtClean="0">
                <a:latin typeface="Courier New" panose="02070309020205020404" pitchFamily="49" charset="0"/>
                <a:cs typeface="Courier New" panose="02070309020205020404" pitchFamily="49" charset="0"/>
              </a:rPr>
              <a:t>num</a:t>
            </a:r>
            <a:r>
              <a:rPr lang="en-US" dirty="0" smtClean="0">
                <a:latin typeface="Courier New" panose="02070309020205020404" pitchFamily="49" charset="0"/>
                <a:cs typeface="Courier New" panose="02070309020205020404" pitchFamily="49" charset="0"/>
              </a:rPr>
              <a:t>)</a:t>
            </a:r>
            <a:r>
              <a:rPr lang="en-US" dirty="0" smtClean="0">
                <a:latin typeface="+mn-lt"/>
                <a:cs typeface="Courier New" panose="02070309020205020404" pitchFamily="49" charset="0"/>
              </a:rPr>
              <a:t> </a:t>
            </a:r>
            <a:r>
              <a:rPr lang="en-US" dirty="0" smtClean="0"/>
              <a:t>for </a:t>
            </a:r>
            <a:r>
              <a:rPr lang="en-US" dirty="0"/>
              <a:t>Marco</a:t>
            </a:r>
            <a:r>
              <a:rPr lang="en-US" dirty="0" smtClean="0"/>
              <a:t>.</a:t>
            </a:r>
          </a:p>
          <a:p>
            <a:endParaRPr lang="en-US" dirty="0" smtClean="0"/>
          </a:p>
          <a:p>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enq</a:t>
            </a:r>
            <a:r>
              <a:rPr lang="en-US" dirty="0">
                <a:latin typeface="Courier New" panose="02070309020205020404" pitchFamily="49" charset="0"/>
                <a:cs typeface="Courier New" panose="02070309020205020404" pitchFamily="49" charset="0"/>
              </a:rPr>
              <a:t>(Q, </a:t>
            </a:r>
            <a:r>
              <a:rPr lang="en-US" dirty="0" err="1">
                <a:latin typeface="Courier New" panose="02070309020205020404" pitchFamily="49" charset="0"/>
                <a:cs typeface="Courier New" panose="02070309020205020404" pitchFamily="49" charset="0"/>
              </a:rPr>
              <a:t>num</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smtClean="0">
                <a:latin typeface="Courier New" panose="02070309020205020404" pitchFamily="49" charset="0"/>
                <a:cs typeface="Courier New" panose="02070309020205020404" pitchFamily="49" charset="0"/>
              </a:rPr>
              <a:t>______________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Unsuccessful“</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______________</a:t>
            </a:r>
            <a:endParaRPr lang="en-US" dirty="0">
              <a:latin typeface="Courier New" panose="02070309020205020404" pitchFamily="49" charset="0"/>
              <a:cs typeface="Courier New" panose="02070309020205020404" pitchFamily="49" charset="0"/>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54</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250014938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(d) Write the pseudocode for the sub-program </a:t>
            </a:r>
            <a:r>
              <a:rPr lang="en-US" dirty="0" err="1">
                <a:latin typeface="Courier New" panose="02070309020205020404" pitchFamily="49" charset="0"/>
                <a:cs typeface="Courier New" panose="02070309020205020404" pitchFamily="49" charset="0"/>
              </a:rPr>
              <a:t>deq</a:t>
            </a:r>
            <a:r>
              <a:rPr lang="en-US" dirty="0">
                <a:latin typeface="Courier New" panose="02070309020205020404" pitchFamily="49" charset="0"/>
                <a:cs typeface="Courier New" panose="02070309020205020404" pitchFamily="49" charset="0"/>
              </a:rPr>
              <a:t>(Q</a:t>
            </a:r>
            <a:r>
              <a:rPr lang="en-US" dirty="0" smtClean="0">
                <a:latin typeface="Courier New" panose="02070309020205020404" pitchFamily="49" charset="0"/>
                <a:cs typeface="Courier New" panose="02070309020205020404" pitchFamily="49" charset="0"/>
              </a:rPr>
              <a:t>)</a:t>
            </a:r>
            <a:r>
              <a:rPr lang="en-US" dirty="0" smtClean="0"/>
              <a:t>.</a:t>
            </a:r>
          </a:p>
          <a:p>
            <a:r>
              <a:rPr lang="en-US" dirty="0" smtClean="0"/>
              <a:t/>
            </a:r>
            <a:br>
              <a:rPr lang="en-US" dirty="0" smtClean="0"/>
            </a:b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deq</a:t>
            </a:r>
            <a:r>
              <a:rPr lang="en-US" dirty="0">
                <a:latin typeface="Courier New" panose="02070309020205020404" pitchFamily="49" charset="0"/>
                <a:cs typeface="Courier New" panose="02070309020205020404" pitchFamily="49" charset="0"/>
              </a:rPr>
              <a:t>(Q)</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temp</a:t>
            </a:r>
          </a:p>
        </p:txBody>
      </p:sp>
      <p:sp>
        <p:nvSpPr>
          <p:cNvPr id="3" name="Slide Number Placeholder 2"/>
          <p:cNvSpPr>
            <a:spLocks noGrp="1"/>
          </p:cNvSpPr>
          <p:nvPr>
            <p:ph type="sldNum" sz="quarter" idx="12"/>
          </p:nvPr>
        </p:nvSpPr>
        <p:spPr/>
        <p:txBody>
          <a:bodyPr/>
          <a:lstStyle/>
          <a:p>
            <a:fld id="{6D22F896-40B5-4ADD-8801-0D06FADFA095}" type="slidenum">
              <a:rPr lang="en-US" smtClean="0"/>
              <a:t>55</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19560618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solidFill>
                  <a:srgbClr val="37A3D4"/>
                </a:solidFill>
              </a:rPr>
              <a:t>◣ </a:t>
            </a:r>
            <a:r>
              <a:rPr lang="en-US" b="1" dirty="0" smtClean="0">
                <a:solidFill>
                  <a:srgbClr val="37A3D4"/>
                </a:solidFill>
              </a:rPr>
              <a:t>Solution</a:t>
            </a:r>
          </a:p>
          <a:p>
            <a:r>
              <a:rPr lang="en-US" dirty="0" smtClean="0"/>
              <a:t>(a) Content </a:t>
            </a:r>
            <a:r>
              <a:rPr lang="en-US" dirty="0"/>
              <a:t>of array Q</a:t>
            </a:r>
            <a:r>
              <a:rPr lang="en-US" dirty="0" smtClean="0"/>
              <a:t>:</a:t>
            </a:r>
          </a:p>
          <a:p>
            <a:endParaRPr lang="en-US" dirty="0" smtClean="0"/>
          </a:p>
          <a:p>
            <a:endParaRPr lang="en-US" dirty="0"/>
          </a:p>
          <a:p>
            <a:endParaRPr lang="en-US" dirty="0" smtClean="0"/>
          </a:p>
          <a:p>
            <a:endParaRPr lang="en-US" dirty="0"/>
          </a:p>
          <a:p>
            <a:r>
              <a:rPr lang="en-US" dirty="0"/>
              <a:t>(b) </a:t>
            </a:r>
            <a:r>
              <a:rPr lang="en-US" dirty="0">
                <a:latin typeface="Courier New" panose="02070309020205020404" pitchFamily="49" charset="0"/>
                <a:cs typeface="Courier New" panose="02070309020205020404" pitchFamily="49" charset="0"/>
              </a:rPr>
              <a:t>Sub-program </a:t>
            </a:r>
            <a:r>
              <a:rPr lang="en-US" dirty="0">
                <a:latin typeface="Courier New" panose="02070309020205020404" pitchFamily="49" charset="0"/>
                <a:cs typeface="Courier New" panose="02070309020205020404" pitchFamily="49" charset="0"/>
              </a:rPr>
              <a:t>isFull(Q)</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item (Q) = 10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True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False</a:t>
            </a:r>
          </a:p>
        </p:txBody>
      </p:sp>
      <p:sp>
        <p:nvSpPr>
          <p:cNvPr id="3" name="Slide Number Placeholder 2"/>
          <p:cNvSpPr>
            <a:spLocks noGrp="1"/>
          </p:cNvSpPr>
          <p:nvPr>
            <p:ph type="sldNum" sz="quarter" idx="12"/>
          </p:nvPr>
        </p:nvSpPr>
        <p:spPr/>
        <p:txBody>
          <a:bodyPr/>
          <a:lstStyle/>
          <a:p>
            <a:fld id="{6D22F896-40B5-4ADD-8801-0D06FADFA095}" type="slidenum">
              <a:rPr lang="en-US" smtClean="0"/>
              <a:t>56</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1379666" y="2629883"/>
            <a:ext cx="9432667" cy="700570"/>
          </a:xfrm>
          <a:prstGeom prst="rect">
            <a:avLst/>
          </a:prstGeom>
        </p:spPr>
      </p:pic>
    </p:spTree>
    <p:extLst>
      <p:ext uri="{BB962C8B-B14F-4D97-AF65-F5344CB8AC3E}">
        <p14:creationId xmlns:p14="http://schemas.microsoft.com/office/powerpoint/2010/main" val="7971910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(c)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enq</a:t>
            </a:r>
            <a:r>
              <a:rPr lang="en-US" dirty="0">
                <a:latin typeface="Courier New" panose="02070309020205020404" pitchFamily="49" charset="0"/>
                <a:cs typeface="Courier New" panose="02070309020205020404" pitchFamily="49" charset="0"/>
              </a:rPr>
              <a:t>(Q, </a:t>
            </a:r>
            <a:r>
              <a:rPr lang="en-US" dirty="0" err="1" smtClean="0">
                <a:latin typeface="Courier New" panose="02070309020205020404" pitchFamily="49" charset="0"/>
                <a:cs typeface="Courier New" panose="02070309020205020404" pitchFamily="49" charset="0"/>
              </a:rPr>
              <a:t>num</a:t>
            </a:r>
            <a:r>
              <a:rPr lang="en-US" dirty="0" smtClean="0">
                <a:latin typeface="Courier New" panose="02070309020205020404" pitchFamily="49" charset="0"/>
                <a:cs typeface="Courier New" panose="02070309020205020404" pitchFamily="49" charset="0"/>
              </a:rPr>
              <a: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isFull(Q) </a:t>
            </a:r>
            <a:r>
              <a:rPr lang="en-US" dirty="0" smtClean="0">
                <a:latin typeface="Courier New" panose="02070309020205020404" pitchFamily="49" charset="0"/>
                <a:cs typeface="Courier New" panose="02070309020205020404" pitchFamily="49" charset="0"/>
              </a:rPr>
              <a:t>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a:t>
            </a:r>
            <a:r>
              <a:rPr lang="en-US" dirty="0" smtClean="0">
                <a:latin typeface="Courier New" panose="02070309020205020404" pitchFamily="49" charset="0"/>
                <a:cs typeface="Courier New" panose="02070309020205020404" pitchFamily="49" charset="0"/>
              </a:rPr>
              <a:t>Unsuccessful"</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Q[item(Q) </a:t>
            </a:r>
            <a:r>
              <a:rPr lang="en-US" dirty="0">
                <a:latin typeface="Courier New" panose="02070309020205020404" pitchFamily="49" charset="0"/>
                <a:cs typeface="Courier New" panose="02070309020205020404" pitchFamily="49" charset="0"/>
              </a:rPr>
              <a:t>+ 1]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num</a:t>
            </a:r>
            <a:endParaRPr lang="en-US" dirty="0" smtClean="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r>
              <a:rPr lang="en-US" dirty="0">
                <a:latin typeface="+mn-lt"/>
                <a:cs typeface="Courier New" panose="02070309020205020404" pitchFamily="49" charset="0"/>
              </a:rPr>
              <a:t>(d)</a:t>
            </a:r>
            <a:r>
              <a:rPr lang="en-US" dirty="0">
                <a:latin typeface="Courier New" panose="02070309020205020404" pitchFamily="49" charset="0"/>
                <a:cs typeface="Courier New" panose="02070309020205020404" pitchFamily="49" charset="0"/>
              </a:rPr>
              <a:t> Sub-program </a:t>
            </a:r>
            <a:r>
              <a:rPr lang="en-US" dirty="0" err="1" smtClean="0">
                <a:latin typeface="Courier New" panose="02070309020205020404" pitchFamily="49" charset="0"/>
                <a:cs typeface="Courier New" panose="02070309020205020404" pitchFamily="49" charset="0"/>
              </a:rPr>
              <a:t>deq</a:t>
            </a:r>
            <a:r>
              <a:rPr lang="en-US" dirty="0" smtClean="0">
                <a:latin typeface="Courier New" panose="02070309020205020404" pitchFamily="49" charset="0"/>
                <a:cs typeface="Courier New" panose="02070309020205020404" pitchFamily="49" charset="0"/>
              </a:rPr>
              <a:t>(Q)</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isEmpty</a:t>
            </a:r>
            <a:r>
              <a:rPr lang="en-US" dirty="0">
                <a:latin typeface="Courier New" panose="02070309020205020404" pitchFamily="49" charset="0"/>
                <a:cs typeface="Courier New" panose="02070309020205020404" pitchFamily="49" charset="0"/>
              </a:rPr>
              <a:t>(Q) </a:t>
            </a:r>
            <a:r>
              <a:rPr lang="en-US" dirty="0" smtClean="0">
                <a:latin typeface="Courier New" panose="02070309020205020404" pitchFamily="49" charset="0"/>
                <a:cs typeface="Courier New" panose="02070309020205020404" pitchFamily="49" charset="0"/>
              </a:rPr>
              <a:t>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a:t>
            </a:r>
            <a:r>
              <a:rPr lang="en-US" dirty="0" smtClean="0">
                <a:latin typeface="Courier New" panose="02070309020205020404" pitchFamily="49" charset="0"/>
                <a:cs typeface="Courier New" panose="02070309020205020404" pitchFamily="49" charset="0"/>
              </a:rPr>
              <a:t>Unsuccessful"</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temp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Q[1]</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1 to item(Q)-</a:t>
            </a:r>
            <a:r>
              <a:rPr lang="en-US" dirty="0" smtClean="0">
                <a:latin typeface="Courier New" panose="02070309020205020404" pitchFamily="49" charset="0"/>
                <a:cs typeface="Courier New" panose="02070309020205020404" pitchFamily="49" charset="0"/>
              </a:rPr>
              <a:t>1</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Q[</a:t>
            </a:r>
            <a:r>
              <a:rPr lang="en-US" dirty="0" err="1" smtClean="0">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Q[i+1]</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Q[item(Q</a:t>
            </a:r>
            <a:r>
              <a:rPr lang="en-US" dirty="0">
                <a:latin typeface="Courier New" panose="02070309020205020404" pitchFamily="49" charset="0"/>
                <a:cs typeface="Courier New" panose="02070309020205020404" pitchFamily="49" charset="0"/>
              </a:rPr>
              <a:t>)] = </a:t>
            </a:r>
            <a:r>
              <a:rPr lang="en-US" dirty="0" smtClean="0">
                <a:latin typeface="Courier New" panose="02070309020205020404" pitchFamily="49" charset="0"/>
                <a:cs typeface="Courier New" panose="02070309020205020404" pitchFamily="49" charset="0"/>
              </a:rPr>
              <a: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temp</a:t>
            </a:r>
          </a:p>
        </p:txBody>
      </p:sp>
      <p:sp>
        <p:nvSpPr>
          <p:cNvPr id="3" name="Slide Number Placeholder 2"/>
          <p:cNvSpPr>
            <a:spLocks noGrp="1"/>
          </p:cNvSpPr>
          <p:nvPr>
            <p:ph type="sldNum" sz="quarter" idx="12"/>
          </p:nvPr>
        </p:nvSpPr>
        <p:spPr/>
        <p:txBody>
          <a:bodyPr/>
          <a:lstStyle/>
          <a:p>
            <a:fld id="{6D22F896-40B5-4ADD-8801-0D06FADFA095}" type="slidenum">
              <a:rPr lang="en-US" smtClean="0"/>
              <a:t>57</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4210294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Queues manipulated with pointers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Text Placeholder 3"/>
          <p:cNvSpPr>
            <a:spLocks noGrp="1"/>
          </p:cNvSpPr>
          <p:nvPr>
            <p:ph type="body" sz="quarter" idx="14"/>
          </p:nvPr>
        </p:nvSpPr>
        <p:spPr/>
        <p:txBody>
          <a:bodyPr/>
          <a:lstStyle/>
          <a:p>
            <a:r>
              <a:rPr lang="en-US" dirty="0" smtClean="0"/>
              <a:t>E</a:t>
            </a:r>
            <a:endParaRPr lang="en-US" dirty="0"/>
          </a:p>
        </p:txBody>
      </p:sp>
      <p:sp>
        <p:nvSpPr>
          <p:cNvPr id="5" name="Content Placeholder 4"/>
          <p:cNvSpPr>
            <a:spLocks noGrp="1"/>
          </p:cNvSpPr>
          <p:nvPr>
            <p:ph sz="quarter" idx="15"/>
          </p:nvPr>
        </p:nvSpPr>
        <p:spPr/>
        <p:txBody>
          <a:bodyPr/>
          <a:lstStyle/>
          <a:p>
            <a:r>
              <a:rPr lang="en-US" dirty="0"/>
              <a:t>To enhance the efficiency of queue manipulation, we can use two pointers (</a:t>
            </a:r>
            <a:r>
              <a:rPr lang="en-US" dirty="0">
                <a:latin typeface="Courier New" panose="02070309020205020404" pitchFamily="49" charset="0"/>
                <a:cs typeface="Courier New" panose="02070309020205020404" pitchFamily="49" charset="0"/>
              </a:rPr>
              <a:t>head</a:t>
            </a:r>
            <a:r>
              <a:rPr lang="en-US" dirty="0"/>
              <a:t> and </a:t>
            </a:r>
            <a:r>
              <a:rPr lang="en-US" dirty="0">
                <a:latin typeface="Courier New" panose="02070309020205020404" pitchFamily="49" charset="0"/>
                <a:cs typeface="Courier New" panose="02070309020205020404" pitchFamily="49" charset="0"/>
              </a:rPr>
              <a:t>tail</a:t>
            </a:r>
            <a:r>
              <a:rPr lang="en-US" dirty="0"/>
              <a:t>) to indicate the first and last items of the queue respectively. </a:t>
            </a:r>
            <a:endParaRPr lang="en-US" dirty="0" smtClean="0"/>
          </a:p>
          <a:p>
            <a:endParaRPr lang="en-US" dirty="0" smtClean="0"/>
          </a:p>
          <a:p>
            <a:r>
              <a:rPr lang="en-US" dirty="0" smtClean="0"/>
              <a:t>Whenever </a:t>
            </a:r>
            <a:r>
              <a:rPr lang="en-US" dirty="0"/>
              <a:t>adding or deleting an item, we simply have to move the pointers.</a:t>
            </a:r>
          </a:p>
        </p:txBody>
      </p:sp>
    </p:spTree>
    <p:extLst>
      <p:ext uri="{BB962C8B-B14F-4D97-AF65-F5344CB8AC3E}">
        <p14:creationId xmlns:p14="http://schemas.microsoft.com/office/powerpoint/2010/main" val="182948913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Queues manipulated with pointers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59</a:t>
            </a:fld>
            <a:endParaRPr lang="en-US" dirty="0"/>
          </a:p>
        </p:txBody>
      </p:sp>
      <p:sp>
        <p:nvSpPr>
          <p:cNvPr id="4" name="Text Placeholder 3"/>
          <p:cNvSpPr>
            <a:spLocks noGrp="1"/>
          </p:cNvSpPr>
          <p:nvPr>
            <p:ph type="body" sz="quarter" idx="14"/>
          </p:nvPr>
        </p:nvSpPr>
        <p:spPr/>
        <p:txBody>
          <a:bodyPr/>
          <a:lstStyle/>
          <a:p>
            <a:r>
              <a:rPr lang="en-US" dirty="0" smtClean="0"/>
              <a:t>E</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rotWithShape="1">
          <a:blip r:embed="rId2"/>
          <a:srcRect b="503"/>
          <a:stretch/>
        </p:blipFill>
        <p:spPr>
          <a:xfrm>
            <a:off x="1470596" y="1685719"/>
            <a:ext cx="9252008" cy="4526961"/>
          </a:xfrm>
          <a:prstGeom prst="rect">
            <a:avLst/>
          </a:prstGeom>
        </p:spPr>
      </p:pic>
    </p:spTree>
    <p:extLst>
      <p:ext uri="{BB962C8B-B14F-4D97-AF65-F5344CB8AC3E}">
        <p14:creationId xmlns:p14="http://schemas.microsoft.com/office/powerpoint/2010/main" val="111562883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Queues manipulated with pointers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60</a:t>
            </a:fld>
            <a:endParaRPr lang="en-US" dirty="0"/>
          </a:p>
        </p:txBody>
      </p:sp>
      <p:sp>
        <p:nvSpPr>
          <p:cNvPr id="4" name="Text Placeholder 3"/>
          <p:cNvSpPr>
            <a:spLocks noGrp="1"/>
          </p:cNvSpPr>
          <p:nvPr>
            <p:ph type="body" sz="quarter" idx="14"/>
          </p:nvPr>
        </p:nvSpPr>
        <p:spPr/>
        <p:txBody>
          <a:bodyPr/>
          <a:lstStyle/>
          <a:p>
            <a:r>
              <a:rPr lang="en-US" dirty="0" smtClean="0"/>
              <a:t>E</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9" name="Picture 8"/>
          <p:cNvPicPr>
            <a:picLocks noChangeAspect="1"/>
          </p:cNvPicPr>
          <p:nvPr/>
        </p:nvPicPr>
        <p:blipFill>
          <a:blip r:embed="rId2"/>
          <a:stretch>
            <a:fillRect/>
          </a:stretch>
        </p:blipFill>
        <p:spPr>
          <a:xfrm>
            <a:off x="1389923" y="1777136"/>
            <a:ext cx="9413354" cy="4344127"/>
          </a:xfrm>
          <a:prstGeom prst="rect">
            <a:avLst/>
          </a:prstGeom>
        </p:spPr>
      </p:pic>
    </p:spTree>
    <p:extLst>
      <p:ext uri="{BB962C8B-B14F-4D97-AF65-F5344CB8AC3E}">
        <p14:creationId xmlns:p14="http://schemas.microsoft.com/office/powerpoint/2010/main" val="183875696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Queues manipulated with pointers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61</a:t>
            </a:fld>
            <a:endParaRPr lang="en-US" dirty="0"/>
          </a:p>
        </p:txBody>
      </p:sp>
      <p:sp>
        <p:nvSpPr>
          <p:cNvPr id="4" name="Text Placeholder 3"/>
          <p:cNvSpPr>
            <a:spLocks noGrp="1"/>
          </p:cNvSpPr>
          <p:nvPr>
            <p:ph type="body" sz="quarter" idx="14"/>
          </p:nvPr>
        </p:nvSpPr>
        <p:spPr/>
        <p:txBody>
          <a:bodyPr/>
          <a:lstStyle/>
          <a:p>
            <a:r>
              <a:rPr lang="en-US" dirty="0" smtClean="0"/>
              <a:t>E</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9" name="Picture 8"/>
          <p:cNvPicPr>
            <a:picLocks noChangeAspect="1"/>
          </p:cNvPicPr>
          <p:nvPr/>
        </p:nvPicPr>
        <p:blipFill>
          <a:blip r:embed="rId2"/>
          <a:stretch>
            <a:fillRect/>
          </a:stretch>
        </p:blipFill>
        <p:spPr>
          <a:xfrm>
            <a:off x="1526876" y="1827275"/>
            <a:ext cx="9139447" cy="2303288"/>
          </a:xfrm>
          <a:prstGeom prst="rect">
            <a:avLst/>
          </a:prstGeom>
        </p:spPr>
      </p:pic>
    </p:spTree>
    <p:extLst>
      <p:ext uri="{BB962C8B-B14F-4D97-AF65-F5344CB8AC3E}">
        <p14:creationId xmlns:p14="http://schemas.microsoft.com/office/powerpoint/2010/main" val="232980800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5.2 on P. 173 of the textbook.</a:t>
            </a:r>
          </a:p>
          <a:p>
            <a:endParaRPr lang="en-US" dirty="0"/>
          </a:p>
          <a:p>
            <a:r>
              <a:rPr lang="en-US" dirty="0" smtClean="0">
                <a:solidFill>
                  <a:srgbClr val="FF0000"/>
                </a:solidFill>
              </a:rPr>
              <a:t>(a) (</a:t>
            </a:r>
            <a:r>
              <a:rPr lang="en-US" dirty="0" err="1" smtClean="0">
                <a:solidFill>
                  <a:srgbClr val="FF0000"/>
                </a:solidFill>
              </a:rPr>
              <a:t>i</a:t>
            </a:r>
            <a:r>
              <a:rPr lang="en-US" dirty="0" smtClean="0">
                <a:solidFill>
                  <a:srgbClr val="FF0000"/>
                </a:solidFill>
              </a:rPr>
              <a:t>)</a:t>
            </a:r>
          </a:p>
          <a:p>
            <a:r>
              <a:rPr lang="en-US" dirty="0"/>
              <a:t/>
            </a:r>
            <a:br>
              <a:rPr lang="en-US" dirty="0"/>
            </a:br>
            <a:endParaRPr lang="en-US" dirty="0" smtClean="0"/>
          </a:p>
          <a:p>
            <a:r>
              <a:rPr lang="en-US" dirty="0" smtClean="0"/>
              <a:t>	</a:t>
            </a:r>
            <a:r>
              <a:rPr lang="en-US" dirty="0">
                <a:latin typeface="Courier New" panose="02070309020205020404" pitchFamily="49" charset="0"/>
                <a:cs typeface="Courier New" panose="02070309020205020404" pitchFamily="49" charset="0"/>
              </a:rPr>
              <a:t>P </a:t>
            </a:r>
            <a:r>
              <a:rPr lang="en-US" dirty="0">
                <a:latin typeface="Courier New" panose="02070309020205020404" pitchFamily="49" charset="0"/>
                <a:cs typeface="Courier New" panose="02070309020205020404" pitchFamily="49" charset="0"/>
              </a:rPr>
              <a:t>= </a:t>
            </a:r>
            <a:r>
              <a:rPr lang="en-US" dirty="0" smtClean="0">
                <a:solidFill>
                  <a:srgbClr val="FF0000"/>
                </a:solidFill>
                <a:latin typeface="Courier New" panose="02070309020205020404" pitchFamily="49" charset="0"/>
                <a:cs typeface="Courier New" panose="02070309020205020404" pitchFamily="49" charset="0"/>
              </a:rPr>
              <a:t>2</a:t>
            </a:r>
            <a:r>
              <a:rPr lang="en-US" dirty="0" smtClean="0">
                <a:latin typeface="Courier New" panose="02070309020205020404" pitchFamily="49" charset="0"/>
                <a:cs typeface="Courier New" panose="02070309020205020404" pitchFamily="49" charset="0"/>
              </a:rPr>
              <a:t>		Q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5</a:t>
            </a:r>
            <a:r>
              <a:rPr lang="en-US" dirty="0">
                <a:latin typeface="Courier New" panose="02070309020205020404" pitchFamily="49" charset="0"/>
                <a:cs typeface="Courier New" panose="02070309020205020404" pitchFamily="49" charset="0"/>
              </a:rPr>
              <a:t> </a:t>
            </a:r>
            <a:endParaRPr lang="en-US" dirty="0" smtClean="0">
              <a:latin typeface="Courier New" panose="02070309020205020404" pitchFamily="49" charset="0"/>
              <a:cs typeface="Courier New" panose="02070309020205020404" pitchFamily="49" charset="0"/>
            </a:endParaRPr>
          </a:p>
          <a:p>
            <a:r>
              <a:rPr lang="en-US" dirty="0">
                <a:solidFill>
                  <a:srgbClr val="FF0000"/>
                </a:solidFill>
                <a:latin typeface="+mn-lt"/>
                <a:cs typeface="Courier New" panose="02070309020205020404" pitchFamily="49" charset="0"/>
              </a:rPr>
              <a:t> </a:t>
            </a:r>
            <a:r>
              <a:rPr lang="en-US" dirty="0" smtClean="0">
                <a:solidFill>
                  <a:srgbClr val="FF0000"/>
                </a:solidFill>
                <a:latin typeface="+mn-lt"/>
                <a:cs typeface="Courier New" panose="02070309020205020404" pitchFamily="49" charset="0"/>
              </a:rPr>
              <a:t>   (ii)</a:t>
            </a:r>
          </a:p>
          <a:p>
            <a:endParaRPr lang="en-US" dirty="0">
              <a:latin typeface="+mn-lt"/>
              <a:cs typeface="Courier New" panose="02070309020205020404" pitchFamily="49" charset="0"/>
            </a:endParaRPr>
          </a:p>
          <a:p>
            <a:endParaRPr lang="en-US" dirty="0" smtClean="0">
              <a:latin typeface="+mn-lt"/>
              <a:cs typeface="Courier New" panose="02070309020205020404" pitchFamily="49" charset="0"/>
            </a:endParaRPr>
          </a:p>
          <a:p>
            <a:r>
              <a:rPr lang="en-US" dirty="0">
                <a:latin typeface="Courier New" panose="02070309020205020404" pitchFamily="49" charset="0"/>
                <a:cs typeface="Courier New" panose="02070309020205020404" pitchFamily="49" charset="0"/>
              </a:rPr>
              <a:t>	P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Q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8</a:t>
            </a:r>
          </a:p>
        </p:txBody>
      </p:sp>
      <p:sp>
        <p:nvSpPr>
          <p:cNvPr id="3" name="Slide Number Placeholder 2"/>
          <p:cNvSpPr>
            <a:spLocks noGrp="1"/>
          </p:cNvSpPr>
          <p:nvPr>
            <p:ph type="sldNum" sz="quarter" idx="12"/>
          </p:nvPr>
        </p:nvSpPr>
        <p:spPr/>
        <p:txBody>
          <a:bodyPr/>
          <a:lstStyle/>
          <a:p>
            <a:fld id="{6D22F896-40B5-4ADD-8801-0D06FADFA095}" type="slidenum">
              <a:rPr lang="en-US" smtClean="0"/>
              <a:t>62</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1643181" y="2429837"/>
            <a:ext cx="8559153" cy="896500"/>
          </a:xfrm>
          <a:prstGeom prst="rect">
            <a:avLst/>
          </a:prstGeom>
        </p:spPr>
      </p:pic>
      <p:pic>
        <p:nvPicPr>
          <p:cNvPr id="6" name="Picture 5"/>
          <p:cNvPicPr>
            <a:picLocks noChangeAspect="1"/>
          </p:cNvPicPr>
          <p:nvPr/>
        </p:nvPicPr>
        <p:blipFill>
          <a:blip r:embed="rId3"/>
          <a:stretch>
            <a:fillRect/>
          </a:stretch>
        </p:blipFill>
        <p:spPr>
          <a:xfrm>
            <a:off x="1731773" y="4508052"/>
            <a:ext cx="8381968" cy="820275"/>
          </a:xfrm>
          <a:prstGeom prst="rect">
            <a:avLst/>
          </a:prstGeom>
        </p:spPr>
      </p:pic>
    </p:spTree>
    <p:extLst>
      <p:ext uri="{BB962C8B-B14F-4D97-AF65-F5344CB8AC3E}">
        <p14:creationId xmlns:p14="http://schemas.microsoft.com/office/powerpoint/2010/main" val="270229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fade">
                                      <p:cBhvr>
                                        <p:cTn id="24" dur="500"/>
                                        <p:tgtEl>
                                          <p:spTgt spid="2">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a:t>
            </a:r>
            <a:r>
              <a:rPr lang="en-US" dirty="0">
                <a:solidFill>
                  <a:srgbClr val="FF0000"/>
                </a:solidFill>
              </a:rPr>
              <a:t>b) </a:t>
            </a:r>
            <a:r>
              <a:rPr lang="en-US" dirty="0">
                <a:solidFill>
                  <a:srgbClr val="FF0000"/>
                </a:solidFill>
                <a:latin typeface="Courier New" panose="02070309020205020404" pitchFamily="49" charset="0"/>
                <a:cs typeface="Courier New" panose="02070309020205020404" pitchFamily="49" charset="0"/>
              </a:rPr>
              <a:t>P &gt; Q</a:t>
            </a:r>
            <a:endParaRPr lang="en-US" dirty="0">
              <a:solidFill>
                <a:srgbClr val="FF0000"/>
              </a:solidFill>
              <a:latin typeface="Courier New" panose="02070309020205020404" pitchFamily="49" charset="0"/>
              <a:cs typeface="Courier New" panose="02070309020205020404" pitchFamily="49" charset="0"/>
            </a:endParaRPr>
          </a:p>
          <a:p>
            <a:endParaRPr lang="en-US" dirty="0">
              <a:solidFill>
                <a:srgbClr val="FF0000"/>
              </a:solidFill>
            </a:endParaRPr>
          </a:p>
          <a:p>
            <a:r>
              <a:rPr lang="en-US" dirty="0" smtClean="0">
                <a:solidFill>
                  <a:srgbClr val="FF0000"/>
                </a:solidFill>
              </a:rPr>
              <a:t>(</a:t>
            </a:r>
            <a:r>
              <a:rPr lang="en-US" dirty="0">
                <a:solidFill>
                  <a:srgbClr val="FF0000"/>
                </a:solidFill>
              </a:rPr>
              <a:t>c) Overflow error (index out of range)</a:t>
            </a:r>
          </a:p>
        </p:txBody>
      </p:sp>
      <p:sp>
        <p:nvSpPr>
          <p:cNvPr id="3" name="Slide Number Placeholder 2"/>
          <p:cNvSpPr>
            <a:spLocks noGrp="1"/>
          </p:cNvSpPr>
          <p:nvPr>
            <p:ph type="sldNum" sz="quarter" idx="12"/>
          </p:nvPr>
        </p:nvSpPr>
        <p:spPr/>
        <p:txBody>
          <a:bodyPr/>
          <a:lstStyle/>
          <a:p>
            <a:fld id="{6D22F896-40B5-4ADD-8801-0D06FADFA095}" type="slidenum">
              <a:rPr lang="en-US" smtClean="0"/>
              <a:t>63</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156509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64</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a:t>As shown in the pointers manipulation above, in the case of an array </a:t>
            </a:r>
            <a:r>
              <a:rPr lang="en-US" dirty="0" smtClean="0"/>
              <a:t>with </a:t>
            </a:r>
            <a:r>
              <a:rPr lang="en-US" dirty="0"/>
              <a:t>a fixed size, we can neither add new items nor reuse the array </a:t>
            </a:r>
            <a:r>
              <a:rPr lang="en-US" dirty="0" smtClean="0"/>
              <a:t>items </a:t>
            </a:r>
            <a:r>
              <a:rPr lang="en-US" dirty="0"/>
              <a:t>once the tail of the queue reaches the end of the array. </a:t>
            </a:r>
            <a:endParaRPr lang="en-US" dirty="0" smtClean="0"/>
          </a:p>
          <a:p>
            <a:endParaRPr lang="en-US" dirty="0" smtClean="0"/>
          </a:p>
          <a:p>
            <a:r>
              <a:rPr lang="en-US" dirty="0" smtClean="0"/>
              <a:t>This </a:t>
            </a:r>
            <a:r>
              <a:rPr lang="en-US" dirty="0"/>
              <a:t>way </a:t>
            </a:r>
            <a:r>
              <a:rPr lang="en-US" dirty="0" smtClean="0"/>
              <a:t>of </a:t>
            </a:r>
            <a:r>
              <a:rPr lang="en-US" dirty="0"/>
              <a:t>manipulation wastes computer </a:t>
            </a:r>
            <a:r>
              <a:rPr lang="en-US" dirty="0" smtClean="0"/>
              <a:t>resources</a:t>
            </a:r>
            <a:r>
              <a:rPr lang="en-US" dirty="0"/>
              <a:t>. </a:t>
            </a:r>
          </a:p>
        </p:txBody>
      </p:sp>
      <p:pic>
        <p:nvPicPr>
          <p:cNvPr id="14" name="Picture 13"/>
          <p:cNvPicPr>
            <a:picLocks noChangeAspect="1"/>
          </p:cNvPicPr>
          <p:nvPr/>
        </p:nvPicPr>
        <p:blipFill>
          <a:blip r:embed="rId2"/>
          <a:stretch>
            <a:fillRect/>
          </a:stretch>
        </p:blipFill>
        <p:spPr>
          <a:xfrm>
            <a:off x="2056575" y="4244323"/>
            <a:ext cx="7754175" cy="2044877"/>
          </a:xfrm>
          <a:prstGeom prst="rect">
            <a:avLst/>
          </a:prstGeom>
        </p:spPr>
      </p:pic>
    </p:spTree>
    <p:extLst>
      <p:ext uri="{BB962C8B-B14F-4D97-AF65-F5344CB8AC3E}">
        <p14:creationId xmlns:p14="http://schemas.microsoft.com/office/powerpoint/2010/main" val="9853857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65</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a:t>To solve this problem, we can simply reset the pointers. When a pointer reaches the end of the array, the next value of the pointer is reset to the index of the first item in the array. In this way, a </a:t>
            </a:r>
            <a:r>
              <a:rPr lang="en-US" b="1" dirty="0">
                <a:solidFill>
                  <a:srgbClr val="4D4FA0"/>
                </a:solidFill>
              </a:rPr>
              <a:t>circular queue</a:t>
            </a:r>
            <a:r>
              <a:rPr lang="en-US" dirty="0"/>
              <a:t> is formed. </a:t>
            </a:r>
          </a:p>
        </p:txBody>
      </p:sp>
      <p:pic>
        <p:nvPicPr>
          <p:cNvPr id="6" name="Picture 5"/>
          <p:cNvPicPr>
            <a:picLocks noChangeAspect="1"/>
          </p:cNvPicPr>
          <p:nvPr/>
        </p:nvPicPr>
        <p:blipFill>
          <a:blip r:embed="rId2"/>
          <a:stretch>
            <a:fillRect/>
          </a:stretch>
        </p:blipFill>
        <p:spPr>
          <a:xfrm>
            <a:off x="3647994" y="3044550"/>
            <a:ext cx="4381823" cy="3244650"/>
          </a:xfrm>
          <a:prstGeom prst="rect">
            <a:avLst/>
          </a:prstGeom>
        </p:spPr>
      </p:pic>
    </p:spTree>
    <p:extLst>
      <p:ext uri="{BB962C8B-B14F-4D97-AF65-F5344CB8AC3E}">
        <p14:creationId xmlns:p14="http://schemas.microsoft.com/office/powerpoint/2010/main" val="295990036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66</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rotWithShape="1">
          <a:blip r:embed="rId2"/>
          <a:srcRect b="691"/>
          <a:stretch/>
        </p:blipFill>
        <p:spPr>
          <a:xfrm>
            <a:off x="1482152" y="1609200"/>
            <a:ext cx="9228895" cy="4607100"/>
          </a:xfrm>
          <a:prstGeom prst="rect">
            <a:avLst/>
          </a:prstGeom>
        </p:spPr>
      </p:pic>
    </p:spTree>
    <p:extLst>
      <p:ext uri="{BB962C8B-B14F-4D97-AF65-F5344CB8AC3E}">
        <p14:creationId xmlns:p14="http://schemas.microsoft.com/office/powerpoint/2010/main" val="291923665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67</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8" name="Picture 7"/>
          <p:cNvPicPr>
            <a:picLocks noChangeAspect="1"/>
          </p:cNvPicPr>
          <p:nvPr/>
        </p:nvPicPr>
        <p:blipFill>
          <a:blip r:embed="rId2"/>
          <a:stretch>
            <a:fillRect/>
          </a:stretch>
        </p:blipFill>
        <p:spPr>
          <a:xfrm>
            <a:off x="1442397" y="1739137"/>
            <a:ext cx="9308406" cy="4420125"/>
          </a:xfrm>
          <a:prstGeom prst="rect">
            <a:avLst/>
          </a:prstGeom>
        </p:spPr>
      </p:pic>
    </p:spTree>
    <p:extLst>
      <p:ext uri="{BB962C8B-B14F-4D97-AF65-F5344CB8AC3E}">
        <p14:creationId xmlns:p14="http://schemas.microsoft.com/office/powerpoint/2010/main" val="138657886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68</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a:blip r:embed="rId2"/>
          <a:stretch>
            <a:fillRect/>
          </a:stretch>
        </p:blipFill>
        <p:spPr>
          <a:xfrm>
            <a:off x="1517364" y="1827275"/>
            <a:ext cx="9158471" cy="2590150"/>
          </a:xfrm>
          <a:prstGeom prst="rect">
            <a:avLst/>
          </a:prstGeom>
        </p:spPr>
      </p:pic>
    </p:spTree>
    <p:extLst>
      <p:ext uri="{BB962C8B-B14F-4D97-AF65-F5344CB8AC3E}">
        <p14:creationId xmlns:p14="http://schemas.microsoft.com/office/powerpoint/2010/main" val="353978195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69</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a:t>Same as stack manipulations, before performing queue manipulations, there are two things that we need to pay attention to</a:t>
            </a:r>
            <a:r>
              <a:rPr lang="en-US" dirty="0" smtClean="0"/>
              <a:t>:</a:t>
            </a:r>
            <a:br>
              <a:rPr lang="en-US" dirty="0" smtClean="0"/>
            </a:br>
            <a:endParaRPr lang="en-US" dirty="0" smtClean="0"/>
          </a:p>
          <a:p>
            <a:r>
              <a:rPr lang="en-US" dirty="0"/>
              <a:t>1. We cannot pop an item from an empty queue, otherwise an </a:t>
            </a:r>
            <a:r>
              <a:rPr lang="en-US" b="1" dirty="0"/>
              <a:t>underflow error</a:t>
            </a:r>
            <a:r>
              <a:rPr lang="en-US" dirty="0"/>
              <a:t> will occur.</a:t>
            </a:r>
          </a:p>
        </p:txBody>
      </p:sp>
      <p:pic>
        <p:nvPicPr>
          <p:cNvPr id="6" name="Picture 5"/>
          <p:cNvPicPr>
            <a:picLocks noChangeAspect="1"/>
          </p:cNvPicPr>
          <p:nvPr/>
        </p:nvPicPr>
        <p:blipFill>
          <a:blip r:embed="rId2"/>
          <a:stretch>
            <a:fillRect/>
          </a:stretch>
        </p:blipFill>
        <p:spPr>
          <a:xfrm>
            <a:off x="2843271" y="3321108"/>
            <a:ext cx="6039571" cy="3069930"/>
          </a:xfrm>
          <a:prstGeom prst="rect">
            <a:avLst/>
          </a:prstGeom>
        </p:spPr>
      </p:pic>
    </p:spTree>
    <p:extLst>
      <p:ext uri="{BB962C8B-B14F-4D97-AF65-F5344CB8AC3E}">
        <p14:creationId xmlns:p14="http://schemas.microsoft.com/office/powerpoint/2010/main" val="175421169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circular queue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Text Placeholder 3"/>
          <p:cNvSpPr>
            <a:spLocks noGrp="1"/>
          </p:cNvSpPr>
          <p:nvPr>
            <p:ph type="body" sz="quarter" idx="14"/>
          </p:nvPr>
        </p:nvSpPr>
        <p:spPr/>
        <p:txBody>
          <a:bodyPr/>
          <a:lstStyle/>
          <a:p>
            <a:r>
              <a:rPr lang="en-US" dirty="0" smtClean="0"/>
              <a:t>F</a:t>
            </a:r>
            <a:endParaRPr lang="en-US" dirty="0"/>
          </a:p>
        </p:txBody>
      </p:sp>
      <p:sp>
        <p:nvSpPr>
          <p:cNvPr id="5" name="Content Placeholder 4"/>
          <p:cNvSpPr>
            <a:spLocks noGrp="1"/>
          </p:cNvSpPr>
          <p:nvPr>
            <p:ph sz="quarter" idx="15"/>
          </p:nvPr>
        </p:nvSpPr>
        <p:spPr/>
        <p:txBody>
          <a:bodyPr/>
          <a:lstStyle/>
          <a:p>
            <a:r>
              <a:rPr lang="en-US" dirty="0"/>
              <a:t>2. We cannot push an item into a full queue, otherwise an overflow error will occur.</a:t>
            </a:r>
          </a:p>
        </p:txBody>
      </p:sp>
      <p:pic>
        <p:nvPicPr>
          <p:cNvPr id="6" name="Picture 5"/>
          <p:cNvPicPr>
            <a:picLocks noChangeAspect="1"/>
          </p:cNvPicPr>
          <p:nvPr/>
        </p:nvPicPr>
        <p:blipFill>
          <a:blip r:embed="rId2"/>
          <a:stretch>
            <a:fillRect/>
          </a:stretch>
        </p:blipFill>
        <p:spPr>
          <a:xfrm>
            <a:off x="1565216" y="2302626"/>
            <a:ext cx="9062768" cy="3732582"/>
          </a:xfrm>
          <a:prstGeom prst="rect">
            <a:avLst/>
          </a:prstGeom>
        </p:spPr>
      </p:pic>
    </p:spTree>
    <p:extLst>
      <p:ext uri="{BB962C8B-B14F-4D97-AF65-F5344CB8AC3E}">
        <p14:creationId xmlns:p14="http://schemas.microsoft.com/office/powerpoint/2010/main" val="427522087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Steve is a programmer at an IT company. He is developing for a bank a ticketing program for VIP counter services. Steve uses an array </a:t>
            </a:r>
            <a:r>
              <a:rPr lang="en-US" dirty="0">
                <a:latin typeface="Courier New" panose="02070309020205020404" pitchFamily="49" charset="0"/>
                <a:cs typeface="Courier New" panose="02070309020205020404" pitchFamily="49" charset="0"/>
              </a:rPr>
              <a:t>T</a:t>
            </a:r>
            <a:r>
              <a:rPr lang="en-US" dirty="0"/>
              <a:t> with indexes from 0 to 9 to store the names of the waiting customers, and uses the following variables and sub-programs to process array </a:t>
            </a:r>
            <a:r>
              <a:rPr lang="en-US" dirty="0">
                <a:latin typeface="Courier New" panose="02070309020205020404" pitchFamily="49" charset="0"/>
                <a:cs typeface="Courier New" panose="02070309020205020404" pitchFamily="49" charset="0"/>
              </a:rPr>
              <a:t>T</a:t>
            </a:r>
            <a:r>
              <a:rPr lang="en-US" dirty="0"/>
              <a:t>:</a:t>
            </a:r>
          </a:p>
        </p:txBody>
      </p:sp>
      <p:sp>
        <p:nvSpPr>
          <p:cNvPr id="3" name="Slide Number Placeholder 2"/>
          <p:cNvSpPr>
            <a:spLocks noGrp="1"/>
          </p:cNvSpPr>
          <p:nvPr>
            <p:ph type="sldNum" sz="quarter" idx="12"/>
          </p:nvPr>
        </p:nvSpPr>
        <p:spPr/>
        <p:txBody>
          <a:bodyPr/>
          <a:lstStyle/>
          <a:p>
            <a:fld id="{6D22F896-40B5-4ADD-8801-0D06FADFA095}" type="slidenum">
              <a:rPr lang="en-US" smtClean="0"/>
              <a:t>71</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593210" y="2673342"/>
            <a:ext cx="5464295" cy="3630258"/>
          </a:xfrm>
          <a:prstGeom prst="rect">
            <a:avLst/>
          </a:prstGeom>
        </p:spPr>
      </p:pic>
      <p:pic>
        <p:nvPicPr>
          <p:cNvPr id="6" name="Picture 5"/>
          <p:cNvPicPr>
            <a:picLocks noChangeAspect="1"/>
          </p:cNvPicPr>
          <p:nvPr/>
        </p:nvPicPr>
        <p:blipFill>
          <a:blip r:embed="rId3"/>
          <a:stretch>
            <a:fillRect/>
          </a:stretch>
        </p:blipFill>
        <p:spPr>
          <a:xfrm>
            <a:off x="8164482" y="3188195"/>
            <a:ext cx="2829320" cy="2410161"/>
          </a:xfrm>
          <a:prstGeom prst="rect">
            <a:avLst/>
          </a:prstGeom>
        </p:spPr>
      </p:pic>
    </p:spTree>
    <p:extLst>
      <p:ext uri="{BB962C8B-B14F-4D97-AF65-F5344CB8AC3E}">
        <p14:creationId xmlns:p14="http://schemas.microsoft.com/office/powerpoint/2010/main" val="206904945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Assume that </a:t>
            </a:r>
            <a:r>
              <a:rPr lang="en-US" dirty="0">
                <a:latin typeface="Courier New" panose="02070309020205020404" pitchFamily="49" charset="0"/>
                <a:cs typeface="Courier New" panose="02070309020205020404" pitchFamily="49" charset="0"/>
              </a:rPr>
              <a:t>N = 3 </a:t>
            </a:r>
            <a:r>
              <a:rPr lang="en-US" dirty="0"/>
              <a:t>and </a:t>
            </a:r>
            <a:r>
              <a:rPr lang="en-US" dirty="0">
                <a:latin typeface="Courier New" panose="02070309020205020404" pitchFamily="49" charset="0"/>
                <a:cs typeface="Courier New" panose="02070309020205020404" pitchFamily="49" charset="0"/>
              </a:rPr>
              <a:t>first = 7</a:t>
            </a:r>
            <a:r>
              <a:rPr lang="en-US" dirty="0"/>
              <a:t>, and the initial content of array </a:t>
            </a:r>
            <a:r>
              <a:rPr lang="en-US" dirty="0">
                <a:latin typeface="Courier New" panose="02070309020205020404" pitchFamily="49" charset="0"/>
                <a:cs typeface="Courier New" panose="02070309020205020404" pitchFamily="49" charset="0"/>
              </a:rPr>
              <a:t>T</a:t>
            </a:r>
            <a:r>
              <a:rPr lang="en-US" dirty="0"/>
              <a:t> is as follows</a:t>
            </a:r>
            <a:r>
              <a:rPr lang="en-US" dirty="0" smtClean="0"/>
              <a:t>:</a:t>
            </a:r>
          </a:p>
          <a:p>
            <a:endParaRPr lang="en-US" dirty="0" smtClean="0"/>
          </a:p>
          <a:p>
            <a:endParaRPr lang="en-US" dirty="0"/>
          </a:p>
          <a:p>
            <a:r>
              <a:rPr lang="en-US" dirty="0"/>
              <a:t>Then, </a:t>
            </a:r>
            <a:r>
              <a:rPr lang="en-US" dirty="0" smtClean="0"/>
              <a:t>after executing </a:t>
            </a:r>
            <a:r>
              <a:rPr lang="en-US" dirty="0" err="1">
                <a:latin typeface="Courier New" panose="02070309020205020404" pitchFamily="49" charset="0"/>
                <a:cs typeface="Courier New" panose="02070309020205020404" pitchFamily="49" charset="0"/>
              </a:rPr>
              <a:t>delQ</a:t>
            </a:r>
            <a:r>
              <a:rPr lang="en-US" dirty="0">
                <a:latin typeface="Courier New" panose="02070309020205020404" pitchFamily="49" charset="0"/>
                <a:cs typeface="Courier New" panose="02070309020205020404" pitchFamily="49" charset="0"/>
              </a:rPr>
              <a:t>(T)</a:t>
            </a:r>
            <a:r>
              <a:rPr lang="en-US" dirty="0" smtClean="0"/>
              <a:t>, </a:t>
            </a:r>
            <a:r>
              <a:rPr lang="en-US" dirty="0">
                <a:latin typeface="Courier New" panose="02070309020205020404" pitchFamily="49" charset="0"/>
                <a:cs typeface="Courier New" panose="02070309020205020404" pitchFamily="49" charset="0"/>
              </a:rPr>
              <a:t>N = 2</a:t>
            </a:r>
            <a:r>
              <a:rPr lang="en-US" dirty="0"/>
              <a:t>, </a:t>
            </a:r>
            <a:r>
              <a:rPr lang="en-US" dirty="0">
                <a:latin typeface="Courier New" panose="02070309020205020404" pitchFamily="49" charset="0"/>
                <a:cs typeface="Courier New" panose="02070309020205020404" pitchFamily="49" charset="0"/>
              </a:rPr>
              <a:t>first = 8</a:t>
            </a:r>
            <a:r>
              <a:rPr lang="en-US" dirty="0"/>
              <a:t> and the content of array </a:t>
            </a:r>
            <a:r>
              <a:rPr lang="en-US" dirty="0">
                <a:latin typeface="Courier New" panose="02070309020205020404" pitchFamily="49" charset="0"/>
                <a:cs typeface="Courier New" panose="02070309020205020404" pitchFamily="49" charset="0"/>
              </a:rPr>
              <a:t>T</a:t>
            </a:r>
            <a:r>
              <a:rPr lang="en-US" dirty="0"/>
              <a:t> is</a:t>
            </a:r>
            <a:r>
              <a:rPr lang="en-US" dirty="0" smtClean="0"/>
              <a:t>:</a:t>
            </a:r>
          </a:p>
          <a:p>
            <a:endParaRPr lang="en-US" dirty="0" smtClean="0"/>
          </a:p>
          <a:p>
            <a:endParaRPr lang="en-US" dirty="0"/>
          </a:p>
          <a:p>
            <a:r>
              <a:rPr lang="en-US" dirty="0"/>
              <a:t>Then, after executing </a:t>
            </a:r>
            <a:r>
              <a:rPr lang="en-US" dirty="0" err="1">
                <a:latin typeface="Courier New" panose="02070309020205020404" pitchFamily="49" charset="0"/>
                <a:cs typeface="Courier New" panose="02070309020205020404" pitchFamily="49" charset="0"/>
              </a:rPr>
              <a:t>addQ</a:t>
            </a:r>
            <a:r>
              <a:rPr lang="en-US" dirty="0">
                <a:latin typeface="Courier New" panose="02070309020205020404" pitchFamily="49" charset="0"/>
                <a:cs typeface="Courier New" panose="02070309020205020404" pitchFamily="49" charset="0"/>
              </a:rPr>
              <a:t>(T, Katie)</a:t>
            </a:r>
            <a:r>
              <a:rPr lang="en-US" dirty="0"/>
              <a:t>, </a:t>
            </a:r>
            <a:r>
              <a:rPr lang="en-US" dirty="0">
                <a:latin typeface="Courier New" panose="02070309020205020404" pitchFamily="49" charset="0"/>
                <a:cs typeface="Courier New" panose="02070309020205020404" pitchFamily="49" charset="0"/>
              </a:rPr>
              <a:t>N = 3</a:t>
            </a:r>
            <a:r>
              <a:rPr lang="en-US" dirty="0"/>
              <a:t>, </a:t>
            </a:r>
            <a:r>
              <a:rPr lang="en-US" dirty="0">
                <a:latin typeface="Courier New" panose="02070309020205020404" pitchFamily="49" charset="0"/>
                <a:cs typeface="Courier New" panose="02070309020205020404" pitchFamily="49" charset="0"/>
              </a:rPr>
              <a:t>first = 8</a:t>
            </a:r>
            <a:r>
              <a:rPr lang="en-US" dirty="0"/>
              <a:t> and the content of array </a:t>
            </a:r>
            <a:r>
              <a:rPr lang="en-US" dirty="0">
                <a:latin typeface="Courier New" panose="02070309020205020404" pitchFamily="49" charset="0"/>
                <a:cs typeface="Courier New" panose="02070309020205020404" pitchFamily="49" charset="0"/>
              </a:rPr>
              <a:t>T</a:t>
            </a:r>
            <a:r>
              <a:rPr lang="en-US" dirty="0"/>
              <a:t> is:</a:t>
            </a:r>
          </a:p>
        </p:txBody>
      </p:sp>
      <p:sp>
        <p:nvSpPr>
          <p:cNvPr id="3" name="Slide Number Placeholder 2"/>
          <p:cNvSpPr>
            <a:spLocks noGrp="1"/>
          </p:cNvSpPr>
          <p:nvPr>
            <p:ph type="sldNum" sz="quarter" idx="12"/>
          </p:nvPr>
        </p:nvSpPr>
        <p:spPr/>
        <p:txBody>
          <a:bodyPr/>
          <a:lstStyle/>
          <a:p>
            <a:fld id="{6D22F896-40B5-4ADD-8801-0D06FADFA095}" type="slidenum">
              <a:rPr lang="en-US" smtClean="0"/>
              <a:t>72</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727678" y="2066953"/>
            <a:ext cx="8736643" cy="678045"/>
          </a:xfrm>
          <a:prstGeom prst="rect">
            <a:avLst/>
          </a:prstGeom>
        </p:spPr>
      </p:pic>
      <p:pic>
        <p:nvPicPr>
          <p:cNvPr id="6" name="Picture 5"/>
          <p:cNvPicPr>
            <a:picLocks noChangeAspect="1"/>
          </p:cNvPicPr>
          <p:nvPr/>
        </p:nvPicPr>
        <p:blipFill>
          <a:blip r:embed="rId3"/>
          <a:stretch>
            <a:fillRect/>
          </a:stretch>
        </p:blipFill>
        <p:spPr>
          <a:xfrm>
            <a:off x="1727678" y="3534275"/>
            <a:ext cx="8736643" cy="678650"/>
          </a:xfrm>
          <a:prstGeom prst="rect">
            <a:avLst/>
          </a:prstGeom>
        </p:spPr>
      </p:pic>
      <p:pic>
        <p:nvPicPr>
          <p:cNvPr id="7" name="Picture 6"/>
          <p:cNvPicPr>
            <a:picLocks noChangeAspect="1"/>
          </p:cNvPicPr>
          <p:nvPr/>
        </p:nvPicPr>
        <p:blipFill>
          <a:blip r:embed="rId4"/>
          <a:stretch>
            <a:fillRect/>
          </a:stretch>
        </p:blipFill>
        <p:spPr>
          <a:xfrm>
            <a:off x="1727678" y="5002202"/>
            <a:ext cx="8736643" cy="717012"/>
          </a:xfrm>
          <a:prstGeom prst="rect">
            <a:avLst/>
          </a:prstGeom>
        </p:spPr>
      </p:pic>
    </p:spTree>
    <p:extLst>
      <p:ext uri="{BB962C8B-B14F-4D97-AF65-F5344CB8AC3E}">
        <p14:creationId xmlns:p14="http://schemas.microsoft.com/office/powerpoint/2010/main" val="348304506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(a) Next</a:t>
            </a:r>
            <a:r>
              <a:rPr lang="en-US" dirty="0"/>
              <a:t>, execute the following algorithm</a:t>
            </a:r>
            <a:r>
              <a:rPr lang="en-US" dirty="0" smtClean="0"/>
              <a:t>:</a:t>
            </a:r>
          </a:p>
          <a:p>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addQ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 </a:t>
            </a:r>
            <a:r>
              <a:rPr lang="en-US" sz="1700" dirty="0">
                <a:latin typeface="Courier New" panose="02070309020205020404" pitchFamily="49" charset="0"/>
                <a:cs typeface="Courier New" panose="02070309020205020404" pitchFamily="49" charset="0"/>
              </a:rPr>
              <a:t>Dan)</a:t>
            </a:r>
            <a:br>
              <a:rPr lang="en-US" sz="1700" dirty="0">
                <a:latin typeface="Courier New" panose="02070309020205020404" pitchFamily="49" charset="0"/>
                <a:cs typeface="Courier New" panose="02070309020205020404" pitchFamily="49" charset="0"/>
              </a:rPr>
            </a:br>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delQ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a:t>
            </a:r>
            <a:br>
              <a:rPr lang="en-US" sz="1700" dirty="0">
                <a:latin typeface="Courier New" panose="02070309020205020404" pitchFamily="49" charset="0"/>
                <a:cs typeface="Courier New" panose="02070309020205020404" pitchFamily="49" charset="0"/>
              </a:rPr>
            </a:br>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delQ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a:t>
            </a:r>
            <a:br>
              <a:rPr lang="en-US" sz="1700" dirty="0">
                <a:latin typeface="Courier New" panose="02070309020205020404" pitchFamily="49" charset="0"/>
                <a:cs typeface="Courier New" panose="02070309020205020404" pitchFamily="49" charset="0"/>
              </a:rPr>
            </a:br>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addQ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 </a:t>
            </a:r>
            <a:r>
              <a:rPr lang="en-US" sz="1700" dirty="0">
                <a:latin typeface="Courier New" panose="02070309020205020404" pitchFamily="49" charset="0"/>
                <a:cs typeface="Courier New" panose="02070309020205020404" pitchFamily="49" charset="0"/>
              </a:rPr>
              <a:t>Alan)</a:t>
            </a:r>
            <a:br>
              <a:rPr lang="en-US" sz="1700" dirty="0">
                <a:latin typeface="Courier New" panose="02070309020205020404" pitchFamily="49" charset="0"/>
                <a:cs typeface="Courier New" panose="02070309020205020404" pitchFamily="49" charset="0"/>
              </a:rPr>
            </a:br>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delQ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a:t>
            </a:r>
            <a:br>
              <a:rPr lang="en-US" sz="1700" dirty="0">
                <a:latin typeface="Courier New" panose="02070309020205020404" pitchFamily="49" charset="0"/>
                <a:cs typeface="Courier New" panose="02070309020205020404" pitchFamily="49" charset="0"/>
              </a:rPr>
            </a:br>
            <a:r>
              <a:rPr lang="en-US" sz="1700" dirty="0" smtClean="0">
                <a:latin typeface="Courier New" panose="02070309020205020404" pitchFamily="49" charset="0"/>
                <a:cs typeface="Courier New" panose="02070309020205020404" pitchFamily="49" charset="0"/>
              </a:rPr>
              <a:t>	</a:t>
            </a:r>
            <a:r>
              <a:rPr lang="en-US" sz="1700" dirty="0" err="1" smtClean="0">
                <a:latin typeface="Courier New" panose="02070309020205020404" pitchFamily="49" charset="0"/>
                <a:cs typeface="Courier New" panose="02070309020205020404" pitchFamily="49" charset="0"/>
              </a:rPr>
              <a:t>addQ</a:t>
            </a:r>
            <a:r>
              <a:rPr lang="en-US" sz="1700" dirty="0" smtClean="0">
                <a:latin typeface="Courier New" panose="02070309020205020404" pitchFamily="49" charset="0"/>
                <a:cs typeface="Courier New" panose="02070309020205020404" pitchFamily="49" charset="0"/>
              </a:rPr>
              <a:t>(T</a:t>
            </a:r>
            <a:r>
              <a:rPr lang="en-US" sz="1700" dirty="0">
                <a:latin typeface="Courier New" panose="02070309020205020404" pitchFamily="49" charset="0"/>
                <a:cs typeface="Courier New" panose="02070309020205020404" pitchFamily="49" charset="0"/>
              </a:rPr>
              <a:t>, Ellen</a:t>
            </a:r>
            <a:r>
              <a:rPr lang="en-US" sz="1700" dirty="0">
                <a:latin typeface="Courier New" panose="02070309020205020404" pitchFamily="49" charset="0"/>
                <a:cs typeface="Courier New" panose="02070309020205020404" pitchFamily="49" charset="0"/>
              </a:rPr>
              <a:t>)</a:t>
            </a:r>
          </a:p>
          <a:p>
            <a:r>
              <a:rPr lang="en-US" sz="2100" dirty="0" smtClean="0"/>
              <a:t>(</a:t>
            </a:r>
            <a:r>
              <a:rPr lang="en-US" sz="2100" dirty="0" err="1" smtClean="0"/>
              <a:t>i</a:t>
            </a:r>
            <a:r>
              <a:rPr lang="en-US" sz="2100" dirty="0" smtClean="0"/>
              <a:t>) What </a:t>
            </a:r>
            <a:r>
              <a:rPr lang="en-US" sz="2100" dirty="0"/>
              <a:t>is the content of array T</a:t>
            </a:r>
            <a:r>
              <a:rPr lang="en-US" sz="2100" dirty="0" smtClean="0"/>
              <a:t>?</a:t>
            </a:r>
          </a:p>
          <a:p>
            <a:r>
              <a:rPr lang="en-US" sz="2100" dirty="0" smtClean="0"/>
              <a:t/>
            </a:r>
            <a:br>
              <a:rPr lang="en-US" sz="2100" dirty="0" smtClean="0"/>
            </a:br>
            <a:endParaRPr lang="en-US" sz="2100" dirty="0" smtClean="0"/>
          </a:p>
          <a:p>
            <a:r>
              <a:rPr lang="en-US" sz="2100" dirty="0"/>
              <a:t>(ii) What is the value of variable </a:t>
            </a:r>
            <a:r>
              <a:rPr lang="en-US" sz="2100" dirty="0">
                <a:latin typeface="Courier New" panose="02070309020205020404" pitchFamily="49" charset="0"/>
                <a:cs typeface="Courier New" panose="02070309020205020404" pitchFamily="49" charset="0"/>
              </a:rPr>
              <a:t>N</a:t>
            </a:r>
            <a:r>
              <a:rPr lang="en-US" sz="2100" dirty="0" smtClean="0"/>
              <a:t>?</a:t>
            </a:r>
          </a:p>
          <a:p>
            <a:r>
              <a:rPr lang="en-US" sz="2100" dirty="0"/>
              <a:t>(iii) What is the value of variable </a:t>
            </a:r>
            <a:r>
              <a:rPr lang="en-US" sz="2100" dirty="0">
                <a:latin typeface="Courier New" panose="02070309020205020404" pitchFamily="49" charset="0"/>
                <a:cs typeface="Courier New" panose="02070309020205020404" pitchFamily="49" charset="0"/>
              </a:rPr>
              <a:t>first</a:t>
            </a:r>
            <a:r>
              <a:rPr lang="en-US" sz="2100" dirty="0" smtClean="0"/>
              <a:t>?</a:t>
            </a:r>
          </a:p>
          <a:p>
            <a:r>
              <a:rPr lang="en-US" sz="2100" dirty="0"/>
              <a:t>(iv) What is the return value of calling the sub-program </a:t>
            </a:r>
            <a:r>
              <a:rPr lang="en-US" sz="2100" dirty="0">
                <a:latin typeface="Courier New" panose="02070309020205020404" pitchFamily="49" charset="0"/>
                <a:cs typeface="Courier New" panose="02070309020205020404" pitchFamily="49" charset="0"/>
              </a:rPr>
              <a:t>last(T)</a:t>
            </a:r>
            <a:r>
              <a:rPr lang="en-US" sz="2100" dirty="0"/>
              <a:t>?</a:t>
            </a:r>
          </a:p>
        </p:txBody>
      </p:sp>
      <p:sp>
        <p:nvSpPr>
          <p:cNvPr id="3" name="Slide Number Placeholder 2"/>
          <p:cNvSpPr>
            <a:spLocks noGrp="1"/>
          </p:cNvSpPr>
          <p:nvPr>
            <p:ph type="sldNum" sz="quarter" idx="12"/>
          </p:nvPr>
        </p:nvSpPr>
        <p:spPr/>
        <p:txBody>
          <a:bodyPr/>
          <a:lstStyle/>
          <a:p>
            <a:fld id="{6D22F896-40B5-4ADD-8801-0D06FADFA095}" type="slidenum">
              <a:rPr lang="en-US" smtClean="0"/>
              <a:t>73</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2162929" y="4134579"/>
            <a:ext cx="7866142" cy="541764"/>
          </a:xfrm>
          <a:prstGeom prst="rect">
            <a:avLst/>
          </a:prstGeom>
        </p:spPr>
      </p:pic>
    </p:spTree>
    <p:extLst>
      <p:ext uri="{BB962C8B-B14F-4D97-AF65-F5344CB8AC3E}">
        <p14:creationId xmlns:p14="http://schemas.microsoft.com/office/powerpoint/2010/main" val="277562372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(b) The above ticketing service is provided with a first-come-first-served approach. What data structure does array </a:t>
            </a:r>
            <a:r>
              <a:rPr lang="en-US" dirty="0">
                <a:latin typeface="Courier New" panose="02070309020205020404" pitchFamily="49" charset="0"/>
                <a:cs typeface="Courier New" panose="02070309020205020404" pitchFamily="49" charset="0"/>
              </a:rPr>
              <a:t>T</a:t>
            </a:r>
            <a:r>
              <a:rPr lang="en-US" dirty="0"/>
              <a:t> use to process the data</a:t>
            </a:r>
            <a:r>
              <a:rPr lang="en-US" dirty="0" smtClean="0"/>
              <a:t>?</a:t>
            </a:r>
            <a:br>
              <a:rPr lang="en-US" dirty="0" smtClean="0"/>
            </a:br>
            <a:endParaRPr lang="en-US" b="1" dirty="0"/>
          </a:p>
          <a:p>
            <a:r>
              <a:rPr lang="en-US" dirty="0"/>
              <a:t>(c) Write the pseudocode for the sub-program </a:t>
            </a:r>
            <a:r>
              <a:rPr lang="en-US" dirty="0" err="1">
                <a:latin typeface="Courier New" panose="02070309020205020404" pitchFamily="49" charset="0"/>
                <a:cs typeface="Courier New" panose="02070309020205020404" pitchFamily="49" charset="0"/>
              </a:rPr>
              <a:t>delQ</a:t>
            </a:r>
            <a:r>
              <a:rPr lang="en-US" dirty="0">
                <a:latin typeface="Courier New" panose="02070309020205020404" pitchFamily="49" charset="0"/>
                <a:cs typeface="Courier New" panose="02070309020205020404" pitchFamily="49" charset="0"/>
              </a:rPr>
              <a:t>(T</a:t>
            </a:r>
            <a:r>
              <a:rPr lang="en-US" dirty="0" smtClean="0">
                <a:latin typeface="Courier New" panose="02070309020205020404" pitchFamily="49" charset="0"/>
                <a:cs typeface="Courier New" panose="02070309020205020404" pitchFamily="49" charset="0"/>
              </a:rPr>
              <a:t>)</a:t>
            </a:r>
            <a:r>
              <a:rPr lang="en-US" dirty="0" smtClean="0"/>
              <a:t>.</a:t>
            </a:r>
            <a:br>
              <a:rPr lang="en-US" dirty="0" smtClean="0"/>
            </a:br>
            <a:endParaRPr lang="en-US" dirty="0" smtClean="0"/>
          </a:p>
          <a:p>
            <a:r>
              <a:rPr lang="en-US" dirty="0" smtClean="0">
                <a:latin typeface="Courier New" panose="02070309020205020404" pitchFamily="49" charset="0"/>
                <a:cs typeface="Courier New" panose="02070309020205020404" pitchFamily="49" charset="0"/>
              </a:rPr>
              <a:t>	Sub-program </a:t>
            </a:r>
            <a:r>
              <a:rPr lang="en-US" dirty="0" err="1" smtClean="0">
                <a:latin typeface="Courier New" panose="02070309020205020404" pitchFamily="49" charset="0"/>
                <a:cs typeface="Courier New" panose="02070309020205020404" pitchFamily="49" charset="0"/>
              </a:rPr>
              <a:t>delQ</a:t>
            </a:r>
            <a:r>
              <a:rPr lang="en-US" dirty="0" smtClean="0">
                <a:latin typeface="Courier New" panose="02070309020205020404" pitchFamily="49" charset="0"/>
                <a:cs typeface="Courier New" panose="02070309020205020404" pitchFamily="49" charset="0"/>
              </a:rPr>
              <a:t>(T)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N = 0 </a:t>
            </a:r>
            <a:r>
              <a:rPr lang="en-US" dirty="0" smtClean="0">
                <a:latin typeface="Courier New" panose="02070309020205020404" pitchFamily="49" charset="0"/>
                <a:cs typeface="Courier New" panose="02070309020205020404" pitchFamily="49" charset="0"/>
              </a:rPr>
              <a:t>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temp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r>
              <a:rPr lang="en-US" dirty="0" smtClean="0">
                <a:latin typeface="Courier New" panose="02070309020205020404" pitchFamily="49" charset="0"/>
                <a:cs typeface="Courier New" panose="02070309020205020404" pitchFamily="49" charset="0"/>
              </a:rPr>
              <a:t>Unsuccessful"</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temp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_______</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a:t>
            </a:r>
            <a:r>
              <a:rPr lang="en-US" dirty="0">
                <a:latin typeface="Courier New" panose="02070309020205020404" pitchFamily="49" charset="0"/>
                <a:cs typeface="Courier New" panose="02070309020205020404" pitchFamily="49" charset="0"/>
              </a:rPr>
              <a:t>_______</a:t>
            </a:r>
            <a:r>
              <a:rPr lang="en-US"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_______</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_______</a:t>
            </a:r>
            <a:r>
              <a:rPr lang="en-US" dirty="0" smtClean="0">
                <a:latin typeface="Courier New" panose="02070309020205020404" pitchFamily="49" charset="0"/>
                <a:cs typeface="Courier New" panose="02070309020205020404" pitchFamily="49" charset="0"/>
              </a:rPr>
              <a:t> 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first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0</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first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first + </a:t>
            </a:r>
            <a:r>
              <a:rPr lang="en-US" dirty="0" smtClean="0">
                <a:latin typeface="Courier New" panose="02070309020205020404" pitchFamily="49" charset="0"/>
                <a:cs typeface="Courier New" panose="02070309020205020404" pitchFamily="49" charset="0"/>
              </a:rPr>
              <a:t>1</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temp</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74</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69925829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Write the pseudocode for the sub-program </a:t>
            </a:r>
            <a:r>
              <a:rPr lang="en-US" dirty="0" err="1">
                <a:latin typeface="Courier New" panose="02070309020205020404" pitchFamily="49" charset="0"/>
                <a:cs typeface="Courier New" panose="02070309020205020404" pitchFamily="49" charset="0"/>
              </a:rPr>
              <a:t>addQ</a:t>
            </a:r>
            <a:r>
              <a:rPr lang="en-US" dirty="0">
                <a:latin typeface="Courier New" panose="02070309020205020404" pitchFamily="49" charset="0"/>
                <a:cs typeface="Courier New" panose="02070309020205020404" pitchFamily="49" charset="0"/>
              </a:rPr>
              <a:t>(T, name</a:t>
            </a:r>
            <a:r>
              <a:rPr lang="en-US" dirty="0" smtClean="0">
                <a:latin typeface="Courier New" panose="02070309020205020404" pitchFamily="49" charset="0"/>
                <a:cs typeface="Courier New" panose="02070309020205020404" pitchFamily="49" charset="0"/>
              </a:rPr>
              <a:t>)</a:t>
            </a:r>
            <a:r>
              <a:rPr lang="en-US" dirty="0" smtClean="0"/>
              <a:t>.</a:t>
            </a:r>
            <a:br>
              <a:rPr lang="en-US" dirty="0" smtClean="0"/>
            </a:br>
            <a:r>
              <a:rPr lang="en-US" dirty="0" smtClean="0"/>
              <a:t/>
            </a:r>
            <a:br>
              <a:rPr lang="en-US" dirty="0" smtClean="0"/>
            </a:br>
            <a:r>
              <a:rPr lang="en-US" dirty="0" smtClean="0"/>
              <a:t>	</a:t>
            </a:r>
            <a:r>
              <a:rPr lang="en-US" dirty="0" smtClean="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addQ</a:t>
            </a:r>
            <a:r>
              <a:rPr lang="en-US" dirty="0">
                <a:latin typeface="Courier New" panose="02070309020205020404" pitchFamily="49" charset="0"/>
                <a:cs typeface="Courier New" panose="02070309020205020404" pitchFamily="49" charset="0"/>
              </a:rPr>
              <a:t>(T, </a:t>
            </a:r>
            <a:r>
              <a:rPr lang="en-US" dirty="0" smtClean="0">
                <a:latin typeface="Courier New" panose="02070309020205020404" pitchFamily="49" charset="0"/>
                <a:cs typeface="Courier New" panose="02070309020205020404" pitchFamily="49" charset="0"/>
              </a:rPr>
              <a:t>name)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_______</a:t>
            </a:r>
            <a:r>
              <a:rPr lang="en-US" dirty="0" smtClean="0">
                <a:latin typeface="Courier New" panose="02070309020205020404" pitchFamily="49" charset="0"/>
                <a:cs typeface="Courier New" panose="02070309020205020404" pitchFamily="49" charset="0"/>
              </a:rPr>
              <a:t> 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"Service is </a:t>
            </a:r>
            <a:r>
              <a:rPr lang="en-US" dirty="0" smtClean="0">
                <a:latin typeface="Courier New" panose="02070309020205020404" pitchFamily="49" charset="0"/>
                <a:cs typeface="Courier New" panose="02070309020205020404" pitchFamily="49" charset="0"/>
              </a:rPr>
              <a:t>busy"</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a:t>
            </a:r>
            <a:r>
              <a:rPr lang="en-US" dirty="0">
                <a:latin typeface="Courier New" panose="02070309020205020404" pitchFamily="49" charset="0"/>
                <a:cs typeface="Courier New" panose="02070309020205020404" pitchFamily="49" charset="0"/>
              </a:rPr>
              <a:t>_______</a:t>
            </a:r>
            <a:r>
              <a:rPr lang="en-US"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name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_______</a:t>
            </a:r>
          </a:p>
        </p:txBody>
      </p:sp>
      <p:sp>
        <p:nvSpPr>
          <p:cNvPr id="3" name="Slide Number Placeholder 2"/>
          <p:cNvSpPr>
            <a:spLocks noGrp="1"/>
          </p:cNvSpPr>
          <p:nvPr>
            <p:ph type="sldNum" sz="quarter" idx="12"/>
          </p:nvPr>
        </p:nvSpPr>
        <p:spPr/>
        <p:txBody>
          <a:bodyPr/>
          <a:lstStyle/>
          <a:p>
            <a:fld id="{6D22F896-40B5-4ADD-8801-0D06FADFA095}" type="slidenum">
              <a:rPr lang="en-US" smtClean="0"/>
              <a:t>75</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373595831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 Write the pseudocode for the sub-program </a:t>
            </a:r>
            <a:r>
              <a:rPr lang="en-US" dirty="0">
                <a:latin typeface="Courier New" panose="02070309020205020404" pitchFamily="49" charset="0"/>
                <a:cs typeface="Courier New" panose="02070309020205020404" pitchFamily="49" charset="0"/>
              </a:rPr>
              <a:t>last(T</a:t>
            </a:r>
            <a:r>
              <a:rPr lang="en-US" dirty="0" smtClean="0">
                <a:latin typeface="Courier New" panose="02070309020205020404" pitchFamily="49" charset="0"/>
                <a:cs typeface="Courier New" panose="02070309020205020404" pitchFamily="49" charset="0"/>
              </a:rPr>
              <a:t>)</a:t>
            </a:r>
            <a:r>
              <a:rPr lang="en-US" dirty="0" smtClean="0"/>
              <a:t>.</a:t>
            </a:r>
          </a:p>
          <a:p>
            <a:endParaRPr lang="en-US" dirty="0"/>
          </a:p>
          <a:p>
            <a:r>
              <a:rPr lang="en-US" dirty="0">
                <a:latin typeface="Courier New" panose="02070309020205020404" pitchFamily="49" charset="0"/>
                <a:cs typeface="Courier New" panose="02070309020205020404" pitchFamily="49" charset="0"/>
              </a:rPr>
              <a:t>	Sub-program last(T)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N = 0 and first = 0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9</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else</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76</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257086524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smtClean="0">
                <a:solidFill>
                  <a:srgbClr val="37A3D4"/>
                </a:solidFill>
              </a:rPr>
              <a:t>Solution</a:t>
            </a:r>
          </a:p>
          <a:p>
            <a:r>
              <a:rPr lang="en-US" dirty="0" smtClean="0"/>
              <a:t>(a) (</a:t>
            </a:r>
            <a:r>
              <a:rPr lang="en-US" dirty="0" err="1"/>
              <a:t>i</a:t>
            </a:r>
            <a:r>
              <a:rPr lang="en-US" dirty="0"/>
              <a:t>) The content of array T</a:t>
            </a:r>
            <a:r>
              <a:rPr lang="en-US" dirty="0" smtClean="0"/>
              <a:t>:</a:t>
            </a:r>
          </a:p>
          <a:p>
            <a:r>
              <a:rPr lang="en-US" dirty="0" smtClean="0"/>
              <a:t/>
            </a:r>
            <a:br>
              <a:rPr lang="en-US" dirty="0" smtClean="0"/>
            </a:br>
            <a:endParaRPr lang="en-US" dirty="0" smtClean="0"/>
          </a:p>
          <a:p>
            <a:endParaRPr lang="en-US" dirty="0" smtClean="0"/>
          </a:p>
          <a:p>
            <a:r>
              <a:rPr lang="en-US" dirty="0" smtClean="0"/>
              <a:t>     (</a:t>
            </a:r>
            <a:r>
              <a:rPr lang="en-US" dirty="0"/>
              <a:t>ii) </a:t>
            </a:r>
            <a:r>
              <a:rPr lang="en-US" dirty="0">
                <a:latin typeface="Courier New" panose="02070309020205020404" pitchFamily="49" charset="0"/>
                <a:cs typeface="Courier New" panose="02070309020205020404" pitchFamily="49" charset="0"/>
              </a:rPr>
              <a:t>3</a:t>
            </a:r>
            <a:r>
              <a:rPr lang="en-US" dirty="0"/>
              <a:t> </a:t>
            </a:r>
            <a:endParaRPr lang="en-US" dirty="0" smtClean="0"/>
          </a:p>
          <a:p>
            <a:r>
              <a:rPr lang="en-US" dirty="0" smtClean="0"/>
              <a:t>     (</a:t>
            </a:r>
            <a:r>
              <a:rPr lang="en-US" dirty="0"/>
              <a:t>iii) </a:t>
            </a:r>
            <a:r>
              <a:rPr lang="en-US" dirty="0">
                <a:latin typeface="Courier New" panose="02070309020205020404" pitchFamily="49" charset="0"/>
                <a:cs typeface="Courier New" panose="02070309020205020404" pitchFamily="49" charset="0"/>
              </a:rPr>
              <a:t>1</a:t>
            </a:r>
            <a:r>
              <a:rPr lang="en-US" dirty="0"/>
              <a:t> </a:t>
            </a:r>
            <a:endParaRPr lang="en-US" dirty="0" smtClean="0"/>
          </a:p>
          <a:p>
            <a:r>
              <a:rPr lang="en-US" dirty="0" smtClean="0"/>
              <a:t>     (</a:t>
            </a:r>
            <a:r>
              <a:rPr lang="en-US" dirty="0"/>
              <a:t>iv) </a:t>
            </a:r>
            <a:r>
              <a:rPr lang="en-US" dirty="0">
                <a:latin typeface="Courier New" panose="02070309020205020404" pitchFamily="49" charset="0"/>
                <a:cs typeface="Courier New" panose="02070309020205020404" pitchFamily="49" charset="0"/>
              </a:rPr>
              <a:t>3</a:t>
            </a:r>
          </a:p>
          <a:p>
            <a:endParaRPr lang="en-US" b="1" dirty="0">
              <a:solidFill>
                <a:srgbClr val="37A3D4"/>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77</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901032" y="2597663"/>
            <a:ext cx="8389935" cy="715941"/>
          </a:xfrm>
          <a:prstGeom prst="rect">
            <a:avLst/>
          </a:prstGeom>
        </p:spPr>
      </p:pic>
    </p:spTree>
    <p:extLst>
      <p:ext uri="{BB962C8B-B14F-4D97-AF65-F5344CB8AC3E}">
        <p14:creationId xmlns:p14="http://schemas.microsoft.com/office/powerpoint/2010/main" val="143024109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smtClean="0"/>
              <a:t>Queue</a:t>
            </a:r>
          </a:p>
          <a:p>
            <a:endParaRPr lang="en-US" dirty="0"/>
          </a:p>
          <a:p>
            <a:r>
              <a:rPr lang="en-US" dirty="0"/>
              <a:t>(c) </a:t>
            </a:r>
            <a:r>
              <a:rPr lang="en-US" dirty="0" smtClean="0"/>
              <a:t>	</a:t>
            </a:r>
            <a:r>
              <a:rPr lang="en-US" dirty="0">
                <a:latin typeface="Courier New" panose="02070309020205020404" pitchFamily="49" charset="0"/>
                <a:cs typeface="Courier New" panose="02070309020205020404" pitchFamily="49" charset="0"/>
              </a:rPr>
              <a:t>temp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T[first]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T[first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N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 </a:t>
            </a:r>
            <a:r>
              <a:rPr lang="en-US" dirty="0">
                <a:latin typeface="Courier New" panose="02070309020205020404" pitchFamily="49" charset="0"/>
                <a:cs typeface="Courier New" panose="02070309020205020404" pitchFamily="49" charset="0"/>
              </a:rPr>
              <a:t>–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first = 9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first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first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first + 1</a:t>
            </a:r>
          </a:p>
        </p:txBody>
      </p:sp>
      <p:sp>
        <p:nvSpPr>
          <p:cNvPr id="3" name="Slide Number Placeholder 2"/>
          <p:cNvSpPr>
            <a:spLocks noGrp="1"/>
          </p:cNvSpPr>
          <p:nvPr>
            <p:ph type="sldNum" sz="quarter" idx="12"/>
          </p:nvPr>
        </p:nvSpPr>
        <p:spPr/>
        <p:txBody>
          <a:bodyPr/>
          <a:lstStyle/>
          <a:p>
            <a:fld id="{6D22F896-40B5-4ADD-8801-0D06FADFA095}" type="slidenum">
              <a:rPr lang="en-US" smtClean="0"/>
              <a:t>78</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315560377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a:t>
            </a:r>
            <a:r>
              <a:rPr lang="en-US" dirty="0" smtClean="0"/>
              <a:t>	</a:t>
            </a:r>
            <a:r>
              <a:rPr lang="en-US" dirty="0" smtClean="0">
                <a:latin typeface="Courier New" panose="02070309020205020404" pitchFamily="49" charset="0"/>
                <a:cs typeface="Courier New" panose="02070309020205020404" pitchFamily="49" charset="0"/>
              </a:rPr>
              <a:t>if </a:t>
            </a:r>
            <a:r>
              <a:rPr lang="en-US" dirty="0">
                <a:latin typeface="Courier New" panose="02070309020205020404" pitchFamily="49" charset="0"/>
                <a:cs typeface="Courier New" panose="02070309020205020404" pitchFamily="49" charset="0"/>
              </a:rPr>
              <a:t>N = 10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"Service is </a:t>
            </a:r>
            <a:r>
              <a:rPr lang="en-US" dirty="0">
                <a:latin typeface="Courier New" panose="02070309020205020404" pitchFamily="49" charset="0"/>
                <a:cs typeface="Courier New" panose="02070309020205020404" pitchFamily="49" charset="0"/>
              </a:rPr>
              <a:t>busy“</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a:t>
            </a:r>
            <a:r>
              <a:rPr lang="en-US" dirty="0">
                <a:latin typeface="Courier New" panose="02070309020205020404" pitchFamily="49" charset="0"/>
                <a:cs typeface="Courier New" panose="02070309020205020404" pitchFamily="49" charset="0"/>
              </a:rPr>
              <a:t>[(last(T)+1) % 10]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name</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 + 1</a:t>
            </a:r>
          </a:p>
          <a:p>
            <a:endParaRPr lang="en-US" dirty="0" smtClean="0"/>
          </a:p>
          <a:p>
            <a:r>
              <a:rPr lang="en-US" dirty="0" smtClean="0"/>
              <a:t>(</a:t>
            </a:r>
            <a:r>
              <a:rPr lang="en-US" dirty="0"/>
              <a:t>e) </a:t>
            </a:r>
            <a:r>
              <a:rPr lang="en-US" dirty="0" smtClean="0"/>
              <a:t>	</a:t>
            </a:r>
            <a:r>
              <a:rPr lang="en-US" dirty="0" smtClean="0">
                <a:latin typeface="Courier New" panose="02070309020205020404" pitchFamily="49" charset="0"/>
                <a:cs typeface="Courier New" panose="02070309020205020404" pitchFamily="49" charset="0"/>
              </a:rPr>
              <a:t>if </a:t>
            </a:r>
            <a:r>
              <a:rPr lang="en-US" dirty="0">
                <a:latin typeface="Courier New" panose="02070309020205020404" pitchFamily="49" charset="0"/>
                <a:cs typeface="Courier New" panose="02070309020205020404" pitchFamily="49" charset="0"/>
              </a:rPr>
              <a:t>(first+N-1) &lt;= 9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(first + N - </a:t>
            </a:r>
            <a:r>
              <a:rPr lang="en-US" dirty="0">
                <a:latin typeface="Courier New" panose="02070309020205020404" pitchFamily="49" charset="0"/>
                <a:cs typeface="Courier New" panose="02070309020205020404" pitchFamily="49" charset="0"/>
              </a:rPr>
              <a:t>1)</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(first + N - 1) % 10</a:t>
            </a:r>
          </a:p>
        </p:txBody>
      </p:sp>
      <p:sp>
        <p:nvSpPr>
          <p:cNvPr id="3" name="Slide Number Placeholder 2"/>
          <p:cNvSpPr>
            <a:spLocks noGrp="1"/>
          </p:cNvSpPr>
          <p:nvPr>
            <p:ph type="sldNum" sz="quarter" idx="12"/>
          </p:nvPr>
        </p:nvSpPr>
        <p:spPr/>
        <p:txBody>
          <a:bodyPr/>
          <a:lstStyle/>
          <a:p>
            <a:fld id="{6D22F896-40B5-4ADD-8801-0D06FADFA095}" type="slidenum">
              <a:rPr lang="en-US" smtClean="0"/>
              <a:t>79</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252217555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5.3 on P. 180 of your textbook.</a:t>
            </a:r>
          </a:p>
          <a:p>
            <a:endParaRPr lang="en-US" dirty="0"/>
          </a:p>
          <a:p>
            <a:r>
              <a:rPr lang="en-US" dirty="0" smtClean="0">
                <a:solidFill>
                  <a:srgbClr val="FF0000"/>
                </a:solidFill>
              </a:rPr>
              <a:t>(a) </a:t>
            </a:r>
            <a:r>
              <a:rPr lang="en-US" dirty="0">
                <a:solidFill>
                  <a:srgbClr val="FF0000"/>
                </a:solidFill>
                <a:latin typeface="Courier New" panose="02070309020205020404" pitchFamily="49" charset="0"/>
                <a:cs typeface="Courier New" panose="02070309020205020404" pitchFamily="49" charset="0"/>
              </a:rPr>
              <a:t>N</a:t>
            </a:r>
          </a:p>
          <a:p>
            <a:r>
              <a:rPr lang="en-US" dirty="0" smtClean="0"/>
              <a:t/>
            </a:r>
            <a:br>
              <a:rPr lang="en-US" dirty="0" smtClean="0"/>
            </a:br>
            <a:r>
              <a:rPr lang="en-US" dirty="0" smtClean="0">
                <a:solidFill>
                  <a:srgbClr val="FF0000"/>
                </a:solidFill>
              </a:rPr>
              <a:t>(b) </a:t>
            </a:r>
          </a:p>
          <a:p>
            <a:endParaRPr lang="en-US" dirty="0"/>
          </a:p>
          <a:p>
            <a:r>
              <a:rPr lang="en-US" dirty="0" smtClean="0"/>
              <a:t/>
            </a:r>
            <a:br>
              <a:rPr lang="en-US" dirty="0" smtClean="0"/>
            </a:br>
            <a:r>
              <a:rPr lang="en-US" dirty="0" smtClean="0"/>
              <a:t>	</a:t>
            </a:r>
            <a:r>
              <a:rPr lang="en-US" dirty="0">
                <a:latin typeface="Courier New" panose="02070309020205020404" pitchFamily="49" charset="0"/>
                <a:cs typeface="Courier New" panose="02070309020205020404" pitchFamily="49" charset="0"/>
              </a:rPr>
              <a:t>start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next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a:t>
            </a:r>
          </a:p>
        </p:txBody>
      </p:sp>
      <p:sp>
        <p:nvSpPr>
          <p:cNvPr id="3" name="Slide Number Placeholder 2"/>
          <p:cNvSpPr>
            <a:spLocks noGrp="1"/>
          </p:cNvSpPr>
          <p:nvPr>
            <p:ph type="sldNum" sz="quarter" idx="12"/>
          </p:nvPr>
        </p:nvSpPr>
        <p:spPr/>
        <p:txBody>
          <a:bodyPr/>
          <a:lstStyle/>
          <a:p>
            <a:fld id="{6D22F896-40B5-4ADD-8801-0D06FADFA095}" type="slidenum">
              <a:rPr lang="en-US" smtClean="0"/>
              <a:t>80</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702510" y="3417164"/>
            <a:ext cx="8547084" cy="773015"/>
          </a:xfrm>
          <a:prstGeom prst="rect">
            <a:avLst/>
          </a:prstGeom>
        </p:spPr>
      </p:pic>
    </p:spTree>
    <p:extLst>
      <p:ext uri="{BB962C8B-B14F-4D97-AF65-F5344CB8AC3E}">
        <p14:creationId xmlns:p14="http://schemas.microsoft.com/office/powerpoint/2010/main" val="389945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fade">
                                      <p:cBhvr>
                                        <p:cTn id="15" dur="500"/>
                                        <p:tgtEl>
                                          <p:spTgt spid="2">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200" dirty="0">
                <a:solidFill>
                  <a:srgbClr val="FF0000"/>
                </a:solidFill>
              </a:rPr>
              <a:t>(c)</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Sub-program </a:t>
            </a:r>
            <a:r>
              <a:rPr lang="en-US" dirty="0">
                <a:latin typeface="Courier New" panose="02070309020205020404" pitchFamily="49" charset="0"/>
                <a:cs typeface="Courier New" panose="02070309020205020404" pitchFamily="49" charset="0"/>
              </a:rPr>
              <a:t>push(TAXI, </a:t>
            </a:r>
            <a:r>
              <a:rPr lang="en-US" dirty="0" smtClean="0">
                <a:latin typeface="Courier New" panose="02070309020205020404" pitchFamily="49" charset="0"/>
                <a:cs typeface="Courier New" panose="02070309020205020404" pitchFamily="49" charset="0"/>
              </a:rPr>
              <a:t>no)</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solidFill>
                  <a:srgbClr val="FF0000"/>
                </a:solidFill>
                <a:latin typeface="Courier New" panose="02070309020205020404" pitchFamily="49" charset="0"/>
                <a:cs typeface="Courier New" panose="02070309020205020404" pitchFamily="49" charset="0"/>
              </a:rPr>
              <a:t>(next + 1) % N = start</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Output </a:t>
            </a:r>
            <a:r>
              <a:rPr lang="en-US" dirty="0">
                <a:latin typeface="Courier New" panose="02070309020205020404" pitchFamily="49" charset="0"/>
                <a:cs typeface="Courier New" panose="02070309020205020404" pitchFamily="49" charset="0"/>
              </a:rPr>
              <a:t>"The queue is full</a:t>
            </a:r>
            <a:r>
              <a:rPr lang="en-US" dirty="0" smtClean="0">
                <a:latin typeface="Courier New" panose="02070309020205020404" pitchFamily="49" charset="0"/>
                <a:cs typeface="Courier New" panose="02070309020205020404" pitchFamily="49" charset="0"/>
              </a:rPr>
              <a: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TAXI[</a:t>
            </a:r>
            <a:r>
              <a:rPr lang="en-US" dirty="0" smtClean="0">
                <a:solidFill>
                  <a:srgbClr val="FF0000"/>
                </a:solidFill>
                <a:latin typeface="Courier New" panose="02070309020205020404" pitchFamily="49" charset="0"/>
                <a:cs typeface="Courier New" panose="02070309020205020404" pitchFamily="49" charset="0"/>
              </a:rPr>
              <a:t>next</a:t>
            </a:r>
            <a:r>
              <a:rPr lang="en-US"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no</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next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(next + 1) % </a:t>
            </a:r>
            <a:r>
              <a:rPr lang="en-US" dirty="0" smtClean="0">
                <a:solidFill>
                  <a:srgbClr val="FF0000"/>
                </a:solidFill>
                <a:latin typeface="Courier New" panose="02070309020205020404" pitchFamily="49" charset="0"/>
                <a:cs typeface="Courier New" panose="02070309020205020404" pitchFamily="49" charset="0"/>
              </a:rPr>
              <a:t>N</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Sub-program </a:t>
            </a:r>
            <a:r>
              <a:rPr lang="en-US" dirty="0" smtClean="0">
                <a:latin typeface="Courier New" panose="02070309020205020404" pitchFamily="49" charset="0"/>
                <a:cs typeface="Courier New" panose="02070309020205020404" pitchFamily="49" charset="0"/>
              </a:rPr>
              <a:t>pop(TAXI)</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if </a:t>
            </a:r>
            <a:r>
              <a:rPr lang="en-US" dirty="0">
                <a:solidFill>
                  <a:srgbClr val="FF0000"/>
                </a:solidFill>
                <a:latin typeface="Courier New" panose="02070309020205020404" pitchFamily="49" charset="0"/>
                <a:cs typeface="Courier New" panose="02070309020205020404" pitchFamily="49" charset="0"/>
              </a:rPr>
              <a:t>start = next</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then</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"No </a:t>
            </a:r>
            <a:r>
              <a:rPr lang="en-US" dirty="0" smtClean="0">
                <a:latin typeface="Courier New" panose="02070309020205020404" pitchFamily="49" charset="0"/>
                <a:cs typeface="Courier New" panose="02070309020205020404" pitchFamily="49" charset="0"/>
              </a:rPr>
              <a:t>taxi"</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start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(start + 1) % </a:t>
            </a:r>
            <a:r>
              <a:rPr lang="en-US" dirty="0" smtClean="0">
                <a:solidFill>
                  <a:srgbClr val="FF0000"/>
                </a:solidFill>
                <a:latin typeface="Courier New" panose="02070309020205020404" pitchFamily="49" charset="0"/>
                <a:cs typeface="Courier New" panose="02070309020205020404" pitchFamily="49" charset="0"/>
              </a:rPr>
              <a:t>N</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TAXI[start]</a:t>
            </a:r>
            <a:endParaRPr lang="en-US" dirty="0">
              <a:solidFill>
                <a:srgbClr val="FF0000"/>
              </a:solidFill>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81</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428711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solidFill>
                  <a:srgbClr val="FF0000"/>
                </a:solidFill>
              </a:rPr>
              <a:t>(d) </a:t>
            </a:r>
            <a:r>
              <a:rPr lang="en-US" dirty="0">
                <a:latin typeface="Courier New" panose="02070309020205020404" pitchFamily="49" charset="0"/>
                <a:cs typeface="Courier New" panose="02070309020205020404" pitchFamily="49" charset="0"/>
              </a:rPr>
              <a:t>Sub-program </a:t>
            </a:r>
            <a:r>
              <a:rPr lang="en-US" dirty="0">
                <a:latin typeface="Courier New" panose="02070309020205020404" pitchFamily="49" charset="0"/>
                <a:cs typeface="Courier New" panose="02070309020205020404" pitchFamily="49" charset="0"/>
              </a:rPr>
              <a:t>waiting(TAXI</a:t>
            </a:r>
            <a:r>
              <a:rPr lang="en-US" dirty="0" smtClean="0">
                <a:latin typeface="Courier New" panose="02070309020205020404" pitchFamily="49" charset="0"/>
                <a:cs typeface="Courier New" panose="02070309020205020404" pitchFamily="49" charset="0"/>
              </a:rPr>
              <a: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next &gt;= </a:t>
            </a:r>
            <a:r>
              <a:rPr lang="en-US" dirty="0" smtClean="0">
                <a:latin typeface="Courier New" panose="02070309020205020404" pitchFamily="49" charset="0"/>
                <a:cs typeface="Courier New" panose="02070309020205020404" pitchFamily="49" charset="0"/>
              </a:rPr>
              <a:t>start</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next </a:t>
            </a:r>
            <a:r>
              <a:rPr lang="en-US" dirty="0" smtClean="0">
                <a:solidFill>
                  <a:srgbClr val="FF0000"/>
                </a:solidFill>
                <a:latin typeface="Courier New" panose="02070309020205020404" pitchFamily="49" charset="0"/>
                <a:cs typeface="Courier New" panose="02070309020205020404" pitchFamily="49" charset="0"/>
              </a:rPr>
              <a:t>– start</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else</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N - (start - next</a:t>
            </a:r>
            <a:r>
              <a:rPr lang="en-US" dirty="0" smtClean="0">
                <a:solidFill>
                  <a:srgbClr val="FF0000"/>
                </a:solidFill>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solidFill>
                  <a:srgbClr val="FF0000"/>
                </a:solidFill>
              </a:rPr>
              <a:t>(e) </a:t>
            </a:r>
            <a:r>
              <a:rPr lang="en-US" dirty="0" smtClean="0">
                <a:solidFill>
                  <a:srgbClr val="FF0000"/>
                </a:solidFill>
              </a:rPr>
              <a:t>	</a:t>
            </a:r>
            <a:r>
              <a:rPr lang="en-US" dirty="0" smtClean="0">
                <a:latin typeface="Courier New" panose="02070309020205020404" pitchFamily="49" charset="0"/>
                <a:cs typeface="Courier New" panose="02070309020205020404" pitchFamily="49" charset="0"/>
              </a:rPr>
              <a:t>total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0</a:t>
            </a:r>
            <a:r>
              <a:rPr lang="en-US" dirty="0" smtClean="0">
                <a:solidFill>
                  <a:srgbClr val="FF0000"/>
                </a:solidFill>
                <a:latin typeface="Courier New" panose="02070309020205020404" pitchFamily="49" charset="0"/>
                <a:cs typeface="Courier New" panose="02070309020205020404" pitchFamily="49" charset="0"/>
              </a:rPr>
              <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a:t>
            </a:r>
            <a:r>
              <a:rPr lang="en-US" dirty="0" err="1" smtClean="0">
                <a:solidFill>
                  <a:srgbClr val="FF0000"/>
                </a:solidFill>
                <a:latin typeface="Courier New" panose="02070309020205020404" pitchFamily="49" charset="0"/>
                <a:cs typeface="Courier New" panose="02070309020205020404" pitchFamily="49" charset="0"/>
              </a:rPr>
              <a:t>i</a:t>
            </a:r>
            <a:r>
              <a:rPr lang="en-US" dirty="0" smtClean="0">
                <a:solidFill>
                  <a:srgbClr val="FF0000"/>
                </a:solidFill>
                <a:latin typeface="Courier New" panose="02070309020205020404" pitchFamily="49" charset="0"/>
                <a:cs typeface="Courier New" panose="02070309020205020404" pitchFamily="49" charset="0"/>
              </a:rPr>
              <a:t> </a:t>
            </a:r>
            <a:r>
              <a:rPr lang="en-US" dirty="0" smtClean="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smtClean="0">
                <a:solidFill>
                  <a:srgbClr val="FF0000"/>
                </a:solidFill>
                <a:latin typeface="Courier New" panose="02070309020205020404" pitchFamily="49" charset="0"/>
                <a:cs typeface="Courier New" panose="02070309020205020404" pitchFamily="49" charset="0"/>
              </a:rPr>
              <a:t> start</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while </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 </a:t>
            </a:r>
            <a:r>
              <a:rPr lang="en-US" dirty="0" smtClean="0">
                <a:solidFill>
                  <a:srgbClr val="FF0000"/>
                </a:solidFill>
                <a:latin typeface="Courier New" panose="02070309020205020404" pitchFamily="49" charset="0"/>
                <a:cs typeface="Courier New" panose="02070309020205020404" pitchFamily="49" charset="0"/>
              </a:rPr>
              <a:t>next</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if </a:t>
            </a:r>
            <a:r>
              <a:rPr lang="en-US" dirty="0">
                <a:solidFill>
                  <a:srgbClr val="FF0000"/>
                </a:solidFill>
                <a:latin typeface="Courier New" panose="02070309020205020404" pitchFamily="49" charset="0"/>
                <a:cs typeface="Courier New" panose="02070309020205020404" pitchFamily="49" charset="0"/>
              </a:rPr>
              <a:t>P[</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 5 </a:t>
            </a:r>
            <a:r>
              <a:rPr lang="en-US" dirty="0" smtClean="0">
                <a:solidFill>
                  <a:srgbClr val="FF0000"/>
                </a:solidFill>
                <a:latin typeface="Courier New" panose="02070309020205020404" pitchFamily="49" charset="0"/>
                <a:cs typeface="Courier New" panose="02070309020205020404" pitchFamily="49" charset="0"/>
              </a:rPr>
              <a:t>then</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total </a:t>
            </a:r>
            <a:r>
              <a:rPr lang="en-US" dirty="0" smtClean="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smtClean="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total + </a:t>
            </a:r>
            <a:r>
              <a:rPr lang="en-US" dirty="0" smtClean="0">
                <a:solidFill>
                  <a:srgbClr val="FF0000"/>
                </a:solidFill>
                <a:latin typeface="Courier New" panose="02070309020205020404" pitchFamily="49" charset="0"/>
                <a:cs typeface="Courier New" panose="02070309020205020404" pitchFamily="49" charset="0"/>
              </a:rPr>
              <a:t>1</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a:t>
            </a:r>
            <a:r>
              <a:rPr lang="en-US" dirty="0" err="1" smtClean="0">
                <a:solidFill>
                  <a:srgbClr val="FF0000"/>
                </a:solidFill>
                <a:latin typeface="Courier New" panose="02070309020205020404" pitchFamily="49" charset="0"/>
                <a:cs typeface="Courier New" panose="02070309020205020404" pitchFamily="49" charset="0"/>
              </a:rPr>
              <a:t>i</a:t>
            </a:r>
            <a:r>
              <a:rPr lang="en-US" dirty="0" smtClean="0">
                <a:solidFill>
                  <a:srgbClr val="FF0000"/>
                </a:solidFill>
                <a:latin typeface="Courier New" panose="02070309020205020404" pitchFamily="49" charset="0"/>
                <a:cs typeface="Courier New" panose="02070309020205020404" pitchFamily="49" charset="0"/>
              </a:rPr>
              <a:t> </a:t>
            </a:r>
            <a:r>
              <a:rPr lang="en-US" dirty="0" smtClean="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smtClean="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+ 1) % </a:t>
            </a:r>
            <a:r>
              <a:rPr lang="en-US" dirty="0" smtClean="0">
                <a:solidFill>
                  <a:srgbClr val="FF0000"/>
                </a:solidFill>
                <a:latin typeface="Courier New" panose="02070309020205020404" pitchFamily="49" charset="0"/>
                <a:cs typeface="Courier New" panose="02070309020205020404" pitchFamily="49" charset="0"/>
              </a:rPr>
              <a:t>N</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Output </a:t>
            </a:r>
            <a:r>
              <a:rPr lang="en-US" dirty="0">
                <a:latin typeface="Courier New" panose="02070309020205020404" pitchFamily="49" charset="0"/>
                <a:cs typeface="Courier New" panose="02070309020205020404" pitchFamily="49" charset="0"/>
              </a:rPr>
              <a:t>total</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82</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spTree>
    <p:extLst>
      <p:ext uri="{BB962C8B-B14F-4D97-AF65-F5344CB8AC3E}">
        <p14:creationId xmlns:p14="http://schemas.microsoft.com/office/powerpoint/2010/main" val="179897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Linked Lists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83</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4D4FA0"/>
                </a:solidFill>
              </a:rPr>
              <a:t>linked list</a:t>
            </a:r>
            <a:r>
              <a:rPr lang="en-US" dirty="0"/>
              <a:t> is formed by many </a:t>
            </a:r>
            <a:r>
              <a:rPr lang="en-US" b="1" dirty="0">
                <a:solidFill>
                  <a:srgbClr val="4D4FA0"/>
                </a:solidFill>
              </a:rPr>
              <a:t>nodes</a:t>
            </a:r>
            <a:r>
              <a:rPr lang="en-US" dirty="0"/>
              <a:t>. Each node stores its own data and a pointer, which stores the address of the next node. Nodes in the linked list are all connected by pointers.</a:t>
            </a:r>
          </a:p>
        </p:txBody>
      </p:sp>
      <p:pic>
        <p:nvPicPr>
          <p:cNvPr id="6" name="Picture 5"/>
          <p:cNvPicPr>
            <a:picLocks noChangeAspect="1"/>
          </p:cNvPicPr>
          <p:nvPr/>
        </p:nvPicPr>
        <p:blipFill>
          <a:blip r:embed="rId2"/>
          <a:stretch>
            <a:fillRect/>
          </a:stretch>
        </p:blipFill>
        <p:spPr>
          <a:xfrm>
            <a:off x="1287566" y="3077848"/>
            <a:ext cx="9295145" cy="1351371"/>
          </a:xfrm>
          <a:prstGeom prst="rect">
            <a:avLst/>
          </a:prstGeom>
        </p:spPr>
      </p:pic>
    </p:spTree>
    <p:extLst>
      <p:ext uri="{BB962C8B-B14F-4D97-AF65-F5344CB8AC3E}">
        <p14:creationId xmlns:p14="http://schemas.microsoft.com/office/powerpoint/2010/main" val="139816474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linked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84</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To add a new node to or delete a node from the linked list, we simply need to modify the pointers of the nodes.</a:t>
            </a:r>
          </a:p>
        </p:txBody>
      </p:sp>
      <p:pic>
        <p:nvPicPr>
          <p:cNvPr id="6" name="Picture 5"/>
          <p:cNvPicPr>
            <a:picLocks noChangeAspect="1"/>
          </p:cNvPicPr>
          <p:nvPr/>
        </p:nvPicPr>
        <p:blipFill>
          <a:blip r:embed="rId2"/>
          <a:stretch>
            <a:fillRect/>
          </a:stretch>
        </p:blipFill>
        <p:spPr>
          <a:xfrm>
            <a:off x="1731418" y="5131190"/>
            <a:ext cx="8343608" cy="1158010"/>
          </a:xfrm>
          <a:prstGeom prst="rect">
            <a:avLst/>
          </a:prstGeom>
        </p:spPr>
      </p:pic>
      <p:pic>
        <p:nvPicPr>
          <p:cNvPr id="7" name="Picture 6"/>
          <p:cNvPicPr>
            <a:picLocks noChangeAspect="1"/>
          </p:cNvPicPr>
          <p:nvPr/>
        </p:nvPicPr>
        <p:blipFill>
          <a:blip r:embed="rId3"/>
          <a:stretch>
            <a:fillRect/>
          </a:stretch>
        </p:blipFill>
        <p:spPr>
          <a:xfrm>
            <a:off x="1731418" y="2512800"/>
            <a:ext cx="8346131" cy="1847277"/>
          </a:xfrm>
          <a:prstGeom prst="rect">
            <a:avLst/>
          </a:prstGeom>
        </p:spPr>
      </p:pic>
    </p:spTree>
    <p:extLst>
      <p:ext uri="{BB962C8B-B14F-4D97-AF65-F5344CB8AC3E}">
        <p14:creationId xmlns:p14="http://schemas.microsoft.com/office/powerpoint/2010/main" val="25858184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and manipulation of linked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85</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Stack and queue data structures only allow us to add data at their ends, while a linked list lets us insert new data in the middle of a row of data items. </a:t>
            </a:r>
            <a:endParaRPr lang="en-US" dirty="0" smtClean="0"/>
          </a:p>
          <a:p>
            <a:endParaRPr lang="en-US" dirty="0" smtClean="0"/>
          </a:p>
          <a:p>
            <a:endParaRPr lang="en-US" dirty="0" smtClean="0"/>
          </a:p>
          <a:p>
            <a:r>
              <a:rPr lang="en-US" dirty="0" smtClean="0"/>
              <a:t>Therefore</a:t>
            </a:r>
            <a:r>
              <a:rPr lang="en-US" dirty="0"/>
              <a:t>, a linked list is more flexible than the previous two data structures.</a:t>
            </a:r>
          </a:p>
        </p:txBody>
      </p:sp>
    </p:spTree>
    <p:extLst>
      <p:ext uri="{BB962C8B-B14F-4D97-AF65-F5344CB8AC3E}">
        <p14:creationId xmlns:p14="http://schemas.microsoft.com/office/powerpoint/2010/main" val="226930443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linked lists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86</a:t>
            </a:fld>
            <a:endParaRPr lang="en-US" dirty="0"/>
          </a:p>
        </p:txBody>
      </p:sp>
      <p:sp>
        <p:nvSpPr>
          <p:cNvPr id="4" name="Text Placeholder 3"/>
          <p:cNvSpPr>
            <a:spLocks noGrp="1"/>
          </p:cNvSpPr>
          <p:nvPr>
            <p:ph type="body" sz="quarter" idx="14"/>
          </p:nvPr>
        </p:nvSpPr>
        <p:spPr/>
        <p:txBody>
          <a:bodyPr/>
          <a:lstStyle/>
          <a:p>
            <a:r>
              <a:rPr lang="en-US" dirty="0"/>
              <a:t>B</a:t>
            </a:r>
            <a:endParaRPr lang="en-US" dirty="0"/>
          </a:p>
        </p:txBody>
      </p:sp>
      <p:sp>
        <p:nvSpPr>
          <p:cNvPr id="5" name="Content Placeholder 4"/>
          <p:cNvSpPr>
            <a:spLocks noGrp="1"/>
          </p:cNvSpPr>
          <p:nvPr>
            <p:ph sz="quarter" idx="15"/>
          </p:nvPr>
        </p:nvSpPr>
        <p:spPr/>
        <p:txBody>
          <a:bodyPr/>
          <a:lstStyle/>
          <a:p>
            <a:r>
              <a:rPr lang="en-US" dirty="0"/>
              <a:t>After a file system has been used for a long time, a lot of files are created, edited and deleted. Files are stored in storage devices in the form of separate fragments.</a:t>
            </a:r>
            <a:endParaRPr lang="en-US" dirty="0" smtClean="0"/>
          </a:p>
          <a:p>
            <a:endParaRPr lang="en-US" dirty="0" smtClean="0"/>
          </a:p>
          <a:p>
            <a:endParaRPr lang="en-US" dirty="0"/>
          </a:p>
          <a:p>
            <a:endParaRPr lang="en-US" dirty="0" smtClean="0"/>
          </a:p>
          <a:p>
            <a:endParaRPr lang="en-US" dirty="0" smtClean="0"/>
          </a:p>
          <a:p>
            <a:endParaRPr lang="en-US" dirty="0"/>
          </a:p>
          <a:p>
            <a:endParaRPr lang="en-US" dirty="0" smtClean="0"/>
          </a:p>
          <a:p>
            <a:r>
              <a:rPr lang="en-US" dirty="0" smtClean="0"/>
              <a:t>A </a:t>
            </a:r>
            <a:r>
              <a:rPr lang="en-US" dirty="0"/>
              <a:t>linked list is one of the data structures used in memory management. The computer system connects all fragments of a file using a linked list.</a:t>
            </a:r>
          </a:p>
        </p:txBody>
      </p:sp>
      <p:pic>
        <p:nvPicPr>
          <p:cNvPr id="6" name="Picture 5"/>
          <p:cNvPicPr>
            <a:picLocks noChangeAspect="1"/>
          </p:cNvPicPr>
          <p:nvPr/>
        </p:nvPicPr>
        <p:blipFill>
          <a:blip r:embed="rId2"/>
          <a:stretch>
            <a:fillRect/>
          </a:stretch>
        </p:blipFill>
        <p:spPr>
          <a:xfrm>
            <a:off x="2274145" y="2567202"/>
            <a:ext cx="6773840" cy="2549224"/>
          </a:xfrm>
          <a:prstGeom prst="rect">
            <a:avLst/>
          </a:prstGeom>
        </p:spPr>
      </p:pic>
    </p:spTree>
    <p:extLst>
      <p:ext uri="{BB962C8B-B14F-4D97-AF65-F5344CB8AC3E}">
        <p14:creationId xmlns:p14="http://schemas.microsoft.com/office/powerpoint/2010/main" val="280330128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linked lists in computer systems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87</a:t>
            </a:fld>
            <a:endParaRPr lang="en-US" dirty="0"/>
          </a:p>
        </p:txBody>
      </p:sp>
      <p:sp>
        <p:nvSpPr>
          <p:cNvPr id="4" name="Text Placeholder 3"/>
          <p:cNvSpPr>
            <a:spLocks noGrp="1"/>
          </p:cNvSpPr>
          <p:nvPr>
            <p:ph type="body" sz="quarter" idx="14"/>
          </p:nvPr>
        </p:nvSpPr>
        <p:spPr/>
        <p:txBody>
          <a:bodyPr/>
          <a:lstStyle/>
          <a:p>
            <a:r>
              <a:rPr lang="en-US" dirty="0"/>
              <a:t>B</a:t>
            </a:r>
            <a:endParaRPr lang="en-US" dirty="0"/>
          </a:p>
        </p:txBody>
      </p:sp>
      <p:sp>
        <p:nvSpPr>
          <p:cNvPr id="5" name="Content Placeholder 4"/>
          <p:cNvSpPr>
            <a:spLocks noGrp="1"/>
          </p:cNvSpPr>
          <p:nvPr>
            <p:ph sz="quarter" idx="15"/>
          </p:nvPr>
        </p:nvSpPr>
        <p:spPr/>
        <p:txBody>
          <a:bodyPr/>
          <a:lstStyle/>
          <a:p>
            <a:r>
              <a:rPr lang="en-US" dirty="0" smtClean="0"/>
              <a:t>File A connected by a linked list:</a:t>
            </a:r>
            <a:endParaRPr lang="en-US" dirty="0"/>
          </a:p>
        </p:txBody>
      </p:sp>
      <p:pic>
        <p:nvPicPr>
          <p:cNvPr id="6" name="Picture 5"/>
          <p:cNvPicPr>
            <a:picLocks noChangeAspect="1"/>
          </p:cNvPicPr>
          <p:nvPr/>
        </p:nvPicPr>
        <p:blipFill>
          <a:blip r:embed="rId2"/>
          <a:stretch>
            <a:fillRect/>
          </a:stretch>
        </p:blipFill>
        <p:spPr>
          <a:xfrm>
            <a:off x="927184" y="2414636"/>
            <a:ext cx="10338831" cy="909128"/>
          </a:xfrm>
          <a:prstGeom prst="rect">
            <a:avLst/>
          </a:prstGeom>
        </p:spPr>
      </p:pic>
    </p:spTree>
    <p:extLst>
      <p:ext uri="{BB962C8B-B14F-4D97-AF65-F5344CB8AC3E}">
        <p14:creationId xmlns:p14="http://schemas.microsoft.com/office/powerpoint/2010/main" val="126851679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88</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Linked lists and one-dimensional arrays have similar uses in that both can store a series of data. </a:t>
            </a:r>
            <a:endParaRPr lang="en-US" dirty="0" smtClean="0"/>
          </a:p>
          <a:p>
            <a:endParaRPr lang="en-US" dirty="0"/>
          </a:p>
          <a:p>
            <a:r>
              <a:rPr lang="en-US" dirty="0" smtClean="0"/>
              <a:t>However</a:t>
            </a:r>
            <a:r>
              <a:rPr lang="en-US" dirty="0"/>
              <a:t>, as mentioned in Module D of the Compulsory Part, an array can store the same type of data only. On the contrary, a linked list can store different types of data.</a:t>
            </a:r>
          </a:p>
        </p:txBody>
      </p:sp>
    </p:spTree>
    <p:extLst>
      <p:ext uri="{BB962C8B-B14F-4D97-AF65-F5344CB8AC3E}">
        <p14:creationId xmlns:p14="http://schemas.microsoft.com/office/powerpoint/2010/main" val="240684019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89</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Moreover, since an array stores data in a continuous memory, the computer can use the index to calculate the memory address quickly and easily, and access a given item directly. </a:t>
            </a:r>
            <a:endParaRPr lang="en-US" dirty="0" smtClean="0"/>
          </a:p>
          <a:p>
            <a:endParaRPr lang="en-US" dirty="0"/>
          </a:p>
          <a:p>
            <a:r>
              <a:rPr lang="en-US" dirty="0" smtClean="0"/>
              <a:t>This </a:t>
            </a:r>
            <a:r>
              <a:rPr lang="en-US" dirty="0"/>
              <a:t>method of data access is called </a:t>
            </a:r>
            <a:r>
              <a:rPr lang="en-US" b="1" dirty="0">
                <a:solidFill>
                  <a:srgbClr val="4D4FA0"/>
                </a:solidFill>
              </a:rPr>
              <a:t>direct access</a:t>
            </a:r>
            <a:r>
              <a:rPr lang="en-US" dirty="0"/>
              <a:t> (also known as </a:t>
            </a:r>
            <a:r>
              <a:rPr lang="en-US" b="1" dirty="0">
                <a:solidFill>
                  <a:srgbClr val="4D4FA0"/>
                </a:solidFill>
              </a:rPr>
              <a:t>random access</a:t>
            </a:r>
            <a:r>
              <a:rPr lang="en-US" dirty="0"/>
              <a:t>). </a:t>
            </a:r>
          </a:p>
        </p:txBody>
      </p:sp>
      <p:pic>
        <p:nvPicPr>
          <p:cNvPr id="6" name="Picture 5"/>
          <p:cNvPicPr>
            <a:picLocks noChangeAspect="1"/>
          </p:cNvPicPr>
          <p:nvPr/>
        </p:nvPicPr>
        <p:blipFill>
          <a:blip r:embed="rId2"/>
          <a:stretch>
            <a:fillRect/>
          </a:stretch>
        </p:blipFill>
        <p:spPr>
          <a:xfrm>
            <a:off x="3239705" y="3949200"/>
            <a:ext cx="4982270" cy="2076740"/>
          </a:xfrm>
          <a:prstGeom prst="rect">
            <a:avLst/>
          </a:prstGeom>
        </p:spPr>
      </p:pic>
    </p:spTree>
    <p:extLst>
      <p:ext uri="{BB962C8B-B14F-4D97-AF65-F5344CB8AC3E}">
        <p14:creationId xmlns:p14="http://schemas.microsoft.com/office/powerpoint/2010/main" val="381121303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90</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Since a linked list connects nodes by pointers, data items do not need to be stored in a continuous memory, instead, they can be stored separately in different locations.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When </a:t>
            </a:r>
            <a:r>
              <a:rPr lang="en-US" dirty="0"/>
              <a:t>we need to access the data item at a given location, we can only search the list from the beginning and follow the pointers. This access method is called </a:t>
            </a:r>
            <a:r>
              <a:rPr lang="en-US" b="1" dirty="0">
                <a:solidFill>
                  <a:srgbClr val="4D4FA0"/>
                </a:solidFill>
              </a:rPr>
              <a:t>sequential access</a:t>
            </a:r>
            <a:r>
              <a:rPr lang="en-US" dirty="0"/>
              <a:t>.</a:t>
            </a:r>
          </a:p>
        </p:txBody>
      </p:sp>
      <p:pic>
        <p:nvPicPr>
          <p:cNvPr id="6" name="Picture 5"/>
          <p:cNvPicPr>
            <a:picLocks noChangeAspect="1"/>
          </p:cNvPicPr>
          <p:nvPr/>
        </p:nvPicPr>
        <p:blipFill>
          <a:blip r:embed="rId2"/>
          <a:stretch>
            <a:fillRect/>
          </a:stretch>
        </p:blipFill>
        <p:spPr>
          <a:xfrm>
            <a:off x="1630643" y="3133439"/>
            <a:ext cx="7920681" cy="1898697"/>
          </a:xfrm>
          <a:prstGeom prst="rect">
            <a:avLst/>
          </a:prstGeom>
        </p:spPr>
      </p:pic>
    </p:spTree>
    <p:extLst>
      <p:ext uri="{BB962C8B-B14F-4D97-AF65-F5344CB8AC3E}">
        <p14:creationId xmlns:p14="http://schemas.microsoft.com/office/powerpoint/2010/main" val="326363568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91</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Although arrays are more convenient than linked lists in terms of data </a:t>
            </a:r>
            <a:r>
              <a:rPr lang="en-US" dirty="0" smtClean="0"/>
              <a:t>access</a:t>
            </a:r>
            <a:r>
              <a:rPr lang="en-US" dirty="0"/>
              <a:t>, adding or deleting items in arrays is more complicated. </a:t>
            </a:r>
            <a:endParaRPr lang="en-US" dirty="0" smtClean="0"/>
          </a:p>
          <a:p>
            <a:endParaRPr lang="en-US" dirty="0"/>
          </a:p>
          <a:p>
            <a:r>
              <a:rPr lang="en-US" dirty="0" smtClean="0"/>
              <a:t>For </a:t>
            </a:r>
            <a:r>
              <a:rPr lang="en-US" dirty="0"/>
              <a:t>instance, </a:t>
            </a:r>
            <a:r>
              <a:rPr lang="en-US" dirty="0" smtClean="0"/>
              <a:t>if </a:t>
            </a:r>
            <a:r>
              <a:rPr lang="en-US" dirty="0"/>
              <a:t>we need to add an item to an array, we must move the items after a given </a:t>
            </a:r>
            <a:r>
              <a:rPr lang="en-US" dirty="0" smtClean="0"/>
              <a:t>location </a:t>
            </a:r>
            <a:r>
              <a:rPr lang="en-US" dirty="0"/>
              <a:t>backwards one by one. </a:t>
            </a:r>
          </a:p>
        </p:txBody>
      </p:sp>
      <p:pic>
        <p:nvPicPr>
          <p:cNvPr id="7" name="Picture 6"/>
          <p:cNvPicPr>
            <a:picLocks noChangeAspect="1"/>
          </p:cNvPicPr>
          <p:nvPr/>
        </p:nvPicPr>
        <p:blipFill>
          <a:blip r:embed="rId2"/>
          <a:stretch>
            <a:fillRect/>
          </a:stretch>
        </p:blipFill>
        <p:spPr>
          <a:xfrm>
            <a:off x="3171254" y="3749040"/>
            <a:ext cx="6109947" cy="2540160"/>
          </a:xfrm>
          <a:prstGeom prst="rect">
            <a:avLst/>
          </a:prstGeom>
        </p:spPr>
      </p:pic>
    </p:spTree>
    <p:extLst>
      <p:ext uri="{BB962C8B-B14F-4D97-AF65-F5344CB8AC3E}">
        <p14:creationId xmlns:p14="http://schemas.microsoft.com/office/powerpoint/2010/main" val="407343012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92</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In addition, to delete an item, we need to move the items after a given location forwards one by one.</a:t>
            </a:r>
          </a:p>
          <a:p>
            <a:endParaRPr lang="en-US" dirty="0"/>
          </a:p>
        </p:txBody>
      </p:sp>
      <p:pic>
        <p:nvPicPr>
          <p:cNvPr id="7" name="Picture 6"/>
          <p:cNvPicPr>
            <a:picLocks noChangeAspect="1"/>
          </p:cNvPicPr>
          <p:nvPr/>
        </p:nvPicPr>
        <p:blipFill>
          <a:blip r:embed="rId2"/>
          <a:stretch>
            <a:fillRect/>
          </a:stretch>
        </p:blipFill>
        <p:spPr>
          <a:xfrm>
            <a:off x="2767262" y="3044209"/>
            <a:ext cx="7307763" cy="1401194"/>
          </a:xfrm>
          <a:prstGeom prst="rect">
            <a:avLst/>
          </a:prstGeom>
        </p:spPr>
      </p:pic>
    </p:spTree>
    <p:extLst>
      <p:ext uri="{BB962C8B-B14F-4D97-AF65-F5344CB8AC3E}">
        <p14:creationId xmlns:p14="http://schemas.microsoft.com/office/powerpoint/2010/main" val="365320069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93</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On the other hand, it is simpler to add or delete a node in a linked list. We only need to change the directions of the pointers.</a:t>
            </a:r>
          </a:p>
        </p:txBody>
      </p:sp>
      <p:pic>
        <p:nvPicPr>
          <p:cNvPr id="6" name="Picture 5"/>
          <p:cNvPicPr>
            <a:picLocks noChangeAspect="1"/>
          </p:cNvPicPr>
          <p:nvPr/>
        </p:nvPicPr>
        <p:blipFill>
          <a:blip r:embed="rId2"/>
          <a:stretch>
            <a:fillRect/>
          </a:stretch>
        </p:blipFill>
        <p:spPr>
          <a:xfrm>
            <a:off x="1810800" y="2687295"/>
            <a:ext cx="8638286" cy="3073425"/>
          </a:xfrm>
          <a:prstGeom prst="rect">
            <a:avLst/>
          </a:prstGeom>
        </p:spPr>
      </p:pic>
    </p:spTree>
    <p:extLst>
      <p:ext uri="{BB962C8B-B14F-4D97-AF65-F5344CB8AC3E}">
        <p14:creationId xmlns:p14="http://schemas.microsoft.com/office/powerpoint/2010/main" val="286584678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between linked lists and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94</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Comparison of arrays and linked </a:t>
            </a:r>
            <a:r>
              <a:rPr lang="en-US" dirty="0" smtClean="0"/>
              <a:t>lists:</a:t>
            </a:r>
            <a:endParaRPr lang="en-US" dirty="0"/>
          </a:p>
        </p:txBody>
      </p:sp>
      <p:pic>
        <p:nvPicPr>
          <p:cNvPr id="6" name="Picture 5"/>
          <p:cNvPicPr>
            <a:picLocks noChangeAspect="1"/>
          </p:cNvPicPr>
          <p:nvPr/>
        </p:nvPicPr>
        <p:blipFill>
          <a:blip r:embed="rId2"/>
          <a:stretch>
            <a:fillRect/>
          </a:stretch>
        </p:blipFill>
        <p:spPr>
          <a:xfrm>
            <a:off x="1711565" y="2185960"/>
            <a:ext cx="8871146" cy="3525607"/>
          </a:xfrm>
          <a:prstGeom prst="rect">
            <a:avLst/>
          </a:prstGeom>
        </p:spPr>
      </p:pic>
    </p:spTree>
    <p:extLst>
      <p:ext uri="{BB962C8B-B14F-4D97-AF65-F5344CB8AC3E}">
        <p14:creationId xmlns:p14="http://schemas.microsoft.com/office/powerpoint/2010/main" val="91302335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Nicole uses a linked list to store the English names of some MTR stations. The content of the first node in the linked list stores “start”, while the pointer stores the index of the next node. She represents this linked list as arrays, as shown below:</a:t>
            </a:r>
          </a:p>
        </p:txBody>
      </p:sp>
      <p:sp>
        <p:nvSpPr>
          <p:cNvPr id="3" name="Slide Number Placeholder 2"/>
          <p:cNvSpPr>
            <a:spLocks noGrp="1"/>
          </p:cNvSpPr>
          <p:nvPr>
            <p:ph type="sldNum" sz="quarter" idx="12"/>
          </p:nvPr>
        </p:nvSpPr>
        <p:spPr/>
        <p:txBody>
          <a:bodyPr/>
          <a:lstStyle/>
          <a:p>
            <a:fld id="{6D22F896-40B5-4ADD-8801-0D06FADFA095}" type="slidenum">
              <a:rPr lang="en-US" smtClean="0"/>
              <a:t>95</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760281" y="2643448"/>
            <a:ext cx="4632051" cy="3578008"/>
          </a:xfrm>
          <a:prstGeom prst="rect">
            <a:avLst/>
          </a:prstGeom>
        </p:spPr>
      </p:pic>
      <p:pic>
        <p:nvPicPr>
          <p:cNvPr id="6" name="Picture 5"/>
          <p:cNvPicPr>
            <a:picLocks noChangeAspect="1"/>
          </p:cNvPicPr>
          <p:nvPr/>
        </p:nvPicPr>
        <p:blipFill>
          <a:blip r:embed="rId3"/>
          <a:stretch>
            <a:fillRect/>
          </a:stretch>
        </p:blipFill>
        <p:spPr>
          <a:xfrm>
            <a:off x="7407589" y="2962579"/>
            <a:ext cx="3315314" cy="2290439"/>
          </a:xfrm>
          <a:prstGeom prst="rect">
            <a:avLst/>
          </a:prstGeom>
        </p:spPr>
      </p:pic>
    </p:spTree>
    <p:extLst>
      <p:ext uri="{BB962C8B-B14F-4D97-AF65-F5344CB8AC3E}">
        <p14:creationId xmlns:p14="http://schemas.microsoft.com/office/powerpoint/2010/main" val="25566172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(a) (</a:t>
            </a:r>
            <a:r>
              <a:rPr lang="en-US" dirty="0" err="1"/>
              <a:t>i</a:t>
            </a:r>
            <a:r>
              <a:rPr lang="en-US" dirty="0"/>
              <a:t>) Nicole uses “-1” to represent a null pointer. Write the content of the nodes in this linked list in </a:t>
            </a:r>
            <a:r>
              <a:rPr lang="en-US" dirty="0" smtClean="0"/>
              <a:t>order.</a:t>
            </a:r>
            <a:br>
              <a:rPr lang="en-US" dirty="0" smtClean="0"/>
            </a:br>
            <a:r>
              <a:rPr lang="en-US" dirty="0" smtClean="0"/>
              <a:t/>
            </a:r>
            <a:br>
              <a:rPr lang="en-US" dirty="0" smtClean="0"/>
            </a:br>
            <a:r>
              <a:rPr lang="en-US" dirty="0" smtClean="0"/>
              <a:t>     (</a:t>
            </a:r>
            <a:r>
              <a:rPr lang="en-US" dirty="0"/>
              <a:t>ii) Including the first node, how many nodes are there in this linked list</a:t>
            </a:r>
            <a:r>
              <a:rPr lang="en-US" dirty="0" smtClean="0"/>
              <a:t>?</a:t>
            </a:r>
            <a:br>
              <a:rPr lang="en-US" dirty="0" smtClean="0"/>
            </a:br>
            <a:endParaRPr lang="en-US" dirty="0"/>
          </a:p>
          <a:p>
            <a:r>
              <a:rPr lang="en-US" dirty="0" smtClean="0"/>
              <a:t>    (</a:t>
            </a:r>
            <a:r>
              <a:rPr lang="en-US" dirty="0"/>
              <a:t>iii) Other than “-1”, state </a:t>
            </a:r>
            <a:r>
              <a:rPr lang="en-US" dirty="0" smtClean="0"/>
              <a:t>the </a:t>
            </a:r>
            <a:r>
              <a:rPr lang="en-US" dirty="0"/>
              <a:t>range of values that Nicole can use to represent the null pointer</a:t>
            </a:r>
            <a:r>
              <a:rPr lang="en-US" dirty="0" smtClean="0"/>
              <a:t>.</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96</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145646772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Nicole designs the following sub-programs to manipulate the linked list:</a:t>
            </a:r>
          </a:p>
          <a:p>
            <a:endParaRPr lang="en-US" dirty="0" smtClean="0"/>
          </a:p>
          <a:p>
            <a:endParaRPr lang="en-US" dirty="0" smtClean="0"/>
          </a:p>
          <a:p>
            <a:r>
              <a:rPr lang="en-US" dirty="0" smtClean="0"/>
              <a:t/>
            </a:r>
            <a:br>
              <a:rPr lang="en-US" dirty="0" smtClean="0"/>
            </a:br>
            <a:endParaRPr lang="en-US" dirty="0"/>
          </a:p>
          <a:p>
            <a:r>
              <a:rPr lang="en-US" dirty="0"/>
              <a:t>She executes the following code:</a:t>
            </a:r>
            <a:br>
              <a:rPr lang="en-US" dirty="0"/>
            </a:br>
            <a:r>
              <a:rPr lang="en-US" dirty="0"/>
              <a:t>	</a:t>
            </a:r>
            <a:r>
              <a:rPr lang="en-US" dirty="0">
                <a:latin typeface="Courier New" panose="02070309020205020404" pitchFamily="49" charset="0"/>
                <a:cs typeface="Courier New" panose="02070309020205020404" pitchFamily="49" charset="0"/>
              </a:rPr>
              <a:t>insert(5, "Kowloon Tong")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insert(5, "Prince Edward")</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delete(2)</a:t>
            </a:r>
            <a:br>
              <a:rPr lang="en-US" dirty="0" smtClean="0">
                <a:latin typeface="Courier New" panose="02070309020205020404" pitchFamily="49" charset="0"/>
                <a:cs typeface="Courier New" panose="02070309020205020404" pitchFamily="49" charset="0"/>
              </a:rPr>
            </a:b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97</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745250" y="2142018"/>
            <a:ext cx="8042458" cy="1266200"/>
          </a:xfrm>
          <a:prstGeom prst="rect">
            <a:avLst/>
          </a:prstGeom>
        </p:spPr>
      </p:pic>
    </p:spTree>
    <p:extLst>
      <p:ext uri="{BB962C8B-B14F-4D97-AF65-F5344CB8AC3E}">
        <p14:creationId xmlns:p14="http://schemas.microsoft.com/office/powerpoint/2010/main" val="287448098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Update the linked list below.</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98</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6" name="Picture 5"/>
          <p:cNvPicPr>
            <a:picLocks noChangeAspect="1"/>
          </p:cNvPicPr>
          <p:nvPr/>
        </p:nvPicPr>
        <p:blipFill>
          <a:blip r:embed="rId2"/>
          <a:stretch>
            <a:fillRect/>
          </a:stretch>
        </p:blipFill>
        <p:spPr>
          <a:xfrm>
            <a:off x="1479486" y="2152997"/>
            <a:ext cx="4472879" cy="3449782"/>
          </a:xfrm>
          <a:prstGeom prst="rect">
            <a:avLst/>
          </a:prstGeom>
        </p:spPr>
      </p:pic>
    </p:spTree>
    <p:extLst>
      <p:ext uri="{BB962C8B-B14F-4D97-AF65-F5344CB8AC3E}">
        <p14:creationId xmlns:p14="http://schemas.microsoft.com/office/powerpoint/2010/main" val="148851943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a:solidFill>
                  <a:srgbClr val="37A3D4"/>
                </a:solidFill>
              </a:rPr>
              <a:t>Solution</a:t>
            </a:r>
          </a:p>
          <a:p>
            <a:r>
              <a:rPr lang="en-US" dirty="0"/>
              <a:t>(a) (</a:t>
            </a:r>
            <a:r>
              <a:rPr lang="en-US" dirty="0" err="1"/>
              <a:t>i</a:t>
            </a:r>
            <a:r>
              <a:rPr lang="en-US" dirty="0"/>
              <a:t>) </a:t>
            </a:r>
            <a:r>
              <a:rPr lang="en-US" dirty="0">
                <a:latin typeface="Courier New" panose="02070309020205020404" pitchFamily="49" charset="0"/>
                <a:cs typeface="Courier New" panose="02070309020205020404" pitchFamily="49" charset="0"/>
              </a:rPr>
              <a:t>start, Whampoa, Ho Man Tin, </a:t>
            </a:r>
            <a:r>
              <a:rPr lang="en-US" dirty="0" err="1">
                <a:latin typeface="Courier New" panose="02070309020205020404" pitchFamily="49" charset="0"/>
                <a:cs typeface="Courier New" panose="02070309020205020404" pitchFamily="49" charset="0"/>
              </a:rPr>
              <a:t>Yau</a:t>
            </a:r>
            <a:r>
              <a:rPr lang="en-US" dirty="0">
                <a:latin typeface="Courier New" panose="02070309020205020404" pitchFamily="49" charset="0"/>
                <a:cs typeface="Courier New" panose="02070309020205020404" pitchFamily="49" charset="0"/>
              </a:rPr>
              <a:t> Ma </a:t>
            </a:r>
            <a:r>
              <a:rPr lang="en-US" dirty="0" err="1">
                <a:latin typeface="Courier New" panose="02070309020205020404" pitchFamily="49" charset="0"/>
                <a:cs typeface="Courier New" panose="02070309020205020404" pitchFamily="49" charset="0"/>
              </a:rPr>
              <a:t>Tei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Mong</a:t>
            </a:r>
            <a:r>
              <a:rPr lang="en-US" dirty="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Kok</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r>
              <a:rPr lang="en-US" dirty="0" smtClean="0"/>
              <a:t>     (</a:t>
            </a:r>
            <a:r>
              <a:rPr lang="en-US" dirty="0"/>
              <a:t>ii) </a:t>
            </a:r>
            <a:r>
              <a:rPr lang="en-US" dirty="0" smtClean="0"/>
              <a:t>5</a:t>
            </a:r>
            <a:br>
              <a:rPr lang="en-US" dirty="0" smtClean="0"/>
            </a:br>
            <a:endParaRPr lang="en-US" dirty="0"/>
          </a:p>
          <a:p>
            <a:r>
              <a:rPr lang="en-US" dirty="0" smtClean="0"/>
              <a:t>     (</a:t>
            </a:r>
            <a:r>
              <a:rPr lang="en-US" dirty="0"/>
              <a:t>iii) Any negative numbers/ If we know the array size, any numbers greater than it</a:t>
            </a:r>
          </a:p>
        </p:txBody>
      </p:sp>
      <p:sp>
        <p:nvSpPr>
          <p:cNvPr id="3" name="Slide Number Placeholder 2"/>
          <p:cNvSpPr>
            <a:spLocks noGrp="1"/>
          </p:cNvSpPr>
          <p:nvPr>
            <p:ph type="sldNum" sz="quarter" idx="12"/>
          </p:nvPr>
        </p:nvSpPr>
        <p:spPr/>
        <p:txBody>
          <a:bodyPr/>
          <a:lstStyle/>
          <a:p>
            <a:fld id="{6D22F896-40B5-4ADD-8801-0D06FADFA095}" type="slidenum">
              <a:rPr lang="en-US" smtClean="0"/>
              <a:t>99</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63507703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Content of the linked list:</a:t>
            </a:r>
          </a:p>
        </p:txBody>
      </p:sp>
      <p:sp>
        <p:nvSpPr>
          <p:cNvPr id="3" name="Slide Number Placeholder 2"/>
          <p:cNvSpPr>
            <a:spLocks noGrp="1"/>
          </p:cNvSpPr>
          <p:nvPr>
            <p:ph type="sldNum" sz="quarter" idx="12"/>
          </p:nvPr>
        </p:nvSpPr>
        <p:spPr/>
        <p:txBody>
          <a:bodyPr/>
          <a:lstStyle/>
          <a:p>
            <a:fld id="{6D22F896-40B5-4ADD-8801-0D06FADFA095}" type="slidenum">
              <a:rPr lang="en-US" smtClean="0"/>
              <a:t>100</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474097" y="2011679"/>
            <a:ext cx="4678149" cy="3607725"/>
          </a:xfrm>
          <a:prstGeom prst="rect">
            <a:avLst/>
          </a:prstGeom>
        </p:spPr>
      </p:pic>
    </p:spTree>
    <p:extLst>
      <p:ext uri="{BB962C8B-B14F-4D97-AF65-F5344CB8AC3E}">
        <p14:creationId xmlns:p14="http://schemas.microsoft.com/office/powerpoint/2010/main" val="71178425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2. Anson constructed linked list </a:t>
            </a:r>
            <a:r>
              <a:rPr lang="en-US" dirty="0">
                <a:latin typeface="Courier New" panose="02070309020205020404" pitchFamily="49" charset="0"/>
                <a:cs typeface="Courier New" panose="02070309020205020404" pitchFamily="49" charset="0"/>
              </a:rPr>
              <a:t>DLL</a:t>
            </a:r>
            <a:r>
              <a:rPr lang="en-US" dirty="0"/>
              <a:t> to store the student numbers of students studying Physics. Each node has two pointers: pointer </a:t>
            </a:r>
            <a:r>
              <a:rPr lang="en-US" dirty="0" err="1">
                <a:latin typeface="Courier New" panose="02070309020205020404" pitchFamily="49" charset="0"/>
                <a:cs typeface="Courier New" panose="02070309020205020404" pitchFamily="49" charset="0"/>
              </a:rPr>
              <a:t>prev</a:t>
            </a:r>
            <a:r>
              <a:rPr lang="en-US" dirty="0"/>
              <a:t> stores the address of the previous node; pointer </a:t>
            </a:r>
            <a:r>
              <a:rPr lang="en-US" dirty="0">
                <a:latin typeface="Courier New" panose="02070309020205020404" pitchFamily="49" charset="0"/>
                <a:cs typeface="Courier New" panose="02070309020205020404" pitchFamily="49" charset="0"/>
              </a:rPr>
              <a:t>next</a:t>
            </a:r>
            <a:r>
              <a:rPr lang="en-US" dirty="0"/>
              <a:t> stores the address of the next node. The content of the first node in linked list </a:t>
            </a:r>
            <a:r>
              <a:rPr lang="en-US" dirty="0">
                <a:latin typeface="Courier New" panose="02070309020205020404" pitchFamily="49" charset="0"/>
                <a:cs typeface="Courier New" panose="02070309020205020404" pitchFamily="49" charset="0"/>
              </a:rPr>
              <a:t>DLL</a:t>
            </a:r>
            <a:r>
              <a:rPr lang="en-US" dirty="0"/>
              <a:t> stores “</a:t>
            </a:r>
            <a:r>
              <a:rPr lang="en-US" dirty="0">
                <a:latin typeface="Courier New" panose="02070309020205020404" pitchFamily="49" charset="0"/>
                <a:cs typeface="Courier New" panose="02070309020205020404" pitchFamily="49" charset="0"/>
              </a:rPr>
              <a:t>physics</a:t>
            </a:r>
            <a:r>
              <a:rPr lang="en-US" dirty="0"/>
              <a:t>”, as shown below</a:t>
            </a:r>
            <a:r>
              <a:rPr lang="en-US" dirty="0" smtClean="0"/>
              <a:t>:</a:t>
            </a:r>
          </a:p>
          <a:p>
            <a:endParaRPr lang="en-US" dirty="0"/>
          </a:p>
          <a:p>
            <a:endParaRPr lang="en-US" dirty="0"/>
          </a:p>
          <a:p>
            <a:endParaRPr lang="en-US" dirty="0" smtClean="0"/>
          </a:p>
          <a:p>
            <a:r>
              <a:rPr lang="en-US" dirty="0" smtClean="0"/>
              <a:t/>
            </a:r>
            <a:br>
              <a:rPr lang="en-US" dirty="0" smtClean="0"/>
            </a:br>
            <a:endParaRPr lang="en-US" dirty="0"/>
          </a:p>
          <a:p>
            <a:r>
              <a:rPr lang="en-US" dirty="0"/>
              <a:t>(a) Assume that “-1” represents a null pointer. Write the content of the nodes on this linked list in order.</a:t>
            </a:r>
          </a:p>
          <a:p>
            <a:endParaRPr lang="en-US" dirty="0" smtClean="0"/>
          </a:p>
        </p:txBody>
      </p:sp>
      <p:sp>
        <p:nvSpPr>
          <p:cNvPr id="3" name="Slide Number Placeholder 2"/>
          <p:cNvSpPr>
            <a:spLocks noGrp="1"/>
          </p:cNvSpPr>
          <p:nvPr>
            <p:ph type="sldNum" sz="quarter" idx="12"/>
          </p:nvPr>
        </p:nvSpPr>
        <p:spPr/>
        <p:txBody>
          <a:bodyPr/>
          <a:lstStyle/>
          <a:p>
            <a:fld id="{6D22F896-40B5-4ADD-8801-0D06FADFA095}" type="slidenum">
              <a:rPr lang="en-US" smtClean="0"/>
              <a:t>101</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2663800" y="3014550"/>
            <a:ext cx="6864399" cy="2255792"/>
          </a:xfrm>
          <a:prstGeom prst="rect">
            <a:avLst/>
          </a:prstGeom>
        </p:spPr>
      </p:pic>
    </p:spTree>
    <p:extLst>
      <p:ext uri="{BB962C8B-B14F-4D97-AF65-F5344CB8AC3E}">
        <p14:creationId xmlns:p14="http://schemas.microsoft.com/office/powerpoint/2010/main" val="55879576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Anson has designed the following sub-programs to manipulate the linked list</a:t>
            </a:r>
            <a:r>
              <a:rPr lang="en-US" dirty="0" smtClean="0"/>
              <a:t>:</a:t>
            </a:r>
          </a:p>
          <a:p>
            <a:endParaRPr lang="en-US" dirty="0"/>
          </a:p>
          <a:p>
            <a:endParaRPr lang="en-US" dirty="0" smtClean="0"/>
          </a:p>
          <a:p>
            <a:endParaRPr lang="en-US" dirty="0" smtClean="0"/>
          </a:p>
          <a:p>
            <a:endParaRPr lang="en-US" dirty="0" smtClean="0"/>
          </a:p>
          <a:p>
            <a:r>
              <a:rPr lang="en-US" dirty="0"/>
              <a:t>He executes the following </a:t>
            </a:r>
            <a:r>
              <a:rPr lang="en-US" dirty="0" smtClean="0"/>
              <a:t>code:</a:t>
            </a:r>
            <a:br>
              <a:rPr lang="en-US" dirty="0" smtClean="0"/>
            </a:br>
            <a:r>
              <a:rPr lang="en-US" dirty="0" smtClean="0"/>
              <a:t>	</a:t>
            </a:r>
            <a:r>
              <a:rPr lang="en-US" dirty="0">
                <a:latin typeface="Courier New" panose="02070309020205020404" pitchFamily="49" charset="0"/>
                <a:cs typeface="Courier New" panose="02070309020205020404" pitchFamily="49" charset="0"/>
              </a:rPr>
              <a:t>delete(3)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insert(1</a:t>
            </a:r>
            <a:r>
              <a:rPr lang="en-US" dirty="0">
                <a:latin typeface="Courier New" panose="02070309020205020404" pitchFamily="49" charset="0"/>
                <a:cs typeface="Courier New" panose="02070309020205020404" pitchFamily="49" charset="0"/>
              </a:rPr>
              <a:t>, "20180322")</a:t>
            </a:r>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102</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536819" y="2137940"/>
            <a:ext cx="8519845" cy="1357598"/>
          </a:xfrm>
          <a:prstGeom prst="rect">
            <a:avLst/>
          </a:prstGeom>
        </p:spPr>
      </p:pic>
    </p:spTree>
    <p:extLst>
      <p:ext uri="{BB962C8B-B14F-4D97-AF65-F5344CB8AC3E}">
        <p14:creationId xmlns:p14="http://schemas.microsoft.com/office/powerpoint/2010/main" val="349704275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Update the linked list below.</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103</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2046623" y="2068269"/>
            <a:ext cx="8098753" cy="2645048"/>
          </a:xfrm>
          <a:prstGeom prst="rect">
            <a:avLst/>
          </a:prstGeom>
        </p:spPr>
      </p:pic>
    </p:spTree>
    <p:extLst>
      <p:ext uri="{BB962C8B-B14F-4D97-AF65-F5344CB8AC3E}">
        <p14:creationId xmlns:p14="http://schemas.microsoft.com/office/powerpoint/2010/main" val="35671104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State an advantage and a disadvantage of a doubly linked list.</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104</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74156979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solidFill>
                  <a:srgbClr val="37A3D4"/>
                </a:solidFill>
              </a:rPr>
              <a:t>◣ </a:t>
            </a:r>
            <a:r>
              <a:rPr lang="en-US" b="1" dirty="0">
                <a:solidFill>
                  <a:srgbClr val="37A3D4"/>
                </a:solidFill>
              </a:rPr>
              <a:t>Solution</a:t>
            </a:r>
          </a:p>
          <a:p>
            <a:r>
              <a:rPr lang="en-US" dirty="0"/>
              <a:t>(a) </a:t>
            </a:r>
            <a:r>
              <a:rPr lang="en-US" dirty="0">
                <a:latin typeface="Courier New" panose="02070309020205020404" pitchFamily="49" charset="0"/>
                <a:cs typeface="Courier New" panose="02070309020205020404" pitchFamily="49" charset="0"/>
              </a:rPr>
              <a:t>physics, 20180317, 20180236, </a:t>
            </a:r>
            <a:r>
              <a:rPr lang="en-US" dirty="0" smtClean="0">
                <a:latin typeface="Courier New" panose="02070309020205020404" pitchFamily="49" charset="0"/>
                <a:cs typeface="Courier New" panose="02070309020205020404" pitchFamily="49" charset="0"/>
              </a:rPr>
              <a:t>20180125</a:t>
            </a:r>
            <a:br>
              <a:rPr lang="en-US" dirty="0" smtClean="0">
                <a:latin typeface="Courier New" panose="02070309020205020404" pitchFamily="49" charset="0"/>
                <a:cs typeface="Courier New" panose="02070309020205020404" pitchFamily="49" charset="0"/>
              </a:rPr>
            </a:br>
            <a:r>
              <a:rPr lang="en-US" dirty="0"/>
              <a:t/>
            </a:r>
            <a:br>
              <a:rPr lang="en-US" dirty="0"/>
            </a:br>
            <a:r>
              <a:rPr lang="en-US" dirty="0" smtClean="0"/>
              <a:t>(</a:t>
            </a:r>
            <a:r>
              <a:rPr lang="en-US" dirty="0"/>
              <a:t>b) The content of linked list </a:t>
            </a:r>
            <a:r>
              <a:rPr lang="en-US" dirty="0">
                <a:latin typeface="Courier New" panose="02070309020205020404" pitchFamily="49" charset="0"/>
                <a:cs typeface="Courier New" panose="02070309020205020404" pitchFamily="49" charset="0"/>
              </a:rPr>
              <a:t>DLL</a:t>
            </a:r>
            <a:r>
              <a:rPr lang="en-US" dirty="0" smtClean="0"/>
              <a:t>:</a:t>
            </a:r>
          </a:p>
          <a:p>
            <a:endParaRPr lang="en-US" dirty="0" smtClean="0"/>
          </a:p>
          <a:p>
            <a:endParaRPr lang="en-US" dirty="0"/>
          </a:p>
          <a:p>
            <a:r>
              <a:rPr lang="en-US" dirty="0"/>
              <a:t/>
            </a:r>
            <a:br>
              <a:rPr lang="en-US" dirty="0"/>
            </a:br>
            <a:r>
              <a:rPr lang="en-US" dirty="0" smtClean="0"/>
              <a:t/>
            </a:r>
            <a:br>
              <a:rPr lang="en-US" dirty="0" smtClean="0"/>
            </a:br>
            <a:endParaRPr lang="en-US" dirty="0"/>
          </a:p>
          <a:p>
            <a:r>
              <a:rPr lang="en-US" dirty="0"/>
              <a:t>(c) </a:t>
            </a:r>
            <a:r>
              <a:rPr lang="en-US" dirty="0" smtClean="0"/>
              <a:t>	Advantage</a:t>
            </a:r>
            <a:r>
              <a:rPr lang="en-US" dirty="0"/>
              <a:t>: the nodes in the linked list can be accessed from both directions.</a:t>
            </a:r>
          </a:p>
          <a:p>
            <a:r>
              <a:rPr lang="en-US" dirty="0" smtClean="0"/>
              <a:t>	Disadvantage</a:t>
            </a:r>
            <a:r>
              <a:rPr lang="en-US" dirty="0"/>
              <a:t>: more memory (storage space) is required.</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105</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2248697" y="2992917"/>
            <a:ext cx="6330038" cy="2052986"/>
          </a:xfrm>
          <a:prstGeom prst="rect">
            <a:avLst/>
          </a:prstGeom>
        </p:spPr>
      </p:pic>
    </p:spTree>
    <p:extLst>
      <p:ext uri="{BB962C8B-B14F-4D97-AF65-F5344CB8AC3E}">
        <p14:creationId xmlns:p14="http://schemas.microsoft.com/office/powerpoint/2010/main" val="197385840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5.4 on P. 193 of your textbook.</a:t>
            </a:r>
            <a:endParaRPr lang="en-US" dirty="0"/>
          </a:p>
          <a:p>
            <a:r>
              <a:rPr lang="en-US" dirty="0" smtClean="0">
                <a:solidFill>
                  <a:srgbClr val="FF0000"/>
                </a:solidFill>
              </a:rPr>
              <a:t>(a)</a:t>
            </a:r>
          </a:p>
          <a:p>
            <a:endParaRPr lang="en-US" dirty="0"/>
          </a:p>
          <a:p>
            <a:endParaRPr lang="en-US" dirty="0" smtClean="0"/>
          </a:p>
          <a:p>
            <a:endParaRPr lang="en-US" dirty="0"/>
          </a:p>
          <a:p>
            <a:endParaRPr lang="en-US" dirty="0" smtClean="0"/>
          </a:p>
          <a:p>
            <a:r>
              <a:rPr lang="en-US" dirty="0" smtClean="0">
                <a:solidFill>
                  <a:srgbClr val="FF0000"/>
                </a:solidFill>
              </a:rPr>
              <a:t>(</a:t>
            </a:r>
            <a:r>
              <a:rPr lang="en-US" dirty="0">
                <a:solidFill>
                  <a:srgbClr val="FF0000"/>
                </a:solidFill>
              </a:rPr>
              <a:t>b) </a:t>
            </a:r>
            <a:r>
              <a:rPr lang="en-US" dirty="0">
                <a:latin typeface="Courier New" panose="02070309020205020404" pitchFamily="49" charset="0"/>
                <a:cs typeface="Courier New" panose="02070309020205020404" pitchFamily="49" charset="0"/>
              </a:rPr>
              <a:t>start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Kyle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Daniel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Benson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Mike</a:t>
            </a:r>
            <a:endParaRPr lang="en-US" dirty="0">
              <a:solidFill>
                <a:srgbClr val="FF0000"/>
              </a:solidFill>
              <a:latin typeface="Courier New" panose="02070309020205020404" pitchFamily="49" charset="0"/>
              <a:cs typeface="Courier New" panose="02070309020205020404" pitchFamily="49" charset="0"/>
            </a:endParaRPr>
          </a:p>
          <a:p>
            <a:endParaRPr lang="en-US" dirty="0" smtClean="0"/>
          </a:p>
          <a:p>
            <a:r>
              <a:rPr lang="en-US" dirty="0">
                <a:solidFill>
                  <a:srgbClr val="FF0000"/>
                </a:solidFill>
              </a:rPr>
              <a:t>(c) </a:t>
            </a:r>
            <a:r>
              <a:rPr lang="en-US" dirty="0" smtClean="0">
                <a:solidFill>
                  <a:srgbClr val="FF0000"/>
                </a:solidFill>
              </a:rPr>
              <a:t>The </a:t>
            </a:r>
            <a:r>
              <a:rPr lang="en-US" dirty="0">
                <a:solidFill>
                  <a:srgbClr val="FF0000"/>
                </a:solidFill>
              </a:rPr>
              <a:t>memory (storage space) required is less.</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106</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492683" y="2061546"/>
            <a:ext cx="4423433" cy="2194571"/>
          </a:xfrm>
          <a:prstGeom prst="rect">
            <a:avLst/>
          </a:prstGeom>
        </p:spPr>
      </p:pic>
    </p:spTree>
    <p:extLst>
      <p:ext uri="{BB962C8B-B14F-4D97-AF65-F5344CB8AC3E}">
        <p14:creationId xmlns:p14="http://schemas.microsoft.com/office/powerpoint/2010/main" val="349484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Effect transition="in" filter="fade">
                                      <p:cBhvr>
                                        <p:cTn id="15" dur="500"/>
                                        <p:tgtEl>
                                          <p:spTgt spid="2">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8" end="8"/>
                                            </p:txEl>
                                          </p:spTgt>
                                        </p:tgtEl>
                                        <p:attrNameLst>
                                          <p:attrName>style.visibility</p:attrName>
                                        </p:attrNameLst>
                                      </p:cBhvr>
                                      <p:to>
                                        <p:strVal val="visible"/>
                                      </p:to>
                                    </p:set>
                                    <p:animEffect transition="in" filter="fade">
                                      <p:cBhvr>
                                        <p:cTn id="20"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Andrew </a:t>
            </a:r>
            <a:r>
              <a:rPr lang="en-US" dirty="0"/>
              <a:t>uses two arrays, </a:t>
            </a:r>
            <a:r>
              <a:rPr lang="en-US" dirty="0">
                <a:latin typeface="Courier New" panose="02070309020205020404" pitchFamily="49" charset="0"/>
                <a:cs typeface="Courier New" panose="02070309020205020404" pitchFamily="49" charset="0"/>
              </a:rPr>
              <a:t>D</a:t>
            </a:r>
            <a:r>
              <a:rPr lang="en-US" dirty="0"/>
              <a:t> and </a:t>
            </a:r>
            <a:r>
              <a:rPr lang="en-US" dirty="0">
                <a:latin typeface="Courier New" panose="02070309020205020404" pitchFamily="49" charset="0"/>
                <a:cs typeface="Courier New" panose="02070309020205020404" pitchFamily="49" charset="0"/>
              </a:rPr>
              <a:t>NP</a:t>
            </a:r>
            <a:r>
              <a:rPr lang="en-US" dirty="0"/>
              <a:t>, to implement linked list operations. He uses array </a:t>
            </a:r>
            <a:r>
              <a:rPr lang="en-US" dirty="0">
                <a:latin typeface="Courier New" panose="02070309020205020404" pitchFamily="49" charset="0"/>
                <a:cs typeface="Courier New" panose="02070309020205020404" pitchFamily="49" charset="0"/>
              </a:rPr>
              <a:t>D</a:t>
            </a:r>
            <a:r>
              <a:rPr lang="en-US" dirty="0"/>
              <a:t> and array </a:t>
            </a:r>
            <a:r>
              <a:rPr lang="en-US" dirty="0">
                <a:latin typeface="Courier New" panose="02070309020205020404" pitchFamily="49" charset="0"/>
                <a:cs typeface="Courier New" panose="02070309020205020404" pitchFamily="49" charset="0"/>
              </a:rPr>
              <a:t>NP</a:t>
            </a:r>
            <a:r>
              <a:rPr lang="en-US" dirty="0"/>
              <a:t> to store the content of nodes and the pointer (i.e. the index of the next node) respectively, as shown below</a:t>
            </a:r>
            <a:r>
              <a:rPr lang="en-US" dirty="0" smtClean="0"/>
              <a:t>:</a:t>
            </a:r>
          </a:p>
          <a:p>
            <a:endParaRPr lang="en-US" dirty="0" smtClean="0"/>
          </a:p>
          <a:p>
            <a:endParaRPr lang="en-US" dirty="0"/>
          </a:p>
          <a:p>
            <a:endParaRPr lang="en-US" dirty="0" smtClean="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107</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1757005" y="3069750"/>
            <a:ext cx="8677989" cy="1607699"/>
          </a:xfrm>
          <a:prstGeom prst="rect">
            <a:avLst/>
          </a:prstGeom>
        </p:spPr>
      </p:pic>
    </p:spTree>
    <p:extLst>
      <p:ext uri="{BB962C8B-B14F-4D97-AF65-F5344CB8AC3E}">
        <p14:creationId xmlns:p14="http://schemas.microsoft.com/office/powerpoint/2010/main" val="112641270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a:t>
            </a:r>
            <a:r>
              <a:rPr lang="en-US" dirty="0" err="1"/>
              <a:t>i</a:t>
            </a:r>
            <a:r>
              <a:rPr lang="en-US" dirty="0"/>
              <a:t>) Suppose that the index of the first node on the linked list is 5, write down the content of the nodes in the right order</a:t>
            </a:r>
            <a:r>
              <a:rPr lang="en-US" dirty="0" smtClean="0"/>
              <a:t>.</a:t>
            </a:r>
          </a:p>
          <a:p>
            <a:endParaRPr lang="en-US" dirty="0" smtClean="0"/>
          </a:p>
          <a:p>
            <a:r>
              <a:rPr lang="en-US" dirty="0"/>
              <a:t>(ii) How many nodes are there on this linked list</a:t>
            </a:r>
            <a:r>
              <a:rPr lang="en-US" dirty="0" smtClean="0"/>
              <a:t>?</a:t>
            </a:r>
          </a:p>
          <a:p>
            <a:endParaRPr lang="en-US" dirty="0"/>
          </a:p>
          <a:p>
            <a:r>
              <a:rPr lang="en-US" dirty="0"/>
              <a:t>(iii) What numerical value is used by Andrew to represent a null pointer?</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108</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76335482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Andrew designs the following sub-programs to manipulate the linked list:</a:t>
            </a:r>
          </a:p>
        </p:txBody>
      </p:sp>
      <p:sp>
        <p:nvSpPr>
          <p:cNvPr id="3" name="Slide Number Placeholder 2"/>
          <p:cNvSpPr>
            <a:spLocks noGrp="1"/>
          </p:cNvSpPr>
          <p:nvPr>
            <p:ph type="sldNum" sz="quarter" idx="12"/>
          </p:nvPr>
        </p:nvSpPr>
        <p:spPr/>
        <p:txBody>
          <a:bodyPr/>
          <a:lstStyle/>
          <a:p>
            <a:fld id="{6D22F896-40B5-4ADD-8801-0D06FADFA095}" type="slidenum">
              <a:rPr lang="en-US" smtClean="0"/>
              <a:t>109</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1631386" y="2223896"/>
            <a:ext cx="8929227" cy="2696664"/>
          </a:xfrm>
          <a:prstGeom prst="rect">
            <a:avLst/>
          </a:prstGeom>
        </p:spPr>
      </p:pic>
    </p:spTree>
    <p:extLst>
      <p:ext uri="{BB962C8B-B14F-4D97-AF65-F5344CB8AC3E}">
        <p14:creationId xmlns:p14="http://schemas.microsoft.com/office/powerpoint/2010/main" val="13489111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t>
            </a:r>
            <a:r>
              <a:rPr lang="en-US" dirty="0" err="1" smtClean="0"/>
              <a:t>i</a:t>
            </a:r>
            <a:r>
              <a:rPr lang="en-US" dirty="0" smtClean="0"/>
              <a:t>) After </a:t>
            </a:r>
            <a:r>
              <a:rPr lang="en-US" dirty="0"/>
              <a:t>executing </a:t>
            </a:r>
            <a:r>
              <a:rPr lang="en-US" dirty="0">
                <a:latin typeface="Courier New" panose="02070309020205020404" pitchFamily="49" charset="0"/>
                <a:cs typeface="Courier New" panose="02070309020205020404" pitchFamily="49" charset="0"/>
              </a:rPr>
              <a:t>delete(3)</a:t>
            </a:r>
            <a:r>
              <a:rPr lang="en-US" dirty="0"/>
              <a:t>, what will the content of arrays </a:t>
            </a:r>
            <a:r>
              <a:rPr lang="en-US" dirty="0">
                <a:latin typeface="Courier New" panose="02070309020205020404" pitchFamily="49" charset="0"/>
                <a:cs typeface="Courier New" panose="02070309020205020404" pitchFamily="49" charset="0"/>
              </a:rPr>
              <a:t>D</a:t>
            </a:r>
            <a:r>
              <a:rPr lang="en-US" dirty="0"/>
              <a:t> and </a:t>
            </a:r>
            <a:r>
              <a:rPr lang="en-US" dirty="0">
                <a:latin typeface="Courier New" panose="02070309020205020404" pitchFamily="49" charset="0"/>
                <a:cs typeface="Courier New" panose="02070309020205020404" pitchFamily="49" charset="0"/>
              </a:rPr>
              <a:t>NP</a:t>
            </a:r>
            <a:r>
              <a:rPr lang="en-US" dirty="0"/>
              <a:t> become</a:t>
            </a:r>
            <a:r>
              <a:rPr lang="en-US" dirty="0" smtClean="0"/>
              <a:t>?</a:t>
            </a:r>
          </a:p>
          <a:p>
            <a:endParaRPr lang="en-US" dirty="0" smtClean="0"/>
          </a:p>
          <a:p>
            <a:endParaRPr lang="en-US" dirty="0"/>
          </a:p>
          <a:p>
            <a:endParaRPr lang="en-US" dirty="0" smtClean="0"/>
          </a:p>
          <a:p>
            <a:endParaRPr lang="en-US" dirty="0"/>
          </a:p>
          <a:p>
            <a:r>
              <a:rPr lang="en-US" dirty="0"/>
              <a:t>(ii) After executing </a:t>
            </a:r>
            <a:r>
              <a:rPr lang="en-US" dirty="0">
                <a:latin typeface="Courier New" panose="02070309020205020404" pitchFamily="49" charset="0"/>
                <a:cs typeface="Courier New" panose="02070309020205020404" pitchFamily="49" charset="0"/>
              </a:rPr>
              <a:t>insert(2, Brian, 4)</a:t>
            </a:r>
            <a:r>
              <a:rPr lang="en-US" dirty="0"/>
              <a:t>, what will the content of arrays </a:t>
            </a:r>
            <a:r>
              <a:rPr lang="en-US" dirty="0">
                <a:latin typeface="Courier New" panose="02070309020205020404" pitchFamily="49" charset="0"/>
                <a:cs typeface="Courier New" panose="02070309020205020404" pitchFamily="49" charset="0"/>
              </a:rPr>
              <a:t>D</a:t>
            </a:r>
            <a:r>
              <a:rPr lang="en-US" dirty="0"/>
              <a:t> and </a:t>
            </a:r>
            <a:r>
              <a:rPr lang="en-US" dirty="0">
                <a:latin typeface="Courier New" panose="02070309020205020404" pitchFamily="49" charset="0"/>
                <a:cs typeface="Courier New" panose="02070309020205020404" pitchFamily="49" charset="0"/>
              </a:rPr>
              <a:t>NP</a:t>
            </a:r>
            <a:r>
              <a:rPr lang="en-US" dirty="0"/>
              <a:t> become?</a:t>
            </a:r>
          </a:p>
        </p:txBody>
      </p:sp>
      <p:sp>
        <p:nvSpPr>
          <p:cNvPr id="3" name="Slide Number Placeholder 2"/>
          <p:cNvSpPr>
            <a:spLocks noGrp="1"/>
          </p:cNvSpPr>
          <p:nvPr>
            <p:ph type="sldNum" sz="quarter" idx="12"/>
          </p:nvPr>
        </p:nvSpPr>
        <p:spPr/>
        <p:txBody>
          <a:bodyPr/>
          <a:lstStyle/>
          <a:p>
            <a:fld id="{6D22F896-40B5-4ADD-8801-0D06FADFA095}" type="slidenum">
              <a:rPr lang="en-US" smtClean="0"/>
              <a:t>110</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2362213" y="2155356"/>
            <a:ext cx="6565656" cy="1456914"/>
          </a:xfrm>
          <a:prstGeom prst="rect">
            <a:avLst/>
          </a:prstGeom>
        </p:spPr>
      </p:pic>
      <p:pic>
        <p:nvPicPr>
          <p:cNvPr id="6" name="Picture 5"/>
          <p:cNvPicPr>
            <a:picLocks noChangeAspect="1"/>
          </p:cNvPicPr>
          <p:nvPr/>
        </p:nvPicPr>
        <p:blipFill>
          <a:blip r:embed="rId3"/>
          <a:stretch>
            <a:fillRect/>
          </a:stretch>
        </p:blipFill>
        <p:spPr>
          <a:xfrm>
            <a:off x="2362212" y="4549020"/>
            <a:ext cx="6527143" cy="1394580"/>
          </a:xfrm>
          <a:prstGeom prst="rect">
            <a:avLst/>
          </a:prstGeom>
        </p:spPr>
      </p:pic>
    </p:spTree>
    <p:extLst>
      <p:ext uri="{BB962C8B-B14F-4D97-AF65-F5344CB8AC3E}">
        <p14:creationId xmlns:p14="http://schemas.microsoft.com/office/powerpoint/2010/main" val="49126489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Complete the pseudocode for the sub-program </a:t>
            </a:r>
            <a:r>
              <a:rPr lang="en-US" dirty="0">
                <a:latin typeface="Courier New" panose="02070309020205020404" pitchFamily="49" charset="0"/>
                <a:cs typeface="Courier New" panose="02070309020205020404" pitchFamily="49" charset="0"/>
              </a:rPr>
              <a:t>length</a:t>
            </a:r>
            <a:r>
              <a:rPr lang="en-US" dirty="0" smtClean="0">
                <a:latin typeface="Courier New" panose="02070309020205020404" pitchFamily="49" charset="0"/>
                <a:cs typeface="Courier New" panose="02070309020205020404" pitchFamily="49" charset="0"/>
              </a:rPr>
              <a:t>()</a:t>
            </a:r>
            <a:r>
              <a:rPr lang="en-US" dirty="0" smtClean="0"/>
              <a:t>.</a:t>
            </a:r>
          </a:p>
          <a:p>
            <a:r>
              <a:rPr lang="en-US" dirty="0" smtClean="0"/>
              <a:t>	</a:t>
            </a:r>
            <a:r>
              <a:rPr lang="en-US" dirty="0">
                <a:latin typeface="Courier New" panose="02070309020205020404" pitchFamily="49" charset="0"/>
                <a:cs typeface="Courier New" panose="02070309020205020404" pitchFamily="49" charset="0"/>
              </a:rPr>
              <a:t>Sub-program </a:t>
            </a:r>
            <a:r>
              <a:rPr lang="en-US" dirty="0">
                <a:latin typeface="Courier New" panose="02070309020205020404" pitchFamily="49" charset="0"/>
                <a:cs typeface="Courier New" panose="02070309020205020404" pitchFamily="49" charset="0"/>
              </a:rPr>
              <a:t>length</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l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next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start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while </a:t>
            </a:r>
            <a:r>
              <a:rPr lang="en-US" dirty="0">
                <a:latin typeface="Courier New" panose="02070309020205020404" pitchFamily="49" charset="0"/>
                <a:cs typeface="Courier New" panose="02070309020205020404" pitchFamily="49" charset="0"/>
              </a:rPr>
              <a:t>next != </a:t>
            </a:r>
            <a:r>
              <a:rPr lang="en-US" dirty="0" smtClean="0">
                <a:latin typeface="Courier New" panose="02070309020205020404" pitchFamily="49" charset="0"/>
                <a:cs typeface="Courier New" panose="02070309020205020404" pitchFamily="49" charset="0"/>
              </a:rPr>
              <a:t>______</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l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______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next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______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a:t>
            </a:r>
            <a:r>
              <a:rPr lang="en-US" dirty="0">
                <a:latin typeface="Courier New" panose="02070309020205020404" pitchFamily="49" charset="0"/>
                <a:cs typeface="Courier New" panose="02070309020205020404" pitchFamily="49" charset="0"/>
              </a:rPr>
              <a:t>l</a:t>
            </a:r>
          </a:p>
        </p:txBody>
      </p:sp>
      <p:sp>
        <p:nvSpPr>
          <p:cNvPr id="3" name="Slide Number Placeholder 2"/>
          <p:cNvSpPr>
            <a:spLocks noGrp="1"/>
          </p:cNvSpPr>
          <p:nvPr>
            <p:ph type="sldNum" sz="quarter" idx="12"/>
          </p:nvPr>
        </p:nvSpPr>
        <p:spPr/>
        <p:txBody>
          <a:bodyPr/>
          <a:lstStyle/>
          <a:p>
            <a:fld id="{6D22F896-40B5-4ADD-8801-0D06FADFA095}" type="slidenum">
              <a:rPr lang="en-US" smtClean="0"/>
              <a:t>111</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12965680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(d) Suppose that </a:t>
            </a:r>
            <a:r>
              <a:rPr lang="en-US" dirty="0">
                <a:latin typeface="Courier New" panose="02070309020205020404" pitchFamily="49" charset="0"/>
                <a:cs typeface="Courier New" panose="02070309020205020404" pitchFamily="49" charset="0"/>
              </a:rPr>
              <a:t>1 ≤ n ≤ length()</a:t>
            </a:r>
            <a:r>
              <a:rPr lang="en-US" dirty="0"/>
              <a:t>, complete the pseudocode for the sub-program </a:t>
            </a:r>
            <a:r>
              <a:rPr lang="en-US" dirty="0">
                <a:latin typeface="Courier New" panose="02070309020205020404" pitchFamily="49" charset="0"/>
                <a:cs typeface="Courier New" panose="02070309020205020404" pitchFamily="49" charset="0"/>
              </a:rPr>
              <a:t>delete(n</a:t>
            </a:r>
            <a:r>
              <a:rPr lang="en-US" dirty="0" smtClean="0">
                <a:latin typeface="Courier New" panose="02070309020205020404" pitchFamily="49" charset="0"/>
                <a:cs typeface="Courier New" panose="02070309020205020404" pitchFamily="49" charset="0"/>
              </a:rPr>
              <a:t>)</a:t>
            </a:r>
            <a:r>
              <a:rPr lang="en-US" dirty="0" smtClean="0"/>
              <a:t>.</a:t>
            </a:r>
          </a:p>
          <a:p>
            <a:r>
              <a:rPr lang="en-US" dirty="0">
                <a:latin typeface="Courier New" panose="02070309020205020404" pitchFamily="49" charset="0"/>
                <a:cs typeface="Courier New" panose="02070309020205020404" pitchFamily="49" charset="0"/>
              </a:rPr>
              <a:t>Sub-program </a:t>
            </a:r>
            <a:r>
              <a:rPr lang="en-US" dirty="0">
                <a:latin typeface="Courier New" panose="02070309020205020404" pitchFamily="49" charset="0"/>
                <a:cs typeface="Courier New" panose="02070309020205020404" pitchFamily="49" charset="0"/>
              </a:rPr>
              <a:t>delete(n)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a:latin typeface="Courier New" panose="02070309020205020404" pitchFamily="49" charset="0"/>
                <a:cs typeface="Courier New" panose="02070309020205020404" pitchFamily="49" charset="0"/>
              </a:rPr>
              <a:t>n = 1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start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start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current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NP[start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sz="1500" dirty="0">
                <a:solidFill>
                  <a:schemeClr val="bg1">
                    <a:lumMod val="65000"/>
                  </a:schemeClr>
                </a:solidFill>
                <a:latin typeface="Courier New" panose="02070309020205020404" pitchFamily="49" charset="0"/>
                <a:cs typeface="Courier New" panose="02070309020205020404" pitchFamily="49" charset="0"/>
              </a:rPr>
              <a:t>#</a:t>
            </a:r>
            <a:r>
              <a:rPr lang="en-US" sz="1500" dirty="0">
                <a:solidFill>
                  <a:schemeClr val="bg1">
                    <a:lumMod val="65000"/>
                  </a:schemeClr>
                </a:solidFill>
                <a:latin typeface="Courier New" panose="02070309020205020404" pitchFamily="49" charset="0"/>
                <a:cs typeface="Courier New" panose="02070309020205020404" pitchFamily="49" charset="0"/>
              </a:rPr>
              <a:t>Use a for loop to move the current node pointer current to the nth </a:t>
            </a:r>
            <a:r>
              <a:rPr lang="en-US" sz="1500" dirty="0">
                <a:solidFill>
                  <a:schemeClr val="bg1">
                    <a:lumMod val="65000"/>
                  </a:schemeClr>
                </a:solidFill>
                <a:latin typeface="Courier New" panose="02070309020205020404" pitchFamily="49" charset="0"/>
                <a:cs typeface="Courier New" panose="02070309020205020404" pitchFamily="49" charset="0"/>
              </a:rPr>
              <a:t>node</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for </a:t>
            </a:r>
            <a:r>
              <a:rPr lang="en-US" dirty="0">
                <a:latin typeface="Courier New" panose="02070309020205020404" pitchFamily="49" charset="0"/>
                <a:cs typeface="Courier New" panose="02070309020205020404" pitchFamily="49" charset="0"/>
              </a:rPr>
              <a:t>k from 2 to </a:t>
            </a:r>
            <a:r>
              <a:rPr lang="en-US" dirty="0">
                <a:latin typeface="Courier New" panose="02070309020205020404" pitchFamily="49" charset="0"/>
                <a:cs typeface="Courier New" panose="02070309020205020404" pitchFamily="49" charset="0"/>
              </a:rPr>
              <a:t>n-1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current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NP[</a:t>
            </a:r>
            <a:r>
              <a:rPr lang="en-US" dirty="0" err="1">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______</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112</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343701225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smtClean="0">
                <a:solidFill>
                  <a:srgbClr val="37A3D4"/>
                </a:solidFill>
              </a:rPr>
              <a:t>Solution</a:t>
            </a:r>
          </a:p>
          <a:p>
            <a:r>
              <a:rPr lang="en-US" dirty="0" smtClean="0"/>
              <a:t>(a) (</a:t>
            </a:r>
            <a:r>
              <a:rPr lang="en-US" dirty="0" err="1"/>
              <a:t>i</a:t>
            </a:r>
            <a:r>
              <a:rPr lang="en-US" dirty="0"/>
              <a:t>) Ben, Peter, Iris, Ada </a:t>
            </a:r>
            <a:endParaRPr lang="en-US" dirty="0" smtClean="0"/>
          </a:p>
          <a:p>
            <a:r>
              <a:rPr lang="en-US" dirty="0" smtClean="0"/>
              <a:t>      (</a:t>
            </a:r>
            <a:r>
              <a:rPr lang="en-US" dirty="0"/>
              <a:t>ii) 4 </a:t>
            </a:r>
            <a:endParaRPr lang="en-US" dirty="0" smtClean="0"/>
          </a:p>
          <a:p>
            <a:r>
              <a:rPr lang="en-US" dirty="0" smtClean="0"/>
              <a:t>      (</a:t>
            </a:r>
            <a:r>
              <a:rPr lang="en-US" dirty="0"/>
              <a:t>iii) </a:t>
            </a:r>
            <a:r>
              <a:rPr lang="en-US" dirty="0" smtClean="0"/>
              <a:t>10</a:t>
            </a:r>
            <a:br>
              <a:rPr lang="en-US" dirty="0" smtClean="0"/>
            </a:br>
            <a:endParaRPr lang="en-US" b="1" dirty="0">
              <a:solidFill>
                <a:srgbClr val="37A3D4"/>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113</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296537064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The content of arrays D and NP:</a:t>
            </a:r>
          </a:p>
          <a:p>
            <a:r>
              <a:rPr lang="en-US" dirty="0"/>
              <a:t/>
            </a:r>
            <a:br>
              <a:rPr lang="en-US" dirty="0"/>
            </a:br>
            <a:endParaRPr lang="en-US" dirty="0" smtClean="0"/>
          </a:p>
          <a:p>
            <a:endParaRPr lang="en-US" dirty="0"/>
          </a:p>
          <a:p>
            <a:endParaRPr lang="en-US" dirty="0"/>
          </a:p>
          <a:p>
            <a:r>
              <a:rPr lang="en-US" dirty="0"/>
              <a:t>      (ii) The content of arrays D and NP:</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114</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1783841" y="2060805"/>
            <a:ext cx="7410036" cy="1644900"/>
          </a:xfrm>
          <a:prstGeom prst="rect">
            <a:avLst/>
          </a:prstGeom>
        </p:spPr>
      </p:pic>
      <p:pic>
        <p:nvPicPr>
          <p:cNvPr id="6" name="Picture 5"/>
          <p:cNvPicPr>
            <a:picLocks noChangeAspect="1"/>
          </p:cNvPicPr>
          <p:nvPr/>
        </p:nvPicPr>
        <p:blipFill>
          <a:blip r:embed="rId3"/>
          <a:stretch>
            <a:fillRect/>
          </a:stretch>
        </p:blipFill>
        <p:spPr>
          <a:xfrm>
            <a:off x="1875281" y="4392306"/>
            <a:ext cx="7318596" cy="1669154"/>
          </a:xfrm>
          <a:prstGeom prst="rect">
            <a:avLst/>
          </a:prstGeom>
        </p:spPr>
      </p:pic>
    </p:spTree>
    <p:extLst>
      <p:ext uri="{BB962C8B-B14F-4D97-AF65-F5344CB8AC3E}">
        <p14:creationId xmlns:p14="http://schemas.microsoft.com/office/powerpoint/2010/main" val="243670840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(c) </a:t>
            </a:r>
            <a:r>
              <a:rPr lang="en-US" dirty="0">
                <a:latin typeface="Courier New" panose="02070309020205020404" pitchFamily="49" charset="0"/>
                <a:cs typeface="Courier New" panose="02070309020205020404" pitchFamily="49" charset="0"/>
              </a:rPr>
              <a:t>while next != </a:t>
            </a:r>
            <a:r>
              <a:rPr lang="en-US" dirty="0" smtClean="0">
                <a:latin typeface="Courier New" panose="02070309020205020404" pitchFamily="49" charset="0"/>
                <a:cs typeface="Courier New" panose="02070309020205020404" pitchFamily="49" charset="0"/>
              </a:rPr>
              <a:t>10</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l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l + </a:t>
            </a:r>
            <a:r>
              <a:rPr lang="en-US" dirty="0" smtClean="0">
                <a:latin typeface="Courier New" panose="02070309020205020404" pitchFamily="49" charset="0"/>
                <a:cs typeface="Courier New" panose="02070309020205020404" pitchFamily="49" charset="0"/>
              </a:rPr>
              <a:t>1</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next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NP[next</a:t>
            </a:r>
            <a:r>
              <a:rPr lang="en-US" dirty="0" smtClean="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t>(d) </a:t>
            </a:r>
            <a:r>
              <a:rPr lang="en-US" dirty="0" smtClean="0"/>
              <a:t>	</a:t>
            </a:r>
            <a:r>
              <a:rPr lang="en-US" dirty="0" smtClean="0">
                <a:latin typeface="Courier New" panose="02070309020205020404" pitchFamily="49" charset="0"/>
                <a:cs typeface="Courier New" panose="02070309020205020404" pitchFamily="49" charset="0"/>
              </a:rPr>
              <a:t>if </a:t>
            </a:r>
            <a:r>
              <a:rPr lang="en-US" dirty="0">
                <a:latin typeface="Courier New" panose="02070309020205020404" pitchFamily="49" charset="0"/>
                <a:cs typeface="Courier New" panose="02070309020205020404" pitchFamily="49" charset="0"/>
              </a:rPr>
              <a:t>n = 1 </a:t>
            </a:r>
            <a:r>
              <a:rPr lang="en-US" dirty="0">
                <a:latin typeface="Courier New" panose="02070309020205020404" pitchFamily="49" charset="0"/>
                <a:cs typeface="Courier New" panose="02070309020205020404" pitchFamily="49" charset="0"/>
              </a:rPr>
              <a:t>then</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start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NP[start]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else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prev</a:t>
            </a:r>
            <a:r>
              <a:rPr lang="en-US"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start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current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NP[start]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for </a:t>
            </a:r>
            <a:r>
              <a:rPr lang="en-US" dirty="0">
                <a:latin typeface="Courier New" panose="02070309020205020404" pitchFamily="49" charset="0"/>
                <a:cs typeface="Courier New" panose="02070309020205020404" pitchFamily="49" charset="0"/>
              </a:rPr>
              <a:t>k from 2 to n-1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prev</a:t>
            </a:r>
            <a:r>
              <a:rPr lang="en-US"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current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current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NP[current] </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NP[</a:t>
            </a:r>
            <a:r>
              <a:rPr lang="en-US" dirty="0" err="1" smtClean="0">
                <a:latin typeface="Courier New" panose="02070309020205020404" pitchFamily="49" charset="0"/>
                <a:cs typeface="Courier New" panose="02070309020205020404" pitchFamily="49" charset="0"/>
              </a:rPr>
              <a:t>prev</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sym typeface="Wingdings" panose="05000000000000000000" pitchFamily="2" charset="2"/>
              </a:rPr>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NP[current]</a:t>
            </a:r>
          </a:p>
        </p:txBody>
      </p:sp>
      <p:sp>
        <p:nvSpPr>
          <p:cNvPr id="3" name="Slide Number Placeholder 2"/>
          <p:cNvSpPr>
            <a:spLocks noGrp="1"/>
          </p:cNvSpPr>
          <p:nvPr>
            <p:ph type="sldNum" sz="quarter" idx="12"/>
          </p:nvPr>
        </p:nvSpPr>
        <p:spPr/>
        <p:txBody>
          <a:bodyPr/>
          <a:lstStyle/>
          <a:p>
            <a:fld id="{6D22F896-40B5-4ADD-8801-0D06FADFA095}" type="slidenum">
              <a:rPr lang="en-US" smtClean="0"/>
              <a:t>115</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26175810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5.5 on P. 200 of the textbook.</a:t>
            </a:r>
          </a:p>
          <a:p>
            <a:endParaRPr lang="en-US" dirty="0"/>
          </a:p>
          <a:p>
            <a:r>
              <a:rPr lang="en-US" dirty="0" smtClean="0">
                <a:solidFill>
                  <a:srgbClr val="FF0000"/>
                </a:solidFill>
              </a:rPr>
              <a:t>1. (a</a:t>
            </a:r>
            <a:r>
              <a:rPr lang="en-US" dirty="0">
                <a:solidFill>
                  <a:srgbClr val="FF0000"/>
                </a:solidFill>
              </a:rPr>
              <a:t>) painting, tea, yoga, </a:t>
            </a:r>
            <a:r>
              <a:rPr lang="en-US" dirty="0" err="1" smtClean="0">
                <a:solidFill>
                  <a:srgbClr val="FF0000"/>
                </a:solidFill>
              </a:rPr>
              <a:t>japanese</a:t>
            </a:r>
            <a:r>
              <a:rPr lang="en-US" dirty="0" smtClean="0"/>
              <a:t/>
            </a:r>
            <a:br>
              <a:rPr lang="en-US" dirty="0" smtClean="0"/>
            </a:br>
            <a:endParaRPr lang="en-US" dirty="0" smtClean="0"/>
          </a:p>
          <a:p>
            <a:r>
              <a:rPr lang="en-US" dirty="0"/>
              <a:t>    </a:t>
            </a:r>
            <a:r>
              <a:rPr lang="en-US" dirty="0">
                <a:solidFill>
                  <a:srgbClr val="FF0000"/>
                </a:solidFill>
              </a:rPr>
              <a:t>(b)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printList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current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m</a:t>
            </a:r>
            <a:r>
              <a:rPr lang="en-US" dirty="0" err="1">
                <a:solidFill>
                  <a:srgbClr val="FF0000"/>
                </a:solidFill>
                <a:latin typeface="Courier New" panose="02070309020205020404" pitchFamily="49" charset="0"/>
                <a:cs typeface="Courier New" panose="02070309020205020404" pitchFamily="49" charset="0"/>
              </a:rPr>
              <a:t>onday</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while </a:t>
            </a:r>
            <a:r>
              <a:rPr lang="en-US" dirty="0">
                <a:latin typeface="Courier New" panose="02070309020205020404" pitchFamily="49" charset="0"/>
                <a:cs typeface="Courier New" panose="02070309020205020404" pitchFamily="49" charset="0"/>
              </a:rPr>
              <a:t>current != </a:t>
            </a:r>
            <a:r>
              <a:rPr lang="en-US" dirty="0">
                <a:solidFill>
                  <a:srgbClr val="FF0000"/>
                </a:solidFill>
                <a:latin typeface="Courier New" panose="02070309020205020404" pitchFamily="49" charset="0"/>
                <a:cs typeface="Courier New" panose="02070309020205020404" pitchFamily="49" charset="0"/>
              </a:rPr>
              <a:t>null</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Output </a:t>
            </a:r>
            <a:r>
              <a:rPr lang="en-US" dirty="0">
                <a:solidFill>
                  <a:srgbClr val="FF0000"/>
                </a:solidFill>
                <a:latin typeface="Courier New" panose="02070309020205020404" pitchFamily="49" charset="0"/>
                <a:cs typeface="Courier New" panose="02070309020205020404" pitchFamily="49" charset="0"/>
              </a:rPr>
              <a:t>schedule[current]</a:t>
            </a:r>
            <a:r>
              <a:rPr lang="en-US" dirty="0">
                <a:latin typeface="Courier New" panose="02070309020205020404" pitchFamily="49" charset="0"/>
                <a:cs typeface="Courier New" panose="02070309020205020404" pitchFamily="49" charset="0"/>
              </a:rPr>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current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ptr</a:t>
            </a:r>
            <a:r>
              <a:rPr lang="en-US" dirty="0">
                <a:solidFill>
                  <a:srgbClr val="FF0000"/>
                </a:solidFill>
                <a:latin typeface="Courier New" panose="02070309020205020404" pitchFamily="49" charset="0"/>
                <a:cs typeface="Courier New" panose="02070309020205020404" pitchFamily="49" charset="0"/>
              </a:rPr>
              <a:t>[current]</a:t>
            </a:r>
          </a:p>
        </p:txBody>
      </p:sp>
      <p:sp>
        <p:nvSpPr>
          <p:cNvPr id="3" name="Slide Number Placeholder 2"/>
          <p:cNvSpPr>
            <a:spLocks noGrp="1"/>
          </p:cNvSpPr>
          <p:nvPr>
            <p:ph type="sldNum" sz="quarter" idx="12"/>
          </p:nvPr>
        </p:nvSpPr>
        <p:spPr/>
        <p:txBody>
          <a:bodyPr/>
          <a:lstStyle/>
          <a:p>
            <a:fld id="{6D22F896-40B5-4ADD-8801-0D06FADFA095}" type="slidenum">
              <a:rPr lang="en-US" smtClean="0"/>
              <a:t>116</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43786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427">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Presentation5" id="{870A11EB-92D6-4F97-997A-48342F7B5A00}" vid="{0765A16F-C91A-4B03-A6B8-7E4395E092E3}"/>
    </a:ext>
  </a:extLst>
</a:theme>
</file>

<file path=docProps/app.xml><?xml version="1.0" encoding="utf-8"?>
<Properties xmlns="http://schemas.openxmlformats.org/officeDocument/2006/extended-properties" xmlns:vt="http://schemas.openxmlformats.org/officeDocument/2006/docPropsVTypes">
  <Template>DSEPPT_EN_Kelie_20230427</Template>
  <TotalTime>517</TotalTime>
  <Words>3471</Words>
  <Application>Microsoft Office PowerPoint</Application>
  <PresentationFormat>Widescreen</PresentationFormat>
  <Paragraphs>619</Paragraphs>
  <Slides>116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116</vt:i4>
      </vt:variant>
    </vt:vector>
  </HeadingPairs>
  <TitlesOfParts>
    <vt:vector size="124" baseType="lpstr">
      <vt:lpstr>Noto Sans CJK KR Black</vt:lpstr>
      <vt:lpstr>新細明體</vt:lpstr>
      <vt:lpstr>Arial</vt:lpstr>
      <vt:lpstr>Courier New</vt:lpstr>
      <vt:lpstr>Myriad Pro</vt:lpstr>
      <vt:lpstr>Tw Cen MT</vt:lpstr>
      <vt:lpstr>Wingdings</vt:lpstr>
      <vt:lpstr>DSEPPT_EN_Kelie_20230427</vt:lpstr>
      <vt:lpstr>Chapter 5 Data Structures</vt:lpstr>
      <vt:lpstr>Data Structures</vt:lpstr>
      <vt:lpstr>Data Structures</vt:lpstr>
      <vt:lpstr>Arrays</vt:lpstr>
      <vt:lpstr>Pointers</vt:lpstr>
      <vt:lpstr>Pointers</vt:lpstr>
      <vt:lpstr>Stacks</vt:lpstr>
      <vt:lpstr>The concept and manipulation of stacks</vt:lpstr>
      <vt:lpstr>The concept and manipulation of stacks</vt:lpstr>
      <vt:lpstr>Application of stacks in computer systems</vt:lpstr>
      <vt:lpstr>Application of stacks in computer systems</vt:lpstr>
      <vt:lpstr>Application of stacks in computer systems</vt:lpstr>
      <vt:lpstr>Application of stacks in computer systems</vt:lpstr>
      <vt:lpstr>Application of stacks in computer systems</vt:lpstr>
      <vt:lpstr>Application of stacks in computer systems</vt:lpstr>
      <vt:lpstr>Application of stacks in computer systems</vt:lpstr>
      <vt:lpstr>Application of stacks in computer systems</vt:lpstr>
      <vt:lpstr>Application of stacks in computer systems</vt:lpstr>
      <vt:lpstr>Manipulation of stacks in Python</vt:lpstr>
      <vt:lpstr>Manipulation of stacks in Python</vt:lpstr>
      <vt:lpstr>Manipulation of stacks in Python</vt:lpstr>
      <vt:lpstr>Manipulation of stacks in Python</vt:lpstr>
      <vt:lpstr>Manipulation of stacks in Python</vt:lpstr>
      <vt:lpstr>Manipulation of stacks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Queues</vt:lpstr>
      <vt:lpstr>The concept and manipulation of queues</vt:lpstr>
      <vt:lpstr>The concept and manipulation of queues</vt:lpstr>
      <vt:lpstr>The concept and manipulation of queues</vt:lpstr>
      <vt:lpstr>Application of queues in computer systems</vt:lpstr>
      <vt:lpstr>Manipulation of queues in Python</vt:lpstr>
      <vt:lpstr>Manipulation of queues in Python</vt:lpstr>
      <vt:lpstr>Manipulation of queues in Python</vt:lpstr>
      <vt:lpstr>Manipulation of queues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Queues manipulated with pointers</vt:lpstr>
      <vt:lpstr>Queues manipulated with pointers</vt:lpstr>
      <vt:lpstr>Queues manipulated with pointers</vt:lpstr>
      <vt:lpstr>Queues manipulated with pointers</vt:lpstr>
      <vt:lpstr>PowerPoint Presentation</vt:lpstr>
      <vt:lpstr>PowerPoint Presentation</vt:lpstr>
      <vt:lpstr>The concept and manipulation of circular queue</vt:lpstr>
      <vt:lpstr>The concept and manipulation of circular queue</vt:lpstr>
      <vt:lpstr>The concept and manipulation of circular queue</vt:lpstr>
      <vt:lpstr>The concept and manipulation of circular queue</vt:lpstr>
      <vt:lpstr>The concept and manipulation of circular queue</vt:lpstr>
      <vt:lpstr>The concept and manipulation of circular queue</vt:lpstr>
      <vt:lpstr>The concept and manipulation of circular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Linked Lists</vt:lpstr>
      <vt:lpstr>The concept and manipulation of linked lists</vt:lpstr>
      <vt:lpstr>The concept and manipulation of linked lists</vt:lpstr>
      <vt:lpstr>Application of linked lists in computer systems</vt:lpstr>
      <vt:lpstr>Application of linked lists in computer systems</vt:lpstr>
      <vt:lpstr>Differences between linked lists and arrays</vt:lpstr>
      <vt:lpstr>Differences between linked lists and arrays</vt:lpstr>
      <vt:lpstr>Differences between linked lists and arrays</vt:lpstr>
      <vt:lpstr>Differences between linked lists and arrays</vt:lpstr>
      <vt:lpstr>Differences between linked lists and arrays</vt:lpstr>
      <vt:lpstr>Differences between linked lists and arrays</vt:lpstr>
      <vt:lpstr>Differences between linked lists and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Data Structures</dc:title>
  <dc:creator>iClass</dc:creator>
  <cp:lastModifiedBy>iClass</cp:lastModifiedBy>
  <cp:revision>49</cp:revision>
  <dcterms:created xsi:type="dcterms:W3CDTF">2023-05-18T07:04:56Z</dcterms:created>
  <dcterms:modified xsi:type="dcterms:W3CDTF">2023-05-29T06:45:20Z</dcterms:modified>
</cp:coreProperties>
</file>