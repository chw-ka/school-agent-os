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embeddedFontLs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46" roundtripDataSignature="AMtx7mifUGqvlH670qu8TkY244r6mVh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928FE3-C639-4D3B-8E18-4EF8A1A7E366}">
  <a:tblStyle styleId="{2B928FE3-C639-4D3B-8E18-4EF8A1A7E36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-Cover-HK" showMasterSp="0">
  <p:cSld name="A-Cover-HK">
    <p:bg>
      <p:bgPr>
        <a:solidFill>
          <a:srgbClr val="CDEBF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8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14" name="Google Shape;14;p38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" name="Google Shape;15;p38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16" name="Google Shape;16;p38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7" name="Google Shape;17;p38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" name="Google Shape;18;p38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9" name="Google Shape;19;p38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2113404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orange-HK" showMasterSp="0">
  <p:cSld name="A&amp;C_orange-H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9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39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orange">
  <p:cSld name="Content_orang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C26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33;p40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" name="Google Shape;37;p40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point-HK" showMasterSp="0">
  <p:cSld name="Checkpoint-H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1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" name="Google Shape;45;p41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alogy">
  <p:cSld name="analog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2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" name="Google Shape;51;p42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Arial"/>
              <a:buNone/>
            </a:pPr>
            <a:r>
              <a:rPr b="0" i="0" lang="zh-TW" sz="3200" cap="none">
                <a:solidFill>
                  <a:srgbClr val="7570B3"/>
                </a:solidFill>
                <a:latin typeface="Arial"/>
                <a:ea typeface="Arial"/>
                <a:cs typeface="Arial"/>
                <a:sym typeface="Arial"/>
              </a:rPr>
              <a:t>類比</a:t>
            </a:r>
            <a:endParaRPr b="0" i="0" sz="3200" cap="none">
              <a:solidFill>
                <a:srgbClr val="757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2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-HK" showMasterSp="0">
  <p:cSld name="Activity-H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3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" name="Google Shape;59;p43"/>
          <p:cNvSpPr txBox="1"/>
          <p:nvPr>
            <p:ph idx="2" type="body"/>
          </p:nvPr>
        </p:nvSpPr>
        <p:spPr>
          <a:xfrm>
            <a:off x="2470901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-HK" showMasterSp="0">
  <p:cSld name="Example-H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4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6" name="Google Shape;66;p44"/>
          <p:cNvSpPr txBox="1"/>
          <p:nvPr>
            <p:ph idx="2" type="body"/>
          </p:nvPr>
        </p:nvSpPr>
        <p:spPr>
          <a:xfrm>
            <a:off x="246934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-Cover-HK" showMasterSp="0">
  <p:cSld name="B-Cover-HK">
    <p:bg>
      <p:bgPr>
        <a:solidFill>
          <a:srgbClr val="CDEBF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45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69" name="Google Shape;69;p45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45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71" name="Google Shape;71;p45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72" name="Google Shape;72;p45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45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74" name="Google Shape;74;p45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5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2787011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-Cover-HK" showMasterSp="0">
  <p:cSld name="C-Cover-HK">
    <p:bg>
      <p:bgPr>
        <a:solidFill>
          <a:srgbClr val="CDEBF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46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81" name="Google Shape;81;p46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46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83" name="Google Shape;83;p46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84" name="Google Shape;84;p46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46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86" name="Google Shape;86;p46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3189260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-Cover-HK" showMasterSp="0">
  <p:cSld name="D-Cover-HK">
    <p:bg>
      <p:bgPr>
        <a:solidFill>
          <a:srgbClr val="CDEBF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47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93" name="Google Shape;93;p47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47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95" name="Google Shape;95;p47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96" name="Google Shape;96;p47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47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98" name="Google Shape;98;p47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7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3933102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-Cover-HK" showMasterSp="0">
  <p:cSld name="E-Cover-HK">
    <p:bg>
      <p:bgPr>
        <a:solidFill>
          <a:srgbClr val="CDEBF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48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105" name="Google Shape;105;p48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48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107" name="Google Shape;107;p48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08" name="Google Shape;108;p48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9" name="Google Shape;109;p48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10" name="Google Shape;110;p48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8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5130272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blue-HK" showMasterSp="0">
  <p:cSld name="A&amp;C_blue-H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7" name="Google Shape;117;p49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8" name="Google Shape;118;p49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9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1" name="Google Shape;121;p49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green-HK" showMasterSp="0">
  <p:cSld name="A&amp;C_green-H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4" name="Google Shape;124;p50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5" name="Google Shape;125;p50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0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8" name="Google Shape;128;p50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red-HK" showMasterSp="0">
  <p:cSld name="A&amp;C_red-H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1" name="Google Shape;131;p51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2" name="Google Shape;132;p51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1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51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cyan-HK" showMasterSp="0">
  <p:cSld name="A&amp;C_cyan-H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8" name="Google Shape;138;p52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52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2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2" name="Google Shape;142;p52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blue">
  <p:cSld name="Content_blu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3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2132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5" name="Google Shape;145;p5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3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3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" name="Google Shape;149;p5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0" name="Google Shape;150;p5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green">
  <p:cSld name="Content_gree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4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007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3" name="Google Shape;153;p5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4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4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" name="Google Shape;157;p5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8" name="Google Shape;158;p5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red">
  <p:cSld name="Content_red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5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B7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1" name="Google Shape;161;p5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5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5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5" name="Google Shape;165;p5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66" name="Google Shape;166;p5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cyan">
  <p:cSld name="Content_cya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6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3F82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9" name="Google Shape;169;p5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6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6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3" name="Google Shape;173;p5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74" name="Google Shape;174;p5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b-HK" showMasterSp="0">
  <p:cSld name="Lab-HK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7" name="Google Shape;177;p57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78" name="Google Shape;178;p57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57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1" name="Google Shape;181;p57"/>
          <p:cNvSpPr txBox="1"/>
          <p:nvPr>
            <p:ph idx="2" type="body"/>
          </p:nvPr>
        </p:nvSpPr>
        <p:spPr>
          <a:xfrm>
            <a:off x="2743839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conception">
  <p:cSld name="misconcept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8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8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7" name="Google Shape;187;p58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3866"/>
              </a:buClr>
              <a:buSzPts val="3200"/>
              <a:buFont typeface="Arial"/>
              <a:buNone/>
            </a:pPr>
            <a:r>
              <a:rPr b="0" i="0" lang="zh-TW" sz="3200" cap="none">
                <a:solidFill>
                  <a:srgbClr val="D83866"/>
                </a:solidFill>
                <a:latin typeface="Arial"/>
                <a:ea typeface="Arial"/>
                <a:cs typeface="Arial"/>
                <a:sym typeface="Arial"/>
              </a:rPr>
              <a:t>常見錯誤</a:t>
            </a:r>
            <a:endParaRPr b="0" i="0" sz="3200" cap="none">
              <a:solidFill>
                <a:srgbClr val="D838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8"/>
          <p:cNvSpPr txBox="1"/>
          <p:nvPr>
            <p:ph idx="1" type="body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89" name="Google Shape;189;p58"/>
          <p:cNvSpPr txBox="1"/>
          <p:nvPr>
            <p:ph idx="2" type="body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nk about">
  <p:cSld name="think abou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9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9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5" name="Google Shape;195;p59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3866"/>
              </a:buClr>
              <a:buSzPts val="3200"/>
              <a:buFont typeface="Arial"/>
              <a:buNone/>
            </a:pPr>
            <a:r>
              <a:rPr b="0" i="0" lang="zh-TW" sz="3200" cap="none">
                <a:solidFill>
                  <a:srgbClr val="D83866"/>
                </a:solidFill>
                <a:latin typeface="Arial"/>
                <a:ea typeface="Arial"/>
                <a:cs typeface="Arial"/>
                <a:sym typeface="Arial"/>
              </a:rPr>
              <a:t>試想想</a:t>
            </a:r>
            <a:endParaRPr b="0" i="0" sz="3200" cap="none">
              <a:solidFill>
                <a:srgbClr val="D838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9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">
  <p:cSld name="tip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4923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0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60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2" name="Google Shape;202;p60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AD40"/>
              </a:buClr>
              <a:buSzPts val="3200"/>
              <a:buFont typeface="Arial"/>
              <a:buNone/>
            </a:pPr>
            <a:r>
              <a:rPr b="0" i="0" lang="zh-TW" sz="3200" cap="none">
                <a:solidFill>
                  <a:srgbClr val="84AD40"/>
                </a:solidFill>
                <a:latin typeface="Arial"/>
                <a:ea typeface="Arial"/>
                <a:cs typeface="Arial"/>
                <a:sym typeface="Arial"/>
              </a:rPr>
              <a:t>提示</a:t>
            </a:r>
            <a:endParaRPr b="0" i="0" sz="3200" cap="none">
              <a:solidFill>
                <a:srgbClr val="84AD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0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richment">
  <p:cSld name="enrichme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4923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1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1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6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9" name="Google Shape;209;p61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Arial"/>
              <a:buNone/>
            </a:pPr>
            <a:r>
              <a:rPr b="0" i="0" lang="zh-TW" sz="3200" cap="none">
                <a:solidFill>
                  <a:srgbClr val="7570B3"/>
                </a:solidFill>
                <a:latin typeface="Arial"/>
                <a:ea typeface="Arial"/>
                <a:cs typeface="Arial"/>
                <a:sym typeface="Arial"/>
              </a:rPr>
              <a:t>擴闊視野</a:t>
            </a:r>
            <a:endParaRPr b="0" i="0" sz="3200" cap="none">
              <a:solidFill>
                <a:srgbClr val="757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1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storical note">
  <p:cSld name="historical not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2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62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6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6" name="Google Shape;216;p62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Arial"/>
              <a:buNone/>
            </a:pPr>
            <a:r>
              <a:rPr b="0" i="0" lang="zh-TW" sz="3200" cap="none">
                <a:solidFill>
                  <a:srgbClr val="7570B3"/>
                </a:solidFill>
                <a:latin typeface="Arial"/>
                <a:ea typeface="Arial"/>
                <a:cs typeface="Arial"/>
                <a:sym typeface="Arial"/>
              </a:rPr>
              <a:t>古往今來</a:t>
            </a:r>
            <a:endParaRPr b="0" i="0" sz="3200" cap="none">
              <a:solidFill>
                <a:srgbClr val="757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2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AM+">
  <p:cSld name="STEAM+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3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63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6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3" name="Google Shape;223;p63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Open Sans"/>
              <a:buNone/>
            </a:pPr>
            <a:r>
              <a:rPr b="1" i="1" lang="zh-TW" sz="3200" cap="none">
                <a:solidFill>
                  <a:srgbClr val="7570B3"/>
                </a:solidFill>
                <a:latin typeface="Open Sans"/>
                <a:ea typeface="Open Sans"/>
                <a:cs typeface="Open Sans"/>
                <a:sym typeface="Open Sans"/>
              </a:rPr>
              <a:t>STEAM+</a:t>
            </a:r>
            <a:endParaRPr/>
          </a:p>
        </p:txBody>
      </p:sp>
      <p:sp>
        <p:nvSpPr>
          <p:cNvPr id="224" name="Google Shape;224;p63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">
  <p:cSld name="resource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4923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64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4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6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0" name="Google Shape;230;p64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6993D"/>
              </a:buClr>
              <a:buSzPts val="3200"/>
              <a:buFont typeface="Arial"/>
              <a:buNone/>
            </a:pPr>
            <a:r>
              <a:rPr b="0" i="0" lang="zh-TW" sz="3200" cap="none">
                <a:solidFill>
                  <a:srgbClr val="C6993D"/>
                </a:solidFill>
                <a:latin typeface="Arial"/>
                <a:ea typeface="Arial"/>
                <a:cs typeface="Arial"/>
                <a:sym typeface="Arial"/>
              </a:rPr>
              <a:t>網上資源</a:t>
            </a:r>
            <a:endParaRPr b="0" i="0" sz="3200" cap="none">
              <a:solidFill>
                <a:srgbClr val="C699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4"/>
          <p:cNvSpPr txBox="1"/>
          <p:nvPr>
            <p:ph idx="1" type="body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2" name="Google Shape;232;p64"/>
          <p:cNvSpPr/>
          <p:nvPr>
            <p:ph idx="2" type="pic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1">
  <p:cSld name="Blank-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5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5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2" showMasterSp="0">
  <p:cSld name="Blank-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" name="Google Shape;11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Relationship Id="rId4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Relationship Id="rId6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Relationship Id="rId5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</a:pPr>
            <a:r>
              <a:rPr lang="zh-TW"/>
              <a:t>第一課</a:t>
            </a:r>
            <a:br>
              <a:rPr lang="zh-TW"/>
            </a:br>
            <a:r>
              <a:rPr lang="zh-TW"/>
              <a:t>資訊處理簡介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分析普通人的數據有什麼用？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你知道大眾普遍喜歡蘋果而不是橘子嗎？然而，數據顯示，埃塞俄比亞人比起蘋果更喜歡橘子。如果不收集和分析數據，會造成什麼情況？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48" name="Google Shape;248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761" r="5760" t="0"/>
          <a:stretch/>
        </p:blipFill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資訊系統</a:t>
            </a:r>
            <a:endParaRPr/>
          </a:p>
        </p:txBody>
      </p:sp>
      <p:sp>
        <p:nvSpPr>
          <p:cNvPr id="254" name="Google Shape;254;p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5" name="Google Shape;255;p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1.1</a:t>
            </a:r>
            <a:endParaRPr/>
          </a:p>
        </p:txBody>
      </p:sp>
      <p:sp>
        <p:nvSpPr>
          <p:cNvPr id="256" name="Google Shape;256;p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你知道圖書館如何記錄大量藏書的狀態嗎？藏書的狀態如何在借出或歸還時更新？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資訊系統可以幫助圖書館管理這些資訊。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57" name="Google Shape;2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0999" y="3533610"/>
            <a:ext cx="4590001" cy="2684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系統功能</a:t>
            </a:r>
            <a:endParaRPr/>
          </a:p>
        </p:txBody>
      </p:sp>
      <p:sp>
        <p:nvSpPr>
          <p:cNvPr id="263" name="Google Shape;263;p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4" name="Google Shape;264;p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265" name="Google Shape;265;p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資訊系統的功能包括：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/>
              <a:t>實現流程自動化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/>
              <a:t>減少人為錯誤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/>
              <a:t>提升效率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數據</a:t>
            </a:r>
            <a:endParaRPr/>
          </a:p>
        </p:txBody>
      </p:sp>
      <p:sp>
        <p:nvSpPr>
          <p:cNvPr id="271" name="Google Shape;271;p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2" name="Google Shape;272;p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273" name="Google Shape;273;p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數據</a:t>
            </a:r>
            <a:r>
              <a:rPr lang="zh-TW"/>
              <a:t>會被儲存在電腦的儲存設備中，讓程式用以輸入或輸出。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數據的例子包括: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病人病歷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天氣數據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74" name="Google Shape;2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4460" y="2765609"/>
            <a:ext cx="3543795" cy="238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科技</a:t>
            </a:r>
            <a:endParaRPr/>
          </a:p>
        </p:txBody>
      </p:sp>
      <p:sp>
        <p:nvSpPr>
          <p:cNvPr id="280" name="Google Shape;280;p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1" name="Google Shape;281;p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282" name="Google Shape;282;p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硬件</a:t>
            </a:r>
            <a:r>
              <a:rPr lang="zh-TW"/>
              <a:t>是指資訊系統中所使用的實體設備：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283" name="Google Shape;283;p6"/>
          <p:cNvGraphicFramePr/>
          <p:nvPr/>
        </p:nvGraphicFramePr>
        <p:xfrm>
          <a:off x="838800" y="23203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2004675"/>
                <a:gridCol w="2158325"/>
                <a:gridCol w="2158325"/>
                <a:gridCol w="2158325"/>
                <a:gridCol w="2141675"/>
              </a:tblGrid>
              <a:tr h="77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處理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電子部件之間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的連接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網絡通訊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輸入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輸出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8B1F"/>
                    </a:solidFill>
                  </a:tcPr>
                </a:tc>
              </a:tr>
              <a:tr h="214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中央處理器 (CPU)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主機板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家庭路由器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麥克風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顯示器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8B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4" name="Google Shape;2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192" y="3353951"/>
            <a:ext cx="1714739" cy="121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3429" y="3421666"/>
            <a:ext cx="1648055" cy="1209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9445" y="3192003"/>
            <a:ext cx="1676634" cy="154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4512" y="3245429"/>
            <a:ext cx="1352739" cy="156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1699" y="3268213"/>
            <a:ext cx="1533739" cy="139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科技</a:t>
            </a:r>
            <a:endParaRPr/>
          </a:p>
        </p:txBody>
      </p:sp>
      <p:sp>
        <p:nvSpPr>
          <p:cNvPr id="294" name="Google Shape;294;p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5" name="Google Shape;295;p7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296" name="Google Shape;296;p7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軟件</a:t>
            </a:r>
            <a:r>
              <a:rPr lang="zh-TW"/>
              <a:t>是指在資訊系統中運行的程式：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297" name="Google Shape;297;p7"/>
          <p:cNvGraphicFramePr/>
          <p:nvPr/>
        </p:nvGraphicFramePr>
        <p:xfrm>
          <a:off x="921272" y="2415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1913375"/>
                <a:gridCol w="1887000"/>
                <a:gridCol w="6508875"/>
              </a:tblGrid>
              <a:tr h="4856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 u="none" cap="none" strike="noStrike">
                          <a:solidFill>
                            <a:schemeClr val="lt1"/>
                          </a:solidFill>
                        </a:rPr>
                        <a:t>功能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 u="none" cap="none" strike="noStrike">
                          <a:solidFill>
                            <a:schemeClr val="lt1"/>
                          </a:solidFill>
                        </a:rPr>
                        <a:t>軟件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72225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/>
                        <a:t>系統軟件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/>
                        <a:t>操作系統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/>
                        <a:t> Microsoft Windows 和 macOS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2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實用程式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工作管理員和防毒軟件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2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驅動程式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聲效卡、USB快閃記憶體或打印機的驅動程式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2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應用軟件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文書處理器與數據庫管理系統（DBMS）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流程</a:t>
            </a:r>
            <a:endParaRPr/>
          </a:p>
        </p:txBody>
      </p:sp>
      <p:sp>
        <p:nvSpPr>
          <p:cNvPr id="303" name="Google Shape;303;p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4" name="Google Shape;304;p8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305" name="Google Shape;305;p8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流程</a:t>
            </a:r>
            <a:r>
              <a:rPr lang="zh-TW"/>
              <a:t>是確保數據和相關分析能夠精確地達到目的的步驟。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我們必須以有意義的方式處理數據來將數據轉換為有用的資訊。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從業員</a:t>
            </a:r>
            <a:endParaRPr/>
          </a:p>
        </p:txBody>
      </p:sp>
      <p:sp>
        <p:nvSpPr>
          <p:cNvPr id="311" name="Google Shape;311;p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2" name="Google Shape;312;p9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1.1</a:t>
            </a:r>
            <a:endParaRPr/>
          </a:p>
        </p:txBody>
      </p:sp>
      <p:sp>
        <p:nvSpPr>
          <p:cNvPr id="313" name="Google Shape;313;p9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資訊系統被不同的從業員管理：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314" name="Google Shape;314;p9"/>
          <p:cNvGraphicFramePr/>
          <p:nvPr/>
        </p:nvGraphicFramePr>
        <p:xfrm>
          <a:off x="730127" y="24819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1801325"/>
                <a:gridCol w="1801325"/>
                <a:gridCol w="1801325"/>
                <a:gridCol w="1801325"/>
                <a:gridCol w="1801325"/>
                <a:gridCol w="1801325"/>
              </a:tblGrid>
              <a:tr h="74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電腦工程師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系統分析師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程式員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技術支援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網絡管理員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數據庫管理員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172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設計、建構和整合 硬件、軟件和網絡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設計系統以滿足終端用戶的業 務需求 分析系統建設的時間、成本和 可行性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根據系統分析師的設計 開發系統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協助終端用戶 使用資訊系統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監控電腦系統之間的網絡通信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設計和管理數據庫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試回答課本第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8 </a:t>
            </a:r>
            <a:r>
              <a:rPr lang="zh-TW"/>
              <a:t>頁的問題。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500"/>
              <a:buNone/>
            </a:pPr>
            <a:r>
              <a:rPr lang="zh-TW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 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1" name="Google Shape;321;p10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1.1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 數據和資訊</a:t>
            </a:r>
            <a:endParaRPr/>
          </a:p>
        </p:txBody>
      </p:sp>
      <p:sp>
        <p:nvSpPr>
          <p:cNvPr id="327" name="Google Shape;327;p1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8" name="Google Shape;328;p11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1.2</a:t>
            </a:r>
            <a:endParaRPr/>
          </a:p>
        </p:txBody>
      </p:sp>
      <p:sp>
        <p:nvSpPr>
          <p:cNvPr id="329" name="Google Shape;329;p11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你知道以下數據有什麼意義嗎？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1424914" y="3351339"/>
            <a:ext cx="987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Olympia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2832536" y="4310073"/>
            <a:ext cx="10434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Merchant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4677962" y="2897234"/>
            <a:ext cx="9861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Boatman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4012943" y="3536005"/>
            <a:ext cx="61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Paris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6879525" y="4785083"/>
            <a:ext cx="707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Fisher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3257973" y="2820303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81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4733105" y="3905337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73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5333199" y="4513617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49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7312656" y="3711698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45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7586770" y="3266566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70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9694313" y="3451232"/>
            <a:ext cx="9861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Hamilton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8832560" y="3956400"/>
            <a:ext cx="7154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Baker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數據</a:t>
            </a:r>
            <a:endParaRPr/>
          </a:p>
        </p:txBody>
      </p:sp>
      <p:sp>
        <p:nvSpPr>
          <p:cNvPr id="347" name="Google Shape;347;p1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8" name="Google Shape;348;p12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349" name="Google Shape;349;p12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數據</a:t>
            </a:r>
            <a:r>
              <a:rPr lang="zh-TW"/>
              <a:t>是一組未經整理的事實，單獨來看通常沒有意義。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 txBox="1"/>
          <p:nvPr/>
        </p:nvSpPr>
        <p:spPr>
          <a:xfrm>
            <a:off x="1424914" y="3351339"/>
            <a:ext cx="987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Olympia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2832536" y="4386338"/>
            <a:ext cx="10434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Merchant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4677962" y="2973499"/>
            <a:ext cx="9861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Boatman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4012943" y="3612270"/>
            <a:ext cx="61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Paris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6879525" y="4861348"/>
            <a:ext cx="707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Fisher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3257973" y="2820303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81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4733105" y="3981602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73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5333199" y="4589882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49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7312656" y="3787963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45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7586770" y="3342831"/>
            <a:ext cx="4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70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9694313" y="3527497"/>
            <a:ext cx="9861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Hamilton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8832560" y="4032665"/>
            <a:ext cx="7154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Baker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資訊</a:t>
            </a:r>
            <a:endParaRPr/>
          </a:p>
        </p:txBody>
      </p:sp>
      <p:sp>
        <p:nvSpPr>
          <p:cNvPr id="367" name="Google Shape;367;p1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8" name="Google Shape;368;p1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369" name="Google Shape;369;p1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數據經處理後便能轉換為</a:t>
            </a: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資訊</a:t>
            </a:r>
            <a:r>
              <a:rPr lang="zh-TW"/>
              <a:t>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例如：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370" name="Google Shape;370;p13"/>
          <p:cNvGraphicFramePr/>
          <p:nvPr/>
        </p:nvGraphicFramePr>
        <p:xfrm>
          <a:off x="943033" y="31968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1156750"/>
                <a:gridCol w="1156750"/>
                <a:gridCol w="1156750"/>
                <a:gridCol w="1156750"/>
                <a:gridCol w="1156750"/>
                <a:gridCol w="1156750"/>
                <a:gridCol w="1156750"/>
                <a:gridCol w="1156750"/>
                <a:gridCol w="1156750"/>
              </a:tblGrid>
              <a:tr h="4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名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姓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性別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年齡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居住城市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職業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重量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分數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評級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4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Brooklyn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Fisher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45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Sydney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Boatman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49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44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Paris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Merchant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24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Olympia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Baker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62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81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Hamilton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Miller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37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Richmond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Blacksmith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70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73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 輸入-處理-輸出周期</a:t>
            </a:r>
            <a:endParaRPr/>
          </a:p>
        </p:txBody>
      </p:sp>
      <p:sp>
        <p:nvSpPr>
          <p:cNvPr id="376" name="Google Shape;376;p1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7" name="Google Shape;377;p1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378" name="Google Shape;378;p1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輸入-處理-輸出周期</a:t>
            </a:r>
            <a:r>
              <a:rPr lang="zh-TW"/>
              <a:t>（IPO 周期）：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將數據輸入電腦。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電腦處理所輸入的數據。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電腦輸出有意義的資訊。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4" name="Google Shape;384;p15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385" name="Google Shape;3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1829" y="1886290"/>
            <a:ext cx="9321592" cy="333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試在課本第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9 </a:t>
            </a:r>
            <a:r>
              <a:rPr lang="zh-TW"/>
              <a:t>頁寫下哪個是數據、哪個是資訊。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2" name="Google Shape;392;p16"/>
          <p:cNvSpPr txBox="1"/>
          <p:nvPr>
            <p:ph idx="2" type="body"/>
          </p:nvPr>
        </p:nvSpPr>
        <p:spPr>
          <a:xfrm>
            <a:off x="2470901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1.3</a:t>
            </a:r>
            <a:endParaRPr/>
          </a:p>
        </p:txBody>
      </p:sp>
      <p:graphicFrame>
        <p:nvGraphicFramePr>
          <p:cNvPr id="393" name="Google Shape;393;p16"/>
          <p:cNvGraphicFramePr/>
          <p:nvPr/>
        </p:nvGraphicFramePr>
        <p:xfrm>
          <a:off x="926407" y="2170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1183150"/>
                <a:gridCol w="4456825"/>
                <a:gridCol w="4656025"/>
              </a:tblGrid>
              <a:tr h="2286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項目</a:t>
                      </a:r>
                      <a:endParaRPr b="1" sz="1800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某公司的淨收入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某公司淨收入的增長率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數據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資訊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項目</a:t>
                      </a:r>
                      <a:endParaRPr b="1" sz="1800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1A 班學生的身高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1A 班最高學生的姓名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項目</a:t>
                      </a:r>
                      <a:endParaRPr b="1" sz="1800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101 號室的平均溫度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101 號室每小時的溫度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項目</a:t>
                      </a:r>
                      <a:endParaRPr b="1" sz="1800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未經剪輯的演講片段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某段演講的逐字記錄稿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項目</a:t>
                      </a:r>
                      <a:endParaRPr b="1" sz="1800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一張實寫照中貓的數目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一張貓的實寫照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4AD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4" name="Google Shape;394;p16"/>
          <p:cNvSpPr txBox="1"/>
          <p:nvPr/>
        </p:nvSpPr>
        <p:spPr>
          <a:xfrm>
            <a:off x="4034999" y="3290474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數據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6"/>
          <p:cNvSpPr txBox="1"/>
          <p:nvPr/>
        </p:nvSpPr>
        <p:spPr>
          <a:xfrm>
            <a:off x="8073599" y="3266248"/>
            <a:ext cx="1800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資訊（經排序）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6"/>
          <p:cNvSpPr txBox="1"/>
          <p:nvPr/>
        </p:nvSpPr>
        <p:spPr>
          <a:xfrm>
            <a:off x="3512820" y="4000500"/>
            <a:ext cx="1800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資訊（經計算）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8650679" y="4022414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數據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 txBox="1"/>
          <p:nvPr/>
        </p:nvSpPr>
        <p:spPr>
          <a:xfrm>
            <a:off x="7611932" y="4778580"/>
            <a:ext cx="2723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資訊（例如經語音識別）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"/>
          <p:cNvSpPr txBox="1"/>
          <p:nvPr/>
        </p:nvSpPr>
        <p:spPr>
          <a:xfrm>
            <a:off x="4034998" y="4764506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數據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3051154" y="5506680"/>
            <a:ext cx="2723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資訊（例如經圖像識別）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 txBox="1"/>
          <p:nvPr/>
        </p:nvSpPr>
        <p:spPr>
          <a:xfrm>
            <a:off x="8650677" y="5506680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數據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多媒體的數據類型</a:t>
            </a:r>
            <a:endParaRPr/>
          </a:p>
        </p:txBody>
      </p:sp>
      <p:sp>
        <p:nvSpPr>
          <p:cNvPr id="407" name="Google Shape;407;p1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8" name="Google Shape;408;p17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409" name="Google Shape;409;p17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文本</a:t>
            </a:r>
            <a:r>
              <a:rPr lang="zh-TW"/>
              <a:t>包括各種類型的字符：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數字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字母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符號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不同語言的文本會使用不同的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編碼系統</a:t>
            </a:r>
            <a:r>
              <a:rPr lang="zh-TW"/>
              <a:t>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410" name="Google Shape;410;p17"/>
          <p:cNvGraphicFramePr/>
          <p:nvPr/>
        </p:nvGraphicFramePr>
        <p:xfrm>
          <a:off x="7342934" y="2045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1906275"/>
                <a:gridCol w="1906275"/>
              </a:tblGrid>
              <a:tr h="507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字符編碼系統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語言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507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ASCII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英文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Big5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繁體中文</a:t>
                      </a:r>
                      <a:endParaRPr sz="1800"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多媒體的數據類型</a:t>
            </a:r>
            <a:endParaRPr/>
          </a:p>
        </p:txBody>
      </p:sp>
      <p:sp>
        <p:nvSpPr>
          <p:cNvPr id="416" name="Google Shape;416;p1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7" name="Google Shape;417;p18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418" name="Google Shape;418;p18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文本可分為兩種類型：</a:t>
            </a:r>
            <a:endParaRPr/>
          </a:p>
        </p:txBody>
      </p:sp>
      <p:graphicFrame>
        <p:nvGraphicFramePr>
          <p:cNvPr id="419" name="Google Shape;419;p18"/>
          <p:cNvGraphicFramePr/>
          <p:nvPr/>
        </p:nvGraphicFramePr>
        <p:xfrm>
          <a:off x="1338580" y="2427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4893300"/>
                <a:gridCol w="4893300"/>
              </a:tblGrid>
              <a:tr h="49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純文字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格式化文本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51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純文字只會儲存字符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格式化文本會儲存字符及其格式資料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20" name="Google Shape;4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8593" y="3566853"/>
            <a:ext cx="2797835" cy="2262656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1" name="Google Shape;4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1160" y="3566853"/>
            <a:ext cx="2652480" cy="2312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 多媒體的數據類型</a:t>
            </a:r>
            <a:endParaRPr/>
          </a:p>
        </p:txBody>
      </p:sp>
      <p:sp>
        <p:nvSpPr>
          <p:cNvPr id="427" name="Google Shape;427;p1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8" name="Google Shape;428;p19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429" name="Google Shape;429;p19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數碼圖像</a:t>
            </a:r>
            <a:r>
              <a:rPr lang="zh-TW"/>
              <a:t>是由數碼相機捕捉或使用圖像編輯軟件製作的圖像。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圖像可分為兩類：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430" name="Google Shape;430;p19"/>
          <p:cNvGraphicFramePr/>
          <p:nvPr/>
        </p:nvGraphicFramePr>
        <p:xfrm>
          <a:off x="1057876" y="27673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4893300"/>
                <a:gridCol w="4893300"/>
              </a:tblGrid>
              <a:tr h="49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0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點陣圖</a:t>
                      </a:r>
                      <a:endParaRPr b="1" sz="20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0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向量圖</a:t>
                      </a:r>
                      <a:endParaRPr b="1" sz="20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51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點陣圖會儲存為一系列稱為像素的小正方形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向量圖會儲存為數學公式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31" name="Google Shape;4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246" y="3848794"/>
            <a:ext cx="4634070" cy="233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9825" y="3848794"/>
            <a:ext cx="4683895" cy="2372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多媒體的數據類型</a:t>
            </a:r>
            <a:endParaRPr/>
          </a:p>
        </p:txBody>
      </p:sp>
      <p:sp>
        <p:nvSpPr>
          <p:cNvPr id="438" name="Google Shape;438;p2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9" name="Google Shape;439;p20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440" name="Google Shape;440;p20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數碼</a:t>
            </a: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音頻</a:t>
            </a:r>
            <a:r>
              <a:rPr lang="zh-TW"/>
              <a:t>（音效）是可轉換為聲音的數據。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模擬信號會被轉換成數碼信號，並以數碼音頻的形式儲存：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441" name="Google Shape;4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860" y="3269827"/>
            <a:ext cx="6600360" cy="3033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多媒體的數據類型</a:t>
            </a:r>
            <a:endParaRPr/>
          </a:p>
        </p:txBody>
      </p:sp>
      <p:sp>
        <p:nvSpPr>
          <p:cNvPr id="447" name="Google Shape;447;p2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8" name="Google Shape;448;p21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449" name="Google Shape;449;p21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視頻</a:t>
            </a:r>
            <a:r>
              <a:rPr lang="zh-TW"/>
              <a:t>（視像或影片）是圖像和音效的組合。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在短時間內顯示一連串的圖像，便能創造動態影像：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450" name="Google Shape;4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81330"/>
            <a:ext cx="10292664" cy="166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2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 資訊處理</a:t>
            </a:r>
            <a:endParaRPr/>
          </a:p>
        </p:txBody>
      </p:sp>
      <p:sp>
        <p:nvSpPr>
          <p:cNvPr id="456" name="Google Shape;456;p2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7" name="Google Shape;457;p22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1.3</a:t>
            </a:r>
            <a:endParaRPr/>
          </a:p>
        </p:txBody>
      </p:sp>
      <p:sp>
        <p:nvSpPr>
          <p:cNvPr id="458" name="Google Shape;458;p22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A0"/>
              </a:buClr>
              <a:buSzPts val="2500"/>
              <a:buNone/>
            </a:pP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資訊處理</a:t>
            </a:r>
            <a:r>
              <a:rPr lang="zh-TW"/>
              <a:t>即是將原始數據轉換成有意義的資訊。此過程包括七個階段：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459" name="Google Shape;4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659" y="2693776"/>
            <a:ext cx="8158682" cy="226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數據收集</a:t>
            </a:r>
            <a:endParaRPr/>
          </a:p>
        </p:txBody>
      </p:sp>
      <p:sp>
        <p:nvSpPr>
          <p:cNvPr id="465" name="Google Shape;465;p2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6" name="Google Shape;466;p2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467" name="Google Shape;467;p2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數據可以通過觀察、實驗、訪談、調查等各種方法收集。收集數據的方法會因數據的規模和類型而不同。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468" name="Google Shape;4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280" y="3085903"/>
            <a:ext cx="4229690" cy="2819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6050" y="3085903"/>
            <a:ext cx="4220164" cy="2819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組織</a:t>
            </a:r>
            <a:endParaRPr/>
          </a:p>
        </p:txBody>
      </p:sp>
      <p:sp>
        <p:nvSpPr>
          <p:cNvPr id="475" name="Google Shape;475;p2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6" name="Google Shape;476;p2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477" name="Google Shape;477;p2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組織是指以特定的方式將收集的數據作管理和分類，常見方法包括：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478" name="Google Shape;478;p24"/>
          <p:cNvGraphicFramePr/>
          <p:nvPr/>
        </p:nvGraphicFramePr>
        <p:xfrm>
          <a:off x="838200" y="2505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3530600"/>
                <a:gridCol w="3530600"/>
                <a:gridCol w="3530600"/>
              </a:tblGrid>
              <a:tr h="65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數據整理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數據有效性檢驗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數據類型轉換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7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9" name="Google Shape;4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976" y="3267074"/>
            <a:ext cx="2592900" cy="254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7637" y="3250886"/>
            <a:ext cx="2576727" cy="256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4174" y="3250886"/>
            <a:ext cx="2614827" cy="2614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儲存</a:t>
            </a:r>
            <a:endParaRPr/>
          </a:p>
        </p:txBody>
      </p:sp>
      <p:sp>
        <p:nvSpPr>
          <p:cNvPr id="487" name="Google Shape;487;p2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8" name="Google Shape;488;p2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489" name="Google Shape;489;p2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數據經組織後，便會被儲存為實體副本，或儲存在數碼儲存器中。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常見數碼儲存器包括：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490" name="Google Shape;490;p25"/>
          <p:cNvGraphicFramePr/>
          <p:nvPr/>
        </p:nvGraphicFramePr>
        <p:xfrm>
          <a:off x="962025" y="31229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3530600"/>
                <a:gridCol w="3530600"/>
              </a:tblGrid>
              <a:tr h="65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硬碟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USB快閃記憶體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46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91" name="Google Shape;4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864" y="3865817"/>
            <a:ext cx="2819612" cy="2305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654" y="3964713"/>
            <a:ext cx="2800741" cy="2067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處理</a:t>
            </a:r>
            <a:endParaRPr/>
          </a:p>
        </p:txBody>
      </p:sp>
      <p:sp>
        <p:nvSpPr>
          <p:cNvPr id="498" name="Google Shape;498;p2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9" name="Google Shape;499;p2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500" name="Google Shape;500;p2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處理即編輯、修改和更新數據，可分為：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/>
              <a:t>文字處理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/>
              <a:t>圖像處理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/>
              <a:t>音效處理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/>
              <a:t>視像處理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501" name="Google Shape;5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280" y="2290254"/>
            <a:ext cx="4378520" cy="273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分析</a:t>
            </a:r>
            <a:endParaRPr/>
          </a:p>
        </p:txBody>
      </p:sp>
      <p:sp>
        <p:nvSpPr>
          <p:cNvPr id="507" name="Google Shape;507;p2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8" name="Google Shape;508;p27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E</a:t>
            </a:r>
            <a:endParaRPr/>
          </a:p>
        </p:txBody>
      </p:sp>
      <p:sp>
        <p:nvSpPr>
          <p:cNvPr id="509" name="Google Shape;509;p27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數據分析即從已經處理的數據中提取有意義的資訊。例如：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將香港過去50年的年均氣溫放入試算表，並歸納出氣候趨勢。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510" name="Google Shape;5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0584" y="3412511"/>
            <a:ext cx="3470832" cy="2891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8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傳輸</a:t>
            </a:r>
            <a:endParaRPr/>
          </a:p>
        </p:txBody>
      </p:sp>
      <p:sp>
        <p:nvSpPr>
          <p:cNvPr id="516" name="Google Shape;516;p2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7" name="Google Shape;517;p28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F</a:t>
            </a:r>
            <a:endParaRPr/>
          </a:p>
        </p:txBody>
      </p:sp>
      <p:sp>
        <p:nvSpPr>
          <p:cNvPr id="518" name="Google Shape;518;p28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數據傳輸涉及傳輸者、媒體和接收者。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網絡是其中一種可能會使用到的媒體，它要求傳輸者和接收者都使用相同的通訊協定。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519" name="Google Shape;5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5418" y="3395470"/>
            <a:ext cx="4401164" cy="2753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演示</a:t>
            </a:r>
            <a:endParaRPr/>
          </a:p>
        </p:txBody>
      </p:sp>
      <p:sp>
        <p:nvSpPr>
          <p:cNvPr id="525" name="Google Shape;525;p2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6" name="Google Shape;526;p29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G</a:t>
            </a:r>
            <a:endParaRPr/>
          </a:p>
        </p:txBody>
      </p:sp>
      <p:sp>
        <p:nvSpPr>
          <p:cNvPr id="527" name="Google Shape;527;p29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演示是指通過各種媒體輸出數據或資訊。常見例子包括：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528" name="Google Shape;528;p29"/>
          <p:cNvGraphicFramePr/>
          <p:nvPr/>
        </p:nvGraphicFramePr>
        <p:xfrm>
          <a:off x="487360" y="251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2804325"/>
                <a:gridCol w="2804325"/>
                <a:gridCol w="2804325"/>
                <a:gridCol w="2804325"/>
              </a:tblGrid>
              <a:tr h="52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文字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圖像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視像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音效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90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29" name="Google Shape;5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03" y="3160275"/>
            <a:ext cx="2302193" cy="265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3757" y="3648074"/>
            <a:ext cx="2638517" cy="182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5149" y="3485592"/>
            <a:ext cx="2664051" cy="215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7527" y="3085748"/>
            <a:ext cx="2369844" cy="2801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小敏正在製作一個真人秀，她的電腦裏儲存了超過 200 段視像素材。以下哪些方法可協助她有效率地搜尋視像？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(1) 為素材加上字幕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(2) 在素材檔名中註明創建日期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(3) 將同一週拍攝的素材放入同一個資料夾中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Twentieth Century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只有 (1) 和 (2)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Twentieth Century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只有 (2) 和 (3)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Twentieth Century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只有 (1) 和 (3)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Twentieth Century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(1)、(2) 和(3)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9" name="Google Shape;539;p30"/>
          <p:cNvSpPr txBox="1"/>
          <p:nvPr>
            <p:ph idx="2" type="body"/>
          </p:nvPr>
        </p:nvSpPr>
        <p:spPr>
          <a:xfrm>
            <a:off x="246934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1.1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1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A3D4"/>
              </a:buClr>
              <a:buSzPts val="2000"/>
              <a:buFont typeface="Arial"/>
              <a:buChar char="◣"/>
            </a:pPr>
            <a:r>
              <a:rPr b="1" lang="zh-TW">
                <a:solidFill>
                  <a:srgbClr val="37A3D4"/>
                </a:solidFill>
                <a:latin typeface="Arial"/>
                <a:ea typeface="Arial"/>
                <a:cs typeface="Arial"/>
                <a:sym typeface="Arial"/>
              </a:rPr>
              <a:t> 分析</a:t>
            </a:r>
            <a:endParaRPr b="1">
              <a:solidFill>
                <a:srgbClr val="37A3D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>
                <a:latin typeface="Open Sans"/>
                <a:ea typeface="Open Sans"/>
                <a:cs typeface="Open Sans"/>
                <a:sym typeface="Open Sans"/>
              </a:rPr>
              <a:t>(2) 讓我們可按創建日期搜索素材；(3) 可幫我們找到同一週拍攝的所有素材；(1) 使素材更易於理解，但不會使搜索更輕鬆。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>
              <a:solidFill>
                <a:srgbClr val="37A3D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2700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7A3D4"/>
              </a:buClr>
              <a:buSzPts val="2000"/>
              <a:buFont typeface="Arial"/>
              <a:buChar char="◣"/>
            </a:pPr>
            <a:r>
              <a:rPr b="1" lang="zh-TW">
                <a:solidFill>
                  <a:srgbClr val="37A3D4"/>
                </a:solidFill>
                <a:latin typeface="Arial"/>
                <a:ea typeface="Arial"/>
                <a:cs typeface="Arial"/>
                <a:sym typeface="Arial"/>
              </a:rPr>
              <a:t>  答案</a:t>
            </a:r>
            <a:endParaRPr b="1">
              <a:solidFill>
                <a:srgbClr val="37A3D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>
                <a:latin typeface="Open Sans"/>
                <a:ea typeface="Open Sans"/>
                <a:cs typeface="Open Sans"/>
                <a:sym typeface="Open Sans"/>
              </a:rPr>
              <a:t>正確答案是 B。</a:t>
            </a:r>
            <a:endParaRPr/>
          </a:p>
        </p:txBody>
      </p:sp>
      <p:sp>
        <p:nvSpPr>
          <p:cNvPr id="545" name="Google Shape;545;p3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6" name="Google Shape;546;p31"/>
          <p:cNvSpPr txBox="1"/>
          <p:nvPr>
            <p:ph idx="2" type="body"/>
          </p:nvPr>
        </p:nvSpPr>
        <p:spPr>
          <a:xfrm>
            <a:off x="246934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1.1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資訊時代</a:t>
            </a:r>
            <a:endParaRPr/>
          </a:p>
        </p:txBody>
      </p:sp>
      <p:sp>
        <p:nvSpPr>
          <p:cNvPr id="552" name="Google Shape;552;p3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3" name="Google Shape;553;p32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1.4</a:t>
            </a:r>
            <a:endParaRPr/>
          </a:p>
        </p:txBody>
      </p:sp>
      <p:sp>
        <p:nvSpPr>
          <p:cNvPr id="554" name="Google Shape;554;p32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如果有一天沒有了電腦，你的生活會有什麼轉變？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定義</a:t>
            </a:r>
            <a:endParaRPr/>
          </a:p>
        </p:txBody>
      </p:sp>
      <p:sp>
        <p:nvSpPr>
          <p:cNvPr id="560" name="Google Shape;560;p3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1" name="Google Shape;561;p3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562" name="Google Shape;562;p3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隨着資訊及通訊科技的飛速發展，微型電腦、互聯網和搜尋器也正不斷完善。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存取和發佈資訊變得更容易、更普遍: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563" name="Google Shape;563;p33"/>
          <p:cNvGraphicFramePr/>
          <p:nvPr/>
        </p:nvGraphicFramePr>
        <p:xfrm>
          <a:off x="946150" y="33485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3469225"/>
                <a:gridCol w="3469225"/>
                <a:gridCol w="3469225"/>
              </a:tblGrid>
              <a:tr h="53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搜尋器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社交媒體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串流平台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10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64" name="Google Shape;5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3981450"/>
            <a:ext cx="3218353" cy="19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9953" y="3981450"/>
            <a:ext cx="3173242" cy="19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3220" y="3981450"/>
            <a:ext cx="3195697" cy="19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原因</a:t>
            </a:r>
            <a:endParaRPr/>
          </a:p>
        </p:txBody>
      </p:sp>
      <p:sp>
        <p:nvSpPr>
          <p:cNvPr id="572" name="Google Shape;572;p3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3" name="Google Shape;573;p3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574" name="Google Shape;574;p3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資訊時代發展的原因包括：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575" name="Google Shape;575;p34"/>
          <p:cNvGraphicFramePr/>
          <p:nvPr/>
        </p:nvGraphicFramePr>
        <p:xfrm>
          <a:off x="838200" y="2409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3530400"/>
                <a:gridCol w="3530400"/>
                <a:gridCol w="3530400"/>
              </a:tblGrid>
              <a:tr h="666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個人電腦和流動設備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應用程式設計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通信網絡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3277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個人電腦和流動設備因電腦部件的</a:t>
                      </a:r>
                      <a:r>
                        <a:rPr b="0"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價錢</a:t>
                      </a: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下降而更普遍。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流動設備的運算能力隨著科技進步而提高，使用家可隨時隨地處理和傳輸數據。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軟件的互動式設計使人們可直接存取所需的資訊。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光導纖維的發明和遠程通訊的進步提高了資訊的流動性和覆蓋面。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發展</a:t>
            </a:r>
            <a:endParaRPr/>
          </a:p>
        </p:txBody>
      </p:sp>
      <p:sp>
        <p:nvSpPr>
          <p:cNvPr id="581" name="Google Shape;581;p3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2" name="Google Shape;582;p3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583" name="Google Shape;583;p3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資訊科技的發展包括：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584" name="Google Shape;584;p35"/>
          <p:cNvGraphicFramePr/>
          <p:nvPr/>
        </p:nvGraphicFramePr>
        <p:xfrm>
          <a:off x="838200" y="22341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3505200"/>
                <a:gridCol w="3505200"/>
                <a:gridCol w="3505200"/>
              </a:tblGrid>
              <a:tr h="451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物聯網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大數據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人工智能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809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不同物件之間的網絡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因為數碼設備與網上平台的高使用率而收集回來的大量數據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在短時間內處理和分析大量數據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85" name="Google Shape;58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392" y="3532907"/>
            <a:ext cx="3267757" cy="228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0341" y="3532907"/>
            <a:ext cx="3436196" cy="228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9912" y="3532907"/>
            <a:ext cx="3357898" cy="2226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資訊素養</a:t>
            </a:r>
            <a:endParaRPr/>
          </a:p>
        </p:txBody>
      </p:sp>
      <p:sp>
        <p:nvSpPr>
          <p:cNvPr id="593" name="Google Shape;593;p3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4" name="Google Shape;594;p3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595" name="Google Shape;595;p3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在接受和使用資訊之前，我們應先考慮</a:t>
            </a:r>
            <a:r>
              <a:rPr lang="zh-TW">
                <a:solidFill>
                  <a:srgbClr val="5959A0"/>
                </a:solidFill>
                <a:latin typeface="Arial"/>
                <a:ea typeface="Arial"/>
                <a:cs typeface="Arial"/>
                <a:sym typeface="Arial"/>
              </a:rPr>
              <a:t>資訊素養</a:t>
            </a:r>
            <a:r>
              <a:rPr lang="zh-TW"/>
              <a:t>的不同層面: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graphicFrame>
        <p:nvGraphicFramePr>
          <p:cNvPr id="596" name="Google Shape;596;p36"/>
          <p:cNvGraphicFramePr/>
          <p:nvPr/>
        </p:nvGraphicFramePr>
        <p:xfrm>
          <a:off x="939339" y="219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{2B928FE3-C639-4D3B-8E18-4EF8A1A7E366}</a:tableStyleId>
              </a:tblPr>
              <a:tblGrid>
                <a:gridCol w="1989950"/>
                <a:gridCol w="5516450"/>
              </a:tblGrid>
              <a:tr h="100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知識產權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未經他人許可而使用其知識產權是不道德和違法的。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數據私隱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在分享資訊時，我們應該尊重他人的私隱。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可信度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我們應考慮資訊的權威性、有效性和相關性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提取和組織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我們從各種媒體中搜索資訊後，應從中提取和組織我們自己的觀點。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99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97" name="Google Shape;5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084" y="2869200"/>
            <a:ext cx="3049055" cy="267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SEPPT_HK_Kelie_2022080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2022-08-16T01:28:57Z</dcterms:created>
  <dc:creator>Cherry</dc:creator>
</cp:coreProperties>
</file>