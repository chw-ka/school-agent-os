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4" r:id="rId1"/>
  </p:sldMasterIdLst>
  <p:notesMasterIdLst>
    <p:notesMasterId r:id="rId134"/>
  </p:notesMasterIdLst>
  <p:sldIdLst>
    <p:sldId id="36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86" r:id="rId46"/>
    <p:sldId id="387" r:id="rId47"/>
    <p:sldId id="303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88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89" r:id="rId91"/>
    <p:sldId id="391" r:id="rId92"/>
    <p:sldId id="390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8" r:id="rId115"/>
    <p:sldId id="369" r:id="rId116"/>
    <p:sldId id="370" r:id="rId117"/>
    <p:sldId id="371" r:id="rId118"/>
    <p:sldId id="372" r:id="rId119"/>
    <p:sldId id="373" r:id="rId120"/>
    <p:sldId id="374" r:id="rId121"/>
    <p:sldId id="375" r:id="rId122"/>
    <p:sldId id="376" r:id="rId123"/>
    <p:sldId id="377" r:id="rId124"/>
    <p:sldId id="378" r:id="rId125"/>
    <p:sldId id="379" r:id="rId126"/>
    <p:sldId id="382" r:id="rId127"/>
    <p:sldId id="380" r:id="rId128"/>
    <p:sldId id="381" r:id="rId129"/>
    <p:sldId id="392" r:id="rId130"/>
    <p:sldId id="393" r:id="rId131"/>
    <p:sldId id="383" r:id="rId132"/>
    <p:sldId id="384" r:id="rId1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B981"/>
    <a:srgbClr val="D83A75"/>
    <a:srgbClr val="C79F4C"/>
    <a:srgbClr val="38A1D3"/>
    <a:srgbClr val="756FB3"/>
    <a:srgbClr val="504D9E"/>
    <a:srgbClr val="F792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32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5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notesMaster" Target="notesMasters/notes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54DBB4-D760-4E2B-BED8-19780E182688}" type="datetimeFigureOut">
              <a:rPr lang="en-US" smtClean="0"/>
              <a:t>5/17/2023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94D07A-9BF9-4D94-A92F-E145DFCB3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42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97C56F-506D-1CBF-DAEA-5491D019671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48" y="2853016"/>
            <a:ext cx="3145542" cy="505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8FD09F-D8A1-E336-3B87-044CB68F4B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69BCDB6-856A-6319-8C9A-5031698A3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66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BE4C03-EDAE-8A34-CB24-BDAA03524E5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48" y="2853016"/>
            <a:ext cx="4093472" cy="5059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DAD781-428A-67D8-7C55-666DFF21CB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36497C4-9FC9-151F-62D2-FB395805F0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61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7E881E-670F-B298-11FD-7D2AE51F6D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97C5F1C-1E54-2755-BD09-8B53BEC6CE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448" y="2853016"/>
            <a:ext cx="3642367" cy="5059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7AA30C-B131-11B2-D159-FECF538D59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414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0B2444-920A-39A5-579B-B54FCADA567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48" y="2853016"/>
            <a:ext cx="5117602" cy="505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506DF5-D585-C85A-7378-578CF95524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6743423-DF9F-5DF4-442D-BF34F62A7AC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52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61E0BB-AC62-05F4-05B8-418A002D64E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48" y="2853016"/>
            <a:ext cx="2660909" cy="5059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C61186-C2CB-33BF-880D-468C0FE8B48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390D0C5-32B0-F4A3-8473-6945918A77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474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lecA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9BCDB6-856A-6319-8C9A-5031698A3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C75235-0293-8136-6524-0EEAD91BBFA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448" y="2853016"/>
            <a:ext cx="1813564" cy="5059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7CD102-4498-ACB1-C72C-8082CD03250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26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lecB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9BCDB6-856A-6319-8C9A-5031698A3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48E981E-C35F-E8F8-DE42-4B0CC68BF4A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448" y="2853016"/>
            <a:ext cx="3864872" cy="505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4FA34B-69E2-DB1D-D9D7-52FE3BD9BD0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670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lecC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9BCDB6-856A-6319-8C9A-5031698A3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A66CFB-18D0-6F75-8C97-40CC53CD963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448" y="2853016"/>
            <a:ext cx="3691136" cy="5059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316255-5138-F681-0D2B-20384F1BB20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8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orange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7C0BD9D-B8ED-5511-960F-8CA63E3A3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624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blue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117F345-65C2-2CD1-DC0D-64AC50F13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>
            <a:lvl1pPr>
              <a:defRPr>
                <a:latin typeface="Myriad Pro" panose="020B0503030403020204" pitchFamily="34" charset="0"/>
              </a:defRPr>
            </a:lvl1pPr>
            <a:lvl2pPr>
              <a:defRPr>
                <a:latin typeface="Myriad Pro" panose="020B0503030403020204" pitchFamily="34" charset="0"/>
              </a:defRPr>
            </a:lvl2pPr>
            <a:lvl3pPr>
              <a:defRPr>
                <a:latin typeface="Myriad Pro" panose="020B0503030403020204" pitchFamily="34" charset="0"/>
              </a:defRPr>
            </a:lvl3pPr>
            <a:lvl4pPr>
              <a:defRPr>
                <a:latin typeface="Myriad Pro" panose="020B0503030403020204" pitchFamily="34" charset="0"/>
              </a:defRPr>
            </a:lvl4pPr>
            <a:lvl5pPr>
              <a:defRPr>
                <a:latin typeface="Myriad Pro" panose="020B0503030403020204" pitchFamily="34" charset="0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3244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green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11348A-7A65-4D63-9999-43FC28C9E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28945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red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6142E-F691-EA8F-3DCD-7E4A78F2E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773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cyan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2C15972-37F2-DAE7-8C10-98E52C044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>
            <a:lvl1pPr>
              <a:defRPr>
                <a:latin typeface="Myriad Pro" panose="020B0503030403020204" pitchFamily="34" charset="0"/>
              </a:defRPr>
            </a:lvl1pPr>
            <a:lvl2pPr>
              <a:defRPr>
                <a:latin typeface="Myriad Pro" panose="020B0503030403020204" pitchFamily="34" charset="0"/>
              </a:defRPr>
            </a:lvl2pPr>
            <a:lvl3pPr>
              <a:defRPr>
                <a:latin typeface="Myriad Pro" panose="020B0503030403020204" pitchFamily="34" charset="0"/>
              </a:defRPr>
            </a:lvl3pPr>
            <a:lvl4pPr>
              <a:defRPr>
                <a:latin typeface="Myriad Pro" panose="020B0503030403020204" pitchFamily="34" charset="0"/>
              </a:defRPr>
            </a:lvl4pPr>
            <a:lvl5pPr>
              <a:defRPr>
                <a:latin typeface="Myriad Pro" panose="020B0503030403020204" pitchFamily="34" charset="0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04144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nip Diagonal Corner Rectangle 3">
            <a:extLst>
              <a:ext uri="{FF2B5EF4-FFF2-40B4-BE49-F238E27FC236}">
                <a16:creationId xmlns:a16="http://schemas.microsoft.com/office/drawing/2014/main" id="{B505DC89-2E6F-5786-39F5-2B4AC2C46AF0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C26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5/17/2023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3D25585-2BA2-DAE6-6CD9-0856FBF8481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514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id="{72874D61-669D-1562-9471-3F57078BE147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2132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5/17/2023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B5BC051-110A-C89D-9342-F257EABF8C2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47905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id="{A2D0F62E-5468-5683-75D2-94AABF0D8A47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0078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5/17/2023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AA369FF4-FA36-C573-1B73-72B7F94DBF1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6728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id="{4DAD662D-900F-5555-5351-CB7EA4561EB7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B72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5/17/2023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8AEC8F0B-7C47-5026-ABEB-5E962B7394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9722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id="{215673C9-3F6B-C178-D494-7C8B73C3CDF6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3F82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5/17/2023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C9063645-AAC5-51BC-FFC8-34CC9F594B5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43791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xample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3BB63A3-9AB5-EBAC-F6F9-327B22130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B0149AE-399E-56CA-418B-96532FF191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212307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02632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eckpoint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F9B736-CC97-6F5A-03D8-7FA0AF198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704400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1645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ctivity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63E1F40-9013-EBB0-F98A-0AFCFACA2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170999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50399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b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9646B7-AEA6-E416-7BF3-052FDD7D2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467612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82824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isconce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7B0A839-D23C-1435-A186-FA67B6572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5/17/2023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MISCONCEPTION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5FBDB0-6C27-C606-20C5-686A00F1877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693716" y="1609199"/>
            <a:ext cx="9660083" cy="215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2C0F3B-5325-9C8D-A663-14E64C0C815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93716" y="4024188"/>
            <a:ext cx="9658800" cy="216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68146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 ab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94735F-B64E-887A-0584-E2B7E148B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5/17/2023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THINK ABOUT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69195DCF-0E55-AAB5-1074-39FAB8E195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0290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3F49635-7B62-1BF0-3627-0DEF2D36B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5/17/2023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84AD40"/>
                </a:solidFill>
              </a:rPr>
              <a:t>TIP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9E46E5CA-E96E-2DB9-64FE-5E1D76C77C9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29095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a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E6276F9-8CAE-0301-EC9B-559DB9D08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5/17/2023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7570B3"/>
                </a:solidFill>
              </a:rPr>
              <a:t>ANALOGY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15CCE8C4-EE82-5FA1-86D9-7618ACBB4E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7470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rich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C24769-7557-7417-69AD-C7D98D6EF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5/17/2023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7570B3"/>
                </a:solidFill>
              </a:rPr>
              <a:t>ENRICHMENT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C0FDA7B9-3B4F-45FE-C0CB-6CE489DF46B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2345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storical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A365613-9A6E-EC8F-CC4F-45C6843B5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5/17/2023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7570B3"/>
                </a:solidFill>
              </a:rPr>
              <a:t>HISTORICAL NOTE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FE9C956-B01C-9F5B-D06E-B224FA04F06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11021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EAM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9F6A893-6ACD-62D2-E506-31CE1C78B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5/17/2023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7570B3"/>
                </a:solidFill>
              </a:rPr>
              <a:t>STEAM+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D8CACC2A-8E2C-4654-1BEE-FF9B00C1EA1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75974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52B39E-570D-BB77-3EC2-68BF2DA34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5/17/2023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82711" y="6492875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C6993D"/>
                </a:solidFill>
              </a:rPr>
              <a:t>RESOURCE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7873EF2F-CB2D-FF0C-FE7E-4E5878DAD73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78480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221140A-902D-C446-8456-B18F8CA1510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833800" y="1609200"/>
            <a:ext cx="2520000" cy="3283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314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210F294E-2671-69F2-AD8E-91EF65CCF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5/17/2023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F720291-4918-3157-E8A0-2C33F0241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4E269C-57B9-5795-9B37-30D8685C0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12518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2754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5CB804-96AA-A5E1-7170-B54411166665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CE581-C706-43BB-9E93-1B4DA785C440}" type="datetime1">
              <a:rPr lang="en-US" smtClean="0"/>
              <a:t>5/17/2023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F58C60C-B777-2B7A-945B-E3C184807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2431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25" r:id="rId6"/>
    <p:sldLayoutId id="2147483726" r:id="rId7"/>
    <p:sldLayoutId id="2147483727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21" r:id="rId15"/>
    <p:sldLayoutId id="2147483722" r:id="rId16"/>
    <p:sldLayoutId id="2147483723" r:id="rId17"/>
    <p:sldLayoutId id="2147483724" r:id="rId18"/>
    <p:sldLayoutId id="2147483706" r:id="rId19"/>
    <p:sldLayoutId id="2147483707" r:id="rId20"/>
    <p:sldLayoutId id="2147483708" r:id="rId21"/>
    <p:sldLayoutId id="2147483709" r:id="rId22"/>
    <p:sldLayoutId id="2147483712" r:id="rId23"/>
    <p:sldLayoutId id="2147483714" r:id="rId24"/>
    <p:sldLayoutId id="2147483715" r:id="rId25"/>
    <p:sldLayoutId id="2147483716" r:id="rId26"/>
    <p:sldLayoutId id="2147483717" r:id="rId27"/>
    <p:sldLayoutId id="2147483718" r:id="rId28"/>
    <p:sldLayoutId id="2147483719" r:id="rId29"/>
    <p:sldLayoutId id="2147483720" r:id="rId30"/>
    <p:sldLayoutId id="2147483710" r:id="rId31"/>
    <p:sldLayoutId id="2147483711" r:id="rId3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none" baseline="0">
          <a:solidFill>
            <a:srgbClr val="606060"/>
          </a:solidFill>
          <a:latin typeface="Myriad Pro" panose="020B0503030403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None/>
        <a:defRPr sz="20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8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6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4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4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99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0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09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9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6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16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23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6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1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9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19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33.png"/><Relationship Id="rId4" Type="http://schemas.openxmlformats.org/officeDocument/2006/relationships/image" Target="../media/image132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16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6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16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6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16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2.png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16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16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16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16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16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16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16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6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16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16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16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16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16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16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16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16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16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6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19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19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Chapter 3</a:t>
            </a:r>
            <a:br>
              <a:rPr lang="en-GB" dirty="0"/>
            </a:br>
            <a:r>
              <a:rPr lang="en-GB" dirty="0"/>
              <a:t>SQL Operations on Multiple Tables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735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Joining Tables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3.1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We are going to learn how to </a:t>
            </a:r>
            <a:r>
              <a:rPr lang="en-US" dirty="0" err="1"/>
              <a:t>summarise</a:t>
            </a:r>
            <a:r>
              <a:rPr lang="en-US" dirty="0"/>
              <a:t> data from multiple tables in this chapter.</a:t>
            </a:r>
          </a:p>
        </p:txBody>
      </p:sp>
    </p:spTree>
    <p:extLst>
      <p:ext uri="{BB962C8B-B14F-4D97-AF65-F5344CB8AC3E}">
        <p14:creationId xmlns:p14="http://schemas.microsoft.com/office/powerpoint/2010/main" val="3307362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Finish Activity 3.1 on P. 104 of your textbook.</a:t>
            </a:r>
          </a:p>
          <a:p>
            <a:endParaRPr lang="en-US" dirty="0"/>
          </a:p>
          <a:p>
            <a:r>
              <a:rPr lang="en-US" dirty="0" smtClean="0">
                <a:solidFill>
                  <a:srgbClr val="FF0000"/>
                </a:solidFill>
              </a:rPr>
              <a:t>Case 1:  4</a:t>
            </a:r>
          </a:p>
          <a:p>
            <a:pPr marL="457200" indent="-457200">
              <a:buAutoNum type="arabicPeriod"/>
            </a:pP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Case 2: We cannot. As SID is the primary key and thus it cannot be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Case 3. We cannot. As the data is lost after the deletion.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117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smtClean="0">
                <a:solidFill>
                  <a:srgbClr val="FF0000"/>
                </a:solidFill>
              </a:rPr>
              <a:t>Case 1: 1</a:t>
            </a:r>
          </a:p>
          <a:p>
            <a:pPr marL="457200" indent="-457200">
              <a:buAutoNum type="arabicPeriod"/>
            </a:pP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Case 2: In table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CLUB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Case 3</a:t>
            </a:r>
            <a:r>
              <a:rPr lang="en-US" dirty="0">
                <a:solidFill>
                  <a:srgbClr val="FF0000"/>
                </a:solidFill>
              </a:rPr>
              <a:t>:</a:t>
            </a:r>
            <a:r>
              <a:rPr lang="en-US" dirty="0" smtClean="0">
                <a:solidFill>
                  <a:srgbClr val="FF0000"/>
                </a:solidFill>
              </a:rPr>
              <a:t> In table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CLUB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430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of the above is the better practice? Why? </a:t>
            </a:r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The </a:t>
            </a:r>
            <a:r>
              <a:rPr lang="en-US" dirty="0">
                <a:solidFill>
                  <a:srgbClr val="FF0000"/>
                </a:solidFill>
              </a:rPr>
              <a:t>latter. It requires fewer updates, allows data to be inserted without dependency and does not lose data due to the deletion of related data. 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r>
              <a:rPr lang="en-US" dirty="0" smtClean="0"/>
              <a:t>Assume </a:t>
            </a:r>
            <a:r>
              <a:rPr lang="en-US" dirty="0"/>
              <a:t>that each student is allowed to join more than one club. Should we store data as below if Clem joins three clubs at the same time? Why? </a:t>
            </a:r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No</a:t>
            </a:r>
            <a:r>
              <a:rPr lang="en-US" dirty="0">
                <a:solidFill>
                  <a:srgbClr val="FF0000"/>
                </a:solidFill>
              </a:rPr>
              <a:t>. If the data of Clem needs update, we will have to update three records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endParaRPr lang="en-US" dirty="0"/>
          </a:p>
          <a:p>
            <a:r>
              <a:rPr lang="en-US" dirty="0"/>
              <a:t>What is the advantage of using this new structure over the previous one? </a:t>
            </a:r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A </a:t>
            </a:r>
            <a:r>
              <a:rPr lang="en-US" dirty="0">
                <a:solidFill>
                  <a:srgbClr val="FF0000"/>
                </a:solidFill>
              </a:rPr>
              <a:t>student may join as many clubs as they want without adding duplicated data to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944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Joining Tables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3.1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Storing data in multiple tables linked with foreign keys allows us to maintain data consistency easier and save data storage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Take these two tables as an example.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00" y="3574472"/>
            <a:ext cx="4691658" cy="255678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789" y="4057986"/>
            <a:ext cx="4625466" cy="158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427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INNER JOIN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result of INNER JOIN includes only the records with matching values in both tables. It can be simplified as JOIN.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789" y="2535382"/>
            <a:ext cx="8091014" cy="361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67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INNER JOIN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800" y="1495479"/>
            <a:ext cx="8756113" cy="4907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808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LEFT JOIN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result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LEFT JOIN</a:t>
            </a:r>
            <a:r>
              <a:rPr lang="en-US" dirty="0"/>
              <a:t> includes </a:t>
            </a:r>
            <a:r>
              <a:rPr lang="en-US" dirty="0">
                <a:solidFill>
                  <a:srgbClr val="38A1D3"/>
                </a:solidFill>
              </a:rPr>
              <a:t>all records in the left table</a:t>
            </a:r>
            <a:r>
              <a:rPr lang="en-US" dirty="0"/>
              <a:t> and </a:t>
            </a:r>
            <a:r>
              <a:rPr lang="en-US" dirty="0">
                <a:solidFill>
                  <a:srgbClr val="756FB3"/>
                </a:solidFill>
              </a:rPr>
              <a:t>the records with matching values in both tables</a:t>
            </a:r>
            <a:r>
              <a:rPr lang="en-US" dirty="0"/>
              <a:t>. It can be written as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LEFT OUTER JOIN</a:t>
            </a:r>
            <a:r>
              <a:rPr lang="en-US" dirty="0" smtClean="0"/>
              <a:t>.</a:t>
            </a:r>
          </a:p>
          <a:p>
            <a:r>
              <a:rPr lang="en-US" dirty="0"/>
              <a:t>To know each student belongs to which club, we may use the following SQL statement.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025" y="3154148"/>
            <a:ext cx="6434164" cy="3027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808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JOIN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437" y="1474753"/>
            <a:ext cx="8299709" cy="4948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149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LEFT JOIN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Though </a:t>
            </a:r>
            <a:r>
              <a:rPr lang="en-US" dirty="0"/>
              <a:t>the student Ben does not belong to any club, his record is still included in the result as </a:t>
            </a:r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/>
              <a:t> is the </a:t>
            </a:r>
            <a:r>
              <a:rPr lang="en-US" dirty="0">
                <a:solidFill>
                  <a:srgbClr val="38A1D3"/>
                </a:solidFill>
              </a:rPr>
              <a:t>left</a:t>
            </a:r>
            <a:r>
              <a:rPr lang="en-US" dirty="0"/>
              <a:t> table and we are using </a:t>
            </a:r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LEFT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JOIN</a:t>
            </a:r>
            <a:r>
              <a:rPr lang="en-US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931" y="2869200"/>
            <a:ext cx="9628324" cy="247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79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LEFT JOIN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following SQL statement lists </a:t>
            </a:r>
            <a:r>
              <a:rPr lang="en-US" dirty="0">
                <a:solidFill>
                  <a:srgbClr val="38A1D3"/>
                </a:solidFill>
              </a:rPr>
              <a:t>the student identity code</a:t>
            </a:r>
            <a:r>
              <a:rPr lang="en-US" dirty="0"/>
              <a:t>, </a:t>
            </a:r>
            <a:r>
              <a:rPr lang="en-US" dirty="0">
                <a:solidFill>
                  <a:srgbClr val="38A1D3"/>
                </a:solidFill>
              </a:rPr>
              <a:t>the student name</a:t>
            </a:r>
            <a:r>
              <a:rPr lang="en-US" dirty="0"/>
              <a:t>, </a:t>
            </a:r>
            <a:r>
              <a:rPr lang="en-US" dirty="0">
                <a:solidFill>
                  <a:srgbClr val="38A1D3"/>
                </a:solidFill>
              </a:rPr>
              <a:t>class</a:t>
            </a:r>
            <a:r>
              <a:rPr lang="en-US" dirty="0"/>
              <a:t>, </a:t>
            </a:r>
            <a:r>
              <a:rPr lang="en-US" dirty="0">
                <a:solidFill>
                  <a:srgbClr val="D83A75"/>
                </a:solidFill>
              </a:rPr>
              <a:t>the club name</a:t>
            </a:r>
            <a:r>
              <a:rPr lang="en-US" dirty="0"/>
              <a:t> and </a:t>
            </a:r>
            <a:r>
              <a:rPr lang="en-US" dirty="0">
                <a:solidFill>
                  <a:srgbClr val="D83A75"/>
                </a:solidFill>
              </a:rPr>
              <a:t>the club room </a:t>
            </a:r>
            <a:r>
              <a:rPr lang="en-US" dirty="0"/>
              <a:t>of every student who </a:t>
            </a:r>
            <a:r>
              <a:rPr lang="en-US" dirty="0">
                <a:solidFill>
                  <a:srgbClr val="92B981"/>
                </a:solidFill>
              </a:rPr>
              <a:t>gets at least 60 scores</a:t>
            </a:r>
            <a:r>
              <a:rPr lang="en-US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668" y="2744509"/>
            <a:ext cx="8144622" cy="11162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31" y="4223944"/>
            <a:ext cx="5626697" cy="1702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034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LEFT JOIN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We may shorten the SQL statement by giving </a:t>
            </a:r>
            <a:r>
              <a:rPr lang="en-US" dirty="0" smtClean="0"/>
              <a:t>each </a:t>
            </a:r>
            <a:r>
              <a:rPr lang="en-US" dirty="0"/>
              <a:t>table an alias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The alias </a:t>
            </a:r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dirty="0"/>
              <a:t> and </a:t>
            </a:r>
            <a:r>
              <a:rPr lang="en-US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dirty="0"/>
              <a:t> refer to the table </a:t>
            </a:r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/>
              <a:t> and </a:t>
            </a:r>
            <a:r>
              <a:rPr lang="en-US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CLUB</a:t>
            </a:r>
            <a:r>
              <a:rPr lang="en-US" dirty="0"/>
              <a:t> respectively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298" y="2593404"/>
            <a:ext cx="7934604" cy="124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171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LEFT JOIN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To avoid confusion, fields that share the same name may also be renamed by using aliases.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728" y="2586600"/>
            <a:ext cx="6883743" cy="327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351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LEFT JOIN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We may </a:t>
            </a:r>
            <a:r>
              <a:rPr lang="en-US" dirty="0" err="1"/>
              <a:t>summarise</a:t>
            </a:r>
            <a:r>
              <a:rPr lang="en-US" dirty="0"/>
              <a:t> data obtained by joining tables too.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following SQL statement lists the </a:t>
            </a:r>
            <a:r>
              <a:rPr lang="en-US" dirty="0">
                <a:solidFill>
                  <a:srgbClr val="D83A75"/>
                </a:solidFill>
              </a:rPr>
              <a:t>club names</a:t>
            </a:r>
            <a:r>
              <a:rPr lang="en-US" dirty="0"/>
              <a:t> and </a:t>
            </a:r>
            <a:r>
              <a:rPr lang="en-US" dirty="0">
                <a:solidFill>
                  <a:srgbClr val="38A1D3"/>
                </a:solidFill>
              </a:rPr>
              <a:t>the average scores of the students</a:t>
            </a:r>
            <a:r>
              <a:rPr lang="en-US" dirty="0"/>
              <a:t> </a:t>
            </a:r>
            <a:r>
              <a:rPr lang="en-US" dirty="0">
                <a:solidFill>
                  <a:srgbClr val="C79F4C"/>
                </a:solidFill>
              </a:rPr>
              <a:t>in each club</a:t>
            </a:r>
            <a:r>
              <a:rPr lang="en-US" dirty="0"/>
              <a:t>. </a:t>
            </a:r>
            <a:r>
              <a:rPr lang="en-US" dirty="0">
                <a:solidFill>
                  <a:srgbClr val="92B981"/>
                </a:solidFill>
              </a:rPr>
              <a:t>The student whose student identity code is 03506 is excluded</a:t>
            </a:r>
            <a:r>
              <a:rPr lang="en-US" dirty="0"/>
              <a:t>. </a:t>
            </a:r>
            <a:r>
              <a:rPr lang="en-US" dirty="0">
                <a:solidFill>
                  <a:srgbClr val="756FB3"/>
                </a:solidFill>
              </a:rPr>
              <a:t>Only clubs with more than 1 student are listed</a:t>
            </a:r>
            <a:r>
              <a:rPr lang="en-US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300" y="4185512"/>
            <a:ext cx="7316184" cy="142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456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RIGHT JOIN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result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RIGHT JOIN</a:t>
            </a:r>
            <a:r>
              <a:rPr lang="en-US" dirty="0"/>
              <a:t> includes all records in the right table and the records with matching values in both tables. It can be written as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RIGHT OUTER JOIN</a:t>
            </a:r>
            <a:r>
              <a:rPr lang="en-US" dirty="0" smtClean="0"/>
              <a:t>.</a:t>
            </a:r>
          </a:p>
          <a:p>
            <a:endParaRPr lang="en-US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111" y="2808253"/>
            <a:ext cx="7750717" cy="348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679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RIGHT JOIN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800" y="1634792"/>
            <a:ext cx="7981593" cy="475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8334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FULL JOIN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result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FULL JOIN</a:t>
            </a:r>
            <a:r>
              <a:rPr lang="en-US" dirty="0"/>
              <a:t> includes records from both </a:t>
            </a:r>
            <a:r>
              <a:rPr lang="en-US" dirty="0">
                <a:solidFill>
                  <a:srgbClr val="38A1D3"/>
                </a:solidFill>
              </a:rPr>
              <a:t>the left table</a:t>
            </a:r>
            <a:r>
              <a:rPr lang="en-US" dirty="0"/>
              <a:t> and </a:t>
            </a:r>
            <a:r>
              <a:rPr lang="en-US" dirty="0">
                <a:solidFill>
                  <a:srgbClr val="D83A75"/>
                </a:solidFill>
              </a:rPr>
              <a:t>the right table</a:t>
            </a:r>
            <a:r>
              <a:rPr lang="en-US" dirty="0"/>
              <a:t>. It can be written as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FULL OUTER JOIN</a:t>
            </a:r>
            <a:r>
              <a:rPr lang="en-US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418" y="2483996"/>
            <a:ext cx="7720364" cy="362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776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FULL JOIN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200" y="1432601"/>
            <a:ext cx="8045294" cy="503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81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The manager of a company uses three tables,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TEAM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DEPARTMENT</a:t>
            </a:r>
            <a:r>
              <a:rPr lang="en-US" dirty="0"/>
              <a:t> to manage the employees of the company.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854" y="2320599"/>
            <a:ext cx="8278292" cy="387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431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(a) Write </a:t>
            </a:r>
            <a:r>
              <a:rPr lang="en-US" dirty="0"/>
              <a:t>SQL statements to complete the following tasks.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(</a:t>
            </a:r>
            <a:r>
              <a:rPr lang="en-US" dirty="0" err="1" smtClean="0"/>
              <a:t>i</a:t>
            </a:r>
            <a:r>
              <a:rPr lang="en-US" dirty="0" smtClean="0"/>
              <a:t>) Assume </a:t>
            </a:r>
            <a:r>
              <a:rPr lang="en-US" dirty="0"/>
              <a:t>that every employee is part of a department. List the name of each employee with the name of their department. The result should not include departments that have no employee.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(</a:t>
            </a:r>
            <a:r>
              <a:rPr lang="en-US" dirty="0"/>
              <a:t>ii) Assume that some teams do not have a team leader assigned. List the name of each team with the name of its team leader (if any).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(</a:t>
            </a:r>
            <a:r>
              <a:rPr lang="en-US" dirty="0"/>
              <a:t>iii) Assume that every employee is part of a team. List the name of each employee with the name of their team. The result should include teams that has no employee assigned.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101" y="1343847"/>
            <a:ext cx="8764744" cy="113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190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(b) (</a:t>
            </a:r>
            <a:r>
              <a:rPr lang="en-US" dirty="0" err="1"/>
              <a:t>i</a:t>
            </a:r>
            <a:r>
              <a:rPr lang="en-US" dirty="0"/>
              <a:t>) One of the fields in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TEAM</a:t>
            </a:r>
            <a:r>
              <a:rPr lang="en-US" dirty="0"/>
              <a:t> may cause data inconsistency when there are new records added </a:t>
            </a:r>
          </a:p>
          <a:p>
            <a:r>
              <a:rPr lang="en-US" dirty="0"/>
              <a:t>into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r>
              <a:rPr lang="en-US" dirty="0"/>
              <a:t>. Which one is it?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n-US" dirty="0"/>
              <a:t>ii) The value to be stored in the field mentioned in (</a:t>
            </a:r>
            <a:r>
              <a:rPr lang="en-US" dirty="0" err="1"/>
              <a:t>i</a:t>
            </a:r>
            <a:r>
              <a:rPr lang="en-US" dirty="0"/>
              <a:t>) can be calculated using a function instead. </a:t>
            </a:r>
          </a:p>
          <a:p>
            <a:r>
              <a:rPr lang="en-US" dirty="0"/>
              <a:t>Write a SQL statement to retrieve this value using a function. Include the team names in the </a:t>
            </a:r>
            <a:r>
              <a:rPr lang="en-US" dirty="0" smtClean="0"/>
              <a:t>SQL </a:t>
            </a:r>
            <a:r>
              <a:rPr lang="en-US" dirty="0"/>
              <a:t>result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(</a:t>
            </a:r>
            <a:r>
              <a:rPr lang="en-US" dirty="0"/>
              <a:t>c) A manager wants to find every team's average salary, excluding those teams with an average </a:t>
            </a:r>
          </a:p>
          <a:p>
            <a:r>
              <a:rPr lang="en-US" dirty="0"/>
              <a:t>salary less than 20000. Should they use the following SQL statement?</a:t>
            </a:r>
          </a:p>
          <a:p>
            <a:r>
              <a:rPr lang="en-US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SELECT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TNAME, AVG(SALARY) FROM </a:t>
            </a:r>
            <a:r>
              <a:rPr lang="en-US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RIGHT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JOIN TEAM ON TEAMID = TEAM.ID</a:t>
            </a:r>
          </a:p>
          <a:p>
            <a:r>
              <a:rPr lang="en-US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SALARY &gt;= 20000 GROUP BY TEAM.ID</a:t>
            </a:r>
          </a:p>
          <a:p>
            <a:r>
              <a:rPr lang="en-US" dirty="0"/>
              <a:t>If not, write a correct SQL statement for them.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6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38A1D3"/>
                </a:solidFill>
              </a:rPr>
              <a:t>◣ Solution</a:t>
            </a:r>
          </a:p>
          <a:p>
            <a:r>
              <a:rPr lang="en-US" dirty="0"/>
              <a:t>(a) Note that there are multiple ways to yield the same result</a:t>
            </a:r>
            <a:r>
              <a:rPr lang="en-US" dirty="0" smtClean="0"/>
              <a:t>.</a:t>
            </a:r>
            <a:br>
              <a:rPr lang="en-US" dirty="0" smtClean="0"/>
            </a:br>
            <a:endParaRPr lang="en-US" dirty="0"/>
          </a:p>
          <a:p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ENAME, DNAME FROM EMPLOYEE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LEFT JOIN DEPARTMENT ON DEPID =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DEPARTMENT.ID</a:t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(ii)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TNAME, ENAME FROM TEAM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LEFT JOIN EMPLOYEE ON LEADID =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EMPLOYEE.ID</a:t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(iii)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ENAME, TNAME FROM TEAM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LEFT JOIN EMPLOYEE ON TEAM.ID = TEAMID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68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(b) (</a:t>
            </a:r>
            <a:r>
              <a:rPr lang="en-US" dirty="0" err="1"/>
              <a:t>i</a:t>
            </a:r>
            <a:r>
              <a:rPr lang="en-US" dirty="0"/>
              <a:t>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MEMNUM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  <a:p>
            <a:r>
              <a:rPr lang="en-US" dirty="0"/>
              <a:t>(ii)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TNAME, COUNT(ENAME) FROM EMPLOYEE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 RIGHT JOIN ON TEAMID = TEAM.ID GROUP BY TEAM.ID</a:t>
            </a:r>
          </a:p>
          <a:p>
            <a:r>
              <a:rPr lang="en-US" dirty="0"/>
              <a:t>(c) No</a:t>
            </a:r>
            <a:r>
              <a:rPr lang="en-US" dirty="0" smtClean="0"/>
              <a:t>.</a:t>
            </a:r>
            <a:br>
              <a:rPr lang="en-US" dirty="0" smtClean="0"/>
            </a:br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TNAME, AVG(SALARY) FROM EMPLOYEE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RIGHT JOIN TEAM ON TEAMID = TEAM.ID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GROUP BY TEAM.ID HAVING AVG(SALARY) &gt;= 20000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448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Finish Checkpoint 3.1 on P. 120 of your textbook.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(a)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 err="1" smtClean="0">
                <a:solidFill>
                  <a:srgbClr val="FF0000"/>
                </a:solidFill>
              </a:rPr>
              <a:t>i</a:t>
            </a:r>
            <a:r>
              <a:rPr lang="en-US" dirty="0" smtClean="0">
                <a:solidFill>
                  <a:srgbClr val="FF0000"/>
                </a:solidFill>
              </a:rPr>
              <a:t>) </a:t>
            </a:r>
            <a: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SHOP.NAME FROM SHOP </a:t>
            </a:r>
            <a: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INNER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 MANR ON SHOP.MID = MANR.MID </a:t>
            </a:r>
            <a: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WHERE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MANR.NAME = 'Ada</a:t>
            </a:r>
            <a: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ii)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PROD.NAME, LOCATION FROM PROD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LEFT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 SHOP ON PROD.SID = SHOP.SID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WHERE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PROD.NAME LIKE '%Pen' AND PRICE &lt;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11.5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iii)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SHOP.NAME, COUNT(PID)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SHOP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LEFT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 PROD ON SHOP.SID = PROD.SID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SHOP.SID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(iv)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SHOP.NAME, LOCATION, SUM(STOCK) FROM SHOP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LEFT JOIN PROD ON SHOP.SID = PROD.SID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WHERE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PRICE &gt; 25 GROUP BY SHOP.SID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600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(b) To find the highest product price for each product category in each shop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c) No. 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s.NAME, AVG(PRICE) FROM SHOP s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LEFT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 PROD p ON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s.SID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p.SID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PRICE &lt; 1000 GROUP BY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s.SID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153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joining methods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504D9E"/>
                </a:solidFill>
              </a:rPr>
              <a:t>Equi</a:t>
            </a:r>
            <a:r>
              <a:rPr lang="en-US" b="1" dirty="0">
                <a:solidFill>
                  <a:srgbClr val="504D9E"/>
                </a:solidFill>
              </a:rPr>
              <a:t>-join</a:t>
            </a:r>
            <a:r>
              <a:rPr lang="en-US" dirty="0"/>
              <a:t> is just another way to perform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INNER JOIN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Both SQL statements below yields the same result.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004" y="3330634"/>
            <a:ext cx="8951192" cy="234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439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joining methods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NATURAL JOIN</a:t>
            </a:r>
            <a:r>
              <a:rPr lang="en-US" dirty="0"/>
              <a:t> is also the same as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INNER JOIN</a:t>
            </a:r>
            <a:r>
              <a:rPr lang="en-US" dirty="0"/>
              <a:t>, except that it automatically </a:t>
            </a:r>
            <a:r>
              <a:rPr lang="en-US" dirty="0" smtClean="0"/>
              <a:t>joins </a:t>
            </a:r>
            <a:r>
              <a:rPr lang="en-US" dirty="0"/>
              <a:t>on fields that share the same name in both tables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These two tables below cannot be joined 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NATURAL JOIN</a:t>
            </a:r>
            <a:r>
              <a:rPr lang="en-US" dirty="0"/>
              <a:t>, as there are </a:t>
            </a:r>
            <a:r>
              <a:rPr lang="en-US" dirty="0" smtClean="0"/>
              <a:t>two </a:t>
            </a:r>
            <a:r>
              <a:rPr lang="en-US" dirty="0"/>
              <a:t>pair of fields that share the same name: </a:t>
            </a:r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dirty="0"/>
              <a:t> and </a:t>
            </a:r>
            <a:r>
              <a:rPr lang="en-US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CID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484" y="3842974"/>
            <a:ext cx="9628590" cy="254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83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joining methods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We may rename </a:t>
            </a:r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dirty="0"/>
              <a:t>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CLUB</a:t>
            </a:r>
            <a:r>
              <a:rPr lang="en-US" dirty="0"/>
              <a:t> to </a:t>
            </a:r>
            <a:r>
              <a:rPr lang="en-US" dirty="0">
                <a:solidFill>
                  <a:srgbClr val="C79F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CLUBNAME</a:t>
            </a:r>
            <a:r>
              <a:rPr lang="en-US" dirty="0"/>
              <a:t> and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NATURAL JOIN</a:t>
            </a:r>
            <a:r>
              <a:rPr lang="en-US" dirty="0"/>
              <a:t> to join both tables.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677" y="2512800"/>
            <a:ext cx="9744034" cy="256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78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joining methods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Both SQL statements below yields the same result.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203" y="2512800"/>
            <a:ext cx="8408194" cy="1549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603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joining methods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b="1" dirty="0">
                <a:solidFill>
                  <a:srgbClr val="504D9E"/>
                </a:solidFill>
              </a:rPr>
              <a:t>Self join</a:t>
            </a:r>
            <a:r>
              <a:rPr lang="en-US" dirty="0"/>
              <a:t> means joining a table to itself. To do so, we have to give a table two different aliases in a SQL statement, so that the DBMS treats </a:t>
            </a:r>
            <a:r>
              <a:rPr lang="en-US" dirty="0" smtClean="0"/>
              <a:t>it </a:t>
            </a:r>
            <a:r>
              <a:rPr lang="en-US" dirty="0"/>
              <a:t>as two different tables temporarily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See the following table: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00" y="3684276"/>
            <a:ext cx="4879044" cy="22553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915" y="3471622"/>
            <a:ext cx="4424326" cy="246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093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joining methods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To list every student with the names of their corresponding class monitors, we need to perform a self join on the table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050" y="2869200"/>
            <a:ext cx="5695509" cy="288117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1174" y="2998789"/>
            <a:ext cx="2358039" cy="2677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32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joining methods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A teacher wants to identify potential study partners with similar academic performance. </a:t>
            </a:r>
            <a:r>
              <a:rPr lang="en-US" dirty="0" smtClean="0"/>
              <a:t>They </a:t>
            </a:r>
            <a:r>
              <a:rPr lang="en-US" dirty="0"/>
              <a:t>may use the following SQL statement to select the names and scores of pairs of students from the table </a:t>
            </a:r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/>
              <a:t> where the difference between their test scores is less than 16: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714" y="3123632"/>
            <a:ext cx="5403220" cy="32356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187" y="2766365"/>
            <a:ext cx="2513147" cy="3691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240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joining methods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However, this SQL </a:t>
            </a:r>
            <a:r>
              <a:rPr lang="en-US" dirty="0" smtClean="0"/>
              <a:t>statement: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pairs </a:t>
            </a:r>
            <a:r>
              <a:rPr lang="en-US" dirty="0"/>
              <a:t>up a student with themselves, e.g. “Ada &amp; Ada”; 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returns </a:t>
            </a:r>
            <a:r>
              <a:rPr lang="en-US" dirty="0"/>
              <a:t>duplicated pairs, e.g. “Ben &amp; Clem” and “Clem &amp; Ben”.</a:t>
            </a:r>
          </a:p>
          <a:p>
            <a:r>
              <a:rPr lang="en-US" dirty="0"/>
              <a:t>To remove self-pairing and duplicated pairs, we may add the criterion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00" y="4099292"/>
            <a:ext cx="7690326" cy="117296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0282" y="3933142"/>
            <a:ext cx="2927280" cy="150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399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joining methods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Sometimes, we may need to join more than two tables. Take these three tables as an example.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85" y="2654448"/>
            <a:ext cx="5774771" cy="313952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056" y="2733789"/>
            <a:ext cx="4016337" cy="171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097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joining methods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192" y="1809426"/>
            <a:ext cx="6797706" cy="4479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942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joining methods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CROSS JOIN</a:t>
            </a:r>
            <a:r>
              <a:rPr lang="en-US" dirty="0"/>
              <a:t> does not need a foreign key to join on. It simply matches each row of the left table to each row of the right </a:t>
            </a:r>
            <a:r>
              <a:rPr lang="en-US" dirty="0" smtClean="0"/>
              <a:t>table. Take </a:t>
            </a:r>
            <a:r>
              <a:rPr lang="en-US" dirty="0"/>
              <a:t>the following tables as an example.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044" y="2869200"/>
            <a:ext cx="5296223" cy="335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369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joining methods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For its practical use, see the following example.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999" y="2753014"/>
            <a:ext cx="4819450" cy="138036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319" y="2580556"/>
            <a:ext cx="2723950" cy="15528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1000" y="4486401"/>
            <a:ext cx="4819450" cy="135324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3319" y="4296574"/>
            <a:ext cx="2723950" cy="158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82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joining methods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There are buyers who want to buy different numbers of apples and oranges, as well as sellers who sell apples and oranges at different prices.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800" y="3094695"/>
            <a:ext cx="8852839" cy="2615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515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joining methods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Assume that each buyer wants to buy fruits for the lowest cost. To find out from which seller a particular buyer should buy, we may use the following SQL statement.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360" y="2693974"/>
            <a:ext cx="8430480" cy="369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664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joining methods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Sort the result to find the desired seller for each buyer easily.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892" y="2267194"/>
            <a:ext cx="6452215" cy="4123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056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The manager of a company uses three tables,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TEAM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DEPARTMENT</a:t>
            </a:r>
            <a:r>
              <a:rPr lang="en-US" dirty="0"/>
              <a:t> to manage the employees of the company.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3.2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382" y="2305664"/>
            <a:ext cx="8041202" cy="19111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406077"/>
            <a:ext cx="8585171" cy="171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070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  <a:p>
            <a:r>
              <a:rPr lang="en-US" dirty="0" smtClean="0"/>
              <a:t>Assume </a:t>
            </a:r>
            <a:r>
              <a:rPr lang="en-US" dirty="0"/>
              <a:t>that every employee is part of a team and every team has at least one employee, while every </a:t>
            </a:r>
            <a:r>
              <a:rPr lang="en-US" dirty="0" smtClean="0"/>
              <a:t>team </a:t>
            </a:r>
            <a:r>
              <a:rPr lang="en-US" dirty="0"/>
              <a:t>is part of a department and every department has at least one team. Write SQL statements to </a:t>
            </a:r>
            <a:r>
              <a:rPr lang="en-US" dirty="0" smtClean="0"/>
              <a:t>complete </a:t>
            </a:r>
            <a:r>
              <a:rPr lang="en-US" dirty="0"/>
              <a:t>the following tasks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(a) List the name of each employee with the name of their department sorted by the </a:t>
            </a:r>
            <a:r>
              <a:rPr lang="en-US" dirty="0" smtClean="0"/>
              <a:t>department identity code in ascending order.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(</a:t>
            </a:r>
            <a:r>
              <a:rPr lang="en-US" dirty="0"/>
              <a:t>b) List the name of each department with the name and head count of its teams sorted by the team </a:t>
            </a:r>
            <a:r>
              <a:rPr lang="en-US" dirty="0" smtClean="0"/>
              <a:t>identity </a:t>
            </a:r>
            <a:r>
              <a:rPr lang="en-US" dirty="0"/>
              <a:t>code.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3.2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1" y="1359780"/>
            <a:ext cx="8313420" cy="113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92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(c) Assume that every team has a team leader. List the name of each employee with the name of their </a:t>
            </a:r>
            <a:r>
              <a:rPr lang="en-US" dirty="0" smtClean="0"/>
              <a:t>team </a:t>
            </a:r>
            <a:r>
              <a:rPr lang="en-US" dirty="0"/>
              <a:t>leader sorted by the employee identity code in ascending order. Give an alias, </a:t>
            </a:r>
            <a:r>
              <a:rPr lang="en-US" dirty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LNAME</a:t>
            </a:r>
            <a:r>
              <a:rPr lang="en-US" dirty="0"/>
              <a:t> to the </a:t>
            </a:r>
            <a:r>
              <a:rPr lang="en-US" dirty="0" smtClean="0"/>
              <a:t>column </a:t>
            </a:r>
            <a:r>
              <a:rPr lang="en-US" dirty="0"/>
              <a:t>of the team leader name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(d) List the department name and the sum of the salary of the employees in departments whose </a:t>
            </a:r>
            <a:r>
              <a:rPr lang="en-US" dirty="0" smtClean="0"/>
              <a:t>names </a:t>
            </a:r>
            <a:r>
              <a:rPr lang="en-US" dirty="0"/>
              <a:t>start with “IT” sorted by the sum of the salary in descending order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(e) List the department name, the sex and the average salary of the employees for each sex in each </a:t>
            </a:r>
            <a:r>
              <a:rPr lang="en-US" dirty="0" smtClean="0"/>
              <a:t>department </a:t>
            </a:r>
            <a:r>
              <a:rPr lang="en-US" dirty="0"/>
              <a:t>sorted by the department name and the sex in ascending order.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159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38A1D3"/>
                </a:solidFill>
              </a:rPr>
              <a:t>◣ Solution</a:t>
            </a:r>
          </a:p>
          <a:p>
            <a:r>
              <a:rPr lang="en-US" sz="1900" dirty="0" smtClean="0"/>
              <a:t>(a) </a:t>
            </a:r>
            <a:r>
              <a:rPr lang="en-US" sz="1900" dirty="0" smtClean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SELECT </a:t>
            </a:r>
            <a:r>
              <a:rPr lang="en-US" sz="1900" dirty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ENAME, DNAME FROM EMPLOYEE e, TEAM t, DEPARTMENT </a:t>
            </a:r>
            <a:r>
              <a:rPr lang="en-US" sz="1900" dirty="0" smtClean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d</a:t>
            </a:r>
            <a:br>
              <a:rPr lang="en-US" sz="1900" dirty="0" smtClean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</a:br>
            <a:r>
              <a:rPr lang="en-US" sz="1900" dirty="0" smtClean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	WHERE </a:t>
            </a:r>
            <a:r>
              <a:rPr lang="en-US" sz="1900" dirty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TEAMID = t.ID AND DEPID = d.ID ORDER BY </a:t>
            </a:r>
            <a:r>
              <a:rPr lang="en-US" sz="1900" dirty="0" smtClean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d.ID</a:t>
            </a:r>
          </a:p>
          <a:p>
            <a:endParaRPr lang="en-US" sz="1900" dirty="0">
              <a:latin typeface="Courier New" panose="02070309020205020404" pitchFamily="49" charset="0"/>
              <a:ea typeface="Noto Sans CJK TC Light" panose="020B0300000000000000" pitchFamily="34" charset="-128"/>
              <a:cs typeface="Courier New" panose="02070309020205020404" pitchFamily="49" charset="0"/>
            </a:endParaRPr>
          </a:p>
          <a:p>
            <a:r>
              <a:rPr lang="en-US" sz="1900" dirty="0"/>
              <a:t>(b) </a:t>
            </a:r>
            <a:r>
              <a:rPr lang="en-US" sz="1900" dirty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SELECT DNAME, TNAME, COUNT(*) FROM DEPARTMENT d, TEAM t, EMPLOYEE </a:t>
            </a:r>
            <a:r>
              <a:rPr lang="en-US" sz="1900" dirty="0" smtClean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e</a:t>
            </a:r>
            <a:br>
              <a:rPr lang="en-US" sz="1900" dirty="0" smtClean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</a:br>
            <a:r>
              <a:rPr lang="en-US" sz="1900" dirty="0" smtClean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	WHERE </a:t>
            </a:r>
            <a:r>
              <a:rPr lang="en-US" sz="1900" dirty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d.ID = DEPID AND TEAMID = t.ID GROUP BY t.ID ORDER BY </a:t>
            </a:r>
            <a:r>
              <a:rPr lang="en-US" sz="1900" dirty="0" smtClean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t.ID</a:t>
            </a:r>
          </a:p>
          <a:p>
            <a:endParaRPr lang="en-US" sz="1900" dirty="0">
              <a:latin typeface="Courier New" panose="02070309020205020404" pitchFamily="49" charset="0"/>
              <a:ea typeface="Noto Sans CJK TC Light" panose="020B0300000000000000" pitchFamily="34" charset="-128"/>
              <a:cs typeface="Courier New" panose="02070309020205020404" pitchFamily="49" charset="0"/>
            </a:endParaRPr>
          </a:p>
          <a:p>
            <a:r>
              <a:rPr lang="en-US" sz="1900" dirty="0"/>
              <a:t>(c) </a:t>
            </a:r>
            <a:r>
              <a:rPr lang="en-US" sz="1900" dirty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SELECT </a:t>
            </a:r>
            <a:r>
              <a:rPr lang="en-US" sz="1900" dirty="0" err="1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e.ENAME</a:t>
            </a:r>
            <a:r>
              <a:rPr lang="en-US" sz="1900" dirty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, </a:t>
            </a:r>
            <a:r>
              <a:rPr lang="en-US" sz="1900" dirty="0" err="1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l.ENAME</a:t>
            </a:r>
            <a:r>
              <a:rPr lang="en-US" sz="1900" dirty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 AS LNAME FROM EMPLOYEE e, TEAM t, EMPLOYEE </a:t>
            </a:r>
            <a:r>
              <a:rPr lang="en-US" sz="1900" dirty="0" smtClean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l</a:t>
            </a:r>
            <a:br>
              <a:rPr lang="en-US" sz="1900" dirty="0" smtClean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</a:br>
            <a:r>
              <a:rPr lang="en-US" sz="1900" dirty="0" smtClean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	WHERE </a:t>
            </a:r>
            <a:r>
              <a:rPr lang="en-US" sz="1900" dirty="0" err="1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e.TEAMID</a:t>
            </a:r>
            <a:r>
              <a:rPr lang="en-US" sz="1900" dirty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 = t.ID AND LEADID = l.ID ORDER BY e.ID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49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900" dirty="0"/>
              <a:t>(d) </a:t>
            </a:r>
            <a:r>
              <a:rPr lang="en-US" sz="1900" dirty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SELECT DNAME, SUM(SALARY) FROM DEPARTMENT d, TEAM t, EMPLOYEE </a:t>
            </a:r>
            <a:r>
              <a:rPr lang="en-US" sz="1900" dirty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e</a:t>
            </a:r>
            <a:br>
              <a:rPr lang="en-US" sz="1900" dirty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</a:br>
            <a:r>
              <a:rPr lang="en-US" sz="1900" dirty="0" smtClean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	WHERE </a:t>
            </a:r>
            <a:r>
              <a:rPr lang="en-US" sz="1900" dirty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d.ID = DEPID AND TEAMID = t.ID AND DNAME LIKE 'IT</a:t>
            </a:r>
            <a:r>
              <a:rPr lang="en-US" sz="1900" dirty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%‘</a:t>
            </a:r>
            <a:br>
              <a:rPr lang="en-US" sz="1900" dirty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</a:br>
            <a:r>
              <a:rPr lang="en-US" sz="1900" dirty="0" smtClean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	GROUP </a:t>
            </a:r>
            <a:r>
              <a:rPr lang="en-US" sz="1900" dirty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BY d.ID ORDER BY SUM(SALARY) </a:t>
            </a:r>
            <a:r>
              <a:rPr lang="en-US" sz="1900" dirty="0" smtClean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DESC</a:t>
            </a:r>
          </a:p>
          <a:p>
            <a:endParaRPr lang="en-US" sz="1900" dirty="0">
              <a:latin typeface="Courier New" panose="02070309020205020404" pitchFamily="49" charset="0"/>
              <a:ea typeface="Noto Sans CJK TC Light" panose="020B0300000000000000" pitchFamily="34" charset="-128"/>
              <a:cs typeface="Courier New" panose="02070309020205020404" pitchFamily="49" charset="0"/>
            </a:endParaRPr>
          </a:p>
          <a:p>
            <a:r>
              <a:rPr lang="en-US" sz="1900" dirty="0"/>
              <a:t>(e) </a:t>
            </a:r>
            <a:r>
              <a:rPr lang="en-US" sz="1900" dirty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SELECT DNAME, SEX, AVG(SALARY) FROM DEPARTMENT d, TEAM t, EMPLOYEE </a:t>
            </a:r>
            <a:r>
              <a:rPr lang="en-US" sz="1900" dirty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e</a:t>
            </a:r>
            <a:br>
              <a:rPr lang="en-US" sz="1900" dirty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</a:br>
            <a:r>
              <a:rPr lang="en-US" sz="1900" dirty="0" smtClean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	WHERE </a:t>
            </a:r>
            <a:r>
              <a:rPr lang="en-US" sz="1900" dirty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d.ID = DEPID AND TEAMID = </a:t>
            </a:r>
            <a:r>
              <a:rPr lang="en-US" sz="1900" dirty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t.ID</a:t>
            </a:r>
            <a:br>
              <a:rPr lang="en-US" sz="1900" dirty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</a:br>
            <a:r>
              <a:rPr lang="en-US" sz="1900" dirty="0" smtClean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	GROUP </a:t>
            </a:r>
            <a:r>
              <a:rPr lang="en-US" sz="1900" dirty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BY d.ID, SEX ORDER BY DNAME, SEX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099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Complete Checkpoint 3.2 on P. 133 of your textbook.</a:t>
            </a:r>
            <a:endParaRPr lang="en-US" dirty="0"/>
          </a:p>
          <a:p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a)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COUNT(PID) FROM PROD p, SHOP s, MANR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WHERE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p.SID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s.SID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 s.MID = m.MID AND SEX =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'F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endParaRPr lang="en-US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b)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MNAME, SUM(STOCK) FROM PROD p, SHOP s, MANR m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WHERE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p.SID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s.SID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 s.MID =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m.MID</a:t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GROUP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 m.MID ORDER BY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MNAME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(c)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DIST, AVG(PRICE) FROM PROD p, SHOP s, MANR m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WHERE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p.SID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s.SID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 s.MID = m.MID AND MNAME =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'Paul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GROUP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(d) 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SUM(PRICE) FROM PROD p, SHOP s, MANR m </a:t>
            </a:r>
            <a:r>
              <a:rPr lang="en-US" sz="18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18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WHERE </a:t>
            </a:r>
            <a:r>
              <a:rPr lang="en-US" sz="18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p.SID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s.SID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 s.MID = m.MID AND STOCK &gt; 100 AND SEX = 'M'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179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Subquery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3.2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To </a:t>
            </a:r>
            <a:r>
              <a:rPr lang="en-US" dirty="0"/>
              <a:t>find the name of the student who gets the highest score, a single function does not suffice. We need a query inside another query, which is called </a:t>
            </a:r>
            <a:r>
              <a:rPr lang="en-US" b="1" dirty="0">
                <a:solidFill>
                  <a:srgbClr val="504D9E"/>
                </a:solidFill>
              </a:rPr>
              <a:t>subquery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145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Subquery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3.2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Take this table as an example.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402" y="2249284"/>
            <a:ext cx="6545285" cy="3061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159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Subquery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3.2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To find the highest score, we may use the following SQL statement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  <a:p>
            <a:r>
              <a:rPr lang="en-US" dirty="0"/>
              <a:t>Substitute </a:t>
            </a:r>
            <a:r>
              <a:rPr lang="en-US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MAX(SCORE) FROM STUDENT</a:t>
            </a:r>
            <a:r>
              <a:rPr lang="en-US" dirty="0"/>
              <a:t> for </a:t>
            </a:r>
            <a:r>
              <a:rPr lang="en-US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89</a:t>
            </a:r>
            <a:r>
              <a:rPr lang="en-US" dirty="0"/>
              <a:t> and enclose it with parentheses. We have: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8498" y="2284577"/>
            <a:ext cx="3557044" cy="146377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245" y="4879529"/>
            <a:ext cx="8515735" cy="133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822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dirty="0"/>
              <a:t> is a logical operator which checks for the existence of certain values in other tables. Take the three tables below as an example.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016" y="2663925"/>
            <a:ext cx="5944430" cy="311511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0083" y="2610585"/>
            <a:ext cx="4505954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061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following SQL statement finds the names of the students who have joined at least one club and have a score above 70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following SQL statement finds the same result with subquery instead of joining tables.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800" y="4799729"/>
            <a:ext cx="9802593" cy="33342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303" y="2869200"/>
            <a:ext cx="10117562" cy="30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248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On the other hand, we may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NOT IN</a:t>
            </a:r>
            <a:r>
              <a:rPr lang="en-US" dirty="0"/>
              <a:t> to check for the absence of certain values in other tables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The following SQL statement finds the names of the students who have not joined any club.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b="2566"/>
          <a:stretch/>
        </p:blipFill>
        <p:spPr>
          <a:xfrm>
            <a:off x="1632325" y="3290032"/>
            <a:ext cx="8928549" cy="3101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94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Here is another example of using subquery instead of joining tables.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800" y="2683436"/>
            <a:ext cx="8316486" cy="3715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4017" y="3531894"/>
            <a:ext cx="1252503" cy="849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55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Subquery may help us insert, update and delete data too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Here is a table named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STUDENT2</a:t>
            </a:r>
            <a:r>
              <a:rPr lang="en-US" dirty="0" smtClean="0"/>
              <a:t>, </a:t>
            </a:r>
            <a:r>
              <a:rPr lang="en-US" dirty="0"/>
              <a:t>storing the data of the new students.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237" y="3274484"/>
            <a:ext cx="4195504" cy="13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123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To insert the data of these students into the table STUDENT, we may use the following SQL statement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INSERT INTO </a:t>
            </a:r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(SELECT ID, NAME, SEX, CLASS, 0 FROM STUDENT2)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492" y="4056606"/>
            <a:ext cx="3877216" cy="1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845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following statement updates their score to </a:t>
            </a:r>
            <a:r>
              <a:rPr lang="en-US" dirty="0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UPDATE </a:t>
            </a:r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SET SCORE = </a:t>
            </a:r>
            <a:r>
              <a:rPr lang="en-US" dirty="0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SID IN </a:t>
            </a:r>
            <a:r>
              <a:rPr lang="en-US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(SELECT ID FROM STUDENT2)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702" y="4172818"/>
            <a:ext cx="3905795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165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To delete the data of these students from the table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/>
              <a:t>, we may use the following SQL </a:t>
            </a:r>
            <a:r>
              <a:rPr lang="en-US" dirty="0" smtClean="0"/>
              <a:t>statement.</a:t>
            </a:r>
            <a:br>
              <a:rPr lang="en-US" dirty="0" smtClean="0"/>
            </a:br>
            <a:endParaRPr lang="en-US" dirty="0"/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DELETE FROM </a:t>
            </a:r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WHERE SID IN </a:t>
            </a:r>
            <a:r>
              <a:rPr lang="en-US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(SELECT ID FROM STUDENT2)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969" y="3949200"/>
            <a:ext cx="5446851" cy="163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066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EXISTS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EXISTS</a:t>
            </a:r>
            <a:r>
              <a:rPr lang="en-US" dirty="0"/>
              <a:t> is a logical operator which checks for the existence of the result of a </a:t>
            </a:r>
            <a:r>
              <a:rPr lang="en-US" dirty="0" smtClean="0"/>
              <a:t>subquery. </a:t>
            </a:r>
            <a:br>
              <a:rPr lang="en-US" dirty="0" smtClean="0"/>
            </a:br>
            <a:r>
              <a:rPr lang="en-US" dirty="0" smtClean="0"/>
              <a:t>Functionally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EXISTS</a:t>
            </a:r>
            <a:r>
              <a:rPr lang="en-US" dirty="0"/>
              <a:t> is similar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dirty="0"/>
              <a:t>.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dirty="0"/>
              <a:t>Here is a table named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STUDENT2</a:t>
            </a:r>
            <a:r>
              <a:rPr lang="en-US" dirty="0" smtClean="0"/>
              <a:t>, </a:t>
            </a:r>
            <a:r>
              <a:rPr lang="en-US" dirty="0"/>
              <a:t>storing the data of the new students.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757" y="3884198"/>
            <a:ext cx="3801005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509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EXISTS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following SQL statement finds the names and the scores of the students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/>
              <a:t> who have the same score as any of the students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STUDENT2</a:t>
            </a:r>
            <a:r>
              <a:rPr lang="en-US" dirty="0" smtClean="0"/>
              <a:t>.</a:t>
            </a:r>
            <a:br>
              <a:rPr lang="en-US" dirty="0" smtClean="0"/>
            </a:br>
            <a:endParaRPr lang="en-US" dirty="0" smtClean="0"/>
          </a:p>
          <a:p>
            <a:pPr lvl="2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000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FROM </a:t>
            </a:r>
            <a:r>
              <a:rPr lang="en-US" sz="2000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 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WHERE EXISTS 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(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SELECT 1 FROM </a:t>
            </a:r>
            <a:r>
              <a:rPr lang="en-US" sz="2000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STUDENT2 s2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WHERE </a:t>
            </a:r>
            <a:r>
              <a:rPr lang="en-US" sz="2000" dirty="0" err="1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s.SCORE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s2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/>
            <a:endParaRPr lang="en-US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The whole SQL statement can be rewritten 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dirty="0"/>
              <a:t> as below: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 lvl="2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000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FROM </a:t>
            </a:r>
            <a:r>
              <a:rPr lang="en-US" sz="2000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 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WHERE </a:t>
            </a:r>
            <a:r>
              <a:rPr lang="en-US" sz="2000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(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000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FROM </a:t>
            </a:r>
            <a:r>
              <a:rPr lang="en-US" sz="2000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STUDENT2 s2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07335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EXISTS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On the other hand, we may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NOT EXISTS</a:t>
            </a:r>
            <a:r>
              <a:rPr lang="en-US" dirty="0"/>
              <a:t> to check for the absence of the result of a subquery</a:t>
            </a:r>
            <a:r>
              <a:rPr lang="en-US" dirty="0" smtClean="0"/>
              <a:t>.</a:t>
            </a:r>
            <a:br>
              <a:rPr lang="en-US" dirty="0" smtClean="0"/>
            </a:br>
            <a:endParaRPr lang="en-US" dirty="0" smtClean="0"/>
          </a:p>
          <a:p>
            <a:pPr lvl="2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000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FROM </a:t>
            </a:r>
            <a:r>
              <a:rPr lang="en-US" sz="2000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 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WHERE NOT EXISTS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(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SELECT 1 FROM </a:t>
            </a:r>
            <a:r>
              <a:rPr lang="en-US" sz="2000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STUDENT2 s2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WHERE </a:t>
            </a:r>
            <a:r>
              <a:rPr lang="en-US" sz="2000" dirty="0" err="1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s.SCORE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s2.SCORE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56765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ANY</a:t>
            </a:r>
            <a:r>
              <a:rPr lang="en-US" dirty="0"/>
              <a:t> is a logical operator which compares a single values with </a:t>
            </a:r>
            <a:r>
              <a:rPr lang="en-US" dirty="0">
                <a:solidFill>
                  <a:srgbClr val="92B981"/>
                </a:solidFill>
              </a:rPr>
              <a:t>any</a:t>
            </a:r>
            <a:r>
              <a:rPr lang="en-US" dirty="0"/>
              <a:t> of the values in a list. It can be written as </a:t>
            </a:r>
            <a:r>
              <a:rPr lang="en-US" dirty="0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SOME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Here is a table named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STUDENT2</a:t>
            </a:r>
            <a:r>
              <a:rPr lang="en-US" dirty="0"/>
              <a:t>, storing the data of the new students.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095" y="3754652"/>
            <a:ext cx="3867690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435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following SQL statement finds the names of the students who is in the same class as any of the new students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lvl="2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000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FROM STUDENT 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WHERE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CLASS = </a:t>
            </a:r>
            <a:r>
              <a:rPr lang="en-US" sz="2000" dirty="0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(SELECT CLASS FROM STUDENT2)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5018" y="2785380"/>
            <a:ext cx="1810003" cy="43821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768" y="4606239"/>
            <a:ext cx="4067743" cy="72400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2270" y="4178478"/>
            <a:ext cx="1219370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51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dirty="0"/>
              <a:t> cannot be rewritten as </a:t>
            </a:r>
            <a:r>
              <a:rPr lang="en-US" dirty="0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ANY</a:t>
            </a:r>
            <a:r>
              <a:rPr lang="en-US" dirty="0"/>
              <a:t> since </a:t>
            </a:r>
            <a:r>
              <a:rPr lang="en-US" dirty="0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dirty="0"/>
              <a:t> can be followed by a list of values while </a:t>
            </a:r>
            <a:r>
              <a:rPr lang="en-US" dirty="0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ANY</a:t>
            </a:r>
            <a:r>
              <a:rPr lang="en-US" dirty="0"/>
              <a:t> must be followed by a subquery.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150" y="3253093"/>
            <a:ext cx="5597552" cy="144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655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ANY</a:t>
            </a:r>
            <a:r>
              <a:rPr lang="en-US" dirty="0"/>
              <a:t> can also be placed after comparison operators other than </a:t>
            </a:r>
            <a:r>
              <a:rPr lang="en-US" dirty="0" smtClean="0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The following SQL statement finds the names and the scores of the students who get a score higher than </a:t>
            </a:r>
            <a:r>
              <a:rPr lang="en-US" dirty="0">
                <a:solidFill>
                  <a:srgbClr val="92B981"/>
                </a:solidFill>
              </a:rPr>
              <a:t>some</a:t>
            </a:r>
            <a:r>
              <a:rPr lang="en-US" dirty="0"/>
              <a:t> of the new students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lvl="2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000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NAME, SCORE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FROM STUDENT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WHERE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SCORE </a:t>
            </a:r>
            <a:r>
              <a:rPr lang="en-US" sz="2000" dirty="0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ANY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(SELECT SCORE FROM STUDENT2)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512" y="3949200"/>
            <a:ext cx="1572496" cy="38008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0350" y="5381106"/>
            <a:ext cx="5123379" cy="71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514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>
                <a:solidFill>
                  <a:srgbClr val="C79F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ALL</a:t>
            </a:r>
            <a:r>
              <a:rPr lang="en-US" dirty="0"/>
              <a:t> is a logical operator which compares a single values </a:t>
            </a:r>
            <a:r>
              <a:rPr lang="en-US" dirty="0" smtClean="0"/>
              <a:t>with </a:t>
            </a:r>
            <a:r>
              <a:rPr lang="en-US" dirty="0">
                <a:solidFill>
                  <a:srgbClr val="C79F4C"/>
                </a:solidFill>
              </a:rPr>
              <a:t>all</a:t>
            </a:r>
            <a:r>
              <a:rPr lang="en-US" dirty="0"/>
              <a:t> of the values in a list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Here is a table named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STUDENT2</a:t>
            </a:r>
            <a:r>
              <a:rPr lang="en-US" dirty="0"/>
              <a:t>, storing the data of the new students.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199" y="3539760"/>
            <a:ext cx="4560961" cy="166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310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following SQL statement finds the names of the students who is not in the same class as </a:t>
            </a:r>
            <a:r>
              <a:rPr lang="en-US" dirty="0">
                <a:solidFill>
                  <a:srgbClr val="C79F4C"/>
                </a:solidFill>
              </a:rPr>
              <a:t>all</a:t>
            </a:r>
            <a:r>
              <a:rPr lang="en-US" dirty="0"/>
              <a:t> of the new students</a:t>
            </a:r>
            <a:r>
              <a:rPr lang="en-US" dirty="0" smtClean="0"/>
              <a:t>.</a:t>
            </a:r>
            <a:br>
              <a:rPr lang="en-US" dirty="0" smtClean="0"/>
            </a:br>
            <a:endParaRPr lang="en-US" dirty="0"/>
          </a:p>
          <a:p>
            <a:pPr lvl="2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000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FROM STUDENT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WHERE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2000" dirty="0">
                <a:solidFill>
                  <a:srgbClr val="C79F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&lt;&gt; ALL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smtClean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CLASS FROM STUDENT2)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35" y="3714333"/>
            <a:ext cx="1950823" cy="36184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240" y="5108792"/>
            <a:ext cx="4632360" cy="64693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5342" y="4662879"/>
            <a:ext cx="1339275" cy="130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017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>
                <a:solidFill>
                  <a:srgbClr val="C79F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ALL</a:t>
            </a:r>
            <a:r>
              <a:rPr lang="en-US" dirty="0"/>
              <a:t> can also be placed after comparison operators other than </a:t>
            </a:r>
            <a:r>
              <a:rPr lang="en-US" dirty="0">
                <a:solidFill>
                  <a:srgbClr val="C79F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&lt;&gt;</a:t>
            </a:r>
            <a:r>
              <a:rPr lang="en-US" dirty="0" smtClean="0"/>
              <a:t>.</a:t>
            </a:r>
            <a:br>
              <a:rPr lang="en-US" dirty="0" smtClean="0"/>
            </a:br>
            <a:endParaRPr lang="en-US" dirty="0"/>
          </a:p>
          <a:p>
            <a:r>
              <a:rPr lang="en-US" dirty="0"/>
              <a:t>The following SQL statement finds the names and the scores of the students who get a score higher than </a:t>
            </a:r>
            <a:r>
              <a:rPr lang="en-US" dirty="0">
                <a:solidFill>
                  <a:srgbClr val="C79F4C"/>
                </a:solidFill>
              </a:rPr>
              <a:t>all</a:t>
            </a:r>
            <a:r>
              <a:rPr lang="en-US" dirty="0"/>
              <a:t> new students</a:t>
            </a:r>
            <a:r>
              <a:rPr lang="en-US" dirty="0" smtClean="0"/>
              <a:t>.</a:t>
            </a:r>
            <a:br>
              <a:rPr lang="en-US" dirty="0" smtClean="0"/>
            </a:br>
            <a:endParaRPr lang="en-US" dirty="0"/>
          </a:p>
          <a:p>
            <a:pPr lvl="2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000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NAME, SCORE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FROM STUDENT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WHERE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SCORE </a:t>
            </a:r>
            <a:r>
              <a:rPr lang="en-US" sz="2000" dirty="0">
                <a:solidFill>
                  <a:srgbClr val="C79F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ALL </a:t>
            </a:r>
            <a:r>
              <a:rPr lang="en-US" sz="2000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(SELECT SCORE FROM STUDENT2)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260" y="5297310"/>
            <a:ext cx="4868580" cy="72058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175" y="4681556"/>
            <a:ext cx="1899425" cy="170948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655" y="3649518"/>
            <a:ext cx="1498406" cy="34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495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The manager of multiple cat hotels uses three tables,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BREED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HOTEL</a:t>
            </a:r>
            <a:r>
              <a:rPr lang="en-US" dirty="0"/>
              <a:t> to manage the cats resided in the hotels.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3.3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90" y="2251872"/>
            <a:ext cx="8322425" cy="396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377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Write </a:t>
            </a:r>
            <a:r>
              <a:rPr lang="en-US" dirty="0"/>
              <a:t>SQL statements to complete the following tasks</a:t>
            </a:r>
            <a:r>
              <a:rPr lang="en-US" dirty="0" smtClean="0"/>
              <a:t>.</a:t>
            </a:r>
            <a:br>
              <a:rPr lang="en-US" dirty="0" smtClean="0"/>
            </a:br>
            <a:endParaRPr lang="en-US" dirty="0"/>
          </a:p>
          <a:p>
            <a:r>
              <a:rPr lang="en-US" dirty="0"/>
              <a:t>(a) List the name of each cat breed that currently exists in the hotel named Alpha</a:t>
            </a:r>
            <a:r>
              <a:rPr lang="en-US" dirty="0" smtClean="0"/>
              <a:t>.</a:t>
            </a:r>
            <a:br>
              <a:rPr lang="en-US" dirty="0" smtClean="0"/>
            </a:br>
            <a:endParaRPr lang="en-US" dirty="0"/>
          </a:p>
          <a:p>
            <a:r>
              <a:rPr lang="en-US" dirty="0"/>
              <a:t>(b) List the name of each cat that resides in the hotel named Beta and weighs more than the global </a:t>
            </a:r>
            <a:r>
              <a:rPr lang="en-US" dirty="0" smtClean="0"/>
              <a:t>average </a:t>
            </a:r>
            <a:r>
              <a:rPr lang="en-US" dirty="0"/>
              <a:t>weight of its breed</a:t>
            </a:r>
            <a:r>
              <a:rPr lang="en-US" dirty="0" smtClean="0"/>
              <a:t>.</a:t>
            </a:r>
            <a:br>
              <a:rPr lang="en-US" dirty="0" smtClean="0"/>
            </a:br>
            <a:endParaRPr lang="en-US" dirty="0"/>
          </a:p>
          <a:p>
            <a:r>
              <a:rPr lang="en-US" dirty="0"/>
              <a:t>(c) List the name of each hotel with more cats than its capacity.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3.3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38458"/>
            <a:ext cx="8388927" cy="139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72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(d) List the name of each Ragdoll cats with an age larger than the average age of all Ragdoll </a:t>
            </a:r>
            <a:r>
              <a:rPr lang="en-US" dirty="0" smtClean="0"/>
              <a:t>cats across </a:t>
            </a:r>
            <a:r>
              <a:rPr lang="en-US" dirty="0"/>
              <a:t>all hotels</a:t>
            </a:r>
            <a:r>
              <a:rPr lang="en-US" dirty="0" smtClean="0"/>
              <a:t>.</a:t>
            </a:r>
            <a:br>
              <a:rPr lang="en-US" dirty="0" smtClean="0"/>
            </a:br>
            <a:endParaRPr lang="en-US" dirty="0"/>
          </a:p>
          <a:p>
            <a:r>
              <a:rPr lang="en-US" dirty="0"/>
              <a:t>(e) List the name of each hotel that do not have any Ragdoll cats resided in</a:t>
            </a:r>
            <a:r>
              <a:rPr lang="en-US" dirty="0" smtClean="0"/>
              <a:t>.</a:t>
            </a:r>
            <a:br>
              <a:rPr lang="en-US" dirty="0" smtClean="0"/>
            </a:br>
            <a:endParaRPr lang="en-US" dirty="0"/>
          </a:p>
          <a:p>
            <a:r>
              <a:rPr lang="en-US" dirty="0"/>
              <a:t>(f) What is the purpose of the following SQL statement</a:t>
            </a:r>
            <a:r>
              <a:rPr lang="en-US" dirty="0" smtClean="0"/>
              <a:t>?</a:t>
            </a:r>
            <a:br>
              <a:rPr lang="en-US" dirty="0" smtClean="0"/>
            </a:br>
            <a:endParaRPr lang="en-US" dirty="0"/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SELECT h.NAME, COUNT(DISTINCT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c.BID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FROM HOTEL h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LEFT JOIN CAT c ON h.ID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c.HID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GROUP BY h.ID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958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38A1D3"/>
                </a:solidFill>
              </a:rPr>
              <a:t>◣ Solution</a:t>
            </a:r>
          </a:p>
          <a:p>
            <a:r>
              <a:rPr lang="en-US" dirty="0"/>
              <a:t>(a)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FROM </a:t>
            </a:r>
            <a:r>
              <a:rPr lang="en-US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WHERE </a:t>
            </a:r>
            <a:r>
              <a:rPr lang="en-US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(SELECT </a:t>
            </a:r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FROM </a:t>
            </a:r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HOTEL 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WHERE </a:t>
            </a:r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h.ID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AND </a:t>
            </a:r>
            <a:r>
              <a:rPr lang="en-US" dirty="0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h.NAME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'Alpha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(b)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c.NAME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FROM </a:t>
            </a:r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 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BREED 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HOTEL </a:t>
            </a:r>
            <a:r>
              <a:rPr lang="en-US" dirty="0" smtClean="0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WHERE </a:t>
            </a:r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b.ID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AND </a:t>
            </a:r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h.ID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AND </a:t>
            </a:r>
            <a:r>
              <a:rPr lang="en-US" dirty="0" smtClean="0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h.NAME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'Beta'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AND </a:t>
            </a:r>
            <a:r>
              <a:rPr lang="en-US" dirty="0" err="1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c.WEIGHT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dirty="0" err="1" smtClean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b.WEIGHT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(c)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FROM </a:t>
            </a:r>
            <a:r>
              <a:rPr lang="en-US" dirty="0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HOTEL 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(SELECT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COUNT(</a:t>
            </a:r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c.ID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FROM </a:t>
            </a:r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 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WHERE </a:t>
            </a:r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h.ID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&gt; </a:t>
            </a:r>
            <a:r>
              <a:rPr lang="en-US" dirty="0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CAPACITY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867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(d)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c.NAME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FROM </a:t>
            </a:r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 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BREED </a:t>
            </a:r>
            <a:r>
              <a:rPr lang="en-US" dirty="0" smtClean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WHERE </a:t>
            </a:r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b.ID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AND </a:t>
            </a:r>
            <a:r>
              <a:rPr lang="en-US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b.NAME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'Ragdoll'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(SELECT AVG(</a:t>
            </a:r>
            <a:r>
              <a:rPr lang="en-US" dirty="0">
                <a:solidFill>
                  <a:srgbClr val="C79F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c2.AGE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FROM </a:t>
            </a:r>
            <a:r>
              <a:rPr lang="en-US" dirty="0">
                <a:solidFill>
                  <a:srgbClr val="C79F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 c2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WHERE </a:t>
            </a:r>
            <a:r>
              <a:rPr lang="en-US" dirty="0">
                <a:solidFill>
                  <a:srgbClr val="C79F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c2.BID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b.ID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 smtClean="0"/>
          </a:p>
          <a:p>
            <a:r>
              <a:rPr lang="en-US" dirty="0" smtClean="0"/>
              <a:t>(</a:t>
            </a:r>
            <a:r>
              <a:rPr lang="en-US" dirty="0"/>
              <a:t>e)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FROM </a:t>
            </a:r>
            <a:r>
              <a:rPr lang="en-US" dirty="0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HOTEL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WHERE </a:t>
            </a:r>
            <a:r>
              <a:rPr lang="en-US" dirty="0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NOT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(SELECT </a:t>
            </a:r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FROM </a:t>
            </a:r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BREED 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WHERE </a:t>
            </a:r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b.ID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AND </a:t>
            </a:r>
            <a:r>
              <a:rPr lang="en-US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b.NAME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 	'Ragdoll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endParaRPr lang="en-US" dirty="0" smtClean="0"/>
          </a:p>
          <a:p>
            <a:r>
              <a:rPr lang="en-US" dirty="0" smtClean="0"/>
              <a:t>(</a:t>
            </a:r>
            <a:r>
              <a:rPr lang="en-US" dirty="0"/>
              <a:t>f) It counts the number of breeds within each hotel.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585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Complete Checkpoint 3.3 on P. 156 of your textbook.</a:t>
            </a:r>
            <a:endParaRPr lang="en-US" dirty="0"/>
          </a:p>
          <a:p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a)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COUNT(ID) FROM PLAYER WHERE ID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(SELECT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OWNER FROM ARMY a, CLASS c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WHERE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CID = c.ID AND STR &gt; 90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b)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NAME FROM PLAYER WHERE ID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(SELECT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OWNER FROM ARMY a, CLASS c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WHERE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CID = c.ID AND HP = MAXHP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c)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NAME FROM PLAYER WHERE GOLD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(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SUM(COST) FROM CLASS WHERE NAME LIKE '%mage')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ORDER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 ID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260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(d)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NAME, COUNT(a.ID) FROM PLAYER p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LEFT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 ARMY a ON OWNER = p.ID WHERE LEVEL &gt;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(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AVG(LEVEL) FROM PLAYER)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GROUP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 p.ID ORDER BY LEVEL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</a:t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FF0000"/>
                </a:solidFill>
              </a:rPr>
              <a:t>(e)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p1.NAME, p1.LEVEL, p2.NAME, p2.LEVEL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FROM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PLAYER p1, PLAYER p2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WHERE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ABS(p1.LEVEL - p2.LEVEL) &lt;= 5 AND p1.ID &lt;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p2.ID</a:t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FF0000"/>
                </a:solidFill>
              </a:rPr>
              <a:t>(f) It lists the name of each player who has no army. </a:t>
            </a:r>
            <a:r>
              <a:rPr lang="en-US" dirty="0" smtClean="0">
                <a:solidFill>
                  <a:srgbClr val="FF0000"/>
                </a:solidFill>
              </a:rPr>
              <a:t/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smtClean="0">
                <a:solidFill>
                  <a:srgbClr val="FF0000"/>
                </a:solidFill>
              </a:rPr>
              <a:t>	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FROM PLAYER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WHERE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 NOT IN (SELECT OWNER FROM ARMY)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529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Combining Results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3.3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Sometimes we want to combine the results from two queries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For example, we have two tables storing the data of students: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STUDENT2</a:t>
            </a:r>
            <a:r>
              <a:rPr lang="en-US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339" y="3406887"/>
            <a:ext cx="8937141" cy="251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941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If we want to show the identity codes of students from both tables at the same time, we may use the set operator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UNION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The following SQL statement lists the identity codes of students from both tables. </a:t>
            </a:r>
            <a:r>
              <a:rPr lang="en-US" dirty="0">
                <a:solidFill>
                  <a:srgbClr val="756FB3"/>
                </a:solidFill>
              </a:rPr>
              <a:t>Duplicated rows are removed, as if </a:t>
            </a:r>
            <a:r>
              <a:rPr lang="en-US" dirty="0">
                <a:solidFill>
                  <a:srgbClr val="756FB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DISTINCT</a:t>
            </a:r>
            <a:r>
              <a:rPr lang="en-US" dirty="0">
                <a:solidFill>
                  <a:srgbClr val="756FB3"/>
                </a:solidFill>
              </a:rPr>
              <a:t> is used.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20" y="4532623"/>
            <a:ext cx="8060097" cy="81769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8192" y="3765250"/>
            <a:ext cx="905856" cy="25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068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Note that only rows with completely identical data will be removed. Thus, if we also select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dirty="0"/>
              <a:t> from the tables, both rows with identity codes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03517</a:t>
            </a:r>
            <a:r>
              <a:rPr lang="en-US" dirty="0"/>
              <a:t> will be shown</a:t>
            </a:r>
            <a:r>
              <a:rPr lang="en-US" dirty="0" smtClean="0"/>
              <a:t>.</a:t>
            </a:r>
          </a:p>
          <a:p>
            <a:endParaRPr lang="en-US" dirty="0" smtClean="0">
              <a:solidFill>
                <a:srgbClr val="756FB3"/>
              </a:solidFill>
            </a:endParaRPr>
          </a:p>
          <a:p>
            <a:endParaRPr lang="en-US" dirty="0">
              <a:solidFill>
                <a:srgbClr val="756FB3"/>
              </a:solidFill>
            </a:endParaRPr>
          </a:p>
          <a:p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SID, NAME FROM STUDENT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solidFill>
                  <a:srgbClr val="756FB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STUDENTID, NAME FROM STUDENT2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0474" y="2766280"/>
            <a:ext cx="1702266" cy="297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055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It does not matter if the field names from both results match, as long as the </a:t>
            </a:r>
            <a:r>
              <a:rPr lang="en-US" dirty="0" smtClean="0"/>
              <a:t>number </a:t>
            </a:r>
            <a:r>
              <a:rPr lang="en-US" dirty="0"/>
              <a:t>of fields in both results match, we can combine them using UNION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However, if both results store different kinds of data, the combined result </a:t>
            </a:r>
            <a:r>
              <a:rPr lang="en-US" dirty="0" smtClean="0"/>
              <a:t>may </a:t>
            </a:r>
            <a:r>
              <a:rPr lang="en-US" dirty="0"/>
              <a:t>not be meaningful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algn="ctr"/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DOB FROM STUDENT2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756FB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STUDENTID FROM STUDENT2</a:t>
            </a:r>
          </a:p>
        </p:txBody>
      </p:sp>
    </p:spTree>
    <p:extLst>
      <p:ext uri="{BB962C8B-B14F-4D97-AF65-F5344CB8AC3E}">
        <p14:creationId xmlns:p14="http://schemas.microsoft.com/office/powerpoint/2010/main" val="3377329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result can be filtered, sorted or </a:t>
            </a:r>
            <a:r>
              <a:rPr lang="en-US" dirty="0" err="1"/>
              <a:t>summarised</a:t>
            </a:r>
            <a:r>
              <a:rPr lang="en-US" dirty="0"/>
              <a:t> using keywords like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dirty="0"/>
              <a:t> just as usual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lvl="2"/>
            <a:r>
              <a:rPr lang="en-US" sz="2000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SID FROM STUDENT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756FB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STUDENTID FROM STUDENT2 WHERE CLASS = '3B'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342" y="3542664"/>
            <a:ext cx="1257475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07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If </a:t>
            </a:r>
            <a:r>
              <a:rPr lang="en-US" dirty="0"/>
              <a:t>we want to </a:t>
            </a:r>
            <a:r>
              <a:rPr lang="en-US" dirty="0" smtClean="0"/>
              <a:t>filter </a:t>
            </a:r>
            <a:r>
              <a:rPr lang="en-US" dirty="0"/>
              <a:t>the data of </a:t>
            </a:r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/>
              <a:t>, we have to add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dirty="0"/>
              <a:t> clause </a:t>
            </a:r>
            <a:r>
              <a:rPr lang="en-US" dirty="0" smtClean="0"/>
              <a:t>after </a:t>
            </a:r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SID FROM STUDENT</a:t>
            </a:r>
            <a:r>
              <a:rPr lang="en-US" dirty="0" smtClean="0"/>
              <a:t>.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An </a:t>
            </a:r>
            <a:r>
              <a:rPr lang="en-US" dirty="0">
                <a:solidFill>
                  <a:srgbClr val="756FB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 BY</a:t>
            </a:r>
            <a:r>
              <a:rPr lang="en-US" dirty="0"/>
              <a:t> clause, on the other hand, should be applied to the whole </a:t>
            </a:r>
            <a:r>
              <a:rPr lang="en-US" dirty="0" smtClean="0"/>
              <a:t>combined </a:t>
            </a:r>
            <a:r>
              <a:rPr lang="en-US" dirty="0"/>
              <a:t>result </a:t>
            </a:r>
            <a:r>
              <a:rPr lang="en-US" dirty="0" smtClean="0"/>
              <a:t>instead</a:t>
            </a:r>
            <a:r>
              <a:rPr lang="en-US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360" y="3848100"/>
            <a:ext cx="9205838" cy="234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040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Field names </a:t>
            </a:r>
            <a:r>
              <a:rPr lang="en-US" dirty="0"/>
              <a:t>from the second result (i.e. </a:t>
            </a:r>
            <a:r>
              <a:rPr lang="en-US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STUDENT2</a:t>
            </a:r>
            <a:r>
              <a:rPr lang="en-US" dirty="0"/>
              <a:t>) are not carried to the combined result, we should use the field names from the first result (i.e. </a:t>
            </a:r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/>
              <a:t>) in the </a:t>
            </a:r>
            <a:r>
              <a:rPr lang="en-US" dirty="0">
                <a:solidFill>
                  <a:srgbClr val="756FB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 BY</a:t>
            </a:r>
            <a:r>
              <a:rPr lang="en-US" dirty="0"/>
              <a:t> clause.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081" y="2968260"/>
            <a:ext cx="7324260" cy="268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217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UNION ALL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following SQL statement lists the identity codes of students from both tables. </a:t>
            </a:r>
            <a:r>
              <a:rPr lang="en-US" dirty="0">
                <a:solidFill>
                  <a:srgbClr val="756FB3"/>
                </a:solidFill>
              </a:rPr>
              <a:t>Duplicated rows are NOT removed.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00" y="3559382"/>
            <a:ext cx="8239940" cy="77963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1917" y="2316480"/>
            <a:ext cx="1513685" cy="378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235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INTERSECT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following SQL statement lists the identity codes of students which </a:t>
            </a:r>
            <a:r>
              <a:rPr lang="en-US" dirty="0">
                <a:solidFill>
                  <a:srgbClr val="756FB3"/>
                </a:solidFill>
              </a:rPr>
              <a:t>exist in both tables.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380" y="2837174"/>
            <a:ext cx="7375560" cy="7127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4726" y="2455335"/>
            <a:ext cx="1527018" cy="8277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4400" y="4219675"/>
            <a:ext cx="3514180" cy="206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656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EXCEPT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en-US" dirty="0"/>
              <a:t> returns the rows from the first table excluding those which also exist in the second table. Sometimes, it is written as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MINUS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The following SQL statement lists the identity codes of students which exist in </a:t>
            </a:r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/>
              <a:t> but not in </a:t>
            </a:r>
            <a:r>
              <a:rPr lang="en-US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STUDENT2</a:t>
            </a:r>
            <a:r>
              <a:rPr lang="en-US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00" y="4357610"/>
            <a:ext cx="7954365" cy="81637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047" y="3573780"/>
            <a:ext cx="1211473" cy="223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743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EXCEPT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We may also include more than one set operator in a SQL statement</a:t>
            </a:r>
            <a:r>
              <a:rPr lang="en-US" dirty="0" smtClean="0"/>
              <a:t>.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SID FROM S1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756FB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INTERSECT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SID FROM S2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C79F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INTERSECT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SID FROM S3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414" y="2498646"/>
            <a:ext cx="2801481" cy="256098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994" y="3933960"/>
            <a:ext cx="2831226" cy="254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08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A sports meeting is coming up. There are two sport events, a football game and a relay race. The </a:t>
            </a:r>
            <a:r>
              <a:rPr lang="en-US" dirty="0" err="1"/>
              <a:t>organiser</a:t>
            </a:r>
            <a:r>
              <a:rPr lang="en-US" dirty="0"/>
              <a:t> of this meeting uses three tables,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PARTICIPANT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FOOTBALL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RELAYRACE</a:t>
            </a:r>
            <a:r>
              <a:rPr lang="en-US" dirty="0"/>
              <a:t> to manage the data of the contestants in two sport events.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3.4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512" y="2699698"/>
            <a:ext cx="7723037" cy="337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135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Given </a:t>
            </a:r>
            <a:r>
              <a:rPr lang="en-US" dirty="0"/>
              <a:t>that there are participants who have not decided which sport event to participate in, write SQL statements to complete the following tasks. </a:t>
            </a:r>
            <a:endParaRPr lang="en-US" dirty="0" smtClean="0"/>
          </a:p>
          <a:p>
            <a:r>
              <a:rPr lang="en-US" dirty="0" smtClean="0"/>
              <a:t>(a) List </a:t>
            </a:r>
            <a:r>
              <a:rPr lang="en-US" dirty="0"/>
              <a:t>the occurrence of every bib number in both sport events. If a bib number appears twice, list it twice in the result, so on and so forth. Sort the numbers in ascending order. </a:t>
            </a:r>
            <a:endParaRPr lang="en-US" dirty="0" smtClean="0"/>
          </a:p>
          <a:p>
            <a:r>
              <a:rPr lang="en-US" dirty="0" smtClean="0"/>
              <a:t>(</a:t>
            </a:r>
            <a:r>
              <a:rPr lang="en-US" dirty="0"/>
              <a:t>b) List the participant identity code of each participant who belongs to the team named “A” in at least one of the sport events.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3.4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84370"/>
            <a:ext cx="8646622" cy="177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410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(c) List the name of each female participant who participates in the football game but not in the relay </a:t>
            </a:r>
            <a:r>
              <a:rPr lang="en-US" dirty="0" smtClean="0"/>
              <a:t>race.</a:t>
            </a:r>
            <a:br>
              <a:rPr lang="en-US" dirty="0" smtClean="0"/>
            </a:br>
            <a:endParaRPr lang="en-US" dirty="0"/>
          </a:p>
          <a:p>
            <a:r>
              <a:rPr lang="en-US" dirty="0"/>
              <a:t>(d) List the name of each participant who is at least 22 years old and does not participate in both </a:t>
            </a:r>
            <a:r>
              <a:rPr lang="en-US" dirty="0" smtClean="0"/>
              <a:t>sport </a:t>
            </a:r>
            <a:r>
              <a:rPr lang="en-US" dirty="0"/>
              <a:t>events at the same time.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345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38A1D3"/>
                </a:solidFill>
              </a:rPr>
              <a:t>◣ Solution</a:t>
            </a:r>
          </a:p>
          <a:p>
            <a:r>
              <a:rPr lang="en-US" dirty="0" smtClean="0"/>
              <a:t>(a)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BIB FROM FOOTBALL UNION ALL SELECT BIB FROM RELAYRACE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ORDER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BY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BIB</a:t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This </a:t>
            </a:r>
            <a:r>
              <a:rPr lang="en-US" dirty="0"/>
              <a:t>SQL statement below is wrong and cannot be </a:t>
            </a:r>
            <a:r>
              <a:rPr lang="en-US" dirty="0" smtClean="0"/>
              <a:t>executed.</a:t>
            </a:r>
            <a:br>
              <a:rPr lang="en-US" dirty="0" smtClean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BIB FROM FOOTBALL ORDER BY BIB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UNION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ALL SELECT BIB FROM RELAYRACE ORDER BY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BIB</a:t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ORDER BY</a:t>
            </a:r>
            <a:r>
              <a:rPr lang="en-US" dirty="0"/>
              <a:t> clause cannot be placed in the middle of a SQL statement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865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(b)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PID FROM FOOTBALL WHERE TEAM = 'A‘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UNION SELECT PID FROM RELAYRACE WHERE TEAM = 'A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‘</a:t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/>
              <a:t>This SQL statement below is wrong and cannot be executed.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(SELECT PID FROM FOOTBALL UNION SELECT PID FROM RELAYRACE)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WHERE TEAM = 'A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‘</a:t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dirty="0"/>
              <a:t> clause cannot be shared between two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dirty="0"/>
              <a:t> clauses.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613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(c)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NAME FROM PARTICIPANT WHERE GENDER = 'F' AND ID IN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(SELECT PID FROM FOOTBALL EXCEPT SELECT PID FROM RELAYRACE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(d)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NAME FROM PARTICIPANT WHERE AGE &gt;= 22 AND ID NOT IN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(SELECT PID FROM FOOTBALL INTERSECT SELECT PID FROM RELAYRACE)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456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Complete Checkpoint 3.4 on P. </a:t>
            </a:r>
            <a:r>
              <a:rPr lang="en-US" dirty="0" smtClean="0"/>
              <a:t>168 </a:t>
            </a:r>
            <a:r>
              <a:rPr lang="en-US" dirty="0" smtClean="0"/>
              <a:t>of your textbook.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(a)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ISBN FROM WBS WHERE PRICE &lt; 100 EXCEPT SELECT ISBN FROM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HBS</a:t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b)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BNAME, AUTHOR FROM BOOK WHERE ISBN IN </a:t>
            </a:r>
            <a: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(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ISBN FROM HBS INTERSECT SELECT ISBN FROM WBS</a:t>
            </a:r>
            <a: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22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(c)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BNAME, PRICE FROM HBS h, BOOK b </a:t>
            </a:r>
            <a: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WHERE </a:t>
            </a:r>
            <a:r>
              <a:rPr lang="en-US" sz="22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h.ISBN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2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b.ISBN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 PAGE &gt;= 300 UNION </a:t>
            </a:r>
            <a: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SELECT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BNAME, PRICE FROM WBS w, BOOK b </a:t>
            </a:r>
            <a: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WHERE </a:t>
            </a:r>
            <a:r>
              <a:rPr lang="en-US" sz="22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w.ISBN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2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b.ISBN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 PAGE &gt;= 300 </a:t>
            </a:r>
            <a: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ORDER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 </a:t>
            </a:r>
            <a: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BNAME</a:t>
            </a:r>
            <a:endParaRPr lang="en-US" sz="22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997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(d)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ISBN FROM HBS WHERE ISBN NOT IN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(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ISBN FROM BOOK) UNION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SELECT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ISBN FROM WBS WHERE ISBN NOT IN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(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ISBN FROM BOOK) 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Alternative: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ISBN FROM HBS UNION SELECT ISBN FROM WBS EXCEPT SELECT ISBN FROM BOOK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119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Views and Indices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3.4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In programming, when we expect a certain part of code to be reused </a:t>
            </a:r>
            <a:r>
              <a:rPr lang="en-US" dirty="0" smtClean="0"/>
              <a:t>frequently </a:t>
            </a:r>
            <a:r>
              <a:rPr lang="en-US" dirty="0"/>
              <a:t>in a program, we create a sub-program to simplify the program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Similarly, in database, when we expect a certain result of a SQL statement </a:t>
            </a:r>
            <a:r>
              <a:rPr lang="en-US" dirty="0" smtClean="0"/>
              <a:t>to </a:t>
            </a:r>
            <a:r>
              <a:rPr lang="en-US" dirty="0"/>
              <a:t>be reused frequently in </a:t>
            </a:r>
            <a:r>
              <a:rPr lang="en-US" dirty="0" err="1"/>
              <a:t>summarisation</a:t>
            </a:r>
            <a:r>
              <a:rPr lang="en-US" dirty="0"/>
              <a:t> or as subquery, we create a </a:t>
            </a:r>
            <a:r>
              <a:rPr lang="en-US" b="1" dirty="0">
                <a:solidFill>
                  <a:srgbClr val="504D9E"/>
                </a:solidFill>
              </a:rPr>
              <a:t>view</a:t>
            </a:r>
            <a:r>
              <a:rPr lang="en-US" dirty="0"/>
              <a:t>, </a:t>
            </a:r>
            <a:r>
              <a:rPr lang="en-US" dirty="0" smtClean="0"/>
              <a:t>which </a:t>
            </a:r>
            <a:r>
              <a:rPr lang="en-US" dirty="0"/>
              <a:t>works as a virtual table, to simplify any future SQL statements.</a:t>
            </a:r>
          </a:p>
        </p:txBody>
      </p:sp>
    </p:spTree>
    <p:extLst>
      <p:ext uri="{BB962C8B-B14F-4D97-AF65-F5344CB8AC3E}">
        <p14:creationId xmlns:p14="http://schemas.microsoft.com/office/powerpoint/2010/main" val="4048108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Consider the following tables: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95" y="2512800"/>
            <a:ext cx="4196570" cy="293596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4995" y="2427287"/>
            <a:ext cx="1829666" cy="174299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4995" y="4512284"/>
            <a:ext cx="1976858" cy="94769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8809" y="1840284"/>
            <a:ext cx="1021591" cy="460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513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Given that the final score of a student is calculated by the formula below</a:t>
            </a:r>
            <a:r>
              <a:rPr lang="en-US" dirty="0" smtClean="0"/>
              <a:t>:</a:t>
            </a:r>
            <a:br>
              <a:rPr lang="en-US" dirty="0" smtClean="0"/>
            </a:br>
            <a:endParaRPr lang="en-US" dirty="0"/>
          </a:p>
          <a:p>
            <a:pPr algn="ctr"/>
            <a:r>
              <a:rPr lang="en-US" dirty="0"/>
              <a:t>Final score = first test score × 0.4 + second test score × </a:t>
            </a:r>
            <a:r>
              <a:rPr lang="en-US" dirty="0" smtClean="0"/>
              <a:t>0.6</a:t>
            </a:r>
            <a:br>
              <a:rPr lang="en-US" dirty="0" smtClean="0"/>
            </a:br>
            <a:endParaRPr lang="en-US" dirty="0"/>
          </a:p>
          <a:p>
            <a:r>
              <a:rPr lang="en-US" dirty="0"/>
              <a:t>We need a complex SQL statement for each of the following tasks:</a:t>
            </a:r>
          </a:p>
          <a:p>
            <a:r>
              <a:rPr lang="en-US" dirty="0"/>
              <a:t>1. List the name of each student taught by </a:t>
            </a:r>
            <a:r>
              <a:rPr lang="en-US" dirty="0" err="1"/>
              <a:t>Mr</a:t>
            </a:r>
            <a:r>
              <a:rPr lang="en-US" dirty="0"/>
              <a:t> </a:t>
            </a:r>
            <a:r>
              <a:rPr lang="en-US" dirty="0" err="1"/>
              <a:t>Suen</a:t>
            </a:r>
            <a:r>
              <a:rPr lang="en-US" dirty="0"/>
              <a:t> and has a final score </a:t>
            </a:r>
            <a:r>
              <a:rPr lang="en-US" dirty="0" smtClean="0"/>
              <a:t>below </a:t>
            </a:r>
            <a:r>
              <a:rPr lang="en-US" dirty="0"/>
              <a:t>60</a:t>
            </a:r>
            <a:r>
              <a:rPr lang="en-US" dirty="0" smtClean="0"/>
              <a:t>;</a:t>
            </a:r>
            <a:endParaRPr lang="en-US" dirty="0"/>
          </a:p>
          <a:p>
            <a:r>
              <a:rPr lang="en-US" dirty="0"/>
              <a:t>2. List the name of each student who joins at least two clubs and has a final </a:t>
            </a:r>
            <a:r>
              <a:rPr lang="en-US" dirty="0" smtClean="0"/>
              <a:t>score </a:t>
            </a:r>
            <a:r>
              <a:rPr lang="en-US" dirty="0"/>
              <a:t>above 60;</a:t>
            </a:r>
          </a:p>
          <a:p>
            <a:r>
              <a:rPr lang="en-US" dirty="0"/>
              <a:t>3. List the name of each student who is in a class whose teaching language </a:t>
            </a:r>
            <a:r>
              <a:rPr lang="en-US" dirty="0" smtClean="0"/>
              <a:t>is </a:t>
            </a:r>
            <a:r>
              <a:rPr lang="en-US" dirty="0"/>
              <a:t>Chinese and does not join any other clubs besides English Club; and</a:t>
            </a:r>
          </a:p>
          <a:p>
            <a:r>
              <a:rPr lang="en-US" dirty="0"/>
              <a:t>4. List the name of each student who joins the most number of clubs.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518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1. List </a:t>
            </a:r>
            <a:r>
              <a:rPr lang="en-US" dirty="0"/>
              <a:t>the name of each student </a:t>
            </a:r>
            <a:r>
              <a:rPr lang="en-US" dirty="0">
                <a:solidFill>
                  <a:srgbClr val="92B981"/>
                </a:solidFill>
              </a:rPr>
              <a:t>taught by </a:t>
            </a:r>
            <a:r>
              <a:rPr lang="en-US" dirty="0" err="1">
                <a:solidFill>
                  <a:srgbClr val="92B981"/>
                </a:solidFill>
              </a:rPr>
              <a:t>Mr</a:t>
            </a:r>
            <a:r>
              <a:rPr lang="en-US" dirty="0">
                <a:solidFill>
                  <a:srgbClr val="92B981"/>
                </a:solidFill>
              </a:rPr>
              <a:t> </a:t>
            </a:r>
            <a:r>
              <a:rPr lang="en-US" dirty="0" err="1">
                <a:solidFill>
                  <a:srgbClr val="92B981"/>
                </a:solidFill>
              </a:rPr>
              <a:t>Suen</a:t>
            </a:r>
            <a:r>
              <a:rPr lang="en-US" dirty="0"/>
              <a:t> and </a:t>
            </a:r>
            <a:r>
              <a:rPr lang="en-US" dirty="0">
                <a:solidFill>
                  <a:srgbClr val="38A1D3"/>
                </a:solidFill>
              </a:rPr>
              <a:t>has a final score below </a:t>
            </a:r>
            <a:r>
              <a:rPr lang="en-US" dirty="0" smtClean="0">
                <a:solidFill>
                  <a:srgbClr val="38A1D3"/>
                </a:solidFill>
              </a:rPr>
              <a:t>60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We </a:t>
            </a:r>
            <a:r>
              <a:rPr lang="en-US" dirty="0"/>
              <a:t>have to join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/>
              <a:t>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dirty="0"/>
              <a:t> to see if a student is taught by </a:t>
            </a:r>
            <a:r>
              <a:rPr lang="en-US" dirty="0" err="1"/>
              <a:t>Mr</a:t>
            </a:r>
            <a:r>
              <a:rPr lang="en-US" dirty="0"/>
              <a:t> </a:t>
            </a:r>
            <a:r>
              <a:rPr lang="en-US" dirty="0" err="1"/>
              <a:t>Suen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NAME FROM STUDENT s, CLASS cl WHERE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s.CLASS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cl.CLASS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AND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TEACH </a:t>
            </a:r>
            <a:r>
              <a:rPr lang="en-US" dirty="0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'</a:t>
            </a:r>
            <a:r>
              <a:rPr lang="en-US" dirty="0" err="1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Mr</a:t>
            </a:r>
            <a:r>
              <a:rPr lang="en-US" dirty="0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Suen</a:t>
            </a:r>
            <a:r>
              <a:rPr lang="en-US" dirty="0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AND </a:t>
            </a:r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SCORE1 * 0.4 + SCORE2 * 0.6 &lt; 60</a:t>
            </a:r>
          </a:p>
        </p:txBody>
      </p:sp>
    </p:spTree>
    <p:extLst>
      <p:ext uri="{BB962C8B-B14F-4D97-AF65-F5344CB8AC3E}">
        <p14:creationId xmlns:p14="http://schemas.microsoft.com/office/powerpoint/2010/main" val="3026931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2. List the name of each student who </a:t>
            </a:r>
            <a:r>
              <a:rPr lang="en-US" dirty="0">
                <a:solidFill>
                  <a:srgbClr val="D83A75"/>
                </a:solidFill>
              </a:rPr>
              <a:t>joins at least two clubs</a:t>
            </a:r>
            <a:r>
              <a:rPr lang="en-US" dirty="0"/>
              <a:t> and </a:t>
            </a:r>
            <a:r>
              <a:rPr lang="en-US" dirty="0">
                <a:solidFill>
                  <a:srgbClr val="38A1D3"/>
                </a:solidFill>
              </a:rPr>
              <a:t>has a final score above </a:t>
            </a:r>
            <a:r>
              <a:rPr lang="en-US" dirty="0" smtClean="0">
                <a:solidFill>
                  <a:srgbClr val="38A1D3"/>
                </a:solidFill>
              </a:rPr>
              <a:t>60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We </a:t>
            </a:r>
            <a:r>
              <a:rPr lang="en-US" dirty="0"/>
              <a:t>have to count the number of clubs joined by each student in a </a:t>
            </a:r>
            <a:r>
              <a:rPr lang="en-US" dirty="0" smtClean="0"/>
              <a:t>subquery.</a:t>
            </a:r>
          </a:p>
          <a:p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NAME FROM STUDENT WHERE </a:t>
            </a:r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SCORE1 * 0.4 + SCORE2 * 0.6 &gt; 60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AND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SID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 (SELECT SID FROM SC GROUP BY SID HAVING </a:t>
            </a:r>
            <a:r>
              <a:rPr lang="en-US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COUNT(*) &gt;= 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40566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3. List the name of each student who is in a class whose </a:t>
            </a:r>
            <a:r>
              <a:rPr lang="en-US" dirty="0">
                <a:solidFill>
                  <a:srgbClr val="38A1D3"/>
                </a:solidFill>
              </a:rPr>
              <a:t>teaching language is Chinese</a:t>
            </a:r>
            <a:r>
              <a:rPr lang="en-US" dirty="0"/>
              <a:t> and </a:t>
            </a:r>
            <a:r>
              <a:rPr lang="en-US" dirty="0">
                <a:solidFill>
                  <a:srgbClr val="D83A75"/>
                </a:solidFill>
              </a:rPr>
              <a:t>does not join any other clubs</a:t>
            </a:r>
            <a:r>
              <a:rPr lang="en-US" dirty="0"/>
              <a:t> </a:t>
            </a:r>
            <a:r>
              <a:rPr lang="en-US" dirty="0">
                <a:solidFill>
                  <a:srgbClr val="92B981"/>
                </a:solidFill>
              </a:rPr>
              <a:t>besides English Club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We have to join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/>
              <a:t>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dirty="0"/>
              <a:t> and count the number of clubs joined by each student at the same time.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8427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4. List the name of each student who </a:t>
            </a:r>
            <a:r>
              <a:rPr lang="en-US" dirty="0">
                <a:solidFill>
                  <a:srgbClr val="756FB3"/>
                </a:solidFill>
              </a:rPr>
              <a:t>joins the most number of clubs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Without </a:t>
            </a:r>
            <a:r>
              <a:rPr lang="en-US" dirty="0"/>
              <a:t>a view, we either treat a result as a table by giving it an alias, or use the keyword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LIMIT</a:t>
            </a:r>
            <a:r>
              <a:rPr lang="en-US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120" y="3777901"/>
            <a:ext cx="9280960" cy="107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128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By using views, all the above statements can be </a:t>
            </a:r>
            <a:r>
              <a:rPr lang="en-US" dirty="0" smtClean="0"/>
              <a:t>simplified. The </a:t>
            </a:r>
            <a:r>
              <a:rPr lang="en-US" dirty="0"/>
              <a:t>following SQL statement creates a view named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SCORESHEET</a:t>
            </a:r>
            <a:r>
              <a:rPr lang="en-US" dirty="0" smtClean="0"/>
              <a:t>.</a:t>
            </a:r>
          </a:p>
          <a:p>
            <a:r>
              <a:rPr lang="en-US" sz="1700" dirty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CREATE VIEW SCORESHEET </a:t>
            </a:r>
            <a:r>
              <a:rPr lang="en-US" sz="1700" dirty="0" smtClean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AS</a:t>
            </a:r>
            <a:br>
              <a:rPr lang="en-US" sz="1700" dirty="0" smtClean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</a:br>
            <a:r>
              <a:rPr lang="en-US" sz="1700" dirty="0" smtClean="0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1700" dirty="0" err="1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s.SID</a:t>
            </a:r>
            <a:r>
              <a:rPr lang="en-US" sz="1700" dirty="0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NAME, SEX, </a:t>
            </a:r>
            <a:r>
              <a:rPr lang="en-US" sz="1700" dirty="0" err="1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s.CLASS</a:t>
            </a:r>
            <a:r>
              <a:rPr lang="en-US" sz="1700" dirty="0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TEACH, </a:t>
            </a:r>
            <a:r>
              <a:rPr lang="en-US" sz="1700" dirty="0" smtClean="0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LANG, SCORE1*0.4+SCORE2*0.6 </a:t>
            </a:r>
            <a:r>
              <a:rPr lang="en-US" sz="1700" dirty="0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 FSCORE </a:t>
            </a:r>
            <a:r>
              <a:rPr lang="en-US" sz="1700" dirty="0" smtClean="0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1700" dirty="0" smtClean="0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700" dirty="0" smtClean="0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1700" dirty="0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 s, CLASS cl WHERE </a:t>
            </a:r>
            <a:r>
              <a:rPr lang="en-US" sz="1700" dirty="0" err="1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s.CLASS</a:t>
            </a:r>
            <a:r>
              <a:rPr lang="en-US" sz="1700" dirty="0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700" dirty="0" err="1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cl.CLASS</a:t>
            </a:r>
            <a:endParaRPr lang="en-US" sz="1700" dirty="0">
              <a:solidFill>
                <a:srgbClr val="F7922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21" y="3635975"/>
            <a:ext cx="4907279" cy="276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477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1. List the name of each </a:t>
            </a:r>
            <a:r>
              <a:rPr lang="en-US" dirty="0" smtClean="0"/>
              <a:t>student </a:t>
            </a:r>
            <a:r>
              <a:rPr lang="en-US" dirty="0">
                <a:solidFill>
                  <a:srgbClr val="92B981"/>
                </a:solidFill>
              </a:rPr>
              <a:t>taught by </a:t>
            </a:r>
            <a:r>
              <a:rPr lang="en-US" dirty="0" err="1">
                <a:solidFill>
                  <a:srgbClr val="92B981"/>
                </a:solidFill>
              </a:rPr>
              <a:t>Mr</a:t>
            </a:r>
            <a:r>
              <a:rPr lang="en-US" dirty="0">
                <a:solidFill>
                  <a:srgbClr val="92B981"/>
                </a:solidFill>
              </a:rPr>
              <a:t> </a:t>
            </a:r>
            <a:r>
              <a:rPr lang="en-US" dirty="0" err="1">
                <a:solidFill>
                  <a:srgbClr val="92B981"/>
                </a:solidFill>
              </a:rPr>
              <a:t>Suen</a:t>
            </a:r>
            <a:r>
              <a:rPr lang="en-US" dirty="0"/>
              <a:t> and </a:t>
            </a:r>
            <a:r>
              <a:rPr lang="en-US" dirty="0">
                <a:solidFill>
                  <a:srgbClr val="38A1D3"/>
                </a:solidFill>
              </a:rPr>
              <a:t>has a final score below 60</a:t>
            </a:r>
            <a:r>
              <a:rPr lang="en-US" dirty="0"/>
              <a:t>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553" y="4245745"/>
            <a:ext cx="7177814" cy="20921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025" y="2376865"/>
            <a:ext cx="8796321" cy="158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130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2. List the name of each student who </a:t>
            </a:r>
            <a:r>
              <a:rPr lang="en-US" dirty="0">
                <a:solidFill>
                  <a:srgbClr val="D83A75"/>
                </a:solidFill>
              </a:rPr>
              <a:t>joins at least two clubs</a:t>
            </a:r>
            <a:r>
              <a:rPr lang="en-US" dirty="0"/>
              <a:t> and </a:t>
            </a:r>
            <a:r>
              <a:rPr lang="en-US" dirty="0">
                <a:solidFill>
                  <a:srgbClr val="38A1D3"/>
                </a:solidFill>
              </a:rPr>
              <a:t>has a final score above 60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Now we need a view showing the number of clubs joined by each student.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VIEW COUNTCLUB AS 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 smtClean="0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000" dirty="0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SID, COUNT(*) AS CLUBNUM FROM SC GROUP BY SID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5275" y="3239055"/>
            <a:ext cx="1853679" cy="305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63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2. List the name of each student who </a:t>
            </a:r>
            <a:r>
              <a:rPr lang="en-US" dirty="0">
                <a:solidFill>
                  <a:srgbClr val="D83A75"/>
                </a:solidFill>
              </a:rPr>
              <a:t>joins at least two clubs</a:t>
            </a:r>
            <a:r>
              <a:rPr lang="en-US" dirty="0"/>
              <a:t> and </a:t>
            </a:r>
            <a:r>
              <a:rPr lang="en-US" dirty="0">
                <a:solidFill>
                  <a:srgbClr val="38A1D3"/>
                </a:solidFill>
              </a:rPr>
              <a:t>has a final score above 60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805" y="2661670"/>
            <a:ext cx="8822835" cy="196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210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However, the student </a:t>
            </a:r>
            <a:r>
              <a:rPr lang="en-US" dirty="0" err="1"/>
              <a:t>Dio</a:t>
            </a:r>
            <a:r>
              <a:rPr lang="en-US" dirty="0"/>
              <a:t> with an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SID</a:t>
            </a:r>
            <a:r>
              <a:rPr lang="en-US" dirty="0"/>
              <a:t>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03513</a:t>
            </a:r>
            <a:r>
              <a:rPr lang="en-US" dirty="0"/>
              <a:t> joins no club. Thus his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SID</a:t>
            </a:r>
            <a:r>
              <a:rPr lang="en-US" dirty="0"/>
              <a:t> is not even in the view.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840" y="2474700"/>
            <a:ext cx="3250252" cy="326368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3627" y="3619500"/>
            <a:ext cx="2014513" cy="246940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848" y="2316480"/>
            <a:ext cx="2025480" cy="227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457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This may cause problems if we are asked to list the name of each student who </a:t>
            </a:r>
            <a:r>
              <a:rPr lang="en-US" dirty="0">
                <a:solidFill>
                  <a:srgbClr val="C79F4C"/>
                </a:solidFill>
              </a:rPr>
              <a:t>joins no more than two clubs</a:t>
            </a:r>
            <a:r>
              <a:rPr lang="en-US" dirty="0"/>
              <a:t> instead of </a:t>
            </a:r>
            <a:r>
              <a:rPr lang="en-US" dirty="0">
                <a:solidFill>
                  <a:srgbClr val="D83A75"/>
                </a:solidFill>
              </a:rPr>
              <a:t>at least two clubs</a:t>
            </a:r>
            <a:r>
              <a:rPr lang="en-US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496" y="2523572"/>
            <a:ext cx="6867203" cy="3893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699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Thus, we may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LEFT JOIN</a:t>
            </a:r>
            <a:r>
              <a:rPr lang="en-US" dirty="0"/>
              <a:t>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RIGHT JOIN</a:t>
            </a:r>
            <a:r>
              <a:rPr lang="en-US" dirty="0"/>
              <a:t> to ensure that the view shows all students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To modify an existing view,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CREATE VIEW OR REPLACE VIEW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CREATE OR REPLACE VIEW COUNTCLUB AS 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 err="1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s.SID</a:t>
            </a:r>
            <a:r>
              <a:rPr lang="en-US" dirty="0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COUNT(CID) AS CLUBNUM FROM SC </a:t>
            </a:r>
            <a:br>
              <a:rPr lang="en-US" dirty="0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RIGHT </a:t>
            </a:r>
            <a:r>
              <a:rPr lang="en-US" dirty="0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 STUDENT s ON </a:t>
            </a:r>
            <a:r>
              <a:rPr lang="en-US" dirty="0" err="1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SC.sid</a:t>
            </a:r>
            <a:r>
              <a:rPr lang="en-US" dirty="0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s.SID</a:t>
            </a:r>
            <a:r>
              <a:rPr lang="en-US" dirty="0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GROUP BY SID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5276" y="2636160"/>
            <a:ext cx="1922845" cy="3502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486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To further simplify the SQL statement, we may even create a view using another </a:t>
            </a:r>
            <a:r>
              <a:rPr lang="en-US" dirty="0" smtClean="0"/>
              <a:t>view.</a:t>
            </a:r>
          </a:p>
          <a:p>
            <a:pPr lvl="1"/>
            <a:r>
              <a:rPr lang="en-US" dirty="0" smtClean="0"/>
              <a:t/>
            </a:r>
            <a:br>
              <a:rPr lang="en-US" dirty="0" smtClean="0"/>
            </a:b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OR REPLACE VIEW SCORESHEET AS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 smtClean="0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SELECT </a:t>
            </a:r>
            <a:r>
              <a:rPr lang="en-US" sz="1600" dirty="0" err="1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s.SID</a:t>
            </a:r>
            <a:r>
              <a:rPr lang="en-US" sz="1600" dirty="0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NAME, SEX, </a:t>
            </a:r>
            <a:r>
              <a:rPr lang="en-US" sz="1600" dirty="0" err="1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s.CLASS</a:t>
            </a:r>
            <a:r>
              <a:rPr lang="en-US" sz="1600" dirty="0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TEACH, LANG,</a:t>
            </a:r>
            <a:br>
              <a:rPr lang="en-US" sz="1600" dirty="0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smtClean="0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SCORE1*0.4+SCORE2*0.6 </a:t>
            </a:r>
            <a:r>
              <a:rPr lang="en-US" sz="1600" dirty="0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 FSCORE, CLUBNUM</a:t>
            </a:r>
            <a:br>
              <a:rPr lang="en-US" sz="1600" dirty="0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 smtClean="0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FROM </a:t>
            </a:r>
            <a:r>
              <a:rPr lang="en-US" sz="1600" dirty="0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 s, CLASS cl, COUNTCLUB cc</a:t>
            </a:r>
            <a:br>
              <a:rPr lang="en-US" sz="1600" dirty="0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 smtClean="0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WHERE </a:t>
            </a:r>
            <a:r>
              <a:rPr lang="en-US" sz="1600" dirty="0" err="1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s.CLASS</a:t>
            </a:r>
            <a:r>
              <a:rPr lang="en-US" sz="1600" dirty="0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cl.CLASS</a:t>
            </a:r>
            <a:r>
              <a:rPr lang="en-US" sz="1600" dirty="0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 </a:t>
            </a:r>
            <a:r>
              <a:rPr lang="en-US" sz="1600" dirty="0" err="1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s.SID</a:t>
            </a:r>
            <a:r>
              <a:rPr lang="en-US" sz="1600" dirty="0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rgbClr val="F7922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cc.SID</a:t>
            </a:r>
            <a:endParaRPr lang="en-US" sz="1600" dirty="0">
              <a:solidFill>
                <a:srgbClr val="F7922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617" y="4093390"/>
            <a:ext cx="6638523" cy="231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461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2. List the name of each student who </a:t>
            </a:r>
            <a:r>
              <a:rPr lang="en-US" dirty="0">
                <a:solidFill>
                  <a:srgbClr val="D83A75"/>
                </a:solidFill>
              </a:rPr>
              <a:t>joins at least two clubs</a:t>
            </a:r>
            <a:r>
              <a:rPr lang="en-US" dirty="0"/>
              <a:t> and </a:t>
            </a:r>
            <a:r>
              <a:rPr lang="en-US" dirty="0">
                <a:solidFill>
                  <a:srgbClr val="38A1D3"/>
                </a:solidFill>
              </a:rPr>
              <a:t>has a final score above 60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800" y="2756446"/>
            <a:ext cx="7900680" cy="147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276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3. List the name of each student who is in a class whose </a:t>
            </a:r>
            <a:r>
              <a:rPr lang="en-US" dirty="0">
                <a:solidFill>
                  <a:srgbClr val="38A1D3"/>
                </a:solidFill>
              </a:rPr>
              <a:t>teaching language is Chinese</a:t>
            </a:r>
            <a:r>
              <a:rPr lang="en-US" dirty="0"/>
              <a:t> and </a:t>
            </a:r>
            <a:r>
              <a:rPr lang="en-US" dirty="0">
                <a:solidFill>
                  <a:srgbClr val="D83A75"/>
                </a:solidFill>
              </a:rPr>
              <a:t>does not join any other clubs</a:t>
            </a:r>
            <a:r>
              <a:rPr lang="en-US" dirty="0"/>
              <a:t> </a:t>
            </a:r>
            <a:r>
              <a:rPr lang="en-US" dirty="0">
                <a:solidFill>
                  <a:srgbClr val="92B981"/>
                </a:solidFill>
              </a:rPr>
              <a:t>besides English Club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00" y="3001554"/>
            <a:ext cx="10328165" cy="225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573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160" y="1563727"/>
            <a:ext cx="6791580" cy="477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650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4. List the name of each student who </a:t>
            </a:r>
            <a:r>
              <a:rPr lang="en-US" dirty="0">
                <a:solidFill>
                  <a:srgbClr val="756FB3"/>
                </a:solidFill>
              </a:rPr>
              <a:t>joins the most number of clubs</a:t>
            </a:r>
            <a:r>
              <a:rPr lang="en-US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875" y="2588393"/>
            <a:ext cx="10255449" cy="2159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041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518" y="2285748"/>
            <a:ext cx="6706164" cy="362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96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If we do not need a view anymore, we may delete a view 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DROP VIEW</a:t>
            </a:r>
            <a:r>
              <a:rPr lang="en-US" dirty="0" smtClean="0"/>
              <a:t>.</a:t>
            </a:r>
            <a:br>
              <a:rPr lang="en-US" dirty="0" smtClean="0"/>
            </a:br>
            <a:endParaRPr lang="en-US" dirty="0"/>
          </a:p>
          <a:p>
            <a:pPr lvl="2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DROP VIEW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COUNTCLUB</a:t>
            </a:r>
            <a:b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However, if a deleted view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/>
              <a:t> is referenced in another view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dirty="0" smtClean="0"/>
              <a:t>, </a:t>
            </a:r>
            <a:r>
              <a:rPr lang="en-US" dirty="0"/>
              <a:t>view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dirty="0"/>
              <a:t> will no </a:t>
            </a:r>
            <a:r>
              <a:rPr lang="en-US" dirty="0" smtClean="0"/>
              <a:t>longer </a:t>
            </a:r>
            <a:r>
              <a:rPr lang="en-US" dirty="0"/>
              <a:t>work after the deletion.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067" y="4499987"/>
            <a:ext cx="9253395" cy="149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434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Index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When a teacher wants to search by the name of a student, the DBMS needs </a:t>
            </a:r>
            <a:r>
              <a:rPr lang="en-US" dirty="0" smtClean="0"/>
              <a:t>to </a:t>
            </a:r>
            <a:r>
              <a:rPr lang="en-US" dirty="0"/>
              <a:t>go through the table row by </a:t>
            </a:r>
            <a:r>
              <a:rPr lang="en-US" dirty="0" smtClean="0"/>
              <a:t>row. </a:t>
            </a:r>
          </a:p>
          <a:p>
            <a:endParaRPr lang="en-US" dirty="0"/>
          </a:p>
          <a:p>
            <a:r>
              <a:rPr lang="en-US" dirty="0" smtClean="0"/>
              <a:t>In </a:t>
            </a:r>
            <a:r>
              <a:rPr lang="en-US" dirty="0"/>
              <a:t>the worst case, if the teacher wants to find a student named Guy, </a:t>
            </a:r>
            <a:r>
              <a:rPr lang="en-US" dirty="0" smtClean="0"/>
              <a:t>it </a:t>
            </a:r>
            <a:br>
              <a:rPr lang="en-US" dirty="0" smtClean="0"/>
            </a:br>
            <a:r>
              <a:rPr lang="en-US" dirty="0" smtClean="0"/>
              <a:t>needs to </a:t>
            </a:r>
            <a:r>
              <a:rPr lang="en-US" dirty="0"/>
              <a:t>go through </a:t>
            </a:r>
            <a:r>
              <a:rPr lang="en-US" dirty="0">
                <a:solidFill>
                  <a:srgbClr val="92B981"/>
                </a:solidFill>
              </a:rPr>
              <a:t>11</a:t>
            </a:r>
            <a:r>
              <a:rPr lang="en-US" dirty="0"/>
              <a:t> records, i.e. the whole table, </a:t>
            </a:r>
            <a:r>
              <a:rPr lang="en-US" dirty="0" smtClean="0"/>
              <a:t>to </a:t>
            </a:r>
            <a:r>
              <a:rPr lang="en-US" dirty="0"/>
              <a:t>find the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required </a:t>
            </a:r>
            <a:r>
              <a:rPr lang="en-US" dirty="0"/>
              <a:t>record.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5194" y="2869200"/>
            <a:ext cx="3057811" cy="305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658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Index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Since the name of a student, i.e.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dirty="0"/>
              <a:t>, is expected to be searched frequently, we can </a:t>
            </a:r>
            <a:r>
              <a:rPr lang="en-US" b="1" dirty="0">
                <a:solidFill>
                  <a:srgbClr val="504D9E"/>
                </a:solidFill>
              </a:rPr>
              <a:t>index</a:t>
            </a:r>
            <a:r>
              <a:rPr lang="en-US" dirty="0"/>
              <a:t> that field to speed up the data retrieval process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Indexing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dirty="0"/>
              <a:t> creates an index table containing the indexed field and a pointer to the related records only.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924" y="2428245"/>
            <a:ext cx="5077467" cy="297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427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data in the indexed field of the index table is sorted in alphabetic order (or ascending order if it is a number field). The sorting allows the DBMS to perform binary search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record in the middle, i.e. the 6th one, </a:t>
            </a:r>
            <a:r>
              <a:rPr lang="en-US" dirty="0">
                <a:solidFill>
                  <a:srgbClr val="38A1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Finn</a:t>
            </a:r>
            <a:r>
              <a:rPr lang="en-US" dirty="0"/>
              <a:t> is </a:t>
            </a:r>
            <a:r>
              <a:rPr lang="en-US" dirty="0" smtClean="0"/>
              <a:t>checked.</a:t>
            </a:r>
            <a:br>
              <a:rPr lang="en-US" dirty="0" smtClean="0"/>
            </a:br>
            <a:r>
              <a:rPr lang="en-US" dirty="0" smtClean="0"/>
              <a:t>It </a:t>
            </a:r>
            <a:r>
              <a:rPr lang="en-US" dirty="0"/>
              <a:t>starts with an F, which is before G as in </a:t>
            </a:r>
            <a:r>
              <a:rPr lang="en-US" dirty="0" smtClean="0"/>
              <a:t>Guy.</a:t>
            </a:r>
            <a:br>
              <a:rPr lang="en-US" dirty="0" smtClean="0"/>
            </a:br>
            <a:r>
              <a:rPr lang="en-US" dirty="0" smtClean="0"/>
              <a:t>Therefore</a:t>
            </a:r>
            <a:r>
              <a:rPr lang="en-US" dirty="0"/>
              <a:t>, every record before the 6th one cannot be our guy.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8635" y="2786072"/>
            <a:ext cx="4243365" cy="314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626" y="1965600"/>
            <a:ext cx="5187374" cy="382675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endParaRPr lang="en-US" dirty="0" smtClean="0"/>
          </a:p>
          <a:p>
            <a:pPr marL="457200" indent="-457200">
              <a:buFont typeface="+mj-lt"/>
              <a:buAutoNum type="arabicPeriod" startAt="2"/>
            </a:pPr>
            <a:endParaRPr lang="en-US" dirty="0"/>
          </a:p>
          <a:p>
            <a:pPr marL="457200" indent="-457200">
              <a:buFont typeface="+mj-lt"/>
              <a:buAutoNum type="arabicPeriod" startAt="2"/>
            </a:pPr>
            <a:r>
              <a:rPr lang="en-US" dirty="0" smtClean="0"/>
              <a:t>The </a:t>
            </a:r>
            <a:r>
              <a:rPr lang="en-US" dirty="0"/>
              <a:t>record in the middle of the rest, i.e. the 9th one, </a:t>
            </a:r>
            <a:r>
              <a:rPr lang="en-US" dirty="0">
                <a:solidFill>
                  <a:srgbClr val="D83A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Hans</a:t>
            </a:r>
            <a:r>
              <a:rPr lang="en-US" dirty="0"/>
              <a:t> is checked.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It </a:t>
            </a:r>
            <a:r>
              <a:rPr lang="en-US" dirty="0"/>
              <a:t>starts with an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r>
              <a:rPr lang="en-US" dirty="0"/>
              <a:t>, which is after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/>
              <a:t> as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Guy</a:t>
            </a:r>
            <a:r>
              <a:rPr lang="en-US" dirty="0"/>
              <a:t>.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Therefore</a:t>
            </a:r>
            <a:r>
              <a:rPr lang="en-US" dirty="0"/>
              <a:t>, every record after the 9th one cannot be our guy.</a:t>
            </a:r>
          </a:p>
        </p:txBody>
      </p:sp>
    </p:spTree>
    <p:extLst>
      <p:ext uri="{BB962C8B-B14F-4D97-AF65-F5344CB8AC3E}">
        <p14:creationId xmlns:p14="http://schemas.microsoft.com/office/powerpoint/2010/main" val="3288268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0471" y="2266712"/>
            <a:ext cx="4811529" cy="33649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endParaRPr lang="en-US" dirty="0" smtClean="0"/>
          </a:p>
          <a:p>
            <a:endParaRPr lang="en-US" dirty="0" smtClean="0"/>
          </a:p>
          <a:p>
            <a:pPr marL="457200" indent="-457200">
              <a:buFont typeface="+mj-lt"/>
              <a:buAutoNum type="arabicPeriod" startAt="3"/>
            </a:pPr>
            <a:r>
              <a:rPr lang="en-US" dirty="0" smtClean="0"/>
              <a:t>The </a:t>
            </a:r>
            <a:r>
              <a:rPr lang="en-US" dirty="0"/>
              <a:t>record in the middle of the rest, i.e. the 7th one, </a:t>
            </a:r>
            <a:r>
              <a:rPr lang="en-US" dirty="0">
                <a:solidFill>
                  <a:srgbClr val="92B98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Gabe</a:t>
            </a:r>
            <a:r>
              <a:rPr lang="en-US" dirty="0" smtClean="0"/>
              <a:t> </a:t>
            </a:r>
            <a:r>
              <a:rPr lang="en-US" dirty="0"/>
              <a:t>is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checked</a:t>
            </a:r>
            <a:r>
              <a:rPr lang="en-US" dirty="0"/>
              <a:t>. </a:t>
            </a:r>
            <a:r>
              <a:rPr lang="en-US" dirty="0" smtClean="0"/>
              <a:t>It </a:t>
            </a:r>
            <a:r>
              <a:rPr lang="en-US" dirty="0"/>
              <a:t>starts with an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</a:t>
            </a:r>
            <a:r>
              <a:rPr lang="en-US" dirty="0"/>
              <a:t>, </a:t>
            </a:r>
            <a:r>
              <a:rPr lang="en-US" dirty="0" smtClean="0"/>
              <a:t>which </a:t>
            </a:r>
            <a:r>
              <a:rPr lang="en-US" dirty="0"/>
              <a:t>is before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Gu</a:t>
            </a:r>
            <a:r>
              <a:rPr lang="en-US" dirty="0"/>
              <a:t> as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Guy</a:t>
            </a:r>
            <a:r>
              <a:rPr lang="en-US" dirty="0"/>
              <a:t>.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Therefore</a:t>
            </a:r>
            <a:r>
              <a:rPr lang="en-US" dirty="0"/>
              <a:t>, every record before the 7th one cannot be our guy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n-US" dirty="0"/>
              <a:t>though </a:t>
            </a:r>
            <a:r>
              <a:rPr lang="en-US" dirty="0" smtClean="0"/>
              <a:t>every </a:t>
            </a:r>
            <a:r>
              <a:rPr lang="en-US" dirty="0"/>
              <a:t>single one of them is already eliminated).</a:t>
            </a:r>
          </a:p>
        </p:txBody>
      </p:sp>
    </p:spTree>
    <p:extLst>
      <p:ext uri="{BB962C8B-B14F-4D97-AF65-F5344CB8AC3E}">
        <p14:creationId xmlns:p14="http://schemas.microsoft.com/office/powerpoint/2010/main" val="22579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 smtClean="0"/>
              <a:t>The </a:t>
            </a:r>
            <a:r>
              <a:rPr lang="en-US" dirty="0"/>
              <a:t>record in the middle of the rest, i.e. the 8th one, </a:t>
            </a:r>
            <a:r>
              <a:rPr lang="en-US" dirty="0">
                <a:solidFill>
                  <a:srgbClr val="C79F4C"/>
                </a:solidFill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Guy</a:t>
            </a:r>
            <a:r>
              <a:rPr lang="en-US" dirty="0"/>
              <a:t> is checked.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To </a:t>
            </a:r>
            <a:r>
              <a:rPr lang="en-US" dirty="0"/>
              <a:t>our surprise, this is the guy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315" y="2665525"/>
            <a:ext cx="4861832" cy="362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832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Index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As shown in the </a:t>
            </a:r>
            <a:r>
              <a:rPr lang="en-US" dirty="0" smtClean="0"/>
              <a:t>previous example, </a:t>
            </a:r>
            <a:r>
              <a:rPr lang="en-US" dirty="0"/>
              <a:t>we can see how indexing speeds up the data retrieval </a:t>
            </a:r>
            <a:r>
              <a:rPr lang="en-US" dirty="0" smtClean="0"/>
              <a:t>process.</a:t>
            </a:r>
          </a:p>
          <a:p>
            <a:r>
              <a:rPr lang="en-US" dirty="0" smtClean="0"/>
              <a:t>In </a:t>
            </a:r>
            <a:r>
              <a:rPr lang="en-US" dirty="0"/>
              <a:t>the worst case, the DBMS only needs to go through </a:t>
            </a:r>
            <a:r>
              <a:rPr lang="en-US" dirty="0">
                <a:solidFill>
                  <a:srgbClr val="92B981"/>
                </a:solidFill>
              </a:rPr>
              <a:t>4</a:t>
            </a:r>
            <a:r>
              <a:rPr lang="en-US" dirty="0"/>
              <a:t> records, instead of </a:t>
            </a:r>
            <a:r>
              <a:rPr lang="en-US" dirty="0">
                <a:solidFill>
                  <a:srgbClr val="92B981"/>
                </a:solidFill>
              </a:rPr>
              <a:t>11</a:t>
            </a:r>
            <a:r>
              <a:rPr lang="en-US" dirty="0"/>
              <a:t> records, i.e. the whole table, to find the required record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However, the index table needs to be updated when</a:t>
            </a:r>
            <a:r>
              <a:rPr lang="en-US" dirty="0" smtClean="0"/>
              <a:t>:</a:t>
            </a:r>
            <a:br>
              <a:rPr lang="en-US" dirty="0" smtClean="0"/>
            </a:b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data in the indexed field </a:t>
            </a:r>
            <a:r>
              <a:rPr lang="en-US" dirty="0" smtClean="0"/>
              <a:t>changes </a:t>
            </a:r>
            <a:br>
              <a:rPr lang="en-US" dirty="0" smtClean="0"/>
            </a:br>
            <a:r>
              <a:rPr lang="en-US" dirty="0" smtClean="0"/>
              <a:t>(e.g</a:t>
            </a:r>
            <a:r>
              <a:rPr lang="en-US" dirty="0"/>
              <a:t>. the name of the student </a:t>
            </a:r>
            <a:r>
              <a:rPr lang="en-US" b="1" dirty="0">
                <a:solidFill>
                  <a:srgbClr val="C79F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Guy</a:t>
            </a:r>
            <a:r>
              <a:rPr lang="en-US" dirty="0"/>
              <a:t> is changed to </a:t>
            </a:r>
            <a:r>
              <a:rPr lang="en-US" b="1" dirty="0">
                <a:solidFill>
                  <a:srgbClr val="C79F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Gal</a:t>
            </a:r>
            <a:r>
              <a:rPr lang="en-US" dirty="0"/>
              <a:t>); </a:t>
            </a:r>
            <a:r>
              <a:rPr lang="en-US" dirty="0" smtClean="0"/>
              <a:t>or</a:t>
            </a:r>
            <a:br>
              <a:rPr lang="en-US" dirty="0" smtClean="0"/>
            </a:b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a </a:t>
            </a:r>
            <a:r>
              <a:rPr lang="en-US" dirty="0"/>
              <a:t>new record is </a:t>
            </a:r>
            <a:r>
              <a:rPr lang="en-US" dirty="0" smtClean="0"/>
              <a:t>added </a:t>
            </a:r>
            <a:br>
              <a:rPr lang="en-US" dirty="0" smtClean="0"/>
            </a:br>
            <a:r>
              <a:rPr lang="en-US" dirty="0" smtClean="0"/>
              <a:t>(e.g</a:t>
            </a:r>
            <a:r>
              <a:rPr lang="en-US" dirty="0"/>
              <a:t>. a new student named </a:t>
            </a:r>
            <a:r>
              <a:rPr lang="en-US" b="1" dirty="0">
                <a:solidFill>
                  <a:srgbClr val="756FB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Hope</a:t>
            </a:r>
            <a:r>
              <a:rPr lang="en-US" dirty="0"/>
              <a:t> is added).</a:t>
            </a:r>
          </a:p>
        </p:txBody>
      </p:sp>
    </p:spTree>
    <p:extLst>
      <p:ext uri="{BB962C8B-B14F-4D97-AF65-F5344CB8AC3E}">
        <p14:creationId xmlns:p14="http://schemas.microsoft.com/office/powerpoint/2010/main" val="3826598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Index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Since </a:t>
            </a:r>
            <a:r>
              <a:rPr lang="en-US" dirty="0"/>
              <a:t>the names </a:t>
            </a:r>
            <a:r>
              <a:rPr lang="en-US" b="1" dirty="0">
                <a:solidFill>
                  <a:srgbClr val="C79F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Gal</a:t>
            </a:r>
            <a:r>
              <a:rPr lang="en-US" dirty="0"/>
              <a:t> and </a:t>
            </a:r>
            <a:r>
              <a:rPr lang="en-US" b="1" dirty="0" smtClean="0">
                <a:solidFill>
                  <a:srgbClr val="756FB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Hope</a:t>
            </a:r>
            <a:r>
              <a:rPr lang="en-US" dirty="0" smtClean="0"/>
              <a:t> </a:t>
            </a:r>
            <a:r>
              <a:rPr lang="en-US" dirty="0"/>
              <a:t>is not in the index table, it fails to search for them if it is not updated.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773" y="1609200"/>
            <a:ext cx="5889042" cy="369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520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Index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To index a field of a table, we may use the keyword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CREATE INDEX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Normally, </a:t>
            </a:r>
            <a:r>
              <a:rPr lang="en-US" dirty="0">
                <a:solidFill>
                  <a:srgbClr val="38A1D3"/>
                </a:solidFill>
              </a:rPr>
              <a:t>the name of the index</a:t>
            </a:r>
            <a:r>
              <a:rPr lang="en-US" dirty="0"/>
              <a:t> is used only when we have to drop the index.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645" y="2699962"/>
            <a:ext cx="5372279" cy="141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633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Index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To drop an index, we may use the following SQL statement.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If </a:t>
            </a:r>
            <a:r>
              <a:rPr lang="en-US" dirty="0"/>
              <a:t>we forget the name of the index, we may find it out by 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SHOW CREATE TABLE</a:t>
            </a:r>
            <a:r>
              <a:rPr lang="en-US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191" y="2487492"/>
            <a:ext cx="5362818" cy="146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130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The manager of a hospital uses two tables, </a:t>
            </a:r>
            <a:r>
              <a:rPr lang="en-US" dirty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PATIENT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ea typeface="Noto Sans CJK TC Light" panose="020B0300000000000000" pitchFamily="34" charset="-128"/>
                <a:cs typeface="Courier New" panose="02070309020205020404" pitchFamily="49" charset="0"/>
              </a:rPr>
              <a:t>ROOM</a:t>
            </a:r>
            <a:r>
              <a:rPr lang="en-US" dirty="0"/>
              <a:t> to manage the data of the patients.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3.5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81" y="2321773"/>
            <a:ext cx="8347364" cy="393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30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SQL statements to complete the following tasks.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n-US" dirty="0"/>
              <a:t>a) Create a view to show the name and capacity of each room, as well as its number of patients. Assume that not every room has patients.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  <a:p>
            <a:r>
              <a:rPr lang="en-US" dirty="0" smtClean="0"/>
              <a:t>(</a:t>
            </a:r>
            <a:r>
              <a:rPr lang="en-US" dirty="0"/>
              <a:t>b) By using the view created in (a), list the name of each room with fewer patients than its capacity.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(</a:t>
            </a:r>
            <a:r>
              <a:rPr lang="en-US" dirty="0"/>
              <a:t>c) By using the view created in (a), list the average number of patients in a room. Exclude the room named B01 in the calculation.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35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(d) Create a view to show the patient identity code, name, sex, Body Mass Index (BMI) and room name of every patient. Assume that some patients has no room assigned.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formula of BMI is: 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(</a:t>
            </a:r>
            <a:r>
              <a:rPr lang="en-US" dirty="0"/>
              <a:t>e) By using the view created in (d), list the lowest BMI of the patients for each sex.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(</a:t>
            </a:r>
            <a:r>
              <a:rPr lang="en-US" dirty="0"/>
              <a:t>f) By using the view created in (d), list the highest BMI of the patients for each room. Assume that every room has a unique name. Sort the result by the room name.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3.5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9697" y="2768138"/>
            <a:ext cx="2417592" cy="999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111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38A1D3"/>
                </a:solidFill>
              </a:rPr>
              <a:t>◣ Solution</a:t>
            </a:r>
          </a:p>
          <a:p>
            <a:r>
              <a:rPr lang="en-US" dirty="0" smtClean="0"/>
              <a:t>(a)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CREATE VIEW RPNUM AS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SELECT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r.ID, RNAME, CAPACITY, COUNT(p.ID) AS PNUM FROM ROOM r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LEFT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JOIN PATIENT p ON r.ID = RID GROUP BY r.ID</a:t>
            </a:r>
          </a:p>
          <a:p>
            <a:endParaRPr lang="en-US" dirty="0"/>
          </a:p>
          <a:p>
            <a:r>
              <a:rPr lang="en-US" dirty="0"/>
              <a:t>(b)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RNAME FROM RPNUM WHERE PNUM &lt; CAPACITY</a:t>
            </a:r>
          </a:p>
          <a:p>
            <a:endParaRPr lang="en-US" dirty="0"/>
          </a:p>
          <a:p>
            <a:r>
              <a:rPr lang="en-US" dirty="0"/>
              <a:t>(c)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AVG(PNUM) FROM RPNUM WHERE RNAME &lt;&gt; 'B01'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083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(d)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CREATE VIEW PBMI AS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SELECT p.ID, PNAME, SEX, WEIGHT/HEIGHT/HEIGHT AS BMI, RNAME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FROM PATIENT p LEFT JOIN ROOM r ON RID = r.ID</a:t>
            </a:r>
          </a:p>
          <a:p>
            <a:endParaRPr lang="en-US" dirty="0"/>
          </a:p>
          <a:p>
            <a:r>
              <a:rPr lang="en-US" dirty="0"/>
              <a:t>(e)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SEX, MIN(BMI) FROM PBMI GROUP BY SEX</a:t>
            </a:r>
          </a:p>
          <a:p>
            <a:endParaRPr lang="en-US" dirty="0"/>
          </a:p>
          <a:p>
            <a:r>
              <a:rPr lang="en-US" dirty="0"/>
              <a:t>(f)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 RNAME, MAX(BMI) FROM PBMI GROUP BY RNAME ORDER BY RNAME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764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Finish Checkpoint 3.5 on P. 188 of your textbook.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a)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VIEW FORDER2 AS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SELECT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CID, f.MID, MNAME, OPRICE*(1-DISCOUNT)*NUM AS TPRICE,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ETA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FORDER f, MEAL m WHERE f.MID =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m.MID</a:t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(b)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MNAME, SUM(TPRICE) FROM FORDER2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WHERE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ETA &lt; '2025-01-25' GROUP BY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MID</a:t>
            </a:r>
          </a:p>
          <a:p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c)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OR REPLACE VIEW FORDER2 AS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SELECT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CID, OPRICE*(1-DISCOUNT)*NUM AS TPRICE, ETA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FORDER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f, MEAL m WHERE f.MID = m.MID and PAID = FALSE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578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(d)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VIEW CPAYMENT AS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SELECT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CNAME, SEX, DEPOSIT, SUM(TPRICE) AS DUE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FROM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CUSTOMER c LEFT JOIN FORDER2 f ON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c.CID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f.CID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GROUP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 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c.CID</a:t>
            </a:r>
            <a:endParaRPr lang="en-US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e)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SEX, SUM(DUE) FROM CPAYMENT GROUP BY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SEX</a:t>
            </a:r>
          </a:p>
          <a:p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(f)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CNAME FROM CPAYMENT WHERE DEPOSIT &lt; DUE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3.5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858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SEPPT_EN_Kelie_20230427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870A11EB-92D6-4F97-997A-48342F7B5A00}" vid="{0765A16F-C91A-4B03-A6B8-7E4395E092E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DSEPPT_EN_Kelie_20230427</Template>
  <TotalTime>1056</TotalTime>
  <Words>3986</Words>
  <Application>Microsoft Office PowerPoint</Application>
  <PresentationFormat>Widescreen</PresentationFormat>
  <Paragraphs>767</Paragraphs>
  <Slides>132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132</vt:i4>
      </vt:variant>
    </vt:vector>
  </HeadingPairs>
  <TitlesOfParts>
    <vt:vector size="141" baseType="lpstr">
      <vt:lpstr>Noto Sans CJK KR Black</vt:lpstr>
      <vt:lpstr>Noto Sans CJK TC Light</vt:lpstr>
      <vt:lpstr>宋体</vt:lpstr>
      <vt:lpstr>Arial</vt:lpstr>
      <vt:lpstr>Calibri</vt:lpstr>
      <vt:lpstr>Courier New</vt:lpstr>
      <vt:lpstr>Myriad Pro</vt:lpstr>
      <vt:lpstr>Tw Cen MT</vt:lpstr>
      <vt:lpstr>DSEPPT_EN_Kelie_20230427</vt:lpstr>
      <vt:lpstr>Chapter 3 SQL Operations on Multiple Tables</vt:lpstr>
      <vt:lpstr>Joining Tables</vt:lpstr>
      <vt:lpstr>PowerPoint Presentation</vt:lpstr>
      <vt:lpstr>PowerPoint Presentation</vt:lpstr>
      <vt:lpstr>PowerPoint Presentation</vt:lpstr>
      <vt:lpstr>Joining Tables</vt:lpstr>
      <vt:lpstr>INNER JOIN</vt:lpstr>
      <vt:lpstr>INNER JOIN</vt:lpstr>
      <vt:lpstr>LEFT JOIN</vt:lpstr>
      <vt:lpstr>LEFT JOIN</vt:lpstr>
      <vt:lpstr>LEFT JOIN</vt:lpstr>
      <vt:lpstr>LEFT JOIN</vt:lpstr>
      <vt:lpstr>LEFT JOIN</vt:lpstr>
      <vt:lpstr>LEFT JOIN</vt:lpstr>
      <vt:lpstr>LEFT JOIN</vt:lpstr>
      <vt:lpstr>RIGHT JOIN</vt:lpstr>
      <vt:lpstr>RIGHT JOIN</vt:lpstr>
      <vt:lpstr>FULL JOIN</vt:lpstr>
      <vt:lpstr>FULL JOIN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Other joining methods</vt:lpstr>
      <vt:lpstr>Other joining methods</vt:lpstr>
      <vt:lpstr>Other joining methods</vt:lpstr>
      <vt:lpstr>Other joining methods</vt:lpstr>
      <vt:lpstr>Other joining methods</vt:lpstr>
      <vt:lpstr>Other joining methods</vt:lpstr>
      <vt:lpstr>Other joining methods</vt:lpstr>
      <vt:lpstr>Other joining methods</vt:lpstr>
      <vt:lpstr>Other joining methods</vt:lpstr>
      <vt:lpstr>Other joining methods</vt:lpstr>
      <vt:lpstr>Other joining methods</vt:lpstr>
      <vt:lpstr>Other joining methods</vt:lpstr>
      <vt:lpstr>Other joining methods</vt:lpstr>
      <vt:lpstr>Other joining methods</vt:lpstr>
      <vt:lpstr>Other joining methods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Subquery</vt:lpstr>
      <vt:lpstr>Subquery</vt:lpstr>
      <vt:lpstr>Subquery</vt:lpstr>
      <vt:lpstr>IN</vt:lpstr>
      <vt:lpstr>IN</vt:lpstr>
      <vt:lpstr>IN</vt:lpstr>
      <vt:lpstr>IN</vt:lpstr>
      <vt:lpstr>IN</vt:lpstr>
      <vt:lpstr>IN</vt:lpstr>
      <vt:lpstr>IN</vt:lpstr>
      <vt:lpstr>IN</vt:lpstr>
      <vt:lpstr>EXISTS</vt:lpstr>
      <vt:lpstr>EXISTS</vt:lpstr>
      <vt:lpstr>EXISTS</vt:lpstr>
      <vt:lpstr>ANY</vt:lpstr>
      <vt:lpstr>ANY</vt:lpstr>
      <vt:lpstr>ANY</vt:lpstr>
      <vt:lpstr>ANY</vt:lpstr>
      <vt:lpstr>ALL</vt:lpstr>
      <vt:lpstr>ALL</vt:lpstr>
      <vt:lpstr>ALL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Combining Results</vt:lpstr>
      <vt:lpstr>UNION</vt:lpstr>
      <vt:lpstr>UNION</vt:lpstr>
      <vt:lpstr>UNION</vt:lpstr>
      <vt:lpstr>UNION</vt:lpstr>
      <vt:lpstr>UNION</vt:lpstr>
      <vt:lpstr>UNION</vt:lpstr>
      <vt:lpstr>UNION ALL</vt:lpstr>
      <vt:lpstr>INTERSECT</vt:lpstr>
      <vt:lpstr>EXCEPT</vt:lpstr>
      <vt:lpstr>EXCEPT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Creating Views and Indices</vt:lpstr>
      <vt:lpstr>View</vt:lpstr>
      <vt:lpstr>View</vt:lpstr>
      <vt:lpstr>View</vt:lpstr>
      <vt:lpstr>VIEW</vt:lpstr>
      <vt:lpstr>VIEW</vt:lpstr>
      <vt:lpstr>VIEW</vt:lpstr>
      <vt:lpstr>VIEW</vt:lpstr>
      <vt:lpstr>VIEW</vt:lpstr>
      <vt:lpstr>VIEW</vt:lpstr>
      <vt:lpstr>VIEW</vt:lpstr>
      <vt:lpstr>VIEW</vt:lpstr>
      <vt:lpstr>VIEW</vt:lpstr>
      <vt:lpstr>VIEW</vt:lpstr>
      <vt:lpstr>VIEW</vt:lpstr>
      <vt:lpstr>VIEW</vt:lpstr>
      <vt:lpstr>VIEW</vt:lpstr>
      <vt:lpstr>VIEW</vt:lpstr>
      <vt:lpstr>VIEW</vt:lpstr>
      <vt:lpstr>VIEW</vt:lpstr>
      <vt:lpstr>VIEW</vt:lpstr>
      <vt:lpstr>Index</vt:lpstr>
      <vt:lpstr>Index</vt:lpstr>
      <vt:lpstr>Index</vt:lpstr>
      <vt:lpstr>Index</vt:lpstr>
      <vt:lpstr>Index</vt:lpstr>
      <vt:lpstr>Index</vt:lpstr>
      <vt:lpstr>Index</vt:lpstr>
      <vt:lpstr>Index</vt:lpstr>
      <vt:lpstr>Index</vt:lpstr>
      <vt:lpstr>Index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iClass</dc:creator>
  <cp:lastModifiedBy>iClass</cp:lastModifiedBy>
  <cp:revision>77</cp:revision>
  <dcterms:created xsi:type="dcterms:W3CDTF">2023-05-05T09:12:31Z</dcterms:created>
  <dcterms:modified xsi:type="dcterms:W3CDTF">2023-05-17T07:41:52Z</dcterms:modified>
</cp:coreProperties>
</file>