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319" r:id="rId21"/>
    <p:sldId id="320" r:id="rId22"/>
    <p:sldId id="321" r:id="rId23"/>
    <p:sldId id="322" r:id="rId24"/>
    <p:sldId id="323" r:id="rId25"/>
    <p:sldId id="276" r:id="rId26"/>
    <p:sldId id="324" r:id="rId27"/>
    <p:sldId id="325"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326" r:id="rId44"/>
    <p:sldId id="327" r:id="rId45"/>
    <p:sldId id="328" r:id="rId46"/>
    <p:sldId id="292" r:id="rId47"/>
    <p:sldId id="329" r:id="rId48"/>
    <p:sldId id="293" r:id="rId49"/>
    <p:sldId id="294" r:id="rId50"/>
    <p:sldId id="295" r:id="rId51"/>
    <p:sldId id="296" r:id="rId52"/>
    <p:sldId id="297" r:id="rId53"/>
    <p:sldId id="330" r:id="rId54"/>
    <p:sldId id="331" r:id="rId55"/>
    <p:sldId id="332" r:id="rId56"/>
    <p:sldId id="298" r:id="rId57"/>
    <p:sldId id="333" r:id="rId58"/>
    <p:sldId id="299" r:id="rId59"/>
    <p:sldId id="300" r:id="rId60"/>
    <p:sldId id="301" r:id="rId61"/>
    <p:sldId id="302" r:id="rId62"/>
    <p:sldId id="303" r:id="rId63"/>
    <p:sldId id="304" r:id="rId64"/>
    <p:sldId id="305" r:id="rId65"/>
    <p:sldId id="306" r:id="rId66"/>
    <p:sldId id="307" r:id="rId67"/>
    <p:sldId id="308" r:id="rId68"/>
    <p:sldId id="309" r:id="rId69"/>
    <p:sldId id="310" r:id="rId70"/>
    <p:sldId id="311" r:id="rId71"/>
    <p:sldId id="312" r:id="rId72"/>
    <p:sldId id="334" r:id="rId73"/>
    <p:sldId id="335" r:id="rId74"/>
    <p:sldId id="336" r:id="rId75"/>
    <p:sldId id="313" r:id="rId76"/>
    <p:sldId id="337" r:id="rId77"/>
    <p:sldId id="314" r:id="rId78"/>
    <p:sldId id="315" r:id="rId79"/>
    <p:sldId id="316" r:id="rId80"/>
    <p:sldId id="317" r:id="rId81"/>
    <p:sldId id="338" r:id="rId82"/>
    <p:sldId id="318"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4FA1"/>
    <a:srgbClr val="1458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6" d="100"/>
          <a:sy n="66" d="100"/>
        </p:scale>
        <p:origin x="-168" y="112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xmlns=""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xmlns=""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xmlns=""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xmlns=""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xmlns=""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xmlns=""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xmlns=""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xmlns=""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xmlns=""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xmlns=""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xmlns=""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xmlns=""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xmlns=""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xmlns=""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xmlns=""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xmlns=""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smtClean="0"/>
              <a:t>Click to edit Master title style</a:t>
            </a:r>
            <a:endParaRPr lang="en-GB" dirty="0"/>
          </a:p>
        </p:txBody>
      </p:sp>
      <p:sp>
        <p:nvSpPr>
          <p:cNvPr id="29" name="TextBox 28">
            <a:extLst>
              <a:ext uri="{FF2B5EF4-FFF2-40B4-BE49-F238E27FC236}">
                <a16:creationId xmlns:a16="http://schemas.microsoft.com/office/drawing/2014/main" xmlns=""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xmlns=""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xmlns="" id="{3CC61186-C2CB-33BF-880D-468C0FE8B484}"/>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xmlns=""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xmlns=""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smtClean="0"/>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xmlns=""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xmlns=""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xmlns=""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xmlns=""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5CE0739-E024-919C-BFC6-CB434061A741}"/>
              </a:ext>
            </a:extLst>
          </p:cNvPr>
          <p:cNvSpPr>
            <a:spLocks noGrp="1"/>
          </p:cNvSpPr>
          <p:nvPr>
            <p:ph type="title"/>
          </p:nvPr>
        </p:nvSpPr>
        <p:spPr/>
        <p:txBody>
          <a:bodyPr/>
          <a:lstStyle/>
          <a:p>
            <a:r>
              <a:rPr lang="en-US" smtClean="0"/>
              <a:t>Click to edit Master title style</a:t>
            </a:r>
            <a:endParaRPr lang="en-GB" dirty="0"/>
          </a:p>
        </p:txBody>
      </p:sp>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xmlns=""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xmlns=""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xmlns=""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8/29/2022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xmlns=""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xmlns=""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a:extLst>
              <a:ext uri="{FF2B5EF4-FFF2-40B4-BE49-F238E27FC236}">
                <a16:creationId xmlns:a16="http://schemas.microsoft.com/office/drawing/2014/main" xmlns=""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xmlns=""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xmlns=""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xmlns=""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xmlns=""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xmlns=""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xmlns=""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xmlns="" id="{BAD2444A-02E0-DED9-A000-1EAA36B2B28F}"/>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4" name="Footer Placeholder 3">
            <a:extLst>
              <a:ext uri="{FF2B5EF4-FFF2-40B4-BE49-F238E27FC236}">
                <a16:creationId xmlns:a16="http://schemas.microsoft.com/office/drawing/2014/main" xmlns=""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xmlns=""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xmlns=""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10" name="Picture Placeholder 9">
            <a:extLst>
              <a:ext uri="{FF2B5EF4-FFF2-40B4-BE49-F238E27FC236}">
                <a16:creationId xmlns:a16="http://schemas.microsoft.com/office/drawing/2014/main" xmlns=""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smtClean="0"/>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xmlns="" id="{210F294E-2671-69F2-AD8E-91EF65CCF609}"/>
              </a:ext>
            </a:extLst>
          </p:cNvPr>
          <p:cNvSpPr>
            <a:spLocks noGrp="1"/>
          </p:cNvSpPr>
          <p:nvPr>
            <p:ph type="dt" sz="half" idx="10"/>
          </p:nvPr>
        </p:nvSpPr>
        <p:spPr/>
        <p:txBody>
          <a:bodyPr/>
          <a:lstStyle/>
          <a:p>
            <a:fld id="{F07CE581-C706-43BB-9E93-1B4DA785C440}" type="datetime1">
              <a:rPr lang="en-US" smtClean="0"/>
              <a:t>8/29/2022</a:t>
            </a:fld>
            <a:endParaRPr lang="en-US" dirty="0"/>
          </a:p>
        </p:txBody>
      </p:sp>
      <p:sp>
        <p:nvSpPr>
          <p:cNvPr id="12" name="Footer Placeholder 11">
            <a:extLst>
              <a:ext uri="{FF2B5EF4-FFF2-40B4-BE49-F238E27FC236}">
                <a16:creationId xmlns:a16="http://schemas.microsoft.com/office/drawing/2014/main" xmlns=""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xmlns=""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615CB804-96AA-A5E1-7170-B54411166665}"/>
              </a:ext>
            </a:extLst>
          </p:cNvPr>
          <p:cNvPicPr>
            <a:picLocks noChangeAspect="1"/>
          </p:cNvPicPr>
          <p:nvPr/>
        </p:nvPicPr>
        <p:blipFill>
          <a:blip r:embed="rId31"/>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8/29/2022</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xmlns=""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21" r:id="rId12"/>
    <p:sldLayoutId id="2147483722" r:id="rId13"/>
    <p:sldLayoutId id="2147483723" r:id="rId14"/>
    <p:sldLayoutId id="2147483724" r:id="rId15"/>
    <p:sldLayoutId id="2147483706" r:id="rId16"/>
    <p:sldLayoutId id="2147483707" r:id="rId17"/>
    <p:sldLayoutId id="2147483708" r:id="rId18"/>
    <p:sldLayoutId id="2147483709" r:id="rId19"/>
    <p:sldLayoutId id="2147483712" r:id="rId20"/>
    <p:sldLayoutId id="2147483714" r:id="rId21"/>
    <p:sldLayoutId id="2147483715" r:id="rId22"/>
    <p:sldLayoutId id="2147483716" r:id="rId23"/>
    <p:sldLayoutId id="2147483717" r:id="rId24"/>
    <p:sldLayoutId id="2147483718" r:id="rId25"/>
    <p:sldLayoutId id="2147483719" r:id="rId26"/>
    <p:sldLayoutId id="2147483720" r:id="rId27"/>
    <p:sldLayoutId id="2147483710" r:id="rId28"/>
    <p:sldLayoutId id="2147483711" r:id="rId29"/>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Chapter 2</a:t>
            </a:r>
            <a:br>
              <a:rPr lang="en-HK" dirty="0" smtClean="0"/>
            </a:br>
            <a:r>
              <a:rPr lang="en-HK" dirty="0" smtClean="0"/>
              <a:t>Computer Hardware</a:t>
            </a:r>
            <a:endParaRPr lang="en-US" dirty="0"/>
          </a:p>
        </p:txBody>
      </p:sp>
    </p:spTree>
    <p:extLst>
      <p:ext uri="{BB962C8B-B14F-4D97-AF65-F5344CB8AC3E}">
        <p14:creationId xmlns:p14="http://schemas.microsoft.com/office/powerpoint/2010/main" val="212480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698201" y="2227812"/>
            <a:ext cx="5655598" cy="4075788"/>
          </a:xfrm>
        </p:spPr>
        <p:txBody>
          <a:bodyPr>
            <a:normAutofit lnSpcReduction="10000"/>
          </a:bodyPr>
          <a:lstStyle/>
          <a:p>
            <a:pPr algn="ctr"/>
            <a:r>
              <a:rPr lang="en-US" b="1" dirty="0"/>
              <a:t>Artificial Intelligence and the GPU</a:t>
            </a:r>
          </a:p>
          <a:p>
            <a:pPr algn="ctr"/>
            <a:r>
              <a:rPr lang="en-US" dirty="0"/>
              <a:t>Do you know why GPUs are used as the core for training artificial </a:t>
            </a:r>
            <a:r>
              <a:rPr lang="en-US" dirty="0" smtClean="0"/>
              <a:t>intelligence</a:t>
            </a:r>
            <a:r>
              <a:rPr lang="en-US" dirty="0"/>
              <a:t>?</a:t>
            </a:r>
          </a:p>
          <a:p>
            <a:pPr algn="ctr"/>
            <a:r>
              <a:rPr lang="en-US" dirty="0" smtClean="0"/>
              <a:t>GPU </a:t>
            </a:r>
            <a:r>
              <a:rPr lang="en-US" dirty="0"/>
              <a:t>is the graphics processor </a:t>
            </a:r>
            <a:r>
              <a:rPr lang="en-US" dirty="0" smtClean="0"/>
              <a:t>unit</a:t>
            </a:r>
            <a:r>
              <a:rPr lang="en-US" dirty="0"/>
              <a:t>, both are made for computing. </a:t>
            </a:r>
            <a:r>
              <a:rPr lang="en-US" dirty="0" smtClean="0"/>
              <a:t>GPUs </a:t>
            </a:r>
            <a:r>
              <a:rPr lang="en-US" dirty="0"/>
              <a:t>are good at doing a lot of simple computing at the same </a:t>
            </a:r>
            <a:r>
              <a:rPr lang="en-US" dirty="0" smtClean="0"/>
              <a:t>time.</a:t>
            </a:r>
            <a:endParaRPr lang="en-HK" dirty="0"/>
          </a:p>
          <a:p>
            <a:pPr algn="ctr"/>
            <a:r>
              <a:rPr lang="en-US" dirty="0"/>
              <a:t>Artificial intelligence needs to quickly </a:t>
            </a:r>
            <a:r>
              <a:rPr lang="en-US" dirty="0" err="1"/>
              <a:t>analyse</a:t>
            </a:r>
            <a:r>
              <a:rPr lang="en-US" dirty="0"/>
              <a:t> a large amount of different data, so the GPU has become the core of deep learning of artificial intelligence.</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a:t>
            </a:fld>
            <a:endParaRPr lang="en-US" dirty="0"/>
          </a:p>
        </p:txBody>
      </p:sp>
      <p:pic>
        <p:nvPicPr>
          <p:cNvPr id="5" name="Picture Placeholder 4"/>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383" r="6383"/>
          <a:stretch>
            <a:fillRect/>
          </a:stretch>
        </p:blipFill>
        <p:spPr/>
      </p:pic>
    </p:spTree>
    <p:extLst>
      <p:ext uri="{BB962C8B-B14F-4D97-AF65-F5344CB8AC3E}">
        <p14:creationId xmlns:p14="http://schemas.microsoft.com/office/powerpoint/2010/main" val="1065213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System Unit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HK" dirty="0" smtClean="0"/>
              <a:t>2.1</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system unit</a:t>
            </a:r>
            <a:r>
              <a:rPr lang="en-US" dirty="0">
                <a:solidFill>
                  <a:srgbClr val="504FA1"/>
                </a:solidFill>
              </a:rPr>
              <a:t> </a:t>
            </a:r>
            <a:r>
              <a:rPr lang="en-US" dirty="0"/>
              <a:t>contains the main components of a computer </a:t>
            </a:r>
            <a:r>
              <a:rPr lang="en-US" dirty="0" smtClean="0"/>
              <a:t>system:</a:t>
            </a:r>
            <a:endParaRPr lang="en-US" dirty="0"/>
          </a:p>
        </p:txBody>
      </p:sp>
      <p:pic>
        <p:nvPicPr>
          <p:cNvPr id="7" name="Picture 6"/>
          <p:cNvPicPr>
            <a:picLocks noChangeAspect="1"/>
          </p:cNvPicPr>
          <p:nvPr/>
        </p:nvPicPr>
        <p:blipFill>
          <a:blip r:embed="rId2"/>
          <a:stretch>
            <a:fillRect/>
          </a:stretch>
        </p:blipFill>
        <p:spPr>
          <a:xfrm>
            <a:off x="1751857" y="2405020"/>
            <a:ext cx="8689485" cy="3784428"/>
          </a:xfrm>
          <a:prstGeom prst="rect">
            <a:avLst/>
          </a:prstGeom>
        </p:spPr>
      </p:pic>
    </p:spTree>
    <p:extLst>
      <p:ext uri="{BB962C8B-B14F-4D97-AF65-F5344CB8AC3E}">
        <p14:creationId xmlns:p14="http://schemas.microsoft.com/office/powerpoint/2010/main" val="1988447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System Unit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HK" dirty="0" smtClean="0"/>
              <a:t>2.1</a:t>
            </a:r>
            <a:endParaRPr lang="en-US" dirty="0"/>
          </a:p>
        </p:txBody>
      </p:sp>
      <p:sp>
        <p:nvSpPr>
          <p:cNvPr id="5" name="Content Placeholder 4"/>
          <p:cNvSpPr>
            <a:spLocks noGrp="1"/>
          </p:cNvSpPr>
          <p:nvPr>
            <p:ph sz="quarter" idx="15"/>
          </p:nvPr>
        </p:nvSpPr>
        <p:spPr/>
        <p:txBody>
          <a:bodyPr/>
          <a:lstStyle/>
          <a:p>
            <a:r>
              <a:rPr lang="en-US" dirty="0"/>
              <a:t>Here are some brief descriptions of the components in a system </a:t>
            </a:r>
            <a:r>
              <a:rPr lang="en-US" dirty="0" smtClean="0"/>
              <a:t>unit:</a:t>
            </a:r>
            <a:endParaRPr lang="en-US" dirty="0"/>
          </a:p>
        </p:txBody>
      </p:sp>
      <p:pic>
        <p:nvPicPr>
          <p:cNvPr id="6" name="Picture 5"/>
          <p:cNvPicPr>
            <a:picLocks noChangeAspect="1"/>
          </p:cNvPicPr>
          <p:nvPr/>
        </p:nvPicPr>
        <p:blipFill>
          <a:blip r:embed="rId2"/>
          <a:stretch>
            <a:fillRect/>
          </a:stretch>
        </p:blipFill>
        <p:spPr>
          <a:xfrm>
            <a:off x="838800" y="2142997"/>
            <a:ext cx="10594375" cy="3360028"/>
          </a:xfrm>
          <a:prstGeom prst="rect">
            <a:avLst/>
          </a:prstGeom>
        </p:spPr>
      </p:pic>
    </p:spTree>
    <p:extLst>
      <p:ext uri="{BB962C8B-B14F-4D97-AF65-F5344CB8AC3E}">
        <p14:creationId xmlns:p14="http://schemas.microsoft.com/office/powerpoint/2010/main" val="3342991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Motherboard</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motherboard</a:t>
            </a:r>
            <a:r>
              <a:rPr lang="en-US" dirty="0"/>
              <a:t> is a circuit board that provides slots and ports for connecting various electrical components or peripheral </a:t>
            </a:r>
            <a:r>
              <a:rPr lang="en-US" dirty="0" smtClean="0"/>
              <a:t>devices.</a:t>
            </a:r>
            <a:endParaRPr lang="en-US" dirty="0"/>
          </a:p>
        </p:txBody>
      </p:sp>
      <p:pic>
        <p:nvPicPr>
          <p:cNvPr id="6" name="Picture 5"/>
          <p:cNvPicPr>
            <a:picLocks noChangeAspect="1"/>
          </p:cNvPicPr>
          <p:nvPr/>
        </p:nvPicPr>
        <p:blipFill>
          <a:blip r:embed="rId2"/>
          <a:stretch>
            <a:fillRect/>
          </a:stretch>
        </p:blipFill>
        <p:spPr>
          <a:xfrm>
            <a:off x="3490805" y="2962613"/>
            <a:ext cx="4264970" cy="2072918"/>
          </a:xfrm>
          <a:prstGeom prst="rect">
            <a:avLst/>
          </a:prstGeom>
        </p:spPr>
      </p:pic>
    </p:spTree>
    <p:extLst>
      <p:ext uri="{BB962C8B-B14F-4D97-AF65-F5344CB8AC3E}">
        <p14:creationId xmlns:p14="http://schemas.microsoft.com/office/powerpoint/2010/main" val="584439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Motherboard</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smtClean="0"/>
              <a:t>Here are the examples </a:t>
            </a:r>
            <a:r>
              <a:rPr lang="en-US" dirty="0"/>
              <a:t>of components or devices to </a:t>
            </a:r>
            <a:r>
              <a:rPr lang="en-US" dirty="0" smtClean="0"/>
              <a:t>connect:</a:t>
            </a:r>
            <a:endParaRPr lang="en-US" b="1" dirty="0"/>
          </a:p>
        </p:txBody>
      </p:sp>
      <p:pic>
        <p:nvPicPr>
          <p:cNvPr id="6" name="Picture 5"/>
          <p:cNvPicPr>
            <a:picLocks noChangeAspect="1"/>
          </p:cNvPicPr>
          <p:nvPr/>
        </p:nvPicPr>
        <p:blipFill>
          <a:blip r:embed="rId2"/>
          <a:stretch>
            <a:fillRect/>
          </a:stretch>
        </p:blipFill>
        <p:spPr>
          <a:xfrm>
            <a:off x="1417210" y="2423941"/>
            <a:ext cx="9358779" cy="2798547"/>
          </a:xfrm>
          <a:prstGeom prst="rect">
            <a:avLst/>
          </a:prstGeom>
        </p:spPr>
      </p:pic>
    </p:spTree>
    <p:extLst>
      <p:ext uri="{BB962C8B-B14F-4D97-AF65-F5344CB8AC3E}">
        <p14:creationId xmlns:p14="http://schemas.microsoft.com/office/powerpoint/2010/main" val="2571167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Processor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central processing unit (CPU) </a:t>
            </a:r>
            <a:r>
              <a:rPr lang="en-US" dirty="0"/>
              <a:t>is a processor that consists of many chips to process data and instructions</a:t>
            </a:r>
            <a:r>
              <a:rPr lang="en-US" dirty="0" smtClean="0"/>
              <a:t>.</a:t>
            </a:r>
          </a:p>
          <a:p>
            <a:endParaRPr lang="en-HK" dirty="0"/>
          </a:p>
          <a:p>
            <a:endParaRPr lang="en-HK" dirty="0" smtClean="0"/>
          </a:p>
          <a:p>
            <a:endParaRPr lang="en-HK" dirty="0"/>
          </a:p>
          <a:p>
            <a:endParaRPr lang="en-HK" dirty="0" smtClean="0"/>
          </a:p>
          <a:p>
            <a:endParaRPr lang="en-HK" dirty="0"/>
          </a:p>
          <a:p>
            <a:endParaRPr lang="en-HK" dirty="0" smtClean="0"/>
          </a:p>
          <a:p>
            <a:r>
              <a:rPr lang="en-US" dirty="0"/>
              <a:t>The number of bits processed by a CPU each time is called </a:t>
            </a:r>
            <a:r>
              <a:rPr lang="en-US" b="1" dirty="0"/>
              <a:t>word length </a:t>
            </a:r>
            <a:r>
              <a:rPr lang="en-US" dirty="0"/>
              <a:t>or </a:t>
            </a:r>
            <a:r>
              <a:rPr lang="en-US" b="1" dirty="0"/>
              <a:t>word size</a:t>
            </a:r>
            <a:r>
              <a:rPr lang="en-US" dirty="0"/>
              <a:t>.</a:t>
            </a:r>
          </a:p>
        </p:txBody>
      </p:sp>
      <p:pic>
        <p:nvPicPr>
          <p:cNvPr id="6" name="Picture 5"/>
          <p:cNvPicPr>
            <a:picLocks noChangeAspect="1"/>
          </p:cNvPicPr>
          <p:nvPr/>
        </p:nvPicPr>
        <p:blipFill>
          <a:blip r:embed="rId2"/>
          <a:stretch>
            <a:fillRect/>
          </a:stretch>
        </p:blipFill>
        <p:spPr>
          <a:xfrm>
            <a:off x="3782918" y="2390649"/>
            <a:ext cx="4155737" cy="2567173"/>
          </a:xfrm>
          <a:prstGeom prst="rect">
            <a:avLst/>
          </a:prstGeom>
        </p:spPr>
      </p:pic>
    </p:spTree>
    <p:extLst>
      <p:ext uri="{BB962C8B-B14F-4D97-AF65-F5344CB8AC3E}">
        <p14:creationId xmlns:p14="http://schemas.microsoft.com/office/powerpoint/2010/main" val="3463748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Processor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smtClean="0"/>
              <a:t>A </a:t>
            </a:r>
            <a:r>
              <a:rPr lang="en-US" b="1" dirty="0">
                <a:solidFill>
                  <a:srgbClr val="504FA1"/>
                </a:solidFill>
              </a:rPr>
              <a:t>graphics processing unit (GPU) </a:t>
            </a:r>
            <a:r>
              <a:rPr lang="en-US" dirty="0"/>
              <a:t>is a processor that processes data and executes commands</a:t>
            </a:r>
            <a:r>
              <a:rPr lang="en-US" dirty="0" smtClean="0"/>
              <a:t>. </a:t>
            </a:r>
            <a:br>
              <a:rPr lang="en-US" dirty="0" smtClean="0"/>
            </a:br>
            <a:endParaRPr lang="en-US" dirty="0" smtClean="0"/>
          </a:p>
          <a:p>
            <a:r>
              <a:rPr lang="en-HK" dirty="0" smtClean="0"/>
              <a:t>Comparing to CPU:</a:t>
            </a:r>
            <a:br>
              <a:rPr lang="en-HK" dirty="0" smtClean="0"/>
            </a:br>
            <a:endParaRPr lang="en-HK" dirty="0" smtClean="0"/>
          </a:p>
          <a:p>
            <a:pPr marL="342900" indent="-342900">
              <a:buFont typeface="Arial" panose="020B0604020202020204" pitchFamily="34" charset="0"/>
              <a:buChar char="•"/>
            </a:pPr>
            <a:r>
              <a:rPr lang="en-US" dirty="0" smtClean="0"/>
              <a:t>A </a:t>
            </a:r>
            <a:r>
              <a:rPr lang="en-US" dirty="0"/>
              <a:t>GPU is more </a:t>
            </a:r>
            <a:r>
              <a:rPr lang="en-US" dirty="0" err="1"/>
              <a:t>specialised</a:t>
            </a:r>
            <a:r>
              <a:rPr lang="en-US" dirty="0"/>
              <a:t> in graphic rendering </a:t>
            </a:r>
            <a:r>
              <a:rPr lang="en-US" dirty="0" smtClean="0"/>
              <a:t/>
            </a:r>
            <a:br>
              <a:rPr lang="en-US" dirty="0" smtClean="0"/>
            </a:br>
            <a:r>
              <a:rPr lang="en-US" dirty="0" smtClean="0"/>
              <a:t>while a </a:t>
            </a:r>
            <a:r>
              <a:rPr lang="en-US" dirty="0"/>
              <a:t>CPU is </a:t>
            </a:r>
            <a:r>
              <a:rPr lang="en-US" dirty="0" smtClean="0"/>
              <a:t>made </a:t>
            </a:r>
            <a:r>
              <a:rPr lang="en-US" dirty="0"/>
              <a:t>to handle various types of </a:t>
            </a:r>
            <a:r>
              <a:rPr lang="en-US" dirty="0" smtClean="0"/>
              <a:t>tasks.</a:t>
            </a:r>
            <a:br>
              <a:rPr lang="en-US" dirty="0" smtClean="0"/>
            </a:br>
            <a:endParaRPr lang="en-US" dirty="0" smtClean="0"/>
          </a:p>
          <a:p>
            <a:pPr marL="342900" indent="-342900">
              <a:buFont typeface="Arial" panose="020B0604020202020204" pitchFamily="34" charset="0"/>
              <a:buChar char="•"/>
            </a:pPr>
            <a:r>
              <a:rPr lang="en-US" dirty="0" smtClean="0"/>
              <a:t>A </a:t>
            </a:r>
            <a:r>
              <a:rPr lang="en-US" dirty="0"/>
              <a:t>GPU has more cores and is thus more capable </a:t>
            </a:r>
            <a:r>
              <a:rPr lang="en-US" dirty="0" smtClean="0"/>
              <a:t/>
            </a:r>
            <a:br>
              <a:rPr lang="en-US" dirty="0" smtClean="0"/>
            </a:br>
            <a:r>
              <a:rPr lang="en-US" dirty="0" smtClean="0"/>
              <a:t>of </a:t>
            </a:r>
            <a:r>
              <a:rPr lang="en-US" dirty="0"/>
              <a:t>multitasking.</a:t>
            </a:r>
          </a:p>
        </p:txBody>
      </p:sp>
      <p:pic>
        <p:nvPicPr>
          <p:cNvPr id="6" name="Picture 5"/>
          <p:cNvPicPr>
            <a:picLocks noChangeAspect="1"/>
          </p:cNvPicPr>
          <p:nvPr/>
        </p:nvPicPr>
        <p:blipFill>
          <a:blip r:embed="rId2"/>
          <a:stretch>
            <a:fillRect/>
          </a:stretch>
        </p:blipFill>
        <p:spPr>
          <a:xfrm>
            <a:off x="7418991" y="3293588"/>
            <a:ext cx="3714675" cy="2132250"/>
          </a:xfrm>
          <a:prstGeom prst="rect">
            <a:avLst/>
          </a:prstGeom>
        </p:spPr>
      </p:pic>
    </p:spTree>
    <p:extLst>
      <p:ext uri="{BB962C8B-B14F-4D97-AF65-F5344CB8AC3E}">
        <p14:creationId xmlns:p14="http://schemas.microsoft.com/office/powerpoint/2010/main" val="2605841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Processor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9</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graphics card</a:t>
            </a:r>
            <a:r>
              <a:rPr lang="en-US" dirty="0"/>
              <a:t> is also known as a display card or a video card. It contains a GPU and other components like</a:t>
            </a:r>
            <a:r>
              <a:rPr lang="en-US" dirty="0" smtClean="0"/>
              <a:t>:</a:t>
            </a:r>
            <a:br>
              <a:rPr lang="en-US" dirty="0" smtClean="0"/>
            </a:br>
            <a:endParaRPr lang="en-US" dirty="0" smtClean="0"/>
          </a:p>
          <a:p>
            <a:pPr marL="342900" indent="-342900">
              <a:buFont typeface="Arial" panose="020B0604020202020204" pitchFamily="34" charset="0"/>
              <a:buChar char="•"/>
            </a:pPr>
            <a:r>
              <a:rPr lang="en-US" dirty="0" smtClean="0"/>
              <a:t>RAM</a:t>
            </a:r>
            <a:r>
              <a:rPr lang="en-US" dirty="0"/>
              <a:t>: Unlike the RAM in the system unit, this RAM is only used for graphics </a:t>
            </a:r>
            <a:r>
              <a:rPr lang="en-US" dirty="0" smtClean="0"/>
              <a:t>processing.</a:t>
            </a:r>
            <a:br>
              <a:rPr lang="en-US" dirty="0" smtClean="0"/>
            </a:br>
            <a:endParaRPr lang="en-US" dirty="0" smtClean="0"/>
          </a:p>
          <a:p>
            <a:pPr marL="342900" indent="-342900">
              <a:buFont typeface="Arial" panose="020B0604020202020204" pitchFamily="34" charset="0"/>
              <a:buChar char="•"/>
            </a:pPr>
            <a:r>
              <a:rPr lang="en-US" dirty="0" smtClean="0"/>
              <a:t>Digital-to-analog </a:t>
            </a:r>
            <a:r>
              <a:rPr lang="en-US" dirty="0"/>
              <a:t>converter: It converts the processing results into analog signals and transfers them to display units such as computer monitors or projectors</a:t>
            </a:r>
          </a:p>
        </p:txBody>
      </p:sp>
    </p:spTree>
    <p:extLst>
      <p:ext uri="{BB962C8B-B14F-4D97-AF65-F5344CB8AC3E}">
        <p14:creationId xmlns:p14="http://schemas.microsoft.com/office/powerpoint/2010/main" val="1949101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Processor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10</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GPU can be integrated into the chipset of a motherboard or a CPU. In such a case, it is called </a:t>
            </a:r>
            <a:r>
              <a:rPr lang="en-US" dirty="0" err="1"/>
              <a:t>iGPU</a:t>
            </a:r>
            <a:r>
              <a:rPr lang="en-US" dirty="0" smtClean="0"/>
              <a:t>.</a:t>
            </a:r>
          </a:p>
          <a:p>
            <a:endParaRPr lang="en-HK" dirty="0"/>
          </a:p>
          <a:p>
            <a:r>
              <a:rPr lang="en-US" dirty="0"/>
              <a:t>Comparison between graphics card and </a:t>
            </a:r>
            <a:r>
              <a:rPr lang="en-US" dirty="0" err="1" smtClean="0"/>
              <a:t>iGPU</a:t>
            </a:r>
            <a:r>
              <a:rPr lang="en-US" dirty="0" smtClean="0"/>
              <a:t>:</a:t>
            </a:r>
            <a:endParaRPr lang="en-US" dirty="0"/>
          </a:p>
        </p:txBody>
      </p:sp>
      <p:pic>
        <p:nvPicPr>
          <p:cNvPr id="6" name="Picture 5"/>
          <p:cNvPicPr>
            <a:picLocks noChangeAspect="1"/>
          </p:cNvPicPr>
          <p:nvPr/>
        </p:nvPicPr>
        <p:blipFill>
          <a:blip r:embed="rId2"/>
          <a:stretch>
            <a:fillRect/>
          </a:stretch>
        </p:blipFill>
        <p:spPr>
          <a:xfrm>
            <a:off x="838800" y="3581515"/>
            <a:ext cx="10515000" cy="2190876"/>
          </a:xfrm>
          <a:prstGeom prst="rect">
            <a:avLst/>
          </a:prstGeom>
        </p:spPr>
      </p:pic>
    </p:spTree>
    <p:extLst>
      <p:ext uri="{BB962C8B-B14F-4D97-AF65-F5344CB8AC3E}">
        <p14:creationId xmlns:p14="http://schemas.microsoft.com/office/powerpoint/2010/main" val="3624403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Storage device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11</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lstStyle/>
          <a:p>
            <a:r>
              <a:rPr lang="en-HK" dirty="0" smtClean="0"/>
              <a:t>There are different types of </a:t>
            </a:r>
            <a:r>
              <a:rPr lang="en-HK" b="1" dirty="0" smtClean="0">
                <a:solidFill>
                  <a:srgbClr val="504FA1"/>
                </a:solidFill>
              </a:rPr>
              <a:t>storage devices</a:t>
            </a:r>
            <a:r>
              <a:rPr lang="en-HK" dirty="0" smtClean="0"/>
              <a:t>:</a:t>
            </a:r>
          </a:p>
          <a:p>
            <a:endParaRPr lang="en-HK" dirty="0"/>
          </a:p>
          <a:p>
            <a:pPr marL="342900" indent="-342900">
              <a:buFont typeface="Arial" panose="020B0604020202020204" pitchFamily="34" charset="0"/>
              <a:buChar char="•"/>
            </a:pPr>
            <a:r>
              <a:rPr lang="en-HK" dirty="0" smtClean="0"/>
              <a:t>Main memory </a:t>
            </a:r>
          </a:p>
          <a:p>
            <a:pPr marL="342900" indent="-342900">
              <a:buFont typeface="Arial" panose="020B0604020202020204" pitchFamily="34" charset="0"/>
              <a:buChar char="•"/>
            </a:pPr>
            <a:r>
              <a:rPr lang="en-HK" dirty="0" smtClean="0"/>
              <a:t>Secondary storage</a:t>
            </a:r>
          </a:p>
          <a:p>
            <a:endParaRPr lang="en-US" dirty="0"/>
          </a:p>
        </p:txBody>
      </p:sp>
    </p:spTree>
    <p:extLst>
      <p:ext uri="{BB962C8B-B14F-4D97-AF65-F5344CB8AC3E}">
        <p14:creationId xmlns:p14="http://schemas.microsoft.com/office/powerpoint/2010/main" val="3388418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Storage devices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12</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Main memory </a:t>
            </a:r>
            <a:r>
              <a:rPr lang="en-US" dirty="0"/>
              <a:t>(also known as </a:t>
            </a:r>
            <a:r>
              <a:rPr lang="en-US" b="1" dirty="0">
                <a:solidFill>
                  <a:srgbClr val="504FA1"/>
                </a:solidFill>
              </a:rPr>
              <a:t>primary storage</a:t>
            </a:r>
            <a:r>
              <a:rPr lang="en-US" dirty="0"/>
              <a:t>) often refers to two types of memory: </a:t>
            </a:r>
            <a:br>
              <a:rPr lang="en-US" dirty="0"/>
            </a:br>
            <a:endParaRPr lang="en-US" dirty="0" smtClean="0"/>
          </a:p>
          <a:p>
            <a:pPr marL="342900" indent="-342900">
              <a:buFont typeface="Arial" panose="020B0604020202020204" pitchFamily="34" charset="0"/>
              <a:buChar char="•"/>
            </a:pPr>
            <a:r>
              <a:rPr lang="en-US" dirty="0" smtClean="0"/>
              <a:t>Read-only </a:t>
            </a:r>
            <a:r>
              <a:rPr lang="en-US" dirty="0"/>
              <a:t>memory (</a:t>
            </a:r>
            <a:r>
              <a:rPr lang="en-US" dirty="0" smtClean="0"/>
              <a:t>ROM)</a:t>
            </a:r>
          </a:p>
          <a:p>
            <a:pPr marL="342900" indent="-342900">
              <a:buFont typeface="Arial" panose="020B0604020202020204" pitchFamily="34" charset="0"/>
              <a:buChar char="•"/>
            </a:pPr>
            <a:r>
              <a:rPr lang="en-US" dirty="0" smtClean="0"/>
              <a:t>Random </a:t>
            </a:r>
            <a:r>
              <a:rPr lang="en-US" dirty="0"/>
              <a:t>access memory (RAM). </a:t>
            </a:r>
            <a:endParaRPr lang="en-US" dirty="0" smtClean="0"/>
          </a:p>
          <a:p>
            <a:pPr marL="342900" indent="-342900">
              <a:buFont typeface="Arial" panose="020B0604020202020204" pitchFamily="34" charset="0"/>
              <a:buChar char="•"/>
            </a:pPr>
            <a:endParaRPr lang="en-HK" dirty="0"/>
          </a:p>
          <a:p>
            <a:r>
              <a:rPr lang="en-US" dirty="0"/>
              <a:t>ROM is </a:t>
            </a:r>
            <a:r>
              <a:rPr lang="en-US" b="1" dirty="0"/>
              <a:t>non-volatile</a:t>
            </a:r>
            <a:r>
              <a:rPr lang="en-US" dirty="0"/>
              <a:t>, meaning that its data persists even the computer shuts down; while RAM is </a:t>
            </a:r>
            <a:r>
              <a:rPr lang="en-US" b="1" dirty="0"/>
              <a:t>volatile</a:t>
            </a:r>
            <a:r>
              <a:rPr lang="en-US" dirty="0"/>
              <a:t>, meaning that its data disappears once the computer shuts down.</a:t>
            </a:r>
            <a:endParaRPr lang="en-HK" dirty="0" smtClean="0"/>
          </a:p>
        </p:txBody>
      </p:sp>
      <p:pic>
        <p:nvPicPr>
          <p:cNvPr id="6" name="Picture 5"/>
          <p:cNvPicPr>
            <a:picLocks noChangeAspect="1"/>
          </p:cNvPicPr>
          <p:nvPr/>
        </p:nvPicPr>
        <p:blipFill>
          <a:blip r:embed="rId2"/>
          <a:stretch>
            <a:fillRect/>
          </a:stretch>
        </p:blipFill>
        <p:spPr>
          <a:xfrm>
            <a:off x="1139875" y="4979325"/>
            <a:ext cx="9913450" cy="1219890"/>
          </a:xfrm>
          <a:prstGeom prst="rect">
            <a:avLst/>
          </a:prstGeom>
        </p:spPr>
      </p:pic>
    </p:spTree>
    <p:extLst>
      <p:ext uri="{BB962C8B-B14F-4D97-AF65-F5344CB8AC3E}">
        <p14:creationId xmlns:p14="http://schemas.microsoft.com/office/powerpoint/2010/main" val="1936943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Power supply unit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13</a:t>
            </a:fld>
            <a:endParaRPr lang="en-US" dirty="0"/>
          </a:p>
        </p:txBody>
      </p:sp>
      <p:sp>
        <p:nvSpPr>
          <p:cNvPr id="4" name="Text Placeholder 3"/>
          <p:cNvSpPr>
            <a:spLocks noGrp="1"/>
          </p:cNvSpPr>
          <p:nvPr>
            <p:ph type="body" sz="quarter" idx="14"/>
          </p:nvPr>
        </p:nvSpPr>
        <p:spPr/>
        <p:txBody>
          <a:bodyPr/>
          <a:lstStyle/>
          <a:p>
            <a:r>
              <a:rPr lang="en-HK" dirty="0" smtClean="0"/>
              <a:t>D</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power supply unit (PSU) </a:t>
            </a:r>
            <a:r>
              <a:rPr lang="en-US" dirty="0"/>
              <a:t>converts high-voltage alternating current (AC) to low-voltage direct current (DC), which provides suitable power for computers to operate</a:t>
            </a:r>
            <a:r>
              <a:rPr lang="en-US" dirty="0" smtClean="0"/>
              <a:t>.</a:t>
            </a:r>
          </a:p>
          <a:p>
            <a:endParaRPr lang="en-HK" dirty="0"/>
          </a:p>
          <a:p>
            <a:endParaRPr lang="en-HK" dirty="0" smtClean="0"/>
          </a:p>
          <a:p>
            <a:endParaRPr lang="en-HK" dirty="0"/>
          </a:p>
          <a:p>
            <a:endParaRPr lang="en-HK" dirty="0" smtClean="0"/>
          </a:p>
          <a:p>
            <a:endParaRPr lang="en-HK" dirty="0"/>
          </a:p>
          <a:p>
            <a:endParaRPr lang="en-HK" dirty="0" smtClean="0"/>
          </a:p>
          <a:p>
            <a:r>
              <a:rPr lang="en-US" dirty="0"/>
              <a:t>There are PSUs with different powers to cater for the need of different computer systems.</a:t>
            </a:r>
          </a:p>
        </p:txBody>
      </p:sp>
      <p:pic>
        <p:nvPicPr>
          <p:cNvPr id="6" name="Picture 5"/>
          <p:cNvPicPr>
            <a:picLocks noChangeAspect="1"/>
          </p:cNvPicPr>
          <p:nvPr/>
        </p:nvPicPr>
        <p:blipFill>
          <a:blip r:embed="rId2"/>
          <a:stretch>
            <a:fillRect/>
          </a:stretch>
        </p:blipFill>
        <p:spPr>
          <a:xfrm>
            <a:off x="4124917" y="2689006"/>
            <a:ext cx="3777111" cy="2520388"/>
          </a:xfrm>
          <a:prstGeom prst="rect">
            <a:avLst/>
          </a:prstGeom>
        </p:spPr>
      </p:pic>
    </p:spTree>
    <p:extLst>
      <p:ext uri="{BB962C8B-B14F-4D97-AF65-F5344CB8AC3E}">
        <p14:creationId xmlns:p14="http://schemas.microsoft.com/office/powerpoint/2010/main" val="2090327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Bus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14</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US" dirty="0"/>
              <a:t>A computer system connects every component by transferring data and control signals using </a:t>
            </a:r>
            <a:r>
              <a:rPr lang="en-US" b="1" dirty="0">
                <a:solidFill>
                  <a:srgbClr val="504FA1"/>
                </a:solidFill>
              </a:rPr>
              <a:t>buses</a:t>
            </a:r>
            <a:r>
              <a:rPr lang="en-US" dirty="0"/>
              <a:t>. There are different types of </a:t>
            </a:r>
            <a:r>
              <a:rPr lang="en-US" dirty="0" smtClean="0"/>
              <a:t>buses:</a:t>
            </a:r>
            <a:br>
              <a:rPr lang="en-US" dirty="0" smtClean="0"/>
            </a:br>
            <a:endParaRPr lang="en-US" dirty="0" smtClean="0"/>
          </a:p>
          <a:p>
            <a:pPr marL="342900" indent="-342900">
              <a:buFont typeface="Arial" panose="020B0604020202020204" pitchFamily="34" charset="0"/>
              <a:buChar char="•"/>
            </a:pPr>
            <a:r>
              <a:rPr lang="en-HK" dirty="0" smtClean="0"/>
              <a:t>System bus</a:t>
            </a:r>
          </a:p>
          <a:p>
            <a:pPr marL="342900" indent="-342900">
              <a:buFont typeface="Arial" panose="020B0604020202020204" pitchFamily="34" charset="0"/>
              <a:buChar char="•"/>
            </a:pPr>
            <a:r>
              <a:rPr lang="en-HK" dirty="0" smtClean="0"/>
              <a:t>Universal serial bus</a:t>
            </a:r>
          </a:p>
        </p:txBody>
      </p:sp>
      <p:pic>
        <p:nvPicPr>
          <p:cNvPr id="6" name="Picture 5"/>
          <p:cNvPicPr>
            <a:picLocks noChangeAspect="1"/>
          </p:cNvPicPr>
          <p:nvPr/>
        </p:nvPicPr>
        <p:blipFill>
          <a:blip r:embed="rId2"/>
          <a:stretch>
            <a:fillRect/>
          </a:stretch>
        </p:blipFill>
        <p:spPr>
          <a:xfrm>
            <a:off x="6440786" y="2869200"/>
            <a:ext cx="4322920" cy="2409382"/>
          </a:xfrm>
          <a:prstGeom prst="rect">
            <a:avLst/>
          </a:prstGeom>
        </p:spPr>
      </p:pic>
    </p:spTree>
    <p:extLst>
      <p:ext uri="{BB962C8B-B14F-4D97-AF65-F5344CB8AC3E}">
        <p14:creationId xmlns:p14="http://schemas.microsoft.com/office/powerpoint/2010/main" val="68002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Bus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15</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system bus </a:t>
            </a:r>
            <a:r>
              <a:rPr lang="en-US" dirty="0"/>
              <a:t>transfers data and control signals between processors and various components</a:t>
            </a:r>
            <a:r>
              <a:rPr lang="en-US" dirty="0" smtClean="0"/>
              <a:t>.</a:t>
            </a:r>
            <a:br>
              <a:rPr lang="en-US" dirty="0" smtClean="0"/>
            </a:br>
            <a:r>
              <a:rPr lang="en-US" dirty="0" smtClean="0"/>
              <a:t> </a:t>
            </a:r>
            <a:endParaRPr lang="en-US" dirty="0"/>
          </a:p>
          <a:p>
            <a:r>
              <a:rPr lang="en-US" dirty="0" smtClean="0"/>
              <a:t>The </a:t>
            </a:r>
            <a:r>
              <a:rPr lang="en-US" dirty="0"/>
              <a:t>amount of data that a bus can transfer at a time is called </a:t>
            </a:r>
            <a:r>
              <a:rPr lang="en-US" b="1" dirty="0"/>
              <a:t>bus width</a:t>
            </a:r>
            <a:r>
              <a:rPr lang="en-US" dirty="0"/>
              <a:t>. </a:t>
            </a:r>
            <a:r>
              <a:rPr lang="en-US" dirty="0" smtClean="0"/>
              <a:t>The </a:t>
            </a:r>
            <a:r>
              <a:rPr lang="en-US" dirty="0"/>
              <a:t>bus width of a computer is usually the same as the word length of a CPU.</a:t>
            </a:r>
          </a:p>
        </p:txBody>
      </p:sp>
      <p:pic>
        <p:nvPicPr>
          <p:cNvPr id="6" name="Picture 5"/>
          <p:cNvPicPr>
            <a:picLocks noChangeAspect="1"/>
          </p:cNvPicPr>
          <p:nvPr/>
        </p:nvPicPr>
        <p:blipFill>
          <a:blip r:embed="rId2"/>
          <a:stretch>
            <a:fillRect/>
          </a:stretch>
        </p:blipFill>
        <p:spPr>
          <a:xfrm>
            <a:off x="2808130" y="3536899"/>
            <a:ext cx="6576940" cy="2555326"/>
          </a:xfrm>
          <a:prstGeom prst="rect">
            <a:avLst/>
          </a:prstGeom>
        </p:spPr>
      </p:pic>
    </p:spTree>
    <p:extLst>
      <p:ext uri="{BB962C8B-B14F-4D97-AF65-F5344CB8AC3E}">
        <p14:creationId xmlns:p14="http://schemas.microsoft.com/office/powerpoint/2010/main" val="394542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Bus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16</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HK" dirty="0" smtClean="0"/>
              <a:t>There are different types of system buses:</a:t>
            </a:r>
            <a:endParaRPr lang="en-US" dirty="0"/>
          </a:p>
        </p:txBody>
      </p:sp>
      <p:pic>
        <p:nvPicPr>
          <p:cNvPr id="6" name="Picture 5"/>
          <p:cNvPicPr>
            <a:picLocks noChangeAspect="1"/>
          </p:cNvPicPr>
          <p:nvPr/>
        </p:nvPicPr>
        <p:blipFill>
          <a:blip r:embed="rId2"/>
          <a:stretch>
            <a:fillRect/>
          </a:stretch>
        </p:blipFill>
        <p:spPr>
          <a:xfrm>
            <a:off x="1210875" y="2512800"/>
            <a:ext cx="9771450" cy="2348848"/>
          </a:xfrm>
          <a:prstGeom prst="rect">
            <a:avLst/>
          </a:prstGeom>
        </p:spPr>
      </p:pic>
    </p:spTree>
    <p:extLst>
      <p:ext uri="{BB962C8B-B14F-4D97-AF65-F5344CB8AC3E}">
        <p14:creationId xmlns:p14="http://schemas.microsoft.com/office/powerpoint/2010/main" val="2613540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Bus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17</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Universal serial bus (USB) </a:t>
            </a:r>
            <a:r>
              <a:rPr lang="en-US" dirty="0"/>
              <a:t>is commonly used for connecting external devices, such as keyboards, computer mice, printers, webcams, image scanners, external storage devices, etc. </a:t>
            </a:r>
            <a:r>
              <a:rPr lang="en-US" dirty="0" smtClean="0"/>
              <a:t/>
            </a:r>
            <a:br>
              <a:rPr lang="en-US" dirty="0" smtClean="0"/>
            </a:br>
            <a:endParaRPr lang="en-US" dirty="0" smtClean="0"/>
          </a:p>
          <a:p>
            <a:r>
              <a:rPr lang="en-US" dirty="0" smtClean="0"/>
              <a:t>A </a:t>
            </a:r>
            <a:r>
              <a:rPr lang="en-US" dirty="0"/>
              <a:t>motherboard usually has multiple USB ports for connecting these devices. </a:t>
            </a:r>
            <a:r>
              <a:rPr lang="en-US" dirty="0" smtClean="0"/>
              <a:t>There </a:t>
            </a:r>
            <a:r>
              <a:rPr lang="en-US" dirty="0"/>
              <a:t>are different standards for USB </a:t>
            </a:r>
            <a:r>
              <a:rPr lang="en-US" dirty="0" smtClean="0"/>
              <a:t>ports:</a:t>
            </a:r>
            <a:endParaRPr lang="en-US" dirty="0"/>
          </a:p>
        </p:txBody>
      </p:sp>
      <p:pic>
        <p:nvPicPr>
          <p:cNvPr id="7" name="Picture 6"/>
          <p:cNvPicPr>
            <a:picLocks noChangeAspect="1"/>
          </p:cNvPicPr>
          <p:nvPr/>
        </p:nvPicPr>
        <p:blipFill>
          <a:blip r:embed="rId2"/>
          <a:stretch>
            <a:fillRect/>
          </a:stretch>
        </p:blipFill>
        <p:spPr>
          <a:xfrm>
            <a:off x="1193705" y="3838575"/>
            <a:ext cx="9805790" cy="2344862"/>
          </a:xfrm>
          <a:prstGeom prst="rect">
            <a:avLst/>
          </a:prstGeom>
          <a:ln w="12700">
            <a:solidFill>
              <a:srgbClr val="145897"/>
            </a:solidFill>
          </a:ln>
        </p:spPr>
      </p:pic>
    </p:spTree>
    <p:extLst>
      <p:ext uri="{BB962C8B-B14F-4D97-AF65-F5344CB8AC3E}">
        <p14:creationId xmlns:p14="http://schemas.microsoft.com/office/powerpoint/2010/main" val="2311348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Bus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18</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US" dirty="0"/>
              <a:t>We can distinguish among USB 1.0, USB 2.0 and USB 3.0 by the </a:t>
            </a:r>
            <a:r>
              <a:rPr lang="en-US" dirty="0" err="1"/>
              <a:t>colour</a:t>
            </a:r>
            <a:r>
              <a:rPr lang="en-US" dirty="0"/>
              <a:t> of the </a:t>
            </a:r>
            <a:r>
              <a:rPr lang="en-US" dirty="0" smtClean="0"/>
              <a:t>plugs:</a:t>
            </a:r>
            <a:endParaRPr lang="en-US" dirty="0"/>
          </a:p>
        </p:txBody>
      </p:sp>
      <p:pic>
        <p:nvPicPr>
          <p:cNvPr id="6" name="Picture 5"/>
          <p:cNvPicPr>
            <a:picLocks noChangeAspect="1"/>
          </p:cNvPicPr>
          <p:nvPr/>
        </p:nvPicPr>
        <p:blipFill>
          <a:blip r:embed="rId2"/>
          <a:stretch>
            <a:fillRect/>
          </a:stretch>
        </p:blipFill>
        <p:spPr>
          <a:xfrm>
            <a:off x="1104507" y="2411200"/>
            <a:ext cx="9984185" cy="1976783"/>
          </a:xfrm>
          <a:prstGeom prst="rect">
            <a:avLst/>
          </a:prstGeom>
        </p:spPr>
      </p:pic>
    </p:spTree>
    <p:extLst>
      <p:ext uri="{BB962C8B-B14F-4D97-AF65-F5344CB8AC3E}">
        <p14:creationId xmlns:p14="http://schemas.microsoft.com/office/powerpoint/2010/main" val="1471269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Which of the following components must be found in a system unit?</a:t>
            </a:r>
            <a:br>
              <a:rPr lang="en-US" dirty="0"/>
            </a:br>
            <a:endParaRPr lang="en-US" dirty="0"/>
          </a:p>
          <a:p>
            <a:pPr marL="1257300" lvl="2" indent="-342900">
              <a:buSzPct val="100000"/>
              <a:buAutoNum type="arabicParenBoth"/>
            </a:pPr>
            <a:r>
              <a:rPr lang="en-HK" sz="2000" dirty="0" smtClean="0"/>
              <a:t>RAM</a:t>
            </a:r>
            <a:endParaRPr lang="en-US" sz="2000" dirty="0"/>
          </a:p>
          <a:p>
            <a:pPr marL="1257300" lvl="2" indent="-342900">
              <a:buSzPct val="100000"/>
              <a:buAutoNum type="arabicParenBoth"/>
            </a:pPr>
            <a:r>
              <a:rPr lang="en-HK" sz="2000" dirty="0" smtClean="0"/>
              <a:t>Hard disk</a:t>
            </a:r>
            <a:endParaRPr lang="en-US" sz="2000" dirty="0"/>
          </a:p>
          <a:p>
            <a:pPr marL="1257300" lvl="2" indent="-342900">
              <a:buSzPct val="100000"/>
              <a:buAutoNum type="arabicParenBoth"/>
            </a:pPr>
            <a:r>
              <a:rPr lang="en-US" sz="2000" dirty="0" smtClean="0"/>
              <a:t>Dedicated graphics card</a:t>
            </a:r>
            <a:r>
              <a:rPr lang="en-US" sz="2000" dirty="0"/>
              <a:t/>
            </a:r>
            <a:br>
              <a:rPr lang="en-US" sz="2000" dirty="0"/>
            </a:br>
            <a:endParaRPr lang="en-US" sz="2000" dirty="0"/>
          </a:p>
          <a:p>
            <a:pPr marL="800100" lvl="1" indent="-342900">
              <a:buSzPct val="100000"/>
              <a:buAutoNum type="alphaUcPeriod"/>
            </a:pPr>
            <a:r>
              <a:rPr lang="en-HK" sz="2000" dirty="0"/>
              <a:t>(1) only</a:t>
            </a:r>
          </a:p>
          <a:p>
            <a:pPr marL="800100" lvl="1" indent="-342900">
              <a:buSzPct val="100000"/>
              <a:buAutoNum type="alphaUcPeriod"/>
            </a:pPr>
            <a:r>
              <a:rPr lang="en-HK" sz="2000" dirty="0"/>
              <a:t>(2) only</a:t>
            </a:r>
          </a:p>
          <a:p>
            <a:pPr marL="800100" lvl="1" indent="-342900">
              <a:buSzPct val="100000"/>
              <a:buAutoNum type="alphaUcPeriod"/>
            </a:pPr>
            <a:r>
              <a:rPr lang="en-HK" sz="2000" dirty="0"/>
              <a:t>(1) and </a:t>
            </a:r>
            <a:r>
              <a:rPr lang="en-HK" sz="2000" dirty="0" smtClean="0"/>
              <a:t>(2) </a:t>
            </a:r>
            <a:r>
              <a:rPr lang="en-HK" sz="2000" dirty="0"/>
              <a:t>only</a:t>
            </a:r>
          </a:p>
          <a:p>
            <a:pPr marL="800100" lvl="1" indent="-342900">
              <a:buSzPct val="100000"/>
              <a:buAutoNum type="alphaUcPeriod"/>
            </a:pPr>
            <a:r>
              <a:rPr lang="en-HK" sz="2000" dirty="0" smtClean="0"/>
              <a:t>(1) </a:t>
            </a:r>
            <a:r>
              <a:rPr lang="en-HK" sz="2000" dirty="0"/>
              <a:t>and (3) 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19</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3580089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Item (1), RAM, is a must for every system unit. It stores data that is in use currently for the CPU. There are </a:t>
            </a:r>
            <a:r>
              <a:rPr lang="en-US" dirty="0" smtClean="0"/>
              <a:t>no </a:t>
            </a:r>
            <a:r>
              <a:rPr lang="en-US" dirty="0"/>
              <a:t>other components or devices that can replace a RAM</a:t>
            </a:r>
            <a:r>
              <a:rPr lang="en-US" dirty="0" smtClean="0"/>
              <a:t>.</a:t>
            </a:r>
            <a:br>
              <a:rPr lang="en-US" dirty="0" smtClean="0"/>
            </a:br>
            <a:r>
              <a:rPr lang="en-US" dirty="0" smtClean="0"/>
              <a:t>Item </a:t>
            </a:r>
            <a:r>
              <a:rPr lang="en-US" dirty="0"/>
              <a:t>(2), hard disk, is secondary storage. A system unit must have at least one secondary storage device. </a:t>
            </a:r>
            <a:r>
              <a:rPr lang="en-US" dirty="0" smtClean="0"/>
              <a:t>However</a:t>
            </a:r>
            <a:r>
              <a:rPr lang="en-US" dirty="0"/>
              <a:t>, it does not have to be a hard disk. SSD is also an available option</a:t>
            </a:r>
            <a:r>
              <a:rPr lang="en-US" dirty="0" smtClean="0"/>
              <a:t>.</a:t>
            </a:r>
            <a:br>
              <a:rPr lang="en-US" dirty="0" smtClean="0"/>
            </a:br>
            <a:r>
              <a:rPr lang="en-US" dirty="0" smtClean="0"/>
              <a:t>Item </a:t>
            </a:r>
            <a:r>
              <a:rPr lang="en-US" dirty="0"/>
              <a:t>(3), dedicated graphics card, is not a must. </a:t>
            </a:r>
            <a:r>
              <a:rPr lang="en-US" dirty="0" err="1"/>
              <a:t>iGPU</a:t>
            </a:r>
            <a:r>
              <a:rPr lang="en-US" dirty="0"/>
              <a:t> is an alternative</a:t>
            </a:r>
            <a:r>
              <a:rPr lang="en-US" dirty="0" smtClean="0"/>
              <a:t>.</a:t>
            </a:r>
          </a:p>
          <a:p>
            <a:pPr>
              <a:buSzPct val="100000"/>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a:t>
            </a:r>
            <a:r>
              <a:rPr lang="en-HK" dirty="0" smtClean="0"/>
              <a:t>A.</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20</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617780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Which of the following statements about CPU and GPU is correct?</a:t>
            </a:r>
          </a:p>
          <a:p>
            <a:pPr marL="457200" indent="-457200">
              <a:buAutoNum type="arabicPeriod" startAt="2"/>
            </a:pPr>
            <a:endParaRPr lang="en-HK" dirty="0"/>
          </a:p>
          <a:p>
            <a:pPr marL="800100" lvl="1" indent="-342900">
              <a:buAutoNum type="alphaUcPeriod"/>
            </a:pPr>
            <a:r>
              <a:rPr lang="en-US" sz="2000" dirty="0"/>
              <a:t>A CPU cannot process graphics while a GPU can.</a:t>
            </a:r>
            <a:endParaRPr lang="en-HK" sz="2000" dirty="0"/>
          </a:p>
          <a:p>
            <a:pPr marL="800100" lvl="1" indent="-342900">
              <a:buAutoNum type="alphaUcPeriod"/>
            </a:pPr>
            <a:r>
              <a:rPr lang="en-US" sz="2000" dirty="0"/>
              <a:t>A CPU has a cooling fan while a GPU does not.</a:t>
            </a:r>
            <a:endParaRPr lang="en-HK" sz="2000" dirty="0"/>
          </a:p>
          <a:p>
            <a:pPr marL="800100" lvl="1" indent="-342900">
              <a:buAutoNum type="alphaUcPeriod"/>
            </a:pPr>
            <a:r>
              <a:rPr lang="en-US" sz="2000" dirty="0" smtClean="0"/>
              <a:t>A </a:t>
            </a:r>
            <a:r>
              <a:rPr lang="en-US" sz="2000" dirty="0"/>
              <a:t>GPU always contains RAM while a CPU does not</a:t>
            </a:r>
            <a:r>
              <a:rPr lang="en-US" sz="2000" dirty="0" smtClean="0"/>
              <a:t>.</a:t>
            </a:r>
            <a:endParaRPr lang="en-HK" sz="2000" dirty="0"/>
          </a:p>
          <a:p>
            <a:pPr marL="800100" lvl="1" indent="-342900">
              <a:buAutoNum type="alphaUcPeriod"/>
            </a:pPr>
            <a:r>
              <a:rPr lang="en-US" sz="2000" dirty="0"/>
              <a:t>A GPU can be integrated into a CPU.</a:t>
            </a:r>
            <a:r>
              <a:rPr lang="en-HK" sz="2000" dirty="0" smtClean="0"/>
              <a:t> </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21</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1002643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option A, a CPU can process graphics too, even though its performance in graphics processing is </a:t>
            </a:r>
            <a:r>
              <a:rPr lang="en-US" dirty="0" smtClean="0"/>
              <a:t>usually </a:t>
            </a:r>
            <a:r>
              <a:rPr lang="en-US" dirty="0"/>
              <a:t>not as good as a GPU</a:t>
            </a:r>
            <a:r>
              <a:rPr lang="en-US" dirty="0" smtClean="0"/>
              <a:t>.</a:t>
            </a:r>
            <a:endParaRPr lang="en-US" dirty="0"/>
          </a:p>
          <a:p>
            <a:pPr>
              <a:buSzPct val="100000"/>
            </a:pPr>
            <a:r>
              <a:rPr lang="en-US" dirty="0"/>
              <a:t>For option B, both CPU and GPU can have a cooling fan</a:t>
            </a:r>
            <a:r>
              <a:rPr lang="en-US" dirty="0" smtClean="0"/>
              <a:t>.</a:t>
            </a:r>
            <a:endParaRPr lang="en-US" dirty="0"/>
          </a:p>
          <a:p>
            <a:pPr>
              <a:buSzPct val="100000"/>
            </a:pPr>
            <a:r>
              <a:rPr lang="en-US" dirty="0"/>
              <a:t>For option C, a GPU as an individual graphics card contains RAM. However, an </a:t>
            </a:r>
            <a:r>
              <a:rPr lang="en-US" dirty="0" err="1"/>
              <a:t>iGPU</a:t>
            </a:r>
            <a:r>
              <a:rPr lang="en-US" dirty="0"/>
              <a:t> does not</a:t>
            </a:r>
            <a:r>
              <a:rPr lang="en-US" dirty="0" smtClean="0"/>
              <a:t>.</a:t>
            </a:r>
            <a:endParaRPr lang="en-US" dirty="0"/>
          </a:p>
          <a:p>
            <a:pPr>
              <a:buSzPct val="100000"/>
            </a:pPr>
            <a:r>
              <a:rPr lang="en-US" dirty="0"/>
              <a:t>For option D, an </a:t>
            </a:r>
            <a:r>
              <a:rPr lang="en-US" dirty="0" err="1"/>
              <a:t>iGPU</a:t>
            </a:r>
            <a:r>
              <a:rPr lang="en-US" dirty="0"/>
              <a:t> is a GPU integrated into a </a:t>
            </a:r>
            <a:r>
              <a:rPr lang="en-US" dirty="0" smtClean="0"/>
              <a:t>CPU.</a:t>
            </a:r>
          </a:p>
          <a:p>
            <a:pPr>
              <a:buSzPct val="100000"/>
            </a:pPr>
            <a:r>
              <a:rPr lang="en-US" dirty="0" smtClean="0"/>
              <a:t/>
            </a:r>
            <a:br>
              <a:rPr lang="en-US" dirty="0" smtClean="0"/>
            </a:b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p>
          <a:p>
            <a:pPr>
              <a:buSzPct val="100000"/>
            </a:pPr>
            <a:r>
              <a:rPr lang="en-HK" dirty="0" smtClean="0"/>
              <a:t>The </a:t>
            </a:r>
            <a:r>
              <a:rPr lang="en-HK" dirty="0"/>
              <a:t>answer is </a:t>
            </a:r>
            <a:r>
              <a:rPr lang="en-HK" dirty="0" smtClean="0"/>
              <a:t>D.</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22</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2266757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US" dirty="0"/>
              <a:t>Which of the following statements about buses is/are correct?</a:t>
            </a:r>
            <a:br>
              <a:rPr lang="en-US" dirty="0"/>
            </a:br>
            <a:endParaRPr lang="en-US" dirty="0"/>
          </a:p>
          <a:p>
            <a:pPr marL="1257300" lvl="2" indent="-342900">
              <a:buSzPct val="100000"/>
              <a:buAutoNum type="arabicParenBoth"/>
            </a:pPr>
            <a:r>
              <a:rPr lang="en-US" sz="2000" dirty="0"/>
              <a:t>An SSD can be connected to a computer through SATA bus</a:t>
            </a:r>
            <a:r>
              <a:rPr lang="en-US" sz="2000" dirty="0" smtClean="0"/>
              <a:t>.</a:t>
            </a:r>
          </a:p>
          <a:p>
            <a:pPr marL="1257300" lvl="2" indent="-342900">
              <a:buSzPct val="100000"/>
              <a:buAutoNum type="arabicParenBoth"/>
            </a:pPr>
            <a:r>
              <a:rPr lang="en-US" sz="2000" dirty="0"/>
              <a:t>An address bus transfers memory addresses from various components to processors</a:t>
            </a:r>
            <a:r>
              <a:rPr lang="en-US" sz="2000" dirty="0" smtClean="0"/>
              <a:t>.</a:t>
            </a:r>
          </a:p>
          <a:p>
            <a:pPr marL="1257300" lvl="2" indent="-342900">
              <a:buSzPct val="100000"/>
              <a:buAutoNum type="arabicParenBoth"/>
            </a:pPr>
            <a:r>
              <a:rPr lang="en-US" sz="2000" dirty="0"/>
              <a:t>A data bus transfers data only from processors to various components.</a:t>
            </a:r>
            <a:br>
              <a:rPr lang="en-US" sz="2000" dirty="0"/>
            </a:br>
            <a:endParaRPr lang="en-US" sz="2000" dirty="0"/>
          </a:p>
          <a:p>
            <a:pPr marL="800100" lvl="1" indent="-342900">
              <a:buSzPct val="100000"/>
              <a:buAutoNum type="alphaUcPeriod"/>
            </a:pPr>
            <a:r>
              <a:rPr lang="en-HK" sz="2000" dirty="0"/>
              <a:t>(1) only</a:t>
            </a:r>
          </a:p>
          <a:p>
            <a:pPr marL="800100" lvl="1" indent="-342900">
              <a:buSzPct val="100000"/>
              <a:buAutoNum type="alphaUcPeriod"/>
            </a:pPr>
            <a:r>
              <a:rPr lang="en-HK" sz="2000" dirty="0" smtClean="0"/>
              <a:t>(1) and (2</a:t>
            </a:r>
            <a:r>
              <a:rPr lang="en-HK" sz="2000" dirty="0"/>
              <a:t>) only</a:t>
            </a:r>
          </a:p>
          <a:p>
            <a:pPr marL="800100" lvl="1" indent="-342900">
              <a:buSzPct val="100000"/>
              <a:buAutoNum type="alphaUcPeriod"/>
            </a:pPr>
            <a:r>
              <a:rPr lang="en-HK" sz="2000" dirty="0"/>
              <a:t>(1) and </a:t>
            </a:r>
            <a:r>
              <a:rPr lang="en-HK" sz="2000" dirty="0" smtClean="0"/>
              <a:t>(3) </a:t>
            </a:r>
            <a:r>
              <a:rPr lang="en-HK" sz="2000" dirty="0"/>
              <a:t>only</a:t>
            </a:r>
          </a:p>
          <a:p>
            <a:pPr marL="800100" lvl="1" indent="-342900">
              <a:buSzPct val="100000"/>
              <a:buAutoNum type="alphaUcPeriod"/>
            </a:pPr>
            <a:r>
              <a:rPr lang="en-HK" sz="2000" dirty="0" smtClean="0"/>
              <a:t>(2) </a:t>
            </a:r>
            <a:r>
              <a:rPr lang="en-HK" sz="2000" dirty="0"/>
              <a:t>and (3) 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23</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18978686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item (1), SATA bus is used to connect secondary storage devices and SSD is one of the secondary </a:t>
            </a:r>
            <a:r>
              <a:rPr lang="en-US" dirty="0" smtClean="0"/>
              <a:t>storage </a:t>
            </a:r>
            <a:r>
              <a:rPr lang="en-US" dirty="0"/>
              <a:t>devices</a:t>
            </a:r>
            <a:r>
              <a:rPr lang="en-US" dirty="0" smtClean="0"/>
              <a:t>.</a:t>
            </a:r>
            <a:endParaRPr lang="en-US" dirty="0"/>
          </a:p>
          <a:p>
            <a:pPr>
              <a:buSzPct val="100000"/>
            </a:pPr>
            <a:r>
              <a:rPr lang="en-US" dirty="0"/>
              <a:t>For item (2), the object to transfer is correct but the direction is wrong. An address bus transfers memory </a:t>
            </a:r>
            <a:r>
              <a:rPr lang="en-US" dirty="0" smtClean="0"/>
              <a:t>address </a:t>
            </a:r>
            <a:r>
              <a:rPr lang="en-US" dirty="0"/>
              <a:t>from processors to components</a:t>
            </a:r>
            <a:r>
              <a:rPr lang="en-US" dirty="0" smtClean="0"/>
              <a:t>.</a:t>
            </a:r>
            <a:endParaRPr lang="en-US" dirty="0"/>
          </a:p>
          <a:p>
            <a:pPr>
              <a:buSzPct val="100000"/>
            </a:pPr>
            <a:r>
              <a:rPr lang="en-US" dirty="0"/>
              <a:t>For item (3), once again, the object to transfer is correct but the direction is wrong. A data bus transfers </a:t>
            </a:r>
            <a:r>
              <a:rPr lang="en-US" dirty="0" smtClean="0"/>
              <a:t>data </a:t>
            </a:r>
            <a:r>
              <a:rPr lang="en-US" dirty="0"/>
              <a:t>between processors and components.</a:t>
            </a:r>
            <a:br>
              <a:rPr lang="en-US" dirty="0"/>
            </a:b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a:t>
            </a:r>
            <a:r>
              <a:rPr lang="en-HK" dirty="0" smtClean="0"/>
              <a:t>A.</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24</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1565659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Kevin wants to connect a keyboard to his computer. Through which of the following ports can he connect to the computer?</a:t>
            </a:r>
            <a:br>
              <a:rPr lang="en-US" dirty="0"/>
            </a:br>
            <a:endParaRPr lang="en-US" dirty="0"/>
          </a:p>
          <a:p>
            <a:pPr marL="1257300" lvl="2" indent="-342900">
              <a:buSzPct val="100000"/>
              <a:buAutoNum type="arabicParenBoth"/>
            </a:pPr>
            <a:r>
              <a:rPr lang="en-US" sz="2000" dirty="0" smtClean="0"/>
              <a:t>VGA port</a:t>
            </a:r>
            <a:endParaRPr lang="en-US" sz="2000" dirty="0"/>
          </a:p>
          <a:p>
            <a:pPr marL="1257300" lvl="2" indent="-342900">
              <a:buSzPct val="100000"/>
              <a:buAutoNum type="arabicParenBoth"/>
            </a:pPr>
            <a:r>
              <a:rPr lang="en-US" sz="2000" dirty="0" smtClean="0"/>
              <a:t>HDMI port</a:t>
            </a:r>
            <a:endParaRPr lang="en-US" sz="2000" dirty="0"/>
          </a:p>
          <a:p>
            <a:pPr marL="1257300" lvl="2" indent="-342900">
              <a:buSzPct val="100000"/>
              <a:buAutoNum type="arabicParenBoth"/>
            </a:pPr>
            <a:r>
              <a:rPr lang="en-US" sz="2000" dirty="0" smtClean="0"/>
              <a:t>USB port</a:t>
            </a:r>
            <a:r>
              <a:rPr lang="en-US" sz="2000" dirty="0"/>
              <a:t/>
            </a:r>
            <a:br>
              <a:rPr lang="en-US" sz="2000" dirty="0"/>
            </a:br>
            <a:endParaRPr lang="en-US" sz="2000" dirty="0"/>
          </a:p>
          <a:p>
            <a:pPr marL="800100" lvl="1" indent="-342900">
              <a:buSzPct val="100000"/>
              <a:buAutoNum type="alphaUcPeriod"/>
            </a:pPr>
            <a:r>
              <a:rPr lang="en-HK" sz="2000" dirty="0" smtClean="0"/>
              <a:t>(2) </a:t>
            </a:r>
            <a:r>
              <a:rPr lang="en-HK" sz="2000" dirty="0"/>
              <a:t>only</a:t>
            </a:r>
          </a:p>
          <a:p>
            <a:pPr marL="800100" lvl="1" indent="-342900">
              <a:buSzPct val="100000"/>
              <a:buAutoNum type="alphaUcPeriod"/>
            </a:pPr>
            <a:r>
              <a:rPr lang="en-HK" sz="2000" dirty="0" smtClean="0"/>
              <a:t>(3) </a:t>
            </a:r>
            <a:r>
              <a:rPr lang="en-HK" sz="2000" dirty="0"/>
              <a:t>only</a:t>
            </a:r>
          </a:p>
          <a:p>
            <a:pPr marL="800100" lvl="1" indent="-342900">
              <a:buSzPct val="100000"/>
              <a:buAutoNum type="alphaUcPeriod"/>
            </a:pPr>
            <a:r>
              <a:rPr lang="en-HK" sz="2000" dirty="0"/>
              <a:t>(1) and </a:t>
            </a:r>
            <a:r>
              <a:rPr lang="en-HK" sz="2000" dirty="0" smtClean="0"/>
              <a:t>(2) </a:t>
            </a:r>
            <a:r>
              <a:rPr lang="en-HK" sz="2000" dirty="0"/>
              <a:t>only</a:t>
            </a:r>
          </a:p>
          <a:p>
            <a:pPr marL="800100" lvl="1" indent="-342900">
              <a:buSzPct val="100000"/>
              <a:buAutoNum type="alphaUcPeriod"/>
            </a:pPr>
            <a:r>
              <a:rPr lang="en-HK" sz="2000" dirty="0" smtClean="0"/>
              <a:t>(1) </a:t>
            </a:r>
            <a:r>
              <a:rPr lang="en-HK" sz="2000" dirty="0"/>
              <a:t>and (3) 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25</a:t>
            </a:fld>
            <a:endParaRPr lang="en-US" dirty="0"/>
          </a:p>
        </p:txBody>
      </p:sp>
      <p:sp>
        <p:nvSpPr>
          <p:cNvPr id="4" name="Text Placeholder 3"/>
          <p:cNvSpPr>
            <a:spLocks noGrp="1"/>
          </p:cNvSpPr>
          <p:nvPr>
            <p:ph type="body" sz="quarter" idx="13"/>
          </p:nvPr>
        </p:nvSpPr>
        <p:spPr/>
        <p:txBody>
          <a:bodyPr/>
          <a:lstStyle/>
          <a:p>
            <a:r>
              <a:rPr lang="en-HK" dirty="0" smtClean="0"/>
              <a:t>2.1</a:t>
            </a:r>
            <a:endParaRPr lang="en-US" dirty="0"/>
          </a:p>
        </p:txBody>
      </p:sp>
    </p:spTree>
    <p:extLst>
      <p:ext uri="{BB962C8B-B14F-4D97-AF65-F5344CB8AC3E}">
        <p14:creationId xmlns:p14="http://schemas.microsoft.com/office/powerpoint/2010/main" val="188497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What is the advantages of using an integrated sound card over a dedicated sound card? </a:t>
            </a:r>
          </a:p>
          <a:p>
            <a:pPr marL="457200" indent="-457200">
              <a:buAutoNum type="arabicPeriod" startAt="2"/>
            </a:pPr>
            <a:endParaRPr lang="en-HK" sz="2400" dirty="0"/>
          </a:p>
          <a:p>
            <a:pPr marL="800100" lvl="1" indent="-342900">
              <a:buAutoNum type="alphaUcPeriod"/>
            </a:pPr>
            <a:r>
              <a:rPr lang="en-HK" sz="2000" dirty="0"/>
              <a:t> </a:t>
            </a:r>
            <a:r>
              <a:rPr lang="en-US" sz="2000" dirty="0"/>
              <a:t>An integrated sound card has a better performance.</a:t>
            </a:r>
            <a:endParaRPr lang="en-HK" sz="2000" dirty="0"/>
          </a:p>
          <a:p>
            <a:pPr marL="800100" lvl="1" indent="-342900">
              <a:buAutoNum type="alphaUcPeriod"/>
            </a:pPr>
            <a:r>
              <a:rPr lang="en-HK" sz="2000" dirty="0"/>
              <a:t> </a:t>
            </a:r>
            <a:r>
              <a:rPr lang="en-US" sz="2000" dirty="0"/>
              <a:t>An integrated sound card can store more data.</a:t>
            </a:r>
            <a:endParaRPr lang="en-HK" sz="2000" dirty="0"/>
          </a:p>
          <a:p>
            <a:pPr marL="800100" lvl="1" indent="-342900">
              <a:buAutoNum type="alphaUcPeriod"/>
            </a:pPr>
            <a:r>
              <a:rPr lang="en-HK" sz="2000" dirty="0"/>
              <a:t> </a:t>
            </a:r>
            <a:r>
              <a:rPr lang="en-US" sz="2000" dirty="0"/>
              <a:t>An integrated sound card has a lower cost.</a:t>
            </a:r>
            <a:endParaRPr lang="en-HK" sz="2000" dirty="0"/>
          </a:p>
          <a:p>
            <a:pPr marL="800100" lvl="1" indent="-342900">
              <a:buAutoNum type="alphaUcPeriod"/>
            </a:pPr>
            <a:r>
              <a:rPr lang="en-HK" sz="2000" dirty="0"/>
              <a:t> </a:t>
            </a:r>
            <a:r>
              <a:rPr lang="en-US" sz="2000" dirty="0"/>
              <a:t>An integrated sound card can perform parallel operations.</a:t>
            </a:r>
          </a:p>
        </p:txBody>
      </p:sp>
      <p:sp>
        <p:nvSpPr>
          <p:cNvPr id="3" name="Slide Number Placeholder 2"/>
          <p:cNvSpPr>
            <a:spLocks noGrp="1"/>
          </p:cNvSpPr>
          <p:nvPr>
            <p:ph type="sldNum" sz="quarter" idx="12"/>
          </p:nvPr>
        </p:nvSpPr>
        <p:spPr/>
        <p:txBody>
          <a:bodyPr/>
          <a:lstStyle/>
          <a:p>
            <a:fld id="{6D22F896-40B5-4ADD-8801-0D06FADFA095}" type="slidenum">
              <a:rPr lang="en-US" smtClean="0"/>
              <a:t>26</a:t>
            </a:fld>
            <a:endParaRPr lang="en-US" dirty="0"/>
          </a:p>
        </p:txBody>
      </p:sp>
      <p:sp>
        <p:nvSpPr>
          <p:cNvPr id="4" name="Text Placeholder 3"/>
          <p:cNvSpPr>
            <a:spLocks noGrp="1"/>
          </p:cNvSpPr>
          <p:nvPr>
            <p:ph type="body" sz="quarter" idx="13"/>
          </p:nvPr>
        </p:nvSpPr>
        <p:spPr/>
        <p:txBody>
          <a:bodyPr/>
          <a:lstStyle/>
          <a:p>
            <a:r>
              <a:rPr lang="en-US" dirty="0" smtClean="0"/>
              <a:t>2.1</a:t>
            </a:r>
            <a:endParaRPr lang="en-US" dirty="0"/>
          </a:p>
        </p:txBody>
      </p:sp>
    </p:spTree>
    <p:extLst>
      <p:ext uri="{BB962C8B-B14F-4D97-AF65-F5344CB8AC3E}">
        <p14:creationId xmlns:p14="http://schemas.microsoft.com/office/powerpoint/2010/main" val="2593551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4" end="4"/>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3"/>
            </a:pPr>
            <a:r>
              <a:rPr lang="en-US" dirty="0" smtClean="0"/>
              <a:t>Which </a:t>
            </a:r>
            <a:r>
              <a:rPr lang="en-US" dirty="0"/>
              <a:t>of the following types of system bus transfers control signals from processors to components?</a:t>
            </a:r>
          </a:p>
          <a:p>
            <a:pPr marL="457200" indent="-457200">
              <a:buAutoNum type="arabicPeriod" startAt="3"/>
            </a:pPr>
            <a:endParaRPr lang="en-HK" dirty="0"/>
          </a:p>
          <a:p>
            <a:pPr marL="800100" lvl="1" indent="-342900">
              <a:buAutoNum type="alphaUcPeriod"/>
            </a:pPr>
            <a:r>
              <a:rPr lang="en-HK" sz="2000" dirty="0" smtClean="0"/>
              <a:t>Universal serial bus</a:t>
            </a:r>
            <a:endParaRPr lang="en-HK" sz="2000" dirty="0"/>
          </a:p>
          <a:p>
            <a:pPr marL="800100" lvl="1" indent="-342900">
              <a:buAutoNum type="alphaUcPeriod"/>
            </a:pPr>
            <a:r>
              <a:rPr lang="en-HK" sz="2000" dirty="0" smtClean="0"/>
              <a:t>Data bus</a:t>
            </a:r>
            <a:endParaRPr lang="en-HK" sz="2000" dirty="0"/>
          </a:p>
          <a:p>
            <a:pPr marL="800100" lvl="1" indent="-342900">
              <a:buAutoNum type="alphaUcPeriod"/>
            </a:pPr>
            <a:r>
              <a:rPr lang="en-HK" sz="2000" dirty="0" smtClean="0"/>
              <a:t>Control bus</a:t>
            </a:r>
            <a:endParaRPr lang="en-HK" sz="2000" dirty="0"/>
          </a:p>
          <a:p>
            <a:pPr marL="800100" lvl="1" indent="-342900">
              <a:buAutoNum type="alphaUcPeriod"/>
            </a:pPr>
            <a:r>
              <a:rPr lang="en-US" sz="2000" dirty="0" err="1"/>
              <a:t>PCIe</a:t>
            </a:r>
            <a:r>
              <a:rPr lang="en-US" sz="2000" dirty="0"/>
              <a:t> bus</a:t>
            </a:r>
          </a:p>
        </p:txBody>
      </p:sp>
      <p:sp>
        <p:nvSpPr>
          <p:cNvPr id="3" name="Slide Number Placeholder 2"/>
          <p:cNvSpPr>
            <a:spLocks noGrp="1"/>
          </p:cNvSpPr>
          <p:nvPr>
            <p:ph type="sldNum" sz="quarter" idx="12"/>
          </p:nvPr>
        </p:nvSpPr>
        <p:spPr/>
        <p:txBody>
          <a:bodyPr/>
          <a:lstStyle/>
          <a:p>
            <a:fld id="{6D22F896-40B5-4ADD-8801-0D06FADFA095}" type="slidenum">
              <a:rPr lang="en-US" smtClean="0"/>
              <a:t>27</a:t>
            </a:fld>
            <a:endParaRPr lang="en-US" dirty="0"/>
          </a:p>
        </p:txBody>
      </p:sp>
      <p:sp>
        <p:nvSpPr>
          <p:cNvPr id="4" name="Text Placeholder 3"/>
          <p:cNvSpPr>
            <a:spLocks noGrp="1"/>
          </p:cNvSpPr>
          <p:nvPr>
            <p:ph type="body" sz="quarter" idx="13"/>
          </p:nvPr>
        </p:nvSpPr>
        <p:spPr/>
        <p:txBody>
          <a:bodyPr/>
          <a:lstStyle/>
          <a:p>
            <a:r>
              <a:rPr lang="en-US" dirty="0" smtClean="0"/>
              <a:t>2.1</a:t>
            </a:r>
            <a:endParaRPr lang="en-US" dirty="0"/>
          </a:p>
        </p:txBody>
      </p:sp>
    </p:spTree>
    <p:extLst>
      <p:ext uri="{BB962C8B-B14F-4D97-AF65-F5344CB8AC3E}">
        <p14:creationId xmlns:p14="http://schemas.microsoft.com/office/powerpoint/2010/main" val="269656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4" end="4"/>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Central Processing Unit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28</a:t>
            </a:fld>
            <a:endParaRPr lang="en-US" dirty="0"/>
          </a:p>
        </p:txBody>
      </p:sp>
      <p:sp>
        <p:nvSpPr>
          <p:cNvPr id="4" name="Text Placeholder 3"/>
          <p:cNvSpPr>
            <a:spLocks noGrp="1"/>
          </p:cNvSpPr>
          <p:nvPr>
            <p:ph type="body" sz="quarter" idx="14"/>
          </p:nvPr>
        </p:nvSpPr>
        <p:spPr/>
        <p:txBody>
          <a:bodyPr/>
          <a:lstStyle/>
          <a:p>
            <a:r>
              <a:rPr lang="en-HK" dirty="0" smtClean="0"/>
              <a:t>2.2</a:t>
            </a:r>
            <a:endParaRPr lang="en-US" dirty="0"/>
          </a:p>
        </p:txBody>
      </p:sp>
      <p:sp>
        <p:nvSpPr>
          <p:cNvPr id="5" name="Content Placeholder 4"/>
          <p:cNvSpPr>
            <a:spLocks noGrp="1"/>
          </p:cNvSpPr>
          <p:nvPr>
            <p:ph sz="quarter" idx="15"/>
          </p:nvPr>
        </p:nvSpPr>
        <p:spPr/>
        <p:txBody>
          <a:bodyPr/>
          <a:lstStyle/>
          <a:p>
            <a:r>
              <a:rPr lang="en-US" dirty="0"/>
              <a:t>A CPU is the main processor of a computer. It is responsible for the data processing in a computer</a:t>
            </a:r>
            <a:r>
              <a:rPr lang="en-US" dirty="0" smtClean="0"/>
              <a:t>.</a:t>
            </a:r>
          </a:p>
          <a:p>
            <a:endParaRPr lang="en-HK" dirty="0"/>
          </a:p>
          <a:p>
            <a:r>
              <a:rPr lang="en-US" dirty="0"/>
              <a:t>It consists of two main components: </a:t>
            </a:r>
            <a:r>
              <a:rPr lang="en-US" dirty="0" smtClean="0"/>
              <a:t/>
            </a:r>
            <a:br>
              <a:rPr lang="en-US" dirty="0" smtClean="0"/>
            </a:br>
            <a:endParaRPr lang="en-US" dirty="0"/>
          </a:p>
          <a:p>
            <a:pPr marL="342900" indent="-342900">
              <a:buFont typeface="Arial" panose="020B0604020202020204" pitchFamily="34" charset="0"/>
              <a:buChar char="•"/>
            </a:pPr>
            <a:r>
              <a:rPr lang="en-US" dirty="0" smtClean="0"/>
              <a:t>Control </a:t>
            </a:r>
            <a:r>
              <a:rPr lang="en-US" dirty="0"/>
              <a:t>Unit (</a:t>
            </a:r>
            <a:r>
              <a:rPr lang="en-US" dirty="0" smtClean="0"/>
              <a:t>CU)</a:t>
            </a:r>
          </a:p>
          <a:p>
            <a:pPr marL="342900" indent="-342900">
              <a:buFont typeface="Arial" panose="020B0604020202020204" pitchFamily="34" charset="0"/>
              <a:buChar char="•"/>
            </a:pPr>
            <a:r>
              <a:rPr lang="en-US" dirty="0" smtClean="0"/>
              <a:t>Arithmetic </a:t>
            </a:r>
            <a:r>
              <a:rPr lang="en-US" dirty="0"/>
              <a:t>and Logic Unit (ALU</a:t>
            </a:r>
            <a:r>
              <a:rPr lang="en-US" dirty="0" smtClean="0"/>
              <a:t>)</a:t>
            </a:r>
            <a:endParaRPr lang="en-US" dirty="0"/>
          </a:p>
        </p:txBody>
      </p:sp>
    </p:spTree>
    <p:extLst>
      <p:ext uri="{BB962C8B-B14F-4D97-AF65-F5344CB8AC3E}">
        <p14:creationId xmlns:p14="http://schemas.microsoft.com/office/powerpoint/2010/main" val="1719225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Arithmetic logic unit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29</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An </a:t>
            </a:r>
            <a:r>
              <a:rPr lang="en-US" b="1" dirty="0" smtClean="0">
                <a:solidFill>
                  <a:srgbClr val="504FA1"/>
                </a:solidFill>
              </a:rPr>
              <a:t>arithmetic </a:t>
            </a:r>
            <a:r>
              <a:rPr lang="en-US" b="1" dirty="0">
                <a:solidFill>
                  <a:srgbClr val="504FA1"/>
                </a:solidFill>
              </a:rPr>
              <a:t>and </a:t>
            </a:r>
            <a:r>
              <a:rPr lang="en-US" b="1" dirty="0" smtClean="0">
                <a:solidFill>
                  <a:srgbClr val="504FA1"/>
                </a:solidFill>
              </a:rPr>
              <a:t>logic unit </a:t>
            </a:r>
            <a:r>
              <a:rPr lang="en-US" b="1" dirty="0">
                <a:solidFill>
                  <a:srgbClr val="504FA1"/>
                </a:solidFill>
              </a:rPr>
              <a:t>(ALU)</a:t>
            </a:r>
            <a:r>
              <a:rPr lang="en-US" dirty="0" smtClean="0"/>
              <a:t> </a:t>
            </a:r>
            <a:r>
              <a:rPr lang="en-US" dirty="0"/>
              <a:t>performs</a:t>
            </a:r>
            <a:r>
              <a:rPr lang="en-US" dirty="0" smtClean="0"/>
              <a:t>:</a:t>
            </a:r>
            <a:br>
              <a:rPr lang="en-US" dirty="0" smtClean="0"/>
            </a:br>
            <a:endParaRPr lang="en-US" dirty="0"/>
          </a:p>
          <a:p>
            <a:pPr marL="342900" indent="-342900">
              <a:buFont typeface="Arial" panose="020B0604020202020204" pitchFamily="34" charset="0"/>
              <a:buChar char="•"/>
            </a:pPr>
            <a:r>
              <a:rPr lang="en-US" dirty="0"/>
              <a:t>A</a:t>
            </a:r>
            <a:r>
              <a:rPr lang="en-US" dirty="0" smtClean="0"/>
              <a:t>rithmetic </a:t>
            </a:r>
            <a:r>
              <a:rPr lang="en-US" dirty="0"/>
              <a:t>operations, such as addition (+), subtraction (−), </a:t>
            </a:r>
            <a:r>
              <a:rPr lang="en-US" dirty="0" smtClean="0"/>
              <a:t>multiplication </a:t>
            </a:r>
            <a:r>
              <a:rPr lang="en-US" dirty="0"/>
              <a:t>(×) and division </a:t>
            </a:r>
            <a:r>
              <a:rPr lang="en-US" dirty="0" smtClean="0"/>
              <a:t>(÷)</a:t>
            </a:r>
            <a:br>
              <a:rPr lang="en-US" dirty="0" smtClean="0"/>
            </a:br>
            <a:endParaRPr lang="en-US" dirty="0" smtClean="0"/>
          </a:p>
          <a:p>
            <a:pPr marL="342900" indent="-342900">
              <a:buFont typeface="Arial" panose="020B0604020202020204" pitchFamily="34" charset="0"/>
              <a:buChar char="•"/>
            </a:pPr>
            <a:r>
              <a:rPr lang="en-US" dirty="0" smtClean="0"/>
              <a:t>Logical </a:t>
            </a:r>
            <a:r>
              <a:rPr lang="en-US" dirty="0"/>
              <a:t>operations, such as comparison (=, ≠, &lt;, &gt;, ≤, ≥), conjunction </a:t>
            </a:r>
            <a:r>
              <a:rPr lang="en-US" dirty="0" smtClean="0"/>
              <a:t>(</a:t>
            </a:r>
            <a:r>
              <a:rPr lang="en-US" dirty="0"/>
              <a:t>AND), disjunction (OR) and negation (NOT</a:t>
            </a:r>
            <a:r>
              <a:rPr lang="en-US" dirty="0" smtClean="0"/>
              <a:t>).</a:t>
            </a:r>
            <a:br>
              <a:rPr lang="en-US" dirty="0" smtClean="0"/>
            </a:br>
            <a:endParaRPr lang="en-US" dirty="0"/>
          </a:p>
          <a:p>
            <a:r>
              <a:rPr lang="en-US" dirty="0"/>
              <a:t>After operations, the result is then transferred to a register called </a:t>
            </a:r>
            <a:r>
              <a:rPr lang="en-US" dirty="0" smtClean="0"/>
              <a:t>accumulators </a:t>
            </a:r>
            <a:r>
              <a:rPr lang="en-US" dirty="0"/>
              <a:t>via data bus.</a:t>
            </a:r>
          </a:p>
        </p:txBody>
      </p:sp>
    </p:spTree>
    <p:extLst>
      <p:ext uri="{BB962C8B-B14F-4D97-AF65-F5344CB8AC3E}">
        <p14:creationId xmlns:p14="http://schemas.microsoft.com/office/powerpoint/2010/main" val="15433817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Control unit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30</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CU controls</a:t>
            </a:r>
            <a:r>
              <a:rPr lang="en-US" dirty="0" smtClean="0"/>
              <a:t>:</a:t>
            </a:r>
            <a:br>
              <a:rPr lang="en-US" dirty="0" smtClean="0"/>
            </a:br>
            <a:endParaRPr lang="en-US" dirty="0"/>
          </a:p>
          <a:p>
            <a:pPr marL="342900" indent="-342900">
              <a:buFont typeface="Arial" panose="020B0604020202020204" pitchFamily="34" charset="0"/>
              <a:buChar char="•"/>
            </a:pPr>
            <a:r>
              <a:rPr lang="en-US" dirty="0"/>
              <a:t>T</a:t>
            </a:r>
            <a:r>
              <a:rPr lang="en-US" dirty="0" smtClean="0"/>
              <a:t>he </a:t>
            </a:r>
            <a:r>
              <a:rPr lang="en-US" dirty="0"/>
              <a:t>response of the ALU and other devices to </a:t>
            </a:r>
            <a:r>
              <a:rPr lang="en-US" dirty="0" smtClean="0"/>
              <a:t>instructions</a:t>
            </a:r>
            <a:endParaRPr lang="en-US" dirty="0"/>
          </a:p>
          <a:p>
            <a:pPr marL="342900" indent="-342900">
              <a:buFont typeface="Arial" panose="020B0604020202020204" pitchFamily="34" charset="0"/>
              <a:buChar char="•"/>
            </a:pPr>
            <a:r>
              <a:rPr lang="en-US" dirty="0"/>
              <a:t>T</a:t>
            </a:r>
            <a:r>
              <a:rPr lang="en-US" dirty="0" smtClean="0"/>
              <a:t>he </a:t>
            </a:r>
            <a:r>
              <a:rPr lang="en-US" dirty="0"/>
              <a:t>data flow between the CPU, other components and </a:t>
            </a:r>
            <a:r>
              <a:rPr lang="en-US" dirty="0" smtClean="0"/>
              <a:t>devices</a:t>
            </a:r>
            <a:endParaRPr lang="en-US" dirty="0"/>
          </a:p>
        </p:txBody>
      </p:sp>
    </p:spTree>
    <p:extLst>
      <p:ext uri="{BB962C8B-B14F-4D97-AF65-F5344CB8AC3E}">
        <p14:creationId xmlns:p14="http://schemas.microsoft.com/office/powerpoint/2010/main" val="3574044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Register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31</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Registers</a:t>
            </a:r>
            <a:r>
              <a:rPr lang="en-US" dirty="0"/>
              <a:t> are a type of memory that can be accessed by the CPU at high speed. </a:t>
            </a:r>
            <a:r>
              <a:rPr lang="en-US" dirty="0" smtClean="0"/>
              <a:t/>
            </a:r>
            <a:br>
              <a:rPr lang="en-US" dirty="0" smtClean="0"/>
            </a:br>
            <a:endParaRPr lang="en-US" dirty="0" smtClean="0"/>
          </a:p>
          <a:p>
            <a:r>
              <a:rPr lang="en-US" dirty="0" smtClean="0"/>
              <a:t>Each </a:t>
            </a:r>
            <a:r>
              <a:rPr lang="en-US" dirty="0"/>
              <a:t>of them has a small storage size, which is usually 32 bits or 64 bits, depending on the operating system and the word length</a:t>
            </a:r>
            <a:r>
              <a:rPr lang="en-US" dirty="0" smtClean="0"/>
              <a:t>.</a:t>
            </a:r>
          </a:p>
          <a:p>
            <a:r>
              <a:rPr lang="en-HK" dirty="0" smtClean="0"/>
              <a:t/>
            </a:r>
            <a:br>
              <a:rPr lang="en-HK" dirty="0" smtClean="0"/>
            </a:br>
            <a:endParaRPr lang="en-HK" dirty="0"/>
          </a:p>
          <a:p>
            <a:r>
              <a:rPr lang="en-US" dirty="0"/>
              <a:t>They are used for temporarily storing the data needed during processing. Various types of registers that store data for different purposes.</a:t>
            </a:r>
            <a:endParaRPr lang="en-HK" dirty="0" smtClean="0"/>
          </a:p>
        </p:txBody>
      </p:sp>
    </p:spTree>
    <p:extLst>
      <p:ext uri="{BB962C8B-B14F-4D97-AF65-F5344CB8AC3E}">
        <p14:creationId xmlns:p14="http://schemas.microsoft.com/office/powerpoint/2010/main" val="4093688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D22F896-40B5-4ADD-8801-0D06FADFA095}" type="slidenum">
              <a:rPr lang="en-US" smtClean="0"/>
              <a:pPr/>
              <a:t>32</a:t>
            </a:fld>
            <a:endParaRPr lang="en-US" dirty="0"/>
          </a:p>
        </p:txBody>
      </p:sp>
      <p:sp>
        <p:nvSpPr>
          <p:cNvPr id="3" name="Content Placeholder 2"/>
          <p:cNvSpPr>
            <a:spLocks noGrp="1"/>
          </p:cNvSpPr>
          <p:nvPr>
            <p:ph sz="quarter" idx="15"/>
          </p:nvPr>
        </p:nvSpPr>
        <p:spPr/>
        <p:txBody>
          <a:bodyPr/>
          <a:lstStyle/>
          <a:p>
            <a:r>
              <a:rPr lang="en-US" b="1" dirty="0"/>
              <a:t>Relationship among CU, ALU and </a:t>
            </a:r>
            <a:r>
              <a:rPr lang="en-US" b="1" dirty="0" smtClean="0"/>
              <a:t>register</a:t>
            </a:r>
          </a:p>
          <a:p>
            <a:endParaRPr lang="en-HK" b="1" dirty="0"/>
          </a:p>
          <a:p>
            <a:endParaRPr lang="en-HK" b="1" dirty="0" smtClean="0"/>
          </a:p>
          <a:p>
            <a:r>
              <a:rPr lang="en-US" dirty="0"/>
              <a:t>CU is like the teacher guiding a student to do his homework</a:t>
            </a:r>
            <a:r>
              <a:rPr lang="en-US" dirty="0" smtClean="0"/>
              <a:t>.</a:t>
            </a:r>
            <a:br>
              <a:rPr lang="en-US" dirty="0" smtClean="0"/>
            </a:br>
            <a:r>
              <a:rPr lang="en-US" dirty="0" smtClean="0"/>
              <a:t> </a:t>
            </a:r>
          </a:p>
          <a:p>
            <a:r>
              <a:rPr lang="en-US" dirty="0" smtClean="0"/>
              <a:t>ALU </a:t>
            </a:r>
            <a:r>
              <a:rPr lang="en-US" dirty="0"/>
              <a:t>is like the student who does his homework. </a:t>
            </a:r>
            <a:r>
              <a:rPr lang="en-US" dirty="0" smtClean="0"/>
              <a:t/>
            </a:r>
            <a:br>
              <a:rPr lang="en-US" dirty="0" smtClean="0"/>
            </a:br>
            <a:endParaRPr lang="en-US" dirty="0" smtClean="0"/>
          </a:p>
          <a:p>
            <a:r>
              <a:rPr lang="en-US" dirty="0" smtClean="0"/>
              <a:t>Registers </a:t>
            </a:r>
            <a:r>
              <a:rPr lang="en-US" dirty="0"/>
              <a:t>are like the homework being done by the student.</a:t>
            </a:r>
            <a:endParaRPr lang="en-US" b="1" dirty="0"/>
          </a:p>
        </p:txBody>
      </p:sp>
      <p:pic>
        <p:nvPicPr>
          <p:cNvPr id="4" name="Picture 3"/>
          <p:cNvPicPr>
            <a:picLocks noChangeAspect="1"/>
          </p:cNvPicPr>
          <p:nvPr/>
        </p:nvPicPr>
        <p:blipFill>
          <a:blip r:embed="rId2"/>
          <a:stretch>
            <a:fillRect/>
          </a:stretch>
        </p:blipFill>
        <p:spPr>
          <a:xfrm>
            <a:off x="7620004" y="2026911"/>
            <a:ext cx="4167444" cy="3844578"/>
          </a:xfrm>
          <a:prstGeom prst="rect">
            <a:avLst/>
          </a:prstGeom>
        </p:spPr>
      </p:pic>
    </p:spTree>
    <p:extLst>
      <p:ext uri="{BB962C8B-B14F-4D97-AF65-F5344CB8AC3E}">
        <p14:creationId xmlns:p14="http://schemas.microsoft.com/office/powerpoint/2010/main" val="28553044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Register</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33</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normAutofit lnSpcReduction="10000"/>
          </a:bodyPr>
          <a:lstStyle/>
          <a:p>
            <a:r>
              <a:rPr lang="en-US" dirty="0"/>
              <a:t>A </a:t>
            </a:r>
            <a:r>
              <a:rPr lang="en-US" b="1" dirty="0">
                <a:solidFill>
                  <a:srgbClr val="504FA1"/>
                </a:solidFill>
              </a:rPr>
              <a:t>current instruction register (CIR) </a:t>
            </a:r>
            <a:r>
              <a:rPr lang="en-US" dirty="0"/>
              <a:t>stores the instruction currently being executed by </a:t>
            </a:r>
            <a:r>
              <a:rPr lang="en-US" dirty="0" smtClean="0"/>
              <a:t>the </a:t>
            </a:r>
            <a:r>
              <a:rPr lang="en-US" dirty="0"/>
              <a:t>CPU</a:t>
            </a:r>
            <a:r>
              <a:rPr lang="en-US" dirty="0" smtClean="0"/>
              <a:t>.</a:t>
            </a:r>
          </a:p>
          <a:p>
            <a:endParaRPr lang="en-HK" dirty="0"/>
          </a:p>
          <a:p>
            <a:r>
              <a:rPr lang="en-US" dirty="0"/>
              <a:t>A </a:t>
            </a:r>
            <a:r>
              <a:rPr lang="en-US" b="1" dirty="0">
                <a:solidFill>
                  <a:srgbClr val="504FA1"/>
                </a:solidFill>
              </a:rPr>
              <a:t>program counter (PC) </a:t>
            </a:r>
            <a:r>
              <a:rPr lang="en-US" dirty="0"/>
              <a:t>stores the address of the next instruction to be executed. </a:t>
            </a:r>
            <a:r>
              <a:rPr lang="en-US" dirty="0" smtClean="0"/>
              <a:t/>
            </a:r>
            <a:br>
              <a:rPr lang="en-US" dirty="0" smtClean="0"/>
            </a:br>
            <a:endParaRPr lang="en-HK" dirty="0"/>
          </a:p>
          <a:p>
            <a:r>
              <a:rPr lang="en-US" dirty="0"/>
              <a:t>A </a:t>
            </a:r>
            <a:r>
              <a:rPr lang="en-US" b="1" dirty="0">
                <a:solidFill>
                  <a:srgbClr val="504FA1"/>
                </a:solidFill>
              </a:rPr>
              <a:t>memory address register (MAR) </a:t>
            </a:r>
            <a:r>
              <a:rPr lang="en-US" dirty="0"/>
              <a:t>stores the memory address which needs to be read from or written into</a:t>
            </a:r>
            <a:r>
              <a:rPr lang="en-US" dirty="0" smtClean="0"/>
              <a:t>.</a:t>
            </a:r>
          </a:p>
          <a:p>
            <a:endParaRPr lang="en-HK" dirty="0"/>
          </a:p>
          <a:p>
            <a:r>
              <a:rPr lang="en-US" dirty="0"/>
              <a:t>A </a:t>
            </a:r>
            <a:r>
              <a:rPr lang="en-US" b="1" dirty="0">
                <a:solidFill>
                  <a:srgbClr val="504FA1"/>
                </a:solidFill>
              </a:rPr>
              <a:t>memory data register (MDR)</a:t>
            </a:r>
            <a:r>
              <a:rPr lang="en-US" dirty="0"/>
              <a:t> stores the data which is read from or to be written into the memory </a:t>
            </a:r>
            <a:r>
              <a:rPr lang="en-US" dirty="0" smtClean="0"/>
              <a:t>address </a:t>
            </a:r>
            <a:r>
              <a:rPr lang="en-US" dirty="0"/>
              <a:t>stored in MAR</a:t>
            </a:r>
            <a:r>
              <a:rPr lang="en-US" dirty="0" smtClean="0"/>
              <a:t>.</a:t>
            </a:r>
            <a:br>
              <a:rPr lang="en-US" dirty="0" smtClean="0"/>
            </a:br>
            <a:endParaRPr lang="en-HK" dirty="0"/>
          </a:p>
          <a:p>
            <a:r>
              <a:rPr lang="en-US" dirty="0"/>
              <a:t>An </a:t>
            </a:r>
            <a:r>
              <a:rPr lang="en-US" b="1" dirty="0">
                <a:solidFill>
                  <a:srgbClr val="504FA1"/>
                </a:solidFill>
              </a:rPr>
              <a:t>accumulator</a:t>
            </a:r>
            <a:r>
              <a:rPr lang="en-US" dirty="0"/>
              <a:t> stores the arithmetic operation result from the ALU.</a:t>
            </a:r>
          </a:p>
        </p:txBody>
      </p:sp>
    </p:spTree>
    <p:extLst>
      <p:ext uri="{BB962C8B-B14F-4D97-AF65-F5344CB8AC3E}">
        <p14:creationId xmlns:p14="http://schemas.microsoft.com/office/powerpoint/2010/main" val="1268829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Cache memory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34</a:t>
            </a:fld>
            <a:endParaRPr lang="en-US" dirty="0"/>
          </a:p>
        </p:txBody>
      </p:sp>
      <p:sp>
        <p:nvSpPr>
          <p:cNvPr id="4" name="Text Placeholder 3"/>
          <p:cNvSpPr>
            <a:spLocks noGrp="1"/>
          </p:cNvSpPr>
          <p:nvPr>
            <p:ph type="body" sz="quarter" idx="14"/>
          </p:nvPr>
        </p:nvSpPr>
        <p:spPr/>
        <p:txBody>
          <a:bodyPr/>
          <a:lstStyle/>
          <a:p>
            <a:r>
              <a:rPr lang="en-HK" dirty="0" smtClean="0"/>
              <a:t>D</a:t>
            </a:r>
            <a:endParaRPr lang="en-US" dirty="0"/>
          </a:p>
        </p:txBody>
      </p:sp>
      <p:sp>
        <p:nvSpPr>
          <p:cNvPr id="5" name="Content Placeholder 4"/>
          <p:cNvSpPr>
            <a:spLocks noGrp="1"/>
          </p:cNvSpPr>
          <p:nvPr>
            <p:ph sz="quarter" idx="15"/>
          </p:nvPr>
        </p:nvSpPr>
        <p:spPr/>
        <p:txBody>
          <a:bodyPr>
            <a:normAutofit/>
          </a:bodyPr>
          <a:lstStyle/>
          <a:p>
            <a:r>
              <a:rPr lang="en-US" dirty="0"/>
              <a:t>The performance of a CPU is greatly affected by that of its </a:t>
            </a:r>
            <a:r>
              <a:rPr lang="en-US" b="1" dirty="0">
                <a:solidFill>
                  <a:srgbClr val="504FA1"/>
                </a:solidFill>
              </a:rPr>
              <a:t>cache memory</a:t>
            </a:r>
            <a:r>
              <a:rPr lang="en-US" dirty="0"/>
              <a:t>. Just like RAM, cache memory is volatile</a:t>
            </a:r>
            <a:r>
              <a:rPr lang="en-US" dirty="0" smtClean="0"/>
              <a:t>.</a:t>
            </a:r>
          </a:p>
          <a:p>
            <a:endParaRPr lang="en-HK" dirty="0"/>
          </a:p>
          <a:p>
            <a:endParaRPr lang="en-HK" dirty="0" smtClean="0"/>
          </a:p>
          <a:p>
            <a:endParaRPr lang="en-HK" dirty="0"/>
          </a:p>
          <a:p>
            <a:endParaRPr lang="en-HK" dirty="0" smtClean="0"/>
          </a:p>
          <a:p>
            <a:endParaRPr lang="en-HK" dirty="0" smtClean="0"/>
          </a:p>
          <a:p>
            <a:r>
              <a:rPr lang="en-US" dirty="0" smtClean="0"/>
              <a:t>The </a:t>
            </a:r>
            <a:r>
              <a:rPr lang="en-US" dirty="0"/>
              <a:t>access rate of the cache memory in the CPU is higher than that of the RAM. </a:t>
            </a:r>
            <a:endParaRPr lang="en-US" dirty="0" smtClean="0"/>
          </a:p>
          <a:p>
            <a:r>
              <a:rPr lang="en-US" dirty="0" smtClean="0"/>
              <a:t>Therefore</a:t>
            </a:r>
            <a:r>
              <a:rPr lang="en-US" dirty="0"/>
              <a:t>, it is used to facilitate data accessing from the main memory by temporarily storing the data or instructions that are expected to be accessed most frequently.</a:t>
            </a:r>
          </a:p>
        </p:txBody>
      </p:sp>
      <p:pic>
        <p:nvPicPr>
          <p:cNvPr id="6" name="Picture 5"/>
          <p:cNvPicPr>
            <a:picLocks noChangeAspect="1"/>
          </p:cNvPicPr>
          <p:nvPr/>
        </p:nvPicPr>
        <p:blipFill>
          <a:blip r:embed="rId2"/>
          <a:stretch>
            <a:fillRect/>
          </a:stretch>
        </p:blipFill>
        <p:spPr>
          <a:xfrm>
            <a:off x="1003669" y="2869200"/>
            <a:ext cx="10185862" cy="1348704"/>
          </a:xfrm>
          <a:prstGeom prst="rect">
            <a:avLst/>
          </a:prstGeom>
        </p:spPr>
      </p:pic>
    </p:spTree>
    <p:extLst>
      <p:ext uri="{BB962C8B-B14F-4D97-AF65-F5344CB8AC3E}">
        <p14:creationId xmlns:p14="http://schemas.microsoft.com/office/powerpoint/2010/main" val="3700095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Machine cycle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35</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US" dirty="0"/>
              <a:t>Nowadays, the design of most computers is based on von Neumann architecture</a:t>
            </a:r>
            <a:r>
              <a:rPr lang="en-US" dirty="0" smtClean="0"/>
              <a:t>.</a:t>
            </a:r>
          </a:p>
          <a:p>
            <a:endParaRPr lang="en-HK" dirty="0"/>
          </a:p>
          <a:p>
            <a:r>
              <a:rPr lang="en-US" dirty="0"/>
              <a:t>This architecture features a </a:t>
            </a:r>
            <a:r>
              <a:rPr lang="en-US" b="1" dirty="0">
                <a:solidFill>
                  <a:srgbClr val="504FA1"/>
                </a:solidFill>
              </a:rPr>
              <a:t>machine cycle </a:t>
            </a:r>
            <a:r>
              <a:rPr lang="en-US" dirty="0" smtClean="0"/>
              <a:t>containing </a:t>
            </a:r>
            <a:r>
              <a:rPr lang="en-US" dirty="0"/>
              <a:t>four phases: fetching, decoding, executing and storing.</a:t>
            </a:r>
          </a:p>
        </p:txBody>
      </p:sp>
      <p:pic>
        <p:nvPicPr>
          <p:cNvPr id="6" name="Picture 5"/>
          <p:cNvPicPr>
            <a:picLocks noChangeAspect="1"/>
          </p:cNvPicPr>
          <p:nvPr/>
        </p:nvPicPr>
        <p:blipFill>
          <a:blip r:embed="rId2"/>
          <a:stretch>
            <a:fillRect/>
          </a:stretch>
        </p:blipFill>
        <p:spPr>
          <a:xfrm>
            <a:off x="3355573" y="3584328"/>
            <a:ext cx="5131722" cy="2704872"/>
          </a:xfrm>
          <a:prstGeom prst="rect">
            <a:avLst/>
          </a:prstGeom>
        </p:spPr>
      </p:pic>
    </p:spTree>
    <p:extLst>
      <p:ext uri="{BB962C8B-B14F-4D97-AF65-F5344CB8AC3E}">
        <p14:creationId xmlns:p14="http://schemas.microsoft.com/office/powerpoint/2010/main" val="28736412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Machine cycle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36</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US" dirty="0"/>
              <a:t>This machine cycle can be further broken down into seven steps:</a:t>
            </a:r>
          </a:p>
        </p:txBody>
      </p:sp>
      <p:pic>
        <p:nvPicPr>
          <p:cNvPr id="6" name="Picture 5"/>
          <p:cNvPicPr>
            <a:picLocks noChangeAspect="1"/>
          </p:cNvPicPr>
          <p:nvPr/>
        </p:nvPicPr>
        <p:blipFill>
          <a:blip r:embed="rId2"/>
          <a:stretch>
            <a:fillRect/>
          </a:stretch>
        </p:blipFill>
        <p:spPr>
          <a:xfrm>
            <a:off x="1918800" y="2092358"/>
            <a:ext cx="7790598" cy="4196842"/>
          </a:xfrm>
          <a:prstGeom prst="rect">
            <a:avLst/>
          </a:prstGeom>
        </p:spPr>
      </p:pic>
    </p:spTree>
    <p:extLst>
      <p:ext uri="{BB962C8B-B14F-4D97-AF65-F5344CB8AC3E}">
        <p14:creationId xmlns:p14="http://schemas.microsoft.com/office/powerpoint/2010/main" val="3605661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Machine cycle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37</a:t>
            </a:fld>
            <a:endParaRPr lang="en-US" dirty="0"/>
          </a:p>
        </p:txBody>
      </p:sp>
      <p:sp>
        <p:nvSpPr>
          <p:cNvPr id="4" name="Text Placeholder 3"/>
          <p:cNvSpPr>
            <a:spLocks noGrp="1"/>
          </p:cNvSpPr>
          <p:nvPr>
            <p:ph type="body" sz="quarter" idx="14"/>
          </p:nvPr>
        </p:nvSpPr>
        <p:spPr/>
        <p:txBody>
          <a:bodyPr/>
          <a:lstStyle/>
          <a:p>
            <a:r>
              <a:rPr lang="en-HK" dirty="0" smtClean="0"/>
              <a:t>E</a:t>
            </a:r>
            <a:endParaRPr lang="en-US" dirty="0"/>
          </a:p>
        </p:txBody>
      </p:sp>
      <p:sp>
        <p:nvSpPr>
          <p:cNvPr id="5" name="Content Placeholder 4"/>
          <p:cNvSpPr>
            <a:spLocks noGrp="1"/>
          </p:cNvSpPr>
          <p:nvPr>
            <p:ph sz="quarter" idx="15"/>
          </p:nvPr>
        </p:nvSpPr>
        <p:spPr/>
        <p:txBody>
          <a:bodyPr/>
          <a:lstStyle/>
          <a:p>
            <a:r>
              <a:rPr lang="en-HK" dirty="0" smtClean="0"/>
              <a:t> </a:t>
            </a:r>
            <a:endParaRPr lang="en-US" dirty="0"/>
          </a:p>
        </p:txBody>
      </p:sp>
      <p:grpSp>
        <p:nvGrpSpPr>
          <p:cNvPr id="8" name="Group 7"/>
          <p:cNvGrpSpPr/>
          <p:nvPr/>
        </p:nvGrpSpPr>
        <p:grpSpPr>
          <a:xfrm>
            <a:off x="1859526" y="1472536"/>
            <a:ext cx="8564677" cy="4584558"/>
            <a:chOff x="1918800" y="2064652"/>
            <a:chExt cx="7740722" cy="4143506"/>
          </a:xfrm>
        </p:grpSpPr>
        <p:pic>
          <p:nvPicPr>
            <p:cNvPr id="6" name="Picture 5"/>
            <p:cNvPicPr>
              <a:picLocks noChangeAspect="1"/>
            </p:cNvPicPr>
            <p:nvPr/>
          </p:nvPicPr>
          <p:blipFill>
            <a:blip r:embed="rId2"/>
            <a:stretch>
              <a:fillRect/>
            </a:stretch>
          </p:blipFill>
          <p:spPr>
            <a:xfrm>
              <a:off x="1918800" y="2386380"/>
              <a:ext cx="7740722" cy="3821778"/>
            </a:xfrm>
            <a:prstGeom prst="rect">
              <a:avLst/>
            </a:prstGeom>
          </p:spPr>
        </p:pic>
        <p:pic>
          <p:nvPicPr>
            <p:cNvPr id="7" name="Picture 6"/>
            <p:cNvPicPr>
              <a:picLocks noChangeAspect="1"/>
            </p:cNvPicPr>
            <p:nvPr/>
          </p:nvPicPr>
          <p:blipFill>
            <a:blip r:embed="rId3"/>
            <a:stretch>
              <a:fillRect/>
            </a:stretch>
          </p:blipFill>
          <p:spPr>
            <a:xfrm>
              <a:off x="1952625" y="2064652"/>
              <a:ext cx="7706896" cy="323818"/>
            </a:xfrm>
            <a:prstGeom prst="rect">
              <a:avLst/>
            </a:prstGeom>
          </p:spPr>
        </p:pic>
      </p:grpSp>
    </p:spTree>
    <p:extLst>
      <p:ext uri="{BB962C8B-B14F-4D97-AF65-F5344CB8AC3E}">
        <p14:creationId xmlns:p14="http://schemas.microsoft.com/office/powerpoint/2010/main" val="8438994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Specification of CPU</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38</a:t>
            </a:fld>
            <a:endParaRPr lang="en-US" dirty="0"/>
          </a:p>
        </p:txBody>
      </p:sp>
      <p:sp>
        <p:nvSpPr>
          <p:cNvPr id="4" name="Text Placeholder 3"/>
          <p:cNvSpPr>
            <a:spLocks noGrp="1"/>
          </p:cNvSpPr>
          <p:nvPr>
            <p:ph type="body" sz="quarter" idx="14"/>
          </p:nvPr>
        </p:nvSpPr>
        <p:spPr/>
        <p:txBody>
          <a:bodyPr/>
          <a:lstStyle/>
          <a:p>
            <a:r>
              <a:rPr lang="en-HK" dirty="0" smtClean="0"/>
              <a:t>F</a:t>
            </a:r>
            <a:endParaRPr lang="en-US" dirty="0"/>
          </a:p>
        </p:txBody>
      </p:sp>
      <p:sp>
        <p:nvSpPr>
          <p:cNvPr id="5" name="Content Placeholder 4"/>
          <p:cNvSpPr>
            <a:spLocks noGrp="1"/>
          </p:cNvSpPr>
          <p:nvPr>
            <p:ph sz="quarter" idx="15"/>
          </p:nvPr>
        </p:nvSpPr>
        <p:spPr/>
        <p:txBody>
          <a:bodyPr/>
          <a:lstStyle/>
          <a:p>
            <a:r>
              <a:rPr lang="en-US" dirty="0"/>
              <a:t>The timing of fetching, decoding, executing and storing is controlled by the clock of a CPU. </a:t>
            </a:r>
            <a:endParaRPr lang="en-US" dirty="0" smtClean="0"/>
          </a:p>
          <a:p>
            <a:endParaRPr lang="en-HK" dirty="0"/>
          </a:p>
          <a:p>
            <a:r>
              <a:rPr lang="en-US" dirty="0"/>
              <a:t>The </a:t>
            </a:r>
            <a:r>
              <a:rPr lang="en-US" b="1" dirty="0">
                <a:solidFill>
                  <a:srgbClr val="504FA1"/>
                </a:solidFill>
              </a:rPr>
              <a:t>clock rate </a:t>
            </a:r>
            <a:r>
              <a:rPr lang="en-US" dirty="0"/>
              <a:t>is the number of clock cycles a CPU performs in one second.</a:t>
            </a:r>
          </a:p>
        </p:txBody>
      </p:sp>
      <p:pic>
        <p:nvPicPr>
          <p:cNvPr id="6" name="Picture 5"/>
          <p:cNvPicPr>
            <a:picLocks noChangeAspect="1"/>
          </p:cNvPicPr>
          <p:nvPr/>
        </p:nvPicPr>
        <p:blipFill>
          <a:blip r:embed="rId2"/>
          <a:stretch>
            <a:fillRect/>
          </a:stretch>
        </p:blipFill>
        <p:spPr>
          <a:xfrm>
            <a:off x="4688676" y="3499659"/>
            <a:ext cx="2815848" cy="2361054"/>
          </a:xfrm>
          <a:prstGeom prst="rect">
            <a:avLst/>
          </a:prstGeom>
        </p:spPr>
      </p:pic>
    </p:spTree>
    <p:extLst>
      <p:ext uri="{BB962C8B-B14F-4D97-AF65-F5344CB8AC3E}">
        <p14:creationId xmlns:p14="http://schemas.microsoft.com/office/powerpoint/2010/main" val="4202082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Specification of CPU</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39</a:t>
            </a:fld>
            <a:endParaRPr lang="en-US" dirty="0"/>
          </a:p>
        </p:txBody>
      </p:sp>
      <p:sp>
        <p:nvSpPr>
          <p:cNvPr id="4" name="Text Placeholder 3"/>
          <p:cNvSpPr>
            <a:spLocks noGrp="1"/>
          </p:cNvSpPr>
          <p:nvPr>
            <p:ph type="body" sz="quarter" idx="14"/>
          </p:nvPr>
        </p:nvSpPr>
        <p:spPr/>
        <p:txBody>
          <a:bodyPr/>
          <a:lstStyle/>
          <a:p>
            <a:r>
              <a:rPr lang="en-HK" dirty="0" smtClean="0"/>
              <a:t>F</a:t>
            </a:r>
            <a:endParaRPr lang="en-US" dirty="0"/>
          </a:p>
        </p:txBody>
      </p:sp>
      <p:sp>
        <p:nvSpPr>
          <p:cNvPr id="5" name="Content Placeholder 4"/>
          <p:cNvSpPr>
            <a:spLocks noGrp="1"/>
          </p:cNvSpPr>
          <p:nvPr>
            <p:ph sz="quarter" idx="15"/>
          </p:nvPr>
        </p:nvSpPr>
        <p:spPr/>
        <p:txBody>
          <a:bodyPr/>
          <a:lstStyle/>
          <a:p>
            <a:r>
              <a:rPr lang="en-US" dirty="0"/>
              <a:t>Here are the units of clock rate and clock cycle</a:t>
            </a:r>
            <a:r>
              <a:rPr lang="en-US" dirty="0" smtClean="0"/>
              <a:t>.</a:t>
            </a:r>
            <a:endParaRPr lang="en-US" dirty="0"/>
          </a:p>
          <a:p>
            <a:endParaRPr lang="en-HK" dirty="0" smtClean="0"/>
          </a:p>
          <a:p>
            <a:endParaRPr lang="en-HK" dirty="0"/>
          </a:p>
          <a:p>
            <a:endParaRPr lang="en-HK" dirty="0" smtClean="0"/>
          </a:p>
          <a:p>
            <a:endParaRPr lang="en-HK" dirty="0"/>
          </a:p>
          <a:p>
            <a:endParaRPr lang="en-HK" dirty="0" smtClean="0"/>
          </a:p>
          <a:p>
            <a:endParaRPr lang="en-US" dirty="0" smtClean="0"/>
          </a:p>
          <a:p>
            <a:r>
              <a:rPr lang="en-US" dirty="0" smtClean="0"/>
              <a:t>A </a:t>
            </a:r>
            <a:r>
              <a:rPr lang="en-US" dirty="0"/>
              <a:t>CPU with a higher clock rate usually performs better and has higher energy consumption.</a:t>
            </a:r>
            <a:endParaRPr lang="en-US" dirty="0" smtClean="0"/>
          </a:p>
        </p:txBody>
      </p:sp>
      <p:pic>
        <p:nvPicPr>
          <p:cNvPr id="6" name="Picture 5"/>
          <p:cNvPicPr>
            <a:picLocks noChangeAspect="1"/>
          </p:cNvPicPr>
          <p:nvPr/>
        </p:nvPicPr>
        <p:blipFill>
          <a:blip r:embed="rId2"/>
          <a:stretch>
            <a:fillRect/>
          </a:stretch>
        </p:blipFill>
        <p:spPr>
          <a:xfrm>
            <a:off x="1299024" y="2512800"/>
            <a:ext cx="9595152" cy="1873428"/>
          </a:xfrm>
          <a:prstGeom prst="rect">
            <a:avLst/>
          </a:prstGeom>
        </p:spPr>
      </p:pic>
    </p:spTree>
    <p:extLst>
      <p:ext uri="{BB962C8B-B14F-4D97-AF65-F5344CB8AC3E}">
        <p14:creationId xmlns:p14="http://schemas.microsoft.com/office/powerpoint/2010/main" val="3870739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a:t>Specification of CPU</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40</a:t>
            </a:fld>
            <a:endParaRPr lang="en-US" dirty="0"/>
          </a:p>
        </p:txBody>
      </p:sp>
      <p:sp>
        <p:nvSpPr>
          <p:cNvPr id="4" name="Text Placeholder 3"/>
          <p:cNvSpPr>
            <a:spLocks noGrp="1"/>
          </p:cNvSpPr>
          <p:nvPr>
            <p:ph type="body" sz="quarter" idx="14"/>
          </p:nvPr>
        </p:nvSpPr>
        <p:spPr/>
        <p:txBody>
          <a:bodyPr/>
          <a:lstStyle/>
          <a:p>
            <a:r>
              <a:rPr lang="en-HK" dirty="0" smtClean="0"/>
              <a:t>F</a:t>
            </a:r>
            <a:endParaRPr lang="en-US" dirty="0"/>
          </a:p>
        </p:txBody>
      </p:sp>
      <p:sp>
        <p:nvSpPr>
          <p:cNvPr id="5" name="Content Placeholder 4"/>
          <p:cNvSpPr>
            <a:spLocks noGrp="1"/>
          </p:cNvSpPr>
          <p:nvPr>
            <p:ph sz="quarter" idx="15"/>
          </p:nvPr>
        </p:nvSpPr>
        <p:spPr/>
        <p:txBody>
          <a:bodyPr/>
          <a:lstStyle/>
          <a:p>
            <a:r>
              <a:rPr lang="en-US" dirty="0"/>
              <a:t>The </a:t>
            </a:r>
            <a:r>
              <a:rPr lang="en-US" b="1" dirty="0">
                <a:solidFill>
                  <a:srgbClr val="504FA1"/>
                </a:solidFill>
              </a:rPr>
              <a:t>core</a:t>
            </a:r>
            <a:r>
              <a:rPr lang="en-US" dirty="0"/>
              <a:t> of a CPU is an individual processor unit inside a CPU</a:t>
            </a:r>
            <a:r>
              <a:rPr lang="en-US" dirty="0" smtClean="0"/>
              <a:t>.</a:t>
            </a:r>
          </a:p>
          <a:p>
            <a:endParaRPr lang="en-HK" dirty="0"/>
          </a:p>
          <a:p>
            <a:r>
              <a:rPr lang="en-US" dirty="0"/>
              <a:t>The number of cores in a CPU determines the number </a:t>
            </a:r>
            <a:r>
              <a:rPr lang="en-US" dirty="0" smtClean="0"/>
              <a:t/>
            </a:r>
            <a:br>
              <a:rPr lang="en-US" dirty="0" smtClean="0"/>
            </a:br>
            <a:r>
              <a:rPr lang="en-US" dirty="0" smtClean="0"/>
              <a:t>of </a:t>
            </a:r>
            <a:r>
              <a:rPr lang="en-US" dirty="0"/>
              <a:t>processes that can be run at the same time</a:t>
            </a:r>
            <a:r>
              <a:rPr lang="en-US" dirty="0" smtClean="0"/>
              <a:t>.</a:t>
            </a:r>
          </a:p>
          <a:p>
            <a:endParaRPr lang="en-HK" dirty="0"/>
          </a:p>
          <a:p>
            <a:endParaRPr lang="en-HK" dirty="0" smtClean="0"/>
          </a:p>
          <a:p>
            <a:r>
              <a:rPr lang="en-US" dirty="0"/>
              <a:t>A CPU with more cores usually performs better than a </a:t>
            </a:r>
            <a:r>
              <a:rPr lang="en-US" dirty="0" smtClean="0"/>
              <a:t/>
            </a:r>
            <a:br>
              <a:rPr lang="en-US" dirty="0" smtClean="0"/>
            </a:br>
            <a:r>
              <a:rPr lang="en-US" dirty="0" smtClean="0"/>
              <a:t>CPU </a:t>
            </a:r>
            <a:r>
              <a:rPr lang="en-US" dirty="0"/>
              <a:t>with fewer cores does in the case of multitasking.</a:t>
            </a:r>
            <a:endParaRPr lang="en-HK" dirty="0"/>
          </a:p>
        </p:txBody>
      </p:sp>
      <p:pic>
        <p:nvPicPr>
          <p:cNvPr id="6" name="Picture 5"/>
          <p:cNvPicPr>
            <a:picLocks noChangeAspect="1"/>
          </p:cNvPicPr>
          <p:nvPr/>
        </p:nvPicPr>
        <p:blipFill>
          <a:blip r:embed="rId2"/>
          <a:stretch>
            <a:fillRect/>
          </a:stretch>
        </p:blipFill>
        <p:spPr>
          <a:xfrm>
            <a:off x="7587480" y="2557461"/>
            <a:ext cx="3879850" cy="2797877"/>
          </a:xfrm>
          <a:prstGeom prst="rect">
            <a:avLst/>
          </a:prstGeom>
        </p:spPr>
      </p:pic>
    </p:spTree>
    <p:extLst>
      <p:ext uri="{BB962C8B-B14F-4D97-AF65-F5344CB8AC3E}">
        <p14:creationId xmlns:p14="http://schemas.microsoft.com/office/powerpoint/2010/main" val="3780593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Specification of CPU</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41</a:t>
            </a:fld>
            <a:endParaRPr lang="en-US" dirty="0"/>
          </a:p>
        </p:txBody>
      </p:sp>
      <p:sp>
        <p:nvSpPr>
          <p:cNvPr id="4" name="Text Placeholder 3"/>
          <p:cNvSpPr>
            <a:spLocks noGrp="1"/>
          </p:cNvSpPr>
          <p:nvPr>
            <p:ph type="body" sz="quarter" idx="14"/>
          </p:nvPr>
        </p:nvSpPr>
        <p:spPr/>
        <p:txBody>
          <a:bodyPr/>
          <a:lstStyle/>
          <a:p>
            <a:r>
              <a:rPr lang="en-HK" dirty="0" smtClean="0"/>
              <a:t>F</a:t>
            </a:r>
            <a:endParaRPr lang="en-US" dirty="0"/>
          </a:p>
        </p:txBody>
      </p:sp>
      <p:sp>
        <p:nvSpPr>
          <p:cNvPr id="5" name="Content Placeholder 4"/>
          <p:cNvSpPr>
            <a:spLocks noGrp="1"/>
          </p:cNvSpPr>
          <p:nvPr>
            <p:ph sz="quarter" idx="15"/>
          </p:nvPr>
        </p:nvSpPr>
        <p:spPr/>
        <p:txBody>
          <a:bodyPr/>
          <a:lstStyle/>
          <a:p>
            <a:r>
              <a:rPr lang="en-US" dirty="0"/>
              <a:t>The number of bits processed by a CPU each time is called </a:t>
            </a:r>
            <a:r>
              <a:rPr lang="en-US" b="1" dirty="0">
                <a:solidFill>
                  <a:srgbClr val="504FA1"/>
                </a:solidFill>
              </a:rPr>
              <a:t>word length</a:t>
            </a:r>
            <a:r>
              <a:rPr lang="en-US" dirty="0"/>
              <a:t> or word size</a:t>
            </a:r>
            <a:r>
              <a:rPr lang="en-US" dirty="0" smtClean="0"/>
              <a:t>.</a:t>
            </a:r>
          </a:p>
          <a:p>
            <a:endParaRPr lang="en-HK" dirty="0"/>
          </a:p>
          <a:p>
            <a:r>
              <a:rPr lang="en-US" dirty="0"/>
              <a:t>Nowadays, the word length of a computer is usually 32-bits or 64-bits. </a:t>
            </a:r>
            <a:r>
              <a:rPr lang="en-US" dirty="0" smtClean="0"/>
              <a:t>A </a:t>
            </a:r>
            <a:r>
              <a:rPr lang="en-US" dirty="0"/>
              <a:t>CPU with a longer word length usually performs better.</a:t>
            </a:r>
          </a:p>
        </p:txBody>
      </p:sp>
    </p:spTree>
    <p:extLst>
      <p:ext uri="{BB962C8B-B14F-4D97-AF65-F5344CB8AC3E}">
        <p14:creationId xmlns:p14="http://schemas.microsoft.com/office/powerpoint/2010/main" val="2187887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Which of the following store memory address in a machine cycle?</a:t>
            </a:r>
            <a:br>
              <a:rPr lang="en-US" dirty="0"/>
            </a:br>
            <a:endParaRPr lang="en-US" dirty="0"/>
          </a:p>
          <a:p>
            <a:pPr marL="1257300" lvl="2" indent="-342900">
              <a:buSzPct val="100000"/>
              <a:buAutoNum type="arabicParenBoth"/>
            </a:pPr>
            <a:r>
              <a:rPr lang="en-US" sz="2000" dirty="0"/>
              <a:t>Program counter (PC</a:t>
            </a:r>
            <a:r>
              <a:rPr lang="en-US" sz="2000" dirty="0" smtClean="0"/>
              <a:t>)</a:t>
            </a:r>
          </a:p>
          <a:p>
            <a:pPr marL="1257300" lvl="2" indent="-342900">
              <a:buSzPct val="100000"/>
              <a:buAutoNum type="arabicParenBoth"/>
            </a:pPr>
            <a:r>
              <a:rPr lang="en-US" sz="2000" dirty="0"/>
              <a:t>Memory address register (MAR</a:t>
            </a:r>
            <a:r>
              <a:rPr lang="en-US" sz="2000" dirty="0" smtClean="0"/>
              <a:t>)</a:t>
            </a:r>
          </a:p>
          <a:p>
            <a:pPr marL="1257300" lvl="2" indent="-342900">
              <a:buSzPct val="100000"/>
              <a:buAutoNum type="arabicParenBoth"/>
            </a:pPr>
            <a:r>
              <a:rPr lang="en-US" sz="2000" dirty="0"/>
              <a:t>Random access memory (RAM</a:t>
            </a:r>
            <a:r>
              <a:rPr lang="en-US" sz="2000" dirty="0" smtClean="0"/>
              <a:t>)</a:t>
            </a:r>
          </a:p>
          <a:p>
            <a:pPr marL="1257300" lvl="2" indent="-342900">
              <a:buSzPct val="100000"/>
              <a:buAutoNum type="arabicParenBoth"/>
            </a:pPr>
            <a:r>
              <a:rPr lang="en-US" sz="2000" dirty="0"/>
              <a:t>Current instruction register (CIR)</a:t>
            </a:r>
            <a:br>
              <a:rPr lang="en-US" sz="2000" dirty="0"/>
            </a:br>
            <a:endParaRPr lang="en-US" sz="2000" dirty="0"/>
          </a:p>
          <a:p>
            <a:pPr marL="800100" lvl="1" indent="-342900">
              <a:buSzPct val="100000"/>
              <a:buAutoNum type="alphaUcPeriod"/>
            </a:pPr>
            <a:r>
              <a:rPr lang="en-HK" sz="2000" dirty="0"/>
              <a:t>(1</a:t>
            </a:r>
            <a:r>
              <a:rPr lang="en-HK" sz="2000" dirty="0" smtClean="0"/>
              <a:t>) and (2) </a:t>
            </a:r>
            <a:r>
              <a:rPr lang="en-HK" sz="2000" dirty="0"/>
              <a:t>only</a:t>
            </a:r>
          </a:p>
          <a:p>
            <a:pPr marL="800100" lvl="1" indent="-342900">
              <a:buSzPct val="100000"/>
              <a:buAutoNum type="alphaUcPeriod"/>
            </a:pPr>
            <a:r>
              <a:rPr lang="en-HK" sz="2000" dirty="0" smtClean="0"/>
              <a:t>(1) and (3) </a:t>
            </a:r>
            <a:r>
              <a:rPr lang="en-HK" sz="2000" dirty="0"/>
              <a:t>only</a:t>
            </a:r>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HK" sz="2000" dirty="0"/>
              <a:t>(2) and </a:t>
            </a:r>
            <a:r>
              <a:rPr lang="en-HK" sz="2000" dirty="0" smtClean="0"/>
              <a:t>(4) </a:t>
            </a:r>
            <a:r>
              <a:rPr lang="en-HK" sz="2000" dirty="0"/>
              <a:t>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42</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spTree>
    <p:extLst>
      <p:ext uri="{BB962C8B-B14F-4D97-AF65-F5344CB8AC3E}">
        <p14:creationId xmlns:p14="http://schemas.microsoft.com/office/powerpoint/2010/main" val="38793458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Item (1), PC, is used to store the address of the next instruction</a:t>
            </a:r>
            <a:r>
              <a:rPr lang="en-US" dirty="0" smtClean="0"/>
              <a:t>.</a:t>
            </a:r>
            <a:endParaRPr lang="en-US" dirty="0"/>
          </a:p>
          <a:p>
            <a:pPr>
              <a:buSzPct val="100000"/>
            </a:pPr>
            <a:r>
              <a:rPr lang="en-US" dirty="0"/>
              <a:t>Item (2), MAR, is used to store the address of the instruction</a:t>
            </a:r>
            <a:r>
              <a:rPr lang="en-US" dirty="0" smtClean="0"/>
              <a:t>.</a:t>
            </a:r>
            <a:endParaRPr lang="en-US" dirty="0"/>
          </a:p>
          <a:p>
            <a:pPr>
              <a:buSzPct val="100000"/>
            </a:pPr>
            <a:r>
              <a:rPr lang="en-US" dirty="0"/>
              <a:t>Item (3), RAM, is used to store data</a:t>
            </a:r>
            <a:r>
              <a:rPr lang="en-US" dirty="0" smtClean="0"/>
              <a:t>.</a:t>
            </a:r>
            <a:endParaRPr lang="en-US" dirty="0"/>
          </a:p>
          <a:p>
            <a:pPr>
              <a:buSzPct val="100000"/>
            </a:pPr>
            <a:r>
              <a:rPr lang="en-US" dirty="0"/>
              <a:t>Item (4), CIR, is used to store instruction or data</a:t>
            </a:r>
            <a:r>
              <a:rPr lang="en-US" dirty="0" smtClean="0"/>
              <a:t>.</a:t>
            </a:r>
            <a:br>
              <a:rPr lang="en-US" dirty="0" smtClean="0"/>
            </a:br>
            <a:endParaRPr lang="en-US" dirty="0" smtClean="0"/>
          </a:p>
          <a:p>
            <a:pPr>
              <a:buSzPct val="100000"/>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a:t>
            </a:r>
            <a:r>
              <a:rPr lang="en-HK" dirty="0" smtClean="0"/>
              <a:t>A.</a:t>
            </a:r>
            <a:endParaRPr lang="en-US" dirty="0"/>
          </a:p>
          <a:p>
            <a:endParaRPr lang="en-US" b="1" dirty="0"/>
          </a:p>
        </p:txBody>
      </p:sp>
      <p:sp>
        <p:nvSpPr>
          <p:cNvPr id="3" name="Slide Number Placeholder 2"/>
          <p:cNvSpPr>
            <a:spLocks noGrp="1"/>
          </p:cNvSpPr>
          <p:nvPr>
            <p:ph type="sldNum" sz="quarter" idx="12"/>
          </p:nvPr>
        </p:nvSpPr>
        <p:spPr/>
        <p:txBody>
          <a:bodyPr/>
          <a:lstStyle/>
          <a:p>
            <a:fld id="{6D22F896-40B5-4ADD-8801-0D06FADFA095}" type="slidenum">
              <a:rPr lang="en-US" smtClean="0"/>
              <a:t>43</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spTree>
    <p:extLst>
      <p:ext uri="{BB962C8B-B14F-4D97-AF65-F5344CB8AC3E}">
        <p14:creationId xmlns:p14="http://schemas.microsoft.com/office/powerpoint/2010/main" val="35584161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457200" indent="-457200">
              <a:buFont typeface="+mj-lt"/>
              <a:buAutoNum type="arabicPeriod" startAt="2"/>
            </a:pPr>
            <a:r>
              <a:rPr lang="en-US" dirty="0"/>
              <a:t>Macy has a program which can </a:t>
            </a:r>
            <a:r>
              <a:rPr lang="en-US" dirty="0" err="1"/>
              <a:t>recognise</a:t>
            </a:r>
            <a:r>
              <a:rPr lang="en-US" dirty="0"/>
              <a:t> human faces through machine learning. She finds that her computer runs this program faster than the computers at her school do. Which of the following specifications are the possible reasons for this?</a:t>
            </a:r>
            <a:br>
              <a:rPr lang="en-US" dirty="0"/>
            </a:br>
            <a:endParaRPr lang="en-US" dirty="0"/>
          </a:p>
          <a:p>
            <a:pPr marL="1257300" lvl="2" indent="-342900">
              <a:buSzPct val="100000"/>
              <a:buAutoNum type="arabicParenBoth"/>
            </a:pPr>
            <a:r>
              <a:rPr lang="en-US" sz="2000" dirty="0"/>
              <a:t>The number of ports on the </a:t>
            </a:r>
            <a:r>
              <a:rPr lang="en-US" sz="2000" dirty="0" smtClean="0"/>
              <a:t>motherboard</a:t>
            </a:r>
          </a:p>
          <a:p>
            <a:pPr marL="1257300" lvl="2" indent="-342900">
              <a:buSzPct val="100000"/>
              <a:buAutoNum type="arabicParenBoth"/>
            </a:pPr>
            <a:r>
              <a:rPr lang="en-US" sz="2000" dirty="0"/>
              <a:t>The number of cores in the </a:t>
            </a:r>
            <a:r>
              <a:rPr lang="en-US" sz="2000" dirty="0" smtClean="0"/>
              <a:t>CPU</a:t>
            </a:r>
          </a:p>
          <a:p>
            <a:pPr marL="1257300" lvl="2" indent="-342900">
              <a:buSzPct val="100000"/>
              <a:buAutoNum type="arabicParenBoth"/>
            </a:pPr>
            <a:r>
              <a:rPr lang="en-US" sz="2000" dirty="0"/>
              <a:t>The number of clock cycles a CPU performs in one second</a:t>
            </a:r>
            <a:br>
              <a:rPr lang="en-US" sz="2000" dirty="0"/>
            </a:br>
            <a:endParaRPr lang="en-US" sz="2000" dirty="0"/>
          </a:p>
          <a:p>
            <a:pPr marL="800100" lvl="1" indent="-342900">
              <a:buSzPct val="100000"/>
              <a:buAutoNum type="alphaUcPeriod"/>
            </a:pPr>
            <a:r>
              <a:rPr lang="en-HK" sz="2000" dirty="0"/>
              <a:t>(1</a:t>
            </a:r>
            <a:r>
              <a:rPr lang="en-HK" sz="2000" dirty="0" smtClean="0"/>
              <a:t>) and (2) </a:t>
            </a:r>
            <a:r>
              <a:rPr lang="en-HK" sz="2000" dirty="0"/>
              <a:t>only</a:t>
            </a:r>
          </a:p>
          <a:p>
            <a:pPr marL="800100" lvl="1" indent="-342900">
              <a:buSzPct val="100000"/>
              <a:buAutoNum type="alphaUcPeriod"/>
            </a:pPr>
            <a:r>
              <a:rPr lang="en-HK" sz="2000" dirty="0" smtClean="0"/>
              <a:t>(1) and (3) </a:t>
            </a:r>
            <a:r>
              <a:rPr lang="en-HK" sz="2000" dirty="0"/>
              <a:t>only</a:t>
            </a:r>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HK" sz="2000" dirty="0" smtClean="0"/>
              <a:t>(1), (2) and (3)</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44</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spTree>
    <p:extLst>
      <p:ext uri="{BB962C8B-B14F-4D97-AF65-F5344CB8AC3E}">
        <p14:creationId xmlns:p14="http://schemas.microsoft.com/office/powerpoint/2010/main" val="7386385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Item (1), the number of ports, only determines how many peripheral devices can be connected to the </a:t>
            </a:r>
            <a:r>
              <a:rPr lang="en-US" dirty="0" smtClean="0"/>
              <a:t>computer</a:t>
            </a:r>
            <a:r>
              <a:rPr lang="en-US" dirty="0"/>
              <a:t>. It is a non-factor for computer performance</a:t>
            </a:r>
            <a:r>
              <a:rPr lang="en-US" dirty="0" smtClean="0"/>
              <a:t>.</a:t>
            </a:r>
            <a:endParaRPr lang="en-US" dirty="0"/>
          </a:p>
          <a:p>
            <a:pPr>
              <a:buSzPct val="100000"/>
            </a:pPr>
            <a:r>
              <a:rPr lang="en-US" dirty="0"/>
              <a:t>For item (2), having more cores means more instructions can be executed within a given time frame</a:t>
            </a:r>
            <a:r>
              <a:rPr lang="en-US" dirty="0" smtClean="0"/>
              <a:t>.</a:t>
            </a:r>
            <a:endParaRPr lang="en-US" dirty="0"/>
          </a:p>
          <a:p>
            <a:pPr>
              <a:buSzPct val="100000"/>
            </a:pPr>
            <a:r>
              <a:rPr lang="en-US" dirty="0"/>
              <a:t>Item (3), the number of clock cycles a CPU performs in one second is the clock rate of a CPU. A higher </a:t>
            </a:r>
            <a:r>
              <a:rPr lang="en-US" dirty="0" smtClean="0"/>
              <a:t>clock </a:t>
            </a:r>
            <a:r>
              <a:rPr lang="en-US" dirty="0"/>
              <a:t>rate usually means more instructions can be executed within a given time frame.</a:t>
            </a:r>
            <a:br>
              <a:rPr lang="en-US" dirty="0"/>
            </a:br>
            <a:endParaRPr lang="en-US" dirty="0" smtClean="0"/>
          </a:p>
          <a:p>
            <a:pPr>
              <a:buSzPct val="100000"/>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C</a:t>
            </a:r>
            <a:r>
              <a:rPr lang="en-HK" dirty="0" smtClean="0"/>
              <a:t>.</a:t>
            </a:r>
            <a:endParaRPr lang="en-US" dirty="0"/>
          </a:p>
          <a:p>
            <a:endParaRPr lang="en-US" b="1" dirty="0"/>
          </a:p>
        </p:txBody>
      </p:sp>
      <p:sp>
        <p:nvSpPr>
          <p:cNvPr id="3" name="Slide Number Placeholder 2"/>
          <p:cNvSpPr>
            <a:spLocks noGrp="1"/>
          </p:cNvSpPr>
          <p:nvPr>
            <p:ph type="sldNum" sz="quarter" idx="12"/>
          </p:nvPr>
        </p:nvSpPr>
        <p:spPr/>
        <p:txBody>
          <a:bodyPr/>
          <a:lstStyle/>
          <a:p>
            <a:fld id="{6D22F896-40B5-4ADD-8801-0D06FADFA095}" type="slidenum">
              <a:rPr lang="en-US" smtClean="0"/>
              <a:t>45</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spTree>
    <p:extLst>
      <p:ext uri="{BB962C8B-B14F-4D97-AF65-F5344CB8AC3E}">
        <p14:creationId xmlns:p14="http://schemas.microsoft.com/office/powerpoint/2010/main" val="41208581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Which of the following components in a CPU decodes an instruction during a machine cycle? </a:t>
            </a:r>
            <a:endParaRPr lang="en-US" dirty="0" smtClean="0"/>
          </a:p>
          <a:p>
            <a:endParaRPr lang="en-HK" dirty="0"/>
          </a:p>
          <a:p>
            <a:pPr marL="800100" lvl="1" indent="-342900">
              <a:buAutoNum type="alphaUcPeriod"/>
            </a:pPr>
            <a:r>
              <a:rPr lang="en-US" sz="2000" dirty="0" smtClean="0"/>
              <a:t>Arithmetic </a:t>
            </a:r>
            <a:r>
              <a:rPr lang="en-US" sz="2000" dirty="0"/>
              <a:t>and Logic unit (ALU)</a:t>
            </a:r>
            <a:endParaRPr lang="en-HK" sz="2000" dirty="0"/>
          </a:p>
          <a:p>
            <a:pPr marL="800100" lvl="1" indent="-342900">
              <a:buAutoNum type="alphaUcPeriod"/>
            </a:pPr>
            <a:r>
              <a:rPr lang="en-US" sz="2000" dirty="0" smtClean="0"/>
              <a:t>Current </a:t>
            </a:r>
            <a:r>
              <a:rPr lang="en-US" sz="2000" dirty="0"/>
              <a:t>instruction register (CIR)</a:t>
            </a:r>
            <a:endParaRPr lang="en-HK" sz="2000" dirty="0"/>
          </a:p>
          <a:p>
            <a:pPr marL="800100" lvl="1" indent="-342900">
              <a:buAutoNum type="alphaUcPeriod"/>
            </a:pPr>
            <a:r>
              <a:rPr lang="en-US" sz="2000" dirty="0" smtClean="0"/>
              <a:t>Control </a:t>
            </a:r>
            <a:r>
              <a:rPr lang="en-US" sz="2000" dirty="0"/>
              <a:t>Unit (CU)</a:t>
            </a:r>
            <a:endParaRPr lang="en-HK" sz="2000" dirty="0"/>
          </a:p>
          <a:p>
            <a:pPr marL="800100" lvl="1" indent="-342900">
              <a:buAutoNum type="alphaUcPeriod"/>
            </a:pPr>
            <a:r>
              <a:rPr lang="en-US" sz="2000" dirty="0" smtClean="0"/>
              <a:t>Accumulator</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46</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spTree>
    <p:extLst>
      <p:ext uri="{BB962C8B-B14F-4D97-AF65-F5344CB8AC3E}">
        <p14:creationId xmlns:p14="http://schemas.microsoft.com/office/powerpoint/2010/main" val="3714912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4" end="4"/>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Which of the following must be the result of reducing the word length of a CPU?</a:t>
            </a:r>
          </a:p>
          <a:p>
            <a:pPr marL="457200" indent="-457200">
              <a:buAutoNum type="arabicPeriod" startAt="2"/>
            </a:pPr>
            <a:endParaRPr lang="en-HK" dirty="0"/>
          </a:p>
          <a:p>
            <a:pPr marL="800100" lvl="1" indent="-342900">
              <a:buAutoNum type="alphaUcPeriod"/>
            </a:pPr>
            <a:r>
              <a:rPr lang="en-US" sz="2000" dirty="0" smtClean="0"/>
              <a:t>The </a:t>
            </a:r>
            <a:r>
              <a:rPr lang="en-US" sz="2000" dirty="0"/>
              <a:t>energy consumption of the CPU is increased.</a:t>
            </a:r>
            <a:endParaRPr lang="en-HK" sz="2000" dirty="0"/>
          </a:p>
          <a:p>
            <a:pPr marL="800100" lvl="1" indent="-342900">
              <a:buAutoNum type="alphaUcPeriod"/>
            </a:pPr>
            <a:r>
              <a:rPr lang="en-US" sz="2000" dirty="0"/>
              <a:t>The clock rate of the CPU is reduced.</a:t>
            </a:r>
            <a:endParaRPr lang="en-HK" sz="2000" dirty="0"/>
          </a:p>
          <a:p>
            <a:pPr marL="800100" lvl="1" indent="-342900">
              <a:buAutoNum type="alphaUcPeriod"/>
            </a:pPr>
            <a:r>
              <a:rPr lang="en-US" sz="2000" dirty="0"/>
              <a:t>The data processing speed of the CPU is increased.</a:t>
            </a:r>
            <a:endParaRPr lang="en-HK" sz="2000" dirty="0"/>
          </a:p>
          <a:p>
            <a:pPr marL="800100" lvl="1" indent="-342900">
              <a:buAutoNum type="alphaUcPeriod"/>
            </a:pPr>
            <a:r>
              <a:rPr lang="en-US" sz="2000" dirty="0"/>
              <a:t>The number of memory locations the CPU can address is reduced.</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47</a:t>
            </a:fld>
            <a:endParaRPr lang="en-US" dirty="0"/>
          </a:p>
        </p:txBody>
      </p:sp>
      <p:sp>
        <p:nvSpPr>
          <p:cNvPr id="4" name="Text Placeholder 3"/>
          <p:cNvSpPr>
            <a:spLocks noGrp="1"/>
          </p:cNvSpPr>
          <p:nvPr>
            <p:ph type="body" sz="quarter" idx="13"/>
          </p:nvPr>
        </p:nvSpPr>
        <p:spPr/>
        <p:txBody>
          <a:bodyPr/>
          <a:lstStyle/>
          <a:p>
            <a:r>
              <a:rPr lang="en-HK" dirty="0" smtClean="0"/>
              <a:t>2.2</a:t>
            </a:r>
            <a:endParaRPr lang="en-US" dirty="0"/>
          </a:p>
        </p:txBody>
      </p:sp>
    </p:spTree>
    <p:extLst>
      <p:ext uri="{BB962C8B-B14F-4D97-AF65-F5344CB8AC3E}">
        <p14:creationId xmlns:p14="http://schemas.microsoft.com/office/powerpoint/2010/main" val="3910723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5" end="5"/>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Storage Device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48</a:t>
            </a:fld>
            <a:endParaRPr lang="en-US" dirty="0"/>
          </a:p>
        </p:txBody>
      </p:sp>
      <p:sp>
        <p:nvSpPr>
          <p:cNvPr id="4" name="Text Placeholder 3"/>
          <p:cNvSpPr>
            <a:spLocks noGrp="1"/>
          </p:cNvSpPr>
          <p:nvPr>
            <p:ph type="body" sz="quarter" idx="14"/>
          </p:nvPr>
        </p:nvSpPr>
        <p:spPr/>
        <p:txBody>
          <a:bodyPr/>
          <a:lstStyle/>
          <a:p>
            <a:r>
              <a:rPr lang="en-HK" dirty="0" smtClean="0"/>
              <a:t>2.3</a:t>
            </a:r>
            <a:endParaRPr lang="en-US" dirty="0"/>
          </a:p>
        </p:txBody>
      </p:sp>
      <p:sp>
        <p:nvSpPr>
          <p:cNvPr id="5" name="Content Placeholder 4"/>
          <p:cNvSpPr>
            <a:spLocks noGrp="1"/>
          </p:cNvSpPr>
          <p:nvPr>
            <p:ph sz="quarter" idx="15"/>
          </p:nvPr>
        </p:nvSpPr>
        <p:spPr/>
        <p:txBody>
          <a:bodyPr/>
          <a:lstStyle/>
          <a:p>
            <a:r>
              <a:rPr lang="en-HK" dirty="0" smtClean="0"/>
              <a:t>There are mainly two types of storage devices:</a:t>
            </a:r>
          </a:p>
          <a:p>
            <a:endParaRPr lang="en-HK" dirty="0"/>
          </a:p>
          <a:p>
            <a:pPr marL="342900" indent="-342900">
              <a:buFont typeface="Arial" panose="020B0604020202020204" pitchFamily="34" charset="0"/>
              <a:buChar char="•"/>
            </a:pPr>
            <a:r>
              <a:rPr lang="en-HK" dirty="0" smtClean="0"/>
              <a:t>Main memory</a:t>
            </a:r>
          </a:p>
          <a:p>
            <a:pPr marL="342900" indent="-342900">
              <a:buFont typeface="Arial" panose="020B0604020202020204" pitchFamily="34" charset="0"/>
              <a:buChar char="•"/>
            </a:pPr>
            <a:r>
              <a:rPr lang="en-HK" dirty="0" smtClean="0"/>
              <a:t>Secondary storage</a:t>
            </a:r>
            <a:endParaRPr lang="en-US" dirty="0"/>
          </a:p>
        </p:txBody>
      </p:sp>
    </p:spTree>
    <p:extLst>
      <p:ext uri="{BB962C8B-B14F-4D97-AF65-F5344CB8AC3E}">
        <p14:creationId xmlns:p14="http://schemas.microsoft.com/office/powerpoint/2010/main" val="22923471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Main memory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49</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lstStyle/>
          <a:p>
            <a:r>
              <a:rPr lang="en-US" dirty="0"/>
              <a:t>Main memory (also known as primary storage) often refers to two types of memory: </a:t>
            </a:r>
            <a:endParaRPr lang="en-US" dirty="0" smtClean="0"/>
          </a:p>
          <a:p>
            <a:endParaRPr lang="en-US" dirty="0" smtClean="0"/>
          </a:p>
          <a:p>
            <a:pPr marL="342900" indent="-342900">
              <a:buFont typeface="Arial" panose="020B0604020202020204" pitchFamily="34" charset="0"/>
              <a:buChar char="•"/>
            </a:pPr>
            <a:r>
              <a:rPr lang="en-US" dirty="0" smtClean="0"/>
              <a:t>Random </a:t>
            </a:r>
            <a:r>
              <a:rPr lang="en-US" dirty="0"/>
              <a:t>access memory (RAM) </a:t>
            </a:r>
            <a:endParaRPr lang="en-US" dirty="0" smtClean="0"/>
          </a:p>
          <a:p>
            <a:pPr marL="342900" indent="-342900">
              <a:buFont typeface="Arial" panose="020B0604020202020204" pitchFamily="34" charset="0"/>
              <a:buChar char="•"/>
            </a:pPr>
            <a:r>
              <a:rPr lang="en-US" dirty="0" smtClean="0"/>
              <a:t>Read-only </a:t>
            </a:r>
            <a:r>
              <a:rPr lang="en-US" dirty="0"/>
              <a:t>memory (ROM).</a:t>
            </a:r>
          </a:p>
        </p:txBody>
      </p:sp>
    </p:spTree>
    <p:extLst>
      <p:ext uri="{BB962C8B-B14F-4D97-AF65-F5344CB8AC3E}">
        <p14:creationId xmlns:p14="http://schemas.microsoft.com/office/powerpoint/2010/main" val="22031148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Main memory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50</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p:txBody>
          <a:bodyPr>
            <a:normAutofit/>
          </a:bodyPr>
          <a:lstStyle/>
          <a:p>
            <a:r>
              <a:rPr lang="en-US" b="1" dirty="0">
                <a:solidFill>
                  <a:srgbClr val="504FA1"/>
                </a:solidFill>
              </a:rPr>
              <a:t>Random access memory (RAM)</a:t>
            </a:r>
            <a:r>
              <a:rPr lang="en-US" dirty="0"/>
              <a:t> is volatile, meaning that its data disappears once the computer shuts down. </a:t>
            </a:r>
            <a:r>
              <a:rPr lang="en-US" dirty="0" smtClean="0"/>
              <a:t>It </a:t>
            </a:r>
            <a:r>
              <a:rPr lang="en-US" dirty="0"/>
              <a:t>stores data temporarily for processing. </a:t>
            </a:r>
            <a:endParaRPr lang="en-US" dirty="0" smtClean="0"/>
          </a:p>
          <a:p>
            <a:r>
              <a:rPr lang="en-HK" dirty="0" smtClean="0"/>
              <a:t/>
            </a:r>
            <a:br>
              <a:rPr lang="en-HK" dirty="0" smtClean="0"/>
            </a:br>
            <a:endParaRPr lang="en-US" dirty="0"/>
          </a:p>
          <a:p>
            <a:r>
              <a:rPr lang="en-US" dirty="0"/>
              <a:t>T</a:t>
            </a:r>
            <a:r>
              <a:rPr lang="en-US" dirty="0" smtClean="0"/>
              <a:t>he </a:t>
            </a:r>
            <a:r>
              <a:rPr lang="en-US" dirty="0"/>
              <a:t>storage size and the data access </a:t>
            </a:r>
            <a:r>
              <a:rPr lang="en-US" dirty="0" smtClean="0"/>
              <a:t>rate of </a:t>
            </a:r>
            <a:r>
              <a:rPr lang="en-US" dirty="0"/>
              <a:t>RAM </a:t>
            </a:r>
            <a:r>
              <a:rPr lang="en-US" dirty="0" smtClean="0"/>
              <a:t/>
            </a:r>
            <a:br>
              <a:rPr lang="en-US" dirty="0" smtClean="0"/>
            </a:br>
            <a:r>
              <a:rPr lang="en-US" dirty="0" smtClean="0"/>
              <a:t>greatly </a:t>
            </a:r>
            <a:r>
              <a:rPr lang="en-US" dirty="0"/>
              <a:t>affect the performance of a CPU</a:t>
            </a:r>
            <a:r>
              <a:rPr lang="en-US" dirty="0" smtClean="0"/>
              <a:t>.</a:t>
            </a:r>
          </a:p>
          <a:p>
            <a:endParaRPr lang="en-HK" dirty="0"/>
          </a:p>
          <a:p>
            <a:endParaRPr lang="en-HK" dirty="0"/>
          </a:p>
          <a:p>
            <a:r>
              <a:rPr lang="en-US" dirty="0"/>
              <a:t>There are different versions of RAM, like DDR3 SDRAM, DDR4 SDRAM and DDR5 SDRAM. Each version of them may be different in shape and may not fit in the slots on certain motherboards.</a:t>
            </a:r>
          </a:p>
        </p:txBody>
      </p:sp>
      <p:pic>
        <p:nvPicPr>
          <p:cNvPr id="6" name="Picture 5"/>
          <p:cNvPicPr>
            <a:picLocks noChangeAspect="1"/>
          </p:cNvPicPr>
          <p:nvPr/>
        </p:nvPicPr>
        <p:blipFill>
          <a:blip r:embed="rId2"/>
          <a:stretch>
            <a:fillRect/>
          </a:stretch>
        </p:blipFill>
        <p:spPr>
          <a:xfrm>
            <a:off x="6970045" y="2607242"/>
            <a:ext cx="3612666" cy="2408444"/>
          </a:xfrm>
          <a:prstGeom prst="rect">
            <a:avLst/>
          </a:prstGeom>
        </p:spPr>
      </p:pic>
    </p:spTree>
    <p:extLst>
      <p:ext uri="{BB962C8B-B14F-4D97-AF65-F5344CB8AC3E}">
        <p14:creationId xmlns:p14="http://schemas.microsoft.com/office/powerpoint/2010/main" val="2862326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Main memory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51</a:t>
            </a:fld>
            <a:endParaRPr lang="en-US" dirty="0"/>
          </a:p>
        </p:txBody>
      </p:sp>
      <p:sp>
        <p:nvSpPr>
          <p:cNvPr id="4" name="Text Placeholder 3"/>
          <p:cNvSpPr>
            <a:spLocks noGrp="1"/>
          </p:cNvSpPr>
          <p:nvPr>
            <p:ph type="body" sz="quarter" idx="14"/>
          </p:nvPr>
        </p:nvSpPr>
        <p:spPr/>
        <p:txBody>
          <a:bodyPr/>
          <a:lstStyle/>
          <a:p>
            <a:r>
              <a:rPr lang="en-HK" dirty="0" smtClean="0"/>
              <a:t>A</a:t>
            </a:r>
            <a:endParaRPr lang="en-US" dirty="0"/>
          </a:p>
        </p:txBody>
      </p:sp>
      <p:sp>
        <p:nvSpPr>
          <p:cNvPr id="5" name="Content Placeholder 4"/>
          <p:cNvSpPr>
            <a:spLocks noGrp="1"/>
          </p:cNvSpPr>
          <p:nvPr>
            <p:ph sz="quarter" idx="15"/>
          </p:nvPr>
        </p:nvSpPr>
        <p:spPr>
          <a:xfrm>
            <a:off x="714111" y="1609200"/>
            <a:ext cx="10682640" cy="4680000"/>
          </a:xfrm>
        </p:spPr>
        <p:txBody>
          <a:bodyPr>
            <a:normAutofit/>
          </a:bodyPr>
          <a:lstStyle/>
          <a:p>
            <a:r>
              <a:rPr lang="en-US" b="1" dirty="0">
                <a:solidFill>
                  <a:srgbClr val="504FA1"/>
                </a:solidFill>
              </a:rPr>
              <a:t>Read-only memory (ROM) </a:t>
            </a:r>
            <a:r>
              <a:rPr lang="en-US" dirty="0"/>
              <a:t>is non-volatile, meaning that its data persists after the computer shuts down. </a:t>
            </a:r>
          </a:p>
          <a:p>
            <a:endParaRPr lang="en-US" dirty="0" smtClean="0"/>
          </a:p>
          <a:p>
            <a:r>
              <a:rPr lang="en-US" dirty="0" smtClean="0"/>
              <a:t>As </a:t>
            </a:r>
            <a:r>
              <a:rPr lang="en-US" dirty="0"/>
              <a:t>the name of ROM suggests, the data it stores is </a:t>
            </a:r>
            <a:r>
              <a:rPr lang="en-US" dirty="0" smtClean="0"/>
              <a:t>expected</a:t>
            </a:r>
            <a:br>
              <a:rPr lang="en-US" dirty="0" smtClean="0"/>
            </a:br>
            <a:r>
              <a:rPr lang="en-US" dirty="0" smtClean="0"/>
              <a:t>to </a:t>
            </a:r>
            <a:r>
              <a:rPr lang="en-US" dirty="0"/>
              <a:t>be read-only and usually cannot be rewritten</a:t>
            </a:r>
            <a:r>
              <a:rPr lang="en-US" dirty="0" smtClean="0"/>
              <a:t>.</a:t>
            </a:r>
          </a:p>
          <a:p>
            <a:endParaRPr lang="en-HK" dirty="0"/>
          </a:p>
          <a:p>
            <a:endParaRPr lang="en-HK" dirty="0" smtClean="0"/>
          </a:p>
          <a:p>
            <a:endParaRPr lang="en-HK" dirty="0" smtClean="0"/>
          </a:p>
          <a:p>
            <a:r>
              <a:rPr lang="en-US" dirty="0"/>
              <a:t>A ROM in a computer stores firmware (or called startup program), which is a collection of instructions required to start a computer. This firmware is called </a:t>
            </a:r>
            <a:r>
              <a:rPr lang="en-US" b="1" dirty="0">
                <a:solidFill>
                  <a:srgbClr val="504FA1"/>
                </a:solidFill>
              </a:rPr>
              <a:t>basic input/output system (BIOS)</a:t>
            </a:r>
            <a:r>
              <a:rPr lang="en-US" dirty="0"/>
              <a:t>.</a:t>
            </a:r>
          </a:p>
        </p:txBody>
      </p:sp>
      <p:pic>
        <p:nvPicPr>
          <p:cNvPr id="6" name="Picture 5"/>
          <p:cNvPicPr>
            <a:picLocks noChangeAspect="1"/>
          </p:cNvPicPr>
          <p:nvPr/>
        </p:nvPicPr>
        <p:blipFill>
          <a:blip r:embed="rId2"/>
          <a:stretch>
            <a:fillRect/>
          </a:stretch>
        </p:blipFill>
        <p:spPr>
          <a:xfrm>
            <a:off x="7555330" y="2672362"/>
            <a:ext cx="3798470" cy="2232147"/>
          </a:xfrm>
          <a:prstGeom prst="rect">
            <a:avLst/>
          </a:prstGeom>
        </p:spPr>
      </p:pic>
    </p:spTree>
    <p:extLst>
      <p:ext uri="{BB962C8B-B14F-4D97-AF65-F5344CB8AC3E}">
        <p14:creationId xmlns:p14="http://schemas.microsoft.com/office/powerpoint/2010/main" val="181312237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Ryan wants to replace the RAM of his computer. Here are the specifications of the original RAM and the new RAM.</a:t>
            </a:r>
            <a:br>
              <a:rPr lang="en-US" dirty="0"/>
            </a:br>
            <a:r>
              <a:rPr lang="en-US" dirty="0"/>
              <a:t/>
            </a:r>
            <a:br>
              <a:rPr lang="en-US" dirty="0"/>
            </a:br>
            <a:r>
              <a:rPr lang="en-US" dirty="0" smtClean="0"/>
              <a:t/>
            </a:r>
            <a:br>
              <a:rPr lang="en-US" dirty="0" smtClean="0"/>
            </a:br>
            <a:r>
              <a:rPr lang="en-US" dirty="0" smtClean="0"/>
              <a:t/>
            </a:r>
            <a:br>
              <a:rPr lang="en-US" dirty="0" smtClean="0"/>
            </a:br>
            <a:r>
              <a:rPr lang="en-US" dirty="0"/>
              <a:t/>
            </a:r>
            <a:br>
              <a:rPr lang="en-US" dirty="0"/>
            </a:br>
            <a:r>
              <a:rPr lang="en-US" dirty="0"/>
              <a:t>However, Ryan fails to replace the RAM. Which of the following is the possible reason?</a:t>
            </a:r>
          </a:p>
          <a:p>
            <a:pPr marL="457200" indent="-457200">
              <a:buAutoNum type="arabicPeriod"/>
            </a:pPr>
            <a:endParaRPr lang="en-HK" dirty="0"/>
          </a:p>
          <a:p>
            <a:pPr marL="800100" lvl="1" indent="-342900">
              <a:buAutoNum type="alphaUcPeriod"/>
            </a:pPr>
            <a:r>
              <a:rPr lang="en-US" dirty="0"/>
              <a:t>The clock rate of the new RAM is too high for the CPU to handle.</a:t>
            </a:r>
            <a:endParaRPr lang="en-HK" dirty="0"/>
          </a:p>
          <a:p>
            <a:pPr marL="800100" lvl="1" indent="-342900">
              <a:buAutoNum type="alphaUcPeriod"/>
            </a:pPr>
            <a:r>
              <a:rPr lang="en-US" dirty="0"/>
              <a:t>The memory size is too large for the CPU to handle.</a:t>
            </a:r>
            <a:endParaRPr lang="en-HK" dirty="0"/>
          </a:p>
          <a:p>
            <a:pPr marL="800100" lvl="1" indent="-342900">
              <a:buAutoNum type="alphaUcPeriod"/>
            </a:pPr>
            <a:r>
              <a:rPr lang="en-US" dirty="0"/>
              <a:t>The motherboard does not support DDR4 RAM.</a:t>
            </a:r>
            <a:endParaRPr lang="en-HK" dirty="0"/>
          </a:p>
          <a:p>
            <a:pPr marL="800100" lvl="1" indent="-342900">
              <a:buAutoNum type="alphaUcPeriod"/>
            </a:pPr>
            <a:r>
              <a:rPr lang="en-US" dirty="0"/>
              <a:t>The ROM does not support DDR4 RAM.</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52</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pic>
        <p:nvPicPr>
          <p:cNvPr id="5" name="Picture 4"/>
          <p:cNvPicPr>
            <a:picLocks noChangeAspect="1"/>
          </p:cNvPicPr>
          <p:nvPr/>
        </p:nvPicPr>
        <p:blipFill>
          <a:blip r:embed="rId2"/>
          <a:stretch>
            <a:fillRect/>
          </a:stretch>
        </p:blipFill>
        <p:spPr>
          <a:xfrm>
            <a:off x="2500728" y="2399372"/>
            <a:ext cx="7307522" cy="990684"/>
          </a:xfrm>
          <a:prstGeom prst="rect">
            <a:avLst/>
          </a:prstGeom>
        </p:spPr>
      </p:pic>
    </p:spTree>
    <p:extLst>
      <p:ext uri="{BB962C8B-B14F-4D97-AF65-F5344CB8AC3E}">
        <p14:creationId xmlns:p14="http://schemas.microsoft.com/office/powerpoint/2010/main" val="239115312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To replace RAM, the new one has to be able to fit in the slot on the motherboard. This depends on the version of RAM. While option D mentions the version of the new RAM, the ROM is irrelevant to the question. Only option C concerns the version of the new RAM and the motherboard</a:t>
            </a:r>
            <a:r>
              <a:rPr lang="en-US" dirty="0" smtClean="0"/>
              <a:t>.</a:t>
            </a:r>
            <a:br>
              <a:rPr lang="en-US" dirty="0" smtClean="0"/>
            </a:b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HK" dirty="0"/>
              <a:t>The answer is </a:t>
            </a:r>
            <a:r>
              <a:rPr lang="en-HK" dirty="0" smtClean="0"/>
              <a:t>C.</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53</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spTree>
    <p:extLst>
      <p:ext uri="{BB962C8B-B14F-4D97-AF65-F5344CB8AC3E}">
        <p14:creationId xmlns:p14="http://schemas.microsoft.com/office/powerpoint/2010/main" val="61721441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smtClean="0"/>
              <a:t>The </a:t>
            </a:r>
            <a:r>
              <a:rPr lang="en-US" dirty="0"/>
              <a:t>data stored in RAM is used for processing and needs to be updated frequently. Why this kind of data cannot be stored in ROM instead?</a:t>
            </a:r>
          </a:p>
          <a:p>
            <a:pPr marL="457200" indent="-457200">
              <a:buAutoNum type="arabicPeriod" startAt="2"/>
            </a:pPr>
            <a:endParaRPr lang="en-HK" dirty="0"/>
          </a:p>
          <a:p>
            <a:pPr marL="800100" lvl="1" indent="-342900">
              <a:buAutoNum type="alphaUcPeriod"/>
            </a:pPr>
            <a:r>
              <a:rPr lang="en-US" sz="2000" dirty="0" smtClean="0"/>
              <a:t>ROM </a:t>
            </a:r>
            <a:r>
              <a:rPr lang="en-US" sz="2000" dirty="0"/>
              <a:t>is non-volatile.</a:t>
            </a:r>
            <a:endParaRPr lang="en-HK" sz="2000" dirty="0"/>
          </a:p>
          <a:p>
            <a:pPr marL="800100" lvl="1" indent="-342900">
              <a:buAutoNum type="alphaUcPeriod"/>
            </a:pPr>
            <a:r>
              <a:rPr lang="en-US" sz="2000" dirty="0"/>
              <a:t>ROM has a smaller storage size</a:t>
            </a:r>
            <a:r>
              <a:rPr lang="en-US" sz="2000" dirty="0" smtClean="0"/>
              <a:t>.</a:t>
            </a:r>
          </a:p>
          <a:p>
            <a:pPr marL="800100" lvl="1" indent="-342900">
              <a:buAutoNum type="alphaUcPeriod"/>
            </a:pPr>
            <a:r>
              <a:rPr lang="en-US" sz="2000" dirty="0"/>
              <a:t>ROM has a lower data transfer rate</a:t>
            </a:r>
            <a:r>
              <a:rPr lang="en-US" sz="2000" dirty="0" smtClean="0"/>
              <a:t>.</a:t>
            </a:r>
          </a:p>
          <a:p>
            <a:pPr marL="800100" lvl="1" indent="-342900">
              <a:buAutoNum type="alphaUcPeriod"/>
            </a:pPr>
            <a:r>
              <a:rPr lang="en-US" sz="2000" dirty="0"/>
              <a:t>ROM cannot be rewritten.</a:t>
            </a:r>
          </a:p>
        </p:txBody>
      </p:sp>
      <p:sp>
        <p:nvSpPr>
          <p:cNvPr id="3" name="Slide Number Placeholder 2"/>
          <p:cNvSpPr>
            <a:spLocks noGrp="1"/>
          </p:cNvSpPr>
          <p:nvPr>
            <p:ph type="sldNum" sz="quarter" idx="12"/>
          </p:nvPr>
        </p:nvSpPr>
        <p:spPr/>
        <p:txBody>
          <a:bodyPr/>
          <a:lstStyle/>
          <a:p>
            <a:fld id="{6D22F896-40B5-4ADD-8801-0D06FADFA095}" type="slidenum">
              <a:rPr lang="en-US" smtClean="0"/>
              <a:t>54</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spTree>
    <p:extLst>
      <p:ext uri="{BB962C8B-B14F-4D97-AF65-F5344CB8AC3E}">
        <p14:creationId xmlns:p14="http://schemas.microsoft.com/office/powerpoint/2010/main" val="38989392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All four options are true or at least true for most RAM and ROM. However, not all of them are the reasons. </a:t>
            </a:r>
            <a:endParaRPr lang="en-US" dirty="0" smtClean="0"/>
          </a:p>
          <a:p>
            <a:pPr>
              <a:buSzPct val="100000"/>
            </a:pPr>
            <a:r>
              <a:rPr lang="en-US" dirty="0" smtClean="0"/>
              <a:t>Since </a:t>
            </a:r>
            <a:r>
              <a:rPr lang="en-US" dirty="0"/>
              <a:t>this kind of data needs to be updated frequently, it must be stored in a storage device that can be rewritten.</a:t>
            </a:r>
            <a:r>
              <a:rPr lang="en-US" dirty="0" smtClean="0"/>
              <a:t/>
            </a:r>
            <a:br>
              <a:rPr lang="en-US" dirty="0" smtClean="0"/>
            </a:br>
            <a:endParaRPr lang="en-HK" b="1" dirty="0">
              <a:solidFill>
                <a:srgbClr val="37A3D4"/>
              </a:solidFill>
            </a:endParaRPr>
          </a:p>
          <a:p>
            <a:pPr marL="342900" indent="-342900">
              <a:buSzPct val="100000"/>
              <a:buFont typeface="Noto Sans CJK TC Regular" panose="020B0500000000000000" pitchFamily="34" charset="-128"/>
              <a:buChar char="◣"/>
            </a:pPr>
            <a:r>
              <a:rPr lang="en-HK" b="1" dirty="0">
                <a:solidFill>
                  <a:srgbClr val="37A3D4"/>
                </a:solidFill>
              </a:rPr>
              <a:t>Solution</a:t>
            </a:r>
          </a:p>
          <a:p>
            <a:pPr>
              <a:buSzPct val="100000"/>
            </a:pPr>
            <a:r>
              <a:rPr lang="en-HK" dirty="0"/>
              <a:t>The answer is D</a:t>
            </a:r>
            <a:r>
              <a:rPr lang="en-HK" dirty="0" smtClean="0"/>
              <a:t>.</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55</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spTree>
    <p:extLst>
      <p:ext uri="{BB962C8B-B14F-4D97-AF65-F5344CB8AC3E}">
        <p14:creationId xmlns:p14="http://schemas.microsoft.com/office/powerpoint/2010/main" val="290972361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Which of the following statements about RAM is/are correct?</a:t>
            </a:r>
            <a:br>
              <a:rPr lang="en-US" dirty="0"/>
            </a:br>
            <a:endParaRPr lang="en-US" dirty="0"/>
          </a:p>
          <a:p>
            <a:pPr marL="1257300" lvl="2" indent="-342900">
              <a:buSzPct val="100000"/>
              <a:buAutoNum type="arabicParenBoth"/>
            </a:pPr>
            <a:r>
              <a:rPr lang="en-US" sz="2000" dirty="0"/>
              <a:t>Its data access rate is higher than that of other secondary storage</a:t>
            </a:r>
            <a:r>
              <a:rPr lang="en-US" sz="2000" dirty="0" smtClean="0"/>
              <a:t>.</a:t>
            </a:r>
          </a:p>
          <a:p>
            <a:pPr marL="1257300" lvl="2" indent="-342900">
              <a:buSzPct val="100000"/>
              <a:buAutoNum type="arabicParenBoth"/>
            </a:pPr>
            <a:r>
              <a:rPr lang="en-US" sz="2000" dirty="0"/>
              <a:t>Its data access rate is higher than the CPU cache</a:t>
            </a:r>
            <a:r>
              <a:rPr lang="en-US" sz="2000" dirty="0" smtClean="0"/>
              <a:t>.</a:t>
            </a:r>
          </a:p>
          <a:p>
            <a:pPr marL="1257300" lvl="2" indent="-342900">
              <a:buSzPct val="100000"/>
              <a:buAutoNum type="arabicParenBoth"/>
            </a:pPr>
            <a:r>
              <a:rPr lang="en-US" sz="2000" dirty="0"/>
              <a:t>Its data disappears once the computer shuts down.</a:t>
            </a:r>
            <a:br>
              <a:rPr lang="en-US" sz="2000" dirty="0"/>
            </a:br>
            <a:endParaRPr lang="en-US" sz="2000" dirty="0"/>
          </a:p>
          <a:p>
            <a:pPr marL="800100" lvl="1" indent="-342900">
              <a:buSzPct val="100000"/>
              <a:buAutoNum type="alphaUcPeriod"/>
            </a:pPr>
            <a:r>
              <a:rPr lang="en-HK" sz="2000" dirty="0"/>
              <a:t>(1) only</a:t>
            </a:r>
          </a:p>
          <a:p>
            <a:pPr marL="800100" lvl="1" indent="-342900">
              <a:buSzPct val="100000"/>
              <a:buAutoNum type="alphaUcPeriod"/>
            </a:pPr>
            <a:r>
              <a:rPr lang="en-HK" sz="2000" dirty="0"/>
              <a:t>(2) only</a:t>
            </a:r>
          </a:p>
          <a:p>
            <a:pPr marL="800100" lvl="1" indent="-342900">
              <a:buSzPct val="100000"/>
              <a:buAutoNum type="alphaUcPeriod"/>
            </a:pPr>
            <a:r>
              <a:rPr lang="en-HK" sz="2000" dirty="0"/>
              <a:t>(1) and (3) only</a:t>
            </a:r>
          </a:p>
          <a:p>
            <a:pPr marL="800100" lvl="1" indent="-342900">
              <a:buSzPct val="100000"/>
              <a:buAutoNum type="alphaUcPeriod"/>
            </a:pPr>
            <a:r>
              <a:rPr lang="en-HK" sz="2000" dirty="0"/>
              <a:t>(2) and (3) 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56</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spTree>
    <p:extLst>
      <p:ext uri="{BB962C8B-B14F-4D97-AF65-F5344CB8AC3E}">
        <p14:creationId xmlns:p14="http://schemas.microsoft.com/office/powerpoint/2010/main" val="282702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6" end="6"/>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a:t>What is stored in the ROM of a scanner</a:t>
            </a:r>
            <a:r>
              <a:rPr lang="en-US" dirty="0" smtClean="0"/>
              <a:t>?</a:t>
            </a:r>
          </a:p>
          <a:p>
            <a:pPr marL="457200" indent="-457200">
              <a:buFont typeface="+mj-lt"/>
              <a:buAutoNum type="arabicPeriod" startAt="2"/>
            </a:pPr>
            <a:endParaRPr lang="en-US" dirty="0" smtClean="0"/>
          </a:p>
          <a:p>
            <a:pPr lvl="1"/>
            <a:r>
              <a:rPr lang="en-US" dirty="0">
                <a:solidFill>
                  <a:srgbClr val="FF0000"/>
                </a:solidFill>
              </a:rPr>
              <a:t>The firmware (or the startup program) of the scanner. (BIOS is for computers, not scanners.)</a:t>
            </a:r>
            <a:endParaRPr lang="en-HK" dirty="0">
              <a:solidFill>
                <a:srgbClr val="FF0000"/>
              </a:solidFill>
            </a:endParaRP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57</a:t>
            </a:fld>
            <a:endParaRPr lang="en-US" dirty="0"/>
          </a:p>
        </p:txBody>
      </p:sp>
      <p:sp>
        <p:nvSpPr>
          <p:cNvPr id="4" name="Text Placeholder 3"/>
          <p:cNvSpPr>
            <a:spLocks noGrp="1"/>
          </p:cNvSpPr>
          <p:nvPr>
            <p:ph type="body" sz="quarter" idx="13"/>
          </p:nvPr>
        </p:nvSpPr>
        <p:spPr/>
        <p:txBody>
          <a:bodyPr/>
          <a:lstStyle/>
          <a:p>
            <a:r>
              <a:rPr lang="en-HK" dirty="0" smtClean="0"/>
              <a:t>2.3</a:t>
            </a:r>
            <a:endParaRPr lang="en-US" dirty="0"/>
          </a:p>
        </p:txBody>
      </p:sp>
    </p:spTree>
    <p:extLst>
      <p:ext uri="{BB962C8B-B14F-4D97-AF65-F5344CB8AC3E}">
        <p14:creationId xmlns:p14="http://schemas.microsoft.com/office/powerpoint/2010/main" val="22825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58</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Unlike main memory, all types of secondary storage are non-volatile, as they are used to store data for future use</a:t>
            </a:r>
            <a:r>
              <a:rPr lang="en-US" dirty="0" smtClean="0"/>
              <a:t>.</a:t>
            </a:r>
          </a:p>
          <a:p>
            <a:endParaRPr lang="en-HK" dirty="0"/>
          </a:p>
          <a:p>
            <a:r>
              <a:rPr lang="en-US" dirty="0"/>
              <a:t>There are three common types of secondary storage based on the storage media</a:t>
            </a:r>
            <a:r>
              <a:rPr lang="en-US" dirty="0" smtClean="0"/>
              <a:t>:</a:t>
            </a:r>
            <a:endParaRPr lang="en-HK" dirty="0"/>
          </a:p>
          <a:p>
            <a:pPr marL="342900" indent="-342900">
              <a:buFont typeface="Arial" panose="020B0604020202020204" pitchFamily="34" charset="0"/>
              <a:buChar char="•"/>
            </a:pPr>
            <a:r>
              <a:rPr lang="en-HK" dirty="0" smtClean="0"/>
              <a:t>Magnetic storage</a:t>
            </a:r>
          </a:p>
          <a:p>
            <a:pPr marL="342900" indent="-342900">
              <a:buFont typeface="Arial" panose="020B0604020202020204" pitchFamily="34" charset="0"/>
              <a:buChar char="•"/>
            </a:pPr>
            <a:r>
              <a:rPr lang="en-HK" dirty="0" smtClean="0"/>
              <a:t>Solid-state storage</a:t>
            </a:r>
          </a:p>
          <a:p>
            <a:pPr marL="342900" indent="-342900">
              <a:buFont typeface="Arial" panose="020B0604020202020204" pitchFamily="34" charset="0"/>
              <a:buChar char="•"/>
            </a:pPr>
            <a:r>
              <a:rPr lang="en-HK" dirty="0" smtClean="0"/>
              <a:t>Optical storage</a:t>
            </a:r>
            <a:endParaRPr lang="en-US" dirty="0"/>
          </a:p>
        </p:txBody>
      </p:sp>
    </p:spTree>
    <p:extLst>
      <p:ext uri="{BB962C8B-B14F-4D97-AF65-F5344CB8AC3E}">
        <p14:creationId xmlns:p14="http://schemas.microsoft.com/office/powerpoint/2010/main" val="22779062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59</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There are two types of access methods used by different secondary storage devices</a:t>
            </a:r>
            <a:r>
              <a:rPr lang="en-US" dirty="0" smtClean="0"/>
              <a:t>:</a:t>
            </a:r>
          </a:p>
          <a:p>
            <a:endParaRPr lang="en-HK" dirty="0"/>
          </a:p>
          <a:p>
            <a:pPr marL="342900" indent="-342900">
              <a:buFont typeface="Arial" panose="020B0604020202020204" pitchFamily="34" charset="0"/>
              <a:buChar char="•"/>
            </a:pPr>
            <a:r>
              <a:rPr lang="en-HK" b="1" dirty="0" smtClean="0">
                <a:solidFill>
                  <a:srgbClr val="504FA1"/>
                </a:solidFill>
              </a:rPr>
              <a:t>Sequential access</a:t>
            </a:r>
          </a:p>
          <a:p>
            <a:pPr marL="342900" indent="-342900">
              <a:buFont typeface="Arial" panose="020B0604020202020204" pitchFamily="34" charset="0"/>
              <a:buChar char="•"/>
            </a:pPr>
            <a:r>
              <a:rPr lang="en-HK" b="1" dirty="0" smtClean="0">
                <a:solidFill>
                  <a:srgbClr val="504FA1"/>
                </a:solidFill>
              </a:rPr>
              <a:t>Direct access</a:t>
            </a:r>
            <a:endParaRPr lang="en-US" b="1" dirty="0">
              <a:solidFill>
                <a:srgbClr val="504FA1"/>
              </a:solidFill>
            </a:endParaRPr>
          </a:p>
        </p:txBody>
      </p:sp>
      <p:pic>
        <p:nvPicPr>
          <p:cNvPr id="6" name="Picture 5"/>
          <p:cNvPicPr>
            <a:picLocks noChangeAspect="1"/>
          </p:cNvPicPr>
          <p:nvPr/>
        </p:nvPicPr>
        <p:blipFill>
          <a:blip r:embed="rId2"/>
          <a:stretch>
            <a:fillRect/>
          </a:stretch>
        </p:blipFill>
        <p:spPr>
          <a:xfrm>
            <a:off x="3897190" y="3657600"/>
            <a:ext cx="7738179" cy="2531847"/>
          </a:xfrm>
          <a:prstGeom prst="rect">
            <a:avLst/>
          </a:prstGeom>
        </p:spPr>
      </p:pic>
    </p:spTree>
    <p:extLst>
      <p:ext uri="{BB962C8B-B14F-4D97-AF65-F5344CB8AC3E}">
        <p14:creationId xmlns:p14="http://schemas.microsoft.com/office/powerpoint/2010/main" val="29559115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60</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For a storage device using </a:t>
            </a:r>
            <a:r>
              <a:rPr lang="en-US" b="1" dirty="0"/>
              <a:t>sequential access</a:t>
            </a:r>
            <a:r>
              <a:rPr lang="en-US" dirty="0"/>
              <a:t>, data is written sequentially, starting from the beginning</a:t>
            </a:r>
            <a:r>
              <a:rPr lang="en-US" dirty="0" smtClean="0"/>
              <a:t>.</a:t>
            </a:r>
          </a:p>
          <a:p>
            <a:endParaRPr lang="en-HK" dirty="0" smtClean="0"/>
          </a:p>
          <a:p>
            <a:r>
              <a:rPr lang="en-US" dirty="0" smtClean="0"/>
              <a:t>B</a:t>
            </a:r>
            <a:r>
              <a:rPr lang="en-US" dirty="0" smtClean="0"/>
              <a:t>elow shows t</a:t>
            </a:r>
            <a:r>
              <a:rPr lang="en-US" dirty="0" smtClean="0"/>
              <a:t>he </a:t>
            </a:r>
            <a:r>
              <a:rPr lang="en-US" dirty="0"/>
              <a:t>storage device that is capable of using sequential access </a:t>
            </a:r>
            <a:r>
              <a:rPr lang="en-US" dirty="0" smtClean="0"/>
              <a:t>only:</a:t>
            </a:r>
            <a:endParaRPr lang="en-US" dirty="0"/>
          </a:p>
        </p:txBody>
      </p:sp>
      <p:pic>
        <p:nvPicPr>
          <p:cNvPr id="6" name="Picture 5"/>
          <p:cNvPicPr>
            <a:picLocks noChangeAspect="1"/>
          </p:cNvPicPr>
          <p:nvPr/>
        </p:nvPicPr>
        <p:blipFill>
          <a:blip r:embed="rId2"/>
          <a:stretch>
            <a:fillRect/>
          </a:stretch>
        </p:blipFill>
        <p:spPr>
          <a:xfrm>
            <a:off x="4285414" y="3406134"/>
            <a:ext cx="3294249" cy="2984904"/>
          </a:xfrm>
          <a:prstGeom prst="rect">
            <a:avLst/>
          </a:prstGeom>
        </p:spPr>
      </p:pic>
    </p:spTree>
    <p:extLst>
      <p:ext uri="{BB962C8B-B14F-4D97-AF65-F5344CB8AC3E}">
        <p14:creationId xmlns:p14="http://schemas.microsoft.com/office/powerpoint/2010/main" val="17749735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61</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For a storage device using </a:t>
            </a:r>
            <a:r>
              <a:rPr lang="en-US" b="1" dirty="0"/>
              <a:t>direct access </a:t>
            </a:r>
            <a:r>
              <a:rPr lang="en-US" dirty="0"/>
              <a:t>(also known as random access), data can be written in any storage position</a:t>
            </a:r>
            <a:r>
              <a:rPr lang="en-US" dirty="0" smtClean="0"/>
              <a:t>.</a:t>
            </a:r>
          </a:p>
          <a:p>
            <a:endParaRPr lang="en-HK" dirty="0"/>
          </a:p>
          <a:p>
            <a:r>
              <a:rPr lang="en-US" dirty="0" smtClean="0"/>
              <a:t>Below </a:t>
            </a:r>
            <a:r>
              <a:rPr lang="en-US" dirty="0" smtClean="0"/>
              <a:t>shows the s</a:t>
            </a:r>
            <a:r>
              <a:rPr lang="en-US" dirty="0" smtClean="0"/>
              <a:t>torage </a:t>
            </a:r>
            <a:r>
              <a:rPr lang="en-US" dirty="0"/>
              <a:t>devices that can use direct access:</a:t>
            </a:r>
            <a:endParaRPr lang="en-HK" dirty="0" smtClean="0"/>
          </a:p>
        </p:txBody>
      </p:sp>
      <p:pic>
        <p:nvPicPr>
          <p:cNvPr id="7" name="Picture 6"/>
          <p:cNvPicPr>
            <a:picLocks noChangeAspect="1"/>
          </p:cNvPicPr>
          <p:nvPr/>
        </p:nvPicPr>
        <p:blipFill>
          <a:blip r:embed="rId2"/>
          <a:stretch>
            <a:fillRect/>
          </a:stretch>
        </p:blipFill>
        <p:spPr>
          <a:xfrm>
            <a:off x="2974766" y="3670152"/>
            <a:ext cx="5927783" cy="2310537"/>
          </a:xfrm>
          <a:prstGeom prst="rect">
            <a:avLst/>
          </a:prstGeom>
        </p:spPr>
      </p:pic>
    </p:spTree>
    <p:extLst>
      <p:ext uri="{BB962C8B-B14F-4D97-AF65-F5344CB8AC3E}">
        <p14:creationId xmlns:p14="http://schemas.microsoft.com/office/powerpoint/2010/main" val="36211914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62</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magnetic tape</a:t>
            </a:r>
            <a:r>
              <a:rPr lang="en-US" dirty="0"/>
              <a:t> consists of a strip of plastic film coated with magnetic materials. Its storage size is large enough to be measured in TB (1 TB = 240 bytes) and its unit price per capacity is low</a:t>
            </a:r>
            <a:r>
              <a:rPr lang="en-US" dirty="0" smtClean="0"/>
              <a:t>.</a:t>
            </a:r>
          </a:p>
          <a:p>
            <a:endParaRPr lang="en-HK" dirty="0"/>
          </a:p>
          <a:p>
            <a:endParaRPr lang="en-HK" dirty="0" smtClean="0"/>
          </a:p>
          <a:p>
            <a:endParaRPr lang="en-HK" dirty="0"/>
          </a:p>
          <a:p>
            <a:endParaRPr lang="en-HK" dirty="0" smtClean="0"/>
          </a:p>
          <a:p>
            <a:endParaRPr lang="en-HK" dirty="0"/>
          </a:p>
          <a:p>
            <a:endParaRPr lang="en-HK" dirty="0" smtClean="0"/>
          </a:p>
          <a:p>
            <a:r>
              <a:rPr lang="en-US" dirty="0" smtClean="0"/>
              <a:t>Magnetic </a:t>
            </a:r>
            <a:r>
              <a:rPr lang="en-US" dirty="0"/>
              <a:t>tapes are usually used for backup storage but not daily used data.</a:t>
            </a:r>
          </a:p>
        </p:txBody>
      </p:sp>
      <p:pic>
        <p:nvPicPr>
          <p:cNvPr id="6" name="Picture 5"/>
          <p:cNvPicPr>
            <a:picLocks noChangeAspect="1"/>
          </p:cNvPicPr>
          <p:nvPr/>
        </p:nvPicPr>
        <p:blipFill>
          <a:blip r:embed="rId2"/>
          <a:stretch>
            <a:fillRect/>
          </a:stretch>
        </p:blipFill>
        <p:spPr>
          <a:xfrm>
            <a:off x="3056376" y="2869200"/>
            <a:ext cx="6080448" cy="2165725"/>
          </a:xfrm>
          <a:prstGeom prst="rect">
            <a:avLst/>
          </a:prstGeom>
        </p:spPr>
      </p:pic>
    </p:spTree>
    <p:extLst>
      <p:ext uri="{BB962C8B-B14F-4D97-AF65-F5344CB8AC3E}">
        <p14:creationId xmlns:p14="http://schemas.microsoft.com/office/powerpoint/2010/main" val="228755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63</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normAutofit/>
          </a:bodyPr>
          <a:lstStyle/>
          <a:p>
            <a:r>
              <a:rPr lang="en-US" dirty="0"/>
              <a:t>A </a:t>
            </a:r>
            <a:r>
              <a:rPr lang="en-US" b="1" dirty="0">
                <a:solidFill>
                  <a:srgbClr val="504FA1"/>
                </a:solidFill>
              </a:rPr>
              <a:t>hard disk </a:t>
            </a:r>
            <a:r>
              <a:rPr lang="en-US" dirty="0"/>
              <a:t>consists of many read/write heads and circular metal disks coated with magnetic materials</a:t>
            </a:r>
            <a:r>
              <a:rPr lang="en-US" dirty="0" smtClean="0"/>
              <a:t>.</a:t>
            </a:r>
          </a:p>
          <a:p>
            <a:endParaRPr lang="en-HK" dirty="0"/>
          </a:p>
          <a:p>
            <a:r>
              <a:rPr lang="en-US" dirty="0"/>
              <a:t>When accessing data, read/write heads move directly to the unique addresses of data</a:t>
            </a:r>
            <a:r>
              <a:rPr lang="en-US" dirty="0" smtClean="0"/>
              <a:t>.</a:t>
            </a:r>
          </a:p>
          <a:p>
            <a:endParaRPr lang="en-HK" dirty="0"/>
          </a:p>
          <a:p>
            <a:endParaRPr lang="en-HK" dirty="0" smtClean="0"/>
          </a:p>
          <a:p>
            <a:endParaRPr lang="en-HK" dirty="0"/>
          </a:p>
          <a:p>
            <a:endParaRPr lang="en-HK" dirty="0"/>
          </a:p>
          <a:p>
            <a:r>
              <a:rPr lang="en-US" dirty="0"/>
              <a:t>Therefore, it has a higher data access rate than a magnetic tape does thanks to its direct access method.</a:t>
            </a:r>
            <a:endParaRPr lang="en-US" dirty="0" smtClean="0"/>
          </a:p>
          <a:p>
            <a:endParaRPr lang="en-HK" dirty="0"/>
          </a:p>
          <a:p>
            <a:endParaRPr lang="en-US" dirty="0"/>
          </a:p>
        </p:txBody>
      </p:sp>
      <p:pic>
        <p:nvPicPr>
          <p:cNvPr id="6" name="Picture 5"/>
          <p:cNvPicPr>
            <a:picLocks noChangeAspect="1"/>
          </p:cNvPicPr>
          <p:nvPr/>
        </p:nvPicPr>
        <p:blipFill>
          <a:blip r:embed="rId2"/>
          <a:stretch>
            <a:fillRect/>
          </a:stretch>
        </p:blipFill>
        <p:spPr>
          <a:xfrm>
            <a:off x="2765296" y="3477672"/>
            <a:ext cx="5289738" cy="1798511"/>
          </a:xfrm>
          <a:prstGeom prst="rect">
            <a:avLst/>
          </a:prstGeom>
        </p:spPr>
      </p:pic>
    </p:spTree>
    <p:extLst>
      <p:ext uri="{BB962C8B-B14F-4D97-AF65-F5344CB8AC3E}">
        <p14:creationId xmlns:p14="http://schemas.microsoft.com/office/powerpoint/2010/main" val="3042388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64</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solid-state drive (SSD) </a:t>
            </a:r>
            <a:r>
              <a:rPr lang="en-US" dirty="0"/>
              <a:t>consists of </a:t>
            </a:r>
            <a:r>
              <a:rPr lang="en-US" b="1" dirty="0">
                <a:solidFill>
                  <a:srgbClr val="504FA1"/>
                </a:solidFill>
              </a:rPr>
              <a:t>flash memory</a:t>
            </a:r>
            <a:r>
              <a:rPr lang="en-US" dirty="0"/>
              <a:t> and a controller</a:t>
            </a:r>
            <a:r>
              <a:rPr lang="en-US" dirty="0" smtClean="0"/>
              <a:t>.</a:t>
            </a:r>
          </a:p>
          <a:p>
            <a:endParaRPr lang="en-HK" dirty="0"/>
          </a:p>
          <a:p>
            <a:endParaRPr lang="en-HK" dirty="0" smtClean="0"/>
          </a:p>
          <a:p>
            <a:r>
              <a:rPr lang="en-US" dirty="0" smtClean="0"/>
              <a:t>Flash </a:t>
            </a:r>
            <a:r>
              <a:rPr lang="en-US" dirty="0"/>
              <a:t>memory is a storage medium that can be read </a:t>
            </a:r>
            <a:r>
              <a:rPr lang="en-US" dirty="0" smtClean="0"/>
              <a:t/>
            </a:r>
            <a:br>
              <a:rPr lang="en-US" dirty="0" smtClean="0"/>
            </a:br>
            <a:r>
              <a:rPr lang="en-US" dirty="0" smtClean="0"/>
              <a:t>and </a:t>
            </a:r>
            <a:r>
              <a:rPr lang="en-US" dirty="0"/>
              <a:t>written electrically at a fast speed</a:t>
            </a:r>
            <a:r>
              <a:rPr lang="en-US" dirty="0" smtClean="0"/>
              <a:t>.</a:t>
            </a:r>
          </a:p>
          <a:p>
            <a:endParaRPr lang="en-HK" dirty="0"/>
          </a:p>
          <a:p>
            <a:endParaRPr lang="en-HK" dirty="0"/>
          </a:p>
          <a:p>
            <a:r>
              <a:rPr lang="en-US" dirty="0"/>
              <a:t>Unlike magnetic tape and hard disk, an SSD does not need or contain any moving parts. Therefore, it is more durable and portable than both magnetic tape and hard disk.</a:t>
            </a:r>
          </a:p>
        </p:txBody>
      </p:sp>
      <p:pic>
        <p:nvPicPr>
          <p:cNvPr id="6" name="Picture 5"/>
          <p:cNvPicPr>
            <a:picLocks noChangeAspect="1"/>
          </p:cNvPicPr>
          <p:nvPr/>
        </p:nvPicPr>
        <p:blipFill>
          <a:blip r:embed="rId2"/>
          <a:stretch>
            <a:fillRect/>
          </a:stretch>
        </p:blipFill>
        <p:spPr>
          <a:xfrm>
            <a:off x="7239441" y="2394066"/>
            <a:ext cx="3516451" cy="2093452"/>
          </a:xfrm>
          <a:prstGeom prst="rect">
            <a:avLst/>
          </a:prstGeom>
        </p:spPr>
      </p:pic>
    </p:spTree>
    <p:extLst>
      <p:ext uri="{BB962C8B-B14F-4D97-AF65-F5344CB8AC3E}">
        <p14:creationId xmlns:p14="http://schemas.microsoft.com/office/powerpoint/2010/main" val="15737934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65</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memory card </a:t>
            </a:r>
            <a:r>
              <a:rPr lang="en-US" dirty="0"/>
              <a:t>consists of flash memory. It is designed to be small in physical size so that it can be used for mobile devices, such as digital cameras and smartphones</a:t>
            </a:r>
            <a:r>
              <a:rPr lang="en-US" dirty="0" smtClean="0"/>
              <a:t>.</a:t>
            </a:r>
          </a:p>
          <a:p>
            <a:endParaRPr lang="en-HK" dirty="0"/>
          </a:p>
          <a:p>
            <a:r>
              <a:rPr lang="en-US" dirty="0"/>
              <a:t>A </a:t>
            </a:r>
            <a:r>
              <a:rPr lang="en-US" b="1" dirty="0">
                <a:solidFill>
                  <a:srgbClr val="504FA1"/>
                </a:solidFill>
              </a:rPr>
              <a:t>USB flash drive </a:t>
            </a:r>
            <a:r>
              <a:rPr lang="en-US" dirty="0"/>
              <a:t>consists of flash memory and an integrated USB interface, which often uses the USB-A standards</a:t>
            </a:r>
            <a:r>
              <a:rPr lang="en-US" dirty="0" smtClean="0"/>
              <a:t>.</a:t>
            </a:r>
          </a:p>
          <a:p>
            <a:endParaRPr lang="en-HK" dirty="0"/>
          </a:p>
          <a:p>
            <a:r>
              <a:rPr lang="en-US" dirty="0"/>
              <a:t>Optical storage refers to </a:t>
            </a:r>
            <a:r>
              <a:rPr lang="en-US" b="1" dirty="0">
                <a:solidFill>
                  <a:srgbClr val="504FA1"/>
                </a:solidFill>
              </a:rPr>
              <a:t>optical disks</a:t>
            </a:r>
            <a:r>
              <a:rPr lang="en-US" dirty="0"/>
              <a:t>. An optical disk is a circular plastic disk coated with a reflective material. The stored data is represented by the grooves on the plastic and read by laser beams projected from an optical drive.</a:t>
            </a:r>
          </a:p>
        </p:txBody>
      </p:sp>
    </p:spTree>
    <p:extLst>
      <p:ext uri="{BB962C8B-B14F-4D97-AF65-F5344CB8AC3E}">
        <p14:creationId xmlns:p14="http://schemas.microsoft.com/office/powerpoint/2010/main" val="14374952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66</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Here is a comparison between most types of secondary storage devices.</a:t>
            </a:r>
          </a:p>
        </p:txBody>
      </p:sp>
      <p:pic>
        <p:nvPicPr>
          <p:cNvPr id="6" name="Picture 5"/>
          <p:cNvPicPr>
            <a:picLocks noChangeAspect="1"/>
          </p:cNvPicPr>
          <p:nvPr/>
        </p:nvPicPr>
        <p:blipFill>
          <a:blip r:embed="rId2"/>
          <a:stretch>
            <a:fillRect/>
          </a:stretch>
        </p:blipFill>
        <p:spPr>
          <a:xfrm>
            <a:off x="838800" y="2437261"/>
            <a:ext cx="10368293" cy="3123953"/>
          </a:xfrm>
          <a:prstGeom prst="rect">
            <a:avLst/>
          </a:prstGeom>
        </p:spPr>
      </p:pic>
    </p:spTree>
    <p:extLst>
      <p:ext uri="{BB962C8B-B14F-4D97-AF65-F5344CB8AC3E}">
        <p14:creationId xmlns:p14="http://schemas.microsoft.com/office/powerpoint/2010/main" val="10029806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67</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dirty="0"/>
              <a:t>A </a:t>
            </a:r>
            <a:r>
              <a:rPr lang="en-US" b="1" dirty="0">
                <a:solidFill>
                  <a:srgbClr val="504FA1"/>
                </a:solidFill>
              </a:rPr>
              <a:t>redundant array of independent disks (RAID) </a:t>
            </a:r>
            <a:r>
              <a:rPr lang="en-US" dirty="0"/>
              <a:t>consists of multiple storage </a:t>
            </a:r>
            <a:r>
              <a:rPr lang="en-US" dirty="0" smtClean="0"/>
              <a:t>devices. </a:t>
            </a:r>
          </a:p>
          <a:p>
            <a:endParaRPr lang="en-US" dirty="0"/>
          </a:p>
          <a:p>
            <a:endParaRPr lang="en-US" dirty="0" smtClean="0"/>
          </a:p>
          <a:p>
            <a:endParaRPr lang="en-US" dirty="0"/>
          </a:p>
          <a:p>
            <a:endParaRPr lang="en-US" dirty="0" smtClean="0"/>
          </a:p>
          <a:p>
            <a:endParaRPr lang="en-US" dirty="0"/>
          </a:p>
          <a:p>
            <a:endParaRPr lang="en-US" dirty="0" smtClean="0"/>
          </a:p>
          <a:p>
            <a:r>
              <a:rPr lang="en-US" dirty="0" smtClean="0"/>
              <a:t>It improves </a:t>
            </a:r>
            <a:r>
              <a:rPr lang="en-US" dirty="0"/>
              <a:t>data transfer rate, error detection and </a:t>
            </a:r>
            <a:r>
              <a:rPr lang="en-US" dirty="0" smtClean="0"/>
              <a:t>reduces </a:t>
            </a:r>
            <a:r>
              <a:rPr lang="en-US" dirty="0"/>
              <a:t>the chance of data loss due to device failure.</a:t>
            </a:r>
          </a:p>
        </p:txBody>
      </p:sp>
      <p:pic>
        <p:nvPicPr>
          <p:cNvPr id="6" name="Picture 5"/>
          <p:cNvPicPr>
            <a:picLocks noChangeAspect="1"/>
          </p:cNvPicPr>
          <p:nvPr/>
        </p:nvPicPr>
        <p:blipFill>
          <a:blip r:embed="rId2"/>
          <a:stretch>
            <a:fillRect/>
          </a:stretch>
        </p:blipFill>
        <p:spPr>
          <a:xfrm>
            <a:off x="3975156" y="2347029"/>
            <a:ext cx="4242887" cy="2416163"/>
          </a:xfrm>
          <a:prstGeom prst="rect">
            <a:avLst/>
          </a:prstGeom>
        </p:spPr>
      </p:pic>
    </p:spTree>
    <p:extLst>
      <p:ext uri="{BB962C8B-B14F-4D97-AF65-F5344CB8AC3E}">
        <p14:creationId xmlns:p14="http://schemas.microsoft.com/office/powerpoint/2010/main" val="29413498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68</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Network-attached storage (NAS)</a:t>
            </a:r>
            <a:r>
              <a:rPr lang="en-US" dirty="0"/>
              <a:t> is a file server with many drives that are combined into a RAID</a:t>
            </a:r>
            <a:r>
              <a:rPr lang="en-US" dirty="0" smtClean="0"/>
              <a:t>.</a:t>
            </a:r>
          </a:p>
          <a:p>
            <a:endParaRPr lang="en-HK" dirty="0"/>
          </a:p>
          <a:p>
            <a:r>
              <a:rPr lang="en-US" dirty="0"/>
              <a:t>It allows users on a local area network (LAN) to read and write at the same time.</a:t>
            </a:r>
          </a:p>
        </p:txBody>
      </p:sp>
      <p:pic>
        <p:nvPicPr>
          <p:cNvPr id="6" name="Picture 5"/>
          <p:cNvPicPr>
            <a:picLocks noChangeAspect="1"/>
          </p:cNvPicPr>
          <p:nvPr/>
        </p:nvPicPr>
        <p:blipFill>
          <a:blip r:embed="rId2"/>
          <a:stretch>
            <a:fillRect/>
          </a:stretch>
        </p:blipFill>
        <p:spPr>
          <a:xfrm>
            <a:off x="4707310" y="3435332"/>
            <a:ext cx="2778580" cy="2760730"/>
          </a:xfrm>
          <a:prstGeom prst="rect">
            <a:avLst/>
          </a:prstGeom>
        </p:spPr>
      </p:pic>
    </p:spTree>
    <p:extLst>
      <p:ext uri="{BB962C8B-B14F-4D97-AF65-F5344CB8AC3E}">
        <p14:creationId xmlns:p14="http://schemas.microsoft.com/office/powerpoint/2010/main" val="31072213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Secondary storage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69</a:t>
            </a:fld>
            <a:endParaRPr lang="en-US" dirty="0"/>
          </a:p>
        </p:txBody>
      </p:sp>
      <p:sp>
        <p:nvSpPr>
          <p:cNvPr id="4" name="Text Placeholder 3"/>
          <p:cNvSpPr>
            <a:spLocks noGrp="1"/>
          </p:cNvSpPr>
          <p:nvPr>
            <p:ph type="body" sz="quarter" idx="14"/>
          </p:nvPr>
        </p:nvSpPr>
        <p:spPr/>
        <p:txBody>
          <a:bodyPr/>
          <a:lstStyle/>
          <a:p>
            <a:r>
              <a:rPr lang="en-HK" dirty="0" smtClean="0"/>
              <a:t>B</a:t>
            </a:r>
            <a:endParaRPr lang="en-US" dirty="0"/>
          </a:p>
        </p:txBody>
      </p:sp>
      <p:sp>
        <p:nvSpPr>
          <p:cNvPr id="5" name="Content Placeholder 4"/>
          <p:cNvSpPr>
            <a:spLocks noGrp="1"/>
          </p:cNvSpPr>
          <p:nvPr>
            <p:ph sz="quarter" idx="15"/>
          </p:nvPr>
        </p:nvSpPr>
        <p:spPr/>
        <p:txBody>
          <a:bodyPr/>
          <a:lstStyle/>
          <a:p>
            <a:r>
              <a:rPr lang="en-US" b="1" dirty="0">
                <a:solidFill>
                  <a:srgbClr val="504FA1"/>
                </a:solidFill>
              </a:rPr>
              <a:t>Cloud storage </a:t>
            </a:r>
            <a:r>
              <a:rPr lang="en-US" dirty="0"/>
              <a:t>is a service that is often provided by Internet service providers (ISP</a:t>
            </a:r>
            <a:r>
              <a:rPr lang="en-US" dirty="0" smtClean="0"/>
              <a:t>).</a:t>
            </a:r>
          </a:p>
          <a:p>
            <a:endParaRPr lang="en-HK" dirty="0"/>
          </a:p>
          <a:p>
            <a:r>
              <a:rPr lang="en-US" dirty="0"/>
              <a:t>As long as there is an Internet connection, users can read and write data on the cloud storage anytime and anywhere.</a:t>
            </a:r>
          </a:p>
        </p:txBody>
      </p:sp>
      <p:pic>
        <p:nvPicPr>
          <p:cNvPr id="6" name="Picture 5"/>
          <p:cNvPicPr>
            <a:picLocks noChangeAspect="1"/>
          </p:cNvPicPr>
          <p:nvPr/>
        </p:nvPicPr>
        <p:blipFill>
          <a:blip r:embed="rId2"/>
          <a:stretch>
            <a:fillRect/>
          </a:stretch>
        </p:blipFill>
        <p:spPr>
          <a:xfrm>
            <a:off x="3243485" y="3592076"/>
            <a:ext cx="5706229" cy="2697124"/>
          </a:xfrm>
          <a:prstGeom prst="rect">
            <a:avLst/>
          </a:prstGeom>
        </p:spPr>
      </p:pic>
    </p:spTree>
    <p:extLst>
      <p:ext uri="{BB962C8B-B14F-4D97-AF65-F5344CB8AC3E}">
        <p14:creationId xmlns:p14="http://schemas.microsoft.com/office/powerpoint/2010/main" val="24280358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Memory Hierarchy</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70</a:t>
            </a:fld>
            <a:endParaRPr lang="en-US" dirty="0"/>
          </a:p>
        </p:txBody>
      </p:sp>
      <p:sp>
        <p:nvSpPr>
          <p:cNvPr id="4" name="Text Placeholder 3"/>
          <p:cNvSpPr>
            <a:spLocks noGrp="1"/>
          </p:cNvSpPr>
          <p:nvPr>
            <p:ph type="body" sz="quarter" idx="14"/>
          </p:nvPr>
        </p:nvSpPr>
        <p:spPr/>
        <p:txBody>
          <a:bodyPr/>
          <a:lstStyle/>
          <a:p>
            <a:r>
              <a:rPr lang="en-HK" dirty="0" smtClean="0"/>
              <a:t>C</a:t>
            </a:r>
            <a:endParaRPr lang="en-US" dirty="0"/>
          </a:p>
        </p:txBody>
      </p:sp>
      <p:sp>
        <p:nvSpPr>
          <p:cNvPr id="5" name="Content Placeholder 4"/>
          <p:cNvSpPr>
            <a:spLocks noGrp="1"/>
          </p:cNvSpPr>
          <p:nvPr>
            <p:ph sz="quarter" idx="15"/>
          </p:nvPr>
        </p:nvSpPr>
        <p:spPr/>
        <p:txBody>
          <a:bodyPr/>
          <a:lstStyle/>
          <a:p>
            <a:r>
              <a:rPr lang="en-US" dirty="0"/>
              <a:t>Types of computer storage can be arranged into a hierarchy based on their data access rate, storage size and unit price per capacity.</a:t>
            </a:r>
          </a:p>
        </p:txBody>
      </p:sp>
      <p:pic>
        <p:nvPicPr>
          <p:cNvPr id="6" name="Picture 5"/>
          <p:cNvPicPr>
            <a:picLocks noChangeAspect="1"/>
          </p:cNvPicPr>
          <p:nvPr/>
        </p:nvPicPr>
        <p:blipFill>
          <a:blip r:embed="rId2"/>
          <a:stretch>
            <a:fillRect/>
          </a:stretch>
        </p:blipFill>
        <p:spPr>
          <a:xfrm>
            <a:off x="3240505" y="2413115"/>
            <a:ext cx="6328109" cy="3876085"/>
          </a:xfrm>
          <a:prstGeom prst="rect">
            <a:avLst/>
          </a:prstGeom>
        </p:spPr>
      </p:pic>
    </p:spTree>
    <p:extLst>
      <p:ext uri="{BB962C8B-B14F-4D97-AF65-F5344CB8AC3E}">
        <p14:creationId xmlns:p14="http://schemas.microsoft.com/office/powerpoint/2010/main" val="25586882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a:pPr>
            <a:r>
              <a:rPr lang="en-US" dirty="0"/>
              <a:t>Paul needs to carry about 12 GB of files to facilitate working from home and reporting on project progress to his colleagues in the office. He has to make changes to the files regularly. Which of the following secondary storage devices should he use</a:t>
            </a:r>
            <a:r>
              <a:rPr lang="en-US" dirty="0" smtClean="0"/>
              <a:t>?</a:t>
            </a:r>
          </a:p>
          <a:p>
            <a:endParaRPr lang="en-HK" dirty="0"/>
          </a:p>
          <a:p>
            <a:pPr marL="800100" lvl="1" indent="-342900">
              <a:buAutoNum type="alphaUcPeriod"/>
            </a:pPr>
            <a:r>
              <a:rPr lang="en-HK" sz="2000" dirty="0" smtClean="0"/>
              <a:t>Floppy disk</a:t>
            </a:r>
            <a:endParaRPr lang="en-HK" sz="2000" dirty="0"/>
          </a:p>
          <a:p>
            <a:pPr marL="800100" lvl="1" indent="-342900">
              <a:buAutoNum type="alphaUcPeriod"/>
            </a:pPr>
            <a:r>
              <a:rPr lang="en-HK" sz="2000" dirty="0" smtClean="0"/>
              <a:t>Magnetic tape</a:t>
            </a:r>
            <a:endParaRPr lang="en-HK" sz="2000" dirty="0"/>
          </a:p>
          <a:p>
            <a:pPr marL="800100" lvl="1" indent="-342900">
              <a:buAutoNum type="alphaUcPeriod"/>
            </a:pPr>
            <a:r>
              <a:rPr lang="en-HK" sz="2000" dirty="0" smtClean="0"/>
              <a:t>CD-ROM</a:t>
            </a:r>
            <a:endParaRPr lang="en-HK" sz="2000" dirty="0"/>
          </a:p>
          <a:p>
            <a:pPr marL="800100" lvl="1" indent="-342900">
              <a:buAutoNum type="alphaUcPeriod"/>
            </a:pPr>
            <a:r>
              <a:rPr lang="en-HK" sz="2000" dirty="0" smtClean="0"/>
              <a:t>USB flash memory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71</a:t>
            </a:fld>
            <a:endParaRPr lang="en-US" dirty="0"/>
          </a:p>
        </p:txBody>
      </p:sp>
      <p:sp>
        <p:nvSpPr>
          <p:cNvPr id="4" name="Text Placeholder 3"/>
          <p:cNvSpPr>
            <a:spLocks noGrp="1"/>
          </p:cNvSpPr>
          <p:nvPr>
            <p:ph type="body" sz="quarter" idx="13"/>
          </p:nvPr>
        </p:nvSpPr>
        <p:spPr/>
        <p:txBody>
          <a:bodyPr/>
          <a:lstStyle/>
          <a:p>
            <a:r>
              <a:rPr lang="en-HK" dirty="0" smtClean="0"/>
              <a:t>2.4</a:t>
            </a:r>
            <a:endParaRPr lang="en-US" dirty="0"/>
          </a:p>
        </p:txBody>
      </p:sp>
    </p:spTree>
    <p:extLst>
      <p:ext uri="{BB962C8B-B14F-4D97-AF65-F5344CB8AC3E}">
        <p14:creationId xmlns:p14="http://schemas.microsoft.com/office/powerpoint/2010/main" val="52970892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a:t>For option A, a floppy disk cannot provide storage space of 12 GB.</a:t>
            </a:r>
          </a:p>
          <a:p>
            <a:pPr>
              <a:buSzPct val="100000"/>
            </a:pPr>
            <a:r>
              <a:rPr lang="en-US" dirty="0"/>
              <a:t>For option B, a magnetic tape drive is uncommon in the home.</a:t>
            </a:r>
          </a:p>
          <a:p>
            <a:pPr>
              <a:buSzPct val="100000"/>
            </a:pPr>
            <a:r>
              <a:rPr lang="en-US" dirty="0"/>
              <a:t>For option C, the data stored in a CD-ROM cannot be rewritten</a:t>
            </a:r>
            <a:r>
              <a:rPr lang="en-US" dirty="0" smtClean="0"/>
              <a:t>.</a:t>
            </a:r>
          </a:p>
          <a:p>
            <a:pPr>
              <a:buSzPct val="100000"/>
            </a:pPr>
            <a:r>
              <a:rPr lang="en-US" dirty="0"/>
              <a:t>For option D, a USB flash memory:</a:t>
            </a:r>
          </a:p>
          <a:p>
            <a:pPr marL="800100" lvl="1" indent="-342900">
              <a:buSzPct val="100000"/>
              <a:buFont typeface="Arial" panose="020B0604020202020204" pitchFamily="34" charset="0"/>
              <a:buChar char="•"/>
            </a:pPr>
            <a:r>
              <a:rPr lang="en-US" dirty="0" smtClean="0"/>
              <a:t>usually </a:t>
            </a:r>
            <a:r>
              <a:rPr lang="en-US" dirty="0"/>
              <a:t>has a storage space of more than 12 GB;</a:t>
            </a:r>
          </a:p>
          <a:p>
            <a:pPr marL="800100" lvl="1" indent="-342900">
              <a:buSzPct val="100000"/>
              <a:buFont typeface="Arial" panose="020B0604020202020204" pitchFamily="34" charset="0"/>
              <a:buChar char="•"/>
            </a:pPr>
            <a:r>
              <a:rPr lang="en-US" dirty="0" smtClean="0"/>
              <a:t>does </a:t>
            </a:r>
            <a:r>
              <a:rPr lang="en-US" dirty="0"/>
              <a:t>not need an extra drive to read or write the data; and</a:t>
            </a:r>
          </a:p>
          <a:p>
            <a:pPr marL="800100" lvl="1" indent="-342900">
              <a:buSzPct val="100000"/>
              <a:buFont typeface="Arial" panose="020B0604020202020204" pitchFamily="34" charset="0"/>
              <a:buChar char="•"/>
            </a:pPr>
            <a:r>
              <a:rPr lang="en-US" dirty="0" smtClean="0"/>
              <a:t>is </a:t>
            </a:r>
            <a:r>
              <a:rPr lang="en-US" dirty="0"/>
              <a:t>small in physical size and easy to </a:t>
            </a:r>
            <a:r>
              <a:rPr lang="en-US" dirty="0" smtClean="0"/>
              <a:t>carry.</a:t>
            </a:r>
          </a:p>
          <a:p>
            <a:pPr marL="800100" lvl="1" indent="-342900">
              <a:buSzPct val="100000"/>
              <a:buFont typeface="Arial" panose="020B0604020202020204" pitchFamily="34" charset="0"/>
              <a:buChar char="•"/>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D.</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72</a:t>
            </a:fld>
            <a:endParaRPr lang="en-US" dirty="0"/>
          </a:p>
        </p:txBody>
      </p:sp>
      <p:sp>
        <p:nvSpPr>
          <p:cNvPr id="4" name="Text Placeholder 3"/>
          <p:cNvSpPr>
            <a:spLocks noGrp="1"/>
          </p:cNvSpPr>
          <p:nvPr>
            <p:ph type="body" sz="quarter" idx="13"/>
          </p:nvPr>
        </p:nvSpPr>
        <p:spPr/>
        <p:txBody>
          <a:bodyPr/>
          <a:lstStyle/>
          <a:p>
            <a:r>
              <a:rPr lang="en-HK" dirty="0" smtClean="0"/>
              <a:t>2.4</a:t>
            </a:r>
            <a:endParaRPr lang="en-US" dirty="0"/>
          </a:p>
        </p:txBody>
      </p:sp>
    </p:spTree>
    <p:extLst>
      <p:ext uri="{BB962C8B-B14F-4D97-AF65-F5344CB8AC3E}">
        <p14:creationId xmlns:p14="http://schemas.microsoft.com/office/powerpoint/2010/main" val="52795703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400057"/>
            <a:ext cx="10515600" cy="4860000"/>
          </a:xfrm>
        </p:spPr>
        <p:txBody>
          <a:bodyPr>
            <a:normAutofit fontScale="92500"/>
          </a:bodyPr>
          <a:lstStyle/>
          <a:p>
            <a:pPr marL="457200" indent="-457200">
              <a:buFont typeface="+mj-lt"/>
              <a:buAutoNum type="arabicPeriod" startAt="2"/>
            </a:pPr>
            <a:r>
              <a:rPr lang="en-US" dirty="0"/>
              <a:t>Grace is a computer graphics designer. She wants to upgrade her desktop computer for work purposes. Which of the following specifications greatly affect the performance of her computer?</a:t>
            </a:r>
            <a:br>
              <a:rPr lang="en-US" dirty="0"/>
            </a:br>
            <a:endParaRPr lang="en-US" dirty="0"/>
          </a:p>
          <a:p>
            <a:pPr marL="1257300" lvl="2" indent="-342900">
              <a:buSzPct val="100000"/>
              <a:buAutoNum type="arabicParenBoth"/>
            </a:pPr>
            <a:r>
              <a:rPr lang="en-US" sz="2000" dirty="0"/>
              <a:t>Storage size of </a:t>
            </a:r>
            <a:r>
              <a:rPr lang="en-US" sz="2000" dirty="0" smtClean="0"/>
              <a:t>RAM</a:t>
            </a:r>
          </a:p>
          <a:p>
            <a:pPr marL="1257300" lvl="2" indent="-342900">
              <a:buSzPct val="100000"/>
              <a:buAutoNum type="arabicParenBoth"/>
            </a:pPr>
            <a:r>
              <a:rPr lang="en-US" sz="2000" dirty="0"/>
              <a:t>Storage size of </a:t>
            </a:r>
            <a:r>
              <a:rPr lang="en-US" sz="2000" dirty="0" smtClean="0"/>
              <a:t>ROM</a:t>
            </a:r>
          </a:p>
          <a:p>
            <a:pPr marL="1257300" lvl="2" indent="-342900">
              <a:buSzPct val="100000"/>
              <a:buAutoNum type="arabicParenBoth"/>
            </a:pPr>
            <a:r>
              <a:rPr lang="en-US" sz="2000" dirty="0"/>
              <a:t>Clock cycle of the </a:t>
            </a:r>
            <a:r>
              <a:rPr lang="en-US" sz="2000" dirty="0" smtClean="0"/>
              <a:t>CPU</a:t>
            </a:r>
          </a:p>
          <a:p>
            <a:pPr marL="1257300" lvl="2" indent="-342900">
              <a:buSzPct val="100000"/>
              <a:buAutoNum type="arabicParenBoth"/>
            </a:pPr>
            <a:r>
              <a:rPr lang="en-US" sz="2000" dirty="0"/>
              <a:t>Weight of the computer</a:t>
            </a:r>
            <a:br>
              <a:rPr lang="en-US" sz="2000" dirty="0"/>
            </a:br>
            <a:endParaRPr lang="en-US" sz="2000" dirty="0"/>
          </a:p>
          <a:p>
            <a:pPr marL="800100" lvl="1" indent="-342900">
              <a:buSzPct val="100000"/>
              <a:buAutoNum type="alphaUcPeriod"/>
            </a:pPr>
            <a:r>
              <a:rPr lang="en-HK" sz="2000" dirty="0"/>
              <a:t>(1) </a:t>
            </a:r>
            <a:r>
              <a:rPr lang="en-HK" sz="2000" dirty="0" smtClean="0"/>
              <a:t>and (2) only</a:t>
            </a:r>
            <a:endParaRPr lang="en-HK" sz="2000" dirty="0"/>
          </a:p>
          <a:p>
            <a:pPr marL="800100" lvl="1" indent="-342900">
              <a:buSzPct val="100000"/>
              <a:buAutoNum type="alphaUcPeriod"/>
            </a:pPr>
            <a:r>
              <a:rPr lang="en-HK" sz="2000" dirty="0" smtClean="0"/>
              <a:t>(1) and (3) </a:t>
            </a:r>
            <a:r>
              <a:rPr lang="en-HK" sz="2000" dirty="0"/>
              <a:t>only</a:t>
            </a:r>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HK" sz="2000" dirty="0"/>
              <a:t>(2) and </a:t>
            </a:r>
            <a:r>
              <a:rPr lang="en-HK" sz="2000" dirty="0" smtClean="0"/>
              <a:t>(4) </a:t>
            </a:r>
            <a:r>
              <a:rPr lang="en-HK" sz="2000" dirty="0"/>
              <a:t>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73</a:t>
            </a:fld>
            <a:endParaRPr lang="en-US" dirty="0"/>
          </a:p>
        </p:txBody>
      </p:sp>
      <p:sp>
        <p:nvSpPr>
          <p:cNvPr id="4" name="Text Placeholder 3"/>
          <p:cNvSpPr>
            <a:spLocks noGrp="1"/>
          </p:cNvSpPr>
          <p:nvPr>
            <p:ph type="body" sz="quarter" idx="13"/>
          </p:nvPr>
        </p:nvSpPr>
        <p:spPr/>
        <p:txBody>
          <a:bodyPr/>
          <a:lstStyle/>
          <a:p>
            <a:r>
              <a:rPr lang="en-HK" dirty="0" smtClean="0"/>
              <a:t>2.4</a:t>
            </a:r>
            <a:endParaRPr lang="en-US" dirty="0"/>
          </a:p>
        </p:txBody>
      </p:sp>
    </p:spTree>
    <p:extLst>
      <p:ext uri="{BB962C8B-B14F-4D97-AF65-F5344CB8AC3E}">
        <p14:creationId xmlns:p14="http://schemas.microsoft.com/office/powerpoint/2010/main" val="50939050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342900" indent="-342900">
              <a:buSzPct val="100000"/>
              <a:buFont typeface="Noto Sans CJK TC Regular" panose="020B0500000000000000" pitchFamily="34" charset="-128"/>
              <a:buChar char="◣"/>
            </a:pPr>
            <a:r>
              <a:rPr lang="en-HK" sz="2400" b="1" dirty="0">
                <a:solidFill>
                  <a:srgbClr val="37A3D4"/>
                </a:solidFill>
              </a:rPr>
              <a:t>Analysis</a:t>
            </a:r>
          </a:p>
          <a:p>
            <a:pPr>
              <a:buSzPct val="100000"/>
            </a:pPr>
            <a:r>
              <a:rPr lang="en-US" dirty="0"/>
              <a:t>Since RAM stores the data for processing, its storage size is important to the performance of </a:t>
            </a:r>
            <a:r>
              <a:rPr lang="en-US" dirty="0" smtClean="0"/>
              <a:t>a computer.</a:t>
            </a:r>
            <a:endParaRPr lang="en-US" dirty="0"/>
          </a:p>
          <a:p>
            <a:pPr>
              <a:buSzPct val="100000"/>
            </a:pPr>
            <a:r>
              <a:rPr lang="en-US" dirty="0"/>
              <a:t>ROM stores BIOS, which is only used when booting a computer. Its storage size barely affects the </a:t>
            </a:r>
            <a:r>
              <a:rPr lang="en-US" dirty="0" smtClean="0"/>
              <a:t>performance </a:t>
            </a:r>
            <a:r>
              <a:rPr lang="en-US" dirty="0"/>
              <a:t>of a computer</a:t>
            </a:r>
            <a:r>
              <a:rPr lang="en-US" dirty="0" smtClean="0"/>
              <a:t>.</a:t>
            </a:r>
            <a:endParaRPr lang="en-US" dirty="0"/>
          </a:p>
          <a:p>
            <a:pPr>
              <a:buSzPct val="100000"/>
            </a:pPr>
            <a:r>
              <a:rPr lang="en-US" dirty="0"/>
              <a:t>The clock cycle of a CPU determines the clock rate of a CPU. A higher clock rate usually comes with a </a:t>
            </a:r>
            <a:r>
              <a:rPr lang="en-US" dirty="0" smtClean="0"/>
              <a:t>better </a:t>
            </a:r>
            <a:r>
              <a:rPr lang="en-US" dirty="0"/>
              <a:t>performance of a computer</a:t>
            </a:r>
            <a:r>
              <a:rPr lang="en-US" dirty="0" smtClean="0"/>
              <a:t>.</a:t>
            </a:r>
            <a:endParaRPr lang="en-US" dirty="0"/>
          </a:p>
          <a:p>
            <a:pPr>
              <a:buSzPct val="100000"/>
            </a:pPr>
            <a:r>
              <a:rPr lang="en-US" dirty="0"/>
              <a:t>The weight of the computer does not matter to the performance of a computer, especially when we are </a:t>
            </a:r>
            <a:r>
              <a:rPr lang="en-US" dirty="0" smtClean="0"/>
              <a:t>talking </a:t>
            </a:r>
            <a:r>
              <a:rPr lang="en-US" dirty="0"/>
              <a:t>about desktop </a:t>
            </a:r>
            <a:r>
              <a:rPr lang="en-US" dirty="0" smtClean="0"/>
              <a:t>computers.</a:t>
            </a:r>
            <a:br>
              <a:rPr lang="en-US" dirty="0" smtClean="0"/>
            </a:br>
            <a:endParaRPr lang="en-HK" b="1" dirty="0" smtClean="0">
              <a:solidFill>
                <a:srgbClr val="37A3D4"/>
              </a:solidFill>
            </a:endParaRPr>
          </a:p>
          <a:p>
            <a:pPr marL="342900" indent="-342900">
              <a:buSzPct val="100000"/>
              <a:buFont typeface="Noto Sans CJK TC Regular" panose="020B0500000000000000" pitchFamily="34" charset="-128"/>
              <a:buChar char="◣"/>
            </a:pPr>
            <a:r>
              <a:rPr lang="en-HK" sz="2400" b="1" dirty="0" smtClean="0">
                <a:solidFill>
                  <a:srgbClr val="37A3D4"/>
                </a:solidFill>
              </a:rPr>
              <a:t>Solution</a:t>
            </a:r>
            <a:endParaRPr lang="en-HK" sz="2400" b="1" dirty="0">
              <a:solidFill>
                <a:srgbClr val="37A3D4"/>
              </a:solidFill>
            </a:endParaRPr>
          </a:p>
          <a:p>
            <a:pPr>
              <a:buSzPct val="100000"/>
            </a:pPr>
            <a:r>
              <a:rPr lang="en-HK" dirty="0"/>
              <a:t>The answer is </a:t>
            </a:r>
            <a:r>
              <a:rPr lang="en-HK" dirty="0" smtClean="0"/>
              <a:t>B.</a:t>
            </a:r>
            <a:endParaRPr lang="en-US"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74</a:t>
            </a:fld>
            <a:endParaRPr lang="en-US" dirty="0"/>
          </a:p>
        </p:txBody>
      </p:sp>
      <p:sp>
        <p:nvSpPr>
          <p:cNvPr id="4" name="Text Placeholder 3"/>
          <p:cNvSpPr>
            <a:spLocks noGrp="1"/>
          </p:cNvSpPr>
          <p:nvPr>
            <p:ph type="body" sz="quarter" idx="13"/>
          </p:nvPr>
        </p:nvSpPr>
        <p:spPr/>
        <p:txBody>
          <a:bodyPr/>
          <a:lstStyle/>
          <a:p>
            <a:r>
              <a:rPr lang="en-HK" dirty="0" smtClean="0"/>
              <a:t>2.4</a:t>
            </a:r>
            <a:endParaRPr lang="en-US" dirty="0"/>
          </a:p>
        </p:txBody>
      </p:sp>
    </p:spTree>
    <p:extLst>
      <p:ext uri="{BB962C8B-B14F-4D97-AF65-F5344CB8AC3E}">
        <p14:creationId xmlns:p14="http://schemas.microsoft.com/office/powerpoint/2010/main" val="29728825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Arrange the following types of memory in descending order by data access rate.</a:t>
            </a:r>
            <a:br>
              <a:rPr lang="en-US" dirty="0"/>
            </a:br>
            <a:endParaRPr lang="en-US" dirty="0"/>
          </a:p>
          <a:p>
            <a:pPr marL="1257300" lvl="2" indent="-342900">
              <a:buSzPct val="100000"/>
              <a:buAutoNum type="arabicParenBoth"/>
            </a:pPr>
            <a:r>
              <a:rPr lang="en-US" sz="2000" dirty="0" smtClean="0"/>
              <a:t>Cache memory</a:t>
            </a:r>
            <a:endParaRPr lang="en-US" sz="2000" dirty="0"/>
          </a:p>
          <a:p>
            <a:pPr marL="1257300" lvl="2" indent="-342900">
              <a:buSzPct val="100000"/>
              <a:buAutoNum type="arabicParenBoth"/>
            </a:pPr>
            <a:r>
              <a:rPr lang="en-US" sz="2000" dirty="0" smtClean="0"/>
              <a:t>Flash memory</a:t>
            </a:r>
            <a:endParaRPr lang="en-US" sz="2000" dirty="0"/>
          </a:p>
          <a:p>
            <a:pPr marL="1257300" lvl="2" indent="-342900">
              <a:buSzPct val="100000"/>
              <a:buAutoNum type="arabicParenBoth"/>
            </a:pPr>
            <a:r>
              <a:rPr lang="en-US" sz="2000" dirty="0" smtClean="0"/>
              <a:t>Register</a:t>
            </a:r>
            <a:r>
              <a:rPr lang="en-US" sz="2000" dirty="0"/>
              <a:t/>
            </a:r>
            <a:br>
              <a:rPr lang="en-US" sz="2000" dirty="0"/>
            </a:br>
            <a:endParaRPr lang="en-US" sz="2000" dirty="0"/>
          </a:p>
          <a:p>
            <a:pPr marL="800100" lvl="1" indent="-342900">
              <a:buSzPct val="100000"/>
              <a:buAutoNum type="alphaUcPeriod"/>
            </a:pPr>
            <a:r>
              <a:rPr lang="en-US" sz="2000" dirty="0"/>
              <a:t>(1) &gt; (2) &gt; (3</a:t>
            </a:r>
            <a:r>
              <a:rPr lang="en-US" sz="2000" dirty="0" smtClean="0"/>
              <a:t>)</a:t>
            </a:r>
          </a:p>
          <a:p>
            <a:pPr marL="800100" lvl="1" indent="-342900">
              <a:buSzPct val="100000"/>
              <a:buAutoNum type="alphaUcPeriod"/>
            </a:pPr>
            <a:r>
              <a:rPr lang="en-US" sz="2000" dirty="0"/>
              <a:t>(2) &gt; (1) &gt; (3</a:t>
            </a:r>
            <a:r>
              <a:rPr lang="en-US" sz="2000" dirty="0" smtClean="0"/>
              <a:t>)</a:t>
            </a:r>
          </a:p>
          <a:p>
            <a:pPr marL="800100" lvl="1" indent="-342900">
              <a:buSzPct val="100000"/>
              <a:buAutoNum type="alphaUcPeriod"/>
            </a:pPr>
            <a:r>
              <a:rPr lang="en-US" sz="2000" dirty="0"/>
              <a:t>(3) &gt; (1) &gt; (2) </a:t>
            </a:r>
            <a:endParaRPr lang="en-US" sz="2000" dirty="0" smtClean="0"/>
          </a:p>
          <a:p>
            <a:pPr marL="800100" lvl="1" indent="-342900">
              <a:buSzPct val="100000"/>
              <a:buAutoNum type="alphaUcPeriod"/>
            </a:pPr>
            <a:r>
              <a:rPr lang="en-US" sz="2000" dirty="0"/>
              <a:t>(3) &gt; (2) &gt; (1)</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75</a:t>
            </a:fld>
            <a:endParaRPr lang="en-US" dirty="0"/>
          </a:p>
        </p:txBody>
      </p:sp>
      <p:sp>
        <p:nvSpPr>
          <p:cNvPr id="4" name="Text Placeholder 3"/>
          <p:cNvSpPr>
            <a:spLocks noGrp="1"/>
          </p:cNvSpPr>
          <p:nvPr>
            <p:ph type="body" sz="quarter" idx="13"/>
          </p:nvPr>
        </p:nvSpPr>
        <p:spPr/>
        <p:txBody>
          <a:bodyPr/>
          <a:lstStyle/>
          <a:p>
            <a:r>
              <a:rPr lang="en-HK" dirty="0" smtClean="0"/>
              <a:t>2.4</a:t>
            </a:r>
            <a:endParaRPr lang="en-US" dirty="0"/>
          </a:p>
        </p:txBody>
      </p:sp>
    </p:spTree>
    <p:extLst>
      <p:ext uri="{BB962C8B-B14F-4D97-AF65-F5344CB8AC3E}">
        <p14:creationId xmlns:p14="http://schemas.microsoft.com/office/powerpoint/2010/main" val="3639143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6" end="6"/>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startAt="2"/>
            </a:pPr>
            <a:r>
              <a:rPr lang="en-US" dirty="0" smtClean="0"/>
              <a:t>Give </a:t>
            </a:r>
            <a:r>
              <a:rPr lang="en-US" dirty="0"/>
              <a:t>three advantages of using a solid-state drive (SSD) over a hard disk</a:t>
            </a:r>
            <a:r>
              <a:rPr lang="en-US" dirty="0" smtClean="0"/>
              <a:t>.</a:t>
            </a:r>
          </a:p>
          <a:p>
            <a:pPr marL="457200" indent="-457200">
              <a:buFont typeface="+mj-lt"/>
              <a:buAutoNum type="arabicPeriod" startAt="2"/>
            </a:pPr>
            <a:endParaRPr lang="en-HK" dirty="0"/>
          </a:p>
          <a:p>
            <a:pPr lvl="1"/>
            <a:r>
              <a:rPr lang="en-US" dirty="0">
                <a:solidFill>
                  <a:srgbClr val="FF0000"/>
                </a:solidFill>
              </a:rPr>
              <a:t>SSD has a higher data access rate; is smaller in physical size; has a strong resistance to physical impact; consumes less energy; is lighter in weight.</a:t>
            </a:r>
          </a:p>
          <a:p>
            <a:pPr marL="457200" indent="-457200">
              <a:buAutoNum type="arabicPeriod" startAt="2"/>
            </a:pP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76</a:t>
            </a:fld>
            <a:endParaRPr lang="en-US" dirty="0"/>
          </a:p>
        </p:txBody>
      </p:sp>
      <p:sp>
        <p:nvSpPr>
          <p:cNvPr id="4" name="Text Placeholder 3"/>
          <p:cNvSpPr>
            <a:spLocks noGrp="1"/>
          </p:cNvSpPr>
          <p:nvPr>
            <p:ph type="body" sz="quarter" idx="13"/>
          </p:nvPr>
        </p:nvSpPr>
        <p:spPr/>
        <p:txBody>
          <a:bodyPr/>
          <a:lstStyle/>
          <a:p>
            <a:r>
              <a:rPr lang="en-HK" dirty="0" smtClean="0"/>
              <a:t>2.4</a:t>
            </a:r>
            <a:endParaRPr lang="en-US" dirty="0"/>
          </a:p>
        </p:txBody>
      </p:sp>
    </p:spTree>
    <p:extLst>
      <p:ext uri="{BB962C8B-B14F-4D97-AF65-F5344CB8AC3E}">
        <p14:creationId xmlns:p14="http://schemas.microsoft.com/office/powerpoint/2010/main" val="66424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Type of Computers</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77</a:t>
            </a:fld>
            <a:endParaRPr lang="en-US" dirty="0"/>
          </a:p>
        </p:txBody>
      </p:sp>
      <p:sp>
        <p:nvSpPr>
          <p:cNvPr id="4" name="Text Placeholder 3"/>
          <p:cNvSpPr>
            <a:spLocks noGrp="1"/>
          </p:cNvSpPr>
          <p:nvPr>
            <p:ph type="body" sz="quarter" idx="14"/>
          </p:nvPr>
        </p:nvSpPr>
        <p:spPr/>
        <p:txBody>
          <a:bodyPr/>
          <a:lstStyle/>
          <a:p>
            <a:r>
              <a:rPr lang="en-HK" dirty="0" smtClean="0"/>
              <a:t>2.4</a:t>
            </a:r>
            <a:endParaRPr lang="en-US" dirty="0"/>
          </a:p>
        </p:txBody>
      </p:sp>
      <p:sp>
        <p:nvSpPr>
          <p:cNvPr id="5" name="Content Placeholder 4"/>
          <p:cNvSpPr>
            <a:spLocks noGrp="1"/>
          </p:cNvSpPr>
          <p:nvPr>
            <p:ph sz="quarter" idx="15"/>
          </p:nvPr>
        </p:nvSpPr>
        <p:spPr/>
        <p:txBody>
          <a:bodyPr/>
          <a:lstStyle/>
          <a:p>
            <a:r>
              <a:rPr lang="en-US" dirty="0"/>
              <a:t>There are different types of computers based on size.</a:t>
            </a:r>
          </a:p>
        </p:txBody>
      </p:sp>
      <p:pic>
        <p:nvPicPr>
          <p:cNvPr id="7" name="Picture 6"/>
          <p:cNvPicPr>
            <a:picLocks noChangeAspect="1"/>
          </p:cNvPicPr>
          <p:nvPr/>
        </p:nvPicPr>
        <p:blipFill rotWithShape="1">
          <a:blip r:embed="rId2"/>
          <a:srcRect l="325" t="825"/>
          <a:stretch/>
        </p:blipFill>
        <p:spPr>
          <a:xfrm>
            <a:off x="1696500" y="2080383"/>
            <a:ext cx="8820547" cy="4339230"/>
          </a:xfrm>
          <a:prstGeom prst="rect">
            <a:avLst/>
          </a:prstGeom>
          <a:ln>
            <a:solidFill>
              <a:srgbClr val="145897"/>
            </a:solidFill>
          </a:ln>
        </p:spPr>
      </p:pic>
    </p:spTree>
    <p:extLst>
      <p:ext uri="{BB962C8B-B14F-4D97-AF65-F5344CB8AC3E}">
        <p14:creationId xmlns:p14="http://schemas.microsoft.com/office/powerpoint/2010/main" val="17373777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HK" dirty="0" smtClean="0"/>
              <a:t>Latest Development of Hardware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78</a:t>
            </a:fld>
            <a:endParaRPr lang="en-US" dirty="0"/>
          </a:p>
        </p:txBody>
      </p:sp>
      <p:sp>
        <p:nvSpPr>
          <p:cNvPr id="4" name="Text Placeholder 3"/>
          <p:cNvSpPr>
            <a:spLocks noGrp="1"/>
          </p:cNvSpPr>
          <p:nvPr>
            <p:ph type="body" sz="quarter" idx="14"/>
          </p:nvPr>
        </p:nvSpPr>
        <p:spPr/>
        <p:txBody>
          <a:bodyPr/>
          <a:lstStyle/>
          <a:p>
            <a:r>
              <a:rPr lang="en-HK" dirty="0" smtClean="0"/>
              <a:t>2.5</a:t>
            </a:r>
            <a:endParaRPr lang="en-US" dirty="0"/>
          </a:p>
        </p:txBody>
      </p:sp>
      <p:sp>
        <p:nvSpPr>
          <p:cNvPr id="5" name="Content Placeholder 4"/>
          <p:cNvSpPr>
            <a:spLocks noGrp="1"/>
          </p:cNvSpPr>
          <p:nvPr>
            <p:ph sz="quarter" idx="15"/>
          </p:nvPr>
        </p:nvSpPr>
        <p:spPr/>
        <p:txBody>
          <a:bodyPr/>
          <a:lstStyle/>
          <a:p>
            <a:r>
              <a:rPr lang="en-US" dirty="0"/>
              <a:t>Different hardware devices have different trends of development. Most of them can </a:t>
            </a:r>
            <a:r>
              <a:rPr lang="en-US" dirty="0" smtClean="0"/>
              <a:t>be </a:t>
            </a:r>
            <a:r>
              <a:rPr lang="en-US" dirty="0" err="1" smtClean="0"/>
              <a:t>summarised</a:t>
            </a:r>
            <a:r>
              <a:rPr lang="en-US" dirty="0" smtClean="0"/>
              <a:t> </a:t>
            </a:r>
            <a:r>
              <a:rPr lang="en-US" dirty="0"/>
              <a:t>as below.</a:t>
            </a:r>
          </a:p>
        </p:txBody>
      </p:sp>
      <p:pic>
        <p:nvPicPr>
          <p:cNvPr id="7" name="Picture 6"/>
          <p:cNvPicPr>
            <a:picLocks noChangeAspect="1"/>
          </p:cNvPicPr>
          <p:nvPr/>
        </p:nvPicPr>
        <p:blipFill>
          <a:blip r:embed="rId2"/>
          <a:stretch>
            <a:fillRect/>
          </a:stretch>
        </p:blipFill>
        <p:spPr>
          <a:xfrm>
            <a:off x="1757357" y="2627100"/>
            <a:ext cx="8678486" cy="3505689"/>
          </a:xfrm>
          <a:prstGeom prst="rect">
            <a:avLst/>
          </a:prstGeom>
          <a:ln>
            <a:solidFill>
              <a:srgbClr val="145897"/>
            </a:solidFill>
          </a:ln>
        </p:spPr>
      </p:pic>
    </p:spTree>
    <p:extLst>
      <p:ext uri="{BB962C8B-B14F-4D97-AF65-F5344CB8AC3E}">
        <p14:creationId xmlns:p14="http://schemas.microsoft.com/office/powerpoint/2010/main" val="8690259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718650" y="2650094"/>
            <a:ext cx="8754697" cy="438211"/>
          </a:xfrm>
          <a:prstGeom prst="rect">
            <a:avLst/>
          </a:prstGeom>
        </p:spPr>
      </p:pic>
      <p:sp>
        <p:nvSpPr>
          <p:cNvPr id="2" name="Title 1"/>
          <p:cNvSpPr>
            <a:spLocks noGrp="1"/>
          </p:cNvSpPr>
          <p:nvPr>
            <p:ph type="title"/>
          </p:nvPr>
        </p:nvSpPr>
        <p:spPr/>
        <p:txBody>
          <a:bodyPr/>
          <a:lstStyle/>
          <a:p>
            <a:r>
              <a:rPr lang="en-HK" dirty="0" smtClean="0"/>
              <a:t>Latest Development of Hardware</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pPr/>
              <a:t>79</a:t>
            </a:fld>
            <a:endParaRPr lang="en-US" dirty="0"/>
          </a:p>
        </p:txBody>
      </p:sp>
      <p:sp>
        <p:nvSpPr>
          <p:cNvPr id="4" name="Text Placeholder 3"/>
          <p:cNvSpPr>
            <a:spLocks noGrp="1"/>
          </p:cNvSpPr>
          <p:nvPr>
            <p:ph type="body" sz="quarter" idx="14"/>
          </p:nvPr>
        </p:nvSpPr>
        <p:spPr/>
        <p:txBody>
          <a:bodyPr/>
          <a:lstStyle/>
          <a:p>
            <a:r>
              <a:rPr lang="en-HK" dirty="0" smtClean="0"/>
              <a:t>2.5</a:t>
            </a:r>
            <a:endParaRPr lang="en-US" dirty="0"/>
          </a:p>
        </p:txBody>
      </p:sp>
      <p:sp>
        <p:nvSpPr>
          <p:cNvPr id="5" name="Content Placeholder 4"/>
          <p:cNvSpPr>
            <a:spLocks noGrp="1"/>
          </p:cNvSpPr>
          <p:nvPr>
            <p:ph sz="quarter" idx="15"/>
          </p:nvPr>
        </p:nvSpPr>
        <p:spPr/>
        <p:txBody>
          <a:bodyPr/>
          <a:lstStyle/>
          <a:p>
            <a:r>
              <a:rPr lang="en-US" dirty="0"/>
              <a:t>Different hardware devices have different trends of development. Most of them can </a:t>
            </a:r>
            <a:r>
              <a:rPr lang="en-US" dirty="0" smtClean="0"/>
              <a:t>be </a:t>
            </a:r>
            <a:r>
              <a:rPr lang="en-US" dirty="0" err="1" smtClean="0"/>
              <a:t>summarised</a:t>
            </a:r>
            <a:r>
              <a:rPr lang="en-US" dirty="0" smtClean="0"/>
              <a:t> </a:t>
            </a:r>
            <a:r>
              <a:rPr lang="en-US" dirty="0"/>
              <a:t>as below.</a:t>
            </a:r>
          </a:p>
        </p:txBody>
      </p:sp>
      <p:pic>
        <p:nvPicPr>
          <p:cNvPr id="6" name="Picture 5"/>
          <p:cNvPicPr>
            <a:picLocks noChangeAspect="1"/>
          </p:cNvPicPr>
          <p:nvPr/>
        </p:nvPicPr>
        <p:blipFill>
          <a:blip r:embed="rId3"/>
          <a:stretch>
            <a:fillRect/>
          </a:stretch>
        </p:blipFill>
        <p:spPr>
          <a:xfrm>
            <a:off x="1747230" y="3047775"/>
            <a:ext cx="8697539" cy="3219899"/>
          </a:xfrm>
          <a:prstGeom prst="rect">
            <a:avLst/>
          </a:prstGeom>
          <a:ln>
            <a:solidFill>
              <a:srgbClr val="145897"/>
            </a:solidFill>
          </a:ln>
        </p:spPr>
      </p:pic>
    </p:spTree>
    <p:extLst>
      <p:ext uri="{BB962C8B-B14F-4D97-AF65-F5344CB8AC3E}">
        <p14:creationId xmlns:p14="http://schemas.microsoft.com/office/powerpoint/2010/main" val="128393040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457200" indent="-457200">
              <a:buFont typeface="+mj-lt"/>
              <a:buAutoNum type="arabicPeriod"/>
            </a:pPr>
            <a:r>
              <a:rPr lang="en-US" dirty="0"/>
              <a:t>What are the advantages of using a tablet computer over a desktop computer to watch videos?</a:t>
            </a:r>
            <a:br>
              <a:rPr lang="en-US" dirty="0"/>
            </a:br>
            <a:endParaRPr lang="en-US" dirty="0"/>
          </a:p>
          <a:p>
            <a:pPr marL="1257300" lvl="2" indent="-342900">
              <a:buSzPct val="100000"/>
              <a:buAutoNum type="arabicParenBoth"/>
            </a:pPr>
            <a:r>
              <a:rPr lang="en-US" sz="2000" dirty="0"/>
              <a:t>More </a:t>
            </a:r>
            <a:r>
              <a:rPr lang="en-US" sz="2000" dirty="0" smtClean="0"/>
              <a:t>portable</a:t>
            </a:r>
          </a:p>
          <a:p>
            <a:pPr marL="1257300" lvl="2" indent="-342900">
              <a:buSzPct val="100000"/>
              <a:buAutoNum type="arabicParenBoth"/>
            </a:pPr>
            <a:r>
              <a:rPr lang="en-US" sz="2000" dirty="0"/>
              <a:t>Larger screen </a:t>
            </a:r>
            <a:r>
              <a:rPr lang="en-US" sz="2000" dirty="0" smtClean="0"/>
              <a:t>size</a:t>
            </a:r>
          </a:p>
          <a:p>
            <a:pPr marL="1257300" lvl="2" indent="-342900">
              <a:buSzPct val="100000"/>
              <a:buAutoNum type="arabicParenBoth"/>
            </a:pPr>
            <a:r>
              <a:rPr lang="en-US" sz="2000" dirty="0"/>
              <a:t>Higher computing </a:t>
            </a:r>
            <a:r>
              <a:rPr lang="en-US" sz="2000" dirty="0" smtClean="0"/>
              <a:t>power</a:t>
            </a:r>
          </a:p>
          <a:p>
            <a:pPr marL="1257300" lvl="2" indent="-342900">
              <a:buSzPct val="100000"/>
              <a:buAutoNum type="arabicParenBoth"/>
            </a:pPr>
            <a:r>
              <a:rPr lang="en-US" sz="2000" dirty="0"/>
              <a:t>Lower energy consumption</a:t>
            </a:r>
            <a:br>
              <a:rPr lang="en-US" sz="2000" dirty="0"/>
            </a:br>
            <a:endParaRPr lang="en-US" sz="2000" dirty="0"/>
          </a:p>
          <a:p>
            <a:pPr marL="800100" lvl="1" indent="-342900">
              <a:buSzPct val="100000"/>
              <a:buAutoNum type="alphaUcPeriod"/>
            </a:pPr>
            <a:r>
              <a:rPr lang="en-HK" sz="2000" dirty="0"/>
              <a:t>(1) </a:t>
            </a:r>
            <a:r>
              <a:rPr lang="en-HK" sz="2000" dirty="0" smtClean="0"/>
              <a:t>and (3) only</a:t>
            </a:r>
            <a:endParaRPr lang="en-HK" sz="2000" dirty="0"/>
          </a:p>
          <a:p>
            <a:pPr marL="800100" lvl="1" indent="-342900">
              <a:buSzPct val="100000"/>
              <a:buAutoNum type="alphaUcPeriod"/>
            </a:pPr>
            <a:r>
              <a:rPr lang="en-HK" sz="2000" dirty="0" smtClean="0"/>
              <a:t>(1) and (4) </a:t>
            </a:r>
            <a:r>
              <a:rPr lang="en-HK" sz="2000" dirty="0"/>
              <a:t>only</a:t>
            </a:r>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HK" sz="2000" dirty="0"/>
              <a:t>(2) and </a:t>
            </a:r>
            <a:r>
              <a:rPr lang="en-HK" sz="2000" dirty="0" smtClean="0"/>
              <a:t>(4) </a:t>
            </a:r>
            <a:r>
              <a:rPr lang="en-HK" sz="2000" dirty="0"/>
              <a:t>only</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80</a:t>
            </a:fld>
            <a:endParaRPr lang="en-US" dirty="0"/>
          </a:p>
        </p:txBody>
      </p:sp>
      <p:sp>
        <p:nvSpPr>
          <p:cNvPr id="4" name="Text Placeholder 3"/>
          <p:cNvSpPr>
            <a:spLocks noGrp="1"/>
          </p:cNvSpPr>
          <p:nvPr>
            <p:ph type="body" sz="quarter" idx="13"/>
          </p:nvPr>
        </p:nvSpPr>
        <p:spPr/>
        <p:txBody>
          <a:bodyPr/>
          <a:lstStyle/>
          <a:p>
            <a:r>
              <a:rPr lang="en-HK" dirty="0" smtClean="0"/>
              <a:t>2.5</a:t>
            </a:r>
            <a:endParaRPr lang="en-US" dirty="0"/>
          </a:p>
        </p:txBody>
      </p:sp>
    </p:spTree>
    <p:extLst>
      <p:ext uri="{BB962C8B-B14F-4D97-AF65-F5344CB8AC3E}">
        <p14:creationId xmlns:p14="http://schemas.microsoft.com/office/powerpoint/2010/main" val="419898761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342900" indent="-342900">
              <a:buSzPct val="100000"/>
              <a:buFont typeface="Noto Sans CJK TC Regular" panose="020B0500000000000000" pitchFamily="34" charset="-128"/>
              <a:buChar char="◣"/>
            </a:pPr>
            <a:r>
              <a:rPr lang="en-HK" b="1" dirty="0">
                <a:solidFill>
                  <a:srgbClr val="37A3D4"/>
                </a:solidFill>
              </a:rPr>
              <a:t>Analysis</a:t>
            </a:r>
          </a:p>
          <a:p>
            <a:pPr>
              <a:buSzPct val="100000"/>
            </a:pPr>
            <a:r>
              <a:rPr lang="en-US" dirty="0" smtClean="0"/>
              <a:t>A </a:t>
            </a:r>
            <a:r>
              <a:rPr lang="en-US" dirty="0"/>
              <a:t>tablet computer is lighter in weight and has a built-in monitor. Thus, it is more </a:t>
            </a:r>
            <a:r>
              <a:rPr lang="en-US" dirty="0" smtClean="0"/>
              <a:t>portable.</a:t>
            </a:r>
          </a:p>
          <a:p>
            <a:pPr>
              <a:buSzPct val="100000"/>
            </a:pPr>
            <a:r>
              <a:rPr lang="en-US" dirty="0" smtClean="0"/>
              <a:t>It </a:t>
            </a:r>
            <a:r>
              <a:rPr lang="en-US" dirty="0"/>
              <a:t>is quite rare for a tablet computer to have a screen larger than the screen of an external monitor </a:t>
            </a:r>
            <a:r>
              <a:rPr lang="en-US" dirty="0" smtClean="0"/>
              <a:t>connected </a:t>
            </a:r>
            <a:r>
              <a:rPr lang="en-US" dirty="0"/>
              <a:t>to a desktop computer</a:t>
            </a:r>
            <a:r>
              <a:rPr lang="en-US" dirty="0" smtClean="0"/>
              <a:t>.</a:t>
            </a:r>
            <a:endParaRPr lang="en-US" dirty="0"/>
          </a:p>
          <a:p>
            <a:pPr>
              <a:buSzPct val="100000"/>
            </a:pPr>
            <a:r>
              <a:rPr lang="en-US" dirty="0"/>
              <a:t>A tablet computer usually has lower computing power. It is more used for leisure purposes and thus </a:t>
            </a:r>
            <a:r>
              <a:rPr lang="en-US" dirty="0" smtClean="0"/>
              <a:t>trades </a:t>
            </a:r>
            <a:r>
              <a:rPr lang="en-US" dirty="0"/>
              <a:t>its computing power for its small physical size and high portability</a:t>
            </a:r>
            <a:r>
              <a:rPr lang="en-US" dirty="0" smtClean="0"/>
              <a:t>.</a:t>
            </a:r>
            <a:endParaRPr lang="en-US" dirty="0"/>
          </a:p>
          <a:p>
            <a:pPr>
              <a:buSzPct val="100000"/>
            </a:pPr>
            <a:r>
              <a:rPr lang="en-US" dirty="0"/>
              <a:t>Due to its relatively low computing power and small screen size, a tablet computer usually consumes less </a:t>
            </a:r>
            <a:r>
              <a:rPr lang="en-US" dirty="0" smtClean="0"/>
              <a:t>energy </a:t>
            </a:r>
            <a:r>
              <a:rPr lang="en-US" dirty="0"/>
              <a:t>than a desktop computer does</a:t>
            </a:r>
            <a:r>
              <a:rPr lang="en-US" dirty="0" smtClean="0"/>
              <a:t>.</a:t>
            </a:r>
          </a:p>
          <a:p>
            <a:pPr>
              <a:buSzPct val="100000"/>
            </a:pPr>
            <a:endParaRPr lang="en-HK" b="1" dirty="0" smtClean="0">
              <a:solidFill>
                <a:srgbClr val="37A3D4"/>
              </a:solidFill>
            </a:endParaRPr>
          </a:p>
          <a:p>
            <a:pPr marL="342900" indent="-342900">
              <a:buSzPct val="100000"/>
              <a:buFont typeface="Noto Sans CJK TC Regular" panose="020B0500000000000000" pitchFamily="34" charset="-128"/>
              <a:buChar char="◣"/>
            </a:pPr>
            <a:r>
              <a:rPr lang="en-HK" b="1" dirty="0" smtClean="0">
                <a:solidFill>
                  <a:srgbClr val="37A3D4"/>
                </a:solidFill>
              </a:rPr>
              <a:t>Solution</a:t>
            </a:r>
            <a:endParaRPr lang="en-HK" b="1" dirty="0">
              <a:solidFill>
                <a:srgbClr val="37A3D4"/>
              </a:solidFill>
            </a:endParaRPr>
          </a:p>
          <a:p>
            <a:pPr>
              <a:buSzPct val="100000"/>
            </a:pPr>
            <a:r>
              <a:rPr lang="en-HK" dirty="0"/>
              <a:t>The answer is B</a:t>
            </a:r>
            <a:r>
              <a:rPr lang="en-HK" dirty="0" smtClean="0"/>
              <a:t>.</a:t>
            </a: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81</a:t>
            </a:fld>
            <a:endParaRPr lang="en-US" dirty="0"/>
          </a:p>
        </p:txBody>
      </p:sp>
      <p:sp>
        <p:nvSpPr>
          <p:cNvPr id="4" name="Text Placeholder 3"/>
          <p:cNvSpPr>
            <a:spLocks noGrp="1"/>
          </p:cNvSpPr>
          <p:nvPr>
            <p:ph type="body" sz="quarter" idx="13"/>
          </p:nvPr>
        </p:nvSpPr>
        <p:spPr/>
        <p:txBody>
          <a:bodyPr/>
          <a:lstStyle/>
          <a:p>
            <a:r>
              <a:rPr lang="en-HK" dirty="0" smtClean="0"/>
              <a:t>2.5</a:t>
            </a:r>
            <a:endParaRPr lang="en-US" dirty="0"/>
          </a:p>
        </p:txBody>
      </p:sp>
    </p:spTree>
    <p:extLst>
      <p:ext uri="{BB962C8B-B14F-4D97-AF65-F5344CB8AC3E}">
        <p14:creationId xmlns:p14="http://schemas.microsoft.com/office/powerpoint/2010/main" val="34638211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US" dirty="0"/>
              <a:t>Which of the following are the main focus of the technology development for a smartphone?</a:t>
            </a:r>
            <a:br>
              <a:rPr lang="en-US" dirty="0"/>
            </a:br>
            <a:endParaRPr lang="en-US" dirty="0"/>
          </a:p>
          <a:p>
            <a:pPr marL="1257300" lvl="2" indent="-342900">
              <a:buSzPct val="100000"/>
              <a:buAutoNum type="arabicParenBoth"/>
            </a:pPr>
            <a:r>
              <a:rPr lang="en-US" sz="2000" dirty="0"/>
              <a:t>Higher </a:t>
            </a:r>
            <a:r>
              <a:rPr lang="en-US" sz="2000" dirty="0" smtClean="0"/>
              <a:t>resolution</a:t>
            </a:r>
          </a:p>
          <a:p>
            <a:pPr marL="1257300" lvl="2" indent="-342900">
              <a:buSzPct val="100000"/>
              <a:buAutoNum type="arabicParenBoth"/>
            </a:pPr>
            <a:r>
              <a:rPr lang="en-US" sz="2000" dirty="0"/>
              <a:t>Higher computational </a:t>
            </a:r>
            <a:r>
              <a:rPr lang="en-US" sz="2000" dirty="0" smtClean="0"/>
              <a:t>power</a:t>
            </a:r>
          </a:p>
          <a:p>
            <a:pPr marL="1257300" lvl="2" indent="-342900">
              <a:buSzPct val="100000"/>
              <a:buAutoNum type="arabicParenBoth"/>
            </a:pPr>
            <a:r>
              <a:rPr lang="en-US" sz="2000" dirty="0"/>
              <a:t>More USB ports</a:t>
            </a:r>
            <a:br>
              <a:rPr lang="en-US" sz="2000" dirty="0"/>
            </a:br>
            <a:endParaRPr lang="en-US" sz="2000" dirty="0"/>
          </a:p>
          <a:p>
            <a:pPr marL="800100" lvl="1" indent="-342900">
              <a:buSzPct val="100000"/>
              <a:buAutoNum type="alphaUcPeriod"/>
            </a:pPr>
            <a:r>
              <a:rPr lang="en-HK" sz="2000" dirty="0"/>
              <a:t>(1</a:t>
            </a:r>
            <a:r>
              <a:rPr lang="en-HK" sz="2000" dirty="0" smtClean="0"/>
              <a:t>) and (2) </a:t>
            </a:r>
            <a:r>
              <a:rPr lang="en-HK" sz="2000" dirty="0"/>
              <a:t>only</a:t>
            </a:r>
          </a:p>
          <a:p>
            <a:pPr marL="800100" lvl="1" indent="-342900">
              <a:buSzPct val="100000"/>
              <a:buAutoNum type="alphaUcPeriod"/>
            </a:pPr>
            <a:r>
              <a:rPr lang="en-HK" sz="2000" dirty="0" smtClean="0"/>
              <a:t>(1) and (3) </a:t>
            </a:r>
            <a:r>
              <a:rPr lang="en-HK" sz="2000" dirty="0"/>
              <a:t>only</a:t>
            </a:r>
          </a:p>
          <a:p>
            <a:pPr marL="800100" lvl="1" indent="-342900">
              <a:buSzPct val="100000"/>
              <a:buAutoNum type="alphaUcPeriod"/>
            </a:pPr>
            <a:r>
              <a:rPr lang="en-HK" sz="2000" dirty="0" smtClean="0"/>
              <a:t>(2) </a:t>
            </a:r>
            <a:r>
              <a:rPr lang="en-HK" sz="2000" dirty="0"/>
              <a:t>and (3) only</a:t>
            </a:r>
          </a:p>
          <a:p>
            <a:pPr marL="800100" lvl="1" indent="-342900">
              <a:buSzPct val="100000"/>
              <a:buAutoNum type="alphaUcPeriod"/>
            </a:pPr>
            <a:r>
              <a:rPr lang="en-HK" sz="2000" dirty="0" smtClean="0"/>
              <a:t>(1), (2</a:t>
            </a:r>
            <a:r>
              <a:rPr lang="en-HK" sz="2000" dirty="0"/>
              <a:t>) and (3</a:t>
            </a:r>
            <a:r>
              <a:rPr lang="en-HK" sz="2000" dirty="0" smtClean="0"/>
              <a:t>)</a:t>
            </a:r>
            <a:endParaRPr lang="en-US" sz="2000" dirty="0"/>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82</a:t>
            </a:fld>
            <a:endParaRPr lang="en-US" dirty="0"/>
          </a:p>
        </p:txBody>
      </p:sp>
      <p:sp>
        <p:nvSpPr>
          <p:cNvPr id="4" name="Text Placeholder 3"/>
          <p:cNvSpPr>
            <a:spLocks noGrp="1"/>
          </p:cNvSpPr>
          <p:nvPr>
            <p:ph type="body" sz="quarter" idx="13"/>
          </p:nvPr>
        </p:nvSpPr>
        <p:spPr/>
        <p:txBody>
          <a:bodyPr/>
          <a:lstStyle/>
          <a:p>
            <a:r>
              <a:rPr lang="en-HK" dirty="0" smtClean="0"/>
              <a:t>2.5</a:t>
            </a:r>
            <a:endParaRPr lang="en-US" dirty="0"/>
          </a:p>
        </p:txBody>
      </p:sp>
    </p:spTree>
    <p:extLst>
      <p:ext uri="{BB962C8B-B14F-4D97-AF65-F5344CB8AC3E}">
        <p14:creationId xmlns:p14="http://schemas.microsoft.com/office/powerpoint/2010/main" val="283919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
                                            <p:txEl>
                                              <p:pRg st="4" end="4"/>
                                            </p:txEl>
                                          </p:spTgt>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20801">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DSEPPT_EN_Kelie_20220801" id="{6A643CDD-4324-4CDB-A99F-5B6D7C095AD8}" vid="{541C2CAE-1C37-4D60-9199-C14FA6BC1DD0}"/>
    </a:ext>
  </a:extLst>
</a:theme>
</file>

<file path=docProps/app.xml><?xml version="1.0" encoding="utf-8"?>
<Properties xmlns="http://schemas.openxmlformats.org/officeDocument/2006/extended-properties" xmlns:vt="http://schemas.openxmlformats.org/officeDocument/2006/docPropsVTypes">
  <Template>Template</Template>
  <TotalTime>1704</TotalTime>
  <Words>3072</Words>
  <Application>Microsoft Office PowerPoint</Application>
  <PresentationFormat>寬螢幕</PresentationFormat>
  <Paragraphs>614</Paragraphs>
  <Slides>82</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82</vt:i4>
      </vt:variant>
    </vt:vector>
  </HeadingPairs>
  <TitlesOfParts>
    <vt:vector size="88" baseType="lpstr">
      <vt:lpstr>Noto Sans CJK KR Black</vt:lpstr>
      <vt:lpstr>Noto Sans CJK TC Regular</vt:lpstr>
      <vt:lpstr>Arial</vt:lpstr>
      <vt:lpstr>Myriad Pro</vt:lpstr>
      <vt:lpstr>Tw Cen MT</vt:lpstr>
      <vt:lpstr>DSEPPT_EN_Kelie_20220801</vt:lpstr>
      <vt:lpstr>Chapter 2 Computer Hardware</vt:lpstr>
      <vt:lpstr>PowerPoint 簡報</vt:lpstr>
      <vt:lpstr>System Unit</vt:lpstr>
      <vt:lpstr>System Unit</vt:lpstr>
      <vt:lpstr>Motherboard</vt:lpstr>
      <vt:lpstr>Motherboard</vt:lpstr>
      <vt:lpstr>Processor</vt:lpstr>
      <vt:lpstr>Processor</vt:lpstr>
      <vt:lpstr>Processor</vt:lpstr>
      <vt:lpstr>Processor</vt:lpstr>
      <vt:lpstr>Storage device</vt:lpstr>
      <vt:lpstr>Storage devices</vt:lpstr>
      <vt:lpstr>Power supply unit</vt:lpstr>
      <vt:lpstr>Bus</vt:lpstr>
      <vt:lpstr>Bus</vt:lpstr>
      <vt:lpstr>Bus</vt:lpstr>
      <vt:lpstr>Bus</vt:lpstr>
      <vt:lpstr>Bus</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Central Processing Unit</vt:lpstr>
      <vt:lpstr>Arithmetic logic unit</vt:lpstr>
      <vt:lpstr>Control unit</vt:lpstr>
      <vt:lpstr>Register</vt:lpstr>
      <vt:lpstr>PowerPoint 簡報</vt:lpstr>
      <vt:lpstr>Register</vt:lpstr>
      <vt:lpstr>Cache memory</vt:lpstr>
      <vt:lpstr>Machine cycle</vt:lpstr>
      <vt:lpstr>Machine cycle</vt:lpstr>
      <vt:lpstr>Machine cycle</vt:lpstr>
      <vt:lpstr>Specification of CPU</vt:lpstr>
      <vt:lpstr>Specification of CPU</vt:lpstr>
      <vt:lpstr>Specification of CPU</vt:lpstr>
      <vt:lpstr>Specification of CPU</vt:lpstr>
      <vt:lpstr>PowerPoint 簡報</vt:lpstr>
      <vt:lpstr>PowerPoint 簡報</vt:lpstr>
      <vt:lpstr>PowerPoint 簡報</vt:lpstr>
      <vt:lpstr>PowerPoint 簡報</vt:lpstr>
      <vt:lpstr>PowerPoint 簡報</vt:lpstr>
      <vt:lpstr>PowerPoint 簡報</vt:lpstr>
      <vt:lpstr>Storage Device</vt:lpstr>
      <vt:lpstr>Main memory</vt:lpstr>
      <vt:lpstr>Main memory</vt:lpstr>
      <vt:lpstr>Main memory</vt:lpstr>
      <vt:lpstr>PowerPoint 簡報</vt:lpstr>
      <vt:lpstr>PowerPoint 簡報</vt:lpstr>
      <vt:lpstr>PowerPoint 簡報</vt:lpstr>
      <vt:lpstr>PowerPoint 簡報</vt:lpstr>
      <vt:lpstr>PowerPoint 簡報</vt:lpstr>
      <vt:lpstr>PowerPoint 簡報</vt:lpstr>
      <vt:lpstr>Secondary storage</vt:lpstr>
      <vt:lpstr>Secondary storage</vt:lpstr>
      <vt:lpstr>Secondary storage</vt:lpstr>
      <vt:lpstr>Secondary storage</vt:lpstr>
      <vt:lpstr>Secondary storage</vt:lpstr>
      <vt:lpstr>Secondary storage</vt:lpstr>
      <vt:lpstr>Secondary storage</vt:lpstr>
      <vt:lpstr>Secondary storage</vt:lpstr>
      <vt:lpstr>Secondary storage</vt:lpstr>
      <vt:lpstr>Secondary storage</vt:lpstr>
      <vt:lpstr>Secondary storage</vt:lpstr>
      <vt:lpstr>Secondary storage</vt:lpstr>
      <vt:lpstr>Memory Hierarchy</vt:lpstr>
      <vt:lpstr>PowerPoint 簡報</vt:lpstr>
      <vt:lpstr>PowerPoint 簡報</vt:lpstr>
      <vt:lpstr>PowerPoint 簡報</vt:lpstr>
      <vt:lpstr>PowerPoint 簡報</vt:lpstr>
      <vt:lpstr>PowerPoint 簡報</vt:lpstr>
      <vt:lpstr>PowerPoint 簡報</vt:lpstr>
      <vt:lpstr>Type of Computers</vt:lpstr>
      <vt:lpstr>Latest Development of Hardware</vt:lpstr>
      <vt:lpstr>Latest Development of Hardware</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Computer Hardware</dc:title>
  <dc:creator>iClass</dc:creator>
  <cp:lastModifiedBy>Cherry</cp:lastModifiedBy>
  <cp:revision>63</cp:revision>
  <dcterms:created xsi:type="dcterms:W3CDTF">2022-08-19T03:38:49Z</dcterms:created>
  <dcterms:modified xsi:type="dcterms:W3CDTF">2022-08-29T04:34:17Z</dcterms:modified>
</cp:coreProperties>
</file>