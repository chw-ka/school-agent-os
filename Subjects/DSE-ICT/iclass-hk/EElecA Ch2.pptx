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3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9" r:id="rId41"/>
    <p:sldId id="296" r:id="rId42"/>
    <p:sldId id="298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6" r:id="rId58"/>
    <p:sldId id="317" r:id="rId59"/>
    <p:sldId id="318" r:id="rId60"/>
    <p:sldId id="314" r:id="rId61"/>
    <p:sldId id="319" r:id="rId62"/>
    <p:sldId id="315" r:id="rId63"/>
    <p:sldId id="320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A7D5"/>
    <a:srgbClr val="DA3F6F"/>
    <a:srgbClr val="9FBF6C"/>
    <a:srgbClr val="CD9A4E"/>
    <a:srgbClr val="6DBCDF"/>
    <a:srgbClr val="4746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5/10/2023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48DE-A3F5-99F1-2F85-222CF7FA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2</a:t>
            </a:r>
            <a:br>
              <a:rPr lang="en-GB" dirty="0"/>
            </a:br>
            <a:r>
              <a:rPr lang="en-GB" dirty="0"/>
              <a:t>SQL Operators and Functions</a:t>
            </a:r>
          </a:p>
        </p:txBody>
      </p:sp>
    </p:spTree>
    <p:extLst>
      <p:ext uri="{BB962C8B-B14F-4D97-AF65-F5344CB8AC3E}">
        <p14:creationId xmlns:p14="http://schemas.microsoft.com/office/powerpoint/2010/main" val="1334649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b="1" dirty="0">
                <a:solidFill>
                  <a:srgbClr val="47469D"/>
                </a:solidFill>
              </a:rPr>
              <a:t>operators</a:t>
            </a:r>
            <a:r>
              <a:rPr lang="en-US" dirty="0"/>
              <a:t> are used in an expression to help us modify or filter data in a database.</a:t>
            </a:r>
          </a:p>
          <a:p>
            <a:endParaRPr lang="en-US" dirty="0"/>
          </a:p>
          <a:p>
            <a:r>
              <a:rPr lang="en-US" dirty="0"/>
              <a:t>There are three types of operators, namely </a:t>
            </a:r>
            <a:r>
              <a:rPr lang="en-US" dirty="0">
                <a:solidFill>
                  <a:srgbClr val="DA3F6F"/>
                </a:solidFill>
              </a:rPr>
              <a:t>arithmetic operators</a:t>
            </a:r>
            <a:r>
              <a:rPr lang="en-US" dirty="0"/>
              <a:t>, </a:t>
            </a:r>
            <a:r>
              <a:rPr lang="en-US" dirty="0">
                <a:solidFill>
                  <a:srgbClr val="9FBF6C"/>
                </a:solidFill>
              </a:rPr>
              <a:t>comparison operators</a:t>
            </a:r>
            <a:r>
              <a:rPr lang="en-US" dirty="0"/>
              <a:t> and </a:t>
            </a:r>
            <a:r>
              <a:rPr lang="en-US" dirty="0">
                <a:solidFill>
                  <a:srgbClr val="3DA7D5"/>
                </a:solidFill>
              </a:rPr>
              <a:t>logical operators</a:t>
            </a:r>
            <a:r>
              <a:rPr lang="en-US" dirty="0"/>
              <a:t>. Sometimes, </a:t>
            </a:r>
            <a:r>
              <a:rPr lang="en-US" dirty="0">
                <a:solidFill>
                  <a:srgbClr val="CD9A4E"/>
                </a:solidFill>
              </a:rPr>
              <a:t>wildcards</a:t>
            </a:r>
            <a:r>
              <a:rPr lang="en-US" dirty="0"/>
              <a:t> are used in criteria.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00" y="4197213"/>
            <a:ext cx="9310340" cy="152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6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 list of arithmetic operators which are used in calculation.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228" y="2518962"/>
            <a:ext cx="3996139" cy="187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2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the table structure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student has a final score which is calculated using the formula below:</a:t>
            </a:r>
          </a:p>
          <a:p>
            <a:pPr algn="ctr"/>
            <a:r>
              <a:rPr lang="en-US" dirty="0"/>
              <a:t>Final score = score of the first test × 40% + score of the second test × 60%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58" y="2388503"/>
            <a:ext cx="4647333" cy="229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SQL statement below lists the final scores of all students in </a:t>
            </a:r>
            <a:r>
              <a:rPr lang="en-US" dirty="0">
                <a:solidFill>
                  <a:srgbClr val="3DA7D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SCORE1*0.4+SCORE2*0.6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3DA7D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12" y="2768190"/>
            <a:ext cx="10135590" cy="333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1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column name of final scores is an expression, </a:t>
            </a:r>
            <a:r>
              <a:rPr lang="en-US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SCORE1*0.4+SCORE2*0.6</a:t>
            </a:r>
            <a:r>
              <a:rPr lang="en-US" dirty="0"/>
              <a:t>. To make it more comprehensible, we may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/>
              <a:t> to give it an alias.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94" y="2674494"/>
            <a:ext cx="8145012" cy="8859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173" y="3560443"/>
            <a:ext cx="6786854" cy="2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2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teacher uses a table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n-US" dirty="0"/>
              <a:t> to store the body temperature records of all students. </a:t>
            </a:r>
          </a:p>
          <a:p>
            <a:r>
              <a:rPr lang="en-US" dirty="0"/>
              <a:t>Here is the table structure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68" y="2372882"/>
            <a:ext cx="7827909" cy="18162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68" y="4514289"/>
            <a:ext cx="6938447" cy="154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2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(a) The teacher wants to save student's body weight in pound instead of kilogram. Given that 1 kilogram equals 2.2 pound, write a SQL statement to update the existing data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(b) The teacher tries to retrieve the names and the body temperatures of all students. However, they wants the body temperature to be shown in degree Celsius (°C). </a:t>
            </a:r>
            <a:br>
              <a:rPr lang="en-US" dirty="0"/>
            </a:br>
            <a:r>
              <a:rPr lang="en-US" dirty="0"/>
              <a:t>Given that °C = (°F – 32) × 5 ÷ 9, write a SQL statement to retrieve the required data.</a:t>
            </a:r>
          </a:p>
          <a:p>
            <a:endParaRPr lang="en-US" dirty="0"/>
          </a:p>
          <a:p>
            <a:r>
              <a:rPr lang="en-US" dirty="0"/>
              <a:t>(c) Due to system errors, some records have negative SID as their body weight, e.g. if the SID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10522</a:t>
            </a:r>
            <a:r>
              <a:rPr lang="en-US" dirty="0"/>
              <a:t>, the body weight would be set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-10522</a:t>
            </a:r>
            <a:r>
              <a:rPr lang="en-US" dirty="0"/>
              <a:t> incorrectly. Write a SQL statement to delete such records.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152869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DA7D5"/>
                </a:solidFill>
              </a:rPr>
              <a:t>◣ Solution</a:t>
            </a:r>
          </a:p>
          <a:p>
            <a:r>
              <a:rPr lang="en-US" dirty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TEMP SET WEIGHT = WEIGHT * 2.2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(DEGREE - 32) * 5 / 9 FROM TEMP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TEMP WHERE -SID = WEIGHT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55351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Finish Checkpoint 2.1 on P. 64 of your textbook.</a:t>
            </a:r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EXP SET ACCEL = DIST * 2 / TTIME / TTIME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RID, ACCEL * TTIME FROM EXP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RID, FORCE / ACCEL AS MASS FROM EXP ORDER BY MASS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5895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 list of comparison operators which are used in criteria.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649" y="2483493"/>
            <a:ext cx="430590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 list of basic logical operators which are used in logical operation.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69" y="2344942"/>
            <a:ext cx="10169835" cy="13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80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shows students who failed the first test.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SCORE1, SCORE2 FROM STUDENT WHERE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 &lt; 60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3162010"/>
            <a:ext cx="8238093" cy="31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47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shows the students who passed the first test. 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SCORE1, SCORE2 FROM STUDENT WHERE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SCORE1 &lt; 60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925" y="3169174"/>
            <a:ext cx="8211846" cy="312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5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shows students who failed the second test. 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SCORE1, SCORE2 FROM STUDENT WHERE </a:t>
            </a:r>
            <a:r>
              <a:rPr lang="en-US" b="1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SCORE2 &lt; 60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3073690"/>
            <a:ext cx="7942015" cy="30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72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shows the students who failed both tests. </a:t>
            </a:r>
          </a:p>
          <a:p>
            <a:pPr algn="ctr"/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SCORE1, SCORE2 FROM STUDENT WHERE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 &lt; 60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b="1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SCORE2 &lt; 60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3261534"/>
            <a:ext cx="7998218" cy="30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0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shows the students who failed at least one of both tests.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NAME, SCORE1, SCORE2 FROM STUDENT WHERE </a:t>
            </a:r>
            <a:r>
              <a:rPr lang="en-US" sz="1800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 &lt; 60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OR </a:t>
            </a:r>
            <a:r>
              <a:rPr lang="en-US" sz="1800" b="1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SCORE2 &lt; 60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243" y="3144274"/>
            <a:ext cx="8100714" cy="306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72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Similar to arithmetic operators, logical operators have an order of operations, which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&gt; AND &gt; OR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CLASS = '1B' AND SCORE1 &lt; 60 OR SCORE2 &lt; 60</a:t>
            </a:r>
          </a:p>
          <a:p>
            <a:pPr algn="ctr"/>
            <a:r>
              <a:rPr lang="en-US" dirty="0"/>
              <a:t>is equivalent to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((NOT CLASS = '1B') AND SCORE1 &lt; 60) OR SCORE2 &lt; 60</a:t>
            </a:r>
          </a:p>
          <a:p>
            <a:pPr algn="ctr"/>
            <a:r>
              <a:rPr lang="en-US" dirty="0"/>
              <a:t>but not equivalent to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(CLASS = '1B' AND (SCORE1 &lt; 60 OR SCORE2 &lt; 60))</a:t>
            </a:r>
          </a:p>
        </p:txBody>
      </p:sp>
    </p:spTree>
    <p:extLst>
      <p:ext uri="{BB962C8B-B14F-4D97-AF65-F5344CB8AC3E}">
        <p14:creationId xmlns:p14="http://schemas.microsoft.com/office/powerpoint/2010/main" val="1993046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is used to select more than one value. The following SQL statement list the students from class 1A, 1B and 2C.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CLASS IN (</a:t>
            </a:r>
            <a:r>
              <a:rPr lang="en-US" dirty="0">
                <a:solidFill>
                  <a:srgbClr val="6DBCD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'1A'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'1B'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'2C'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930" y="3181650"/>
            <a:ext cx="7345120" cy="310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15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BETWEEN ... AND</a:t>
            </a:r>
            <a:r>
              <a:rPr lang="en-US" dirty="0"/>
              <a:t> is used to select values within a specific range inclusively. The following SQL statement list the students whose date of birth is between 2013-08-23 and 2013-09-22 (including 2013-08-23 and 2013-09-22). 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DOB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 '2013-08-23' AND '2013-09-22'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190" y="3542015"/>
            <a:ext cx="6586753" cy="287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01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dirty="0"/>
              <a:t> is used to select character strings that follow a specific pattern. It is usually used with wildcards.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Note that this operator is case insensitive too, meaning that both 'Apple' and 'apple' match the pattern '</a:t>
            </a:r>
            <a:r>
              <a:rPr lang="en-US" dirty="0" err="1"/>
              <a:t>appl</a:t>
            </a:r>
            <a:r>
              <a:rPr lang="en-US" dirty="0"/>
              <a:t>_'.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79" y="2536683"/>
            <a:ext cx="8325041" cy="114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94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list the students whose names contain </a:t>
            </a:r>
            <a:r>
              <a:rPr lang="en-US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</a:t>
            </a:r>
            <a:r>
              <a:rPr lang="en-US" dirty="0"/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NAME </a:t>
            </a:r>
            <a:r>
              <a:rPr lang="en-US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 '%an%'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2722787"/>
            <a:ext cx="8356996" cy="35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70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list the students whose names have a length of three and end </a:t>
            </a:r>
            <a:br>
              <a:rPr lang="en-US" dirty="0"/>
            </a:br>
            <a:r>
              <a:rPr lang="en-US" dirty="0"/>
              <a:t>with </a:t>
            </a:r>
            <a:r>
              <a:rPr lang="en-US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/>
              <a:t>. 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NAME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 '__n'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852" y="3132073"/>
            <a:ext cx="7445495" cy="3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18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also use both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/>
              <a:t> at the same time.</a:t>
            </a: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NAME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 '__a%'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393" y="3103132"/>
            <a:ext cx="8100413" cy="32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44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 NULL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 NOT NULL</a:t>
            </a:r>
            <a:r>
              <a:rPr lang="en-US" dirty="0"/>
              <a:t> to distinguish between the records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values and those without. The following SQL statement finds students who are absent in the first test.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SCORE1 </a:t>
            </a:r>
            <a:r>
              <a:rPr lang="en-US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NULL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33" y="3104506"/>
            <a:ext cx="7861133" cy="32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15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SQL statement finds students who are present in the first test.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WHERE SCORE1 </a:t>
            </a:r>
            <a:r>
              <a:rPr lang="en-US" b="1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NOT NULL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Note that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/>
              <a:t> is not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2687555"/>
            <a:ext cx="7134551" cy="29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82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manager created a table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 to store the data of the employees in their company.</a:t>
            </a:r>
          </a:p>
          <a:p>
            <a:r>
              <a:rPr lang="en-US" dirty="0"/>
              <a:t>Here is the table structure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86" y="2696541"/>
            <a:ext cx="10334105" cy="354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08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(a) Write a SQL statement to list the names of the employees whose date of birth is before 1966-01-01, or those who have worked for the company for at least 20 years.</a:t>
            </a:r>
          </a:p>
          <a:p>
            <a:endParaRPr lang="en-US" dirty="0"/>
          </a:p>
          <a:p>
            <a:r>
              <a:rPr lang="en-US" dirty="0"/>
              <a:t>(b) Write a SQL statement to list the identity codes of the employees who do not belong to team D and have a room number between 202 and 208.</a:t>
            </a:r>
          </a:p>
          <a:p>
            <a:endParaRPr lang="en-US" dirty="0"/>
          </a:p>
          <a:p>
            <a:r>
              <a:rPr lang="en-US" dirty="0"/>
              <a:t>(c) Write a SQL statement to list the identity codes and dates of birth of the employees who belong to team A, C or E and have more than 10 leaves.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2043953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Write a SQL statement to list the team names of the employees whose identity code have a length of six, start with A and end with X. Duplicated teams should not be shown.</a:t>
            </a:r>
          </a:p>
          <a:p>
            <a:endParaRPr lang="en-US" dirty="0"/>
          </a:p>
          <a:p>
            <a:r>
              <a:rPr lang="en-US" dirty="0"/>
              <a:t>(e) Assume that every name stored in ENAME starts with the surname of the employee. Write a SQL statement to list the names of the employees whose surname is not Ng.</a:t>
            </a:r>
          </a:p>
          <a:p>
            <a:endParaRPr lang="en-US" dirty="0"/>
          </a:p>
          <a:p>
            <a:r>
              <a:rPr lang="en-US" dirty="0"/>
              <a:t>(f) Write a SQL statement to find the names of the employees who are not assigned to a team.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729935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3DA7D5"/>
                </a:solidFill>
              </a:rPr>
              <a:t>◣ Solution</a:t>
            </a:r>
          </a:p>
          <a:p>
            <a:r>
              <a:rPr lang="en-US" dirty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 FROM EMPLOYEE WHERE DOB &lt; '1966-01-01' OR TENURE &gt;= 20</a:t>
            </a:r>
          </a:p>
          <a:p>
            <a:endParaRPr lang="en-US" dirty="0"/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EID FROM EMPLOYEE WHERE TEAM &lt;&gt; 'D' AND ROOM BETWEEN 202 AND 208</a:t>
            </a:r>
          </a:p>
          <a:p>
            <a:endParaRPr lang="en-US" dirty="0"/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EID, DOB FROM EMPLOYEE WHERE TEAM IN ('A', 'C', 'E') AND LEAVE &gt; 10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343929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DISTINCT TEAM FROM EMPLOYEE WHERE EID LIKE 'A____X‘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 FROM EMPLOYEE WHERE NOT ENAME LIKE 'Ng %‘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(f)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 FROM EMPLOYEE WHERE TEAM IS NULL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727666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HK" dirty="0"/>
              <a:t>Finish Checkpoint 2.2 on P. 76 of your textbook.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1.	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 WHERE DOB &gt;= '2013-05-05'</a:t>
            </a:r>
          </a:p>
          <a:p>
            <a:r>
              <a:rPr lang="en-US" dirty="0">
                <a:solidFill>
                  <a:srgbClr val="FF0000"/>
                </a:solidFill>
              </a:rPr>
              <a:t>	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 WHERE SCORE1 &lt; 60 OR SCORE1 &gt; 80</a:t>
            </a:r>
          </a:p>
          <a:p>
            <a:r>
              <a:rPr lang="en-US" dirty="0">
                <a:solidFill>
                  <a:srgbClr val="FF0000"/>
                </a:solidFill>
              </a:rPr>
              <a:t>	(c)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 WHERE NOT CLASS IN ('1B', '2C')</a:t>
            </a:r>
          </a:p>
          <a:p>
            <a:r>
              <a:rPr lang="en-US" dirty="0">
                <a:solidFill>
                  <a:srgbClr val="FF0000"/>
                </a:solidFill>
              </a:rPr>
              <a:t>	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 WHERE SCORE2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BETWEEN SCORE1 AND SCORE3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2.	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 FROM BK WHERE BN LIKE 'the%'</a:t>
            </a:r>
          </a:p>
          <a:p>
            <a:r>
              <a:rPr lang="en-US" dirty="0">
                <a:solidFill>
                  <a:srgbClr val="FF0000"/>
                </a:solidFill>
              </a:rPr>
              <a:t>	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 FROM BK WHERE BN LIKE '%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%'</a:t>
            </a:r>
          </a:p>
          <a:p>
            <a:r>
              <a:rPr lang="en-US" dirty="0">
                <a:solidFill>
                  <a:srgbClr val="FF0000"/>
                </a:solidFill>
              </a:rPr>
              <a:t>	(c)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 FROM BK WHERE BN LIKE '%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t%t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%'</a:t>
            </a:r>
          </a:p>
          <a:p>
            <a:r>
              <a:rPr lang="en-US" dirty="0">
                <a:solidFill>
                  <a:srgbClr val="FF0000"/>
                </a:solidFill>
              </a:rPr>
              <a:t>	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 FROM BK WHERE BN LIKE '%t_'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405002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b="1" dirty="0">
                <a:solidFill>
                  <a:srgbClr val="47469D"/>
                </a:solidFill>
              </a:rPr>
              <a:t>functions</a:t>
            </a:r>
            <a:r>
              <a:rPr lang="en-US" dirty="0"/>
              <a:t> are used in an expression to help us </a:t>
            </a:r>
            <a:r>
              <a:rPr lang="en-US" dirty="0" err="1"/>
              <a:t>analyse</a:t>
            </a:r>
            <a:r>
              <a:rPr lang="en-US" dirty="0"/>
              <a:t> data. See the SQL statement below.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2367171"/>
            <a:ext cx="8106283" cy="7961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67" y="3287076"/>
            <a:ext cx="8388916" cy="30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71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 list of functions that are related to character strings.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42" y="2472619"/>
            <a:ext cx="3230094" cy="36163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17" y="2446934"/>
            <a:ext cx="6782321" cy="36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44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 list of functions that are related to dates and times.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46" y="2606607"/>
            <a:ext cx="7666308" cy="285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56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administrator of an e-learning platform uses a table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dirty="0"/>
              <a:t> to store the data of the student users.</a:t>
            </a:r>
          </a:p>
          <a:p>
            <a:endParaRPr lang="en-US" dirty="0"/>
          </a:p>
          <a:p>
            <a:r>
              <a:rPr lang="en-US" dirty="0"/>
              <a:t>Here is the table structure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65" y="3301409"/>
            <a:ext cx="9183548" cy="23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69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(a) The administrator finds that some usernames contain unwanted whitespaces at the beginning and the end. Write a SQL statement to update the usernames and remove all these whitespaces.</a:t>
            </a:r>
          </a:p>
          <a:p>
            <a:endParaRPr lang="en-US" dirty="0"/>
          </a:p>
          <a:p>
            <a:r>
              <a:rPr lang="en-US" dirty="0"/>
              <a:t>(b) Write a SQL statement to display a list of usernames sorted by the month of birth of each user in ascending order.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59" y="1631178"/>
            <a:ext cx="7057281" cy="155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87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(c) Write a SQL statement to display a list of identity numbers where the users' dates of birth are between 08-23 to 09-22.</a:t>
            </a:r>
          </a:p>
          <a:p>
            <a:endParaRPr lang="en-US" dirty="0"/>
          </a:p>
          <a:p>
            <a:r>
              <a:rPr lang="en-US" dirty="0"/>
              <a:t>(d) Some students failed to pass the exam in the previous school year. These students repeat their grades in this school year. Write a SQL statement to list the usernames of these students.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59" y="1631177"/>
            <a:ext cx="7057281" cy="155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0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(e) Due to transcription error, the phone numbers of some users have missing digits. Write a SQL statement to list the identity numbers and the phone numbers of these users.</a:t>
            </a:r>
          </a:p>
          <a:p>
            <a:endParaRPr lang="en-US" dirty="0"/>
          </a:p>
          <a:p>
            <a:r>
              <a:rPr lang="en-US" dirty="0"/>
              <a:t>(f) Write a SQL statement to list the last four characters of the identity numbers of all users.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59" y="1631177"/>
            <a:ext cx="7057281" cy="155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091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DA7D5"/>
                </a:solidFill>
              </a:rPr>
              <a:t>◣ Solution</a:t>
            </a:r>
          </a:p>
          <a:p>
            <a:r>
              <a:rPr lang="en-US" dirty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USER SET USERNAME = TRIM(USERNAME)</a:t>
            </a:r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USERNAME FROM USER ORDER BY MONTH(DOB) [ASC]</a:t>
            </a:r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UID FROM USER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MONTH(DOB)*100+DAY(DOB) BETWEEN 823 AND 922</a:t>
            </a:r>
          </a:p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USERNAME FROM USER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MID(CLASS, 1, 1) = MID(OLDCLASS, 1, 1)</a:t>
            </a:r>
          </a:p>
          <a:p>
            <a:r>
              <a:rPr lang="en-US" dirty="0"/>
              <a:t>(e)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UID, PHONE FROM USER WHERE LENGTH(PHONE) &lt; 8</a:t>
            </a:r>
          </a:p>
          <a:p>
            <a:r>
              <a:rPr lang="en-US" dirty="0"/>
              <a:t>(f)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MID(UID, LENGTH(UID) - 3, 4) FROM USER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1859996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K" dirty="0"/>
              <a:t>Finish Checkpoint 2.3 on P. 80 of your textbook.</a:t>
            </a:r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FNAME FROM FILM WHERE YEAR(RELEASE) IN (2012, 2016, 2021)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FNAME FROM FILM ORDER BY LENGTH(FNAME)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MID(FID, LENGTH(FID)-2, 2) FROM FILM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LENGTH(FNAME) - LENGTH(TRIM(FNAME)) FROM FILM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FID = '2468‘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FILM SET FNAME = MID(UPPER(FNAME), 1, LENGTH(FNAME)-9)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MID(FNAME, LENGTH(FNAME)-8, 9) = 'uppercase'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356469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47469D"/>
                </a:solidFill>
              </a:rPr>
              <a:t>Aggregation functions</a:t>
            </a:r>
            <a:r>
              <a:rPr lang="en-US" dirty="0"/>
              <a:t> help us </a:t>
            </a:r>
            <a:r>
              <a:rPr lang="en-US" dirty="0" err="1"/>
              <a:t>summarise</a:t>
            </a:r>
            <a:r>
              <a:rPr lang="en-US" dirty="0"/>
              <a:t> data.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following table is used as an example: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27" y="3052655"/>
            <a:ext cx="2738778" cy="17589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174" y="3052655"/>
            <a:ext cx="6636167" cy="27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10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>
                <a:solidFill>
                  <a:srgbClr val="47469D"/>
                </a:solidFill>
              </a:rPr>
              <a:t>Aggregation functions</a:t>
            </a:r>
            <a:r>
              <a:rPr lang="en-US"/>
              <a:t> help us summarise data. </a:t>
            </a:r>
            <a:br>
              <a:rPr lang="en-US"/>
            </a:br>
            <a:br>
              <a:rPr lang="en-US"/>
            </a:br>
            <a:r>
              <a:rPr lang="en-US"/>
              <a:t>The following table is used as an example: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00" y="3310150"/>
            <a:ext cx="6310800" cy="1518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87" y="3069739"/>
            <a:ext cx="2738778" cy="175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63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returns the total number of records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COUNT(*)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47" y="3107258"/>
            <a:ext cx="7578047" cy="318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39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add a </a:t>
            </a:r>
            <a:r>
              <a:rPr lang="en-US" dirty="0">
                <a:solidFill>
                  <a:srgbClr val="3DA7D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dirty="0"/>
              <a:t> clause to </a:t>
            </a:r>
            <a:r>
              <a:rPr lang="en-US" dirty="0" err="1"/>
              <a:t>categorise</a:t>
            </a:r>
            <a:r>
              <a:rPr lang="en-US" dirty="0"/>
              <a:t> the data before </a:t>
            </a:r>
            <a:r>
              <a:rPr lang="en-US" dirty="0" err="1"/>
              <a:t>summarisation</a:t>
            </a:r>
            <a:r>
              <a:rPr lang="en-US" dirty="0"/>
              <a:t>. </a:t>
            </a:r>
          </a:p>
          <a:p>
            <a:pPr algn="ctr"/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CLASS,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STUDENT </a:t>
            </a:r>
            <a:r>
              <a:rPr lang="en-US" dirty="0">
                <a:solidFill>
                  <a:srgbClr val="3DA7D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 CLASS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108" y="3130399"/>
            <a:ext cx="8211222" cy="307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55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also add a HAVING clause to filter the categories.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above SQL statement </a:t>
            </a:r>
            <a:r>
              <a:rPr lang="en-US" dirty="0">
                <a:solidFill>
                  <a:srgbClr val="DA3F6F"/>
                </a:solidFill>
              </a:rPr>
              <a:t>counts the total number of students</a:t>
            </a:r>
            <a:r>
              <a:rPr lang="en-US" dirty="0"/>
              <a:t> </a:t>
            </a:r>
            <a:r>
              <a:rPr lang="en-US" dirty="0">
                <a:solidFill>
                  <a:srgbClr val="3DA7D5"/>
                </a:solidFill>
              </a:rPr>
              <a:t>in each class</a:t>
            </a:r>
            <a:r>
              <a:rPr lang="en-US" dirty="0"/>
              <a:t>. However, </a:t>
            </a:r>
            <a:r>
              <a:rPr lang="en-US" dirty="0">
                <a:solidFill>
                  <a:srgbClr val="9FBF6C"/>
                </a:solidFill>
              </a:rPr>
              <a:t>only class with more than one student is shown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530" y="2220590"/>
            <a:ext cx="5318140" cy="12972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530" y="4330942"/>
            <a:ext cx="4499506" cy="210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21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</a:t>
            </a:r>
            <a:r>
              <a:rPr lang="en-US" dirty="0">
                <a:solidFill>
                  <a:srgbClr val="DA3F6F"/>
                </a:solidFill>
              </a:rPr>
              <a:t>counts the total number of students</a:t>
            </a:r>
            <a:r>
              <a:rPr lang="en-US" dirty="0"/>
              <a:t> </a:t>
            </a:r>
            <a:r>
              <a:rPr lang="en-US" dirty="0">
                <a:solidFill>
                  <a:srgbClr val="CD9A4E"/>
                </a:solidFill>
              </a:rPr>
              <a:t>who passed the first test</a:t>
            </a:r>
            <a:r>
              <a:rPr lang="en-US" dirty="0"/>
              <a:t> </a:t>
            </a:r>
            <a:r>
              <a:rPr lang="en-US" dirty="0">
                <a:solidFill>
                  <a:srgbClr val="3DA7D5"/>
                </a:solidFill>
              </a:rPr>
              <a:t>in each class</a:t>
            </a:r>
            <a:r>
              <a:rPr lang="en-US" dirty="0"/>
              <a:t>. However, </a:t>
            </a:r>
            <a:r>
              <a:rPr lang="en-US" dirty="0">
                <a:solidFill>
                  <a:srgbClr val="9FBF6C"/>
                </a:solidFill>
              </a:rPr>
              <a:t>only class with more than one student is shown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1" y="2960640"/>
            <a:ext cx="6163190" cy="15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71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07" y="1623600"/>
            <a:ext cx="7126888" cy="45404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23" y="3194236"/>
            <a:ext cx="4304247" cy="12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73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use </a:t>
            </a:r>
            <a:r>
              <a:rPr lang="en-US" dirty="0">
                <a:solidFill>
                  <a:srgbClr val="6DBCD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dirty="0"/>
              <a:t> to </a:t>
            </a:r>
            <a:r>
              <a:rPr lang="en-US" dirty="0" err="1"/>
              <a:t>categorise</a:t>
            </a:r>
            <a:r>
              <a:rPr lang="en-US" dirty="0"/>
              <a:t> data based on multiple fields. To better demonstrate the </a:t>
            </a:r>
            <a:r>
              <a:rPr lang="en-US" dirty="0" err="1"/>
              <a:t>categorisation</a:t>
            </a:r>
            <a:r>
              <a:rPr lang="en-US" dirty="0"/>
              <a:t>, the following data is used.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following SQL statement counts the total number of male and female students in each class.</a:t>
            </a:r>
            <a:br>
              <a:rPr lang="en-US" dirty="0"/>
            </a:br>
            <a:endParaRPr lang="en-US" dirty="0"/>
          </a:p>
          <a:p>
            <a:pPr lvl="3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CLASS, SEX, COUNT(*) FROM STUDENT 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sz="2000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ORDER BY CLASS</a:t>
            </a:r>
          </a:p>
        </p:txBody>
      </p:sp>
    </p:spTree>
    <p:extLst>
      <p:ext uri="{BB962C8B-B14F-4D97-AF65-F5344CB8AC3E}">
        <p14:creationId xmlns:p14="http://schemas.microsoft.com/office/powerpoint/2010/main" val="1269689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3"/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CLASS, SEX, COUNT(*) FROM STUDENT 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sz="2000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CD9A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ORDER BY CLASS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278" y="3188720"/>
            <a:ext cx="8334623" cy="310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24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COUNT(&lt;expression&gt;) counts the number of records. We often input * as the &lt;expression&gt; as the expression itself is usually irrelevant, unless NULL values has to be excluded.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following SQL statement counts the total number of students born in different years.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YEAR(DOB),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STUDENT GROUP BY </a:t>
            </a:r>
            <a:r>
              <a:rPr lang="en-US" dirty="0">
                <a:solidFill>
                  <a:srgbClr val="3DA7D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YEAR(DOB)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63" y="3820784"/>
            <a:ext cx="6809498" cy="257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810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MAX(&lt;expression&gt;) and MIN(&lt;expression&gt;) returns the largest and the smallest values in a set of values respectively.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following SQL statement finds the highest and the lowest score of all students.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>
                <a:solidFill>
                  <a:srgbClr val="9FBF6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21" y="3645712"/>
            <a:ext cx="7510118" cy="274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805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SUM(&lt;expression&gt;) calculates the sum of values.</a:t>
            </a:r>
          </a:p>
          <a:p>
            <a:r>
              <a:rPr lang="en-US" dirty="0"/>
              <a:t>The following SQL statement calculates the sum of scores of each class.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CLASS,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GROUP BY CLASS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885" y="3142878"/>
            <a:ext cx="8046577" cy="32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97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AVG(&lt;expression&gt;)</a:t>
            </a:r>
            <a:r>
              <a:rPr lang="en-US" dirty="0"/>
              <a:t> calculates the average values. </a:t>
            </a:r>
          </a:p>
          <a:p>
            <a:r>
              <a:rPr lang="en-US" dirty="0"/>
              <a:t>The following SQL statement calculates the average scores of each class.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CLASS, 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AVG(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>
                <a:solidFill>
                  <a:srgbClr val="DA3F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GROUP BY CLASS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43" y="3200865"/>
            <a:ext cx="7858432" cy="31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194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manager of a theme park uses two tables, MEMBER and MTYPE to manage the membership of the theme park.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21" y="2338733"/>
            <a:ext cx="8621352" cy="2419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921" y="4910387"/>
            <a:ext cx="8621352" cy="118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83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(a) What is the primary key and the foreign key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Here is the data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MTYPE</a:t>
            </a:r>
            <a:r>
              <a:rPr lang="en-US" dirty="0"/>
              <a:t>. Write SQL statements to help the manager finish </a:t>
            </a:r>
            <a:br>
              <a:rPr lang="en-US" dirty="0"/>
            </a:br>
            <a:r>
              <a:rPr lang="en-US" dirty="0"/>
              <a:t>the following tasks.</a:t>
            </a:r>
          </a:p>
          <a:p>
            <a:endParaRPr lang="en-US" dirty="0"/>
          </a:p>
          <a:p>
            <a:r>
              <a:rPr lang="en-US" dirty="0"/>
              <a:t>(b) The manager wants to upgrade all Gold members who registered in or before 2018 to Platinum members.</a:t>
            </a:r>
          </a:p>
          <a:p>
            <a:endParaRPr lang="en-US" dirty="0"/>
          </a:p>
          <a:p>
            <a:r>
              <a:rPr lang="en-US" dirty="0"/>
              <a:t>(c) Today is the 8-year anniversary of the theme park. The manager wants to celebrate the anniversary by giving 1000 credits to members with at least an 8 in the months or days of their dates of birth, e.g. those who are born on 2010-08-20 or 2011-02-28.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58" y="2291385"/>
            <a:ext cx="1974987" cy="145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468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The manager wants to </a:t>
            </a:r>
            <a:r>
              <a:rPr lang="en-US" dirty="0" err="1"/>
              <a:t>analyse</a:t>
            </a:r>
            <a:r>
              <a:rPr lang="en-US" dirty="0"/>
              <a:t> the member data by listing the average amount of credit for members of each gender in each member type.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(e) The manager wants to know the registration date of the most recently registered member in each member type.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(f) The manager wants to know the number of Bronze members registered in each month. The year is not concerned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1766493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DA7D5"/>
                </a:solidFill>
              </a:rPr>
              <a:t>◣ Solution</a:t>
            </a:r>
          </a:p>
          <a:p>
            <a:r>
              <a:rPr lang="en-US" dirty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MEMID</a:t>
            </a:r>
            <a:r>
              <a:rPr lang="en-US" dirty="0"/>
              <a:t> is the primary key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TYPEID</a:t>
            </a:r>
            <a:r>
              <a:rPr lang="en-US" dirty="0"/>
              <a:t> is the foreign key.</a:t>
            </a:r>
          </a:p>
          <a:p>
            <a:endParaRPr lang="en-US" dirty="0"/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MEMBER SET TYPEID = 3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TYPEID = 2 AND YEAR(REGDATE) &lt;= 2018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MEMBER SET CREDIT = CREDIT + 1000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MONTH(DOB) = 8 OR DAY(DOB) IN (8, 18, 28)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20660448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TYPEID, SEX, AVG(CREDIT) FROM MEMBER GROUP BY TYPEID, SEX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TYPEID, MAX(REGDATE) FROM MEMBER GROUP BY TYPEID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(f)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MONTH(REGDATE), COUNT(*) FROM MEMBER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TYPEID = 0 GROUP BY MONTH(REGDATE)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42460931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Finish Checkpoint 2.4 on P. 93 of your textbook.</a:t>
            </a:r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CAT+SN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MAX(LENGTH(PNAME)) FROM PRODUCT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PRODUCT MODIFY PNAME VARCHAR(80)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265886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PRODUCT SET CAT = TRIM(LOWER(CAT))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PNAME, MIN(COST) FROM PRODUCT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STOCK &gt; 50 GROUP BY PNAME HAVING MIN(COST) &gt;= 10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(f)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WAREHOUSE, SUM(COST * STOCK) FROM PRODUCT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GROUP BY WAREHOUSE HAVING SUM(COST * STOCK) &gt; 10000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372255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5342" y="1402037"/>
            <a:ext cx="10515600" cy="4860000"/>
          </a:xfrm>
        </p:spPr>
        <p:txBody>
          <a:bodyPr/>
          <a:lstStyle/>
          <a:p>
            <a:r>
              <a:rPr lang="en-HK" dirty="0"/>
              <a:t>Finish Checkpoint 2.1 on P. 95 of your textbook.</a:t>
            </a:r>
          </a:p>
          <a:p>
            <a:r>
              <a:rPr lang="en-HK" dirty="0"/>
              <a:t>1.</a:t>
            </a:r>
          </a:p>
          <a:p>
            <a:endParaRPr lang="en-HK" dirty="0"/>
          </a:p>
          <a:p>
            <a:endParaRPr lang="en-HK" dirty="0"/>
          </a:p>
          <a:p>
            <a:r>
              <a:rPr lang="en-HK" dirty="0"/>
              <a:t>2. </a:t>
            </a:r>
          </a:p>
          <a:p>
            <a:endParaRPr lang="en-HK" dirty="0"/>
          </a:p>
          <a:p>
            <a:endParaRPr lang="en-HK" dirty="0"/>
          </a:p>
          <a:p>
            <a:r>
              <a:rPr lang="en-HK" dirty="0"/>
              <a:t>3.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74" y="1942515"/>
            <a:ext cx="5977474" cy="13703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709"/>
          <a:stretch/>
        </p:blipFill>
        <p:spPr>
          <a:xfrm>
            <a:off x="1237974" y="3466407"/>
            <a:ext cx="6596540" cy="1182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34" t="1329" r="438" b="2247"/>
          <a:stretch/>
        </p:blipFill>
        <p:spPr>
          <a:xfrm>
            <a:off x="1246909" y="4912822"/>
            <a:ext cx="6558742" cy="12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0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2.1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84" y="1528518"/>
            <a:ext cx="7030431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423</TotalTime>
  <Words>3004</Words>
  <Application>Microsoft Office PowerPoint</Application>
  <PresentationFormat>Widescreen</PresentationFormat>
  <Paragraphs>390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Courier New</vt:lpstr>
      <vt:lpstr>Myriad Pro</vt:lpstr>
      <vt:lpstr>Tw Cen MT</vt:lpstr>
      <vt:lpstr>DSEPPT_EN_Kelie_20230427</vt:lpstr>
      <vt:lpstr>Chapter 2 SQL Operators and Functions</vt:lpstr>
      <vt:lpstr>SQL Operator</vt:lpstr>
      <vt:lpstr>Arithmetic operator</vt:lpstr>
      <vt:lpstr>Arithmetic operator</vt:lpstr>
      <vt:lpstr>Arithmetic operator</vt:lpstr>
      <vt:lpstr>Arithmetic operator</vt:lpstr>
      <vt:lpstr>PowerPoint Presentation</vt:lpstr>
      <vt:lpstr>PowerPoint Presentation</vt:lpstr>
      <vt:lpstr>PowerPoint Presentation</vt:lpstr>
      <vt:lpstr>PowerPoint Presentation</vt:lpstr>
      <vt:lpstr>Comparison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Logical operator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</vt:lpstr>
      <vt:lpstr>Text function</vt:lpstr>
      <vt:lpstr>Time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Aggregation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SQL Operators and Functions</dc:title>
  <dc:creator>iClass</dc:creator>
  <cp:lastModifiedBy>Kelie Leung</cp:lastModifiedBy>
  <cp:revision>28</cp:revision>
  <dcterms:created xsi:type="dcterms:W3CDTF">2023-05-05T02:09:26Z</dcterms:created>
  <dcterms:modified xsi:type="dcterms:W3CDTF">2023-05-10T06:10:36Z</dcterms:modified>
</cp:coreProperties>
</file>