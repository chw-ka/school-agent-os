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8" r:id="rId20"/>
    <p:sldId id="279" r:id="rId21"/>
    <p:sldId id="275" r:id="rId22"/>
    <p:sldId id="276"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5A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lec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7" name="Picture 6">
            <a:extLst>
              <a:ext uri="{FF2B5EF4-FFF2-40B4-BE49-F238E27FC236}">
                <a16:creationId xmlns:a16="http://schemas.microsoft.com/office/drawing/2014/main" id="{51C75235-0293-8136-6524-0EEAD91BBFA5}"/>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1813564" cy="505969"/>
          </a:xfrm>
          <a:prstGeom prst="rect">
            <a:avLst/>
          </a:prstGeom>
        </p:spPr>
      </p:pic>
      <p:pic>
        <p:nvPicPr>
          <p:cNvPr id="3" name="Picture 2">
            <a:extLst>
              <a:ext uri="{FF2B5EF4-FFF2-40B4-BE49-F238E27FC236}">
                <a16:creationId xmlns:a16="http://schemas.microsoft.com/office/drawing/2014/main" id="{BF7CD102-4498-ACB1-C72C-8082CD03250A}"/>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95672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lec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348E981E-C35F-E8F8-DE42-4B0CC68BF4A0}"/>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864872" cy="505969"/>
          </a:xfrm>
          <a:prstGeom prst="rect">
            <a:avLst/>
          </a:prstGeom>
        </p:spPr>
      </p:pic>
      <p:pic>
        <p:nvPicPr>
          <p:cNvPr id="5" name="Picture 4">
            <a:extLst>
              <a:ext uri="{FF2B5EF4-FFF2-40B4-BE49-F238E27FC236}">
                <a16:creationId xmlns:a16="http://schemas.microsoft.com/office/drawing/2014/main" id="{154FA34B-69E2-DB1D-D9D7-52FE3BD9BD06}"/>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4826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lec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8" name="Picture 7">
            <a:extLst>
              <a:ext uri="{FF2B5EF4-FFF2-40B4-BE49-F238E27FC236}">
                <a16:creationId xmlns:a16="http://schemas.microsoft.com/office/drawing/2014/main" id="{36A66CFB-18D0-6F75-8C97-40CC53CD9633}"/>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91136" cy="505969"/>
          </a:xfrm>
          <a:prstGeom prst="rect">
            <a:avLst/>
          </a:prstGeom>
        </p:spPr>
      </p:pic>
      <p:pic>
        <p:nvPicPr>
          <p:cNvPr id="3" name="Picture 2">
            <a:extLst>
              <a:ext uri="{FF2B5EF4-FFF2-40B4-BE49-F238E27FC236}">
                <a16:creationId xmlns:a16="http://schemas.microsoft.com/office/drawing/2014/main" id="{CE316255-5138-F681-0D2B-20384F1BB20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26598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7/11/2023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smtClean="0"/>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7/11/2023</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4"/>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7/11/2023</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25" r:id="rId6"/>
    <p:sldLayoutId id="2147483726" r:id="rId7"/>
    <p:sldLayoutId id="2147483727" r:id="rId8"/>
    <p:sldLayoutId id="2147483700" r:id="rId9"/>
    <p:sldLayoutId id="2147483701" r:id="rId10"/>
    <p:sldLayoutId id="2147483702" r:id="rId11"/>
    <p:sldLayoutId id="2147483703" r:id="rId12"/>
    <p:sldLayoutId id="2147483704" r:id="rId13"/>
    <p:sldLayoutId id="2147483705" r:id="rId14"/>
    <p:sldLayoutId id="2147483721" r:id="rId15"/>
    <p:sldLayoutId id="2147483722" r:id="rId16"/>
    <p:sldLayoutId id="2147483723" r:id="rId17"/>
    <p:sldLayoutId id="2147483724" r:id="rId18"/>
    <p:sldLayoutId id="2147483706" r:id="rId19"/>
    <p:sldLayoutId id="2147483707" r:id="rId20"/>
    <p:sldLayoutId id="2147483708" r:id="rId21"/>
    <p:sldLayoutId id="2147483709" r:id="rId22"/>
    <p:sldLayoutId id="2147483712" r:id="rId23"/>
    <p:sldLayoutId id="2147483714" r:id="rId24"/>
    <p:sldLayoutId id="2147483715" r:id="rId25"/>
    <p:sldLayoutId id="2147483716" r:id="rId26"/>
    <p:sldLayoutId id="2147483717" r:id="rId27"/>
    <p:sldLayoutId id="2147483718" r:id="rId28"/>
    <p:sldLayoutId id="2147483719" r:id="rId29"/>
    <p:sldLayoutId id="2147483720" r:id="rId30"/>
    <p:sldLayoutId id="2147483710" r:id="rId31"/>
    <p:sldLayoutId id="2147483711" r:id="rId32"/>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8</a:t>
            </a:r>
            <a:br>
              <a:rPr lang="en-US" dirty="0" smtClean="0"/>
            </a:br>
            <a:r>
              <a:rPr lang="en-US" dirty="0" smtClean="0"/>
              <a:t>Applications of Programming </a:t>
            </a:r>
            <a:r>
              <a:rPr lang="en-US" dirty="0" smtClean="0"/>
              <a:t/>
            </a:r>
            <a:br>
              <a:rPr lang="en-US" dirty="0" smtClean="0"/>
            </a:br>
            <a:r>
              <a:rPr lang="en-US" dirty="0" smtClean="0"/>
              <a:t>in </a:t>
            </a:r>
            <a:r>
              <a:rPr lang="en-US" dirty="0" smtClean="0"/>
              <a:t>Real Life</a:t>
            </a:r>
            <a:endParaRPr lang="en-US" dirty="0"/>
          </a:p>
        </p:txBody>
      </p:sp>
    </p:spTree>
    <p:extLst>
      <p:ext uri="{BB962C8B-B14F-4D97-AF65-F5344CB8AC3E}">
        <p14:creationId xmlns:p14="http://schemas.microsoft.com/office/powerpoint/2010/main" val="25132027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Maker Culture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a:t>
            </a:fld>
            <a:endParaRPr lang="en-US" dirty="0"/>
          </a:p>
        </p:txBody>
      </p:sp>
      <p:sp>
        <p:nvSpPr>
          <p:cNvPr id="4" name="Text Placeholder 3"/>
          <p:cNvSpPr>
            <a:spLocks noGrp="1"/>
          </p:cNvSpPr>
          <p:nvPr>
            <p:ph type="body" sz="quarter" idx="14"/>
          </p:nvPr>
        </p:nvSpPr>
        <p:spPr/>
        <p:txBody>
          <a:bodyPr/>
          <a:lstStyle/>
          <a:p>
            <a:r>
              <a:rPr lang="en-US" dirty="0" smtClean="0"/>
              <a:t>8.1</a:t>
            </a:r>
            <a:endParaRPr lang="en-US" dirty="0"/>
          </a:p>
        </p:txBody>
      </p:sp>
      <p:sp>
        <p:nvSpPr>
          <p:cNvPr id="5" name="Content Placeholder 4"/>
          <p:cNvSpPr>
            <a:spLocks noGrp="1"/>
          </p:cNvSpPr>
          <p:nvPr>
            <p:ph sz="quarter" idx="15"/>
          </p:nvPr>
        </p:nvSpPr>
        <p:spPr/>
        <p:txBody>
          <a:bodyPr/>
          <a:lstStyle/>
          <a:p>
            <a:r>
              <a:rPr lang="en-US" dirty="0"/>
              <a:t>With ongoing technological innovation, not only programmers but also ordinary people can write programs. This turns us from mere tool users to tool builders. </a:t>
            </a:r>
          </a:p>
        </p:txBody>
      </p:sp>
      <p:pic>
        <p:nvPicPr>
          <p:cNvPr id="6" name="Picture 5"/>
          <p:cNvPicPr>
            <a:picLocks noChangeAspect="1"/>
          </p:cNvPicPr>
          <p:nvPr/>
        </p:nvPicPr>
        <p:blipFill>
          <a:blip r:embed="rId2"/>
          <a:stretch>
            <a:fillRect/>
          </a:stretch>
        </p:blipFill>
        <p:spPr>
          <a:xfrm>
            <a:off x="2411625" y="3175462"/>
            <a:ext cx="7640234" cy="2460107"/>
          </a:xfrm>
          <a:prstGeom prst="rect">
            <a:avLst/>
          </a:prstGeom>
        </p:spPr>
      </p:pic>
    </p:spTree>
    <p:extLst>
      <p:ext uri="{BB962C8B-B14F-4D97-AF65-F5344CB8AC3E}">
        <p14:creationId xmlns:p14="http://schemas.microsoft.com/office/powerpoint/2010/main" val="850222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Maker Culture</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US" dirty="0" smtClean="0"/>
              <a:t>8.1</a:t>
            </a:r>
            <a:endParaRPr lang="en-US" dirty="0"/>
          </a:p>
        </p:txBody>
      </p:sp>
      <p:sp>
        <p:nvSpPr>
          <p:cNvPr id="5" name="Content Placeholder 4"/>
          <p:cNvSpPr>
            <a:spLocks noGrp="1"/>
          </p:cNvSpPr>
          <p:nvPr>
            <p:ph sz="quarter" idx="15"/>
          </p:nvPr>
        </p:nvSpPr>
        <p:spPr/>
        <p:txBody>
          <a:bodyPr/>
          <a:lstStyle/>
          <a:p>
            <a:r>
              <a:rPr lang="en-US" b="1" dirty="0">
                <a:solidFill>
                  <a:srgbClr val="535AAC"/>
                </a:solidFill>
              </a:rPr>
              <a:t>Maker culture</a:t>
            </a:r>
            <a:r>
              <a:rPr lang="en-US" dirty="0"/>
              <a:t> encourages problem-solving through DIY, which is creating or adapting products with raw materials and technology (e.g. robots, electronic sensors and 3D printing).</a:t>
            </a:r>
          </a:p>
        </p:txBody>
      </p:sp>
      <p:pic>
        <p:nvPicPr>
          <p:cNvPr id="6" name="Picture 5"/>
          <p:cNvPicPr>
            <a:picLocks noChangeAspect="1"/>
          </p:cNvPicPr>
          <p:nvPr/>
        </p:nvPicPr>
        <p:blipFill>
          <a:blip r:embed="rId2"/>
          <a:stretch>
            <a:fillRect/>
          </a:stretch>
        </p:blipFill>
        <p:spPr>
          <a:xfrm>
            <a:off x="2109180" y="3081866"/>
            <a:ext cx="7974840" cy="2559980"/>
          </a:xfrm>
          <a:prstGeom prst="rect">
            <a:avLst/>
          </a:prstGeom>
        </p:spPr>
      </p:pic>
    </p:spTree>
    <p:extLst>
      <p:ext uri="{BB962C8B-B14F-4D97-AF65-F5344CB8AC3E}">
        <p14:creationId xmlns:p14="http://schemas.microsoft.com/office/powerpoint/2010/main" val="42938218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and Output Devices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US" dirty="0" smtClean="0"/>
              <a:t>8.2</a:t>
            </a:r>
            <a:endParaRPr lang="en-US" dirty="0"/>
          </a:p>
        </p:txBody>
      </p:sp>
      <p:sp>
        <p:nvSpPr>
          <p:cNvPr id="5" name="Content Placeholder 4"/>
          <p:cNvSpPr>
            <a:spLocks noGrp="1"/>
          </p:cNvSpPr>
          <p:nvPr>
            <p:ph sz="quarter" idx="15"/>
          </p:nvPr>
        </p:nvSpPr>
        <p:spPr/>
        <p:txBody>
          <a:bodyPr>
            <a:normAutofit lnSpcReduction="10000"/>
          </a:bodyPr>
          <a:lstStyle/>
          <a:p>
            <a:r>
              <a:rPr lang="en-US" dirty="0"/>
              <a:t>Same as that in computers, data in most electronic devices must undergo the </a:t>
            </a:r>
            <a:r>
              <a:rPr lang="en-US" dirty="0" smtClean="0"/>
              <a:t>three </a:t>
            </a:r>
            <a:r>
              <a:rPr lang="en-US" dirty="0"/>
              <a:t>stages of computer operation: input, process and output</a:t>
            </a:r>
            <a:r>
              <a:rPr lang="en-US" dirty="0" smtClean="0"/>
              <a:t>.</a:t>
            </a:r>
          </a:p>
          <a:p>
            <a:endParaRPr lang="en-US" dirty="0" smtClean="0"/>
          </a:p>
          <a:p>
            <a:pPr marL="342900" indent="-342900">
              <a:buFont typeface="Arial" panose="020B0604020202020204" pitchFamily="34" charset="0"/>
              <a:buChar char="•"/>
            </a:pPr>
            <a:r>
              <a:rPr lang="en-US" dirty="0" smtClean="0"/>
              <a:t>“</a:t>
            </a:r>
            <a:r>
              <a:rPr lang="en-US" dirty="0"/>
              <a:t>Input” means the data that the electronic device </a:t>
            </a:r>
            <a:r>
              <a:rPr lang="en-US" dirty="0" smtClean="0"/>
              <a:t>receives </a:t>
            </a:r>
            <a:r>
              <a:rPr lang="en-US" dirty="0"/>
              <a:t>via input </a:t>
            </a:r>
            <a:r>
              <a:rPr lang="en-US" dirty="0" smtClean="0"/>
              <a:t>devices;</a:t>
            </a:r>
          </a:p>
          <a:p>
            <a:endParaRPr lang="en-US" dirty="0"/>
          </a:p>
          <a:p>
            <a:pPr marL="342900" indent="-342900">
              <a:buFont typeface="Arial" panose="020B0604020202020204" pitchFamily="34" charset="0"/>
              <a:buChar char="•"/>
            </a:pPr>
            <a:r>
              <a:rPr lang="en-US" dirty="0" smtClean="0"/>
              <a:t>“</a:t>
            </a:r>
            <a:r>
              <a:rPr lang="en-US" dirty="0"/>
              <a:t>Process” means the </a:t>
            </a:r>
            <a:r>
              <a:rPr lang="en-US" dirty="0" smtClean="0"/>
              <a:t>procedures </a:t>
            </a:r>
            <a:r>
              <a:rPr lang="en-US" dirty="0"/>
              <a:t>used </a:t>
            </a:r>
            <a:r>
              <a:rPr lang="en-US" dirty="0" smtClean="0"/>
              <a:t>by </a:t>
            </a:r>
            <a:r>
              <a:rPr lang="en-US" dirty="0"/>
              <a:t>the electronic device </a:t>
            </a:r>
            <a:r>
              <a:rPr lang="en-US" dirty="0" smtClean="0"/>
              <a:t>for </a:t>
            </a:r>
            <a:r>
              <a:rPr lang="en-US" dirty="0"/>
              <a:t>processing data</a:t>
            </a:r>
            <a:r>
              <a:rPr lang="en-US" dirty="0" smtClean="0"/>
              <a:t>;</a:t>
            </a:r>
          </a:p>
          <a:p>
            <a:endParaRPr lang="en-US" dirty="0"/>
          </a:p>
          <a:p>
            <a:pPr marL="342900" indent="-342900">
              <a:buFont typeface="Arial" panose="020B0604020202020204" pitchFamily="34" charset="0"/>
              <a:buChar char="•"/>
            </a:pPr>
            <a:r>
              <a:rPr lang="en-US" dirty="0" smtClean="0"/>
              <a:t>“</a:t>
            </a:r>
            <a:r>
              <a:rPr lang="en-US" dirty="0"/>
              <a:t>Output” means the responses given by the </a:t>
            </a:r>
            <a:r>
              <a:rPr lang="en-US" dirty="0" smtClean="0"/>
              <a:t>electronic </a:t>
            </a:r>
            <a:r>
              <a:rPr lang="en-US" dirty="0"/>
              <a:t>device</a:t>
            </a:r>
            <a:r>
              <a:rPr lang="en-US" dirty="0" smtClean="0"/>
              <a:t>.</a:t>
            </a:r>
          </a:p>
          <a:p>
            <a:endParaRPr lang="en-US" dirty="0" smtClean="0"/>
          </a:p>
          <a:p>
            <a:r>
              <a:rPr lang="en-US" dirty="0" smtClean="0"/>
              <a:t>This </a:t>
            </a:r>
            <a:r>
              <a:rPr lang="en-US" dirty="0"/>
              <a:t>process is known as the </a:t>
            </a:r>
            <a:r>
              <a:rPr lang="en-US" b="1" dirty="0">
                <a:solidFill>
                  <a:srgbClr val="535AAC"/>
                </a:solidFill>
              </a:rPr>
              <a:t>Input-Process-Output cycle</a:t>
            </a:r>
            <a:r>
              <a:rPr lang="en-US" dirty="0"/>
              <a:t>. </a:t>
            </a:r>
          </a:p>
        </p:txBody>
      </p:sp>
    </p:spTree>
    <p:extLst>
      <p:ext uri="{BB962C8B-B14F-4D97-AF65-F5344CB8AC3E}">
        <p14:creationId xmlns:p14="http://schemas.microsoft.com/office/powerpoint/2010/main" val="39307256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devices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b="1" dirty="0">
                <a:solidFill>
                  <a:srgbClr val="535AAC"/>
                </a:solidFill>
              </a:rPr>
              <a:t>Input devices</a:t>
            </a:r>
            <a:r>
              <a:rPr lang="en-US" dirty="0"/>
              <a:t> are responsible for the first stage in the Input-Process-Output </a:t>
            </a:r>
            <a:r>
              <a:rPr lang="en-US" dirty="0" smtClean="0"/>
              <a:t>cycle</a:t>
            </a:r>
            <a:r>
              <a:rPr lang="en-US" dirty="0"/>
              <a:t>. </a:t>
            </a:r>
            <a:endParaRPr lang="en-US" dirty="0" smtClean="0"/>
          </a:p>
          <a:p>
            <a:endParaRPr lang="en-US" b="1" dirty="0">
              <a:solidFill>
                <a:srgbClr val="535AAC"/>
              </a:solidFill>
            </a:endParaRPr>
          </a:p>
          <a:p>
            <a:r>
              <a:rPr lang="en-US" b="1" dirty="0" smtClean="0">
                <a:solidFill>
                  <a:srgbClr val="535AAC"/>
                </a:solidFill>
              </a:rPr>
              <a:t>Sensors</a:t>
            </a:r>
            <a:r>
              <a:rPr lang="en-US" dirty="0" smtClean="0"/>
              <a:t> belong to automatic input devices. There are different categories of sensors, and each of them reads one or more physical quantities from the surroundings as the input to a smart device. </a:t>
            </a:r>
            <a:endParaRPr lang="en-US" dirty="0"/>
          </a:p>
        </p:txBody>
      </p:sp>
    </p:spTree>
    <p:extLst>
      <p:ext uri="{BB962C8B-B14F-4D97-AF65-F5344CB8AC3E}">
        <p14:creationId xmlns:p14="http://schemas.microsoft.com/office/powerpoint/2010/main" val="15395359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devices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The following are some sensors and examples of their applications:</a:t>
            </a:r>
          </a:p>
        </p:txBody>
      </p:sp>
      <p:pic>
        <p:nvPicPr>
          <p:cNvPr id="8" name="Picture 7"/>
          <p:cNvPicPr>
            <a:picLocks noChangeAspect="1"/>
          </p:cNvPicPr>
          <p:nvPr/>
        </p:nvPicPr>
        <p:blipFill>
          <a:blip r:embed="rId2"/>
          <a:stretch>
            <a:fillRect/>
          </a:stretch>
        </p:blipFill>
        <p:spPr>
          <a:xfrm>
            <a:off x="1994255" y="2242974"/>
            <a:ext cx="8204690" cy="3642984"/>
          </a:xfrm>
          <a:prstGeom prst="rect">
            <a:avLst/>
          </a:prstGeom>
        </p:spPr>
      </p:pic>
    </p:spTree>
    <p:extLst>
      <p:ext uri="{BB962C8B-B14F-4D97-AF65-F5344CB8AC3E}">
        <p14:creationId xmlns:p14="http://schemas.microsoft.com/office/powerpoint/2010/main" val="35083904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devices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lstStyle/>
          <a:p>
            <a:r>
              <a:rPr lang="en-US" dirty="0"/>
              <a:t>M</a:t>
            </a:r>
            <a:r>
              <a:rPr lang="en-US" dirty="0" smtClean="0"/>
              <a:t>anual </a:t>
            </a:r>
            <a:r>
              <a:rPr lang="en-US" dirty="0"/>
              <a:t>input devices require users to adjust the data by hand. The following are some manual input devices that we have seen in our daily life:</a:t>
            </a:r>
          </a:p>
        </p:txBody>
      </p:sp>
      <p:pic>
        <p:nvPicPr>
          <p:cNvPr id="10" name="Picture 9"/>
          <p:cNvPicPr>
            <a:picLocks noChangeAspect="1"/>
          </p:cNvPicPr>
          <p:nvPr/>
        </p:nvPicPr>
        <p:blipFill>
          <a:blip r:embed="rId2"/>
          <a:stretch>
            <a:fillRect/>
          </a:stretch>
        </p:blipFill>
        <p:spPr>
          <a:xfrm>
            <a:off x="1775520" y="2537405"/>
            <a:ext cx="8642160" cy="3751795"/>
          </a:xfrm>
          <a:prstGeom prst="rect">
            <a:avLst/>
          </a:prstGeom>
        </p:spPr>
      </p:pic>
    </p:spTree>
    <p:extLst>
      <p:ext uri="{BB962C8B-B14F-4D97-AF65-F5344CB8AC3E}">
        <p14:creationId xmlns:p14="http://schemas.microsoft.com/office/powerpoint/2010/main" val="41845991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devices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b="1" dirty="0">
                <a:solidFill>
                  <a:srgbClr val="535AAC"/>
                </a:solidFill>
              </a:rPr>
              <a:t>Output devices</a:t>
            </a:r>
            <a:r>
              <a:rPr lang="en-US" dirty="0"/>
              <a:t> respond to us in many different ways, meaning that the outputs can be light, sounds, words and physical motions. </a:t>
            </a:r>
            <a:r>
              <a:rPr lang="en-US" dirty="0" smtClean="0"/>
              <a:t>The </a:t>
            </a:r>
            <a:r>
              <a:rPr lang="en-US" dirty="0"/>
              <a:t>following are some output devices and examples of their applications: </a:t>
            </a:r>
          </a:p>
        </p:txBody>
      </p:sp>
      <p:pic>
        <p:nvPicPr>
          <p:cNvPr id="8" name="Picture 7"/>
          <p:cNvPicPr>
            <a:picLocks noChangeAspect="1"/>
          </p:cNvPicPr>
          <p:nvPr/>
        </p:nvPicPr>
        <p:blipFill>
          <a:blip r:embed="rId2"/>
          <a:stretch>
            <a:fillRect/>
          </a:stretch>
        </p:blipFill>
        <p:spPr>
          <a:xfrm>
            <a:off x="2350551" y="2780757"/>
            <a:ext cx="7492097" cy="3574947"/>
          </a:xfrm>
          <a:prstGeom prst="rect">
            <a:avLst/>
          </a:prstGeom>
        </p:spPr>
      </p:pic>
    </p:spTree>
    <p:extLst>
      <p:ext uri="{BB962C8B-B14F-4D97-AF65-F5344CB8AC3E}">
        <p14:creationId xmlns:p14="http://schemas.microsoft.com/office/powerpoint/2010/main" val="32736632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smtClean="0"/>
              <a:t>Complete Checkpoint 8.1 on P. 310 of the textbook</a:t>
            </a:r>
            <a:r>
              <a:rPr lang="en-US" dirty="0" smtClean="0"/>
              <a:t>.</a:t>
            </a:r>
          </a:p>
          <a:p>
            <a:endParaRPr lang="en-US" dirty="0"/>
          </a:p>
          <a:p>
            <a:r>
              <a:rPr lang="en-US" dirty="0" smtClean="0">
                <a:solidFill>
                  <a:srgbClr val="FF0000"/>
                </a:solidFill>
              </a:rPr>
              <a:t>a) </a:t>
            </a:r>
            <a:r>
              <a:rPr lang="en-US" dirty="0" smtClean="0">
                <a:solidFill>
                  <a:srgbClr val="FF0000"/>
                </a:solidFill>
              </a:rPr>
              <a:t>Soil </a:t>
            </a:r>
            <a:r>
              <a:rPr lang="en-US" dirty="0">
                <a:solidFill>
                  <a:srgbClr val="FF0000"/>
                </a:solidFill>
              </a:rPr>
              <a:t>moisture sensor, pH </a:t>
            </a:r>
            <a:r>
              <a:rPr lang="en-US" dirty="0" smtClean="0">
                <a:solidFill>
                  <a:srgbClr val="FF0000"/>
                </a:solidFill>
              </a:rPr>
              <a:t>sensor</a:t>
            </a:r>
          </a:p>
          <a:p>
            <a:endParaRPr lang="en-US" dirty="0" smtClean="0">
              <a:solidFill>
                <a:srgbClr val="FF0000"/>
              </a:solidFill>
            </a:endParaRPr>
          </a:p>
          <a:p>
            <a:r>
              <a:rPr lang="en-US" dirty="0" smtClean="0">
                <a:solidFill>
                  <a:srgbClr val="FF0000"/>
                </a:solidFill>
              </a:rPr>
              <a:t>b) Light sensor</a:t>
            </a:r>
          </a:p>
          <a:p>
            <a:endParaRPr lang="en-US" dirty="0">
              <a:solidFill>
                <a:srgbClr val="FF0000"/>
              </a:solidFill>
            </a:endParaRPr>
          </a:p>
          <a:p>
            <a:r>
              <a:rPr lang="en-US" dirty="0" smtClean="0">
                <a:solidFill>
                  <a:srgbClr val="FF0000"/>
                </a:solidFill>
              </a:rPr>
              <a:t>c) Display</a:t>
            </a:r>
          </a:p>
          <a:p>
            <a:endParaRPr lang="en-US" dirty="0">
              <a:solidFill>
                <a:srgbClr val="FF0000"/>
              </a:solidFill>
            </a:endParaRPr>
          </a:p>
          <a:p>
            <a:r>
              <a:rPr lang="en-US" dirty="0" smtClean="0">
                <a:solidFill>
                  <a:srgbClr val="FF0000"/>
                </a:solidFill>
              </a:rPr>
              <a:t>d) Water pump / Motor</a:t>
            </a:r>
          </a:p>
          <a:p>
            <a:endParaRPr lang="en-US" dirty="0">
              <a:solidFill>
                <a:srgbClr val="FF0000"/>
              </a:solidFill>
            </a:endParaRPr>
          </a:p>
          <a:p>
            <a:r>
              <a:rPr lang="en-US" dirty="0" smtClean="0">
                <a:solidFill>
                  <a:srgbClr val="FF0000"/>
                </a:solidFill>
              </a:rPr>
              <a:t>e) (RGB) LED</a:t>
            </a:r>
            <a:endParaRPr lang="en-US" dirty="0" smtClean="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9</a:t>
            </a:fld>
            <a:endParaRPr lang="en-US" dirty="0"/>
          </a:p>
        </p:txBody>
      </p:sp>
      <p:sp>
        <p:nvSpPr>
          <p:cNvPr id="4" name="Text Placeholder 3"/>
          <p:cNvSpPr>
            <a:spLocks noGrp="1"/>
          </p:cNvSpPr>
          <p:nvPr>
            <p:ph type="body" sz="quarter" idx="13"/>
          </p:nvPr>
        </p:nvSpPr>
        <p:spPr/>
        <p:txBody>
          <a:bodyPr/>
          <a:lstStyle/>
          <a:p>
            <a:r>
              <a:rPr lang="en-US" dirty="0" smtClean="0"/>
              <a:t>8.1</a:t>
            </a:r>
            <a:endParaRPr lang="en-US" dirty="0"/>
          </a:p>
        </p:txBody>
      </p:sp>
    </p:spTree>
    <p:extLst>
      <p:ext uri="{BB962C8B-B14F-4D97-AF65-F5344CB8AC3E}">
        <p14:creationId xmlns:p14="http://schemas.microsoft.com/office/powerpoint/2010/main" val="4087259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500"/>
                                        <p:tgtEl>
                                          <p:spTgt spid="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fade">
                                      <p:cBhvr>
                                        <p:cTn id="17" dur="500"/>
                                        <p:tgtEl>
                                          <p:spTgt spid="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fade">
                                      <p:cBhvr>
                                        <p:cTn id="22" dur="500"/>
                                        <p:tgtEl>
                                          <p:spTgt spid="2">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animEffect transition="in" filter="fade">
                                      <p:cBhvr>
                                        <p:cTn id="2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Programmable Microcontrollers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a:t>
            </a:fld>
            <a:endParaRPr lang="en-US" dirty="0"/>
          </a:p>
        </p:txBody>
      </p:sp>
      <p:sp>
        <p:nvSpPr>
          <p:cNvPr id="4" name="Text Placeholder 3"/>
          <p:cNvSpPr>
            <a:spLocks noGrp="1"/>
          </p:cNvSpPr>
          <p:nvPr>
            <p:ph type="body" sz="quarter" idx="14"/>
          </p:nvPr>
        </p:nvSpPr>
        <p:spPr/>
        <p:txBody>
          <a:bodyPr/>
          <a:lstStyle/>
          <a:p>
            <a:r>
              <a:rPr lang="en-US" dirty="0" smtClean="0"/>
              <a:t>8.3</a:t>
            </a:r>
            <a:endParaRPr lang="en-US" dirty="0"/>
          </a:p>
        </p:txBody>
      </p:sp>
      <p:sp>
        <p:nvSpPr>
          <p:cNvPr id="5" name="Content Placeholder 4"/>
          <p:cNvSpPr>
            <a:spLocks noGrp="1"/>
          </p:cNvSpPr>
          <p:nvPr>
            <p:ph sz="quarter" idx="15"/>
          </p:nvPr>
        </p:nvSpPr>
        <p:spPr/>
        <p:txBody>
          <a:bodyPr/>
          <a:lstStyle/>
          <a:p>
            <a:r>
              <a:rPr lang="en-US" dirty="0" smtClean="0"/>
              <a:t>The </a:t>
            </a:r>
            <a:r>
              <a:rPr lang="en-US" dirty="0"/>
              <a:t>main processor on an electronic device is known as a </a:t>
            </a:r>
            <a:r>
              <a:rPr lang="en-US" b="1" dirty="0">
                <a:solidFill>
                  <a:srgbClr val="535AAC"/>
                </a:solidFill>
              </a:rPr>
              <a:t>programmable microcontroller</a:t>
            </a:r>
            <a:r>
              <a:rPr lang="en-US" dirty="0"/>
              <a:t>. </a:t>
            </a:r>
            <a:endParaRPr lang="en-US" dirty="0" smtClean="0"/>
          </a:p>
          <a:p>
            <a:endParaRPr lang="en-US" dirty="0"/>
          </a:p>
          <a:p>
            <a:r>
              <a:rPr lang="en-US" dirty="0" smtClean="0"/>
              <a:t>It </a:t>
            </a:r>
            <a:r>
              <a:rPr lang="en-US" dirty="0"/>
              <a:t>is usually a small circuit board with various ports and pins, which allow users to freely connect different input and output devices.</a:t>
            </a:r>
          </a:p>
        </p:txBody>
      </p:sp>
      <p:pic>
        <p:nvPicPr>
          <p:cNvPr id="6" name="Picture 5"/>
          <p:cNvPicPr>
            <a:picLocks noChangeAspect="1"/>
          </p:cNvPicPr>
          <p:nvPr/>
        </p:nvPicPr>
        <p:blipFill>
          <a:blip r:embed="rId2"/>
          <a:stretch>
            <a:fillRect/>
          </a:stretch>
        </p:blipFill>
        <p:spPr>
          <a:xfrm>
            <a:off x="1098420" y="3874192"/>
            <a:ext cx="9996360" cy="2225313"/>
          </a:xfrm>
          <a:prstGeom prst="rect">
            <a:avLst/>
          </a:prstGeom>
        </p:spPr>
      </p:pic>
    </p:spTree>
    <p:extLst>
      <p:ext uri="{BB962C8B-B14F-4D97-AF65-F5344CB8AC3E}">
        <p14:creationId xmlns:p14="http://schemas.microsoft.com/office/powerpoint/2010/main" val="17020181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Programmable Microcontrollers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4"/>
          </p:nvPr>
        </p:nvSpPr>
        <p:spPr/>
        <p:txBody>
          <a:bodyPr/>
          <a:lstStyle/>
          <a:p>
            <a:r>
              <a:rPr lang="en-US" dirty="0" smtClean="0"/>
              <a:t>8.3</a:t>
            </a:r>
            <a:endParaRPr lang="en-US" dirty="0"/>
          </a:p>
        </p:txBody>
      </p:sp>
      <p:sp>
        <p:nvSpPr>
          <p:cNvPr id="5" name="Content Placeholder 4"/>
          <p:cNvSpPr>
            <a:spLocks noGrp="1"/>
          </p:cNvSpPr>
          <p:nvPr>
            <p:ph sz="quarter" idx="15"/>
          </p:nvPr>
        </p:nvSpPr>
        <p:spPr/>
        <p:txBody>
          <a:bodyPr/>
          <a:lstStyle/>
          <a:p>
            <a:r>
              <a:rPr lang="en-US" dirty="0" smtClean="0"/>
              <a:t>A </a:t>
            </a:r>
            <a:r>
              <a:rPr lang="en-US" dirty="0"/>
              <a:t>programmable microcontroller lets the user upload a program and executes specific tasks according to instructions in this program.</a:t>
            </a:r>
          </a:p>
        </p:txBody>
      </p:sp>
      <p:pic>
        <p:nvPicPr>
          <p:cNvPr id="6" name="Picture 5"/>
          <p:cNvPicPr>
            <a:picLocks noChangeAspect="1"/>
          </p:cNvPicPr>
          <p:nvPr/>
        </p:nvPicPr>
        <p:blipFill>
          <a:blip r:embed="rId2"/>
          <a:stretch>
            <a:fillRect/>
          </a:stretch>
        </p:blipFill>
        <p:spPr>
          <a:xfrm>
            <a:off x="2745305" y="2686320"/>
            <a:ext cx="6930709" cy="3347746"/>
          </a:xfrm>
          <a:prstGeom prst="rect">
            <a:avLst/>
          </a:prstGeom>
        </p:spPr>
      </p:pic>
    </p:spTree>
    <p:extLst>
      <p:ext uri="{BB962C8B-B14F-4D97-AF65-F5344CB8AC3E}">
        <p14:creationId xmlns:p14="http://schemas.microsoft.com/office/powerpoint/2010/main" val="23680688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Forever loops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4"/>
          </p:nvPr>
        </p:nvSpPr>
        <p:spPr/>
        <p:txBody>
          <a:bodyPr/>
          <a:lstStyle/>
          <a:p>
            <a:r>
              <a:rPr lang="en-US" dirty="0" smtClean="0"/>
              <a:t>A</a:t>
            </a:r>
            <a:endParaRPr lang="en-US" dirty="0"/>
          </a:p>
        </p:txBody>
      </p:sp>
      <p:sp>
        <p:nvSpPr>
          <p:cNvPr id="5" name="Content Placeholder 4"/>
          <p:cNvSpPr>
            <a:spLocks noGrp="1"/>
          </p:cNvSpPr>
          <p:nvPr>
            <p:ph sz="quarter" idx="15"/>
          </p:nvPr>
        </p:nvSpPr>
        <p:spPr/>
        <p:txBody>
          <a:bodyPr>
            <a:normAutofit/>
          </a:bodyPr>
          <a:lstStyle/>
          <a:p>
            <a:r>
              <a:rPr lang="en-US" dirty="0"/>
              <a:t>Unlike programs for performing operations, many electronic devices do not execute their tasks once only; instead, they need to do the tasks over and over. </a:t>
            </a:r>
            <a:endParaRPr lang="en-US" dirty="0" smtClean="0"/>
          </a:p>
          <a:p>
            <a:endParaRPr lang="en-US" dirty="0"/>
          </a:p>
          <a:p>
            <a:r>
              <a:rPr lang="en-US" dirty="0" smtClean="0"/>
              <a:t>Therefore</a:t>
            </a:r>
            <a:r>
              <a:rPr lang="en-US" dirty="0"/>
              <a:t>, most programs include the following two functions</a:t>
            </a:r>
            <a:r>
              <a:rPr lang="en-US" dirty="0" smtClean="0"/>
              <a:t>:</a:t>
            </a:r>
          </a:p>
          <a:p>
            <a:endParaRPr lang="en-US" dirty="0"/>
          </a:p>
          <a:p>
            <a:pPr marL="342900" indent="-342900">
              <a:buFont typeface="Arial" panose="020B0604020202020204" pitchFamily="34" charset="0"/>
              <a:buChar char="•"/>
            </a:pPr>
            <a:r>
              <a:rPr lang="en-US" dirty="0" smtClean="0"/>
              <a:t>Setup function</a:t>
            </a:r>
            <a:br>
              <a:rPr lang="en-US" dirty="0" smtClean="0"/>
            </a:br>
            <a:endParaRPr lang="en-US" dirty="0" smtClean="0"/>
          </a:p>
          <a:p>
            <a:pPr marL="342900" indent="-342900">
              <a:buFont typeface="Arial" panose="020B0604020202020204" pitchFamily="34" charset="0"/>
              <a:buChar char="•"/>
            </a:pPr>
            <a:r>
              <a:rPr lang="en-US" dirty="0" smtClean="0"/>
              <a:t>Forever </a:t>
            </a:r>
            <a:r>
              <a:rPr lang="en-US" dirty="0"/>
              <a:t>loop </a:t>
            </a:r>
            <a:r>
              <a:rPr lang="en-US" dirty="0" smtClean="0"/>
              <a:t>function</a:t>
            </a:r>
            <a:endParaRPr lang="en-US" dirty="0"/>
          </a:p>
        </p:txBody>
      </p:sp>
      <p:pic>
        <p:nvPicPr>
          <p:cNvPr id="6" name="Picture 5"/>
          <p:cNvPicPr>
            <a:picLocks noChangeAspect="1"/>
          </p:cNvPicPr>
          <p:nvPr/>
        </p:nvPicPr>
        <p:blipFill>
          <a:blip r:embed="rId2"/>
          <a:stretch>
            <a:fillRect/>
          </a:stretch>
        </p:blipFill>
        <p:spPr>
          <a:xfrm>
            <a:off x="8176109" y="3084022"/>
            <a:ext cx="2813237" cy="2910840"/>
          </a:xfrm>
          <a:prstGeom prst="rect">
            <a:avLst/>
          </a:prstGeom>
        </p:spPr>
      </p:pic>
    </p:spTree>
    <p:extLst>
      <p:ext uri="{BB962C8B-B14F-4D97-AF65-F5344CB8AC3E}">
        <p14:creationId xmlns:p14="http://schemas.microsoft.com/office/powerpoint/2010/main" val="19050531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programming</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4" name="Text Placeholder 3"/>
          <p:cNvSpPr>
            <a:spLocks noGrp="1"/>
          </p:cNvSpPr>
          <p:nvPr>
            <p:ph type="body" sz="quarter" idx="14"/>
          </p:nvPr>
        </p:nvSpPr>
        <p:spPr/>
        <p:txBody>
          <a:bodyPr/>
          <a:lstStyle/>
          <a:p>
            <a:r>
              <a:rPr lang="en-US" dirty="0" smtClean="0"/>
              <a:t>B</a:t>
            </a:r>
            <a:endParaRPr lang="en-US" dirty="0"/>
          </a:p>
        </p:txBody>
      </p:sp>
      <p:sp>
        <p:nvSpPr>
          <p:cNvPr id="5" name="Content Placeholder 4"/>
          <p:cNvSpPr>
            <a:spLocks noGrp="1"/>
          </p:cNvSpPr>
          <p:nvPr>
            <p:ph sz="quarter" idx="15"/>
          </p:nvPr>
        </p:nvSpPr>
        <p:spPr/>
        <p:txBody>
          <a:bodyPr/>
          <a:lstStyle/>
          <a:p>
            <a:r>
              <a:rPr lang="en-US" dirty="0" smtClean="0"/>
              <a:t>While </a:t>
            </a:r>
            <a:r>
              <a:rPr lang="en-US" dirty="0"/>
              <a:t>designing a program, we can set the event that triggers program execution. </a:t>
            </a:r>
            <a:endParaRPr lang="en-US" dirty="0" smtClean="0"/>
          </a:p>
          <a:p>
            <a:endParaRPr lang="en-US" dirty="0"/>
          </a:p>
          <a:p>
            <a:r>
              <a:rPr lang="en-US" dirty="0" smtClean="0"/>
              <a:t>Once </a:t>
            </a:r>
            <a:r>
              <a:rPr lang="en-US" dirty="0"/>
              <a:t>the specified event occurs, the corresponding code will be executed. This design is called </a:t>
            </a:r>
            <a:r>
              <a:rPr lang="en-US" b="1" dirty="0">
                <a:solidFill>
                  <a:srgbClr val="535AAC"/>
                </a:solidFill>
              </a:rPr>
              <a:t>event-driven programming</a:t>
            </a:r>
            <a:r>
              <a:rPr lang="en-US" dirty="0"/>
              <a:t>.</a:t>
            </a:r>
          </a:p>
        </p:txBody>
      </p:sp>
      <p:pic>
        <p:nvPicPr>
          <p:cNvPr id="6" name="Picture 5"/>
          <p:cNvPicPr>
            <a:picLocks noChangeAspect="1"/>
          </p:cNvPicPr>
          <p:nvPr/>
        </p:nvPicPr>
        <p:blipFill>
          <a:blip r:embed="rId2"/>
          <a:stretch>
            <a:fillRect/>
          </a:stretch>
        </p:blipFill>
        <p:spPr>
          <a:xfrm>
            <a:off x="2654123" y="3949200"/>
            <a:ext cx="6884953" cy="2238710"/>
          </a:xfrm>
          <a:prstGeom prst="rect">
            <a:avLst/>
          </a:prstGeom>
        </p:spPr>
      </p:pic>
    </p:spTree>
    <p:extLst>
      <p:ext uri="{BB962C8B-B14F-4D97-AF65-F5344CB8AC3E}">
        <p14:creationId xmlns:p14="http://schemas.microsoft.com/office/powerpoint/2010/main" val="36203115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8.2 on P. 319 of th</a:t>
            </a:r>
            <a:r>
              <a:rPr lang="en-US" dirty="0" smtClean="0"/>
              <a:t>e textbook.</a:t>
            </a:r>
          </a:p>
          <a:p>
            <a:endParaRPr lang="en-US" dirty="0"/>
          </a:p>
          <a:p>
            <a:r>
              <a:rPr lang="en-US" dirty="0" smtClean="0">
                <a:solidFill>
                  <a:srgbClr val="FF0000"/>
                </a:solidFill>
              </a:rPr>
              <a:t>1. </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14</a:t>
            </a:fld>
            <a:endParaRPr lang="en-US" dirty="0"/>
          </a:p>
        </p:txBody>
      </p:sp>
      <p:sp>
        <p:nvSpPr>
          <p:cNvPr id="4" name="Text Placeholder 3"/>
          <p:cNvSpPr>
            <a:spLocks noGrp="1"/>
          </p:cNvSpPr>
          <p:nvPr>
            <p:ph type="body" sz="quarter" idx="13"/>
          </p:nvPr>
        </p:nvSpPr>
        <p:spPr/>
        <p:txBody>
          <a:bodyPr/>
          <a:lstStyle/>
          <a:p>
            <a:r>
              <a:rPr lang="en-US" smtClean="0"/>
              <a:t>8.2</a:t>
            </a:r>
            <a:endParaRPr lang="en-US"/>
          </a:p>
        </p:txBody>
      </p:sp>
      <p:pic>
        <p:nvPicPr>
          <p:cNvPr id="5" name="Picture 4"/>
          <p:cNvPicPr>
            <a:picLocks noChangeAspect="1"/>
          </p:cNvPicPr>
          <p:nvPr/>
        </p:nvPicPr>
        <p:blipFill>
          <a:blip r:embed="rId2"/>
          <a:stretch>
            <a:fillRect/>
          </a:stretch>
        </p:blipFill>
        <p:spPr>
          <a:xfrm>
            <a:off x="1189561" y="2500733"/>
            <a:ext cx="9766614" cy="2881085"/>
          </a:xfrm>
          <a:prstGeom prst="rect">
            <a:avLst/>
          </a:prstGeom>
        </p:spPr>
      </p:pic>
    </p:spTree>
    <p:extLst>
      <p:ext uri="{BB962C8B-B14F-4D97-AF65-F5344CB8AC3E}">
        <p14:creationId xmlns:p14="http://schemas.microsoft.com/office/powerpoint/2010/main" val="119682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15</a:t>
            </a:fld>
            <a:endParaRPr lang="en-US" dirty="0"/>
          </a:p>
        </p:txBody>
      </p:sp>
      <p:sp>
        <p:nvSpPr>
          <p:cNvPr id="4" name="Text Placeholder 3"/>
          <p:cNvSpPr>
            <a:spLocks noGrp="1"/>
          </p:cNvSpPr>
          <p:nvPr>
            <p:ph type="body" sz="quarter" idx="14"/>
          </p:nvPr>
        </p:nvSpPr>
        <p:spPr/>
        <p:txBody>
          <a:bodyPr/>
          <a:lstStyle/>
          <a:p>
            <a:r>
              <a:rPr lang="en-US" dirty="0" smtClean="0"/>
              <a:t>8.4</a:t>
            </a:r>
            <a:endParaRPr lang="en-US" dirty="0"/>
          </a:p>
        </p:txBody>
      </p:sp>
      <p:sp>
        <p:nvSpPr>
          <p:cNvPr id="5" name="Content Placeholder 4"/>
          <p:cNvSpPr>
            <a:spLocks noGrp="1"/>
          </p:cNvSpPr>
          <p:nvPr>
            <p:ph sz="quarter" idx="15"/>
          </p:nvPr>
        </p:nvSpPr>
        <p:spPr/>
        <p:txBody>
          <a:bodyPr/>
          <a:lstStyle/>
          <a:p>
            <a:r>
              <a:rPr lang="en-US" dirty="0"/>
              <a:t>Why do doors open automatically when we walk near them? Why do taps dispense water automatically? Why can air conditioners adjust the temperature automatically?</a:t>
            </a:r>
          </a:p>
        </p:txBody>
      </p:sp>
      <p:pic>
        <p:nvPicPr>
          <p:cNvPr id="6" name="Picture 5"/>
          <p:cNvPicPr>
            <a:picLocks noChangeAspect="1"/>
          </p:cNvPicPr>
          <p:nvPr/>
        </p:nvPicPr>
        <p:blipFill>
          <a:blip r:embed="rId2"/>
          <a:stretch>
            <a:fillRect/>
          </a:stretch>
        </p:blipFill>
        <p:spPr>
          <a:xfrm>
            <a:off x="2043979" y="3218335"/>
            <a:ext cx="8105242" cy="2576395"/>
          </a:xfrm>
          <a:prstGeom prst="rect">
            <a:avLst/>
          </a:prstGeom>
        </p:spPr>
      </p:pic>
    </p:spTree>
    <p:extLst>
      <p:ext uri="{BB962C8B-B14F-4D97-AF65-F5344CB8AC3E}">
        <p14:creationId xmlns:p14="http://schemas.microsoft.com/office/powerpoint/2010/main" val="11688391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Automation</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16</a:t>
            </a:fld>
            <a:endParaRPr lang="en-US" dirty="0"/>
          </a:p>
        </p:txBody>
      </p:sp>
      <p:sp>
        <p:nvSpPr>
          <p:cNvPr id="4" name="Text Placeholder 3"/>
          <p:cNvSpPr>
            <a:spLocks noGrp="1"/>
          </p:cNvSpPr>
          <p:nvPr>
            <p:ph type="body" sz="quarter" idx="14"/>
          </p:nvPr>
        </p:nvSpPr>
        <p:spPr/>
        <p:txBody>
          <a:bodyPr/>
          <a:lstStyle/>
          <a:p>
            <a:r>
              <a:rPr lang="en-US" dirty="0" smtClean="0"/>
              <a:t>8.4</a:t>
            </a:r>
            <a:endParaRPr lang="en-US" dirty="0"/>
          </a:p>
        </p:txBody>
      </p:sp>
      <p:sp>
        <p:nvSpPr>
          <p:cNvPr id="5" name="Content Placeholder 4"/>
          <p:cNvSpPr>
            <a:spLocks noGrp="1"/>
          </p:cNvSpPr>
          <p:nvPr>
            <p:ph sz="quarter" idx="15"/>
          </p:nvPr>
        </p:nvSpPr>
        <p:spPr/>
        <p:txBody>
          <a:bodyPr/>
          <a:lstStyle/>
          <a:p>
            <a:r>
              <a:rPr lang="en-US" b="1" dirty="0">
                <a:solidFill>
                  <a:srgbClr val="535AAC"/>
                </a:solidFill>
              </a:rPr>
              <a:t>Automation</a:t>
            </a:r>
            <a:r>
              <a:rPr lang="en-US" dirty="0"/>
              <a:t> lets the computer make decisions on its own according to a preset program. </a:t>
            </a:r>
            <a:endParaRPr lang="en-US" dirty="0" smtClean="0"/>
          </a:p>
          <a:p>
            <a:endParaRPr lang="en-US" dirty="0"/>
          </a:p>
          <a:p>
            <a:r>
              <a:rPr lang="en-US" dirty="0" smtClean="0"/>
              <a:t>For </a:t>
            </a:r>
            <a:r>
              <a:rPr lang="en-US" dirty="0"/>
              <a:t>instance, when a door with an infrared sensor detects someone walking past, it will open automatically</a:t>
            </a:r>
            <a:r>
              <a:rPr lang="en-US" dirty="0" smtClean="0"/>
              <a:t>.</a:t>
            </a:r>
            <a:endParaRPr lang="en-US" dirty="0"/>
          </a:p>
        </p:txBody>
      </p:sp>
    </p:spTree>
    <p:extLst>
      <p:ext uri="{BB962C8B-B14F-4D97-AF65-F5344CB8AC3E}">
        <p14:creationId xmlns:p14="http://schemas.microsoft.com/office/powerpoint/2010/main" val="35556757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Automation</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4"/>
          </p:nvPr>
        </p:nvSpPr>
        <p:spPr/>
        <p:txBody>
          <a:bodyPr/>
          <a:lstStyle/>
          <a:p>
            <a:r>
              <a:rPr lang="en-US" dirty="0" smtClean="0"/>
              <a:t>8.4</a:t>
            </a:r>
            <a:endParaRPr lang="en-US" dirty="0"/>
          </a:p>
        </p:txBody>
      </p:sp>
      <p:sp>
        <p:nvSpPr>
          <p:cNvPr id="5" name="Content Placeholder 4"/>
          <p:cNvSpPr>
            <a:spLocks noGrp="1"/>
          </p:cNvSpPr>
          <p:nvPr>
            <p:ph sz="quarter" idx="15"/>
          </p:nvPr>
        </p:nvSpPr>
        <p:spPr/>
        <p:txBody>
          <a:bodyPr/>
          <a:lstStyle/>
          <a:p>
            <a:r>
              <a:rPr lang="en-US" dirty="0" smtClean="0"/>
              <a:t>When </a:t>
            </a:r>
            <a:r>
              <a:rPr lang="en-US" dirty="0"/>
              <a:t>the light sensor detects that the surroundings are dark, the LED will be turned on; when the surroundings are bright, the LED will be turned off.</a:t>
            </a:r>
          </a:p>
        </p:txBody>
      </p:sp>
      <p:pic>
        <p:nvPicPr>
          <p:cNvPr id="6" name="Picture 5"/>
          <p:cNvPicPr>
            <a:picLocks noChangeAspect="1"/>
          </p:cNvPicPr>
          <p:nvPr/>
        </p:nvPicPr>
        <p:blipFill>
          <a:blip r:embed="rId2"/>
          <a:stretch>
            <a:fillRect/>
          </a:stretch>
        </p:blipFill>
        <p:spPr>
          <a:xfrm>
            <a:off x="2350996" y="2869200"/>
            <a:ext cx="7491207" cy="3405094"/>
          </a:xfrm>
          <a:prstGeom prst="rect">
            <a:avLst/>
          </a:prstGeom>
        </p:spPr>
      </p:pic>
    </p:spTree>
    <p:extLst>
      <p:ext uri="{BB962C8B-B14F-4D97-AF65-F5344CB8AC3E}">
        <p14:creationId xmlns:p14="http://schemas.microsoft.com/office/powerpoint/2010/main" val="16801893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Complete Checkpoint 8.3 on P. 325 of the textbook.</a:t>
            </a:r>
          </a:p>
          <a:p>
            <a:endParaRPr lang="en-US" dirty="0"/>
          </a:p>
          <a:p>
            <a:r>
              <a:rPr lang="en-US" dirty="0" smtClean="0">
                <a:solidFill>
                  <a:srgbClr val="FF0000"/>
                </a:solidFill>
              </a:rPr>
              <a:t>1. a</a:t>
            </a:r>
            <a:r>
              <a:rPr lang="en-US" dirty="0">
                <a:solidFill>
                  <a:srgbClr val="FF0000"/>
                </a:solidFill>
              </a:rPr>
              <a:t>) Ultrasonic sensor / Passive infrared (PIR) motion </a:t>
            </a:r>
            <a:r>
              <a:rPr lang="en-US" dirty="0" smtClean="0">
                <a:solidFill>
                  <a:srgbClr val="FF0000"/>
                </a:solidFill>
              </a:rPr>
              <a:t>sensor</a:t>
            </a:r>
          </a:p>
          <a:p>
            <a:endParaRPr lang="en-US" dirty="0">
              <a:solidFill>
                <a:srgbClr val="FF0000"/>
              </a:solidFill>
            </a:endParaRPr>
          </a:p>
          <a:p>
            <a:r>
              <a:rPr lang="en-US" dirty="0" smtClean="0">
                <a:solidFill>
                  <a:srgbClr val="FF0000"/>
                </a:solidFill>
              </a:rPr>
              <a:t>b</a:t>
            </a:r>
            <a:r>
              <a:rPr lang="en-US" dirty="0">
                <a:solidFill>
                  <a:srgbClr val="FF0000"/>
                </a:solidFill>
              </a:rPr>
              <a:t>) Temperature sensor. When the temperature sensor detects the change in the temperature in the room, the reading of the sensor changes accordingly. Then the system adjusts the temperature of the air-conditioner until the reading returns to the target value. (When the reading of the temperature sensor is lower than the threshold value, the system raises the temperature of the air-conditioner; otherwise, the system lowers the temperature of the air-conditioner.)</a:t>
            </a:r>
          </a:p>
        </p:txBody>
      </p:sp>
      <p:sp>
        <p:nvSpPr>
          <p:cNvPr id="3" name="Slide Number Placeholder 2"/>
          <p:cNvSpPr>
            <a:spLocks noGrp="1"/>
          </p:cNvSpPr>
          <p:nvPr>
            <p:ph type="sldNum" sz="quarter" idx="12"/>
          </p:nvPr>
        </p:nvSpPr>
        <p:spPr/>
        <p:txBody>
          <a:bodyPr/>
          <a:lstStyle/>
          <a:p>
            <a:fld id="{6D22F896-40B5-4ADD-8801-0D06FADFA095}" type="slidenum">
              <a:rPr lang="en-US" smtClean="0"/>
              <a:t>18</a:t>
            </a:fld>
            <a:endParaRPr lang="en-US" dirty="0"/>
          </a:p>
        </p:txBody>
      </p:sp>
      <p:sp>
        <p:nvSpPr>
          <p:cNvPr id="4" name="Text Placeholder 3"/>
          <p:cNvSpPr>
            <a:spLocks noGrp="1"/>
          </p:cNvSpPr>
          <p:nvPr>
            <p:ph type="body" sz="quarter" idx="13"/>
          </p:nvPr>
        </p:nvSpPr>
        <p:spPr/>
        <p:txBody>
          <a:bodyPr/>
          <a:lstStyle/>
          <a:p>
            <a:r>
              <a:rPr lang="en-US" dirty="0" smtClean="0"/>
              <a:t>8.3</a:t>
            </a:r>
            <a:endParaRPr lang="en-US" dirty="0"/>
          </a:p>
        </p:txBody>
      </p:sp>
    </p:spTree>
    <p:extLst>
      <p:ext uri="{BB962C8B-B14F-4D97-AF65-F5344CB8AC3E}">
        <p14:creationId xmlns:p14="http://schemas.microsoft.com/office/powerpoint/2010/main" val="133848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fade">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solidFill>
                  <a:srgbClr val="FF0000"/>
                </a:solidFill>
              </a:rPr>
              <a:t>2. a) Water temperature sensor</a:t>
            </a:r>
          </a:p>
          <a:p>
            <a:r>
              <a:rPr lang="en-US" dirty="0" smtClean="0">
                <a:solidFill>
                  <a:srgbClr val="FF0000"/>
                </a:solidFill>
              </a:rPr>
              <a:t/>
            </a:r>
            <a:br>
              <a:rPr lang="en-US" dirty="0" smtClean="0">
                <a:solidFill>
                  <a:srgbClr val="FF0000"/>
                </a:solidFill>
              </a:rPr>
            </a:br>
            <a:r>
              <a:rPr lang="en-US" dirty="0" smtClean="0">
                <a:solidFill>
                  <a:srgbClr val="FF0000"/>
                </a:solidFill>
              </a:rPr>
              <a:t>b) LED, buzzer</a:t>
            </a:r>
            <a:endParaRPr lang="en-US" dirty="0"/>
          </a:p>
          <a:p>
            <a:r>
              <a:rPr lang="en-US" dirty="0" smtClean="0"/>
              <a:t/>
            </a:r>
            <a:br>
              <a:rPr lang="en-US" dirty="0" smtClean="0"/>
            </a:br>
            <a:r>
              <a:rPr lang="en-US" dirty="0" smtClean="0">
                <a:solidFill>
                  <a:srgbClr val="FF0000"/>
                </a:solidFill>
              </a:rPr>
              <a:t>c) </a:t>
            </a:r>
            <a:endParaRPr lang="en-US" dirty="0">
              <a:solidFill>
                <a:srgbClr val="FF0000"/>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19</a:t>
            </a:fld>
            <a:endParaRPr lang="en-US" dirty="0"/>
          </a:p>
        </p:txBody>
      </p:sp>
      <p:sp>
        <p:nvSpPr>
          <p:cNvPr id="4" name="Text Placeholder 3"/>
          <p:cNvSpPr>
            <a:spLocks noGrp="1"/>
          </p:cNvSpPr>
          <p:nvPr>
            <p:ph type="body" sz="quarter" idx="13"/>
          </p:nvPr>
        </p:nvSpPr>
        <p:spPr/>
        <p:txBody>
          <a:bodyPr/>
          <a:lstStyle/>
          <a:p>
            <a:r>
              <a:rPr lang="en-US" dirty="0" smtClean="0"/>
              <a:t>8.3</a:t>
            </a:r>
            <a:endParaRPr lang="en-US" dirty="0"/>
          </a:p>
        </p:txBody>
      </p:sp>
      <p:pic>
        <p:nvPicPr>
          <p:cNvPr id="5" name="Picture 4"/>
          <p:cNvPicPr>
            <a:picLocks noChangeAspect="1"/>
          </p:cNvPicPr>
          <p:nvPr/>
        </p:nvPicPr>
        <p:blipFill>
          <a:blip r:embed="rId2"/>
          <a:stretch>
            <a:fillRect/>
          </a:stretch>
        </p:blipFill>
        <p:spPr>
          <a:xfrm>
            <a:off x="1398551" y="3050845"/>
            <a:ext cx="4873581" cy="3252755"/>
          </a:xfrm>
          <a:prstGeom prst="rect">
            <a:avLst/>
          </a:prstGeom>
        </p:spPr>
      </p:pic>
    </p:spTree>
    <p:extLst>
      <p:ext uri="{BB962C8B-B14F-4D97-AF65-F5344CB8AC3E}">
        <p14:creationId xmlns:p14="http://schemas.microsoft.com/office/powerpoint/2010/main" val="83092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3. </a:t>
            </a:r>
            <a:r>
              <a:rPr lang="en-US" dirty="0" smtClean="0">
                <a:solidFill>
                  <a:srgbClr val="FF0000"/>
                </a:solidFill>
              </a:rPr>
              <a:t>Reduce </a:t>
            </a:r>
            <a:r>
              <a:rPr lang="en-US" dirty="0">
                <a:solidFill>
                  <a:srgbClr val="FF0000"/>
                </a:solidFill>
              </a:rPr>
              <a:t>manual work / Enhance cost-effectiveness / Able to operate continuously</a:t>
            </a:r>
          </a:p>
        </p:txBody>
      </p:sp>
      <p:sp>
        <p:nvSpPr>
          <p:cNvPr id="3" name="Slide Number Placeholder 2"/>
          <p:cNvSpPr>
            <a:spLocks noGrp="1"/>
          </p:cNvSpPr>
          <p:nvPr>
            <p:ph type="sldNum" sz="quarter" idx="12"/>
          </p:nvPr>
        </p:nvSpPr>
        <p:spPr/>
        <p:txBody>
          <a:bodyPr/>
          <a:lstStyle/>
          <a:p>
            <a:fld id="{6D22F896-40B5-4ADD-8801-0D06FADFA095}" type="slidenum">
              <a:rPr lang="en-US" smtClean="0"/>
              <a:t>20</a:t>
            </a:fld>
            <a:endParaRPr lang="en-US" dirty="0"/>
          </a:p>
        </p:txBody>
      </p:sp>
      <p:sp>
        <p:nvSpPr>
          <p:cNvPr id="4" name="Text Placeholder 3"/>
          <p:cNvSpPr>
            <a:spLocks noGrp="1"/>
          </p:cNvSpPr>
          <p:nvPr>
            <p:ph type="body" sz="quarter" idx="13"/>
          </p:nvPr>
        </p:nvSpPr>
        <p:spPr/>
        <p:txBody>
          <a:bodyPr/>
          <a:lstStyle/>
          <a:p>
            <a:r>
              <a:rPr lang="en-US" dirty="0" smtClean="0"/>
              <a:t>8.3</a:t>
            </a:r>
            <a:endParaRPr lang="en-US" dirty="0"/>
          </a:p>
        </p:txBody>
      </p:sp>
    </p:spTree>
    <p:extLst>
      <p:ext uri="{BB962C8B-B14F-4D97-AF65-F5344CB8AC3E}">
        <p14:creationId xmlns:p14="http://schemas.microsoft.com/office/powerpoint/2010/main" val="2778566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of Things (</a:t>
            </a:r>
            <a:r>
              <a:rPr lang="en-US" dirty="0" err="1"/>
              <a:t>IoT</a:t>
            </a:r>
            <a:r>
              <a:rPr lang="en-US" dirty="0"/>
              <a:t>), Artificial Intelligence (AI) and Smart Living</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4" name="Text Placeholder 3"/>
          <p:cNvSpPr>
            <a:spLocks noGrp="1"/>
          </p:cNvSpPr>
          <p:nvPr>
            <p:ph type="body" sz="quarter" idx="14"/>
          </p:nvPr>
        </p:nvSpPr>
        <p:spPr/>
        <p:txBody>
          <a:bodyPr/>
          <a:lstStyle/>
          <a:p>
            <a:r>
              <a:rPr lang="en-US" dirty="0" smtClean="0"/>
              <a:t>8.5</a:t>
            </a:r>
            <a:endParaRPr lang="en-US" dirty="0"/>
          </a:p>
        </p:txBody>
      </p:sp>
      <p:sp>
        <p:nvSpPr>
          <p:cNvPr id="5" name="Content Placeholder 4"/>
          <p:cNvSpPr>
            <a:spLocks noGrp="1"/>
          </p:cNvSpPr>
          <p:nvPr>
            <p:ph sz="quarter" idx="15"/>
          </p:nvPr>
        </p:nvSpPr>
        <p:spPr/>
        <p:txBody>
          <a:bodyPr/>
          <a:lstStyle/>
          <a:p>
            <a:r>
              <a:rPr lang="en-US" b="1" dirty="0" smtClean="0">
                <a:solidFill>
                  <a:srgbClr val="535AAC"/>
                </a:solidFill>
              </a:rPr>
              <a:t>Internet of Things (</a:t>
            </a:r>
            <a:r>
              <a:rPr lang="en-US" b="1" dirty="0" err="1" smtClean="0">
                <a:solidFill>
                  <a:srgbClr val="535AAC"/>
                </a:solidFill>
              </a:rPr>
              <a:t>IoT</a:t>
            </a:r>
            <a:r>
              <a:rPr lang="en-US" b="1" dirty="0" smtClean="0">
                <a:solidFill>
                  <a:srgbClr val="535AAC"/>
                </a:solidFill>
              </a:rPr>
              <a:t>)</a:t>
            </a:r>
            <a:r>
              <a:rPr lang="en-US" dirty="0" smtClean="0"/>
              <a:t> </a:t>
            </a:r>
            <a:r>
              <a:rPr lang="en-US" dirty="0"/>
              <a:t>is the network of objects. These objects can connect to sensors and the Internet so that data can be transferred among one another. </a:t>
            </a:r>
            <a:endParaRPr lang="en-US" dirty="0" smtClean="0"/>
          </a:p>
          <a:p>
            <a:endParaRPr lang="en-US" dirty="0"/>
          </a:p>
          <a:p>
            <a:r>
              <a:rPr lang="en-US" dirty="0" smtClean="0"/>
              <a:t>When </a:t>
            </a:r>
            <a:r>
              <a:rPr lang="en-US" dirty="0"/>
              <a:t>paired with pre-set programs, sensors and computers can collect and process data more effectively than humans do, and then help the system make automatic and appropriate decisions.</a:t>
            </a:r>
          </a:p>
        </p:txBody>
      </p:sp>
      <p:pic>
        <p:nvPicPr>
          <p:cNvPr id="7" name="Picture 6"/>
          <p:cNvPicPr>
            <a:picLocks noChangeAspect="1"/>
          </p:cNvPicPr>
          <p:nvPr/>
        </p:nvPicPr>
        <p:blipFill>
          <a:blip r:embed="rId2"/>
          <a:stretch>
            <a:fillRect/>
          </a:stretch>
        </p:blipFill>
        <p:spPr>
          <a:xfrm>
            <a:off x="1486402" y="4023826"/>
            <a:ext cx="9220395" cy="2367212"/>
          </a:xfrm>
          <a:prstGeom prst="rect">
            <a:avLst/>
          </a:prstGeom>
        </p:spPr>
      </p:pic>
    </p:spTree>
    <p:extLst>
      <p:ext uri="{BB962C8B-B14F-4D97-AF65-F5344CB8AC3E}">
        <p14:creationId xmlns:p14="http://schemas.microsoft.com/office/powerpoint/2010/main" val="20881725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of Things (</a:t>
            </a:r>
            <a:r>
              <a:rPr lang="en-US" dirty="0" err="1"/>
              <a:t>IoT</a:t>
            </a:r>
            <a:r>
              <a:rPr lang="en-US" dirty="0"/>
              <a:t>), Artificial Intelligence (AI) and Smart Living</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22</a:t>
            </a:fld>
            <a:endParaRPr lang="en-US" dirty="0"/>
          </a:p>
        </p:txBody>
      </p:sp>
      <p:sp>
        <p:nvSpPr>
          <p:cNvPr id="4" name="Text Placeholder 3"/>
          <p:cNvSpPr>
            <a:spLocks noGrp="1"/>
          </p:cNvSpPr>
          <p:nvPr>
            <p:ph type="body" sz="quarter" idx="14"/>
          </p:nvPr>
        </p:nvSpPr>
        <p:spPr/>
        <p:txBody>
          <a:bodyPr/>
          <a:lstStyle/>
          <a:p>
            <a:r>
              <a:rPr lang="en-US" dirty="0" smtClean="0"/>
              <a:t>8.5</a:t>
            </a:r>
            <a:endParaRPr lang="en-US" dirty="0"/>
          </a:p>
        </p:txBody>
      </p:sp>
      <p:sp>
        <p:nvSpPr>
          <p:cNvPr id="5" name="Content Placeholder 4"/>
          <p:cNvSpPr>
            <a:spLocks noGrp="1"/>
          </p:cNvSpPr>
          <p:nvPr>
            <p:ph sz="quarter" idx="15"/>
          </p:nvPr>
        </p:nvSpPr>
        <p:spPr/>
        <p:txBody>
          <a:bodyPr/>
          <a:lstStyle/>
          <a:p>
            <a:r>
              <a:rPr lang="en-US" dirty="0"/>
              <a:t>By integrating the technologies of AI, big data and </a:t>
            </a:r>
            <a:r>
              <a:rPr lang="en-US" dirty="0" err="1"/>
              <a:t>IoT</a:t>
            </a:r>
            <a:r>
              <a:rPr lang="en-US" dirty="0"/>
              <a:t> in solving problems, </a:t>
            </a:r>
            <a:r>
              <a:rPr lang="en-US" b="1" dirty="0">
                <a:solidFill>
                  <a:srgbClr val="535AAC"/>
                </a:solidFill>
              </a:rPr>
              <a:t>Artificial Intelligence of Things</a:t>
            </a:r>
            <a:r>
              <a:rPr lang="en-US" dirty="0"/>
              <a:t> (</a:t>
            </a:r>
            <a:r>
              <a:rPr lang="en-US" b="1" dirty="0" err="1">
                <a:solidFill>
                  <a:srgbClr val="535AAC"/>
                </a:solidFill>
              </a:rPr>
              <a:t>AIoT</a:t>
            </a:r>
            <a:r>
              <a:rPr lang="en-US" dirty="0"/>
              <a:t>) develops a new field in innovative technology. </a:t>
            </a:r>
            <a:endParaRPr lang="en-US" dirty="0" smtClean="0"/>
          </a:p>
          <a:p>
            <a:endParaRPr lang="en-US" dirty="0"/>
          </a:p>
          <a:p>
            <a:r>
              <a:rPr lang="en-US" dirty="0" smtClean="0"/>
              <a:t>After </a:t>
            </a:r>
            <a:r>
              <a:rPr lang="en-US" dirty="0" err="1"/>
              <a:t>analysing</a:t>
            </a:r>
            <a:r>
              <a:rPr lang="en-US" dirty="0"/>
              <a:t> and interpreting the big data with AI, </a:t>
            </a:r>
            <a:r>
              <a:rPr lang="en-US" dirty="0" smtClean="0"/>
              <a:t>AI can </a:t>
            </a:r>
            <a:r>
              <a:rPr lang="en-US" dirty="0"/>
              <a:t>take corresponding actions automatically or serve as references for our decision-making. </a:t>
            </a:r>
            <a:endParaRPr lang="en-US" dirty="0" smtClean="0"/>
          </a:p>
        </p:txBody>
      </p:sp>
    </p:spTree>
    <p:extLst>
      <p:ext uri="{BB962C8B-B14F-4D97-AF65-F5344CB8AC3E}">
        <p14:creationId xmlns:p14="http://schemas.microsoft.com/office/powerpoint/2010/main" val="13581009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of Things (</a:t>
            </a:r>
            <a:r>
              <a:rPr lang="en-US" dirty="0" err="1"/>
              <a:t>IoT</a:t>
            </a:r>
            <a:r>
              <a:rPr lang="en-US" dirty="0"/>
              <a:t>), Artificial Intelligence (AI) and Smart Living</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23</a:t>
            </a:fld>
            <a:endParaRPr lang="en-US" dirty="0"/>
          </a:p>
        </p:txBody>
      </p:sp>
      <p:sp>
        <p:nvSpPr>
          <p:cNvPr id="4" name="Text Placeholder 3"/>
          <p:cNvSpPr>
            <a:spLocks noGrp="1"/>
          </p:cNvSpPr>
          <p:nvPr>
            <p:ph type="body" sz="quarter" idx="14"/>
          </p:nvPr>
        </p:nvSpPr>
        <p:spPr/>
        <p:txBody>
          <a:bodyPr/>
          <a:lstStyle/>
          <a:p>
            <a:r>
              <a:rPr lang="en-US" dirty="0" smtClean="0"/>
              <a:t>8.5</a:t>
            </a:r>
            <a:endParaRPr lang="en-US" dirty="0"/>
          </a:p>
        </p:txBody>
      </p:sp>
      <p:sp>
        <p:nvSpPr>
          <p:cNvPr id="5" name="Content Placeholder 4"/>
          <p:cNvSpPr>
            <a:spLocks noGrp="1"/>
          </p:cNvSpPr>
          <p:nvPr>
            <p:ph sz="quarter" idx="15"/>
          </p:nvPr>
        </p:nvSpPr>
        <p:spPr/>
        <p:txBody>
          <a:bodyPr/>
          <a:lstStyle/>
          <a:p>
            <a:r>
              <a:rPr lang="en-US" dirty="0"/>
              <a:t>For example, the government and transport companies install cameras or sensors on roads to </a:t>
            </a:r>
            <a:r>
              <a:rPr lang="en-US" dirty="0" err="1"/>
              <a:t>analyse</a:t>
            </a:r>
            <a:r>
              <a:rPr lang="en-US" dirty="0"/>
              <a:t> and estimate the journey time based on the actual traffic flow detected. </a:t>
            </a:r>
            <a:br>
              <a:rPr lang="en-US" dirty="0"/>
            </a:br>
            <a:r>
              <a:rPr lang="en-US" dirty="0" smtClean="0"/>
              <a:t/>
            </a:r>
            <a:br>
              <a:rPr lang="en-US" dirty="0" smtClean="0"/>
            </a:br>
            <a:r>
              <a:rPr lang="en-US" dirty="0" smtClean="0"/>
              <a:t>Next</a:t>
            </a:r>
            <a:r>
              <a:rPr lang="en-US" dirty="0"/>
              <a:t>, they can provide real-time traffic information on the Internet </a:t>
            </a:r>
            <a:r>
              <a:rPr lang="en-US" dirty="0" smtClean="0"/>
              <a:t>to </a:t>
            </a:r>
            <a:r>
              <a:rPr lang="en-US" dirty="0"/>
              <a:t>help citizens plan their journeys better, thereby alleviating traffic congestion.</a:t>
            </a:r>
          </a:p>
          <a:p>
            <a:endParaRPr lang="en-US" dirty="0"/>
          </a:p>
        </p:txBody>
      </p:sp>
      <p:pic>
        <p:nvPicPr>
          <p:cNvPr id="6" name="Picture 5"/>
          <p:cNvPicPr>
            <a:picLocks noChangeAspect="1"/>
          </p:cNvPicPr>
          <p:nvPr/>
        </p:nvPicPr>
        <p:blipFill>
          <a:blip r:embed="rId2"/>
          <a:stretch>
            <a:fillRect/>
          </a:stretch>
        </p:blipFill>
        <p:spPr>
          <a:xfrm>
            <a:off x="2092556" y="3767998"/>
            <a:ext cx="8008088" cy="2623039"/>
          </a:xfrm>
          <a:prstGeom prst="rect">
            <a:avLst/>
          </a:prstGeom>
        </p:spPr>
      </p:pic>
    </p:spTree>
    <p:extLst>
      <p:ext uri="{BB962C8B-B14F-4D97-AF65-F5344CB8AC3E}">
        <p14:creationId xmlns:p14="http://schemas.microsoft.com/office/powerpoint/2010/main" val="118932886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30427">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Presentation5" id="{870A11EB-92D6-4F97-997A-48342F7B5A00}" vid="{0765A16F-C91A-4B03-A6B8-7E4395E092E3}"/>
    </a:ext>
  </a:extLst>
</a:theme>
</file>

<file path=docProps/app.xml><?xml version="1.0" encoding="utf-8"?>
<Properties xmlns="http://schemas.openxmlformats.org/officeDocument/2006/extended-properties" xmlns:vt="http://schemas.openxmlformats.org/officeDocument/2006/docPropsVTypes">
  <Template>DSEPPT_EN_Kelie_20230427</Template>
  <TotalTime>304</TotalTime>
  <Words>921</Words>
  <Application>Microsoft Office PowerPoint</Application>
  <PresentationFormat>Widescreen</PresentationFormat>
  <Paragraphs>127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Noto Sans CJK KR Black</vt:lpstr>
      <vt:lpstr>Arial</vt:lpstr>
      <vt:lpstr>Myriad Pro</vt:lpstr>
      <vt:lpstr>Tw Cen MT</vt:lpstr>
      <vt:lpstr>DSEPPT_EN_Kelie_20230427</vt:lpstr>
      <vt:lpstr>Chapter 8 Applications of Programming  in Real Life</vt:lpstr>
      <vt:lpstr>Maker Culture</vt:lpstr>
      <vt:lpstr>Maker Culture</vt:lpstr>
      <vt:lpstr>Input and Output Devices</vt:lpstr>
      <vt:lpstr>Input devices</vt:lpstr>
      <vt:lpstr>Input devices</vt:lpstr>
      <vt:lpstr>Input devices</vt:lpstr>
      <vt:lpstr>Output devices</vt:lpstr>
      <vt:lpstr>PowerPoint Presentation</vt:lpstr>
      <vt:lpstr>Programmable Microcontrollers</vt:lpstr>
      <vt:lpstr>Programmable Microcontrollers</vt:lpstr>
      <vt:lpstr>Forever loops</vt:lpstr>
      <vt:lpstr>Event-driven programming</vt:lpstr>
      <vt:lpstr>PowerPoint Presentation</vt:lpstr>
      <vt:lpstr>Automation</vt:lpstr>
      <vt:lpstr>Automation</vt:lpstr>
      <vt:lpstr>Automation</vt:lpstr>
      <vt:lpstr>PowerPoint Presentation</vt:lpstr>
      <vt:lpstr>PowerPoint Presentation</vt:lpstr>
      <vt:lpstr>PowerPoint Presentation</vt:lpstr>
      <vt:lpstr>Internet of Things (IoT), Artificial Intelligence (AI) and Smart Living</vt:lpstr>
      <vt:lpstr>Internet of Things (IoT), Artificial Intelligence (AI) and Smart Living</vt:lpstr>
      <vt:lpstr>Internet of Things (IoT), Artificial Intelligence (AI) and Smart Living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Applications of Programming in Real Life</dc:title>
  <dc:creator>iClass</dc:creator>
  <cp:lastModifiedBy>iClass</cp:lastModifiedBy>
  <cp:revision>19</cp:revision>
  <dcterms:created xsi:type="dcterms:W3CDTF">2023-07-10T06:33:20Z</dcterms:created>
  <dcterms:modified xsi:type="dcterms:W3CDTF">2023-07-11T02:40:26Z</dcterms:modified>
</cp:coreProperties>
</file>