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4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323" r:id="rId19"/>
    <p:sldId id="324" r:id="rId20"/>
    <p:sldId id="325" r:id="rId21"/>
    <p:sldId id="326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327" r:id="rId44"/>
    <p:sldId id="328" r:id="rId45"/>
    <p:sldId id="295" r:id="rId46"/>
    <p:sldId id="329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A2D3"/>
    <a:srgbClr val="4B4DA1"/>
    <a:srgbClr val="7DAA42"/>
    <a:srgbClr val="CF9B3C"/>
    <a:srgbClr val="87C4E7"/>
    <a:srgbClr val="D93464"/>
    <a:srgbClr val="6C6D70"/>
    <a:srgbClr val="8B82C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97C56F-506D-1CBF-DAEA-5491D01967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3145542" cy="505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8FD09F-D8A1-E336-3B87-044CB68F4B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6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BE4C03-EDAE-8A34-CB24-BDAA03524E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4093472" cy="5059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DAD781-428A-67D8-7C55-666DFF21CB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36497C4-9FC9-151F-62D2-FB395805F0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61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7E881E-670F-B298-11FD-7D2AE51F6D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97C5F1C-1E54-2755-BD09-8B53BEC6CE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3642367" cy="5059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7AA30C-B131-11B2-D159-FECF538D59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14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0B2444-920A-39A5-579B-B54FCADA567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5117602" cy="505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506DF5-D585-C85A-7378-578CF95524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6743423-DF9F-5DF4-442D-BF34F62A7AC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52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61E0BB-AC62-05F4-05B8-418A002D64E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48" y="2853016"/>
            <a:ext cx="2660909" cy="5059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C61186-C2CB-33BF-880D-468C0FE8B4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390D0C5-32B0-F4A3-8473-6945918A77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74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lecA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C75235-0293-8136-6524-0EEAD91BBF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1813564" cy="505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7CD102-4498-ACB1-C72C-8082CD0325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26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lecB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8E981E-C35F-E8F8-DE42-4B0CC68BF4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3864872" cy="505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4FA34B-69E2-DB1D-D9D7-52FE3BD9BD0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670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lecC-Cover-EN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defRPr b="1">
                <a:solidFill>
                  <a:srgbClr val="007078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GB" altLang="zh-TW" sz="5600" b="1" dirty="0">
                <a:solidFill>
                  <a:srgbClr val="00A0A9"/>
                </a:solidFill>
                <a:latin typeface="Myriad Pro" panose="020B0503030403020204" pitchFamily="34" charset="0"/>
                <a:ea typeface="Noto Sans CJK KR Black" panose="020B0A00000000000000" pitchFamily="34" charset="-128"/>
              </a:rPr>
              <a:t>ICT for iGeneration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A66CFB-18D0-6F75-8C97-40CC53CD963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448" y="2853016"/>
            <a:ext cx="3691136" cy="505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316255-5138-F681-0D2B-20384F1BB20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8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orange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7C0BD9D-B8ED-5511-960F-8CA63E3A3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624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blue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117F345-65C2-2CD1-DC0D-64AC50F13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>
            <a:lvl1pPr>
              <a:defRPr>
                <a:latin typeface="Myriad Pro" panose="020B0503030403020204" pitchFamily="34" charset="0"/>
              </a:defRPr>
            </a:lvl1pPr>
            <a:lvl2pPr>
              <a:defRPr>
                <a:latin typeface="Myriad Pro" panose="020B0503030403020204" pitchFamily="34" charset="0"/>
              </a:defRPr>
            </a:lvl2pPr>
            <a:lvl3pPr>
              <a:defRPr>
                <a:latin typeface="Myriad Pro" panose="020B0503030403020204" pitchFamily="34" charset="0"/>
              </a:defRPr>
            </a:lvl3pPr>
            <a:lvl4pPr>
              <a:defRPr>
                <a:latin typeface="Myriad Pro" panose="020B0503030403020204" pitchFamily="34" charset="0"/>
              </a:defRPr>
            </a:lvl4pPr>
            <a:lvl5pPr>
              <a:defRPr>
                <a:latin typeface="Myriad Pro" panose="020B0503030403020204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3244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green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11348A-7A65-4D63-9999-43FC28C9E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894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red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6142E-F691-EA8F-3DCD-7E4A78F2E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73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cyan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2C15972-37F2-DAE7-8C10-98E52C044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>
            <a:lvl1pPr>
              <a:defRPr>
                <a:latin typeface="Myriad Pro" panose="020B0503030403020204" pitchFamily="34" charset="0"/>
              </a:defRPr>
            </a:lvl1pPr>
            <a:lvl2pPr>
              <a:defRPr>
                <a:latin typeface="Myriad Pro" panose="020B0503030403020204" pitchFamily="34" charset="0"/>
              </a:defRPr>
            </a:lvl2pPr>
            <a:lvl3pPr>
              <a:defRPr>
                <a:latin typeface="Myriad Pro" panose="020B0503030403020204" pitchFamily="34" charset="0"/>
              </a:defRPr>
            </a:lvl3pPr>
            <a:lvl4pPr>
              <a:defRPr>
                <a:latin typeface="Myriad Pro" panose="020B0503030403020204" pitchFamily="34" charset="0"/>
              </a:defRPr>
            </a:lvl4pPr>
            <a:lvl5pPr>
              <a:defRPr>
                <a:latin typeface="Myriad Pro" panose="020B0503030403020204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4144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nip Diagonal Corner Rectangle 3">
            <a:extLst>
              <a:ext uri="{FF2B5EF4-FFF2-40B4-BE49-F238E27FC236}">
                <a16:creationId xmlns:a16="http://schemas.microsoft.com/office/drawing/2014/main" id="{B505DC89-2E6F-5786-39F5-2B4AC2C46AF0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C26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3D25585-2BA2-DAE6-6CD9-0856FBF8481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514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72874D61-669D-1562-9471-3F57078BE147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2132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B5BC051-110A-C89D-9342-F257EABF8C2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7905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A2D0F62E-5468-5683-75D2-94AABF0D8A47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0078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369FF4-FA36-C573-1B73-72B7F94DBF1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728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4DAD662D-900F-5555-5351-CB7EA4561EB7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8AEC8F0B-7C47-5026-ABEB-5E962B7394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722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id="{215673C9-3F6B-C178-D494-7C8B73C3CDF6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3F82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C9063645-AAC5-51BC-FFC8-34CC9F594B5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3791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xample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3BB63A3-9AB5-EBAC-F6F9-327B22130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B0149AE-399E-56CA-418B-96532FF191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212307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02632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eckpoint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F9B736-CC97-6F5A-03D8-7FA0AF198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704400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1645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ctivity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3E1F40-9013-EBB0-F98A-0AFCFACA2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170999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50399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b-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9646B7-AEA6-E416-7BF3-052FDD7D2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5/11/2023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467612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82824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isconce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7B0A839-D23C-1435-A186-FA67B6572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MISCONCEPTION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5FBDB0-6C27-C606-20C5-686A00F1877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693716" y="1609199"/>
            <a:ext cx="9660083" cy="215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2C0F3B-5325-9C8D-A663-14E64C0C815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93716" y="4024188"/>
            <a:ext cx="9658800" cy="216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68146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 ab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94735F-B64E-887A-0584-E2B7E148B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THINK ABOUT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69195DCF-0E55-AAB5-1074-39FAB8E195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0290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3F49635-7B62-1BF0-3627-0DEF2D36B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84AD40"/>
                </a:solidFill>
              </a:rPr>
              <a:t>TIP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9E46E5CA-E96E-2DB9-64FE-5E1D76C77C9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29095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a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E6276F9-8CAE-0301-EC9B-559DB9D08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ANALOGY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15CCE8C4-EE82-5FA1-86D9-7618ACBB4E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470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rich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C24769-7557-7417-69AD-C7D98D6EF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ENRICHMENT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C0FDA7B9-3B4F-45FE-C0CB-6CE489DF46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2345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storical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365613-9A6E-EC8F-CC4F-45C6843B5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HISTORICAL NOTE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FE9C956-B01C-9F5B-D06E-B224FA04F06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1021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EAM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9F6A893-6ACD-62D2-E506-31CE1C78B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STEAM+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D8CACC2A-8E2C-4654-1BEE-FF9B00C1EA1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75974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52B39E-570D-BB77-3EC2-68BF2DA34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82711" y="6492875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C6993D"/>
                </a:solidFill>
              </a:rPr>
              <a:t>RESOURCE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7873EF2F-CB2D-FF0C-FE7E-4E5878DAD73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78480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221140A-902D-C446-8456-B18F8CA151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833800" y="1609200"/>
            <a:ext cx="2520000" cy="3283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314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10F294E-2671-69F2-AD8E-91EF65CCF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5/11/2023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F720291-4918-3157-E8A0-2C33F024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4E269C-57B9-5795-9B37-30D8685C0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1251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2754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5CB804-96AA-A5E1-7170-B54411166665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CE581-C706-43BB-9E93-1B4DA785C440}" type="datetime1">
              <a:rPr lang="en-US" smtClean="0"/>
              <a:t>5/11/2023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58C60C-B777-2B7A-945B-E3C184807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431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25" r:id="rId6"/>
    <p:sldLayoutId id="2147483726" r:id="rId7"/>
    <p:sldLayoutId id="2147483727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21" r:id="rId15"/>
    <p:sldLayoutId id="2147483722" r:id="rId16"/>
    <p:sldLayoutId id="2147483723" r:id="rId17"/>
    <p:sldLayoutId id="2147483724" r:id="rId18"/>
    <p:sldLayoutId id="2147483706" r:id="rId19"/>
    <p:sldLayoutId id="2147483707" r:id="rId20"/>
    <p:sldLayoutId id="2147483708" r:id="rId21"/>
    <p:sldLayoutId id="2147483709" r:id="rId22"/>
    <p:sldLayoutId id="2147483712" r:id="rId23"/>
    <p:sldLayoutId id="2147483714" r:id="rId24"/>
    <p:sldLayoutId id="2147483715" r:id="rId25"/>
    <p:sldLayoutId id="2147483716" r:id="rId26"/>
    <p:sldLayoutId id="2147483717" r:id="rId27"/>
    <p:sldLayoutId id="2147483718" r:id="rId28"/>
    <p:sldLayoutId id="2147483719" r:id="rId29"/>
    <p:sldLayoutId id="2147483720" r:id="rId30"/>
    <p:sldLayoutId id="2147483710" r:id="rId31"/>
    <p:sldLayoutId id="2147483711" r:id="rId3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none" baseline="0">
          <a:solidFill>
            <a:srgbClr val="606060"/>
          </a:solidFill>
          <a:latin typeface="Myriad Pro" panose="020B0503030403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None/>
        <a:defRPr sz="20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8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6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4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400" kern="1200">
          <a:solidFill>
            <a:schemeClr val="tx1"/>
          </a:solidFill>
          <a:latin typeface="Myriad Pro" panose="020B05030304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Chapter 4</a:t>
            </a:r>
            <a:br>
              <a:rPr lang="en-US" dirty="0" smtClean="0"/>
            </a:br>
            <a:r>
              <a:rPr lang="en-US" dirty="0" smtClean="0"/>
              <a:t>Relational Database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065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of a Relational Database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In the previous chapters, the databases we learnt to manage were all </a:t>
            </a:r>
            <a:r>
              <a:rPr lang="en-US" b="1" dirty="0">
                <a:solidFill>
                  <a:srgbClr val="4B4DA1"/>
                </a:solidFill>
              </a:rPr>
              <a:t>relational databases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A relational database </a:t>
            </a:r>
            <a:r>
              <a:rPr lang="en-US" dirty="0" err="1"/>
              <a:t>organises</a:t>
            </a:r>
            <a:r>
              <a:rPr lang="en-US" dirty="0"/>
              <a:t> data in a tabular form. A table consists of columns and rows. Each row is a record.</a:t>
            </a:r>
          </a:p>
        </p:txBody>
      </p:sp>
    </p:spTree>
    <p:extLst>
      <p:ext uri="{BB962C8B-B14F-4D97-AF65-F5344CB8AC3E}">
        <p14:creationId xmlns:p14="http://schemas.microsoft.com/office/powerpoint/2010/main" val="383104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of a Relational Database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elements of a relational database are usually stored as or represented by different elements in a Database Management System (DBMS).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16" y="3359651"/>
            <a:ext cx="4417176" cy="18690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292" y="2869200"/>
            <a:ext cx="6483638" cy="271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036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Entity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dirty="0">
                <a:solidFill>
                  <a:srgbClr val="D93464"/>
                </a:solidFill>
              </a:rPr>
              <a:t>entity</a:t>
            </a:r>
            <a:r>
              <a:rPr lang="en-US" dirty="0"/>
              <a:t> is either: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a </a:t>
            </a:r>
            <a:r>
              <a:rPr lang="en-US" dirty="0"/>
              <a:t>physical object, such as a building, a product or a student or an </a:t>
            </a:r>
            <a:r>
              <a:rPr lang="en-US" dirty="0" smtClean="0"/>
              <a:t>employee</a:t>
            </a:r>
            <a:r>
              <a:rPr lang="en-US" dirty="0"/>
              <a:t>; 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a </a:t>
            </a:r>
            <a:r>
              <a:rPr lang="en-US" dirty="0"/>
              <a:t>conceptual object, such as an </a:t>
            </a:r>
            <a:r>
              <a:rPr lang="en-US" dirty="0" err="1"/>
              <a:t>organisation</a:t>
            </a:r>
            <a:r>
              <a:rPr lang="en-US" dirty="0"/>
              <a:t>, a transaction, a course or a </a:t>
            </a:r>
            <a:r>
              <a:rPr lang="en-US" dirty="0" smtClean="0"/>
              <a:t>job.</a:t>
            </a:r>
          </a:p>
          <a:p>
            <a:endParaRPr lang="en-US" dirty="0"/>
          </a:p>
          <a:p>
            <a:r>
              <a:rPr lang="en-US" dirty="0"/>
              <a:t>An </a:t>
            </a:r>
            <a:r>
              <a:rPr lang="en-US" dirty="0">
                <a:solidFill>
                  <a:srgbClr val="D93464"/>
                </a:solidFill>
              </a:rPr>
              <a:t>entity</a:t>
            </a:r>
            <a:r>
              <a:rPr lang="en-US" dirty="0"/>
              <a:t> must be unique, meaning that we should always be able to </a:t>
            </a:r>
            <a:r>
              <a:rPr lang="en-US" dirty="0" smtClean="0"/>
              <a:t>differentiate </a:t>
            </a:r>
            <a:r>
              <a:rPr lang="en-US" dirty="0"/>
              <a:t>between two entities.</a:t>
            </a:r>
          </a:p>
        </p:txBody>
      </p:sp>
    </p:spTree>
    <p:extLst>
      <p:ext uri="{BB962C8B-B14F-4D97-AF65-F5344CB8AC3E}">
        <p14:creationId xmlns:p14="http://schemas.microsoft.com/office/powerpoint/2010/main" val="2394006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Entity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dirty="0">
                <a:solidFill>
                  <a:srgbClr val="33A2D3"/>
                </a:solidFill>
              </a:rPr>
              <a:t>entity type</a:t>
            </a:r>
            <a:r>
              <a:rPr lang="en-US" dirty="0"/>
              <a:t> is a collection of </a:t>
            </a:r>
            <a:r>
              <a:rPr lang="en-US" dirty="0">
                <a:solidFill>
                  <a:srgbClr val="D93464"/>
                </a:solidFill>
              </a:rPr>
              <a:t>entities</a:t>
            </a:r>
            <a:r>
              <a:rPr lang="en-US" dirty="0"/>
              <a:t> sharing similar </a:t>
            </a:r>
            <a:r>
              <a:rPr lang="en-US" dirty="0">
                <a:solidFill>
                  <a:srgbClr val="7DAA42"/>
                </a:solidFill>
              </a:rPr>
              <a:t>attributes</a:t>
            </a:r>
            <a:r>
              <a:rPr lang="en-US" dirty="0"/>
              <a:t>. For example, </a:t>
            </a:r>
            <a:r>
              <a:rPr lang="en-US" dirty="0">
                <a:solidFill>
                  <a:srgbClr val="D93464"/>
                </a:solidFill>
              </a:rPr>
              <a:t>a specific student</a:t>
            </a:r>
            <a:r>
              <a:rPr lang="en-US" dirty="0"/>
              <a:t> can be an entity and a </a:t>
            </a:r>
            <a:r>
              <a:rPr lang="en-US" dirty="0">
                <a:solidFill>
                  <a:srgbClr val="33A2D3"/>
                </a:solidFill>
              </a:rPr>
              <a:t>collection of students from the same school</a:t>
            </a:r>
            <a:r>
              <a:rPr lang="en-US" dirty="0"/>
              <a:t> is an entity type.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954" y="2682729"/>
            <a:ext cx="4231948" cy="360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34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Entity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In the table </a:t>
            </a:r>
            <a:r>
              <a:rPr lang="en-US" dirty="0" smtClean="0"/>
              <a:t>below, </a:t>
            </a:r>
            <a:r>
              <a:rPr lang="en-US" dirty="0"/>
              <a:t>students are an entity type and a single student (e.g. Ada) is an entity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746" y="3229139"/>
            <a:ext cx="4068544" cy="14545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600" y="2869200"/>
            <a:ext cx="4844973" cy="224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432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Attribute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An attribute is the property of an entity. An entity can have multiple </a:t>
            </a:r>
            <a:r>
              <a:rPr lang="en-US" dirty="0" smtClean="0"/>
              <a:t>attributes.</a:t>
            </a:r>
          </a:p>
          <a:p>
            <a:endParaRPr lang="en-US" dirty="0"/>
          </a:p>
          <a:p>
            <a:r>
              <a:rPr lang="en-US" dirty="0"/>
              <a:t>In the table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 mentioned in the previous section, the </a:t>
            </a:r>
            <a:r>
              <a:rPr lang="en-US" dirty="0">
                <a:solidFill>
                  <a:srgbClr val="7DAA42"/>
                </a:solidFill>
              </a:rPr>
              <a:t>name</a:t>
            </a:r>
            <a:r>
              <a:rPr lang="en-US" dirty="0"/>
              <a:t>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dirty="0"/>
              <a:t>) </a:t>
            </a:r>
            <a:r>
              <a:rPr lang="en-US" dirty="0" smtClean="0"/>
              <a:t>and </a:t>
            </a:r>
            <a:r>
              <a:rPr lang="en-US" dirty="0"/>
              <a:t>the </a:t>
            </a:r>
            <a:r>
              <a:rPr lang="en-US" dirty="0">
                <a:solidFill>
                  <a:srgbClr val="7DAA42"/>
                </a:solidFill>
              </a:rPr>
              <a:t>sex</a:t>
            </a:r>
            <a:r>
              <a:rPr lang="en-US" dirty="0"/>
              <a:t>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SEX</a:t>
            </a:r>
            <a:r>
              <a:rPr lang="en-US" dirty="0"/>
              <a:t>) of a student are </a:t>
            </a:r>
            <a:r>
              <a:rPr lang="en-US" dirty="0">
                <a:solidFill>
                  <a:srgbClr val="7DAA42"/>
                </a:solidFill>
              </a:rPr>
              <a:t>attributes</a:t>
            </a:r>
            <a:r>
              <a:rPr lang="en-US" dirty="0"/>
              <a:t> of the </a:t>
            </a:r>
            <a:r>
              <a:rPr lang="en-US" dirty="0">
                <a:solidFill>
                  <a:srgbClr val="33A2D3"/>
                </a:solidFill>
              </a:rPr>
              <a:t>entity type</a:t>
            </a:r>
            <a:r>
              <a:rPr lang="en-US" dirty="0"/>
              <a:t>, </a:t>
            </a:r>
            <a:r>
              <a:rPr lang="en-US" dirty="0" smtClean="0">
                <a:solidFill>
                  <a:srgbClr val="33A2D3"/>
                </a:solidFill>
              </a:rPr>
              <a:t>students</a:t>
            </a:r>
            <a:r>
              <a:rPr lang="en-US" dirty="0" smtClean="0"/>
              <a:t>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).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306" y="3872722"/>
            <a:ext cx="4908985" cy="174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374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Finish Activity 4.1 on P. 205 of your textbook.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2. C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100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Attribute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Some attributes can be derived from other attributes. They are called </a:t>
            </a:r>
            <a:r>
              <a:rPr lang="en-US" b="1" dirty="0">
                <a:solidFill>
                  <a:srgbClr val="4B4DA1"/>
                </a:solidFill>
              </a:rPr>
              <a:t>derived attributes</a:t>
            </a:r>
            <a:r>
              <a:rPr lang="en-US" dirty="0"/>
              <a:t>. For example: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778" y="2704175"/>
            <a:ext cx="9190933" cy="225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108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Relationship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A relationship is the connection between entities.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For </a:t>
            </a:r>
            <a:r>
              <a:rPr lang="en-US" dirty="0"/>
              <a:t>example, there are two entity types, </a:t>
            </a:r>
            <a:r>
              <a:rPr lang="en-US" dirty="0">
                <a:solidFill>
                  <a:srgbClr val="33A2D3"/>
                </a:solidFill>
              </a:rPr>
              <a:t>students</a:t>
            </a:r>
            <a:r>
              <a:rPr lang="en-US" dirty="0"/>
              <a:t> and </a:t>
            </a:r>
            <a:r>
              <a:rPr lang="en-US" dirty="0">
                <a:solidFill>
                  <a:srgbClr val="87C4E7"/>
                </a:solidFill>
              </a:rPr>
              <a:t>clubs</a:t>
            </a:r>
            <a:r>
              <a:rPr lang="en-US" dirty="0"/>
              <a:t>. A student may join one of the clubs. Thus, “</a:t>
            </a:r>
            <a:r>
              <a:rPr lang="en-US" dirty="0">
                <a:solidFill>
                  <a:srgbClr val="CF9B3C"/>
                </a:solidFill>
              </a:rPr>
              <a:t>join</a:t>
            </a:r>
            <a:r>
              <a:rPr lang="en-US" dirty="0"/>
              <a:t>” is the </a:t>
            </a:r>
            <a:r>
              <a:rPr lang="en-US" dirty="0">
                <a:solidFill>
                  <a:srgbClr val="CF9B3C"/>
                </a:solidFill>
              </a:rPr>
              <a:t>relationship</a:t>
            </a:r>
            <a:r>
              <a:rPr lang="en-US" dirty="0"/>
              <a:t> between these two </a:t>
            </a:r>
            <a:r>
              <a:rPr lang="en-US" dirty="0">
                <a:solidFill>
                  <a:srgbClr val="33A2D3"/>
                </a:solidFill>
              </a:rPr>
              <a:t>entity types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42074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See the following tables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>
                <a:solidFill>
                  <a:srgbClr val="33A2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 references the </a:t>
            </a:r>
            <a:r>
              <a:rPr lang="en-US" dirty="0">
                <a:solidFill>
                  <a:srgbClr val="87C4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CLUB</a:t>
            </a:r>
            <a:r>
              <a:rPr lang="en-US" dirty="0"/>
              <a:t> by using </a:t>
            </a:r>
            <a:r>
              <a:rPr lang="en-US" dirty="0">
                <a:solidFill>
                  <a:srgbClr val="CF9B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dirty="0"/>
              <a:t>. For example, student </a:t>
            </a:r>
            <a:r>
              <a:rPr lang="en-US" dirty="0">
                <a:solidFill>
                  <a:srgbClr val="D93464"/>
                </a:solidFill>
              </a:rPr>
              <a:t>Ada</a:t>
            </a:r>
            <a:r>
              <a:rPr lang="en-US" dirty="0"/>
              <a:t> has a </a:t>
            </a:r>
            <a:r>
              <a:rPr lang="en-US" dirty="0">
                <a:solidFill>
                  <a:srgbClr val="CF9B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dirty="0"/>
              <a:t> of </a:t>
            </a:r>
            <a:r>
              <a:rPr lang="en-US" dirty="0">
                <a:solidFill>
                  <a:srgbClr val="CF9B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/>
              <a:t>, which means she joined </a:t>
            </a:r>
            <a:r>
              <a:rPr lang="en-US" dirty="0">
                <a:solidFill>
                  <a:srgbClr val="D93464"/>
                </a:solidFill>
              </a:rPr>
              <a:t>Art Club</a:t>
            </a:r>
            <a:r>
              <a:rPr lang="en-US" dirty="0"/>
              <a:t> according to the data in </a:t>
            </a:r>
            <a:r>
              <a:rPr lang="en-US" dirty="0">
                <a:solidFill>
                  <a:srgbClr val="87C4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CLUB</a:t>
            </a:r>
            <a:r>
              <a:rPr lang="en-US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800" y="2303159"/>
            <a:ext cx="3930837" cy="247945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184" y="2303159"/>
            <a:ext cx="4106527" cy="172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811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Pay attention to the use of active voice and passive voice. 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Moreover</a:t>
            </a:r>
            <a:r>
              <a:rPr lang="en-US" dirty="0"/>
              <a:t>, we should NOT treat </a:t>
            </a:r>
            <a:r>
              <a:rPr lang="en-US" dirty="0">
                <a:solidFill>
                  <a:srgbClr val="D93464"/>
                </a:solidFill>
              </a:rPr>
              <a:t>specific entities</a:t>
            </a:r>
            <a:r>
              <a:rPr lang="en-US" dirty="0"/>
              <a:t> as </a:t>
            </a:r>
            <a:r>
              <a:rPr lang="en-US" dirty="0">
                <a:solidFill>
                  <a:srgbClr val="33A2D3"/>
                </a:solidFill>
              </a:rPr>
              <a:t>entity types</a:t>
            </a:r>
            <a:r>
              <a:rPr lang="en-US" dirty="0"/>
              <a:t>. </a:t>
            </a:r>
            <a:r>
              <a:rPr lang="en-US" dirty="0" smtClean="0"/>
              <a:t>For </a:t>
            </a:r>
            <a:r>
              <a:rPr lang="en-US" dirty="0"/>
              <a:t>example, an entity type should NOT be a particular subject like </a:t>
            </a:r>
            <a:r>
              <a:rPr lang="en-US" dirty="0">
                <a:solidFill>
                  <a:srgbClr val="D93464"/>
                </a:solidFill>
              </a:rPr>
              <a:t>Physics or Chemistry</a:t>
            </a:r>
            <a:r>
              <a:rPr lang="en-US" dirty="0"/>
              <a:t>, but </a:t>
            </a:r>
            <a:r>
              <a:rPr lang="en-US" dirty="0">
                <a:solidFill>
                  <a:srgbClr val="33A2D3"/>
                </a:solidFill>
              </a:rPr>
              <a:t>subjects</a:t>
            </a:r>
            <a:r>
              <a:rPr lang="en-US" dirty="0"/>
              <a:t> as a whole.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158" y="2153596"/>
            <a:ext cx="10214883" cy="276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503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Finish Activity 4.2 on P. 207 of your textbook.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2. 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397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A domain of an attribute is the set of all available values. The values in a domain always share the same data type.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906" y="2418774"/>
            <a:ext cx="7199728" cy="397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630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Examples of </a:t>
            </a:r>
            <a:r>
              <a:rPr lang="en-US" dirty="0" smtClean="0"/>
              <a:t>domain: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451" y="2247641"/>
            <a:ext cx="9986106" cy="308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752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Finish Activity 4.3 on P. 209 of your textbook.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2. C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51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A secondary school teacher created two tables A and B to store the data of school events and student participants. The age of the students ranges from 11 to 18 years old.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656" y="2309385"/>
            <a:ext cx="8108726" cy="20117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656" y="4470474"/>
            <a:ext cx="7992348" cy="168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117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(a) State the entity types of A and B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/>
              <a:t>b) Suggest a data type for each of the following attributes in A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(c) Suggest a data type for each of the following attributes in B</a:t>
            </a:r>
            <a:r>
              <a:rPr lang="en-US" dirty="0" smtClean="0"/>
              <a:t>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789" y="2726903"/>
            <a:ext cx="4191623" cy="12465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789" y="4741792"/>
            <a:ext cx="4247902" cy="125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559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(</a:t>
            </a:r>
            <a:r>
              <a:rPr lang="en-US" dirty="0"/>
              <a:t>d) What is the domain of AGE?</a:t>
            </a:r>
            <a:br>
              <a:rPr lang="en-US" dirty="0"/>
            </a:br>
            <a:endParaRPr lang="en-US" dirty="0"/>
          </a:p>
          <a:p>
            <a:r>
              <a:rPr lang="en-US" dirty="0"/>
              <a:t>(e) What is the relationship between the entity types of A and B?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494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33A2D3"/>
                </a:solidFill>
              </a:rPr>
              <a:t>◣ </a:t>
            </a:r>
            <a:r>
              <a:rPr lang="en-US" b="1" dirty="0" smtClean="0">
                <a:solidFill>
                  <a:srgbClr val="33A2D3"/>
                </a:solidFill>
              </a:rPr>
              <a:t>Solution</a:t>
            </a:r>
          </a:p>
          <a:p>
            <a:r>
              <a:rPr lang="en-US" dirty="0" smtClean="0"/>
              <a:t>(a) School </a:t>
            </a:r>
            <a:r>
              <a:rPr lang="en-US" dirty="0"/>
              <a:t>events and students respectively</a:t>
            </a:r>
            <a:r>
              <a:rPr lang="en-US" dirty="0" smtClean="0"/>
              <a:t>.</a:t>
            </a:r>
            <a:endParaRPr lang="en-US" b="1" dirty="0" smtClean="0">
              <a:solidFill>
                <a:srgbClr val="33A2D3"/>
              </a:solidFill>
            </a:endParaRPr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(b)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(c)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922" y="2597964"/>
            <a:ext cx="4185138" cy="12757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922" y="4523079"/>
            <a:ext cx="4185138" cy="125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646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(d)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{11 .. 18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/>
          </a:p>
          <a:p>
            <a:r>
              <a:rPr lang="en-US" dirty="0"/>
              <a:t>(e)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dirty="0"/>
              <a:t> participates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/>
              <a:t>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010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Finish Checkpoint 4.1 on P. 211 of your textbook.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a) Products and shops </a:t>
            </a:r>
            <a:r>
              <a:rPr lang="en-US" dirty="0" smtClean="0">
                <a:solidFill>
                  <a:srgbClr val="FF0000"/>
                </a:solidFill>
              </a:rPr>
              <a:t>respectively.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(b)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c)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BHOUR</a:t>
            </a:r>
            <a:r>
              <a:rPr lang="en-US" dirty="0">
                <a:solidFill>
                  <a:srgbClr val="FF0000"/>
                </a:solidFill>
              </a:rPr>
              <a:t> is a derived attribute. It is the hour difference / time range between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 dirty="0">
                <a:solidFill>
                  <a:srgbClr val="FF0000"/>
                </a:solidFill>
              </a:rPr>
              <a:t> and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n-US" dirty="0">
                <a:solidFill>
                  <a:srgbClr val="FF0000"/>
                </a:solidFill>
              </a:rPr>
              <a:t>.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/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d)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{00:00 .. 23:59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FF0000"/>
                </a:solidFill>
              </a:rPr>
              <a:t/>
            </a:r>
            <a:br>
              <a:rPr lang="en-US" dirty="0" smtClean="0">
                <a:solidFill>
                  <a:srgbClr val="FF0000"/>
                </a:solidFill>
              </a:rPr>
            </a:b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e)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dirty="0">
                <a:solidFill>
                  <a:srgbClr val="FF0000"/>
                </a:solidFill>
              </a:rPr>
              <a:t> sells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rgbClr val="FF0000"/>
                </a:solidFill>
              </a:rPr>
              <a:t> /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rgbClr val="FF0000"/>
                </a:solidFill>
              </a:rPr>
              <a:t> is sold by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972" y="2760395"/>
            <a:ext cx="3705977" cy="126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806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A database </a:t>
            </a:r>
            <a:r>
              <a:rPr lang="en-US" b="1" dirty="0">
                <a:solidFill>
                  <a:srgbClr val="4B4DA1"/>
                </a:solidFill>
              </a:rPr>
              <a:t>schema</a:t>
            </a:r>
            <a:r>
              <a:rPr lang="en-US" dirty="0"/>
              <a:t> is a text string that describes a database table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45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For </a:t>
            </a:r>
            <a:r>
              <a:rPr lang="en-US" dirty="0"/>
              <a:t>example, here is the table structure of the table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The schema for this table can be written as: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820" y="2281357"/>
            <a:ext cx="6134238" cy="19044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098" y="5216719"/>
            <a:ext cx="5403682" cy="95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91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primary key of a table is often underlined in the schema, for example: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799" y="2610196"/>
            <a:ext cx="4327238" cy="304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340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fields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To distinguish between records in a database table, there must be </a:t>
            </a:r>
            <a:r>
              <a:rPr lang="en-US" b="1" dirty="0">
                <a:solidFill>
                  <a:srgbClr val="4B4DA1"/>
                </a:solidFill>
              </a:rPr>
              <a:t>key fields</a:t>
            </a:r>
            <a:r>
              <a:rPr lang="en-US" dirty="0"/>
              <a:t>. Different types of key fields serve for different </a:t>
            </a:r>
            <a:r>
              <a:rPr lang="en-US" dirty="0" smtClean="0"/>
              <a:t>purposes.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8550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fields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4B4DA1"/>
                </a:solidFill>
              </a:rPr>
              <a:t>candidate key</a:t>
            </a:r>
            <a:r>
              <a:rPr lang="en-US" dirty="0"/>
              <a:t> is a key field that always stores unique data for every record. Therefore, a candidate key can be used to identify records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In the above table, the field SID stores unique data for every record. Therefore, it is a candidate key for the table STUDENT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039" y="2869200"/>
            <a:ext cx="6263393" cy="197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2456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fields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Sometimes, a candidate key may consist of more than one field. This type of candidate key is called composite key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In the table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, </a:t>
            </a:r>
            <a:r>
              <a:rPr lang="en-US" dirty="0">
                <a:solidFill>
                  <a:srgbClr val="33A2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CLASS+CNO</a:t>
            </a:r>
            <a:r>
              <a:rPr lang="en-US" dirty="0"/>
              <a:t> is a composite key since it is impossible for two students to share the same class and the same class number at the same time.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409" y="2577387"/>
            <a:ext cx="5400191" cy="275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4539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fields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A composite key must be minimal, meaning that the removal of any field within the key results in duplicated values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>
                <a:solidFill>
                  <a:srgbClr val="33A2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CLASS+CNO</a:t>
            </a:r>
            <a:r>
              <a:rPr lang="en-US" dirty="0"/>
              <a:t> is a composite key as the removal of either </a:t>
            </a:r>
            <a:r>
              <a:rPr lang="en-US" dirty="0">
                <a:solidFill>
                  <a:srgbClr val="33A2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dirty="0"/>
              <a:t> or </a:t>
            </a:r>
            <a:r>
              <a:rPr lang="en-US" dirty="0">
                <a:solidFill>
                  <a:srgbClr val="33A2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CNO</a:t>
            </a:r>
            <a:r>
              <a:rPr lang="en-US" dirty="0"/>
              <a:t> results in duplicated values.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636" y="2434720"/>
            <a:ext cx="5476220" cy="279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133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Finish Activity 4.4 on P. 216 of your textbook.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2. 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33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fields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D93464"/>
                </a:solidFill>
              </a:rPr>
              <a:t>primary key</a:t>
            </a:r>
            <a:r>
              <a:rPr lang="en-US" dirty="0"/>
              <a:t> of a table must be one of the </a:t>
            </a:r>
            <a:r>
              <a:rPr lang="en-US" dirty="0">
                <a:solidFill>
                  <a:srgbClr val="33A2D3"/>
                </a:solidFill>
              </a:rPr>
              <a:t>candidate keys</a:t>
            </a:r>
            <a:r>
              <a:rPr lang="en-US" dirty="0"/>
              <a:t> of that table. It is a candidate key chosen by the database administrator to identify records.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 </a:t>
            </a:r>
            <a:r>
              <a:rPr lang="en-US" dirty="0"/>
              <a:t>table can have </a:t>
            </a:r>
            <a:r>
              <a:rPr lang="en-US" dirty="0">
                <a:solidFill>
                  <a:srgbClr val="33A2D3"/>
                </a:solidFill>
              </a:rPr>
              <a:t>multiple candidate keys</a:t>
            </a:r>
            <a:r>
              <a:rPr lang="en-US" dirty="0"/>
              <a:t>, but it can have </a:t>
            </a:r>
            <a:r>
              <a:rPr lang="en-US" dirty="0">
                <a:solidFill>
                  <a:srgbClr val="D93464"/>
                </a:solidFill>
              </a:rPr>
              <a:t>one primary </a:t>
            </a:r>
            <a:r>
              <a:rPr lang="en-US" dirty="0" smtClean="0">
                <a:solidFill>
                  <a:srgbClr val="D93464"/>
                </a:solidFill>
              </a:rPr>
              <a:t>key</a:t>
            </a:r>
            <a:r>
              <a:rPr lang="en-US" dirty="0" smtClean="0"/>
              <a:t> only.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66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fields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Below is the table structure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For </a:t>
            </a:r>
            <a:r>
              <a:rPr lang="en-US" dirty="0"/>
              <a:t>the table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, we have three candidate keys: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SID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EMAIL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CLASS+CNO</a:t>
            </a:r>
            <a:r>
              <a:rPr lang="en-US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889" y="2481825"/>
            <a:ext cx="6392235" cy="196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896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fields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However, only one of them can be the primary key of the table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939" y="2371317"/>
            <a:ext cx="5535321" cy="317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483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fields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EMAIL</a:t>
            </a:r>
            <a:r>
              <a:rPr lang="en-US" dirty="0"/>
              <a:t> is not the best primary key as a student may change their personal email address for reasons such as forgetting the password of the email address and the deactivation of the email address.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Which </a:t>
            </a:r>
            <a:r>
              <a:rPr lang="en-US" dirty="0"/>
              <a:t>one,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SID</a:t>
            </a:r>
            <a:r>
              <a:rPr lang="en-US" dirty="0"/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CLASS+CNO</a:t>
            </a:r>
            <a:r>
              <a:rPr lang="en-US" dirty="0"/>
              <a:t>, would you choose to be the primary key? Explain briefly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SID</a:t>
            </a:r>
            <a:r>
              <a:rPr lang="en-US" dirty="0">
                <a:solidFill>
                  <a:srgbClr val="FF0000"/>
                </a:solidFill>
              </a:rPr>
              <a:t>, as the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CLASS+CNO</a:t>
            </a:r>
            <a:r>
              <a:rPr lang="en-US" dirty="0">
                <a:solidFill>
                  <a:srgbClr val="FF0000"/>
                </a:solidFill>
              </a:rPr>
              <a:t> of a student usually changes every year while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SID</a:t>
            </a:r>
            <a:r>
              <a:rPr lang="en-US" dirty="0">
                <a:solidFill>
                  <a:srgbClr val="FF0000"/>
                </a:solidFill>
              </a:rPr>
              <a:t> does </a:t>
            </a:r>
            <a:r>
              <a:rPr lang="en-US" dirty="0" smtClean="0">
                <a:solidFill>
                  <a:srgbClr val="FF0000"/>
                </a:solidFill>
              </a:rPr>
              <a:t>not.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839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fields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>
                <a:solidFill>
                  <a:srgbClr val="CF9B3C"/>
                </a:solidFill>
              </a:rPr>
              <a:t>Foreign keys</a:t>
            </a:r>
            <a:r>
              <a:rPr lang="en-US" dirty="0"/>
              <a:t> are used to show the </a:t>
            </a:r>
            <a:r>
              <a:rPr lang="en-US" dirty="0">
                <a:solidFill>
                  <a:srgbClr val="CF9B3C"/>
                </a:solidFill>
              </a:rPr>
              <a:t>relationship</a:t>
            </a:r>
            <a:r>
              <a:rPr lang="en-US" dirty="0"/>
              <a:t> between records in two tables. 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CF9B3C"/>
                </a:solidFill>
              </a:rPr>
              <a:t>foreign key</a:t>
            </a:r>
            <a:r>
              <a:rPr lang="en-US" dirty="0"/>
              <a:t> in a table X is always the </a:t>
            </a:r>
            <a:r>
              <a:rPr lang="en-US" dirty="0">
                <a:solidFill>
                  <a:srgbClr val="D93464"/>
                </a:solidFill>
              </a:rPr>
              <a:t>primary key</a:t>
            </a:r>
            <a:r>
              <a:rPr lang="en-US" dirty="0"/>
              <a:t> of another table Y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such case, table X is referred to as the </a:t>
            </a:r>
            <a:r>
              <a:rPr lang="en-US" dirty="0">
                <a:solidFill>
                  <a:srgbClr val="33A2D3"/>
                </a:solidFill>
              </a:rPr>
              <a:t>host</a:t>
            </a:r>
            <a:r>
              <a:rPr lang="en-US" dirty="0"/>
              <a:t> table and table Y is referred to </a:t>
            </a:r>
            <a:r>
              <a:rPr lang="en-US" dirty="0" smtClean="0"/>
              <a:t>as </a:t>
            </a:r>
            <a:r>
              <a:rPr lang="en-US" dirty="0"/>
              <a:t>the </a:t>
            </a:r>
            <a:r>
              <a:rPr lang="en-US" dirty="0">
                <a:solidFill>
                  <a:srgbClr val="87C4E7"/>
                </a:solidFill>
              </a:rPr>
              <a:t>parent</a:t>
            </a:r>
            <a:r>
              <a:rPr lang="en-US" dirty="0"/>
              <a:t> table.</a:t>
            </a:r>
          </a:p>
        </p:txBody>
      </p:sp>
    </p:spTree>
    <p:extLst>
      <p:ext uri="{BB962C8B-B14F-4D97-AF65-F5344CB8AC3E}">
        <p14:creationId xmlns:p14="http://schemas.microsoft.com/office/powerpoint/2010/main" val="19215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fields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>
                <a:solidFill>
                  <a:srgbClr val="CF9B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dirty="0"/>
              <a:t> field in table </a:t>
            </a:r>
            <a:r>
              <a:rPr lang="en-US" dirty="0">
                <a:solidFill>
                  <a:srgbClr val="33A2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 is a </a:t>
            </a:r>
            <a:r>
              <a:rPr lang="en-US" dirty="0">
                <a:solidFill>
                  <a:srgbClr val="CF9B3C"/>
                </a:solidFill>
              </a:rPr>
              <a:t>foreign key</a:t>
            </a:r>
            <a:r>
              <a:rPr lang="en-US" dirty="0"/>
              <a:t> that links the </a:t>
            </a:r>
            <a:r>
              <a:rPr lang="en-US" dirty="0">
                <a:solidFill>
                  <a:srgbClr val="33A2D3"/>
                </a:solidFill>
              </a:rPr>
              <a:t>host table </a:t>
            </a:r>
            <a:r>
              <a:rPr lang="en-US" dirty="0">
                <a:solidFill>
                  <a:srgbClr val="33A2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 to the </a:t>
            </a:r>
            <a:r>
              <a:rPr lang="en-US" dirty="0">
                <a:solidFill>
                  <a:srgbClr val="87C4E7"/>
                </a:solidFill>
              </a:rPr>
              <a:t>parent table </a:t>
            </a:r>
            <a:r>
              <a:rPr lang="en-US" dirty="0">
                <a:solidFill>
                  <a:srgbClr val="87C4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CLUB</a:t>
            </a:r>
            <a:r>
              <a:rPr lang="en-US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046" y="3025336"/>
            <a:ext cx="4403358" cy="27673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732" y="2942502"/>
            <a:ext cx="4754523" cy="201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489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fields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Using a foreign key allows us to manage the data better. For example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When </a:t>
            </a:r>
            <a:r>
              <a:rPr lang="en-US" dirty="0"/>
              <a:t>the name, room or teacher of a club is updated in the table </a:t>
            </a:r>
            <a:r>
              <a:rPr lang="en-US" dirty="0">
                <a:solidFill>
                  <a:srgbClr val="87C4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CLUB</a:t>
            </a:r>
            <a:r>
              <a:rPr lang="en-US" dirty="0"/>
              <a:t>, </a:t>
            </a:r>
            <a:r>
              <a:rPr lang="en-US" dirty="0" smtClean="0"/>
              <a:t>we </a:t>
            </a:r>
            <a:r>
              <a:rPr lang="en-US" dirty="0"/>
              <a:t>do not have to update the table </a:t>
            </a:r>
            <a:r>
              <a:rPr lang="en-US" dirty="0">
                <a:solidFill>
                  <a:srgbClr val="33A2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 as </a:t>
            </a:r>
            <a:r>
              <a:rPr lang="en-US" dirty="0">
                <a:solidFill>
                  <a:srgbClr val="33A2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 stores the </a:t>
            </a:r>
            <a:r>
              <a:rPr lang="en-US" dirty="0" smtClean="0"/>
              <a:t>identity </a:t>
            </a:r>
            <a:r>
              <a:rPr lang="en-US" dirty="0"/>
              <a:t>code of a club only; </a:t>
            </a:r>
            <a:r>
              <a:rPr lang="en-US" dirty="0" smtClean="0"/>
              <a:t>and</a:t>
            </a:r>
            <a:br>
              <a:rPr lang="en-US" dirty="0" smtClean="0"/>
            </a:b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Even </a:t>
            </a:r>
            <a:r>
              <a:rPr lang="en-US" dirty="0"/>
              <a:t>if the records of all students who join a certain club are deleted in </a:t>
            </a:r>
            <a:r>
              <a:rPr lang="en-US" dirty="0" smtClean="0"/>
              <a:t>table </a:t>
            </a:r>
            <a:r>
              <a:rPr lang="en-US" dirty="0">
                <a:solidFill>
                  <a:srgbClr val="33A2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, the data of this club will be kept in table </a:t>
            </a:r>
            <a:r>
              <a:rPr lang="en-US" dirty="0">
                <a:solidFill>
                  <a:srgbClr val="87C4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CLUB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1150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fields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Imagine the data of students and clubs are stored in the same table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If </a:t>
            </a:r>
            <a:r>
              <a:rPr lang="en-US" dirty="0"/>
              <a:t>the teacher of Science Club is changed from </a:t>
            </a:r>
            <a:r>
              <a:rPr lang="en-US" dirty="0" err="1">
                <a:solidFill>
                  <a:srgbClr val="8B82CA"/>
                </a:solidFill>
              </a:rPr>
              <a:t>Mr</a:t>
            </a:r>
            <a:r>
              <a:rPr lang="en-US" dirty="0">
                <a:solidFill>
                  <a:srgbClr val="8B82CA"/>
                </a:solidFill>
              </a:rPr>
              <a:t> Wong</a:t>
            </a:r>
            <a:r>
              <a:rPr lang="en-US" dirty="0"/>
              <a:t> to </a:t>
            </a:r>
            <a:r>
              <a:rPr lang="en-US" dirty="0" err="1">
                <a:solidFill>
                  <a:srgbClr val="8B82CA"/>
                </a:solidFill>
              </a:rPr>
              <a:t>Mr</a:t>
            </a:r>
            <a:r>
              <a:rPr lang="en-US" dirty="0">
                <a:solidFill>
                  <a:srgbClr val="8B82CA"/>
                </a:solidFill>
              </a:rPr>
              <a:t> </a:t>
            </a:r>
            <a:r>
              <a:rPr lang="en-US" dirty="0" err="1">
                <a:solidFill>
                  <a:srgbClr val="8B82CA"/>
                </a:solidFill>
              </a:rPr>
              <a:t>Suen</a:t>
            </a:r>
            <a:r>
              <a:rPr lang="en-US" dirty="0"/>
              <a:t>, </a:t>
            </a:r>
            <a:r>
              <a:rPr lang="en-US" dirty="0" smtClean="0"/>
              <a:t>three </a:t>
            </a:r>
            <a:r>
              <a:rPr lang="en-US" dirty="0"/>
              <a:t>records needs to be updated or the data will be inconsistent;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If </a:t>
            </a:r>
            <a:r>
              <a:rPr lang="en-US" dirty="0"/>
              <a:t>the only student in Art Club, i.e. </a:t>
            </a:r>
            <a:r>
              <a:rPr lang="en-US" dirty="0">
                <a:solidFill>
                  <a:srgbClr val="6C6D70"/>
                </a:solidFill>
              </a:rPr>
              <a:t>Ada</a:t>
            </a:r>
            <a:r>
              <a:rPr lang="en-US" dirty="0"/>
              <a:t>, quits the school, the data of </a:t>
            </a:r>
            <a:r>
              <a:rPr lang="en-US" dirty="0">
                <a:solidFill>
                  <a:srgbClr val="6C6D70"/>
                </a:solidFill>
              </a:rPr>
              <a:t>Art </a:t>
            </a:r>
            <a:r>
              <a:rPr lang="en-US" dirty="0" smtClean="0">
                <a:solidFill>
                  <a:srgbClr val="6C6D70"/>
                </a:solidFill>
              </a:rPr>
              <a:t>Club</a:t>
            </a:r>
            <a:r>
              <a:rPr lang="en-US" dirty="0" smtClean="0"/>
              <a:t> </a:t>
            </a:r>
            <a:r>
              <a:rPr lang="en-US" dirty="0"/>
              <a:t>will be lost.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651" y="2143428"/>
            <a:ext cx="6409898" cy="244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798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A video game distribution platform uses two tables GAME and GENRE to manage the data of games.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236" y="2734887"/>
            <a:ext cx="4898789" cy="27570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34887"/>
            <a:ext cx="4936825" cy="156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94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(a) Write </a:t>
            </a:r>
            <a:r>
              <a:rPr lang="en-US" dirty="0"/>
              <a:t>the schemas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GAME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GENRE</a:t>
            </a:r>
            <a:r>
              <a:rPr lang="en-US" dirty="0"/>
              <a:t>. Underline the primary keys of the tables and state </a:t>
            </a:r>
            <a:r>
              <a:rPr lang="en-US" dirty="0" smtClean="0"/>
              <a:t>the foreign </a:t>
            </a:r>
            <a:r>
              <a:rPr lang="en-US" dirty="0"/>
              <a:t>keys if any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GAME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________________________________________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 </a:t>
            </a:r>
            <a:r>
              <a:rPr lang="en-US" dirty="0" smtClean="0"/>
              <a:t>		Foreign </a:t>
            </a:r>
            <a:r>
              <a:rPr lang="en-US" dirty="0"/>
              <a:t>key</a:t>
            </a:r>
            <a:r>
              <a:rPr lang="en-US" dirty="0" smtClean="0"/>
              <a:t>: ____________ </a:t>
            </a:r>
            <a:endParaRPr lang="en-US" dirty="0"/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GENRE (________________________________________)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/>
              <a:t>		 </a:t>
            </a:r>
            <a:r>
              <a:rPr lang="en-US" dirty="0"/>
              <a:t>Foreign key: </a:t>
            </a:r>
            <a:r>
              <a:rPr lang="en-US" dirty="0" smtClean="0"/>
              <a:t>____________</a:t>
            </a:r>
          </a:p>
          <a:p>
            <a:endParaRPr lang="en-US" dirty="0"/>
          </a:p>
          <a:p>
            <a:r>
              <a:rPr lang="en-US" dirty="0"/>
              <a:t>(b) Suggest a data type for each of the following attributes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GAME</a:t>
            </a:r>
            <a:r>
              <a:rPr lang="en-US" dirty="0"/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993" y="5194265"/>
            <a:ext cx="3781781" cy="114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297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(c) The database administrator creates a table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PUBLISHER</a:t>
            </a:r>
            <a:r>
              <a:rPr lang="en-US" dirty="0"/>
              <a:t> to store the data of publishers and </a:t>
            </a:r>
            <a:r>
              <a:rPr lang="en-US" dirty="0" smtClean="0"/>
              <a:t>assigns an </a:t>
            </a:r>
            <a:r>
              <a:rPr lang="en-US" dirty="0"/>
              <a:t>identity code for each publisher.</a:t>
            </a:r>
          </a:p>
          <a:p>
            <a:r>
              <a:rPr lang="en-US" dirty="0"/>
              <a:t>This identity code will be used as a foreign key in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GAME</a:t>
            </a:r>
            <a:r>
              <a:rPr lang="en-US" dirty="0"/>
              <a:t>. Data that relates to publishers other than </a:t>
            </a:r>
            <a:r>
              <a:rPr lang="en-US" dirty="0" smtClean="0"/>
              <a:t>the </a:t>
            </a:r>
            <a:r>
              <a:rPr lang="en-US" dirty="0"/>
              <a:t>publisher identity code should be removed from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GAME</a:t>
            </a:r>
            <a:r>
              <a:rPr lang="en-US" dirty="0"/>
              <a:t>.</a:t>
            </a:r>
          </a:p>
          <a:p>
            <a:r>
              <a:rPr lang="en-US" dirty="0"/>
              <a:t>Write the updated schema of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GAME</a:t>
            </a:r>
            <a:r>
              <a:rPr lang="en-US" dirty="0"/>
              <a:t> and the schema of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PUBLISHER</a:t>
            </a:r>
            <a:r>
              <a:rPr lang="en-US" dirty="0"/>
              <a:t>. Underline the primary keys of </a:t>
            </a:r>
            <a:r>
              <a:rPr lang="en-US" dirty="0" smtClean="0"/>
              <a:t>the </a:t>
            </a:r>
            <a:r>
              <a:rPr lang="en-US" dirty="0"/>
              <a:t>tables and state the foreign keys if any.</a:t>
            </a:r>
          </a:p>
          <a:p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GAME</a:t>
            </a:r>
            <a:r>
              <a:rPr lang="en-US" dirty="0" smtClean="0"/>
              <a:t> (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________________________________________</a:t>
            </a:r>
            <a:r>
              <a:rPr lang="en-US" dirty="0" smtClean="0"/>
              <a:t>)</a:t>
            </a:r>
            <a:br>
              <a:rPr lang="en-US" dirty="0" smtClean="0"/>
            </a:br>
            <a:r>
              <a:rPr lang="en-US" dirty="0" smtClean="0"/>
              <a:t>		Foreign </a:t>
            </a:r>
            <a:r>
              <a:rPr lang="en-US" dirty="0"/>
              <a:t>key: ____________</a:t>
            </a:r>
          </a:p>
          <a:p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PUBLISHER</a:t>
            </a:r>
            <a:r>
              <a:rPr lang="en-US" dirty="0" smtClean="0"/>
              <a:t> (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________________________________________</a:t>
            </a:r>
            <a:r>
              <a:rPr lang="en-US" dirty="0" smtClean="0"/>
              <a:t>) </a:t>
            </a:r>
            <a:br>
              <a:rPr lang="en-US" dirty="0" smtClean="0"/>
            </a:br>
            <a:r>
              <a:rPr lang="en-US" dirty="0" smtClean="0"/>
              <a:t>		Foreign </a:t>
            </a:r>
            <a:r>
              <a:rPr lang="en-US" dirty="0"/>
              <a:t>key: ____________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324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(d) A publisher wants to hold a sale promotion by giving a discount on all the games they published. </a:t>
            </a:r>
            <a:r>
              <a:rPr lang="en-US" dirty="0" smtClean="0"/>
              <a:t>Different </a:t>
            </a:r>
            <a:r>
              <a:rPr lang="en-US" dirty="0"/>
              <a:t>games may have different discount. This discount will last for two weeks.</a:t>
            </a:r>
          </a:p>
          <a:p>
            <a:endParaRPr lang="en-US" dirty="0" smtClean="0"/>
          </a:p>
          <a:p>
            <a:r>
              <a:rPr lang="en-US" dirty="0" smtClean="0"/>
              <a:t>Instead </a:t>
            </a:r>
            <a:r>
              <a:rPr lang="en-US" dirty="0"/>
              <a:t>of updating the field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r>
              <a:rPr lang="en-US" dirty="0"/>
              <a:t>, the database administrator suggests adding a new </a:t>
            </a:r>
            <a:r>
              <a:rPr lang="en-US" dirty="0" smtClean="0"/>
              <a:t>field named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DISCOUNT</a:t>
            </a:r>
            <a:r>
              <a:rPr lang="en-US" dirty="0"/>
              <a:t> and using its values to calculate the final price of games. State one advantage </a:t>
            </a:r>
            <a:r>
              <a:rPr lang="en-US" dirty="0" smtClean="0"/>
              <a:t>of </a:t>
            </a:r>
            <a:r>
              <a:rPr lang="en-US" dirty="0"/>
              <a:t>this approach.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902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33A2D3"/>
                </a:solidFill>
              </a:rPr>
              <a:t>◣ </a:t>
            </a:r>
            <a:r>
              <a:rPr lang="en-US" b="1" dirty="0" smtClean="0">
                <a:solidFill>
                  <a:srgbClr val="33A2D3"/>
                </a:solidFill>
              </a:rPr>
              <a:t>Solution</a:t>
            </a:r>
          </a:p>
          <a:p>
            <a:r>
              <a:rPr lang="en-US" dirty="0" smtClean="0"/>
              <a:t>(a) 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GAME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(ID, NAME, PNMAE, GID, WEBSITE, PHONE, PRICE)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	Foreign </a:t>
            </a:r>
            <a:r>
              <a:rPr lang="en-US" dirty="0"/>
              <a:t>key: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GID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GENRE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(ID, NAME, RES)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	Foreign </a:t>
            </a:r>
            <a:r>
              <a:rPr lang="en-US" dirty="0"/>
              <a:t>key: </a:t>
            </a:r>
            <a:r>
              <a:rPr lang="en-US" dirty="0" smtClean="0"/>
              <a:t>N/A</a:t>
            </a:r>
          </a:p>
          <a:p>
            <a:r>
              <a:rPr lang="en-US" dirty="0" smtClean="0"/>
              <a:t>(b)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949" y="4014132"/>
            <a:ext cx="4743724" cy="139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460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(c) </a:t>
            </a:r>
            <a:r>
              <a:rPr lang="en-US" dirty="0" smtClean="0"/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GAME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NAME, PID, GID, PRICE)</a:t>
            </a:r>
          </a:p>
          <a:p>
            <a:r>
              <a:rPr lang="en-US" dirty="0"/>
              <a:t> </a:t>
            </a:r>
            <a:r>
              <a:rPr lang="en-US" dirty="0" smtClean="0"/>
              <a:t>		Foreign </a:t>
            </a:r>
            <a:r>
              <a:rPr lang="en-US" dirty="0"/>
              <a:t>key: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PID, GID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PUBLISHER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u="sng" dirty="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NAME, WEBSITE, PHONE)</a:t>
            </a:r>
          </a:p>
          <a:p>
            <a:r>
              <a:rPr lang="en-US" dirty="0"/>
              <a:t> </a:t>
            </a:r>
            <a:r>
              <a:rPr lang="en-US" dirty="0" smtClean="0"/>
              <a:t>		Foreign </a:t>
            </a:r>
            <a:r>
              <a:rPr lang="en-US" dirty="0"/>
              <a:t>key: </a:t>
            </a:r>
            <a:r>
              <a:rPr lang="en-US" dirty="0" smtClean="0"/>
              <a:t>N/A</a:t>
            </a:r>
          </a:p>
          <a:p>
            <a:endParaRPr lang="en-US" dirty="0"/>
          </a:p>
          <a:p>
            <a:r>
              <a:rPr lang="en-US" dirty="0"/>
              <a:t>(d) After two weeks, the administrator can set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DISCOUNT</a:t>
            </a:r>
            <a:r>
              <a:rPr lang="en-US" dirty="0"/>
              <a:t> of the games published by the mentioned </a:t>
            </a:r>
            <a:r>
              <a:rPr lang="en-US" dirty="0" smtClean="0"/>
              <a:t>publisher </a:t>
            </a:r>
            <a:r>
              <a:rPr lang="en-US" dirty="0"/>
              <a:t>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/>
              <a:t> to change their prices back to the original prices.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211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Finish Checkpoint 4.2 on P. 221 of your textbook.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(a) </a:t>
            </a:r>
            <a:r>
              <a:rPr lang="en-US" dirty="0" smtClean="0"/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BOOK(</a:t>
            </a:r>
            <a:r>
              <a:rPr lang="en-US" u="sng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BNAME, ANMAE, ANAT, AAGE, DATE, PAGE, PRICE, PID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 </a:t>
            </a:r>
            <a:r>
              <a:rPr lang="en-US" dirty="0" smtClean="0"/>
              <a:t>		Foreign </a:t>
            </a:r>
            <a:r>
              <a:rPr lang="en-US" dirty="0"/>
              <a:t>key: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PUBLISHER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u="sng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PNAME, PHONE, LOCATION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smtClean="0"/>
              <a:t>Foreign </a:t>
            </a:r>
            <a:r>
              <a:rPr lang="en-US" dirty="0"/>
              <a:t>key: </a:t>
            </a:r>
            <a:r>
              <a:rPr lang="en-US" dirty="0">
                <a:solidFill>
                  <a:srgbClr val="FF0000"/>
                </a:solidFill>
              </a:rPr>
              <a:t>N/A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(b)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4.2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556" y="4498457"/>
            <a:ext cx="4209441" cy="180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462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(c) </a:t>
            </a:r>
            <a:r>
              <a:rPr lang="en-US" dirty="0" smtClean="0"/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BOOK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u="sng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BNAME, AID, DATE, PAGE, PRICE, PID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	Foreign </a:t>
            </a:r>
            <a:r>
              <a:rPr lang="en-US" dirty="0"/>
              <a:t>key: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AID, PID 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AUTHOR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u="sng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AID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ANAME, ANAT, AAGE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	Foreign </a:t>
            </a:r>
            <a:r>
              <a:rPr lang="en-US" dirty="0"/>
              <a:t>key: </a:t>
            </a:r>
            <a:r>
              <a:rPr lang="en-US" dirty="0">
                <a:solidFill>
                  <a:srgbClr val="FF0000"/>
                </a:solidFill>
              </a:rPr>
              <a:t>N/A</a:t>
            </a:r>
          </a:p>
          <a:p>
            <a:endParaRPr lang="en-US" dirty="0" smtClean="0"/>
          </a:p>
          <a:p>
            <a:r>
              <a:rPr lang="en-US" dirty="0">
                <a:solidFill>
                  <a:srgbClr val="FF0000"/>
                </a:solidFill>
              </a:rPr>
              <a:t>(d) The age of a person changes while their birthday does not. Thus, if birthdays are stored, we do not have to update the data frequently. </a:t>
            </a:r>
            <a:r>
              <a:rPr lang="en-US" dirty="0" smtClean="0">
                <a:solidFill>
                  <a:srgbClr val="FF0000"/>
                </a:solidFill>
              </a:rPr>
              <a:t/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/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Instead</a:t>
            </a:r>
            <a:r>
              <a:rPr lang="en-US" dirty="0">
                <a:solidFill>
                  <a:srgbClr val="FF0000"/>
                </a:solidFill>
              </a:rPr>
              <a:t>, we can simply calculate the ages of authors by using their birthdays.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467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When a field is expected to be searched frequently, we can index that field to speed up the data retrieval process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Indexing a field creates an index table containing the indexed field and a pointer to the related records only.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084" y="2426632"/>
            <a:ext cx="4937955" cy="2913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743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However, the DBMS needs to update the index table if changes are made to the data in the indexed field or a new record is added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It takes time for the DBMS to update and storage space to store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 </a:t>
            </a:r>
            <a:r>
              <a:rPr lang="en-US" dirty="0"/>
              <a:t>index table. Therefore, it is wise to index a field only if </a:t>
            </a:r>
            <a:r>
              <a:rPr lang="en-US" dirty="0" smtClean="0"/>
              <a:t>necessary.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7046" y="2369127"/>
            <a:ext cx="1803550" cy="352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472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Finish Activity 4.5 on P. 224 of the textbook.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1. 3</a:t>
            </a:r>
            <a:br>
              <a:rPr lang="en-US" dirty="0" smtClean="0">
                <a:solidFill>
                  <a:srgbClr val="FF0000"/>
                </a:solidFill>
              </a:rPr>
            </a:b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2. 4; Hamlet, or other reasonable answer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br>
              <a:rPr lang="en-US" dirty="0" smtClean="0">
                <a:solidFill>
                  <a:srgbClr val="FF0000"/>
                </a:solidFill>
              </a:rPr>
            </a:b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3. log2 1000 = 9.97 ∴ it has to search 10 times in the worst case.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90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Integrity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4.3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When we update the data in a DBMS, the </a:t>
            </a:r>
            <a:r>
              <a:rPr lang="en-US" b="1" dirty="0">
                <a:solidFill>
                  <a:srgbClr val="4B4DA1"/>
                </a:solidFill>
              </a:rPr>
              <a:t>integrity</a:t>
            </a:r>
            <a:r>
              <a:rPr lang="en-US" dirty="0"/>
              <a:t> of data may be affected, meaning that the data is no longer accurate or valid.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Here </a:t>
            </a:r>
            <a:r>
              <a:rPr lang="en-US" dirty="0"/>
              <a:t>are three aspects of integrity that we should pay attention </a:t>
            </a:r>
            <a:r>
              <a:rPr lang="en-US" dirty="0" smtClean="0"/>
              <a:t>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Entity integrity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Referential integrity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Domain integrity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838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Entity integrity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b="1" dirty="0">
                <a:solidFill>
                  <a:srgbClr val="4B4DA1"/>
                </a:solidFill>
              </a:rPr>
              <a:t>Entity integrity</a:t>
            </a:r>
            <a:r>
              <a:rPr lang="en-US" dirty="0"/>
              <a:t> means that: </a:t>
            </a:r>
            <a:endParaRPr lang="en-US" dirty="0" smtClean="0"/>
          </a:p>
          <a:p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a </a:t>
            </a:r>
            <a:r>
              <a:rPr lang="en-US" dirty="0"/>
              <a:t>table must have its </a:t>
            </a:r>
            <a:r>
              <a:rPr lang="en-US" dirty="0">
                <a:solidFill>
                  <a:srgbClr val="D93464"/>
                </a:solidFill>
              </a:rPr>
              <a:t>primary key</a:t>
            </a:r>
            <a:r>
              <a:rPr lang="en-US" dirty="0"/>
              <a:t> defined; </a:t>
            </a:r>
            <a:r>
              <a:rPr lang="en-US" dirty="0" smtClean="0"/>
              <a:t>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primary key for each record is </a:t>
            </a:r>
            <a:r>
              <a:rPr lang="en-US" dirty="0">
                <a:solidFill>
                  <a:srgbClr val="D93464"/>
                </a:solidFill>
              </a:rPr>
              <a:t>unique</a:t>
            </a:r>
            <a:r>
              <a:rPr lang="en-US" dirty="0"/>
              <a:t> and </a:t>
            </a:r>
            <a:r>
              <a:rPr lang="en-US" dirty="0">
                <a:solidFill>
                  <a:srgbClr val="D93464"/>
                </a:solidFill>
              </a:rPr>
              <a:t>not </a:t>
            </a:r>
            <a:r>
              <a:rPr lang="en-US" dirty="0">
                <a:solidFill>
                  <a:srgbClr val="D934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using a DBMS, it is important to define a primary key for a table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Once the primary key is defined, the DBMS will ensure that the primary key for each record is unique and not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2541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integrity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See the following table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/>
              <a:t>If </a:t>
            </a:r>
            <a:r>
              <a:rPr lang="en-US" dirty="0">
                <a:solidFill>
                  <a:srgbClr val="D934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SID</a:t>
            </a:r>
            <a:r>
              <a:rPr lang="en-US" dirty="0"/>
              <a:t> is set as the primary key, you will NOT be able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insert </a:t>
            </a:r>
            <a:r>
              <a:rPr lang="en-US" dirty="0"/>
              <a:t>a new record with an </a:t>
            </a:r>
            <a:r>
              <a:rPr lang="en-US" dirty="0">
                <a:solidFill>
                  <a:srgbClr val="D934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SID</a:t>
            </a:r>
            <a:r>
              <a:rPr lang="en-US" dirty="0"/>
              <a:t>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03493</a:t>
            </a:r>
            <a:r>
              <a:rPr lang="en-US" dirty="0"/>
              <a:t> or update a record to have an </a:t>
            </a:r>
            <a:r>
              <a:rPr lang="en-US" dirty="0">
                <a:solidFill>
                  <a:srgbClr val="D934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SID</a:t>
            </a:r>
            <a:r>
              <a:rPr lang="en-US" dirty="0" smtClean="0"/>
              <a:t> </a:t>
            </a:r>
            <a:r>
              <a:rPr lang="en-US" dirty="0"/>
              <a:t>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03493</a:t>
            </a:r>
            <a:r>
              <a:rPr lang="en-US" dirty="0"/>
              <a:t> since this </a:t>
            </a:r>
            <a:r>
              <a:rPr lang="en-US" dirty="0">
                <a:solidFill>
                  <a:srgbClr val="D934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SID</a:t>
            </a:r>
            <a:r>
              <a:rPr lang="en-US" dirty="0"/>
              <a:t> is already occupied by the student Ada; 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insert </a:t>
            </a:r>
            <a:r>
              <a:rPr lang="en-US" dirty="0"/>
              <a:t>a new record without </a:t>
            </a:r>
            <a:r>
              <a:rPr lang="en-US" dirty="0">
                <a:solidFill>
                  <a:srgbClr val="D934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SID</a:t>
            </a:r>
            <a:r>
              <a:rPr lang="en-US" dirty="0"/>
              <a:t> since the primary key for a record </a:t>
            </a:r>
            <a:r>
              <a:rPr lang="en-US" dirty="0" smtClean="0"/>
              <a:t>cannot </a:t>
            </a:r>
            <a:r>
              <a:rPr lang="en-US" dirty="0"/>
              <a:t>be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574" y="2039116"/>
            <a:ext cx="4870266" cy="236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247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Entity integrity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A table violates entity integrity if</a:t>
            </a:r>
            <a:r>
              <a:rPr lang="en-US" dirty="0" smtClean="0"/>
              <a:t>: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it </a:t>
            </a:r>
            <a:r>
              <a:rPr lang="en-US" dirty="0"/>
              <a:t>does not have a primary key;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its </a:t>
            </a:r>
            <a:r>
              <a:rPr lang="en-US" dirty="0"/>
              <a:t>primary key contains duplicated values; 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its </a:t>
            </a:r>
            <a:r>
              <a:rPr lang="en-US" dirty="0"/>
              <a:t>primary key contains a NULL value.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0609" y="3340013"/>
            <a:ext cx="5474824" cy="282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618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Referential integrity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b="1" dirty="0">
                <a:solidFill>
                  <a:srgbClr val="4B4DA1"/>
                </a:solidFill>
              </a:rPr>
              <a:t>Referential integrity</a:t>
            </a:r>
            <a:r>
              <a:rPr lang="en-US" dirty="0"/>
              <a:t> means that the references of </a:t>
            </a:r>
            <a:r>
              <a:rPr lang="en-US" dirty="0">
                <a:solidFill>
                  <a:srgbClr val="CF9B3C"/>
                </a:solidFill>
              </a:rPr>
              <a:t>foreign keys</a:t>
            </a:r>
            <a:r>
              <a:rPr lang="en-US" dirty="0"/>
              <a:t> in a table are valid so that its relationship with other tables remains intact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Once the foreign key is defined, the DBMS will ensure that </a:t>
            </a:r>
            <a:r>
              <a:rPr lang="en-US" dirty="0">
                <a:solidFill>
                  <a:srgbClr val="CF9B3C"/>
                </a:solidFill>
              </a:rPr>
              <a:t>the values of foreign key for each record must come from the values of the field it references</a:t>
            </a:r>
            <a:r>
              <a:rPr lang="en-US" dirty="0"/>
              <a:t>. It does not stop a record to have NULL as the value of a foreign key though.</a:t>
            </a:r>
          </a:p>
        </p:txBody>
      </p:sp>
    </p:spTree>
    <p:extLst>
      <p:ext uri="{BB962C8B-B14F-4D97-AF65-F5344CB8AC3E}">
        <p14:creationId xmlns:p14="http://schemas.microsoft.com/office/powerpoint/2010/main" val="641798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Referential integrity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See the following tables: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872" y="1997308"/>
            <a:ext cx="8017636" cy="257091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618" y="4670064"/>
            <a:ext cx="7021574" cy="172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9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Referential integrity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Assume that </a:t>
            </a:r>
            <a:r>
              <a:rPr lang="en-US" dirty="0">
                <a:solidFill>
                  <a:srgbClr val="87C4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CLUB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CF9B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dirty="0"/>
              <a:t> is the primary key of the table </a:t>
            </a:r>
            <a:r>
              <a:rPr lang="en-US" dirty="0">
                <a:solidFill>
                  <a:srgbClr val="87C4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CLUB</a:t>
            </a:r>
            <a:r>
              <a:rPr lang="en-US" dirty="0"/>
              <a:t> and </a:t>
            </a:r>
            <a:r>
              <a:rPr lang="en-US" dirty="0">
                <a:solidFill>
                  <a:srgbClr val="33A2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CF9B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dirty="0"/>
              <a:t> is the foreign key of the table </a:t>
            </a:r>
            <a:r>
              <a:rPr lang="en-US" dirty="0">
                <a:solidFill>
                  <a:srgbClr val="33A2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 which links to </a:t>
            </a:r>
            <a:r>
              <a:rPr lang="en-US" dirty="0">
                <a:solidFill>
                  <a:srgbClr val="87C4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CLUB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CF9B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782" y="2642268"/>
            <a:ext cx="8017636" cy="257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8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Referential integrity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Excluding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dirty="0"/>
              <a:t> values, each foreign key value (</a:t>
            </a:r>
            <a:r>
              <a:rPr lang="en-US" dirty="0">
                <a:solidFill>
                  <a:srgbClr val="CF9B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dirty="0"/>
              <a:t>) in the host table (</a:t>
            </a:r>
            <a:r>
              <a:rPr lang="en-US" dirty="0">
                <a:solidFill>
                  <a:srgbClr val="33A2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) must come from the primary key value (</a:t>
            </a:r>
            <a:r>
              <a:rPr lang="en-US" dirty="0">
                <a:solidFill>
                  <a:srgbClr val="CF9B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dirty="0"/>
              <a:t>) in the parent table (</a:t>
            </a:r>
            <a:r>
              <a:rPr lang="en-US" dirty="0">
                <a:solidFill>
                  <a:srgbClr val="87C4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CLUB</a:t>
            </a:r>
            <a:r>
              <a:rPr lang="en-US" dirty="0"/>
              <a:t>).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529" y="2869200"/>
            <a:ext cx="2935894" cy="233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778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Referential integrity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Thus, the DBMS prevents actions that would cause a foreign key value (</a:t>
            </a:r>
            <a:r>
              <a:rPr lang="en-US" dirty="0">
                <a:solidFill>
                  <a:srgbClr val="CF9B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dirty="0"/>
              <a:t>) in the host table (</a:t>
            </a:r>
            <a:r>
              <a:rPr lang="en-US" dirty="0">
                <a:solidFill>
                  <a:srgbClr val="33A2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) to reference a primary key value (</a:t>
            </a:r>
            <a:r>
              <a:rPr lang="en-US" dirty="0">
                <a:solidFill>
                  <a:srgbClr val="CF9B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dirty="0"/>
              <a:t>) that does not exist in the parent table. It means you will NOT be able to</a:t>
            </a:r>
            <a:r>
              <a:rPr lang="en-US" dirty="0" smtClean="0"/>
              <a:t>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940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Referential integrity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Insert </a:t>
            </a:r>
            <a:r>
              <a:rPr lang="en-US" dirty="0"/>
              <a:t>a new record into </a:t>
            </a:r>
            <a:r>
              <a:rPr lang="en-US" dirty="0">
                <a:solidFill>
                  <a:srgbClr val="33A2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 with a </a:t>
            </a:r>
            <a:r>
              <a:rPr lang="en-US" dirty="0">
                <a:solidFill>
                  <a:srgbClr val="CF9B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dirty="0"/>
              <a:t> that does not exist in </a:t>
            </a:r>
            <a:r>
              <a:rPr lang="en-US" dirty="0">
                <a:solidFill>
                  <a:srgbClr val="87C4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CLUB</a:t>
            </a:r>
            <a:r>
              <a:rPr lang="en-US" dirty="0" smtClean="0"/>
              <a:t>;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b="9794"/>
          <a:stretch/>
        </p:blipFill>
        <p:spPr>
          <a:xfrm>
            <a:off x="4008675" y="2497054"/>
            <a:ext cx="3210373" cy="29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489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Referential integrity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Update </a:t>
            </a:r>
            <a:r>
              <a:rPr lang="en-US" dirty="0"/>
              <a:t>a record in </a:t>
            </a:r>
            <a:r>
              <a:rPr lang="en-US" dirty="0">
                <a:solidFill>
                  <a:srgbClr val="33A2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 to have a </a:t>
            </a:r>
            <a:r>
              <a:rPr lang="en-US" dirty="0">
                <a:solidFill>
                  <a:srgbClr val="CF9B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dirty="0"/>
              <a:t> that does not exist in </a:t>
            </a:r>
            <a:r>
              <a:rPr lang="en-US" dirty="0">
                <a:solidFill>
                  <a:srgbClr val="87C4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CLUB</a:t>
            </a:r>
            <a:r>
              <a:rPr lang="en-US" dirty="0"/>
              <a:t>;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b="11231"/>
          <a:stretch/>
        </p:blipFill>
        <p:spPr>
          <a:xfrm>
            <a:off x="4041925" y="2428216"/>
            <a:ext cx="3210373" cy="288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078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Referential integrity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en-US" dirty="0" smtClean="0"/>
              <a:t>elete </a:t>
            </a:r>
            <a:r>
              <a:rPr lang="en-US" dirty="0"/>
              <a:t>a record from </a:t>
            </a:r>
            <a:r>
              <a:rPr lang="en-US" dirty="0">
                <a:solidFill>
                  <a:srgbClr val="87C4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CLUB</a:t>
            </a:r>
            <a:r>
              <a:rPr lang="en-US" dirty="0"/>
              <a:t> with a </a:t>
            </a:r>
            <a:r>
              <a:rPr lang="en-US" dirty="0">
                <a:solidFill>
                  <a:srgbClr val="CF9B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dirty="0"/>
              <a:t> that is referenced by </a:t>
            </a:r>
            <a:r>
              <a:rPr lang="en-US" dirty="0">
                <a:solidFill>
                  <a:srgbClr val="33A2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; and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b="11655"/>
          <a:stretch/>
        </p:blipFill>
        <p:spPr>
          <a:xfrm>
            <a:off x="4291307" y="2676658"/>
            <a:ext cx="3210373" cy="270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245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Referential integrity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/>
              <a:t>Update </a:t>
            </a:r>
            <a:r>
              <a:rPr lang="en-US" dirty="0"/>
              <a:t>the </a:t>
            </a:r>
            <a:r>
              <a:rPr lang="en-US" dirty="0">
                <a:solidFill>
                  <a:srgbClr val="CF9B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CID</a:t>
            </a:r>
            <a:r>
              <a:rPr lang="en-US" dirty="0"/>
              <a:t> of a record in </a:t>
            </a:r>
            <a:r>
              <a:rPr lang="en-US" dirty="0">
                <a:solidFill>
                  <a:srgbClr val="87C4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CLUB</a:t>
            </a:r>
            <a:r>
              <a:rPr lang="en-US" dirty="0"/>
              <a:t> that is referenced by </a:t>
            </a:r>
            <a:r>
              <a:rPr lang="en-US" dirty="0">
                <a:solidFill>
                  <a:srgbClr val="33A2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/>
              <a:t> to a new value.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b="13781"/>
          <a:stretch/>
        </p:blipFill>
        <p:spPr>
          <a:xfrm>
            <a:off x="4173625" y="2682726"/>
            <a:ext cx="3296110" cy="256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706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 integrity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b="1" dirty="0">
                <a:solidFill>
                  <a:srgbClr val="4B4DA1"/>
                </a:solidFill>
              </a:rPr>
              <a:t>Domain integrity</a:t>
            </a:r>
            <a:r>
              <a:rPr lang="en-US" dirty="0"/>
              <a:t> means that the value of an </a:t>
            </a:r>
            <a:r>
              <a:rPr lang="en-US" dirty="0">
                <a:solidFill>
                  <a:srgbClr val="7DAA42"/>
                </a:solidFill>
              </a:rPr>
              <a:t>attribute</a:t>
            </a:r>
            <a:r>
              <a:rPr lang="en-US" dirty="0"/>
              <a:t> must fall within a reasonable domain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When using a DBMS, we may define the domain of an attribute by setting its data type and constraints.</a:t>
            </a:r>
          </a:p>
        </p:txBody>
      </p:sp>
    </p:spTree>
    <p:extLst>
      <p:ext uri="{BB962C8B-B14F-4D97-AF65-F5344CB8AC3E}">
        <p14:creationId xmlns:p14="http://schemas.microsoft.com/office/powerpoint/2010/main" val="3213072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 integrity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See the following table: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478" y="1623600"/>
            <a:ext cx="3481600" cy="21232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426" y="3857740"/>
            <a:ext cx="8414973" cy="261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74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 integrity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en-US" dirty="0">
                <a:solidFill>
                  <a:srgbClr val="33A2D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SID </a:t>
            </a:r>
            <a:r>
              <a:rPr lang="en-US" dirty="0">
                <a:solidFill>
                  <a:srgbClr val="7DAA4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CHAR(5)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PRIMARY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KEY,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NAME </a:t>
            </a:r>
            <a:r>
              <a:rPr lang="en-US" dirty="0">
                <a:solidFill>
                  <a:srgbClr val="7DAA4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VARCHAR(40)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SEX </a:t>
            </a:r>
            <a:r>
              <a:rPr lang="en-US" dirty="0">
                <a:solidFill>
                  <a:srgbClr val="7DAA4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CHAR(1)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CLASS </a:t>
            </a:r>
            <a:r>
              <a:rPr lang="en-US" dirty="0">
                <a:solidFill>
                  <a:srgbClr val="7DAA4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CHAR(2)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CNO </a:t>
            </a:r>
            <a:r>
              <a:rPr lang="en-US" dirty="0">
                <a:solidFill>
                  <a:srgbClr val="7DAA4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CHECK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7DAA4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LENGTH(SID) = 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CHECK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7DAA4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SEX IN ('M', 'F')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CHECK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7DAA4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IN ('1A', '1B', '1C', '1D')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CHECK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7DAA4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CNO BETWEEN 1 AND 30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242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 integrity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If the data types and constraints of the mentioned attributes are defined as </a:t>
            </a:r>
            <a:r>
              <a:rPr lang="en-US" dirty="0" smtClean="0"/>
              <a:t>above</a:t>
            </a:r>
            <a:r>
              <a:rPr lang="en-US" dirty="0"/>
              <a:t>, you will NOT be able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insert </a:t>
            </a:r>
            <a:r>
              <a:rPr lang="en-US" dirty="0"/>
              <a:t>a new record with an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SID</a:t>
            </a:r>
            <a:r>
              <a:rPr lang="en-US" dirty="0"/>
              <a:t> of less than 5 characters; 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update </a:t>
            </a:r>
            <a:r>
              <a:rPr lang="en-US" dirty="0"/>
              <a:t>a record to have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dirty="0"/>
              <a:t> other than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1A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1B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1C </a:t>
            </a:r>
            <a:r>
              <a:rPr lang="en-US" dirty="0"/>
              <a:t>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1D</a:t>
            </a:r>
            <a:r>
              <a:rPr lang="en-US" dirty="0"/>
              <a:t>; 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insert </a:t>
            </a:r>
            <a:r>
              <a:rPr lang="en-US" dirty="0"/>
              <a:t>a new record with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CNO</a:t>
            </a:r>
            <a:r>
              <a:rPr lang="en-US" dirty="0"/>
              <a:t>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One</a:t>
            </a:r>
            <a:r>
              <a:rPr lang="en-US" dirty="0"/>
              <a:t>; 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update </a:t>
            </a:r>
            <a:r>
              <a:rPr lang="en-US" dirty="0"/>
              <a:t>a record to have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CNO</a:t>
            </a:r>
            <a:r>
              <a:rPr lang="en-US" dirty="0"/>
              <a:t>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–6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/>
              <a:t>A table violates domain integrity if its field contains a value that is not within its domain.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680" y="3488806"/>
            <a:ext cx="3318120" cy="225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561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 integrity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In summary, each integrity concerns a different </a:t>
            </a:r>
            <a:r>
              <a:rPr lang="en-US" dirty="0" smtClean="0"/>
              <a:t>issue: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002" y="2295156"/>
            <a:ext cx="7269195" cy="135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2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Finish Activity 4.6 on P. 230 of your textbook.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2. 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442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Finish Checkpoint 4.3 on P. 232 of your textbook.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a) Domain integrity. The closing hour of Kenneth Fish &amp; Chip is 20:90, which is an invalid value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br>
              <a:rPr lang="en-US" dirty="0" smtClean="0">
                <a:solidFill>
                  <a:srgbClr val="FF0000"/>
                </a:solidFill>
              </a:rPr>
            </a:b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b) Entity integrity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br>
              <a:rPr lang="en-US" dirty="0" smtClean="0">
                <a:solidFill>
                  <a:srgbClr val="FF0000"/>
                </a:solidFill>
              </a:rPr>
            </a:b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c)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</a:t>
            </a:r>
            <a:r>
              <a:rPr lang="en-US" dirty="0">
                <a:solidFill>
                  <a:srgbClr val="FF0000"/>
                </a:solidFill>
              </a:rPr>
              <a:t>. No two shops share the same address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br>
              <a:rPr lang="en-US" dirty="0" smtClean="0">
                <a:solidFill>
                  <a:srgbClr val="FF0000"/>
                </a:solidFill>
              </a:rPr>
            </a:b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(d</a:t>
            </a:r>
            <a:r>
              <a:rPr lang="en-US" dirty="0">
                <a:solidFill>
                  <a:srgbClr val="FF0000"/>
                </a:solidFill>
              </a:rPr>
              <a:t>) </a:t>
            </a:r>
            <a:r>
              <a:rPr lang="en-US" dirty="0" smtClean="0">
                <a:solidFill>
                  <a:srgbClr val="FF0000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records of all products that are sold at the removed shop should be removed as well.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69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36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Rollback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4.4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rgbClr val="4B4DA1"/>
                </a:solidFill>
              </a:rPr>
              <a:t>rollback</a:t>
            </a:r>
            <a:r>
              <a:rPr lang="en-US" dirty="0"/>
              <a:t> means restoring a database to its previous state.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When </a:t>
            </a:r>
            <a:r>
              <a:rPr lang="en-US" dirty="0"/>
              <a:t>managing a database, errors may occur and corrupt the integrity of data. Therefore, we must make a backup of our database regularly. When needed, we can roll back our database using the backup.</a:t>
            </a:r>
          </a:p>
        </p:txBody>
      </p:sp>
    </p:spTree>
    <p:extLst>
      <p:ext uri="{BB962C8B-B14F-4D97-AF65-F5344CB8AC3E}">
        <p14:creationId xmlns:p14="http://schemas.microsoft.com/office/powerpoint/2010/main" val="1366474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Rollback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4.4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See the following table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A new school year is coming soon, a teacher wants to: </a:t>
            </a:r>
            <a:endParaRPr lang="en-US" dirty="0" smtClean="0"/>
          </a:p>
          <a:p>
            <a:r>
              <a:rPr lang="en-US" dirty="0" smtClean="0"/>
              <a:t>1. delete </a:t>
            </a:r>
            <a:r>
              <a:rPr lang="en-US" dirty="0"/>
              <a:t>students in class 6A; and </a:t>
            </a:r>
            <a:endParaRPr lang="en-US" dirty="0" smtClean="0"/>
          </a:p>
          <a:p>
            <a:r>
              <a:rPr lang="en-US" dirty="0" smtClean="0"/>
              <a:t>2</a:t>
            </a:r>
            <a:r>
              <a:rPr lang="en-US" dirty="0"/>
              <a:t>. promote all students in class 5A to class 6A.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304" y="1609201"/>
            <a:ext cx="3058718" cy="319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916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Rollback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4.4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It means two SQL statements are needed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DELETE FROM STUDENT WHERE CLASS = '6A'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UPDATE STUDENT SET CLASS = '6A' WHERE CLASS =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'5A‘</a:t>
            </a:r>
          </a:p>
          <a:p>
            <a:pPr lvl="1"/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However, they mess up the order of operations. Now all 5A students are promoted to 6A, then all 6A students are deleted, leaving the table empty. </a:t>
            </a:r>
            <a:endParaRPr lang="en-US" dirty="0" smtClean="0"/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This is where we need a rollback.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41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Finish Checkpoint 4.4 on P. 236 of your textbook.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a) </a:t>
            </a:r>
            <a:r>
              <a:rPr lang="en-US" dirty="0" smtClean="0"/>
              <a:t>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PAYMENT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TID, PAYERID, PAYEEID, AMOUNT, TTIME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smtClean="0"/>
              <a:t>		Foreign </a:t>
            </a:r>
            <a:r>
              <a:rPr lang="en-US" dirty="0"/>
              <a:t>key: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PAYERID, PAYEEID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b) </a:t>
            </a:r>
            <a:r>
              <a:rPr lang="en-US" dirty="0" smtClean="0">
                <a:solidFill>
                  <a:srgbClr val="FF0000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deposit of the payer account is subtracted by the amount of the payment; and </a:t>
            </a:r>
            <a:r>
              <a:rPr lang="en-US" dirty="0" smtClean="0">
                <a:solidFill>
                  <a:srgbClr val="FF0000"/>
                </a:solidFill>
              </a:rPr>
              <a:t/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deposit of the payee account is added by the amount of the payment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c) Rollback the database to the previous state. It is possible that some of the payments are halfway through the process, </a:t>
            </a:r>
            <a:r>
              <a:rPr lang="en-US" dirty="0" smtClean="0">
                <a:solidFill>
                  <a:srgbClr val="FF0000"/>
                </a:solidFill>
              </a:rPr>
              <a:t/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e.g</a:t>
            </a:r>
            <a:r>
              <a:rPr lang="en-US" dirty="0">
                <a:solidFill>
                  <a:srgbClr val="FF0000"/>
                </a:solidFill>
              </a:rPr>
              <a:t>. the deposit of the payer account is subtracted but the deposit of the payee is not added.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73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4.4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052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SEPPT_EN_Kelie_20230427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870A11EB-92D6-4F97-997A-48342F7B5A00}" vid="{0765A16F-C91A-4B03-A6B8-7E4395E092E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DSEPPT_EN_Kelie_20230427</Template>
  <TotalTime>360</TotalTime>
  <Words>2526</Words>
  <Application>Microsoft Office PowerPoint</Application>
  <PresentationFormat>Widescreen</PresentationFormat>
  <Paragraphs>484</Paragraphs>
  <Slides>73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9" baseType="lpstr">
      <vt:lpstr>Noto Sans CJK KR Black</vt:lpstr>
      <vt:lpstr>Arial</vt:lpstr>
      <vt:lpstr>Courier New</vt:lpstr>
      <vt:lpstr>Myriad Pro</vt:lpstr>
      <vt:lpstr>Tw Cen MT</vt:lpstr>
      <vt:lpstr>DSEPPT_EN_Kelie_20230427</vt:lpstr>
      <vt:lpstr>Chapter 4 Relational Database</vt:lpstr>
      <vt:lpstr>Concept of a Relational Database</vt:lpstr>
      <vt:lpstr>Concept of a Relational Database</vt:lpstr>
      <vt:lpstr>Entity</vt:lpstr>
      <vt:lpstr>Entity</vt:lpstr>
      <vt:lpstr>Entity</vt:lpstr>
      <vt:lpstr>Attribute</vt:lpstr>
      <vt:lpstr>PowerPoint Presentation</vt:lpstr>
      <vt:lpstr>Attribute</vt:lpstr>
      <vt:lpstr>Relationship</vt:lpstr>
      <vt:lpstr>Relationship</vt:lpstr>
      <vt:lpstr>Relationship</vt:lpstr>
      <vt:lpstr>PowerPoint Presentation</vt:lpstr>
      <vt:lpstr>Domain</vt:lpstr>
      <vt:lpstr>Domain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Schema</vt:lpstr>
      <vt:lpstr>Schema</vt:lpstr>
      <vt:lpstr>Schema</vt:lpstr>
      <vt:lpstr>Key fields</vt:lpstr>
      <vt:lpstr>Key fields</vt:lpstr>
      <vt:lpstr>Key fields</vt:lpstr>
      <vt:lpstr>Key fields</vt:lpstr>
      <vt:lpstr>PowerPoint Presentation</vt:lpstr>
      <vt:lpstr>Key fields</vt:lpstr>
      <vt:lpstr>Key fields</vt:lpstr>
      <vt:lpstr>Key fields</vt:lpstr>
      <vt:lpstr>Key fields</vt:lpstr>
      <vt:lpstr>Key fields</vt:lpstr>
      <vt:lpstr>Key fields</vt:lpstr>
      <vt:lpstr>Key fields</vt:lpstr>
      <vt:lpstr>Key fields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Index</vt:lpstr>
      <vt:lpstr>Index</vt:lpstr>
      <vt:lpstr>PowerPoint Presentation</vt:lpstr>
      <vt:lpstr>Integrity</vt:lpstr>
      <vt:lpstr>Entity integrity</vt:lpstr>
      <vt:lpstr>Entity integrity</vt:lpstr>
      <vt:lpstr>Entity integrity</vt:lpstr>
      <vt:lpstr>Referential integrity</vt:lpstr>
      <vt:lpstr>Referential integrity</vt:lpstr>
      <vt:lpstr>Referential integrity</vt:lpstr>
      <vt:lpstr>Referential integrity</vt:lpstr>
      <vt:lpstr>Referential integrity</vt:lpstr>
      <vt:lpstr>Referential integrity</vt:lpstr>
      <vt:lpstr>Referential integrity</vt:lpstr>
      <vt:lpstr>Referential integrity</vt:lpstr>
      <vt:lpstr>Referential integrity</vt:lpstr>
      <vt:lpstr>Domain integrity</vt:lpstr>
      <vt:lpstr>Domain integrity</vt:lpstr>
      <vt:lpstr>Domain integrity</vt:lpstr>
      <vt:lpstr>Domain integrity</vt:lpstr>
      <vt:lpstr>Domain integrity</vt:lpstr>
      <vt:lpstr>PowerPoint Presentation</vt:lpstr>
      <vt:lpstr>PowerPoint Presentation</vt:lpstr>
      <vt:lpstr>Rollback</vt:lpstr>
      <vt:lpstr>Rollback</vt:lpstr>
      <vt:lpstr>Rollback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iClass</dc:creator>
  <cp:lastModifiedBy>iClass</cp:lastModifiedBy>
  <cp:revision>34</cp:revision>
  <dcterms:created xsi:type="dcterms:W3CDTF">2023-05-11T02:28:41Z</dcterms:created>
  <dcterms:modified xsi:type="dcterms:W3CDTF">2023-05-11T08:29:40Z</dcterms:modified>
</cp:coreProperties>
</file>