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7" r:id="rId2"/>
    <p:sldId id="258" r:id="rId3"/>
    <p:sldId id="259" r:id="rId4"/>
    <p:sldId id="260" r:id="rId5"/>
    <p:sldId id="261" r:id="rId6"/>
    <p:sldId id="262" r:id="rId7"/>
    <p:sldId id="263" r:id="rId8"/>
    <p:sldId id="264" r:id="rId9"/>
    <p:sldId id="370" r:id="rId10"/>
    <p:sldId id="372" r:id="rId11"/>
    <p:sldId id="373" r:id="rId12"/>
    <p:sldId id="265" r:id="rId13"/>
    <p:sldId id="266" r:id="rId14"/>
    <p:sldId id="268" r:id="rId15"/>
    <p:sldId id="269" r:id="rId16"/>
    <p:sldId id="270" r:id="rId17"/>
    <p:sldId id="271" r:id="rId18"/>
    <p:sldId id="272" r:id="rId19"/>
    <p:sldId id="273" r:id="rId20"/>
    <p:sldId id="274" r:id="rId21"/>
    <p:sldId id="275" r:id="rId22"/>
    <p:sldId id="276" r:id="rId23"/>
    <p:sldId id="374" r:id="rId24"/>
    <p:sldId id="277"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301" r:id="rId46"/>
    <p:sldId id="375" r:id="rId47"/>
    <p:sldId id="376" r:id="rId48"/>
    <p:sldId id="377" r:id="rId49"/>
    <p:sldId id="378" r:id="rId50"/>
    <p:sldId id="302" r:id="rId51"/>
    <p:sldId id="379" r:id="rId52"/>
    <p:sldId id="303" r:id="rId53"/>
    <p:sldId id="380" r:id="rId54"/>
    <p:sldId id="381" r:id="rId55"/>
    <p:sldId id="382" r:id="rId56"/>
    <p:sldId id="299" r:id="rId57"/>
    <p:sldId id="300" r:id="rId58"/>
    <p:sldId id="304" r:id="rId59"/>
    <p:sldId id="305" r:id="rId60"/>
    <p:sldId id="306" r:id="rId61"/>
    <p:sldId id="307" r:id="rId62"/>
    <p:sldId id="383" r:id="rId63"/>
    <p:sldId id="384" r:id="rId64"/>
    <p:sldId id="385" r:id="rId65"/>
    <p:sldId id="308" r:id="rId66"/>
    <p:sldId id="309"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 id="322" r:id="rId80"/>
    <p:sldId id="323" r:id="rId81"/>
    <p:sldId id="386" r:id="rId82"/>
    <p:sldId id="324" r:id="rId83"/>
    <p:sldId id="326" r:id="rId84"/>
    <p:sldId id="327" r:id="rId85"/>
    <p:sldId id="328" r:id="rId86"/>
    <p:sldId id="329" r:id="rId87"/>
    <p:sldId id="330" r:id="rId88"/>
    <p:sldId id="331" r:id="rId89"/>
    <p:sldId id="332" r:id="rId90"/>
    <p:sldId id="333" r:id="rId91"/>
    <p:sldId id="334" r:id="rId92"/>
    <p:sldId id="335" r:id="rId93"/>
    <p:sldId id="336" r:id="rId94"/>
    <p:sldId id="337" r:id="rId95"/>
    <p:sldId id="338" r:id="rId96"/>
    <p:sldId id="339" r:id="rId97"/>
    <p:sldId id="340" r:id="rId98"/>
    <p:sldId id="341" r:id="rId99"/>
    <p:sldId id="345" r:id="rId100"/>
    <p:sldId id="387" r:id="rId101"/>
    <p:sldId id="344" r:id="rId102"/>
    <p:sldId id="346" r:id="rId103"/>
    <p:sldId id="347" r:id="rId104"/>
    <p:sldId id="348" r:id="rId105"/>
    <p:sldId id="365" r:id="rId106"/>
    <p:sldId id="366" r:id="rId107"/>
    <p:sldId id="349" r:id="rId108"/>
    <p:sldId id="350" r:id="rId109"/>
    <p:sldId id="351" r:id="rId110"/>
    <p:sldId id="353" r:id="rId111"/>
    <p:sldId id="367" r:id="rId112"/>
    <p:sldId id="368" r:id="rId113"/>
    <p:sldId id="388" r:id="rId114"/>
    <p:sldId id="389" r:id="rId115"/>
    <p:sldId id="354" r:id="rId116"/>
    <p:sldId id="369" r:id="rId117"/>
    <p:sldId id="390" r:id="rId118"/>
    <p:sldId id="355" r:id="rId119"/>
    <p:sldId id="356" r:id="rId120"/>
    <p:sldId id="357" r:id="rId121"/>
    <p:sldId id="358" r:id="rId122"/>
    <p:sldId id="359" r:id="rId123"/>
    <p:sldId id="360" r:id="rId124"/>
    <p:sldId id="361" r:id="rId125"/>
    <p:sldId id="362" r:id="rId126"/>
    <p:sldId id="391" r:id="rId127"/>
    <p:sldId id="392" r:id="rId128"/>
    <p:sldId id="393" r:id="rId129"/>
    <p:sldId id="363" r:id="rId1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A3D4"/>
    <a:srgbClr val="4B479C"/>
    <a:srgbClr val="D93566"/>
    <a:srgbClr val="7DAC4F"/>
    <a:srgbClr val="537B32"/>
    <a:srgbClr val="A6BF71"/>
    <a:srgbClr val="E8949C"/>
    <a:srgbClr val="B12552"/>
    <a:srgbClr val="DB325F"/>
    <a:srgbClr val="054D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97C56F-506D-1CBF-DAEA-5491D0196718}"/>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3145542" cy="505969"/>
          </a:xfrm>
          <a:prstGeom prst="rect">
            <a:avLst/>
          </a:prstGeom>
        </p:spPr>
      </p:pic>
      <p:pic>
        <p:nvPicPr>
          <p:cNvPr id="5" name="Picture 4">
            <a:extLst>
              <a:ext uri="{FF2B5EF4-FFF2-40B4-BE49-F238E27FC236}">
                <a16:creationId xmlns:a16="http://schemas.microsoft.com/office/drawing/2014/main" id="{9D8FD09F-D8A1-E336-3B87-044CB68F4B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3226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32BE4C03-EDAE-8A34-CB24-BDAA03524E5E}"/>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4093472" cy="505969"/>
          </a:xfrm>
          <a:prstGeom prst="rect">
            <a:avLst/>
          </a:prstGeom>
        </p:spPr>
      </p:pic>
      <p:pic>
        <p:nvPicPr>
          <p:cNvPr id="8" name="Picture 7">
            <a:extLst>
              <a:ext uri="{FF2B5EF4-FFF2-40B4-BE49-F238E27FC236}">
                <a16:creationId xmlns:a16="http://schemas.microsoft.com/office/drawing/2014/main" id="{E2DAD781-428A-67D8-7C55-666DFF21CBBC}"/>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736497C4-9FC9-151F-62D2-FB395805F0B0}"/>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74946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8" name="Picture 7">
            <a:extLst>
              <a:ext uri="{FF2B5EF4-FFF2-40B4-BE49-F238E27FC236}">
                <a16:creationId xmlns:a16="http://schemas.microsoft.com/office/drawing/2014/main" id="{217E881E-670F-B298-11FD-7D2AE51F6D8C}"/>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8" name="Picture 17">
            <a:extLst>
              <a:ext uri="{FF2B5EF4-FFF2-40B4-BE49-F238E27FC236}">
                <a16:creationId xmlns:a16="http://schemas.microsoft.com/office/drawing/2014/main" id="{097C5F1C-1E54-2755-BD09-8B53BEC6CE1A}"/>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42367" cy="505969"/>
          </a:xfrm>
          <a:prstGeom prst="rect">
            <a:avLst/>
          </a:prstGeom>
        </p:spPr>
      </p:pic>
      <p:pic>
        <p:nvPicPr>
          <p:cNvPr id="16" name="Picture 15">
            <a:extLst>
              <a:ext uri="{FF2B5EF4-FFF2-40B4-BE49-F238E27FC236}">
                <a16:creationId xmlns:a16="http://schemas.microsoft.com/office/drawing/2014/main" id="{A97AA30C-B131-11B2-D159-FECF538D59B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71441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0B2444-920A-39A5-579B-B54FCADA5674}"/>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5117602" cy="505969"/>
          </a:xfrm>
          <a:prstGeom prst="rect">
            <a:avLst/>
          </a:prstGeom>
        </p:spPr>
      </p:pic>
      <p:pic>
        <p:nvPicPr>
          <p:cNvPr id="5" name="Picture 4">
            <a:extLst>
              <a:ext uri="{FF2B5EF4-FFF2-40B4-BE49-F238E27FC236}">
                <a16:creationId xmlns:a16="http://schemas.microsoft.com/office/drawing/2014/main" id="{07506DF5-D585-C85A-7378-578CF95524AA}"/>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F6743423-DF9F-5DF4-442D-BF34F62A7AC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2795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E-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B161E0BB-AC62-05F4-05B8-418A002D64E0}"/>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2660909" cy="505969"/>
          </a:xfrm>
          <a:prstGeom prst="rect">
            <a:avLst/>
          </a:prstGeom>
        </p:spPr>
      </p:pic>
      <p:pic>
        <p:nvPicPr>
          <p:cNvPr id="8" name="Picture 7">
            <a:extLst>
              <a:ext uri="{FF2B5EF4-FFF2-40B4-BE49-F238E27FC236}">
                <a16:creationId xmlns:a16="http://schemas.microsoft.com/office/drawing/2014/main" id="{3CC61186-C2CB-33BF-880D-468C0FE8B484}"/>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0390D0C5-32B0-F4A3-8473-6945918A77E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46747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Elec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7" name="Picture 6">
            <a:extLst>
              <a:ext uri="{FF2B5EF4-FFF2-40B4-BE49-F238E27FC236}">
                <a16:creationId xmlns:a16="http://schemas.microsoft.com/office/drawing/2014/main" id="{51C75235-0293-8136-6524-0EEAD91BBFA5}"/>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1813564" cy="505969"/>
          </a:xfrm>
          <a:prstGeom prst="rect">
            <a:avLst/>
          </a:prstGeom>
        </p:spPr>
      </p:pic>
      <p:pic>
        <p:nvPicPr>
          <p:cNvPr id="3" name="Picture 2">
            <a:extLst>
              <a:ext uri="{FF2B5EF4-FFF2-40B4-BE49-F238E27FC236}">
                <a16:creationId xmlns:a16="http://schemas.microsoft.com/office/drawing/2014/main" id="{BF7CD102-4498-ACB1-C72C-8082CD03250A}"/>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395672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lec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4" name="Picture 3">
            <a:extLst>
              <a:ext uri="{FF2B5EF4-FFF2-40B4-BE49-F238E27FC236}">
                <a16:creationId xmlns:a16="http://schemas.microsoft.com/office/drawing/2014/main" id="{348E981E-C35F-E8F8-DE42-4B0CC68BF4A0}"/>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864872" cy="505969"/>
          </a:xfrm>
          <a:prstGeom prst="rect">
            <a:avLst/>
          </a:prstGeom>
        </p:spPr>
      </p:pic>
      <p:pic>
        <p:nvPicPr>
          <p:cNvPr id="5" name="Picture 4">
            <a:extLst>
              <a:ext uri="{FF2B5EF4-FFF2-40B4-BE49-F238E27FC236}">
                <a16:creationId xmlns:a16="http://schemas.microsoft.com/office/drawing/2014/main" id="{154FA34B-69E2-DB1D-D9D7-52FE3BD9BD06}"/>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482670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Elec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8" name="Picture 7">
            <a:extLst>
              <a:ext uri="{FF2B5EF4-FFF2-40B4-BE49-F238E27FC236}">
                <a16:creationId xmlns:a16="http://schemas.microsoft.com/office/drawing/2014/main" id="{36A66CFB-18D0-6F75-8C97-40CC53CD9633}"/>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91136" cy="505969"/>
          </a:xfrm>
          <a:prstGeom prst="rect">
            <a:avLst/>
          </a:prstGeom>
        </p:spPr>
      </p:pic>
      <p:pic>
        <p:nvPicPr>
          <p:cNvPr id="3" name="Picture 2">
            <a:extLst>
              <a:ext uri="{FF2B5EF4-FFF2-40B4-BE49-F238E27FC236}">
                <a16:creationId xmlns:a16="http://schemas.microsoft.com/office/drawing/2014/main" id="{CE316255-5138-F681-0D2B-20384F1BB20E}"/>
              </a:ext>
            </a:extLst>
          </p:cNvPr>
          <p:cNvPicPr>
            <a:picLocks noGrp="1" noRot="1" noChangeAspect="1" noMove="1" noResize="1" noEditPoints="1" noAdjustHandles="1" noChangeArrowheads="1" noChangeShapeType="1" noCrop="1"/>
          </p:cNvPicPr>
          <p:nvPr/>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3265983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A&amp;C_orange-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C0BD9D-B8ED-5511-960F-8CA63E3A33D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383162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amp;C_blu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117F345-65C2-2CD1-DC0D-64AC50F134CF}"/>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4283244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amp;C_gree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11348A-7A65-4D63-9999-43FC28C9E5E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24528945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amp;C_red-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6142E-F691-EA8F-3DCD-7E4A78F2E4F1}"/>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373773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amp;C_cya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C15972-37F2-DAE7-8C10-98E52C044C25}"/>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620414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_orange">
    <p:spTree>
      <p:nvGrpSpPr>
        <p:cNvPr id="1" name=""/>
        <p:cNvGrpSpPr/>
        <p:nvPr/>
      </p:nvGrpSpPr>
      <p:grpSpPr>
        <a:xfrm>
          <a:off x="0" y="0"/>
          <a:ext cx="0" cy="0"/>
          <a:chOff x="0" y="0"/>
          <a:chExt cx="0" cy="0"/>
        </a:xfrm>
      </p:grpSpPr>
      <p:sp>
        <p:nvSpPr>
          <p:cNvPr id="10" name="Snip Diagonal Corner Rectangle 3">
            <a:extLst>
              <a:ext uri="{FF2B5EF4-FFF2-40B4-BE49-F238E27FC236}">
                <a16:creationId xmlns:a16="http://schemas.microsoft.com/office/drawing/2014/main" id="{B505DC89-2E6F-5786-39F5-2B4AC2C46AF0}"/>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C26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43D25585-2BA2-DAE6-6CD9-0856FBF84816}"/>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721514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_blue">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72874D61-669D-1562-9471-3F57078BE147}"/>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2132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6B5BC051-110A-C89D-9342-F257EABF8C2E}"/>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14790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_gree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A2D0F62E-5468-5683-75D2-94AABF0D8A47}"/>
              </a:ext>
            </a:extLst>
          </p:cNvPr>
          <p:cNvSpPr>
            <a:spLocks noChangeAspect="1"/>
          </p:cNvSpPr>
          <p:nvPr/>
        </p:nvSpPr>
        <p:spPr>
          <a:xfrm flipH="1">
            <a:off x="814200" y="669190"/>
            <a:ext cx="1020001" cy="612000"/>
          </a:xfrm>
          <a:prstGeom prst="snip2DiagRect">
            <a:avLst>
              <a:gd name="adj1" fmla="val 0"/>
              <a:gd name="adj2" fmla="val 24507"/>
            </a:avLst>
          </a:prstGeom>
          <a:solidFill>
            <a:srgbClr val="0078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AA369FF4-FA36-C573-1B73-72B7F94DBF1D}"/>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866728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_red">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4DAD662D-900F-5555-5351-CB7EA4561EB7}"/>
              </a:ext>
            </a:extLst>
          </p:cNvPr>
          <p:cNvSpPr>
            <a:spLocks noChangeAspect="1"/>
          </p:cNvSpPr>
          <p:nvPr/>
        </p:nvSpPr>
        <p:spPr>
          <a:xfrm flipH="1">
            <a:off x="814200" y="669190"/>
            <a:ext cx="1020001" cy="612000"/>
          </a:xfrm>
          <a:prstGeom prst="snip2DiagRect">
            <a:avLst>
              <a:gd name="adj1" fmla="val 0"/>
              <a:gd name="adj2" fmla="val 24507"/>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8AEC8F0B-7C47-5026-ABEB-5E962B739489}"/>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5972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_cya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215673C9-3F6B-C178-D494-7C8B73C3CDF6}"/>
              </a:ext>
            </a:extLst>
          </p:cNvPr>
          <p:cNvSpPr>
            <a:spLocks noChangeAspect="1"/>
          </p:cNvSpPr>
          <p:nvPr/>
        </p:nvSpPr>
        <p:spPr>
          <a:xfrm flipH="1">
            <a:off x="814200" y="669190"/>
            <a:ext cx="1020001" cy="612000"/>
          </a:xfrm>
          <a:prstGeom prst="snip2DiagRect">
            <a:avLst>
              <a:gd name="adj1" fmla="val 0"/>
              <a:gd name="adj2" fmla="val 24507"/>
            </a:avLst>
          </a:prstGeom>
          <a:solidFill>
            <a:srgbClr val="3F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C9063645-AAC5-51BC-FFC8-34CC9F594B55}"/>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7943791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Exampl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3BB63A3-9AB5-EBAC-F6F9-327B22130DC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20" name="Text Placeholder 19">
            <a:extLst>
              <a:ext uri="{FF2B5EF4-FFF2-40B4-BE49-F238E27FC236}">
                <a16:creationId xmlns:a16="http://schemas.microsoft.com/office/drawing/2014/main" id="{EB0149AE-399E-56CA-418B-96532FF191D9}"/>
              </a:ext>
            </a:extLst>
          </p:cNvPr>
          <p:cNvSpPr>
            <a:spLocks noGrp="1" noRot="1" noMove="1" noResize="1" noEditPoints="1" noAdjustHandles="1" noChangeArrowheads="1" noChangeShapeType="1"/>
          </p:cNvSpPr>
          <p:nvPr>
            <p:ph type="body" sz="quarter" idx="13" hasCustomPrompt="1"/>
          </p:nvPr>
        </p:nvSpPr>
        <p:spPr>
          <a:xfrm>
            <a:off x="3212307"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4402632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heckpoint-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F9B736-CC97-6F5A-03D8-7FA0AF198BE9}"/>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704400"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03164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ctivity-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63E1F40-9013-EBB0-F98A-0AFCFACA220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170999"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0550399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Lab-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9646B7-AEA6-E416-7BF3-052FDD7D201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2467612"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3082824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misconcep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7B0A839-D23C-1435-A186-FA67B65721C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MISCONCEPTION</a:t>
            </a:r>
            <a:endParaRPr lang="en-GB" dirty="0"/>
          </a:p>
        </p:txBody>
      </p:sp>
      <p:sp>
        <p:nvSpPr>
          <p:cNvPr id="8" name="Content Placeholder 7">
            <a:extLst>
              <a:ext uri="{FF2B5EF4-FFF2-40B4-BE49-F238E27FC236}">
                <a16:creationId xmlns:a16="http://schemas.microsoft.com/office/drawing/2014/main" id="{435FBDB0-6C27-C606-20C5-686A00F18771}"/>
              </a:ext>
            </a:extLst>
          </p:cNvPr>
          <p:cNvSpPr>
            <a:spLocks noGrp="1"/>
          </p:cNvSpPr>
          <p:nvPr>
            <p:ph sz="quarter" idx="15"/>
          </p:nvPr>
        </p:nvSpPr>
        <p:spPr>
          <a:xfrm>
            <a:off x="1693716" y="1609199"/>
            <a:ext cx="9660083" cy="2159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Content Placeholder 5">
            <a:extLst>
              <a:ext uri="{FF2B5EF4-FFF2-40B4-BE49-F238E27FC236}">
                <a16:creationId xmlns:a16="http://schemas.microsoft.com/office/drawing/2014/main" id="{042C0F3B-5325-9C8D-A663-14E64C0C8154}"/>
              </a:ext>
            </a:extLst>
          </p:cNvPr>
          <p:cNvSpPr>
            <a:spLocks noGrp="1"/>
          </p:cNvSpPr>
          <p:nvPr>
            <p:ph sz="quarter" idx="14"/>
          </p:nvPr>
        </p:nvSpPr>
        <p:spPr>
          <a:xfrm>
            <a:off x="1693716" y="4024188"/>
            <a:ext cx="9658800" cy="216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1946814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ink ab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94735F-B64E-887A-0584-E2B7E148B655}"/>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THINK ABOUT</a:t>
            </a:r>
          </a:p>
        </p:txBody>
      </p:sp>
      <p:sp>
        <p:nvSpPr>
          <p:cNvPr id="8" name="Content Placeholder 10">
            <a:extLst>
              <a:ext uri="{FF2B5EF4-FFF2-40B4-BE49-F238E27FC236}">
                <a16:creationId xmlns:a16="http://schemas.microsoft.com/office/drawing/2014/main" id="{69195DCF-0E55-AAB5-1074-39FAB8E19505}"/>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4810290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p">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F49635-7B62-1BF0-3627-0DEF2D36B20A}"/>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84AD40"/>
                </a:solidFill>
              </a:rPr>
              <a:t>TIP</a:t>
            </a:r>
          </a:p>
        </p:txBody>
      </p:sp>
      <p:sp>
        <p:nvSpPr>
          <p:cNvPr id="8" name="Content Placeholder 10">
            <a:extLst>
              <a:ext uri="{FF2B5EF4-FFF2-40B4-BE49-F238E27FC236}">
                <a16:creationId xmlns:a16="http://schemas.microsoft.com/office/drawing/2014/main" id="{9E46E5CA-E96E-2DB9-64FE-5E1D76C77C98}"/>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2129095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nalog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E6276F9-8CAE-0301-EC9B-559DB9D0878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ANALOGY</a:t>
            </a:r>
          </a:p>
        </p:txBody>
      </p:sp>
      <p:sp>
        <p:nvSpPr>
          <p:cNvPr id="8" name="Content Placeholder 10">
            <a:extLst>
              <a:ext uri="{FF2B5EF4-FFF2-40B4-BE49-F238E27FC236}">
                <a16:creationId xmlns:a16="http://schemas.microsoft.com/office/drawing/2014/main" id="{15CCE8C4-EE82-5FA1-86D9-7618ACBB4E89}"/>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777470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nrich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C24769-7557-7417-69AD-C7D98D6EF87C}"/>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ENRICHMENT</a:t>
            </a:r>
          </a:p>
        </p:txBody>
      </p:sp>
      <p:sp>
        <p:nvSpPr>
          <p:cNvPr id="8" name="Content Placeholder 10">
            <a:extLst>
              <a:ext uri="{FF2B5EF4-FFF2-40B4-BE49-F238E27FC236}">
                <a16:creationId xmlns:a16="http://schemas.microsoft.com/office/drawing/2014/main" id="{C0FDA7B9-3B4F-45FE-C0CB-6CE489DF46B9}"/>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3612345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istorical n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365613-9A6E-EC8F-CC4F-45C6843B5D0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HISTORICAL NOTE</a:t>
            </a:r>
          </a:p>
        </p:txBody>
      </p:sp>
      <p:sp>
        <p:nvSpPr>
          <p:cNvPr id="9" name="Content Placeholder 10">
            <a:extLst>
              <a:ext uri="{FF2B5EF4-FFF2-40B4-BE49-F238E27FC236}">
                <a16:creationId xmlns:a16="http://schemas.microsoft.com/office/drawing/2014/main" id="{9FE9C956-B01C-9F5B-D06E-B224FA04F063}"/>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1311021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F6A893-6ACD-62D2-E506-31CE1C78BC6A}"/>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STEAM+</a:t>
            </a:r>
          </a:p>
        </p:txBody>
      </p:sp>
      <p:sp>
        <p:nvSpPr>
          <p:cNvPr id="8" name="Content Placeholder 10">
            <a:extLst>
              <a:ext uri="{FF2B5EF4-FFF2-40B4-BE49-F238E27FC236}">
                <a16:creationId xmlns:a16="http://schemas.microsoft.com/office/drawing/2014/main" id="{D8CACC2A-8E2C-4654-1BEE-FF9B00C1EA13}"/>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35975974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resourc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52B39E-570D-BB77-3EC2-68BF2DA341F5}"/>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a:xfrm>
            <a:off x="10582711" y="6492875"/>
            <a:ext cx="771089" cy="365125"/>
          </a:xfrm>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C6993D"/>
                </a:solidFill>
              </a:rPr>
              <a:t>RESOURCE</a:t>
            </a:r>
          </a:p>
        </p:txBody>
      </p:sp>
      <p:sp>
        <p:nvSpPr>
          <p:cNvPr id="9" name="Content Placeholder 10">
            <a:extLst>
              <a:ext uri="{FF2B5EF4-FFF2-40B4-BE49-F238E27FC236}">
                <a16:creationId xmlns:a16="http://schemas.microsoft.com/office/drawing/2014/main" id="{7873EF2F-CB2D-FF0C-FE7E-4E5878DAD739}"/>
              </a:ext>
            </a:extLst>
          </p:cNvPr>
          <p:cNvSpPr>
            <a:spLocks noGrp="1"/>
          </p:cNvSpPr>
          <p:nvPr>
            <p:ph sz="quarter" idx="15"/>
          </p:nvPr>
        </p:nvSpPr>
        <p:spPr>
          <a:xfrm>
            <a:off x="838800" y="1609200"/>
            <a:ext cx="78480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0" name="Picture Placeholder 9">
            <a:extLst>
              <a:ext uri="{FF2B5EF4-FFF2-40B4-BE49-F238E27FC236}">
                <a16:creationId xmlns:a16="http://schemas.microsoft.com/office/drawing/2014/main" id="{D221140A-902D-C446-8456-B18F8CA15108}"/>
              </a:ext>
            </a:extLst>
          </p:cNvPr>
          <p:cNvSpPr>
            <a:spLocks noGrp="1"/>
          </p:cNvSpPr>
          <p:nvPr>
            <p:ph type="pic" sz="quarter" idx="14"/>
          </p:nvPr>
        </p:nvSpPr>
        <p:spPr>
          <a:xfrm>
            <a:off x="8833800" y="1609200"/>
            <a:ext cx="2520000" cy="3283200"/>
          </a:xfrm>
          <a:prstGeom prst="rect">
            <a:avLst/>
          </a:prstGeom>
        </p:spPr>
        <p:txBody>
          <a:bodyPr/>
          <a:lstStyle/>
          <a:p>
            <a:r>
              <a:rPr lang="en-US" smtClean="0"/>
              <a:t>Click icon to add picture</a:t>
            </a:r>
            <a:endParaRPr lang="en-GB"/>
          </a:p>
        </p:txBody>
      </p:sp>
    </p:spTree>
    <p:extLst>
      <p:ext uri="{BB962C8B-B14F-4D97-AF65-F5344CB8AC3E}">
        <p14:creationId xmlns:p14="http://schemas.microsoft.com/office/powerpoint/2010/main" val="9121314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lank-1">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210F294E-2671-69F2-AD8E-91EF65CCF609}"/>
              </a:ext>
            </a:extLst>
          </p:cNvPr>
          <p:cNvSpPr>
            <a:spLocks noGrp="1"/>
          </p:cNvSpPr>
          <p:nvPr>
            <p:ph type="dt" sz="half" idx="10"/>
          </p:nvPr>
        </p:nvSpPr>
        <p:spPr/>
        <p:txBody>
          <a:bodyPr/>
          <a:lstStyle/>
          <a:p>
            <a:fld id="{F07CE581-C706-43BB-9E93-1B4DA785C440}" type="datetime1">
              <a:rPr lang="en-US" smtClean="0"/>
              <a:t>5/18/2023</a:t>
            </a:fld>
            <a:endParaRPr lang="en-US" dirty="0"/>
          </a:p>
        </p:txBody>
      </p:sp>
      <p:sp>
        <p:nvSpPr>
          <p:cNvPr id="12" name="Footer Placeholder 11">
            <a:extLst>
              <a:ext uri="{FF2B5EF4-FFF2-40B4-BE49-F238E27FC236}">
                <a16:creationId xmlns:a16="http://schemas.microsoft.com/office/drawing/2014/main" id="{BF720291-4918-3157-E8A0-2C33F0241266}"/>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284E269C-57B9-5795-9B37-30D8685C0E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21251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75464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5CB804-96AA-A5E1-7170-B54411166665}"/>
              </a:ext>
            </a:extLst>
          </p:cNvPr>
          <p:cNvPicPr>
            <a:picLocks noChangeAspect="1"/>
          </p:cNvPicPr>
          <p:nvPr/>
        </p:nvPicPr>
        <p:blipFill>
          <a:blip r:embed="rId34"/>
          <a:stretch>
            <a:fillRect/>
          </a:stretch>
        </p:blipFill>
        <p:spPr>
          <a:xfrm>
            <a:off x="0" y="0"/>
            <a:ext cx="12192000" cy="6858000"/>
          </a:xfrm>
          <a:prstGeom prst="rect">
            <a:avLst/>
          </a:prstGeom>
        </p:spPr>
      </p:pic>
      <p:sp>
        <p:nvSpPr>
          <p:cNvPr id="2" name="Title Placeholder 1"/>
          <p:cNvSpPr>
            <a:spLocks noGrp="1"/>
          </p:cNvSpPr>
          <p:nvPr>
            <p:ph type="title"/>
          </p:nvPr>
        </p:nvSpPr>
        <p:spPr>
          <a:xfrm>
            <a:off x="1918800" y="363600"/>
            <a:ext cx="9435000" cy="1260000"/>
          </a:xfrm>
          <a:prstGeom prst="rect">
            <a:avLst/>
          </a:prstGeom>
        </p:spPr>
        <p:txBody>
          <a:bodyPr vert="horz" lIns="91440" tIns="45720" rIns="91440" bIns="45720" rtlCol="0" anchor="ctr">
            <a:normAutofit/>
          </a:bodyPr>
          <a:lstStyle/>
          <a:p>
            <a:endParaRPr lang="en-US" dirty="0"/>
          </a:p>
        </p:txBody>
      </p:sp>
      <p:sp>
        <p:nvSpPr>
          <p:cNvPr id="4" name="Date Placeholder 3"/>
          <p:cNvSpPr>
            <a:spLocks noGrp="1"/>
          </p:cNvSpPr>
          <p:nvPr>
            <p:ph type="dt" sz="half" idx="2"/>
          </p:nvPr>
        </p:nvSpPr>
        <p:spPr>
          <a:xfrm>
            <a:off x="7456921" y="6492875"/>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07CE581-C706-43BB-9E93-1B4DA785C440}" type="datetime1">
              <a:rPr lang="en-US" smtClean="0"/>
              <a:t>5/18/2023</a:t>
            </a:fld>
            <a:endParaRPr lang="en-US" dirty="0"/>
          </a:p>
        </p:txBody>
      </p:sp>
      <p:sp>
        <p:nvSpPr>
          <p:cNvPr id="5" name="Footer Placeholder 4"/>
          <p:cNvSpPr>
            <a:spLocks noGrp="1"/>
          </p:cNvSpPr>
          <p:nvPr>
            <p:ph type="ftr" sz="quarter" idx="3"/>
          </p:nvPr>
        </p:nvSpPr>
        <p:spPr>
          <a:xfrm>
            <a:off x="838201" y="6492875"/>
            <a:ext cx="6542520"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82711" y="6492875"/>
            <a:ext cx="771089" cy="365125"/>
          </a:xfrm>
          <a:prstGeom prst="rect">
            <a:avLst/>
          </a:prstGeom>
        </p:spPr>
        <p:txBody>
          <a:bodyPr vert="horz" lIns="91440" tIns="45720" rIns="91440" bIns="45720" rtlCol="0" anchor="ctr"/>
          <a:lstStyle>
            <a:lvl1pPr algn="r">
              <a:defRPr sz="1050">
                <a:solidFill>
                  <a:schemeClr val="tx1"/>
                </a:solidFill>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0F58C60C-B777-2B7A-945B-E3C1848079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53243181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25" r:id="rId6"/>
    <p:sldLayoutId id="2147483726" r:id="rId7"/>
    <p:sldLayoutId id="2147483727" r:id="rId8"/>
    <p:sldLayoutId id="2147483700" r:id="rId9"/>
    <p:sldLayoutId id="2147483701" r:id="rId10"/>
    <p:sldLayoutId id="2147483702" r:id="rId11"/>
    <p:sldLayoutId id="2147483703" r:id="rId12"/>
    <p:sldLayoutId id="2147483704" r:id="rId13"/>
    <p:sldLayoutId id="2147483705" r:id="rId14"/>
    <p:sldLayoutId id="2147483721" r:id="rId15"/>
    <p:sldLayoutId id="2147483722" r:id="rId16"/>
    <p:sldLayoutId id="2147483723" r:id="rId17"/>
    <p:sldLayoutId id="2147483724" r:id="rId18"/>
    <p:sldLayoutId id="2147483706" r:id="rId19"/>
    <p:sldLayoutId id="2147483707" r:id="rId20"/>
    <p:sldLayoutId id="2147483708" r:id="rId21"/>
    <p:sldLayoutId id="2147483709" r:id="rId22"/>
    <p:sldLayoutId id="2147483712" r:id="rId23"/>
    <p:sldLayoutId id="2147483714" r:id="rId24"/>
    <p:sldLayoutId id="2147483715" r:id="rId25"/>
    <p:sldLayoutId id="2147483716" r:id="rId26"/>
    <p:sldLayoutId id="2147483717" r:id="rId27"/>
    <p:sldLayoutId id="2147483718" r:id="rId28"/>
    <p:sldLayoutId id="2147483719" r:id="rId29"/>
    <p:sldLayoutId id="2147483720" r:id="rId30"/>
    <p:sldLayoutId id="2147483710" r:id="rId31"/>
    <p:sldLayoutId id="2147483711" r:id="rId32"/>
  </p:sldLayoutIdLst>
  <p:hf hdr="0" ftr="0" dt="0"/>
  <p:txStyles>
    <p:titleStyle>
      <a:lvl1pPr algn="l" defTabSz="914400" rtl="0" eaLnBrk="1" latinLnBrk="0" hangingPunct="1">
        <a:lnSpc>
          <a:spcPct val="90000"/>
        </a:lnSpc>
        <a:spcBef>
          <a:spcPct val="0"/>
        </a:spcBef>
        <a:buNone/>
        <a:defRPr sz="3200" b="1" kern="1200" cap="none" baseline="0">
          <a:solidFill>
            <a:srgbClr val="606060"/>
          </a:solidFill>
          <a:latin typeface="Myriad Pro" panose="020B0503030403020204" pitchFamily="34" charset="0"/>
          <a:ea typeface="+mj-ea"/>
          <a:cs typeface="+mj-cs"/>
        </a:defRPr>
      </a:lvl1pPr>
    </p:titleStyle>
    <p:bodyStyle>
      <a:lvl1pPr marL="0" indent="0" algn="l" defTabSz="914400" rtl="0" eaLnBrk="1" latinLnBrk="0" hangingPunct="1">
        <a:lnSpc>
          <a:spcPct val="120000"/>
        </a:lnSpc>
        <a:spcBef>
          <a:spcPts val="1000"/>
        </a:spcBef>
        <a:buSzPct val="125000"/>
        <a:buFont typeface="Arial" panose="020B0604020202020204" pitchFamily="34" charset="0"/>
        <a:buNone/>
        <a:defRPr sz="2000" kern="1200">
          <a:solidFill>
            <a:schemeClr val="tx1"/>
          </a:solidFill>
          <a:latin typeface="Myriad Pro" panose="020B0503030403020204" pitchFamily="34" charset="0"/>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yriad Pro" panose="020B0503030403020204" pitchFamily="34" charset="0"/>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yriad Pro" panose="020B0503030403020204" pitchFamily="34" charset="0"/>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8.xml"/><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9.xml"/><Relationship Id="rId5" Type="http://schemas.openxmlformats.org/officeDocument/2006/relationships/image" Target="../media/image64.png"/><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0.xml"/><Relationship Id="rId5" Type="http://schemas.openxmlformats.org/officeDocument/2006/relationships/image" Target="../media/image68.png"/><Relationship Id="rId4" Type="http://schemas.openxmlformats.org/officeDocument/2006/relationships/image" Target="../media/image67.png"/></Relationships>
</file>

<file path=ppt/slides/_rels/slide2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8.xml"/><Relationship Id="rId4" Type="http://schemas.openxmlformats.org/officeDocument/2006/relationships/image" Target="../media/image79.png"/></Relationships>
</file>

<file path=ppt/slides/_rels/slide3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8.xml"/><Relationship Id="rId4" Type="http://schemas.openxmlformats.org/officeDocument/2006/relationships/image" Target="../media/image83.png"/></Relationships>
</file>

<file path=ppt/slides/_rels/slide3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8.xml"/><Relationship Id="rId4" Type="http://schemas.openxmlformats.org/officeDocument/2006/relationships/image" Target="../media/image86.png"/></Relationships>
</file>

<file path=ppt/slides/_rels/slide3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0.xml"/><Relationship Id="rId4" Type="http://schemas.openxmlformats.org/officeDocument/2006/relationships/image" Target="../media/image113.png"/></Relationships>
</file>

<file path=ppt/slides/_rels/slide6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9.xml"/></Relationships>
</file>

<file path=ppt/slides/_rels/slide79.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18.xml"/><Relationship Id="rId4" Type="http://schemas.openxmlformats.org/officeDocument/2006/relationships/image" Target="../media/image14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1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4.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18.xml"/></Relationships>
</file>

<file path=ppt/slides/_rels/slide105.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18.xml"/></Relationships>
</file>

<file path=ppt/slides/_rels/slide106.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18.xml"/></Relationships>
</file>

<file path=ppt/slides/_rels/slide10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18.xml"/></Relationships>
</file>

<file path=ppt/slides/_rels/slide108.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18.xml"/></Relationships>
</file>

<file path=ppt/slides/_rels/slide109.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18.xml"/></Relationships>
</file>

<file path=ppt/slides/_rels/slide110.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19.xml"/></Relationships>
</file>

<file path=ppt/slides/_rels/slide111.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1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6.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0.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18.xml"/></Relationships>
</file>

<file path=ppt/slides/_rels/slide121.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18.xml"/></Relationships>
</file>

<file path=ppt/slides/_rels/slide122.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4.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19.xml"/></Relationships>
</file>

<file path=ppt/slides/_rels/slide125.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19.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5</a:t>
            </a:r>
            <a:br>
              <a:rPr lang="en-US" dirty="0" smtClean="0"/>
            </a:br>
            <a:r>
              <a:rPr lang="en-US" dirty="0" smtClean="0"/>
              <a:t>Database Design and ER Diagram</a:t>
            </a:r>
            <a:endParaRPr lang="en-US" dirty="0"/>
          </a:p>
        </p:txBody>
      </p:sp>
    </p:spTree>
    <p:extLst>
      <p:ext uri="{BB962C8B-B14F-4D97-AF65-F5344CB8AC3E}">
        <p14:creationId xmlns:p14="http://schemas.microsoft.com/office/powerpoint/2010/main" val="23632050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 Diagram</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a:t>
            </a:fld>
            <a:endParaRPr lang="en-US" dirty="0"/>
          </a:p>
        </p:txBody>
      </p:sp>
      <p:sp>
        <p:nvSpPr>
          <p:cNvPr id="4" name="Text Placeholder 3"/>
          <p:cNvSpPr>
            <a:spLocks noGrp="1"/>
          </p:cNvSpPr>
          <p:nvPr>
            <p:ph type="body" sz="quarter" idx="14"/>
          </p:nvPr>
        </p:nvSpPr>
        <p:spPr/>
        <p:txBody>
          <a:bodyPr/>
          <a:lstStyle/>
          <a:p>
            <a:r>
              <a:rPr lang="en-US" dirty="0" smtClean="0"/>
              <a:t>5.1</a:t>
            </a:r>
            <a:endParaRPr lang="en-US" dirty="0"/>
          </a:p>
        </p:txBody>
      </p:sp>
      <p:sp>
        <p:nvSpPr>
          <p:cNvPr id="5" name="Content Placeholder 4"/>
          <p:cNvSpPr>
            <a:spLocks noGrp="1"/>
          </p:cNvSpPr>
          <p:nvPr>
            <p:ph sz="quarter" idx="15"/>
          </p:nvPr>
        </p:nvSpPr>
        <p:spPr/>
        <p:txBody>
          <a:bodyPr/>
          <a:lstStyle/>
          <a:p>
            <a:r>
              <a:rPr lang="en-US" dirty="0"/>
              <a:t>We have learnt the elements of a relational database in the previous chapter. </a:t>
            </a:r>
            <a:endParaRPr lang="en-US" dirty="0" smtClean="0"/>
          </a:p>
          <a:p>
            <a:endParaRPr lang="en-US" dirty="0"/>
          </a:p>
          <a:p>
            <a:r>
              <a:rPr lang="en-US" dirty="0" smtClean="0"/>
              <a:t>These </a:t>
            </a:r>
            <a:r>
              <a:rPr lang="en-US" dirty="0"/>
              <a:t>elements, such as entity type, relationship and attribute, can be better represented in an </a:t>
            </a:r>
            <a:r>
              <a:rPr lang="en-US" b="1" dirty="0">
                <a:solidFill>
                  <a:srgbClr val="4B479C"/>
                </a:solidFill>
              </a:rPr>
              <a:t>Entity-Relationship diagram</a:t>
            </a:r>
            <a:r>
              <a:rPr lang="en-US" dirty="0">
                <a:solidFill>
                  <a:srgbClr val="4B479C"/>
                </a:solidFill>
              </a:rPr>
              <a:t> </a:t>
            </a:r>
            <a:r>
              <a:rPr lang="en-US" dirty="0"/>
              <a:t>(ER diagram).</a:t>
            </a:r>
          </a:p>
        </p:txBody>
      </p:sp>
      <p:pic>
        <p:nvPicPr>
          <p:cNvPr id="7" name="Picture 6"/>
          <p:cNvPicPr>
            <a:picLocks noChangeAspect="1"/>
          </p:cNvPicPr>
          <p:nvPr/>
        </p:nvPicPr>
        <p:blipFill>
          <a:blip r:embed="rId2"/>
          <a:stretch>
            <a:fillRect/>
          </a:stretch>
        </p:blipFill>
        <p:spPr>
          <a:xfrm>
            <a:off x="2838468" y="3647628"/>
            <a:ext cx="6438534" cy="2703930"/>
          </a:xfrm>
          <a:prstGeom prst="rect">
            <a:avLst/>
          </a:prstGeom>
        </p:spPr>
      </p:pic>
    </p:spTree>
    <p:extLst>
      <p:ext uri="{BB962C8B-B14F-4D97-AF65-F5344CB8AC3E}">
        <p14:creationId xmlns:p14="http://schemas.microsoft.com/office/powerpoint/2010/main" val="11736646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a:t>
            </a:fld>
            <a:endParaRPr lang="en-US" dirty="0"/>
          </a:p>
        </p:txBody>
      </p:sp>
      <p:sp>
        <p:nvSpPr>
          <p:cNvPr id="4" name="Text Placeholder 3"/>
          <p:cNvSpPr>
            <a:spLocks noGrp="1"/>
          </p:cNvSpPr>
          <p:nvPr>
            <p:ph type="body" sz="quarter" idx="14"/>
          </p:nvPr>
        </p:nvSpPr>
        <p:spPr/>
        <p:txBody>
          <a:bodyPr/>
          <a:lstStyle/>
          <a:p>
            <a:r>
              <a:rPr lang="en-US" dirty="0" smtClean="0"/>
              <a:t>5.1</a:t>
            </a:r>
            <a:endParaRPr lang="en-US" dirty="0"/>
          </a:p>
        </p:txBody>
      </p:sp>
      <p:sp>
        <p:nvSpPr>
          <p:cNvPr id="5" name="Content Placeholder 4"/>
          <p:cNvSpPr>
            <a:spLocks noGrp="1"/>
          </p:cNvSpPr>
          <p:nvPr>
            <p:ph sz="quarter" idx="15"/>
          </p:nvPr>
        </p:nvSpPr>
        <p:spPr/>
        <p:txBody>
          <a:bodyPr>
            <a:normAutofit fontScale="92500" lnSpcReduction="20000"/>
          </a:bodyPr>
          <a:lstStyle/>
          <a:p>
            <a:r>
              <a:rPr lang="en-US" dirty="0"/>
              <a:t>This ER diagram shows the entities and relationship in the database SCHOOL, which stores the data of students and </a:t>
            </a:r>
            <a:r>
              <a:rPr lang="en-US" dirty="0" smtClean="0"/>
              <a:t>classes</a:t>
            </a:r>
          </a:p>
          <a:p>
            <a:endParaRPr lang="en-US" dirty="0"/>
          </a:p>
          <a:p>
            <a:endParaRPr lang="en-US" dirty="0" smtClean="0"/>
          </a:p>
          <a:p>
            <a:endParaRPr lang="en-US" dirty="0"/>
          </a:p>
          <a:p>
            <a:endParaRPr lang="en-US" dirty="0" smtClean="0"/>
          </a:p>
          <a:p>
            <a:endParaRPr lang="en-US" dirty="0" smtClean="0"/>
          </a:p>
          <a:p>
            <a:r>
              <a:rPr lang="en-US" dirty="0" smtClean="0"/>
              <a:t>According </a:t>
            </a:r>
            <a:r>
              <a:rPr lang="en-US" dirty="0"/>
              <a:t>to the ER diagram:</a:t>
            </a:r>
          </a:p>
          <a:p>
            <a:r>
              <a:rPr lang="en-US" dirty="0"/>
              <a:t>1. There are two attributes for the entity </a:t>
            </a:r>
            <a:r>
              <a:rPr lang="en-US" dirty="0">
                <a:solidFill>
                  <a:srgbClr val="29A0D6"/>
                </a:solidFill>
              </a:rPr>
              <a:t>students</a:t>
            </a:r>
            <a:r>
              <a:rPr lang="en-US" dirty="0"/>
              <a:t>: </a:t>
            </a:r>
            <a:r>
              <a:rPr lang="en-US" dirty="0">
                <a:solidFill>
                  <a:srgbClr val="7DAC4F"/>
                </a:solidFill>
              </a:rPr>
              <a:t>student ID </a:t>
            </a:r>
            <a:r>
              <a:rPr lang="en-US" dirty="0"/>
              <a:t>and </a:t>
            </a:r>
            <a:r>
              <a:rPr lang="en-US" dirty="0">
                <a:solidFill>
                  <a:srgbClr val="7DAC4F"/>
                </a:solidFill>
              </a:rPr>
              <a:t>student </a:t>
            </a:r>
            <a:r>
              <a:rPr lang="en-US" dirty="0" smtClean="0">
                <a:solidFill>
                  <a:srgbClr val="7DAC4F"/>
                </a:solidFill>
              </a:rPr>
              <a:t>name</a:t>
            </a:r>
            <a:r>
              <a:rPr lang="en-US" dirty="0" smtClean="0"/>
              <a:t>;</a:t>
            </a:r>
            <a:br>
              <a:rPr lang="en-US" dirty="0" smtClean="0"/>
            </a:br>
            <a:r>
              <a:rPr lang="en-US" dirty="0" smtClean="0"/>
              <a:t>2</a:t>
            </a:r>
            <a:r>
              <a:rPr lang="en-US" dirty="0"/>
              <a:t>. There are two attributes for the entity </a:t>
            </a:r>
            <a:r>
              <a:rPr lang="en-US" dirty="0">
                <a:solidFill>
                  <a:srgbClr val="29A0D6"/>
                </a:solidFill>
              </a:rPr>
              <a:t>classes</a:t>
            </a:r>
            <a:r>
              <a:rPr lang="en-US" dirty="0"/>
              <a:t>: </a:t>
            </a:r>
            <a:r>
              <a:rPr lang="en-US" dirty="0">
                <a:solidFill>
                  <a:srgbClr val="7DAC4F"/>
                </a:solidFill>
              </a:rPr>
              <a:t>class name</a:t>
            </a:r>
            <a:r>
              <a:rPr lang="en-US" dirty="0"/>
              <a:t> and </a:t>
            </a:r>
            <a:r>
              <a:rPr lang="en-US" dirty="0">
                <a:solidFill>
                  <a:srgbClr val="7DAC4F"/>
                </a:solidFill>
              </a:rPr>
              <a:t>room </a:t>
            </a:r>
            <a:r>
              <a:rPr lang="en-US" dirty="0" smtClean="0">
                <a:solidFill>
                  <a:srgbClr val="7DAC4F"/>
                </a:solidFill>
              </a:rPr>
              <a:t>number</a:t>
            </a:r>
            <a:r>
              <a:rPr lang="en-US" dirty="0" smtClean="0"/>
              <a:t>;</a:t>
            </a:r>
            <a:br>
              <a:rPr lang="en-US" dirty="0" smtClean="0"/>
            </a:br>
            <a:r>
              <a:rPr lang="en-US" dirty="0" smtClean="0"/>
              <a:t>3</a:t>
            </a:r>
            <a:r>
              <a:rPr lang="en-US" dirty="0"/>
              <a:t>. Every student must </a:t>
            </a:r>
            <a:r>
              <a:rPr lang="en-US" dirty="0">
                <a:solidFill>
                  <a:srgbClr val="C6963F"/>
                </a:solidFill>
              </a:rPr>
              <a:t>belong to</a:t>
            </a:r>
            <a:r>
              <a:rPr lang="en-US" dirty="0"/>
              <a:t> a class; </a:t>
            </a:r>
            <a:r>
              <a:rPr lang="en-US" dirty="0" smtClean="0"/>
              <a:t>and</a:t>
            </a:r>
            <a:br>
              <a:rPr lang="en-US" dirty="0" smtClean="0"/>
            </a:br>
            <a:r>
              <a:rPr lang="en-US" dirty="0" smtClean="0"/>
              <a:t>4</a:t>
            </a:r>
            <a:r>
              <a:rPr lang="en-US" dirty="0"/>
              <a:t>. There are one or more students </a:t>
            </a:r>
            <a:r>
              <a:rPr lang="en-US" dirty="0">
                <a:solidFill>
                  <a:srgbClr val="C6963F"/>
                </a:solidFill>
              </a:rPr>
              <a:t>in</a:t>
            </a:r>
            <a:r>
              <a:rPr lang="en-US" dirty="0"/>
              <a:t> a class.</a:t>
            </a:r>
          </a:p>
        </p:txBody>
      </p:sp>
      <p:pic>
        <p:nvPicPr>
          <p:cNvPr id="6" name="Picture 5"/>
          <p:cNvPicPr>
            <a:picLocks noChangeAspect="1"/>
          </p:cNvPicPr>
          <p:nvPr/>
        </p:nvPicPr>
        <p:blipFill>
          <a:blip r:embed="rId2"/>
          <a:stretch>
            <a:fillRect/>
          </a:stretch>
        </p:blipFill>
        <p:spPr>
          <a:xfrm>
            <a:off x="4120085" y="2114698"/>
            <a:ext cx="6229260" cy="2579110"/>
          </a:xfrm>
          <a:prstGeom prst="rect">
            <a:avLst/>
          </a:prstGeom>
        </p:spPr>
      </p:pic>
    </p:spTree>
    <p:extLst>
      <p:ext uri="{BB962C8B-B14F-4D97-AF65-F5344CB8AC3E}">
        <p14:creationId xmlns:p14="http://schemas.microsoft.com/office/powerpoint/2010/main" val="916421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a:t>
            </a:fld>
            <a:endParaRPr lang="en-US" dirty="0"/>
          </a:p>
        </p:txBody>
      </p:sp>
      <p:sp>
        <p:nvSpPr>
          <p:cNvPr id="4" name="Text Placeholder 3"/>
          <p:cNvSpPr>
            <a:spLocks noGrp="1"/>
          </p:cNvSpPr>
          <p:nvPr>
            <p:ph type="body" sz="quarter" idx="14"/>
          </p:nvPr>
        </p:nvSpPr>
        <p:spPr/>
        <p:txBody>
          <a:bodyPr/>
          <a:lstStyle/>
          <a:p>
            <a:r>
              <a:rPr lang="en-US" dirty="0" smtClean="0"/>
              <a:t>5.1</a:t>
            </a:r>
            <a:endParaRPr lang="en-US" dirty="0"/>
          </a:p>
        </p:txBody>
      </p:sp>
      <p:sp>
        <p:nvSpPr>
          <p:cNvPr id="5" name="Content Placeholder 4"/>
          <p:cNvSpPr>
            <a:spLocks noGrp="1"/>
          </p:cNvSpPr>
          <p:nvPr>
            <p:ph sz="quarter" idx="15"/>
          </p:nvPr>
        </p:nvSpPr>
        <p:spPr/>
        <p:txBody>
          <a:bodyPr/>
          <a:lstStyle/>
          <a:p>
            <a:r>
              <a:rPr lang="en-US" dirty="0" smtClean="0"/>
              <a:t>This </a:t>
            </a:r>
            <a:r>
              <a:rPr lang="en-US" dirty="0"/>
              <a:t>ER diagram helps us determine the table structures of </a:t>
            </a:r>
            <a:r>
              <a:rPr lang="en-US" dirty="0">
                <a:latin typeface="Courier New" panose="02070309020205020404" pitchFamily="49" charset="0"/>
                <a:cs typeface="Courier New" panose="02070309020205020404" pitchFamily="49" charset="0"/>
              </a:rPr>
              <a:t>STUDENT</a:t>
            </a:r>
            <a:r>
              <a:rPr lang="en-US" dirty="0"/>
              <a:t> and </a:t>
            </a:r>
            <a:r>
              <a:rPr lang="en-US" dirty="0">
                <a:latin typeface="Courier New" panose="02070309020205020404" pitchFamily="49" charset="0"/>
                <a:cs typeface="Courier New" panose="02070309020205020404" pitchFamily="49" charset="0"/>
              </a:rPr>
              <a:t>CLASS</a:t>
            </a:r>
            <a:r>
              <a:rPr lang="en-US" dirty="0"/>
              <a:t>.</a:t>
            </a:r>
            <a:endParaRPr lang="en-US" b="1" dirty="0"/>
          </a:p>
        </p:txBody>
      </p:sp>
      <p:pic>
        <p:nvPicPr>
          <p:cNvPr id="6" name="Picture 5"/>
          <p:cNvPicPr>
            <a:picLocks noChangeAspect="1"/>
          </p:cNvPicPr>
          <p:nvPr/>
        </p:nvPicPr>
        <p:blipFill>
          <a:blip r:embed="rId2"/>
          <a:stretch>
            <a:fillRect/>
          </a:stretch>
        </p:blipFill>
        <p:spPr>
          <a:xfrm>
            <a:off x="2973629" y="2265846"/>
            <a:ext cx="5770546" cy="2439157"/>
          </a:xfrm>
          <a:prstGeom prst="rect">
            <a:avLst/>
          </a:prstGeom>
        </p:spPr>
      </p:pic>
      <p:pic>
        <p:nvPicPr>
          <p:cNvPr id="7" name="Picture 6"/>
          <p:cNvPicPr>
            <a:picLocks noChangeAspect="1"/>
          </p:cNvPicPr>
          <p:nvPr/>
        </p:nvPicPr>
        <p:blipFill>
          <a:blip r:embed="rId3"/>
          <a:stretch>
            <a:fillRect/>
          </a:stretch>
        </p:blipFill>
        <p:spPr>
          <a:xfrm>
            <a:off x="1810800" y="4855925"/>
            <a:ext cx="8492874" cy="982647"/>
          </a:xfrm>
          <a:prstGeom prst="rect">
            <a:avLst/>
          </a:prstGeom>
        </p:spPr>
      </p:pic>
    </p:spTree>
    <p:extLst>
      <p:ext uri="{BB962C8B-B14F-4D97-AF65-F5344CB8AC3E}">
        <p14:creationId xmlns:p14="http://schemas.microsoft.com/office/powerpoint/2010/main" val="1680508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Each shape represents different elements of a relational database. The </a:t>
            </a:r>
            <a:r>
              <a:rPr lang="en-US" dirty="0" err="1"/>
              <a:t>colours</a:t>
            </a:r>
            <a:r>
              <a:rPr lang="en-US" dirty="0"/>
              <a:t> are irrelevant.</a:t>
            </a:r>
          </a:p>
        </p:txBody>
      </p:sp>
      <p:pic>
        <p:nvPicPr>
          <p:cNvPr id="6" name="Picture 5"/>
          <p:cNvPicPr>
            <a:picLocks noChangeAspect="1"/>
          </p:cNvPicPr>
          <p:nvPr/>
        </p:nvPicPr>
        <p:blipFill>
          <a:blip r:embed="rId2"/>
          <a:stretch>
            <a:fillRect/>
          </a:stretch>
        </p:blipFill>
        <p:spPr>
          <a:xfrm>
            <a:off x="1810800" y="2312411"/>
            <a:ext cx="8214692" cy="3577217"/>
          </a:xfrm>
          <a:prstGeom prst="rect">
            <a:avLst/>
          </a:prstGeom>
        </p:spPr>
      </p:pic>
    </p:spTree>
    <p:extLst>
      <p:ext uri="{BB962C8B-B14F-4D97-AF65-F5344CB8AC3E}">
        <p14:creationId xmlns:p14="http://schemas.microsoft.com/office/powerpoint/2010/main" val="1284825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1. Here is an ER diagram describing the database which stores the data of a school.</a:t>
            </a:r>
          </a:p>
        </p:txBody>
      </p:sp>
      <p:sp>
        <p:nvSpPr>
          <p:cNvPr id="3" name="Slide Number Placeholder 2"/>
          <p:cNvSpPr>
            <a:spLocks noGrp="1"/>
          </p:cNvSpPr>
          <p:nvPr>
            <p:ph type="sldNum" sz="quarter" idx="12"/>
          </p:nvPr>
        </p:nvSpPr>
        <p:spPr/>
        <p:txBody>
          <a:bodyPr/>
          <a:lstStyle/>
          <a:p>
            <a:fld id="{6D22F896-40B5-4ADD-8801-0D06FADFA095}" type="slidenum">
              <a:rPr lang="en-US" smtClean="0"/>
              <a:t>6</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2404321" y="1972680"/>
            <a:ext cx="6814495" cy="4242678"/>
          </a:xfrm>
          <a:prstGeom prst="rect">
            <a:avLst/>
          </a:prstGeom>
        </p:spPr>
      </p:pic>
    </p:spTree>
    <p:extLst>
      <p:ext uri="{BB962C8B-B14F-4D97-AF65-F5344CB8AC3E}">
        <p14:creationId xmlns:p14="http://schemas.microsoft.com/office/powerpoint/2010/main" val="4014134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 Write </a:t>
            </a:r>
            <a:r>
              <a:rPr lang="en-US" dirty="0"/>
              <a:t>the table structure of the table SPORTSEVENT. This table stores the data of sports events and should include the attributes shown in the ER diagram above</a:t>
            </a:r>
            <a:r>
              <a:rPr lang="en-US" dirty="0" smtClean="0"/>
              <a:t>.</a:t>
            </a:r>
          </a:p>
          <a:p>
            <a:endParaRPr lang="en-US" dirty="0" smtClean="0"/>
          </a:p>
          <a:p>
            <a:r>
              <a:rPr lang="en-US" dirty="0" smtClean="0"/>
              <a:t/>
            </a:r>
            <a:br>
              <a:rPr lang="en-US" dirty="0" smtClean="0"/>
            </a:br>
            <a:endParaRPr lang="en-US" dirty="0"/>
          </a:p>
          <a:p>
            <a:endParaRPr lang="en-US" dirty="0" smtClean="0"/>
          </a:p>
          <a:p>
            <a:endParaRPr lang="en-US" dirty="0" smtClean="0"/>
          </a:p>
          <a:p>
            <a:r>
              <a:rPr lang="en-US" dirty="0"/>
              <a:t>(b) What is p and q</a:t>
            </a:r>
            <a:r>
              <a:rPr lang="en-US" dirty="0" smtClean="0"/>
              <a:t>?</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7</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1163378" y="2496177"/>
            <a:ext cx="4564091" cy="1719041"/>
          </a:xfrm>
          <a:prstGeom prst="rect">
            <a:avLst/>
          </a:prstGeom>
        </p:spPr>
      </p:pic>
    </p:spTree>
    <p:extLst>
      <p:ext uri="{BB962C8B-B14F-4D97-AF65-F5344CB8AC3E}">
        <p14:creationId xmlns:p14="http://schemas.microsoft.com/office/powerpoint/2010/main" val="3170334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 Which three attributes should be underlined in the above ER diagram?</a:t>
            </a:r>
          </a:p>
          <a:p>
            <a:endParaRPr lang="en-US" dirty="0"/>
          </a:p>
          <a:p>
            <a:r>
              <a:rPr lang="en-US" dirty="0" smtClean="0"/>
              <a:t>(</a:t>
            </a:r>
            <a:r>
              <a:rPr lang="en-US" dirty="0"/>
              <a:t>d) A new table </a:t>
            </a:r>
            <a:r>
              <a:rPr lang="en-US" dirty="0">
                <a:latin typeface="Courier New" panose="02070309020205020404" pitchFamily="49" charset="0"/>
                <a:cs typeface="Courier New" panose="02070309020205020404" pitchFamily="49" charset="0"/>
              </a:rPr>
              <a:t>CLASS</a:t>
            </a:r>
            <a:r>
              <a:rPr lang="en-US" dirty="0"/>
              <a:t> is added to the database. Each record in </a:t>
            </a:r>
            <a:r>
              <a:rPr lang="en-US" dirty="0">
                <a:latin typeface="Courier New" panose="02070309020205020404" pitchFamily="49" charset="0"/>
                <a:cs typeface="Courier New" panose="02070309020205020404" pitchFamily="49" charset="0"/>
              </a:rPr>
              <a:t>CLASS</a:t>
            </a:r>
            <a:r>
              <a:rPr lang="en-US" dirty="0"/>
              <a:t> stores the class name and the </a:t>
            </a:r>
            <a:r>
              <a:rPr lang="en-US" dirty="0" smtClean="0"/>
              <a:t>room </a:t>
            </a:r>
            <a:r>
              <a:rPr lang="en-US" dirty="0"/>
              <a:t>number of the classroom. Write the schema of </a:t>
            </a:r>
            <a:r>
              <a:rPr lang="en-US" dirty="0">
                <a:latin typeface="Courier New" panose="02070309020205020404" pitchFamily="49" charset="0"/>
                <a:cs typeface="Courier New" panose="02070309020205020404" pitchFamily="49" charset="0"/>
              </a:rPr>
              <a:t>CLASS</a:t>
            </a:r>
            <a:r>
              <a:rPr lang="en-US" dirty="0"/>
              <a:t> and underline its primary key.</a:t>
            </a:r>
          </a:p>
          <a:p>
            <a:endParaRPr lang="en-US" dirty="0" smtClean="0"/>
          </a:p>
        </p:txBody>
      </p:sp>
      <p:sp>
        <p:nvSpPr>
          <p:cNvPr id="3" name="Slide Number Placeholder 2"/>
          <p:cNvSpPr>
            <a:spLocks noGrp="1"/>
          </p:cNvSpPr>
          <p:nvPr>
            <p:ph type="sldNum" sz="quarter" idx="12"/>
          </p:nvPr>
        </p:nvSpPr>
        <p:spPr/>
        <p:txBody>
          <a:bodyPr/>
          <a:lstStyle/>
          <a:p>
            <a:fld id="{6D22F896-40B5-4ADD-8801-0D06FADFA095}" type="slidenum">
              <a:rPr lang="en-US" smtClean="0"/>
              <a:t>8</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spTree>
    <p:extLst>
      <p:ext uri="{BB962C8B-B14F-4D97-AF65-F5344CB8AC3E}">
        <p14:creationId xmlns:p14="http://schemas.microsoft.com/office/powerpoint/2010/main" val="774669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 Modify the ER diagram accordingly.</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9</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2407504" y="1976000"/>
            <a:ext cx="7177071" cy="4327600"/>
          </a:xfrm>
          <a:prstGeom prst="rect">
            <a:avLst/>
          </a:prstGeom>
        </p:spPr>
      </p:pic>
    </p:spTree>
    <p:extLst>
      <p:ext uri="{BB962C8B-B14F-4D97-AF65-F5344CB8AC3E}">
        <p14:creationId xmlns:p14="http://schemas.microsoft.com/office/powerpoint/2010/main" val="708659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solidFill>
                  <a:srgbClr val="37A3D4"/>
                </a:solidFill>
              </a:rPr>
              <a:t>◣ </a:t>
            </a:r>
            <a:r>
              <a:rPr lang="en-US" b="1" dirty="0" smtClean="0">
                <a:solidFill>
                  <a:srgbClr val="37A3D4"/>
                </a:solidFill>
              </a:rPr>
              <a:t>Solution</a:t>
            </a:r>
          </a:p>
          <a:p>
            <a:r>
              <a:rPr lang="en-US" dirty="0" smtClean="0"/>
              <a:t>(a) Any </a:t>
            </a:r>
            <a:r>
              <a:rPr lang="en-US" dirty="0"/>
              <a:t>reasonable field names are accepted</a:t>
            </a:r>
            <a:r>
              <a:rPr lang="en-US" dirty="0" smtClean="0"/>
              <a:t>.</a:t>
            </a:r>
          </a:p>
          <a:p>
            <a:endParaRPr lang="en-US" dirty="0" smtClean="0"/>
          </a:p>
          <a:p>
            <a:endParaRPr lang="en-US" dirty="0"/>
          </a:p>
          <a:p>
            <a:r>
              <a:rPr lang="en-US" dirty="0"/>
              <a:t/>
            </a:r>
            <a:br>
              <a:rPr lang="en-US" dirty="0"/>
            </a:br>
            <a:endParaRPr lang="en-US" dirty="0" smtClean="0"/>
          </a:p>
          <a:p>
            <a:r>
              <a:rPr lang="en-US" dirty="0"/>
              <a:t>(b) “Is taught by” and “Teacher” respectively</a:t>
            </a:r>
            <a:r>
              <a:rPr lang="en-US" dirty="0" smtClean="0"/>
              <a:t>.</a:t>
            </a:r>
            <a:br>
              <a:rPr lang="en-US" dirty="0" smtClean="0"/>
            </a:br>
            <a:endParaRPr lang="en-US" dirty="0"/>
          </a:p>
          <a:p>
            <a:r>
              <a:rPr lang="en-US" dirty="0"/>
              <a:t>(c) Student ID, HKID and Event ID</a:t>
            </a:r>
            <a:r>
              <a:rPr lang="en-US" dirty="0" smtClean="0"/>
              <a:t>.</a:t>
            </a:r>
            <a:br>
              <a:rPr lang="en-US" dirty="0" smtClean="0"/>
            </a:br>
            <a:endParaRPr lang="en-US" dirty="0"/>
          </a:p>
          <a:p>
            <a:r>
              <a:rPr lang="en-US" dirty="0"/>
              <a:t>(d) </a:t>
            </a:r>
            <a:r>
              <a:rPr lang="en-US" dirty="0">
                <a:latin typeface="Courier New" panose="02070309020205020404" pitchFamily="49" charset="0"/>
                <a:cs typeface="Courier New" panose="02070309020205020404" pitchFamily="49" charset="0"/>
              </a:rPr>
              <a:t>CLASS (</a:t>
            </a:r>
            <a:r>
              <a:rPr lang="en-US" u="sng" dirty="0">
                <a:latin typeface="Courier New" panose="02070309020205020404" pitchFamily="49" charset="0"/>
                <a:cs typeface="Courier New" panose="02070309020205020404" pitchFamily="49" charset="0"/>
              </a:rPr>
              <a:t>CLASSNAME</a:t>
            </a:r>
            <a:r>
              <a:rPr lang="en-US" dirty="0">
                <a:latin typeface="Courier New" panose="02070309020205020404" pitchFamily="49" charset="0"/>
                <a:cs typeface="Courier New" panose="02070309020205020404" pitchFamily="49" charset="0"/>
              </a:rPr>
              <a:t>, ROOMNUM)</a:t>
            </a:r>
          </a:p>
        </p:txBody>
      </p:sp>
      <p:sp>
        <p:nvSpPr>
          <p:cNvPr id="3" name="Slide Number Placeholder 2"/>
          <p:cNvSpPr>
            <a:spLocks noGrp="1"/>
          </p:cNvSpPr>
          <p:nvPr>
            <p:ph type="sldNum" sz="quarter" idx="12"/>
          </p:nvPr>
        </p:nvSpPr>
        <p:spPr/>
        <p:txBody>
          <a:bodyPr/>
          <a:lstStyle/>
          <a:p>
            <a:fld id="{6D22F896-40B5-4ADD-8801-0D06FADFA095}" type="slidenum">
              <a:rPr lang="en-US" smtClean="0"/>
              <a:t>10</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1166006" y="2390418"/>
            <a:ext cx="4092601" cy="1501747"/>
          </a:xfrm>
          <a:prstGeom prst="rect">
            <a:avLst/>
          </a:prstGeom>
        </p:spPr>
      </p:pic>
    </p:spTree>
    <p:extLst>
      <p:ext uri="{BB962C8B-B14F-4D97-AF65-F5344CB8AC3E}">
        <p14:creationId xmlns:p14="http://schemas.microsoft.com/office/powerpoint/2010/main" val="3305366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 Here is the full ER diagram.</a:t>
            </a:r>
          </a:p>
        </p:txBody>
      </p:sp>
      <p:sp>
        <p:nvSpPr>
          <p:cNvPr id="3" name="Slide Number Placeholder 2"/>
          <p:cNvSpPr>
            <a:spLocks noGrp="1"/>
          </p:cNvSpPr>
          <p:nvPr>
            <p:ph type="sldNum" sz="quarter" idx="12"/>
          </p:nvPr>
        </p:nvSpPr>
        <p:spPr/>
        <p:txBody>
          <a:bodyPr/>
          <a:lstStyle/>
          <a:p>
            <a:fld id="{6D22F896-40B5-4ADD-8801-0D06FADFA095}" type="slidenum">
              <a:rPr lang="en-US" smtClean="0"/>
              <a:t>11</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4680029" y="1185945"/>
            <a:ext cx="6508902" cy="5159580"/>
          </a:xfrm>
          <a:prstGeom prst="rect">
            <a:avLst/>
          </a:prstGeom>
        </p:spPr>
      </p:pic>
    </p:spTree>
    <p:extLst>
      <p:ext uri="{BB962C8B-B14F-4D97-AF65-F5344CB8AC3E}">
        <p14:creationId xmlns:p14="http://schemas.microsoft.com/office/powerpoint/2010/main" val="1586781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5.1 on P. 248 of your textbook.</a:t>
            </a:r>
          </a:p>
          <a:p>
            <a:endParaRPr lang="en-US" dirty="0" smtClean="0"/>
          </a:p>
          <a:p>
            <a:r>
              <a:rPr lang="en-US" dirty="0" smtClean="0">
                <a:solidFill>
                  <a:srgbClr val="FF0000"/>
                </a:solidFill>
              </a:rPr>
              <a:t>(a) Animal</a:t>
            </a:r>
            <a:r>
              <a:rPr lang="en-US" dirty="0">
                <a:solidFill>
                  <a:srgbClr val="FF0000"/>
                </a:solidFill>
              </a:rPr>
              <a:t>, Zone and Species</a:t>
            </a:r>
            <a:r>
              <a:rPr lang="en-US" dirty="0" smtClean="0">
                <a:solidFill>
                  <a:srgbClr val="FF0000"/>
                </a:solidFill>
              </a:rPr>
              <a:t>.</a:t>
            </a:r>
            <a:br>
              <a:rPr lang="en-US" dirty="0" smtClean="0">
                <a:solidFill>
                  <a:srgbClr val="FF0000"/>
                </a:solidFill>
              </a:rPr>
            </a:br>
            <a:endParaRPr lang="en-US" dirty="0" smtClean="0">
              <a:solidFill>
                <a:srgbClr val="FF0000"/>
              </a:solidFill>
            </a:endParaRPr>
          </a:p>
          <a:p>
            <a:r>
              <a:rPr lang="en-US" dirty="0" smtClean="0">
                <a:solidFill>
                  <a:srgbClr val="FF0000"/>
                </a:solidFill>
              </a:rPr>
              <a:t>(b) </a:t>
            </a:r>
            <a:r>
              <a:rPr lang="en-US" dirty="0">
                <a:solidFill>
                  <a:srgbClr val="FF0000"/>
                </a:solidFill>
              </a:rPr>
              <a:t>Animal name, Weight and Date of birth. Animal name is the primary key</a:t>
            </a:r>
            <a:r>
              <a:rPr lang="en-US" dirty="0" smtClean="0">
                <a:solidFill>
                  <a:srgbClr val="FF0000"/>
                </a:solidFill>
              </a:rPr>
              <a:t>.</a:t>
            </a:r>
          </a:p>
        </p:txBody>
      </p:sp>
      <p:sp>
        <p:nvSpPr>
          <p:cNvPr id="3" name="Slide Number Placeholder 2"/>
          <p:cNvSpPr>
            <a:spLocks noGrp="1"/>
          </p:cNvSpPr>
          <p:nvPr>
            <p:ph type="sldNum" sz="quarter" idx="12"/>
          </p:nvPr>
        </p:nvSpPr>
        <p:spPr/>
        <p:txBody>
          <a:bodyPr/>
          <a:lstStyle/>
          <a:p>
            <a:fld id="{6D22F896-40B5-4ADD-8801-0D06FADFA095}" type="slidenum">
              <a:rPr lang="en-US" smtClean="0"/>
              <a:t>12</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spTree>
    <p:extLst>
      <p:ext uri="{BB962C8B-B14F-4D97-AF65-F5344CB8AC3E}">
        <p14:creationId xmlns:p14="http://schemas.microsoft.com/office/powerpoint/2010/main" val="153403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solidFill>
                  <a:srgbClr val="FF0000"/>
                </a:solidFill>
              </a:rPr>
              <a:t>(c)</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13</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pic>
        <p:nvPicPr>
          <p:cNvPr id="5" name="Picture 4"/>
          <p:cNvPicPr>
            <a:picLocks noChangeAspect="1"/>
          </p:cNvPicPr>
          <p:nvPr/>
        </p:nvPicPr>
        <p:blipFill>
          <a:blip r:embed="rId2"/>
          <a:stretch>
            <a:fillRect/>
          </a:stretch>
        </p:blipFill>
        <p:spPr>
          <a:xfrm>
            <a:off x="1555217" y="1575778"/>
            <a:ext cx="7946231" cy="4486038"/>
          </a:xfrm>
          <a:prstGeom prst="rect">
            <a:avLst/>
          </a:prstGeom>
        </p:spPr>
      </p:pic>
    </p:spTree>
    <p:extLst>
      <p:ext uri="{BB962C8B-B14F-4D97-AF65-F5344CB8AC3E}">
        <p14:creationId xmlns:p14="http://schemas.microsoft.com/office/powerpoint/2010/main" val="57184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Participation Constraint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14</a:t>
            </a:fld>
            <a:endParaRPr lang="en-US" dirty="0"/>
          </a:p>
        </p:txBody>
      </p:sp>
      <p:sp>
        <p:nvSpPr>
          <p:cNvPr id="4" name="Text Placeholder 3"/>
          <p:cNvSpPr>
            <a:spLocks noGrp="1"/>
          </p:cNvSpPr>
          <p:nvPr>
            <p:ph type="body" sz="quarter" idx="14"/>
          </p:nvPr>
        </p:nvSpPr>
        <p:spPr/>
        <p:txBody>
          <a:bodyPr/>
          <a:lstStyle/>
          <a:p>
            <a:r>
              <a:rPr lang="en-US" dirty="0" smtClean="0"/>
              <a:t>5.2</a:t>
            </a:r>
            <a:endParaRPr lang="en-US" dirty="0"/>
          </a:p>
        </p:txBody>
      </p:sp>
      <p:sp>
        <p:nvSpPr>
          <p:cNvPr id="5" name="Content Placeholder 4"/>
          <p:cNvSpPr>
            <a:spLocks noGrp="1"/>
          </p:cNvSpPr>
          <p:nvPr>
            <p:ph sz="quarter" idx="15"/>
          </p:nvPr>
        </p:nvSpPr>
        <p:spPr/>
        <p:txBody>
          <a:bodyPr/>
          <a:lstStyle/>
          <a:p>
            <a:r>
              <a:rPr lang="en-US" dirty="0"/>
              <a:t>The </a:t>
            </a:r>
            <a:r>
              <a:rPr lang="en-US" b="1" dirty="0">
                <a:solidFill>
                  <a:srgbClr val="4B479C"/>
                </a:solidFill>
              </a:rPr>
              <a:t>participation constraint</a:t>
            </a:r>
            <a:r>
              <a:rPr lang="en-US" dirty="0"/>
              <a:t> of a relationship specifies whether each entity of an entity type participates in a relationship or not</a:t>
            </a:r>
            <a:r>
              <a:rPr lang="en-US" dirty="0" smtClean="0"/>
              <a:t>.</a:t>
            </a:r>
          </a:p>
          <a:p>
            <a:endParaRPr lang="en-US" dirty="0"/>
          </a:p>
        </p:txBody>
      </p:sp>
      <p:pic>
        <p:nvPicPr>
          <p:cNvPr id="6" name="Picture 5"/>
          <p:cNvPicPr>
            <a:picLocks noChangeAspect="1"/>
          </p:cNvPicPr>
          <p:nvPr/>
        </p:nvPicPr>
        <p:blipFill>
          <a:blip r:embed="rId2"/>
          <a:stretch>
            <a:fillRect/>
          </a:stretch>
        </p:blipFill>
        <p:spPr>
          <a:xfrm>
            <a:off x="1121066" y="3003773"/>
            <a:ext cx="9751981" cy="1890854"/>
          </a:xfrm>
          <a:prstGeom prst="rect">
            <a:avLst/>
          </a:prstGeom>
        </p:spPr>
      </p:pic>
    </p:spTree>
    <p:extLst>
      <p:ext uri="{BB962C8B-B14F-4D97-AF65-F5344CB8AC3E}">
        <p14:creationId xmlns:p14="http://schemas.microsoft.com/office/powerpoint/2010/main" val="13934862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Participation Constraint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15</a:t>
            </a:fld>
            <a:endParaRPr lang="en-US" dirty="0"/>
          </a:p>
        </p:txBody>
      </p:sp>
      <p:sp>
        <p:nvSpPr>
          <p:cNvPr id="4" name="Text Placeholder 3"/>
          <p:cNvSpPr>
            <a:spLocks noGrp="1"/>
          </p:cNvSpPr>
          <p:nvPr>
            <p:ph type="body" sz="quarter" idx="14"/>
          </p:nvPr>
        </p:nvSpPr>
        <p:spPr/>
        <p:txBody>
          <a:bodyPr/>
          <a:lstStyle/>
          <a:p>
            <a:r>
              <a:rPr lang="en-US" dirty="0" smtClean="0"/>
              <a:t>5.2</a:t>
            </a:r>
            <a:endParaRPr lang="en-US" dirty="0"/>
          </a:p>
        </p:txBody>
      </p:sp>
      <p:sp>
        <p:nvSpPr>
          <p:cNvPr id="5" name="Content Placeholder 4"/>
          <p:cNvSpPr>
            <a:spLocks noGrp="1"/>
          </p:cNvSpPr>
          <p:nvPr>
            <p:ph sz="quarter" idx="15"/>
          </p:nvPr>
        </p:nvSpPr>
        <p:spPr/>
        <p:txBody>
          <a:bodyPr/>
          <a:lstStyle/>
          <a:p>
            <a:r>
              <a:rPr lang="en-US" dirty="0"/>
              <a:t>Here are some real life examples of mandatory sides</a:t>
            </a:r>
            <a:r>
              <a:rPr lang="en-US" dirty="0" smtClean="0"/>
              <a:t>:</a:t>
            </a:r>
          </a:p>
          <a:p>
            <a:r>
              <a:rPr lang="en-US" dirty="0"/>
              <a:t>1. Each employee </a:t>
            </a:r>
            <a:r>
              <a:rPr lang="en-US" dirty="0">
                <a:solidFill>
                  <a:srgbClr val="F14B2A"/>
                </a:solidFill>
              </a:rPr>
              <a:t>must</a:t>
            </a:r>
            <a:r>
              <a:rPr lang="en-US" dirty="0"/>
              <a:t> belong to one department;</a:t>
            </a:r>
          </a:p>
          <a:p>
            <a:r>
              <a:rPr lang="en-US" dirty="0"/>
              <a:t>2. Every course </a:t>
            </a:r>
            <a:r>
              <a:rPr lang="en-US" dirty="0">
                <a:solidFill>
                  <a:srgbClr val="F14B2A"/>
                </a:solidFill>
              </a:rPr>
              <a:t>must</a:t>
            </a:r>
            <a:r>
              <a:rPr lang="en-US" dirty="0"/>
              <a:t> be taught by one or more lecturers</a:t>
            </a:r>
            <a:r>
              <a:rPr lang="en-US" dirty="0" smtClean="0"/>
              <a:t>;</a:t>
            </a:r>
          </a:p>
          <a:p>
            <a:endParaRPr lang="en-US" dirty="0"/>
          </a:p>
          <a:p>
            <a:r>
              <a:rPr lang="en-US" dirty="0"/>
              <a:t>Here are some real life examples of optional sides:</a:t>
            </a:r>
          </a:p>
          <a:p>
            <a:r>
              <a:rPr lang="en-US" dirty="0"/>
              <a:t>1. An employee </a:t>
            </a:r>
            <a:r>
              <a:rPr lang="en-US" dirty="0">
                <a:solidFill>
                  <a:srgbClr val="4FA255"/>
                </a:solidFill>
              </a:rPr>
              <a:t>may or may not</a:t>
            </a:r>
            <a:r>
              <a:rPr lang="en-US" dirty="0"/>
              <a:t> have any tasks at hand;</a:t>
            </a:r>
          </a:p>
          <a:p>
            <a:r>
              <a:rPr lang="en-US" dirty="0"/>
              <a:t>2. Each room in a hotel </a:t>
            </a:r>
            <a:r>
              <a:rPr lang="en-US" dirty="0">
                <a:solidFill>
                  <a:srgbClr val="4FA255"/>
                </a:solidFill>
              </a:rPr>
              <a:t>may or may not </a:t>
            </a:r>
            <a:r>
              <a:rPr lang="en-US" dirty="0"/>
              <a:t>be occupied by guests;</a:t>
            </a:r>
          </a:p>
        </p:txBody>
      </p:sp>
    </p:spTree>
    <p:extLst>
      <p:ext uri="{BB962C8B-B14F-4D97-AF65-F5344CB8AC3E}">
        <p14:creationId xmlns:p14="http://schemas.microsoft.com/office/powerpoint/2010/main" val="12637733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Mandatory side &amp; mandatory side</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16</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A real life example is the relationship between schools and school principals</a:t>
            </a:r>
            <a:r>
              <a:rPr lang="en-US" dirty="0" smtClean="0"/>
              <a:t>:</a:t>
            </a:r>
          </a:p>
          <a:p>
            <a:pPr marL="342900" indent="-342900">
              <a:buFont typeface="Arial" panose="020B0604020202020204" pitchFamily="34" charset="0"/>
              <a:buChar char="•"/>
            </a:pPr>
            <a:r>
              <a:rPr lang="en-US" dirty="0" smtClean="0"/>
              <a:t>For </a:t>
            </a:r>
            <a:r>
              <a:rPr lang="en-US" dirty="0"/>
              <a:t>each school, there </a:t>
            </a:r>
            <a:r>
              <a:rPr lang="en-US" dirty="0">
                <a:solidFill>
                  <a:srgbClr val="F14B2A"/>
                </a:solidFill>
              </a:rPr>
              <a:t>must</a:t>
            </a:r>
            <a:r>
              <a:rPr lang="en-US" dirty="0"/>
              <a:t> be a school principal; </a:t>
            </a:r>
            <a:r>
              <a:rPr lang="en-US" dirty="0" smtClean="0"/>
              <a:t>and</a:t>
            </a:r>
          </a:p>
          <a:p>
            <a:pPr marL="342900" indent="-342900">
              <a:buFont typeface="Arial" panose="020B0604020202020204" pitchFamily="34" charset="0"/>
              <a:buChar char="•"/>
            </a:pPr>
            <a:r>
              <a:rPr lang="en-US" dirty="0" smtClean="0"/>
              <a:t>Each school principal </a:t>
            </a:r>
            <a:r>
              <a:rPr lang="en-US" dirty="0" smtClean="0">
                <a:solidFill>
                  <a:srgbClr val="F14B2A"/>
                </a:solidFill>
              </a:rPr>
              <a:t>must</a:t>
            </a:r>
            <a:r>
              <a:rPr lang="en-US" dirty="0" smtClean="0"/>
              <a:t> belong to a school.</a:t>
            </a:r>
            <a:endParaRPr lang="en-US" dirty="0"/>
          </a:p>
        </p:txBody>
      </p:sp>
      <p:pic>
        <p:nvPicPr>
          <p:cNvPr id="6" name="Picture 5"/>
          <p:cNvPicPr>
            <a:picLocks noChangeAspect="1"/>
          </p:cNvPicPr>
          <p:nvPr/>
        </p:nvPicPr>
        <p:blipFill>
          <a:blip r:embed="rId2"/>
          <a:stretch>
            <a:fillRect/>
          </a:stretch>
        </p:blipFill>
        <p:spPr>
          <a:xfrm>
            <a:off x="1247934" y="3156116"/>
            <a:ext cx="9009749" cy="1586167"/>
          </a:xfrm>
          <a:prstGeom prst="rect">
            <a:avLst/>
          </a:prstGeom>
        </p:spPr>
      </p:pic>
      <p:pic>
        <p:nvPicPr>
          <p:cNvPr id="7" name="Picture 6"/>
          <p:cNvPicPr>
            <a:picLocks noChangeAspect="1"/>
          </p:cNvPicPr>
          <p:nvPr/>
        </p:nvPicPr>
        <p:blipFill>
          <a:blip r:embed="rId3"/>
          <a:stretch>
            <a:fillRect/>
          </a:stretch>
        </p:blipFill>
        <p:spPr>
          <a:xfrm>
            <a:off x="2145488" y="5039800"/>
            <a:ext cx="7214642" cy="900825"/>
          </a:xfrm>
          <a:prstGeom prst="rect">
            <a:avLst/>
          </a:prstGeom>
        </p:spPr>
      </p:pic>
    </p:spTree>
    <p:extLst>
      <p:ext uri="{BB962C8B-B14F-4D97-AF65-F5344CB8AC3E}">
        <p14:creationId xmlns:p14="http://schemas.microsoft.com/office/powerpoint/2010/main" val="5072673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Mandatory side &amp; optional side</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17</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A real life example is the relationship between teachers and classes:</a:t>
            </a:r>
          </a:p>
          <a:p>
            <a:pPr marL="342900" indent="-342900">
              <a:buFont typeface="Arial" panose="020B0604020202020204" pitchFamily="34" charset="0"/>
              <a:buChar char="•"/>
            </a:pPr>
            <a:r>
              <a:rPr lang="en-US" dirty="0" smtClean="0"/>
              <a:t>Each </a:t>
            </a:r>
            <a:r>
              <a:rPr lang="en-US" dirty="0"/>
              <a:t>teacher </a:t>
            </a:r>
            <a:r>
              <a:rPr lang="en-US" dirty="0">
                <a:solidFill>
                  <a:srgbClr val="4FA255"/>
                </a:solidFill>
              </a:rPr>
              <a:t>may or may not </a:t>
            </a:r>
            <a:r>
              <a:rPr lang="en-US" dirty="0"/>
              <a:t>be a class teacher; and</a:t>
            </a:r>
          </a:p>
          <a:p>
            <a:pPr marL="342900" indent="-342900">
              <a:buFont typeface="Arial" panose="020B0604020202020204" pitchFamily="34" charset="0"/>
              <a:buChar char="•"/>
            </a:pPr>
            <a:r>
              <a:rPr lang="en-US" dirty="0" smtClean="0"/>
              <a:t>For </a:t>
            </a:r>
            <a:r>
              <a:rPr lang="en-US" dirty="0"/>
              <a:t>each class, there </a:t>
            </a:r>
            <a:r>
              <a:rPr lang="en-US" dirty="0">
                <a:solidFill>
                  <a:srgbClr val="F14B2A"/>
                </a:solidFill>
              </a:rPr>
              <a:t>must</a:t>
            </a:r>
            <a:r>
              <a:rPr lang="en-US" dirty="0"/>
              <a:t> be a class teacher.</a:t>
            </a:r>
          </a:p>
        </p:txBody>
      </p:sp>
      <p:pic>
        <p:nvPicPr>
          <p:cNvPr id="6" name="Picture 5"/>
          <p:cNvPicPr>
            <a:picLocks noChangeAspect="1"/>
          </p:cNvPicPr>
          <p:nvPr/>
        </p:nvPicPr>
        <p:blipFill>
          <a:blip r:embed="rId2"/>
          <a:stretch>
            <a:fillRect/>
          </a:stretch>
        </p:blipFill>
        <p:spPr>
          <a:xfrm>
            <a:off x="1705239" y="3130017"/>
            <a:ext cx="8028966" cy="1610439"/>
          </a:xfrm>
          <a:prstGeom prst="rect">
            <a:avLst/>
          </a:prstGeom>
        </p:spPr>
      </p:pic>
      <p:pic>
        <p:nvPicPr>
          <p:cNvPr id="7" name="Picture 6"/>
          <p:cNvPicPr>
            <a:picLocks noChangeAspect="1"/>
          </p:cNvPicPr>
          <p:nvPr/>
        </p:nvPicPr>
        <p:blipFill>
          <a:blip r:embed="rId3"/>
          <a:stretch>
            <a:fillRect/>
          </a:stretch>
        </p:blipFill>
        <p:spPr>
          <a:xfrm>
            <a:off x="1810800" y="4984882"/>
            <a:ext cx="7712431" cy="1001174"/>
          </a:xfrm>
          <a:prstGeom prst="rect">
            <a:avLst/>
          </a:prstGeom>
        </p:spPr>
      </p:pic>
    </p:spTree>
    <p:extLst>
      <p:ext uri="{BB962C8B-B14F-4D97-AF65-F5344CB8AC3E}">
        <p14:creationId xmlns:p14="http://schemas.microsoft.com/office/powerpoint/2010/main" val="28835741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Optional side &amp; optional side</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18</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A real life example is the relationship between citizens and diseases:</a:t>
            </a:r>
          </a:p>
          <a:p>
            <a:pPr marL="342900" indent="-342900">
              <a:buFont typeface="Arial" panose="020B0604020202020204" pitchFamily="34" charset="0"/>
              <a:buChar char="•"/>
            </a:pPr>
            <a:r>
              <a:rPr lang="en-US" dirty="0" smtClean="0"/>
              <a:t>Each </a:t>
            </a:r>
            <a:r>
              <a:rPr lang="en-US" dirty="0"/>
              <a:t>citizen </a:t>
            </a:r>
            <a:r>
              <a:rPr lang="en-US" dirty="0">
                <a:solidFill>
                  <a:srgbClr val="4FA255"/>
                </a:solidFill>
              </a:rPr>
              <a:t>may or may not</a:t>
            </a:r>
            <a:r>
              <a:rPr lang="en-US" dirty="0"/>
              <a:t> have a disease; and</a:t>
            </a:r>
          </a:p>
          <a:p>
            <a:pPr marL="342900" indent="-342900">
              <a:buFont typeface="Arial" panose="020B0604020202020204" pitchFamily="34" charset="0"/>
              <a:buChar char="•"/>
            </a:pPr>
            <a:r>
              <a:rPr lang="en-US" dirty="0" smtClean="0"/>
              <a:t>Each </a:t>
            </a:r>
            <a:r>
              <a:rPr lang="en-US" dirty="0"/>
              <a:t>disease </a:t>
            </a:r>
            <a:r>
              <a:rPr lang="en-US" dirty="0">
                <a:solidFill>
                  <a:srgbClr val="4FA255"/>
                </a:solidFill>
              </a:rPr>
              <a:t>may or may not</a:t>
            </a:r>
            <a:r>
              <a:rPr lang="en-US" dirty="0"/>
              <a:t> have an infected citizen.</a:t>
            </a:r>
          </a:p>
        </p:txBody>
      </p:sp>
      <p:pic>
        <p:nvPicPr>
          <p:cNvPr id="7" name="Picture 6"/>
          <p:cNvPicPr>
            <a:picLocks noChangeAspect="1"/>
          </p:cNvPicPr>
          <p:nvPr/>
        </p:nvPicPr>
        <p:blipFill>
          <a:blip r:embed="rId2"/>
          <a:stretch>
            <a:fillRect/>
          </a:stretch>
        </p:blipFill>
        <p:spPr>
          <a:xfrm>
            <a:off x="211529" y="3128703"/>
            <a:ext cx="5784275" cy="1629548"/>
          </a:xfrm>
          <a:prstGeom prst="rect">
            <a:avLst/>
          </a:prstGeom>
        </p:spPr>
      </p:pic>
      <p:pic>
        <p:nvPicPr>
          <p:cNvPr id="8" name="Picture 7"/>
          <p:cNvPicPr>
            <a:picLocks noChangeAspect="1"/>
          </p:cNvPicPr>
          <p:nvPr/>
        </p:nvPicPr>
        <p:blipFill>
          <a:blip r:embed="rId3"/>
          <a:stretch>
            <a:fillRect/>
          </a:stretch>
        </p:blipFill>
        <p:spPr>
          <a:xfrm>
            <a:off x="6206655" y="3120390"/>
            <a:ext cx="5799955" cy="1606618"/>
          </a:xfrm>
          <a:prstGeom prst="rect">
            <a:avLst/>
          </a:prstGeom>
        </p:spPr>
      </p:pic>
      <p:pic>
        <p:nvPicPr>
          <p:cNvPr id="9" name="Picture 8"/>
          <p:cNvPicPr>
            <a:picLocks noChangeAspect="1"/>
          </p:cNvPicPr>
          <p:nvPr/>
        </p:nvPicPr>
        <p:blipFill>
          <a:blip r:embed="rId4"/>
          <a:stretch>
            <a:fillRect/>
          </a:stretch>
        </p:blipFill>
        <p:spPr>
          <a:xfrm>
            <a:off x="1918800" y="5008582"/>
            <a:ext cx="7879443" cy="967801"/>
          </a:xfrm>
          <a:prstGeom prst="rect">
            <a:avLst/>
          </a:prstGeom>
        </p:spPr>
      </p:pic>
    </p:spTree>
    <p:extLst>
      <p:ext uri="{BB962C8B-B14F-4D97-AF65-F5344CB8AC3E}">
        <p14:creationId xmlns:p14="http://schemas.microsoft.com/office/powerpoint/2010/main" val="9927057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Optional side &amp; optional side</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19</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smtClean="0"/>
              <a:t>This </a:t>
            </a:r>
            <a:r>
              <a:rPr lang="en-US" dirty="0"/>
              <a:t>is the </a:t>
            </a:r>
            <a:r>
              <a:rPr lang="en-US" dirty="0" smtClean="0"/>
              <a:t>list </a:t>
            </a:r>
            <a:r>
              <a:rPr lang="en-US" dirty="0"/>
              <a:t>of relationship with different participation </a:t>
            </a:r>
            <a:r>
              <a:rPr lang="en-US" dirty="0" smtClean="0"/>
              <a:t>constraints:</a:t>
            </a:r>
            <a:endParaRPr lang="en-US" dirty="0"/>
          </a:p>
        </p:txBody>
      </p:sp>
      <p:pic>
        <p:nvPicPr>
          <p:cNvPr id="6" name="Picture 5"/>
          <p:cNvPicPr>
            <a:picLocks noChangeAspect="1"/>
          </p:cNvPicPr>
          <p:nvPr/>
        </p:nvPicPr>
        <p:blipFill>
          <a:blip r:embed="rId2"/>
          <a:stretch>
            <a:fillRect/>
          </a:stretch>
        </p:blipFill>
        <p:spPr>
          <a:xfrm>
            <a:off x="950733" y="2226634"/>
            <a:ext cx="10291734" cy="3608900"/>
          </a:xfrm>
          <a:prstGeom prst="rect">
            <a:avLst/>
          </a:prstGeom>
        </p:spPr>
      </p:pic>
    </p:spTree>
    <p:extLst>
      <p:ext uri="{BB962C8B-B14F-4D97-AF65-F5344CB8AC3E}">
        <p14:creationId xmlns:p14="http://schemas.microsoft.com/office/powerpoint/2010/main" val="22145372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1. Add </a:t>
            </a:r>
            <a:r>
              <a:rPr lang="en-US" dirty="0"/>
              <a:t>relationships and participation constraints to the following parts of ER diagrams to show the relationship between two entity types</a:t>
            </a:r>
            <a:r>
              <a:rPr lang="en-US" dirty="0" smtClean="0"/>
              <a:t>.</a:t>
            </a:r>
          </a:p>
          <a:p>
            <a:endParaRPr lang="en-US" dirty="0" smtClean="0"/>
          </a:p>
          <a:p>
            <a:r>
              <a:rPr lang="en-US" dirty="0" smtClean="0"/>
              <a:t>(a) There </a:t>
            </a:r>
            <a:r>
              <a:rPr lang="en-US" dirty="0"/>
              <a:t>are 40 computers and 25 students in a classroom. Each student is assigned to exactly one </a:t>
            </a:r>
            <a:r>
              <a:rPr lang="en-US" dirty="0" smtClean="0"/>
              <a:t>computer</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20</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pic>
        <p:nvPicPr>
          <p:cNvPr id="5" name="Picture 4"/>
          <p:cNvPicPr>
            <a:picLocks noChangeAspect="1"/>
          </p:cNvPicPr>
          <p:nvPr/>
        </p:nvPicPr>
        <p:blipFill>
          <a:blip r:embed="rId2"/>
          <a:stretch>
            <a:fillRect/>
          </a:stretch>
        </p:blipFill>
        <p:spPr>
          <a:xfrm>
            <a:off x="2577278" y="3775278"/>
            <a:ext cx="7037443" cy="947206"/>
          </a:xfrm>
          <a:prstGeom prst="rect">
            <a:avLst/>
          </a:prstGeom>
        </p:spPr>
      </p:pic>
    </p:spTree>
    <p:extLst>
      <p:ext uri="{BB962C8B-B14F-4D97-AF65-F5344CB8AC3E}">
        <p14:creationId xmlns:p14="http://schemas.microsoft.com/office/powerpoint/2010/main" val="22070451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(b) </a:t>
            </a:r>
            <a:r>
              <a:rPr lang="en-US" dirty="0"/>
              <a:t>There are numerous books in the library. Students can borrow books from the library</a:t>
            </a:r>
            <a:r>
              <a:rPr lang="en-US" dirty="0" smtClean="0"/>
              <a:t>.</a:t>
            </a:r>
          </a:p>
          <a:p>
            <a:endParaRPr lang="en-US" dirty="0"/>
          </a:p>
          <a:p>
            <a:r>
              <a:rPr lang="en-US" dirty="0"/>
              <a:t/>
            </a:r>
            <a:br>
              <a:rPr lang="en-US" dirty="0"/>
            </a:br>
            <a:endParaRPr lang="en-US" dirty="0"/>
          </a:p>
          <a:p>
            <a:r>
              <a:rPr lang="en-US" dirty="0" smtClean="0"/>
              <a:t>(c) Every </a:t>
            </a:r>
            <a:r>
              <a:rPr lang="en-US" dirty="0"/>
              <a:t>student belongs to a class. Each class has about 20 to 30 students</a:t>
            </a:r>
            <a:r>
              <a:rPr lang="en-US" dirty="0" smtClean="0"/>
              <a:t>.</a:t>
            </a:r>
          </a:p>
          <a:p>
            <a:endParaRPr lang="en-US" dirty="0"/>
          </a:p>
          <a:p>
            <a:endParaRPr lang="en-US" dirty="0" smtClean="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21</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pic>
        <p:nvPicPr>
          <p:cNvPr id="5" name="Picture 4"/>
          <p:cNvPicPr>
            <a:picLocks noChangeAspect="1"/>
          </p:cNvPicPr>
          <p:nvPr/>
        </p:nvPicPr>
        <p:blipFill>
          <a:blip r:embed="rId2"/>
          <a:stretch>
            <a:fillRect/>
          </a:stretch>
        </p:blipFill>
        <p:spPr>
          <a:xfrm>
            <a:off x="2534057" y="2034371"/>
            <a:ext cx="7025580" cy="937236"/>
          </a:xfrm>
          <a:prstGeom prst="rect">
            <a:avLst/>
          </a:prstGeom>
        </p:spPr>
      </p:pic>
      <p:pic>
        <p:nvPicPr>
          <p:cNvPr id="6" name="Picture 5"/>
          <p:cNvPicPr>
            <a:picLocks noChangeAspect="1"/>
          </p:cNvPicPr>
          <p:nvPr/>
        </p:nvPicPr>
        <p:blipFill>
          <a:blip r:embed="rId3"/>
          <a:stretch>
            <a:fillRect/>
          </a:stretch>
        </p:blipFill>
        <p:spPr>
          <a:xfrm>
            <a:off x="2534057" y="3854254"/>
            <a:ext cx="7025580" cy="834796"/>
          </a:xfrm>
          <a:prstGeom prst="rect">
            <a:avLst/>
          </a:prstGeom>
        </p:spPr>
      </p:pic>
    </p:spTree>
    <p:extLst>
      <p:ext uri="{BB962C8B-B14F-4D97-AF65-F5344CB8AC3E}">
        <p14:creationId xmlns:p14="http://schemas.microsoft.com/office/powerpoint/2010/main" val="29419274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 There are 16 subjects and 40 students. For each subject, there are 3 awards for the students with the top 3 highest scores. There are at least 5 students studying each subject.</a:t>
            </a:r>
          </a:p>
        </p:txBody>
      </p:sp>
      <p:sp>
        <p:nvSpPr>
          <p:cNvPr id="3" name="Slide Number Placeholder 2"/>
          <p:cNvSpPr>
            <a:spLocks noGrp="1"/>
          </p:cNvSpPr>
          <p:nvPr>
            <p:ph type="sldNum" sz="quarter" idx="12"/>
          </p:nvPr>
        </p:nvSpPr>
        <p:spPr/>
        <p:txBody>
          <a:bodyPr/>
          <a:lstStyle/>
          <a:p>
            <a:fld id="{6D22F896-40B5-4ADD-8801-0D06FADFA095}" type="slidenum">
              <a:rPr lang="en-US" smtClean="0"/>
              <a:t>22</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pic>
        <p:nvPicPr>
          <p:cNvPr id="5" name="Picture 4"/>
          <p:cNvPicPr>
            <a:picLocks noChangeAspect="1"/>
          </p:cNvPicPr>
          <p:nvPr/>
        </p:nvPicPr>
        <p:blipFill>
          <a:blip r:embed="rId2"/>
          <a:stretch>
            <a:fillRect/>
          </a:stretch>
        </p:blipFill>
        <p:spPr>
          <a:xfrm>
            <a:off x="2277322" y="2540231"/>
            <a:ext cx="7637356" cy="1018840"/>
          </a:xfrm>
          <a:prstGeom prst="rect">
            <a:avLst/>
          </a:prstGeom>
        </p:spPr>
      </p:pic>
    </p:spTree>
    <p:extLst>
      <p:ext uri="{BB962C8B-B14F-4D97-AF65-F5344CB8AC3E}">
        <p14:creationId xmlns:p14="http://schemas.microsoft.com/office/powerpoint/2010/main" val="15014162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37A3D4"/>
                </a:solidFill>
              </a:rPr>
              <a:t>◣ </a:t>
            </a:r>
            <a:r>
              <a:rPr lang="en-US" b="1" dirty="0">
                <a:solidFill>
                  <a:srgbClr val="37A3D4"/>
                </a:solidFill>
              </a:rPr>
              <a:t>Solution</a:t>
            </a:r>
          </a:p>
          <a:p>
            <a:r>
              <a:rPr lang="en-US" dirty="0" smtClean="0"/>
              <a:t>1. Any </a:t>
            </a:r>
            <a:r>
              <a:rPr lang="en-US" dirty="0"/>
              <a:t>reasonable verb or verb phrase is acceptable</a:t>
            </a:r>
            <a:r>
              <a:rPr lang="en-US" dirty="0" smtClean="0"/>
              <a:t>.</a:t>
            </a:r>
          </a:p>
          <a:p>
            <a:r>
              <a:rPr lang="en-US" dirty="0" smtClean="0"/>
              <a:t>(a)</a:t>
            </a:r>
          </a:p>
          <a:p>
            <a:endParaRPr lang="en-US" dirty="0"/>
          </a:p>
          <a:p>
            <a:r>
              <a:rPr lang="en-US" dirty="0" smtClean="0"/>
              <a:t>(b)</a:t>
            </a:r>
          </a:p>
          <a:p>
            <a:endParaRPr lang="en-US" dirty="0"/>
          </a:p>
          <a:p>
            <a:r>
              <a:rPr lang="en-US" dirty="0" smtClean="0"/>
              <a:t>(c)</a:t>
            </a:r>
          </a:p>
          <a:p>
            <a:endParaRPr lang="en-US" dirty="0"/>
          </a:p>
          <a:p>
            <a:r>
              <a:rPr lang="en-US" dirty="0" smtClean="0"/>
              <a:t>(d)</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23</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pic>
        <p:nvPicPr>
          <p:cNvPr id="5" name="Picture 4"/>
          <p:cNvPicPr>
            <a:picLocks noChangeAspect="1"/>
          </p:cNvPicPr>
          <p:nvPr/>
        </p:nvPicPr>
        <p:blipFill>
          <a:blip r:embed="rId2"/>
          <a:stretch>
            <a:fillRect/>
          </a:stretch>
        </p:blipFill>
        <p:spPr>
          <a:xfrm>
            <a:off x="1318153" y="2412264"/>
            <a:ext cx="7543214" cy="856819"/>
          </a:xfrm>
          <a:prstGeom prst="rect">
            <a:avLst/>
          </a:prstGeom>
        </p:spPr>
      </p:pic>
      <p:pic>
        <p:nvPicPr>
          <p:cNvPr id="6" name="Picture 5"/>
          <p:cNvPicPr>
            <a:picLocks noChangeAspect="1"/>
          </p:cNvPicPr>
          <p:nvPr/>
        </p:nvPicPr>
        <p:blipFill>
          <a:blip r:embed="rId3"/>
          <a:stretch>
            <a:fillRect/>
          </a:stretch>
        </p:blipFill>
        <p:spPr>
          <a:xfrm>
            <a:off x="1249133" y="3416891"/>
            <a:ext cx="7612234" cy="870654"/>
          </a:xfrm>
          <a:prstGeom prst="rect">
            <a:avLst/>
          </a:prstGeom>
        </p:spPr>
      </p:pic>
      <p:pic>
        <p:nvPicPr>
          <p:cNvPr id="7" name="Picture 6"/>
          <p:cNvPicPr>
            <a:picLocks noChangeAspect="1"/>
          </p:cNvPicPr>
          <p:nvPr/>
        </p:nvPicPr>
        <p:blipFill>
          <a:blip r:embed="rId4"/>
          <a:stretch>
            <a:fillRect/>
          </a:stretch>
        </p:blipFill>
        <p:spPr>
          <a:xfrm>
            <a:off x="1341824" y="4427040"/>
            <a:ext cx="7495871" cy="859400"/>
          </a:xfrm>
          <a:prstGeom prst="rect">
            <a:avLst/>
          </a:prstGeom>
        </p:spPr>
      </p:pic>
      <p:pic>
        <p:nvPicPr>
          <p:cNvPr id="8" name="Picture 7"/>
          <p:cNvPicPr>
            <a:picLocks noChangeAspect="1"/>
          </p:cNvPicPr>
          <p:nvPr/>
        </p:nvPicPr>
        <p:blipFill>
          <a:blip r:embed="rId5"/>
          <a:stretch>
            <a:fillRect/>
          </a:stretch>
        </p:blipFill>
        <p:spPr>
          <a:xfrm>
            <a:off x="1347854" y="5428644"/>
            <a:ext cx="7489841" cy="867580"/>
          </a:xfrm>
          <a:prstGeom prst="rect">
            <a:avLst/>
          </a:prstGeom>
        </p:spPr>
      </p:pic>
    </p:spTree>
    <p:extLst>
      <p:ext uri="{BB962C8B-B14F-4D97-AF65-F5344CB8AC3E}">
        <p14:creationId xmlns:p14="http://schemas.microsoft.com/office/powerpoint/2010/main" val="3445889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5.2 on P. 254 of your textbook.</a:t>
            </a:r>
          </a:p>
          <a:p>
            <a:r>
              <a:rPr lang="en-US" dirty="0" smtClean="0">
                <a:solidFill>
                  <a:srgbClr val="FF0000"/>
                </a:solidFill>
              </a:rPr>
              <a:t>(a)</a:t>
            </a:r>
          </a:p>
          <a:p>
            <a:endParaRPr lang="en-US" dirty="0">
              <a:solidFill>
                <a:srgbClr val="FF0000"/>
              </a:solidFill>
            </a:endParaRPr>
          </a:p>
          <a:p>
            <a:r>
              <a:rPr lang="en-US" dirty="0" smtClean="0">
                <a:solidFill>
                  <a:srgbClr val="FF0000"/>
                </a:solidFill>
              </a:rPr>
              <a:t>(b)</a:t>
            </a:r>
          </a:p>
          <a:p>
            <a:endParaRPr lang="en-US" dirty="0">
              <a:solidFill>
                <a:srgbClr val="FF0000"/>
              </a:solidFill>
            </a:endParaRPr>
          </a:p>
          <a:p>
            <a:r>
              <a:rPr lang="en-US" dirty="0" smtClean="0">
                <a:solidFill>
                  <a:srgbClr val="FF0000"/>
                </a:solidFill>
              </a:rPr>
              <a:t>(c)</a:t>
            </a:r>
          </a:p>
          <a:p>
            <a:endParaRPr lang="en-US" dirty="0">
              <a:solidFill>
                <a:srgbClr val="FF0000"/>
              </a:solidFill>
            </a:endParaRPr>
          </a:p>
          <a:p>
            <a:r>
              <a:rPr lang="en-US" dirty="0" smtClean="0">
                <a:solidFill>
                  <a:srgbClr val="FF0000"/>
                </a:solidFill>
              </a:rPr>
              <a:t>(d)</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24</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pic>
        <p:nvPicPr>
          <p:cNvPr id="5" name="Picture 4"/>
          <p:cNvPicPr>
            <a:picLocks noChangeAspect="1"/>
          </p:cNvPicPr>
          <p:nvPr/>
        </p:nvPicPr>
        <p:blipFill>
          <a:blip r:embed="rId2"/>
          <a:stretch>
            <a:fillRect/>
          </a:stretch>
        </p:blipFill>
        <p:spPr>
          <a:xfrm>
            <a:off x="1402942" y="1992714"/>
            <a:ext cx="7261419" cy="825301"/>
          </a:xfrm>
          <a:prstGeom prst="rect">
            <a:avLst/>
          </a:prstGeom>
        </p:spPr>
      </p:pic>
      <p:pic>
        <p:nvPicPr>
          <p:cNvPr id="6" name="Picture 5"/>
          <p:cNvPicPr>
            <a:picLocks noChangeAspect="1"/>
          </p:cNvPicPr>
          <p:nvPr/>
        </p:nvPicPr>
        <p:blipFill>
          <a:blip r:embed="rId3"/>
          <a:stretch>
            <a:fillRect/>
          </a:stretch>
        </p:blipFill>
        <p:spPr>
          <a:xfrm>
            <a:off x="1402942" y="2958429"/>
            <a:ext cx="7261420" cy="849217"/>
          </a:xfrm>
          <a:prstGeom prst="rect">
            <a:avLst/>
          </a:prstGeom>
        </p:spPr>
      </p:pic>
      <p:pic>
        <p:nvPicPr>
          <p:cNvPr id="7" name="Picture 6"/>
          <p:cNvPicPr>
            <a:picLocks noChangeAspect="1"/>
          </p:cNvPicPr>
          <p:nvPr/>
        </p:nvPicPr>
        <p:blipFill>
          <a:blip r:embed="rId4"/>
          <a:stretch>
            <a:fillRect/>
          </a:stretch>
        </p:blipFill>
        <p:spPr>
          <a:xfrm>
            <a:off x="1369692" y="3873600"/>
            <a:ext cx="7294669" cy="895620"/>
          </a:xfrm>
          <a:prstGeom prst="rect">
            <a:avLst/>
          </a:prstGeom>
        </p:spPr>
      </p:pic>
      <p:pic>
        <p:nvPicPr>
          <p:cNvPr id="8" name="Picture 7"/>
          <p:cNvPicPr>
            <a:picLocks noChangeAspect="1"/>
          </p:cNvPicPr>
          <p:nvPr/>
        </p:nvPicPr>
        <p:blipFill>
          <a:blip r:embed="rId5"/>
          <a:stretch>
            <a:fillRect/>
          </a:stretch>
        </p:blipFill>
        <p:spPr>
          <a:xfrm>
            <a:off x="1402942" y="4953045"/>
            <a:ext cx="7261419" cy="795180"/>
          </a:xfrm>
          <a:prstGeom prst="rect">
            <a:avLst/>
          </a:prstGeom>
        </p:spPr>
      </p:pic>
    </p:spTree>
    <p:extLst>
      <p:ext uri="{BB962C8B-B14F-4D97-AF65-F5344CB8AC3E}">
        <p14:creationId xmlns:p14="http://schemas.microsoft.com/office/powerpoint/2010/main" val="340323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Effect transition="in" filter="fade">
                                      <p:cBhvr>
                                        <p:cTn id="23" dur="500"/>
                                        <p:tgtEl>
                                          <p:spTgt spid="2">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Effect transition="in" filter="fade">
                                      <p:cBhvr>
                                        <p:cTn id="31" dur="500"/>
                                        <p:tgtEl>
                                          <p:spTgt spid="2">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Cardinality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25</a:t>
            </a:fld>
            <a:endParaRPr lang="en-US" dirty="0"/>
          </a:p>
        </p:txBody>
      </p:sp>
      <p:sp>
        <p:nvSpPr>
          <p:cNvPr id="4" name="Text Placeholder 3"/>
          <p:cNvSpPr>
            <a:spLocks noGrp="1"/>
          </p:cNvSpPr>
          <p:nvPr>
            <p:ph type="body" sz="quarter" idx="14"/>
          </p:nvPr>
        </p:nvSpPr>
        <p:spPr/>
        <p:txBody>
          <a:bodyPr/>
          <a:lstStyle/>
          <a:p>
            <a:r>
              <a:rPr lang="en-US" dirty="0" smtClean="0"/>
              <a:t>5.3</a:t>
            </a:r>
            <a:endParaRPr lang="en-US" dirty="0"/>
          </a:p>
        </p:txBody>
      </p:sp>
      <p:sp>
        <p:nvSpPr>
          <p:cNvPr id="5" name="Content Placeholder 4"/>
          <p:cNvSpPr>
            <a:spLocks noGrp="1"/>
          </p:cNvSpPr>
          <p:nvPr>
            <p:ph sz="quarter" idx="15"/>
          </p:nvPr>
        </p:nvSpPr>
        <p:spPr/>
        <p:txBody>
          <a:bodyPr/>
          <a:lstStyle/>
          <a:p>
            <a:r>
              <a:rPr lang="en-US" dirty="0"/>
              <a:t>The </a:t>
            </a:r>
            <a:r>
              <a:rPr lang="en-US" b="1" dirty="0">
                <a:solidFill>
                  <a:srgbClr val="4B479C"/>
                </a:solidFill>
              </a:rPr>
              <a:t>cardinality</a:t>
            </a:r>
            <a:r>
              <a:rPr lang="en-US" dirty="0"/>
              <a:t> of a relationship specifies how many entities of an entity </a:t>
            </a:r>
            <a:r>
              <a:rPr lang="en-US" dirty="0" smtClean="0"/>
              <a:t>type </a:t>
            </a:r>
            <a:r>
              <a:rPr lang="en-US" dirty="0"/>
              <a:t>can be related to entities of another entity type</a:t>
            </a:r>
            <a:r>
              <a:rPr lang="en-US" dirty="0" smtClean="0"/>
              <a:t>.</a:t>
            </a:r>
          </a:p>
          <a:p>
            <a:endParaRPr lang="en-US" dirty="0"/>
          </a:p>
          <a:p>
            <a:r>
              <a:rPr lang="en-US" dirty="0"/>
              <a:t>They are represented by the characters besides the lines between an entity </a:t>
            </a:r>
            <a:r>
              <a:rPr lang="en-US" dirty="0" smtClean="0"/>
              <a:t>type </a:t>
            </a:r>
            <a:r>
              <a:rPr lang="en-US" dirty="0"/>
              <a:t>and a relationship.</a:t>
            </a:r>
          </a:p>
        </p:txBody>
      </p:sp>
      <p:pic>
        <p:nvPicPr>
          <p:cNvPr id="6" name="Picture 5"/>
          <p:cNvPicPr>
            <a:picLocks noChangeAspect="1"/>
          </p:cNvPicPr>
          <p:nvPr/>
        </p:nvPicPr>
        <p:blipFill>
          <a:blip r:embed="rId2"/>
          <a:stretch>
            <a:fillRect/>
          </a:stretch>
        </p:blipFill>
        <p:spPr>
          <a:xfrm>
            <a:off x="1335196" y="3949200"/>
            <a:ext cx="9247515" cy="1819430"/>
          </a:xfrm>
          <a:prstGeom prst="rect">
            <a:avLst/>
          </a:prstGeom>
        </p:spPr>
      </p:pic>
    </p:spTree>
    <p:extLst>
      <p:ext uri="{BB962C8B-B14F-4D97-AF65-F5344CB8AC3E}">
        <p14:creationId xmlns:p14="http://schemas.microsoft.com/office/powerpoint/2010/main" val="39535735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Cardinality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26</a:t>
            </a:fld>
            <a:endParaRPr lang="en-US" dirty="0"/>
          </a:p>
        </p:txBody>
      </p:sp>
      <p:sp>
        <p:nvSpPr>
          <p:cNvPr id="4" name="Text Placeholder 3"/>
          <p:cNvSpPr>
            <a:spLocks noGrp="1"/>
          </p:cNvSpPr>
          <p:nvPr>
            <p:ph type="body" sz="quarter" idx="14"/>
          </p:nvPr>
        </p:nvSpPr>
        <p:spPr/>
        <p:txBody>
          <a:bodyPr/>
          <a:lstStyle/>
          <a:p>
            <a:r>
              <a:rPr lang="en-US" dirty="0" smtClean="0"/>
              <a:t>5.3</a:t>
            </a:r>
            <a:endParaRPr lang="en-US" dirty="0"/>
          </a:p>
        </p:txBody>
      </p:sp>
      <p:sp>
        <p:nvSpPr>
          <p:cNvPr id="5" name="Content Placeholder 4"/>
          <p:cNvSpPr>
            <a:spLocks noGrp="1"/>
          </p:cNvSpPr>
          <p:nvPr>
            <p:ph sz="quarter" idx="15"/>
          </p:nvPr>
        </p:nvSpPr>
        <p:spPr>
          <a:xfrm>
            <a:off x="838800" y="1609200"/>
            <a:ext cx="10515600" cy="4680000"/>
          </a:xfrm>
        </p:spPr>
        <p:txBody>
          <a:bodyPr/>
          <a:lstStyle/>
          <a:p>
            <a:r>
              <a:rPr lang="en-US" dirty="0"/>
              <a:t>Here are some real life examples of </a:t>
            </a:r>
            <a:r>
              <a:rPr lang="en-US" dirty="0">
                <a:solidFill>
                  <a:srgbClr val="F5821B"/>
                </a:solidFill>
              </a:rPr>
              <a:t>one</a:t>
            </a:r>
            <a:r>
              <a:rPr lang="en-US" dirty="0"/>
              <a:t>-to-</a:t>
            </a:r>
            <a:r>
              <a:rPr lang="en-US" dirty="0">
                <a:solidFill>
                  <a:srgbClr val="F5821B"/>
                </a:solidFill>
              </a:rPr>
              <a:t>one</a:t>
            </a:r>
            <a:r>
              <a:rPr lang="en-US" dirty="0"/>
              <a:t> relationship (with any participation constraints): </a:t>
            </a:r>
            <a:endParaRPr lang="en-US" dirty="0" smtClean="0"/>
          </a:p>
          <a:p>
            <a:pPr marL="457200" indent="-457200">
              <a:buFont typeface="+mj-lt"/>
              <a:buAutoNum type="arabicPeriod"/>
            </a:pPr>
            <a:r>
              <a:rPr lang="en-US" dirty="0" smtClean="0"/>
              <a:t>Each </a:t>
            </a:r>
            <a:r>
              <a:rPr lang="en-US" dirty="0"/>
              <a:t>department has </a:t>
            </a:r>
            <a:r>
              <a:rPr lang="en-US" dirty="0">
                <a:solidFill>
                  <a:srgbClr val="F5821B"/>
                </a:solidFill>
              </a:rPr>
              <a:t>one</a:t>
            </a:r>
            <a:r>
              <a:rPr lang="en-US" dirty="0"/>
              <a:t> department head only; and </a:t>
            </a:r>
            <a:endParaRPr lang="en-US" dirty="0" smtClean="0"/>
          </a:p>
          <a:p>
            <a:pPr marL="457200" indent="-457200">
              <a:buFont typeface="+mj-lt"/>
              <a:buAutoNum type="arabicPeriod"/>
            </a:pPr>
            <a:r>
              <a:rPr lang="en-US" dirty="0" smtClean="0"/>
              <a:t>A </a:t>
            </a:r>
            <a:r>
              <a:rPr lang="en-US" dirty="0"/>
              <a:t>classroom may belong to </a:t>
            </a:r>
            <a:r>
              <a:rPr lang="en-US" dirty="0">
                <a:solidFill>
                  <a:srgbClr val="F5821B"/>
                </a:solidFill>
              </a:rPr>
              <a:t>a</a:t>
            </a:r>
            <a:r>
              <a:rPr lang="en-US" dirty="0"/>
              <a:t> class, while every class has </a:t>
            </a:r>
            <a:r>
              <a:rPr lang="en-US" dirty="0">
                <a:solidFill>
                  <a:srgbClr val="F5821B"/>
                </a:solidFill>
              </a:rPr>
              <a:t>a</a:t>
            </a:r>
            <a:r>
              <a:rPr lang="en-US" dirty="0"/>
              <a:t> classroom</a:t>
            </a:r>
            <a:r>
              <a:rPr lang="en-US" dirty="0" smtClean="0"/>
              <a:t>.</a:t>
            </a:r>
          </a:p>
          <a:p>
            <a:endParaRPr lang="en-US" dirty="0"/>
          </a:p>
          <a:p>
            <a:r>
              <a:rPr lang="en-US" dirty="0"/>
              <a:t>Here are some real life examples of </a:t>
            </a:r>
            <a:r>
              <a:rPr lang="en-US" dirty="0">
                <a:solidFill>
                  <a:srgbClr val="F5821B"/>
                </a:solidFill>
              </a:rPr>
              <a:t>one</a:t>
            </a:r>
            <a:r>
              <a:rPr lang="en-US" dirty="0"/>
              <a:t>-to-</a:t>
            </a:r>
            <a:r>
              <a:rPr lang="en-US" dirty="0">
                <a:solidFill>
                  <a:srgbClr val="145897"/>
                </a:solidFill>
              </a:rPr>
              <a:t>many</a:t>
            </a:r>
            <a:r>
              <a:rPr lang="en-US" dirty="0"/>
              <a:t> relationship (with any </a:t>
            </a:r>
            <a:r>
              <a:rPr lang="en-US" dirty="0" smtClean="0"/>
              <a:t>participation </a:t>
            </a:r>
            <a:r>
              <a:rPr lang="en-US" dirty="0"/>
              <a:t>constraints):</a:t>
            </a:r>
          </a:p>
          <a:p>
            <a:pPr marL="457200" indent="-457200">
              <a:buFont typeface="+mj-lt"/>
              <a:buAutoNum type="arabicPeriod"/>
            </a:pPr>
            <a:r>
              <a:rPr lang="en-US" dirty="0" smtClean="0"/>
              <a:t>Each </a:t>
            </a:r>
            <a:r>
              <a:rPr lang="en-US" dirty="0"/>
              <a:t>department has </a:t>
            </a:r>
            <a:r>
              <a:rPr lang="en-US" dirty="0">
                <a:solidFill>
                  <a:srgbClr val="145897"/>
                </a:solidFill>
              </a:rPr>
              <a:t>one or more</a:t>
            </a:r>
            <a:r>
              <a:rPr lang="en-US" dirty="0"/>
              <a:t> employees; and</a:t>
            </a:r>
          </a:p>
          <a:p>
            <a:pPr marL="457200" indent="-457200">
              <a:buFont typeface="+mj-lt"/>
              <a:buAutoNum type="arabicPeriod"/>
            </a:pPr>
            <a:r>
              <a:rPr lang="en-US" dirty="0" smtClean="0"/>
              <a:t>A </a:t>
            </a:r>
            <a:r>
              <a:rPr lang="en-US" dirty="0"/>
              <a:t>school has </a:t>
            </a:r>
            <a:r>
              <a:rPr lang="en-US" dirty="0">
                <a:solidFill>
                  <a:srgbClr val="145897"/>
                </a:solidFill>
              </a:rPr>
              <a:t>multiple</a:t>
            </a:r>
            <a:r>
              <a:rPr lang="en-US" dirty="0"/>
              <a:t> classrooms.</a:t>
            </a:r>
          </a:p>
        </p:txBody>
      </p:sp>
    </p:spTree>
    <p:extLst>
      <p:ext uri="{BB962C8B-B14F-4D97-AF65-F5344CB8AC3E}">
        <p14:creationId xmlns:p14="http://schemas.microsoft.com/office/powerpoint/2010/main" val="21118529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One-to-one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27</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If there is a </a:t>
            </a:r>
            <a:r>
              <a:rPr lang="en-US" dirty="0">
                <a:solidFill>
                  <a:srgbClr val="F5821B"/>
                </a:solidFill>
              </a:rPr>
              <a:t>one</a:t>
            </a:r>
            <a:r>
              <a:rPr lang="en-US" dirty="0"/>
              <a:t>-to-</a:t>
            </a:r>
            <a:r>
              <a:rPr lang="en-US" dirty="0">
                <a:solidFill>
                  <a:srgbClr val="F5821B"/>
                </a:solidFill>
              </a:rPr>
              <a:t>one</a:t>
            </a:r>
            <a:r>
              <a:rPr lang="en-US" dirty="0"/>
              <a:t> relationship between entity type A and entity type B, it means that for each entity a, there can be at most </a:t>
            </a:r>
            <a:r>
              <a:rPr lang="en-US" dirty="0">
                <a:solidFill>
                  <a:srgbClr val="F5821B"/>
                </a:solidFill>
              </a:rPr>
              <a:t>one</a:t>
            </a:r>
            <a:r>
              <a:rPr lang="en-US" dirty="0"/>
              <a:t> related entity b and vice versa</a:t>
            </a:r>
            <a:r>
              <a:rPr lang="en-US" dirty="0" smtClean="0"/>
              <a:t>.</a:t>
            </a:r>
          </a:p>
          <a:p>
            <a:endParaRPr lang="en-US" dirty="0"/>
          </a:p>
        </p:txBody>
      </p:sp>
    </p:spTree>
    <p:extLst>
      <p:ext uri="{BB962C8B-B14F-4D97-AF65-F5344CB8AC3E}">
        <p14:creationId xmlns:p14="http://schemas.microsoft.com/office/powerpoint/2010/main" val="37663615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One-to-one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28</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A real life example is the relationship between schools and school principals:</a:t>
            </a:r>
          </a:p>
          <a:p>
            <a:pPr marL="342900" indent="-342900">
              <a:buFont typeface="Arial" panose="020B0604020202020204" pitchFamily="34" charset="0"/>
              <a:buChar char="•"/>
            </a:pPr>
            <a:r>
              <a:rPr lang="en-US" dirty="0"/>
              <a:t>For each school, there </a:t>
            </a:r>
            <a:r>
              <a:rPr lang="en-US" dirty="0">
                <a:solidFill>
                  <a:srgbClr val="F14B2A"/>
                </a:solidFill>
              </a:rPr>
              <a:t>must</a:t>
            </a:r>
            <a:r>
              <a:rPr lang="en-US" dirty="0"/>
              <a:t> be </a:t>
            </a:r>
            <a:r>
              <a:rPr lang="en-US" dirty="0">
                <a:solidFill>
                  <a:srgbClr val="F5821B"/>
                </a:solidFill>
              </a:rPr>
              <a:t>exactly one</a:t>
            </a:r>
            <a:r>
              <a:rPr lang="en-US" dirty="0"/>
              <a:t> school principal; and</a:t>
            </a:r>
          </a:p>
          <a:p>
            <a:pPr marL="342900" indent="-342900">
              <a:buFont typeface="Arial" panose="020B0604020202020204" pitchFamily="34" charset="0"/>
              <a:buChar char="•"/>
            </a:pPr>
            <a:r>
              <a:rPr lang="en-US" dirty="0"/>
              <a:t>Each school principal </a:t>
            </a:r>
            <a:r>
              <a:rPr lang="en-US" dirty="0">
                <a:solidFill>
                  <a:srgbClr val="F14B2A"/>
                </a:solidFill>
              </a:rPr>
              <a:t>must</a:t>
            </a:r>
            <a:r>
              <a:rPr lang="en-US" dirty="0"/>
              <a:t> belong to </a:t>
            </a:r>
            <a:r>
              <a:rPr lang="en-US" dirty="0">
                <a:solidFill>
                  <a:srgbClr val="F5821B"/>
                </a:solidFill>
              </a:rPr>
              <a:t>exactly one</a:t>
            </a:r>
            <a:r>
              <a:rPr lang="en-US" dirty="0"/>
              <a:t> school.</a:t>
            </a:r>
          </a:p>
          <a:p>
            <a:endParaRPr lang="en-US" dirty="0"/>
          </a:p>
        </p:txBody>
      </p:sp>
      <p:pic>
        <p:nvPicPr>
          <p:cNvPr id="6" name="Picture 5"/>
          <p:cNvPicPr>
            <a:picLocks noChangeAspect="1"/>
          </p:cNvPicPr>
          <p:nvPr/>
        </p:nvPicPr>
        <p:blipFill>
          <a:blip r:embed="rId2"/>
          <a:stretch>
            <a:fillRect/>
          </a:stretch>
        </p:blipFill>
        <p:spPr>
          <a:xfrm>
            <a:off x="1324800" y="3110389"/>
            <a:ext cx="9608849" cy="1677622"/>
          </a:xfrm>
          <a:prstGeom prst="rect">
            <a:avLst/>
          </a:prstGeom>
        </p:spPr>
      </p:pic>
      <p:pic>
        <p:nvPicPr>
          <p:cNvPr id="7" name="Picture 6"/>
          <p:cNvPicPr>
            <a:picLocks noChangeAspect="1"/>
          </p:cNvPicPr>
          <p:nvPr/>
        </p:nvPicPr>
        <p:blipFill>
          <a:blip r:embed="rId3"/>
          <a:stretch>
            <a:fillRect/>
          </a:stretch>
        </p:blipFill>
        <p:spPr>
          <a:xfrm>
            <a:off x="1662305" y="5130011"/>
            <a:ext cx="8868590" cy="1102449"/>
          </a:xfrm>
          <a:prstGeom prst="rect">
            <a:avLst/>
          </a:prstGeom>
        </p:spPr>
      </p:pic>
    </p:spTree>
    <p:extLst>
      <p:ext uri="{BB962C8B-B14F-4D97-AF65-F5344CB8AC3E}">
        <p14:creationId xmlns:p14="http://schemas.microsoft.com/office/powerpoint/2010/main" val="26376338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One-to-one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29</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Since schools and school principals have a one-to-one relationship, we may store the school principal’s name as an attribute of schools, if we are NOT interested in storing any additional data about the school principals.</a:t>
            </a:r>
          </a:p>
        </p:txBody>
      </p:sp>
      <p:pic>
        <p:nvPicPr>
          <p:cNvPr id="6" name="Picture 5"/>
          <p:cNvPicPr>
            <a:picLocks noChangeAspect="1"/>
          </p:cNvPicPr>
          <p:nvPr/>
        </p:nvPicPr>
        <p:blipFill>
          <a:blip r:embed="rId2"/>
          <a:stretch>
            <a:fillRect/>
          </a:stretch>
        </p:blipFill>
        <p:spPr>
          <a:xfrm>
            <a:off x="2573165" y="2901376"/>
            <a:ext cx="6534635" cy="3489661"/>
          </a:xfrm>
          <a:prstGeom prst="rect">
            <a:avLst/>
          </a:prstGeom>
        </p:spPr>
      </p:pic>
    </p:spTree>
    <p:extLst>
      <p:ext uri="{BB962C8B-B14F-4D97-AF65-F5344CB8AC3E}">
        <p14:creationId xmlns:p14="http://schemas.microsoft.com/office/powerpoint/2010/main" val="42422916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One-to-one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30</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By doing so, school principals will no longer be a separate entity type. Instead, their names become an attribute of schools</a:t>
            </a:r>
            <a:r>
              <a:rPr lang="en-US" dirty="0" smtClean="0"/>
              <a:t>.</a:t>
            </a:r>
          </a:p>
          <a:p>
            <a:endParaRPr lang="en-US" dirty="0"/>
          </a:p>
          <a:p>
            <a:endParaRPr lang="en-US" dirty="0" smtClean="0"/>
          </a:p>
          <a:p>
            <a:endParaRPr lang="en-US" dirty="0" smtClean="0"/>
          </a:p>
          <a:p>
            <a:endParaRPr lang="en-US" dirty="0"/>
          </a:p>
          <a:p>
            <a:endParaRPr lang="en-US" dirty="0"/>
          </a:p>
          <a:p>
            <a:r>
              <a:rPr lang="en-US" dirty="0"/>
              <a:t>Such an approach trades flexibility and the level of details for simplicity and performance. It should be proceeded with caution.</a:t>
            </a:r>
          </a:p>
        </p:txBody>
      </p:sp>
      <p:pic>
        <p:nvPicPr>
          <p:cNvPr id="6" name="Picture 5"/>
          <p:cNvPicPr>
            <a:picLocks noChangeAspect="1"/>
          </p:cNvPicPr>
          <p:nvPr/>
        </p:nvPicPr>
        <p:blipFill>
          <a:blip r:embed="rId2"/>
          <a:stretch>
            <a:fillRect/>
          </a:stretch>
        </p:blipFill>
        <p:spPr>
          <a:xfrm>
            <a:off x="3258485" y="3180312"/>
            <a:ext cx="4173093" cy="796344"/>
          </a:xfrm>
          <a:prstGeom prst="rect">
            <a:avLst/>
          </a:prstGeom>
        </p:spPr>
      </p:pic>
    </p:spTree>
    <p:extLst>
      <p:ext uri="{BB962C8B-B14F-4D97-AF65-F5344CB8AC3E}">
        <p14:creationId xmlns:p14="http://schemas.microsoft.com/office/powerpoint/2010/main" val="37789853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One-to-one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31</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smtClean="0"/>
              <a:t>Another </a:t>
            </a:r>
            <a:r>
              <a:rPr lang="en-US" dirty="0"/>
              <a:t>real life example is the relationship between teachers and classes:</a:t>
            </a:r>
          </a:p>
          <a:p>
            <a:pPr marL="342900" indent="-342900">
              <a:buFont typeface="Arial" panose="020B0604020202020204" pitchFamily="34" charset="0"/>
              <a:buChar char="•"/>
            </a:pPr>
            <a:r>
              <a:rPr lang="en-US" dirty="0" smtClean="0"/>
              <a:t>A </a:t>
            </a:r>
            <a:r>
              <a:rPr lang="en-US" dirty="0"/>
              <a:t>teacher </a:t>
            </a:r>
            <a:r>
              <a:rPr lang="en-US" dirty="0">
                <a:solidFill>
                  <a:srgbClr val="4FA255"/>
                </a:solidFill>
              </a:rPr>
              <a:t>may</a:t>
            </a:r>
            <a:r>
              <a:rPr lang="en-US" dirty="0"/>
              <a:t> only be assigned </a:t>
            </a:r>
            <a:r>
              <a:rPr lang="en-US" dirty="0">
                <a:solidFill>
                  <a:srgbClr val="F5821B"/>
                </a:solidFill>
              </a:rPr>
              <a:t>exactly one</a:t>
            </a:r>
            <a:r>
              <a:rPr lang="en-US" dirty="0"/>
              <a:t> class, </a:t>
            </a:r>
            <a:r>
              <a:rPr lang="en-US" dirty="0">
                <a:solidFill>
                  <a:srgbClr val="4FA255"/>
                </a:solidFill>
              </a:rPr>
              <a:t>or none at all</a:t>
            </a:r>
            <a:r>
              <a:rPr lang="en-US" dirty="0"/>
              <a:t>; and</a:t>
            </a:r>
          </a:p>
          <a:p>
            <a:pPr marL="342900" indent="-342900">
              <a:buFont typeface="Arial" panose="020B0604020202020204" pitchFamily="34" charset="0"/>
              <a:buChar char="•"/>
            </a:pPr>
            <a:r>
              <a:rPr lang="en-US" dirty="0" smtClean="0"/>
              <a:t>For </a:t>
            </a:r>
            <a:r>
              <a:rPr lang="en-US" dirty="0"/>
              <a:t>each class, there </a:t>
            </a:r>
            <a:r>
              <a:rPr lang="en-US" dirty="0">
                <a:solidFill>
                  <a:srgbClr val="F14B2A"/>
                </a:solidFill>
              </a:rPr>
              <a:t>must</a:t>
            </a:r>
            <a:r>
              <a:rPr lang="en-US" dirty="0"/>
              <a:t> be </a:t>
            </a:r>
            <a:r>
              <a:rPr lang="en-US" dirty="0">
                <a:solidFill>
                  <a:srgbClr val="F5821B"/>
                </a:solidFill>
              </a:rPr>
              <a:t>exactly one</a:t>
            </a:r>
            <a:r>
              <a:rPr lang="en-US" dirty="0"/>
              <a:t> class teacher.</a:t>
            </a:r>
          </a:p>
        </p:txBody>
      </p:sp>
      <p:pic>
        <p:nvPicPr>
          <p:cNvPr id="6" name="Picture 5"/>
          <p:cNvPicPr>
            <a:picLocks noChangeAspect="1"/>
          </p:cNvPicPr>
          <p:nvPr/>
        </p:nvPicPr>
        <p:blipFill>
          <a:blip r:embed="rId2"/>
          <a:stretch>
            <a:fillRect/>
          </a:stretch>
        </p:blipFill>
        <p:spPr>
          <a:xfrm>
            <a:off x="1324800" y="3123505"/>
            <a:ext cx="9764391" cy="1940410"/>
          </a:xfrm>
          <a:prstGeom prst="rect">
            <a:avLst/>
          </a:prstGeom>
        </p:spPr>
      </p:pic>
      <p:pic>
        <p:nvPicPr>
          <p:cNvPr id="7" name="Picture 6"/>
          <p:cNvPicPr>
            <a:picLocks noChangeAspect="1"/>
          </p:cNvPicPr>
          <p:nvPr/>
        </p:nvPicPr>
        <p:blipFill>
          <a:blip r:embed="rId3"/>
          <a:stretch>
            <a:fillRect/>
          </a:stretch>
        </p:blipFill>
        <p:spPr>
          <a:xfrm>
            <a:off x="2486942" y="5268612"/>
            <a:ext cx="7440106" cy="937657"/>
          </a:xfrm>
          <a:prstGeom prst="rect">
            <a:avLst/>
          </a:prstGeom>
        </p:spPr>
      </p:pic>
    </p:spTree>
    <p:extLst>
      <p:ext uri="{BB962C8B-B14F-4D97-AF65-F5344CB8AC3E}">
        <p14:creationId xmlns:p14="http://schemas.microsoft.com/office/powerpoint/2010/main" val="336392131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One-to-one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32</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Example data of the tables </a:t>
            </a:r>
            <a:r>
              <a:rPr lang="en-US" dirty="0">
                <a:latin typeface="Courier New" panose="02070309020205020404" pitchFamily="49" charset="0"/>
                <a:cs typeface="Courier New" panose="02070309020205020404" pitchFamily="49" charset="0"/>
              </a:rPr>
              <a:t>TEACHER</a:t>
            </a:r>
            <a:r>
              <a:rPr lang="en-US" dirty="0"/>
              <a:t> and </a:t>
            </a:r>
            <a:r>
              <a:rPr lang="en-US" dirty="0">
                <a:latin typeface="Courier New" panose="02070309020205020404" pitchFamily="49" charset="0"/>
                <a:cs typeface="Courier New" panose="02070309020205020404" pitchFamily="49" charset="0"/>
              </a:rPr>
              <a:t>CLASS</a:t>
            </a:r>
            <a:r>
              <a:rPr lang="en-US" dirty="0" smtClean="0"/>
              <a:t>:</a:t>
            </a:r>
            <a:endParaRPr lang="en-US" dirty="0"/>
          </a:p>
        </p:txBody>
      </p:sp>
      <p:pic>
        <p:nvPicPr>
          <p:cNvPr id="6" name="Picture 5"/>
          <p:cNvPicPr>
            <a:picLocks noChangeAspect="1"/>
          </p:cNvPicPr>
          <p:nvPr/>
        </p:nvPicPr>
        <p:blipFill>
          <a:blip r:embed="rId2"/>
          <a:stretch>
            <a:fillRect/>
          </a:stretch>
        </p:blipFill>
        <p:spPr>
          <a:xfrm>
            <a:off x="1918800" y="2429309"/>
            <a:ext cx="7615002" cy="2086413"/>
          </a:xfrm>
          <a:prstGeom prst="rect">
            <a:avLst/>
          </a:prstGeom>
        </p:spPr>
      </p:pic>
    </p:spTree>
    <p:extLst>
      <p:ext uri="{BB962C8B-B14F-4D97-AF65-F5344CB8AC3E}">
        <p14:creationId xmlns:p14="http://schemas.microsoft.com/office/powerpoint/2010/main" val="38182083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33</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If there is a </a:t>
            </a:r>
            <a:r>
              <a:rPr lang="en-US" dirty="0">
                <a:solidFill>
                  <a:srgbClr val="F5821B"/>
                </a:solidFill>
              </a:rPr>
              <a:t>one</a:t>
            </a:r>
            <a:r>
              <a:rPr lang="en-US" dirty="0"/>
              <a:t>-to-</a:t>
            </a:r>
            <a:r>
              <a:rPr lang="en-US" dirty="0">
                <a:solidFill>
                  <a:srgbClr val="145897"/>
                </a:solidFill>
              </a:rPr>
              <a:t>many</a:t>
            </a:r>
            <a:r>
              <a:rPr lang="en-US" dirty="0"/>
              <a:t> relationship between entity type A and entity type </a:t>
            </a:r>
            <a:r>
              <a:rPr lang="en-US" dirty="0" smtClean="0"/>
              <a:t>B</a:t>
            </a:r>
            <a:r>
              <a:rPr lang="en-US" dirty="0"/>
              <a:t>, it means that:</a:t>
            </a:r>
          </a:p>
          <a:p>
            <a:pPr marL="342900" indent="-342900">
              <a:buFont typeface="Arial" panose="020B0604020202020204" pitchFamily="34" charset="0"/>
              <a:buChar char="•"/>
            </a:pPr>
            <a:r>
              <a:rPr lang="en-US" dirty="0" smtClean="0"/>
              <a:t>For </a:t>
            </a:r>
            <a:r>
              <a:rPr lang="en-US" dirty="0"/>
              <a:t>each entity a, there can be </a:t>
            </a:r>
            <a:r>
              <a:rPr lang="en-US" dirty="0">
                <a:solidFill>
                  <a:srgbClr val="145897"/>
                </a:solidFill>
              </a:rPr>
              <a:t>many</a:t>
            </a:r>
            <a:r>
              <a:rPr lang="en-US" dirty="0"/>
              <a:t> related entity b; and</a:t>
            </a:r>
          </a:p>
          <a:p>
            <a:pPr marL="342900" indent="-342900">
              <a:buFont typeface="Arial" panose="020B0604020202020204" pitchFamily="34" charset="0"/>
              <a:buChar char="•"/>
            </a:pPr>
            <a:r>
              <a:rPr lang="en-US" dirty="0" smtClean="0"/>
              <a:t>For </a:t>
            </a:r>
            <a:r>
              <a:rPr lang="en-US" dirty="0"/>
              <a:t>each entity b, there can be at most </a:t>
            </a:r>
            <a:r>
              <a:rPr lang="en-US" dirty="0">
                <a:solidFill>
                  <a:srgbClr val="F5821B"/>
                </a:solidFill>
              </a:rPr>
              <a:t>one</a:t>
            </a:r>
            <a:r>
              <a:rPr lang="en-US" dirty="0"/>
              <a:t> related entity a.</a:t>
            </a:r>
          </a:p>
        </p:txBody>
      </p:sp>
    </p:spTree>
    <p:extLst>
      <p:ext uri="{BB962C8B-B14F-4D97-AF65-F5344CB8AC3E}">
        <p14:creationId xmlns:p14="http://schemas.microsoft.com/office/powerpoint/2010/main" val="3721855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34</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A real life example is the relationship between classes and students:</a:t>
            </a:r>
          </a:p>
          <a:p>
            <a:pPr marL="342900" indent="-342900">
              <a:buFont typeface="Arial" panose="020B0604020202020204" pitchFamily="34" charset="0"/>
              <a:buChar char="•"/>
            </a:pPr>
            <a:r>
              <a:rPr lang="en-US" dirty="0" smtClean="0"/>
              <a:t>Each </a:t>
            </a:r>
            <a:r>
              <a:rPr lang="en-US" dirty="0"/>
              <a:t>class </a:t>
            </a:r>
            <a:r>
              <a:rPr lang="en-US" dirty="0">
                <a:solidFill>
                  <a:srgbClr val="F14B2A"/>
                </a:solidFill>
              </a:rPr>
              <a:t>must</a:t>
            </a:r>
            <a:r>
              <a:rPr lang="en-US" dirty="0"/>
              <a:t> have </a:t>
            </a:r>
            <a:r>
              <a:rPr lang="en-US" dirty="0">
                <a:solidFill>
                  <a:srgbClr val="145897"/>
                </a:solidFill>
              </a:rPr>
              <a:t>at least one, if not many, </a:t>
            </a:r>
            <a:r>
              <a:rPr lang="en-US" dirty="0"/>
              <a:t>students; and</a:t>
            </a:r>
          </a:p>
          <a:p>
            <a:pPr marL="342900" indent="-342900">
              <a:buFont typeface="Arial" panose="020B0604020202020204" pitchFamily="34" charset="0"/>
              <a:buChar char="•"/>
            </a:pPr>
            <a:r>
              <a:rPr lang="en-US" dirty="0" smtClean="0"/>
              <a:t>Each </a:t>
            </a:r>
            <a:r>
              <a:rPr lang="en-US" dirty="0"/>
              <a:t>student </a:t>
            </a:r>
            <a:r>
              <a:rPr lang="en-US" dirty="0">
                <a:solidFill>
                  <a:srgbClr val="F14B2A"/>
                </a:solidFill>
              </a:rPr>
              <a:t>must</a:t>
            </a:r>
            <a:r>
              <a:rPr lang="en-US" dirty="0"/>
              <a:t> belong to </a:t>
            </a:r>
            <a:r>
              <a:rPr lang="en-US" dirty="0">
                <a:solidFill>
                  <a:srgbClr val="F5821B"/>
                </a:solidFill>
              </a:rPr>
              <a:t>exactly one</a:t>
            </a:r>
            <a:r>
              <a:rPr lang="en-US" dirty="0"/>
              <a:t> class.</a:t>
            </a:r>
          </a:p>
        </p:txBody>
      </p:sp>
      <p:pic>
        <p:nvPicPr>
          <p:cNvPr id="6" name="Picture 5"/>
          <p:cNvPicPr>
            <a:picLocks noChangeAspect="1"/>
          </p:cNvPicPr>
          <p:nvPr/>
        </p:nvPicPr>
        <p:blipFill>
          <a:blip r:embed="rId2"/>
          <a:stretch>
            <a:fillRect/>
          </a:stretch>
        </p:blipFill>
        <p:spPr>
          <a:xfrm>
            <a:off x="838800" y="3230730"/>
            <a:ext cx="5043565" cy="1451339"/>
          </a:xfrm>
          <a:prstGeom prst="rect">
            <a:avLst/>
          </a:prstGeom>
        </p:spPr>
      </p:pic>
      <p:pic>
        <p:nvPicPr>
          <p:cNvPr id="7" name="Picture 6"/>
          <p:cNvPicPr>
            <a:picLocks noChangeAspect="1"/>
          </p:cNvPicPr>
          <p:nvPr/>
        </p:nvPicPr>
        <p:blipFill>
          <a:blip r:embed="rId3"/>
          <a:stretch>
            <a:fillRect/>
          </a:stretch>
        </p:blipFill>
        <p:spPr>
          <a:xfrm>
            <a:off x="5945859" y="3230730"/>
            <a:ext cx="5089625" cy="1451339"/>
          </a:xfrm>
          <a:prstGeom prst="rect">
            <a:avLst/>
          </a:prstGeom>
        </p:spPr>
      </p:pic>
      <p:pic>
        <p:nvPicPr>
          <p:cNvPr id="8" name="Picture 7"/>
          <p:cNvPicPr>
            <a:picLocks noChangeAspect="1"/>
          </p:cNvPicPr>
          <p:nvPr/>
        </p:nvPicPr>
        <p:blipFill>
          <a:blip r:embed="rId4"/>
          <a:stretch>
            <a:fillRect/>
          </a:stretch>
        </p:blipFill>
        <p:spPr>
          <a:xfrm>
            <a:off x="2029223" y="5024069"/>
            <a:ext cx="7706284" cy="1011936"/>
          </a:xfrm>
          <a:prstGeom prst="rect">
            <a:avLst/>
          </a:prstGeom>
        </p:spPr>
      </p:pic>
    </p:spTree>
    <p:extLst>
      <p:ext uri="{BB962C8B-B14F-4D97-AF65-F5344CB8AC3E}">
        <p14:creationId xmlns:p14="http://schemas.microsoft.com/office/powerpoint/2010/main" val="938743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35</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Example data of the tables </a:t>
            </a:r>
            <a:r>
              <a:rPr lang="en-US" dirty="0">
                <a:latin typeface="Courier New" panose="02070309020205020404" pitchFamily="49" charset="0"/>
                <a:cs typeface="Courier New" panose="02070309020205020404" pitchFamily="49" charset="0"/>
              </a:rPr>
              <a:t>STUDENT</a:t>
            </a:r>
            <a:r>
              <a:rPr lang="en-US" dirty="0"/>
              <a:t> and </a:t>
            </a:r>
            <a:r>
              <a:rPr lang="en-US" dirty="0">
                <a:latin typeface="Courier New" panose="02070309020205020404" pitchFamily="49" charset="0"/>
                <a:cs typeface="Courier New" panose="02070309020205020404" pitchFamily="49" charset="0"/>
              </a:rPr>
              <a:t>CLASS</a:t>
            </a:r>
            <a:r>
              <a:rPr lang="en-US" dirty="0" smtClean="0"/>
              <a:t>:</a:t>
            </a:r>
            <a:endParaRPr lang="en-US" dirty="0"/>
          </a:p>
        </p:txBody>
      </p:sp>
      <p:pic>
        <p:nvPicPr>
          <p:cNvPr id="6" name="Picture 5"/>
          <p:cNvPicPr>
            <a:picLocks noChangeAspect="1"/>
          </p:cNvPicPr>
          <p:nvPr/>
        </p:nvPicPr>
        <p:blipFill>
          <a:blip r:embed="rId2"/>
          <a:stretch>
            <a:fillRect/>
          </a:stretch>
        </p:blipFill>
        <p:spPr>
          <a:xfrm>
            <a:off x="2243199" y="2495903"/>
            <a:ext cx="7706801" cy="2381582"/>
          </a:xfrm>
          <a:prstGeom prst="rect">
            <a:avLst/>
          </a:prstGeom>
        </p:spPr>
      </p:pic>
    </p:spTree>
    <p:extLst>
      <p:ext uri="{BB962C8B-B14F-4D97-AF65-F5344CB8AC3E}">
        <p14:creationId xmlns:p14="http://schemas.microsoft.com/office/powerpoint/2010/main" val="25164765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36</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solidFill>
                  <a:srgbClr val="F5821B"/>
                </a:solidFill>
              </a:rPr>
              <a:t>One</a:t>
            </a:r>
            <a:r>
              <a:rPr lang="en-US" dirty="0"/>
              <a:t>-to-</a:t>
            </a:r>
            <a:r>
              <a:rPr lang="en-US" dirty="0">
                <a:solidFill>
                  <a:srgbClr val="145897"/>
                </a:solidFill>
              </a:rPr>
              <a:t>many</a:t>
            </a:r>
            <a:r>
              <a:rPr lang="en-US" dirty="0"/>
              <a:t> relationship can also be seen as </a:t>
            </a:r>
            <a:r>
              <a:rPr lang="en-US" dirty="0">
                <a:solidFill>
                  <a:srgbClr val="145897"/>
                </a:solidFill>
              </a:rPr>
              <a:t>many</a:t>
            </a:r>
            <a:r>
              <a:rPr lang="en-US" dirty="0"/>
              <a:t>-to-</a:t>
            </a:r>
            <a:r>
              <a:rPr lang="en-US" dirty="0">
                <a:solidFill>
                  <a:srgbClr val="F5821B"/>
                </a:solidFill>
              </a:rPr>
              <a:t>one</a:t>
            </a:r>
            <a:r>
              <a:rPr lang="en-US" dirty="0"/>
              <a:t> relationship if </a:t>
            </a:r>
            <a:r>
              <a:rPr lang="en-US" dirty="0" smtClean="0"/>
              <a:t>the </a:t>
            </a:r>
            <a:r>
              <a:rPr lang="en-US" dirty="0"/>
              <a:t>position of the two entity types are swapped.</a:t>
            </a:r>
          </a:p>
          <a:p>
            <a:r>
              <a:rPr lang="en-US" dirty="0"/>
              <a:t>It is not recommended to store the data of two entity types with a </a:t>
            </a:r>
            <a:r>
              <a:rPr lang="en-US" dirty="0" smtClean="0">
                <a:solidFill>
                  <a:srgbClr val="F5821B"/>
                </a:solidFill>
              </a:rPr>
              <a:t>one</a:t>
            </a:r>
            <a:r>
              <a:rPr lang="en-US" dirty="0" smtClean="0"/>
              <a:t>-to-</a:t>
            </a:r>
            <a:r>
              <a:rPr lang="en-US" dirty="0" smtClean="0">
                <a:solidFill>
                  <a:srgbClr val="145897"/>
                </a:solidFill>
              </a:rPr>
              <a:t>many</a:t>
            </a:r>
            <a:r>
              <a:rPr lang="en-US" dirty="0" smtClean="0"/>
              <a:t> </a:t>
            </a:r>
            <a:r>
              <a:rPr lang="en-US" dirty="0"/>
              <a:t>relationship in a single </a:t>
            </a:r>
            <a:r>
              <a:rPr lang="en-US" dirty="0" smtClean="0"/>
              <a:t>table.</a:t>
            </a:r>
            <a:endParaRPr lang="en-US" dirty="0"/>
          </a:p>
        </p:txBody>
      </p:sp>
      <p:pic>
        <p:nvPicPr>
          <p:cNvPr id="7" name="Picture 6"/>
          <p:cNvPicPr>
            <a:picLocks noChangeAspect="1"/>
          </p:cNvPicPr>
          <p:nvPr/>
        </p:nvPicPr>
        <p:blipFill>
          <a:blip r:embed="rId2"/>
          <a:stretch>
            <a:fillRect/>
          </a:stretch>
        </p:blipFill>
        <p:spPr>
          <a:xfrm>
            <a:off x="554310" y="3742813"/>
            <a:ext cx="6081990" cy="1881803"/>
          </a:xfrm>
          <a:prstGeom prst="rect">
            <a:avLst/>
          </a:prstGeom>
        </p:spPr>
      </p:pic>
      <p:pic>
        <p:nvPicPr>
          <p:cNvPr id="8" name="Picture 7"/>
          <p:cNvPicPr>
            <a:picLocks noChangeAspect="1"/>
          </p:cNvPicPr>
          <p:nvPr/>
        </p:nvPicPr>
        <p:blipFill>
          <a:blip r:embed="rId3"/>
          <a:stretch>
            <a:fillRect/>
          </a:stretch>
        </p:blipFill>
        <p:spPr>
          <a:xfrm>
            <a:off x="7553228" y="3651821"/>
            <a:ext cx="4220680" cy="1972795"/>
          </a:xfrm>
          <a:prstGeom prst="rect">
            <a:avLst/>
          </a:prstGeom>
        </p:spPr>
      </p:pic>
      <p:pic>
        <p:nvPicPr>
          <p:cNvPr id="9" name="Picture 8"/>
          <p:cNvPicPr>
            <a:picLocks noChangeAspect="1"/>
          </p:cNvPicPr>
          <p:nvPr/>
        </p:nvPicPr>
        <p:blipFill>
          <a:blip r:embed="rId4"/>
          <a:stretch>
            <a:fillRect/>
          </a:stretch>
        </p:blipFill>
        <p:spPr>
          <a:xfrm rot="16200000">
            <a:off x="6820497" y="4262939"/>
            <a:ext cx="548533" cy="518477"/>
          </a:xfrm>
          <a:prstGeom prst="rect">
            <a:avLst/>
          </a:prstGeom>
        </p:spPr>
      </p:pic>
    </p:spTree>
    <p:extLst>
      <p:ext uri="{BB962C8B-B14F-4D97-AF65-F5344CB8AC3E}">
        <p14:creationId xmlns:p14="http://schemas.microsoft.com/office/powerpoint/2010/main" val="40811183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37</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smtClean="0"/>
              <a:t>Another </a:t>
            </a:r>
            <a:r>
              <a:rPr lang="en-US" dirty="0"/>
              <a:t>real life example is the relationship between citizens and crime records:</a:t>
            </a:r>
          </a:p>
          <a:p>
            <a:pPr marL="342900" indent="-342900">
              <a:buFont typeface="Arial" panose="020B0604020202020204" pitchFamily="34" charset="0"/>
              <a:buChar char="•"/>
            </a:pPr>
            <a:r>
              <a:rPr lang="en-US" dirty="0" smtClean="0"/>
              <a:t>A </a:t>
            </a:r>
            <a:r>
              <a:rPr lang="en-US" dirty="0"/>
              <a:t>citizen </a:t>
            </a:r>
            <a:r>
              <a:rPr lang="en-US" dirty="0">
                <a:solidFill>
                  <a:srgbClr val="4FA255"/>
                </a:solidFill>
              </a:rPr>
              <a:t>may</a:t>
            </a:r>
            <a:r>
              <a:rPr lang="en-US" dirty="0"/>
              <a:t> have </a:t>
            </a:r>
            <a:r>
              <a:rPr lang="en-US" dirty="0">
                <a:solidFill>
                  <a:srgbClr val="145897"/>
                </a:solidFill>
              </a:rPr>
              <a:t>many</a:t>
            </a:r>
            <a:r>
              <a:rPr lang="en-US" dirty="0"/>
              <a:t> criminal records, or none at all; and</a:t>
            </a:r>
          </a:p>
          <a:p>
            <a:pPr marL="342900" indent="-342900">
              <a:buFont typeface="Arial" panose="020B0604020202020204" pitchFamily="34" charset="0"/>
              <a:buChar char="•"/>
            </a:pPr>
            <a:r>
              <a:rPr lang="en-US" dirty="0" smtClean="0"/>
              <a:t>Each </a:t>
            </a:r>
            <a:r>
              <a:rPr lang="en-US" dirty="0"/>
              <a:t>criminal record </a:t>
            </a:r>
            <a:r>
              <a:rPr lang="en-US" dirty="0">
                <a:solidFill>
                  <a:srgbClr val="F14B2A"/>
                </a:solidFill>
              </a:rPr>
              <a:t>must</a:t>
            </a:r>
            <a:r>
              <a:rPr lang="en-US" dirty="0"/>
              <a:t> belong to </a:t>
            </a:r>
            <a:r>
              <a:rPr lang="en-US" dirty="0">
                <a:solidFill>
                  <a:srgbClr val="F5821B"/>
                </a:solidFill>
              </a:rPr>
              <a:t>exactly one</a:t>
            </a:r>
            <a:r>
              <a:rPr lang="en-US" dirty="0"/>
              <a:t> citizen.</a:t>
            </a:r>
          </a:p>
        </p:txBody>
      </p:sp>
      <p:pic>
        <p:nvPicPr>
          <p:cNvPr id="7" name="Picture 6"/>
          <p:cNvPicPr>
            <a:picLocks noChangeAspect="1"/>
          </p:cNvPicPr>
          <p:nvPr/>
        </p:nvPicPr>
        <p:blipFill>
          <a:blip r:embed="rId2"/>
          <a:stretch>
            <a:fillRect/>
          </a:stretch>
        </p:blipFill>
        <p:spPr>
          <a:xfrm>
            <a:off x="1974595" y="5079357"/>
            <a:ext cx="8244009" cy="957369"/>
          </a:xfrm>
          <a:prstGeom prst="rect">
            <a:avLst/>
          </a:prstGeom>
        </p:spPr>
      </p:pic>
      <p:pic>
        <p:nvPicPr>
          <p:cNvPr id="8" name="Picture 7"/>
          <p:cNvPicPr>
            <a:picLocks noChangeAspect="1"/>
          </p:cNvPicPr>
          <p:nvPr/>
        </p:nvPicPr>
        <p:blipFill>
          <a:blip r:embed="rId3"/>
          <a:stretch>
            <a:fillRect/>
          </a:stretch>
        </p:blipFill>
        <p:spPr>
          <a:xfrm>
            <a:off x="6360850" y="3298087"/>
            <a:ext cx="4307150" cy="1316626"/>
          </a:xfrm>
          <a:prstGeom prst="rect">
            <a:avLst/>
          </a:prstGeom>
        </p:spPr>
      </p:pic>
      <p:pic>
        <p:nvPicPr>
          <p:cNvPr id="9" name="Picture 8"/>
          <p:cNvPicPr>
            <a:picLocks noChangeAspect="1"/>
          </p:cNvPicPr>
          <p:nvPr/>
        </p:nvPicPr>
        <p:blipFill>
          <a:blip r:embed="rId4"/>
          <a:stretch>
            <a:fillRect/>
          </a:stretch>
        </p:blipFill>
        <p:spPr>
          <a:xfrm>
            <a:off x="1442051" y="3299228"/>
            <a:ext cx="4315548" cy="1299944"/>
          </a:xfrm>
          <a:prstGeom prst="rect">
            <a:avLst/>
          </a:prstGeom>
        </p:spPr>
      </p:pic>
    </p:spTree>
    <p:extLst>
      <p:ext uri="{BB962C8B-B14F-4D97-AF65-F5344CB8AC3E}">
        <p14:creationId xmlns:p14="http://schemas.microsoft.com/office/powerpoint/2010/main" val="36979812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38</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Example data of the tables </a:t>
            </a:r>
            <a:r>
              <a:rPr lang="en-US" dirty="0">
                <a:latin typeface="Courier New" panose="02070309020205020404" pitchFamily="49" charset="0"/>
                <a:cs typeface="Courier New" panose="02070309020205020404" pitchFamily="49" charset="0"/>
              </a:rPr>
              <a:t>CITIZEN</a:t>
            </a:r>
            <a:r>
              <a:rPr lang="en-US" dirty="0"/>
              <a:t> and </a:t>
            </a:r>
            <a:r>
              <a:rPr lang="en-US" dirty="0">
                <a:latin typeface="Courier New" panose="02070309020205020404" pitchFamily="49" charset="0"/>
                <a:cs typeface="Courier New" panose="02070309020205020404" pitchFamily="49" charset="0"/>
              </a:rPr>
              <a:t>CRIMINALRECORD</a:t>
            </a:r>
            <a:r>
              <a:rPr lang="en-US" dirty="0" smtClean="0"/>
              <a:t>:</a:t>
            </a:r>
            <a:endParaRPr lang="en-US" dirty="0"/>
          </a:p>
        </p:txBody>
      </p:sp>
      <p:pic>
        <p:nvPicPr>
          <p:cNvPr id="6" name="Picture 5"/>
          <p:cNvPicPr>
            <a:picLocks noChangeAspect="1"/>
          </p:cNvPicPr>
          <p:nvPr/>
        </p:nvPicPr>
        <p:blipFill>
          <a:blip r:embed="rId2"/>
          <a:stretch>
            <a:fillRect/>
          </a:stretch>
        </p:blipFill>
        <p:spPr>
          <a:xfrm>
            <a:off x="1857383" y="2537284"/>
            <a:ext cx="8478433" cy="2514951"/>
          </a:xfrm>
          <a:prstGeom prst="rect">
            <a:avLst/>
          </a:prstGeom>
        </p:spPr>
      </p:pic>
    </p:spTree>
    <p:extLst>
      <p:ext uri="{BB962C8B-B14F-4D97-AF65-F5344CB8AC3E}">
        <p14:creationId xmlns:p14="http://schemas.microsoft.com/office/powerpoint/2010/main" val="14559192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39</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If there is a </a:t>
            </a:r>
            <a:r>
              <a:rPr lang="en-US" dirty="0">
                <a:solidFill>
                  <a:srgbClr val="145897"/>
                </a:solidFill>
              </a:rPr>
              <a:t>many</a:t>
            </a:r>
            <a:r>
              <a:rPr lang="en-US" dirty="0"/>
              <a:t>-to-</a:t>
            </a:r>
            <a:r>
              <a:rPr lang="en-US" dirty="0">
                <a:solidFill>
                  <a:srgbClr val="145897"/>
                </a:solidFill>
              </a:rPr>
              <a:t>many</a:t>
            </a:r>
            <a:r>
              <a:rPr lang="en-US" dirty="0"/>
              <a:t> relationship between entity type A and entity type B, it means that for each entity a, there can be </a:t>
            </a:r>
            <a:r>
              <a:rPr lang="en-US" dirty="0">
                <a:solidFill>
                  <a:srgbClr val="145897"/>
                </a:solidFill>
              </a:rPr>
              <a:t>many</a:t>
            </a:r>
            <a:r>
              <a:rPr lang="en-US" dirty="0"/>
              <a:t> related entity b and vice versa.</a:t>
            </a:r>
          </a:p>
        </p:txBody>
      </p:sp>
    </p:spTree>
    <p:extLst>
      <p:ext uri="{BB962C8B-B14F-4D97-AF65-F5344CB8AC3E}">
        <p14:creationId xmlns:p14="http://schemas.microsoft.com/office/powerpoint/2010/main" val="33361377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40</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A real life example is the relationship between students and elective subjects:</a:t>
            </a:r>
          </a:p>
          <a:p>
            <a:pPr marL="342900" indent="-342900">
              <a:buFont typeface="Arial" panose="020B0604020202020204" pitchFamily="34" charset="0"/>
              <a:buChar char="•"/>
            </a:pPr>
            <a:r>
              <a:rPr lang="en-US" dirty="0" smtClean="0"/>
              <a:t>Each </a:t>
            </a:r>
            <a:r>
              <a:rPr lang="en-US" dirty="0"/>
              <a:t>student </a:t>
            </a:r>
            <a:r>
              <a:rPr lang="en-US" dirty="0">
                <a:solidFill>
                  <a:srgbClr val="F14B2A"/>
                </a:solidFill>
              </a:rPr>
              <a:t>must</a:t>
            </a:r>
            <a:r>
              <a:rPr lang="en-US" dirty="0"/>
              <a:t> </a:t>
            </a:r>
            <a:r>
              <a:rPr lang="en-US" dirty="0" err="1"/>
              <a:t>enrol</a:t>
            </a:r>
            <a:r>
              <a:rPr lang="en-US" dirty="0"/>
              <a:t> in </a:t>
            </a:r>
            <a:r>
              <a:rPr lang="en-US" dirty="0">
                <a:solidFill>
                  <a:srgbClr val="145897"/>
                </a:solidFill>
              </a:rPr>
              <a:t>at least one, if not many,</a:t>
            </a:r>
            <a:r>
              <a:rPr lang="en-US" dirty="0"/>
              <a:t> elective subjects; and</a:t>
            </a:r>
          </a:p>
          <a:p>
            <a:pPr marL="342900" indent="-342900">
              <a:buFont typeface="Arial" panose="020B0604020202020204" pitchFamily="34" charset="0"/>
              <a:buChar char="•"/>
            </a:pPr>
            <a:r>
              <a:rPr lang="en-US" dirty="0" smtClean="0"/>
              <a:t>Each </a:t>
            </a:r>
            <a:r>
              <a:rPr lang="en-US" dirty="0"/>
              <a:t>elective subject </a:t>
            </a:r>
            <a:r>
              <a:rPr lang="en-US" dirty="0">
                <a:solidFill>
                  <a:srgbClr val="F14B2A"/>
                </a:solidFill>
              </a:rPr>
              <a:t>must</a:t>
            </a:r>
            <a:r>
              <a:rPr lang="en-US" dirty="0"/>
              <a:t> be enrolled in by </a:t>
            </a:r>
            <a:r>
              <a:rPr lang="en-US" dirty="0">
                <a:solidFill>
                  <a:srgbClr val="145897"/>
                </a:solidFill>
              </a:rPr>
              <a:t>at least one, if not </a:t>
            </a:r>
            <a:r>
              <a:rPr lang="en-US" dirty="0" smtClean="0">
                <a:solidFill>
                  <a:srgbClr val="145897"/>
                </a:solidFill>
              </a:rPr>
              <a:t>many,</a:t>
            </a:r>
            <a:r>
              <a:rPr lang="en-US" dirty="0" smtClean="0"/>
              <a:t> students</a:t>
            </a:r>
            <a:r>
              <a:rPr lang="en-US" dirty="0"/>
              <a:t>. (Otherwise, the subject should be cancelled.)</a:t>
            </a:r>
          </a:p>
        </p:txBody>
      </p:sp>
      <p:pic>
        <p:nvPicPr>
          <p:cNvPr id="6" name="Picture 5"/>
          <p:cNvPicPr>
            <a:picLocks noChangeAspect="1"/>
          </p:cNvPicPr>
          <p:nvPr/>
        </p:nvPicPr>
        <p:blipFill>
          <a:blip r:embed="rId2"/>
          <a:stretch>
            <a:fillRect/>
          </a:stretch>
        </p:blipFill>
        <p:spPr>
          <a:xfrm>
            <a:off x="2511970" y="3409738"/>
            <a:ext cx="6523965" cy="2981300"/>
          </a:xfrm>
          <a:prstGeom prst="rect">
            <a:avLst/>
          </a:prstGeom>
        </p:spPr>
      </p:pic>
    </p:spTree>
    <p:extLst>
      <p:ext uri="{BB962C8B-B14F-4D97-AF65-F5344CB8AC3E}">
        <p14:creationId xmlns:p14="http://schemas.microsoft.com/office/powerpoint/2010/main" val="371626116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41</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ER diagram showing the relationship between students and elective subjects</a:t>
            </a:r>
            <a:r>
              <a:rPr lang="en-US" dirty="0" smtClean="0"/>
              <a:t>:</a:t>
            </a:r>
          </a:p>
          <a:p>
            <a:endParaRPr lang="en-US" dirty="0"/>
          </a:p>
          <a:p>
            <a:endParaRPr lang="en-US" dirty="0" smtClean="0"/>
          </a:p>
          <a:p>
            <a:endParaRPr lang="en-US" dirty="0" smtClean="0"/>
          </a:p>
          <a:p>
            <a:endParaRPr lang="en-US" dirty="0"/>
          </a:p>
          <a:p>
            <a:endParaRPr lang="en-US" dirty="0" smtClean="0"/>
          </a:p>
          <a:p>
            <a:endParaRPr lang="en-US" dirty="0"/>
          </a:p>
          <a:p>
            <a:endParaRPr lang="en-US" dirty="0" smtClean="0"/>
          </a:p>
        </p:txBody>
      </p:sp>
      <p:pic>
        <p:nvPicPr>
          <p:cNvPr id="6" name="Picture 5"/>
          <p:cNvPicPr>
            <a:picLocks noChangeAspect="1"/>
          </p:cNvPicPr>
          <p:nvPr/>
        </p:nvPicPr>
        <p:blipFill>
          <a:blip r:embed="rId2"/>
          <a:stretch>
            <a:fillRect/>
          </a:stretch>
        </p:blipFill>
        <p:spPr>
          <a:xfrm>
            <a:off x="2159338" y="2594165"/>
            <a:ext cx="7588123" cy="922119"/>
          </a:xfrm>
          <a:prstGeom prst="rect">
            <a:avLst/>
          </a:prstGeom>
        </p:spPr>
      </p:pic>
    </p:spTree>
    <p:extLst>
      <p:ext uri="{BB962C8B-B14F-4D97-AF65-F5344CB8AC3E}">
        <p14:creationId xmlns:p14="http://schemas.microsoft.com/office/powerpoint/2010/main" val="590599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42</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a:t>Example data of the tables </a:t>
            </a:r>
            <a:r>
              <a:rPr lang="en-US">
                <a:latin typeface="Courier New" panose="02070309020205020404" pitchFamily="49" charset="0"/>
                <a:cs typeface="Courier New" panose="02070309020205020404" pitchFamily="49" charset="0"/>
              </a:rPr>
              <a:t>STUDENT</a:t>
            </a:r>
            <a:r>
              <a:rPr lang="en-US"/>
              <a:t>, </a:t>
            </a:r>
            <a:r>
              <a:rPr lang="en-US">
                <a:latin typeface="Courier New" panose="02070309020205020404" pitchFamily="49" charset="0"/>
                <a:cs typeface="Courier New" panose="02070309020205020404" pitchFamily="49" charset="0"/>
              </a:rPr>
              <a:t>ENROLMENT</a:t>
            </a:r>
            <a:r>
              <a:rPr lang="en-US"/>
              <a:t> and </a:t>
            </a:r>
            <a:r>
              <a:rPr lang="en-US">
                <a:latin typeface="Courier New" panose="02070309020205020404" pitchFamily="49" charset="0"/>
                <a:cs typeface="Courier New" panose="02070309020205020404" pitchFamily="49" charset="0"/>
              </a:rPr>
              <a:t>ELECTIVE</a:t>
            </a:r>
            <a:r>
              <a:rPr lang="en-US"/>
              <a:t>:</a:t>
            </a:r>
            <a:endParaRPr lang="en-US" dirty="0"/>
          </a:p>
        </p:txBody>
      </p:sp>
      <p:pic>
        <p:nvPicPr>
          <p:cNvPr id="6" name="Picture 5"/>
          <p:cNvPicPr>
            <a:picLocks noChangeAspect="1"/>
          </p:cNvPicPr>
          <p:nvPr/>
        </p:nvPicPr>
        <p:blipFill>
          <a:blip r:embed="rId2"/>
          <a:stretch>
            <a:fillRect/>
          </a:stretch>
        </p:blipFill>
        <p:spPr>
          <a:xfrm>
            <a:off x="1810800" y="2437987"/>
            <a:ext cx="8192221" cy="3184900"/>
          </a:xfrm>
          <a:prstGeom prst="rect">
            <a:avLst/>
          </a:prstGeom>
        </p:spPr>
      </p:pic>
    </p:spTree>
    <p:extLst>
      <p:ext uri="{BB962C8B-B14F-4D97-AF65-F5344CB8AC3E}">
        <p14:creationId xmlns:p14="http://schemas.microsoft.com/office/powerpoint/2010/main" val="18923720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43</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smtClean="0"/>
              <a:t>Another </a:t>
            </a:r>
            <a:r>
              <a:rPr lang="en-US" dirty="0"/>
              <a:t>real life example is the relationship between citizens and properties:</a:t>
            </a:r>
          </a:p>
          <a:p>
            <a:pPr marL="342900" indent="-342900">
              <a:buFont typeface="Arial" panose="020B0604020202020204" pitchFamily="34" charset="0"/>
              <a:buChar char="•"/>
            </a:pPr>
            <a:r>
              <a:rPr lang="en-US" dirty="0" smtClean="0"/>
              <a:t>A </a:t>
            </a:r>
            <a:r>
              <a:rPr lang="en-US" dirty="0"/>
              <a:t>citizen </a:t>
            </a:r>
            <a:r>
              <a:rPr lang="en-US" dirty="0">
                <a:solidFill>
                  <a:srgbClr val="4FA255"/>
                </a:solidFill>
              </a:rPr>
              <a:t>may</a:t>
            </a:r>
            <a:r>
              <a:rPr lang="en-US" dirty="0"/>
              <a:t> own </a:t>
            </a:r>
            <a:r>
              <a:rPr lang="en-US" dirty="0">
                <a:solidFill>
                  <a:srgbClr val="145897"/>
                </a:solidFill>
              </a:rPr>
              <a:t>many</a:t>
            </a:r>
            <a:r>
              <a:rPr lang="en-US" dirty="0"/>
              <a:t> properties, or none at all; and</a:t>
            </a:r>
          </a:p>
          <a:p>
            <a:pPr marL="342900" indent="-342900">
              <a:buFont typeface="Arial" panose="020B0604020202020204" pitchFamily="34" charset="0"/>
              <a:buChar char="•"/>
            </a:pPr>
            <a:r>
              <a:rPr lang="en-US" dirty="0" smtClean="0"/>
              <a:t>A </a:t>
            </a:r>
            <a:r>
              <a:rPr lang="en-US" dirty="0"/>
              <a:t>property </a:t>
            </a:r>
            <a:r>
              <a:rPr lang="en-US" dirty="0">
                <a:solidFill>
                  <a:srgbClr val="4FA255"/>
                </a:solidFill>
              </a:rPr>
              <a:t>may be</a:t>
            </a:r>
            <a:r>
              <a:rPr lang="en-US" dirty="0"/>
              <a:t> owned by </a:t>
            </a:r>
            <a:r>
              <a:rPr lang="en-US" dirty="0">
                <a:solidFill>
                  <a:srgbClr val="145897"/>
                </a:solidFill>
              </a:rPr>
              <a:t>multiple</a:t>
            </a:r>
            <a:r>
              <a:rPr lang="en-US" dirty="0"/>
              <a:t> citizens at the same time, or by </a:t>
            </a:r>
            <a:r>
              <a:rPr lang="en-US" dirty="0" smtClean="0"/>
              <a:t>none </a:t>
            </a:r>
            <a:r>
              <a:rPr lang="en-US" dirty="0"/>
              <a:t>at all. (It may be owned by government or a company.)</a:t>
            </a:r>
          </a:p>
        </p:txBody>
      </p:sp>
      <p:pic>
        <p:nvPicPr>
          <p:cNvPr id="7" name="Picture 6"/>
          <p:cNvPicPr>
            <a:picLocks noChangeAspect="1"/>
          </p:cNvPicPr>
          <p:nvPr/>
        </p:nvPicPr>
        <p:blipFill>
          <a:blip r:embed="rId2"/>
          <a:stretch>
            <a:fillRect/>
          </a:stretch>
        </p:blipFill>
        <p:spPr>
          <a:xfrm>
            <a:off x="2991147" y="3479722"/>
            <a:ext cx="6036475" cy="1774257"/>
          </a:xfrm>
          <a:prstGeom prst="rect">
            <a:avLst/>
          </a:prstGeom>
        </p:spPr>
      </p:pic>
      <p:pic>
        <p:nvPicPr>
          <p:cNvPr id="8" name="Picture 7"/>
          <p:cNvPicPr>
            <a:picLocks noChangeAspect="1"/>
          </p:cNvPicPr>
          <p:nvPr/>
        </p:nvPicPr>
        <p:blipFill>
          <a:blip r:embed="rId3"/>
          <a:stretch>
            <a:fillRect/>
          </a:stretch>
        </p:blipFill>
        <p:spPr>
          <a:xfrm>
            <a:off x="1883373" y="5355816"/>
            <a:ext cx="8243710" cy="1035221"/>
          </a:xfrm>
          <a:prstGeom prst="rect">
            <a:avLst/>
          </a:prstGeom>
        </p:spPr>
      </p:pic>
    </p:spTree>
    <p:extLst>
      <p:ext uri="{BB962C8B-B14F-4D97-AF65-F5344CB8AC3E}">
        <p14:creationId xmlns:p14="http://schemas.microsoft.com/office/powerpoint/2010/main" val="230890959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44</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Example data of the tables </a:t>
            </a:r>
            <a:r>
              <a:rPr lang="en-US" dirty="0">
                <a:latin typeface="Courier New" panose="02070309020205020404" pitchFamily="49" charset="0"/>
                <a:cs typeface="Courier New" panose="02070309020205020404" pitchFamily="49" charset="0"/>
              </a:rPr>
              <a:t>CITIZEN</a:t>
            </a:r>
            <a:r>
              <a:rPr lang="en-US" dirty="0"/>
              <a:t>, </a:t>
            </a:r>
            <a:r>
              <a:rPr lang="en-US" dirty="0">
                <a:latin typeface="Courier New" panose="02070309020205020404" pitchFamily="49" charset="0"/>
                <a:cs typeface="Courier New" panose="02070309020205020404" pitchFamily="49" charset="0"/>
              </a:rPr>
              <a:t>OWNERSHIP</a:t>
            </a:r>
            <a:r>
              <a:rPr lang="en-US" dirty="0"/>
              <a:t> and </a:t>
            </a:r>
            <a:r>
              <a:rPr lang="en-US" dirty="0">
                <a:latin typeface="Courier New" panose="02070309020205020404" pitchFamily="49" charset="0"/>
                <a:cs typeface="Courier New" panose="02070309020205020404" pitchFamily="49" charset="0"/>
              </a:rPr>
              <a:t>PROPERTY</a:t>
            </a:r>
            <a:r>
              <a:rPr lang="en-US" dirty="0" smtClean="0"/>
              <a:t>:</a:t>
            </a:r>
            <a:endParaRPr lang="en-US" dirty="0"/>
          </a:p>
        </p:txBody>
      </p:sp>
      <p:pic>
        <p:nvPicPr>
          <p:cNvPr id="6" name="Picture 5"/>
          <p:cNvPicPr>
            <a:picLocks noChangeAspect="1"/>
          </p:cNvPicPr>
          <p:nvPr/>
        </p:nvPicPr>
        <p:blipFill>
          <a:blip r:embed="rId2"/>
          <a:stretch>
            <a:fillRect/>
          </a:stretch>
        </p:blipFill>
        <p:spPr>
          <a:xfrm>
            <a:off x="1203318" y="2512800"/>
            <a:ext cx="9835984" cy="2241564"/>
          </a:xfrm>
          <a:prstGeom prst="rect">
            <a:avLst/>
          </a:prstGeom>
        </p:spPr>
      </p:pic>
    </p:spTree>
    <p:extLst>
      <p:ext uri="{BB962C8B-B14F-4D97-AF65-F5344CB8AC3E}">
        <p14:creationId xmlns:p14="http://schemas.microsoft.com/office/powerpoint/2010/main" val="244874265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1. Add </a:t>
            </a:r>
            <a:r>
              <a:rPr lang="en-US" dirty="0"/>
              <a:t>relationships, participation constraints and cardinality to the following parts of ER diagrams to show the relationship between two entity types</a:t>
            </a:r>
            <a:r>
              <a:rPr lang="en-US" dirty="0" smtClean="0"/>
              <a:t>.</a:t>
            </a:r>
          </a:p>
          <a:p>
            <a:endParaRPr lang="en-US" dirty="0" smtClean="0"/>
          </a:p>
          <a:p>
            <a:r>
              <a:rPr lang="en-US" dirty="0"/>
              <a:t>(a) Each company may own zero office, or any number of offices. Each office is exclusively owned by one company. Every worker must work in only one office. There are always many workers working in an office.</a:t>
            </a:r>
          </a:p>
        </p:txBody>
      </p:sp>
      <p:sp>
        <p:nvSpPr>
          <p:cNvPr id="3" name="Slide Number Placeholder 2"/>
          <p:cNvSpPr>
            <a:spLocks noGrp="1"/>
          </p:cNvSpPr>
          <p:nvPr>
            <p:ph type="sldNum" sz="quarter" idx="12"/>
          </p:nvPr>
        </p:nvSpPr>
        <p:spPr/>
        <p:txBody>
          <a:bodyPr/>
          <a:lstStyle/>
          <a:p>
            <a:fld id="{6D22F896-40B5-4ADD-8801-0D06FADFA095}" type="slidenum">
              <a:rPr lang="en-US" smtClean="0"/>
              <a:t>45</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pic>
        <p:nvPicPr>
          <p:cNvPr id="5" name="Picture 4"/>
          <p:cNvPicPr>
            <a:picLocks noChangeAspect="1"/>
          </p:cNvPicPr>
          <p:nvPr/>
        </p:nvPicPr>
        <p:blipFill>
          <a:blip r:embed="rId2"/>
          <a:stretch>
            <a:fillRect/>
          </a:stretch>
        </p:blipFill>
        <p:spPr>
          <a:xfrm>
            <a:off x="2063268" y="4224383"/>
            <a:ext cx="8065464" cy="751959"/>
          </a:xfrm>
          <a:prstGeom prst="rect">
            <a:avLst/>
          </a:prstGeom>
        </p:spPr>
      </p:pic>
    </p:spTree>
    <p:extLst>
      <p:ext uri="{BB962C8B-B14F-4D97-AF65-F5344CB8AC3E}">
        <p14:creationId xmlns:p14="http://schemas.microsoft.com/office/powerpoint/2010/main" val="244692436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A restaurant has three menus. Each of them offers multiple dishes. A dish must appear on one or more menus. A customer is required to order at least one, if not multiple, dishes. Some dishes are ordered by many customers, while some are never ordered</a:t>
            </a:r>
            <a:r>
              <a:rPr lang="en-US" dirty="0" smtClean="0"/>
              <a:t>.</a:t>
            </a:r>
          </a:p>
          <a:p>
            <a:endParaRPr lang="en-US" dirty="0"/>
          </a:p>
          <a:p>
            <a:endParaRPr lang="en-US" dirty="0" smtClean="0"/>
          </a:p>
          <a:p>
            <a:endParaRPr lang="en-US" dirty="0"/>
          </a:p>
          <a:p>
            <a:r>
              <a:rPr lang="en-US" dirty="0"/>
              <a:t>2. Draw an ER diagram based on the table structure below.</a:t>
            </a:r>
          </a:p>
          <a:p>
            <a:endParaRPr lang="en-US" dirty="0" smtClean="0"/>
          </a:p>
        </p:txBody>
      </p:sp>
      <p:sp>
        <p:nvSpPr>
          <p:cNvPr id="3" name="Slide Number Placeholder 2"/>
          <p:cNvSpPr>
            <a:spLocks noGrp="1"/>
          </p:cNvSpPr>
          <p:nvPr>
            <p:ph type="sldNum" sz="quarter" idx="12"/>
          </p:nvPr>
        </p:nvSpPr>
        <p:spPr/>
        <p:txBody>
          <a:bodyPr/>
          <a:lstStyle/>
          <a:p>
            <a:fld id="{6D22F896-40B5-4ADD-8801-0D06FADFA095}" type="slidenum">
              <a:rPr lang="en-US" smtClean="0"/>
              <a:t>46</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pic>
        <p:nvPicPr>
          <p:cNvPr id="5" name="Picture 4"/>
          <p:cNvPicPr>
            <a:picLocks noChangeAspect="1"/>
          </p:cNvPicPr>
          <p:nvPr/>
        </p:nvPicPr>
        <p:blipFill>
          <a:blip r:embed="rId2"/>
          <a:stretch>
            <a:fillRect/>
          </a:stretch>
        </p:blipFill>
        <p:spPr>
          <a:xfrm>
            <a:off x="1754502" y="2903701"/>
            <a:ext cx="8682995" cy="780695"/>
          </a:xfrm>
          <a:prstGeom prst="rect">
            <a:avLst/>
          </a:prstGeom>
        </p:spPr>
      </p:pic>
      <p:pic>
        <p:nvPicPr>
          <p:cNvPr id="6" name="Picture 5"/>
          <p:cNvPicPr>
            <a:picLocks noChangeAspect="1"/>
          </p:cNvPicPr>
          <p:nvPr/>
        </p:nvPicPr>
        <p:blipFill>
          <a:blip r:embed="rId3"/>
          <a:stretch>
            <a:fillRect/>
          </a:stretch>
        </p:blipFill>
        <p:spPr>
          <a:xfrm>
            <a:off x="1605164" y="4697074"/>
            <a:ext cx="8754034" cy="1581125"/>
          </a:xfrm>
          <a:prstGeom prst="rect">
            <a:avLst/>
          </a:prstGeom>
        </p:spPr>
      </p:pic>
    </p:spTree>
    <p:extLst>
      <p:ext uri="{BB962C8B-B14F-4D97-AF65-F5344CB8AC3E}">
        <p14:creationId xmlns:p14="http://schemas.microsoft.com/office/powerpoint/2010/main" val="169173595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 </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47</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pic>
        <p:nvPicPr>
          <p:cNvPr id="6" name="Picture 5"/>
          <p:cNvPicPr>
            <a:picLocks noChangeAspect="1"/>
          </p:cNvPicPr>
          <p:nvPr/>
        </p:nvPicPr>
        <p:blipFill>
          <a:blip r:embed="rId2"/>
          <a:stretch>
            <a:fillRect/>
          </a:stretch>
        </p:blipFill>
        <p:spPr>
          <a:xfrm>
            <a:off x="1176670" y="1587600"/>
            <a:ext cx="8344161" cy="1795889"/>
          </a:xfrm>
          <a:prstGeom prst="rect">
            <a:avLst/>
          </a:prstGeom>
        </p:spPr>
      </p:pic>
      <p:pic>
        <p:nvPicPr>
          <p:cNvPr id="7" name="Picture 6"/>
          <p:cNvPicPr>
            <a:picLocks noChangeAspect="1"/>
          </p:cNvPicPr>
          <p:nvPr/>
        </p:nvPicPr>
        <p:blipFill>
          <a:blip r:embed="rId3"/>
          <a:stretch>
            <a:fillRect/>
          </a:stretch>
        </p:blipFill>
        <p:spPr>
          <a:xfrm>
            <a:off x="1117401" y="3648530"/>
            <a:ext cx="8449211" cy="1460131"/>
          </a:xfrm>
          <a:prstGeom prst="rect">
            <a:avLst/>
          </a:prstGeom>
        </p:spPr>
      </p:pic>
    </p:spTree>
    <p:extLst>
      <p:ext uri="{BB962C8B-B14F-4D97-AF65-F5344CB8AC3E}">
        <p14:creationId xmlns:p14="http://schemas.microsoft.com/office/powerpoint/2010/main" val="241783118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37A3D4"/>
                </a:solidFill>
              </a:rPr>
              <a:t>◣ </a:t>
            </a:r>
            <a:r>
              <a:rPr lang="en-US" b="1" dirty="0" smtClean="0">
                <a:solidFill>
                  <a:srgbClr val="37A3D4"/>
                </a:solidFill>
              </a:rPr>
              <a:t>Solution</a:t>
            </a:r>
          </a:p>
          <a:p>
            <a:r>
              <a:rPr lang="en-US" dirty="0" smtClean="0"/>
              <a:t>1. (a)</a:t>
            </a:r>
          </a:p>
          <a:p>
            <a:endParaRPr lang="en-US" dirty="0" smtClean="0"/>
          </a:p>
          <a:p>
            <a:r>
              <a:rPr lang="en-US" dirty="0" smtClean="0"/>
              <a:t/>
            </a:r>
            <a:br>
              <a:rPr lang="en-US" dirty="0" smtClean="0"/>
            </a:br>
            <a:endParaRPr lang="en-US" dirty="0" smtClean="0"/>
          </a:p>
          <a:p>
            <a:r>
              <a:rPr lang="en-US" dirty="0"/>
              <a:t> </a:t>
            </a:r>
            <a:r>
              <a:rPr lang="en-US" dirty="0" smtClean="0"/>
              <a:t>   (b)</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48</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pic>
        <p:nvPicPr>
          <p:cNvPr id="7" name="Picture 6"/>
          <p:cNvPicPr>
            <a:picLocks noChangeAspect="1"/>
          </p:cNvPicPr>
          <p:nvPr/>
        </p:nvPicPr>
        <p:blipFill>
          <a:blip r:embed="rId2"/>
          <a:stretch>
            <a:fillRect/>
          </a:stretch>
        </p:blipFill>
        <p:spPr>
          <a:xfrm>
            <a:off x="1411899" y="2372320"/>
            <a:ext cx="9941901" cy="908779"/>
          </a:xfrm>
          <a:prstGeom prst="rect">
            <a:avLst/>
          </a:prstGeom>
        </p:spPr>
      </p:pic>
      <p:pic>
        <p:nvPicPr>
          <p:cNvPr id="8" name="Picture 7"/>
          <p:cNvPicPr>
            <a:picLocks noChangeAspect="1"/>
          </p:cNvPicPr>
          <p:nvPr/>
        </p:nvPicPr>
        <p:blipFill>
          <a:blip r:embed="rId3"/>
          <a:stretch>
            <a:fillRect/>
          </a:stretch>
        </p:blipFill>
        <p:spPr>
          <a:xfrm>
            <a:off x="1411899" y="4392508"/>
            <a:ext cx="9868472" cy="921968"/>
          </a:xfrm>
          <a:prstGeom prst="rect">
            <a:avLst/>
          </a:prstGeom>
        </p:spPr>
      </p:pic>
    </p:spTree>
    <p:extLst>
      <p:ext uri="{BB962C8B-B14F-4D97-AF65-F5344CB8AC3E}">
        <p14:creationId xmlns:p14="http://schemas.microsoft.com/office/powerpoint/2010/main" val="69659972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2.</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49</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pic>
        <p:nvPicPr>
          <p:cNvPr id="5" name="Picture 4"/>
          <p:cNvPicPr>
            <a:picLocks noChangeAspect="1"/>
          </p:cNvPicPr>
          <p:nvPr/>
        </p:nvPicPr>
        <p:blipFill>
          <a:blip r:embed="rId2"/>
          <a:stretch>
            <a:fillRect/>
          </a:stretch>
        </p:blipFill>
        <p:spPr>
          <a:xfrm>
            <a:off x="1547888" y="1443600"/>
            <a:ext cx="6837731" cy="4815908"/>
          </a:xfrm>
          <a:prstGeom prst="rect">
            <a:avLst/>
          </a:prstGeom>
        </p:spPr>
      </p:pic>
    </p:spTree>
    <p:extLst>
      <p:ext uri="{BB962C8B-B14F-4D97-AF65-F5344CB8AC3E}">
        <p14:creationId xmlns:p14="http://schemas.microsoft.com/office/powerpoint/2010/main" val="370195897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5.3 on P. 267 of your textbook.</a:t>
            </a:r>
          </a:p>
          <a:p>
            <a:r>
              <a:rPr lang="en-US" dirty="0" smtClean="0">
                <a:solidFill>
                  <a:srgbClr val="FF0000"/>
                </a:solidFill>
              </a:rPr>
              <a:t>1. (a)</a:t>
            </a:r>
          </a:p>
          <a:p>
            <a:endParaRPr lang="en-US" dirty="0" smtClean="0">
              <a:solidFill>
                <a:srgbClr val="FF0000"/>
              </a:solidFill>
            </a:endParaRPr>
          </a:p>
          <a:p>
            <a:endParaRPr lang="en-US" dirty="0">
              <a:solidFill>
                <a:srgbClr val="FF0000"/>
              </a:solidFill>
            </a:endParaRPr>
          </a:p>
          <a:p>
            <a:r>
              <a:rPr lang="en-US" dirty="0">
                <a:solidFill>
                  <a:srgbClr val="FF0000"/>
                </a:solidFill>
              </a:rPr>
              <a:t> </a:t>
            </a:r>
            <a:r>
              <a:rPr lang="en-US" dirty="0" smtClean="0">
                <a:solidFill>
                  <a:srgbClr val="FF0000"/>
                </a:solidFill>
              </a:rPr>
              <a:t>  (b)</a:t>
            </a:r>
          </a:p>
        </p:txBody>
      </p:sp>
      <p:sp>
        <p:nvSpPr>
          <p:cNvPr id="3" name="Slide Number Placeholder 2"/>
          <p:cNvSpPr>
            <a:spLocks noGrp="1"/>
          </p:cNvSpPr>
          <p:nvPr>
            <p:ph type="sldNum" sz="quarter" idx="12"/>
          </p:nvPr>
        </p:nvSpPr>
        <p:spPr/>
        <p:txBody>
          <a:bodyPr/>
          <a:lstStyle/>
          <a:p>
            <a:fld id="{6D22F896-40B5-4ADD-8801-0D06FADFA095}" type="slidenum">
              <a:rPr lang="en-US" smtClean="0"/>
              <a:t>50</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pic>
        <p:nvPicPr>
          <p:cNvPr id="5" name="Picture 4"/>
          <p:cNvPicPr>
            <a:picLocks noChangeAspect="1"/>
          </p:cNvPicPr>
          <p:nvPr/>
        </p:nvPicPr>
        <p:blipFill>
          <a:blip r:embed="rId2"/>
          <a:stretch>
            <a:fillRect/>
          </a:stretch>
        </p:blipFill>
        <p:spPr>
          <a:xfrm>
            <a:off x="1601037" y="2434097"/>
            <a:ext cx="8989925" cy="788698"/>
          </a:xfrm>
          <a:prstGeom prst="rect">
            <a:avLst/>
          </a:prstGeom>
        </p:spPr>
      </p:pic>
      <p:pic>
        <p:nvPicPr>
          <p:cNvPr id="6" name="Picture 5"/>
          <p:cNvPicPr>
            <a:picLocks noChangeAspect="1"/>
          </p:cNvPicPr>
          <p:nvPr/>
        </p:nvPicPr>
        <p:blipFill>
          <a:blip r:embed="rId3"/>
          <a:stretch>
            <a:fillRect/>
          </a:stretch>
        </p:blipFill>
        <p:spPr>
          <a:xfrm>
            <a:off x="1601037" y="3947285"/>
            <a:ext cx="8989925" cy="777137"/>
          </a:xfrm>
          <a:prstGeom prst="rect">
            <a:avLst/>
          </a:prstGeom>
        </p:spPr>
      </p:pic>
    </p:spTree>
    <p:extLst>
      <p:ext uri="{BB962C8B-B14F-4D97-AF65-F5344CB8AC3E}">
        <p14:creationId xmlns:p14="http://schemas.microsoft.com/office/powerpoint/2010/main" val="525438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fade">
                                      <p:cBhvr>
                                        <p:cTn id="15" dur="500"/>
                                        <p:tgtEl>
                                          <p:spTgt spid="2">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solidFill>
                  <a:srgbClr val="FF0000"/>
                </a:solidFill>
              </a:rPr>
              <a:t>2. </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51</a:t>
            </a:fld>
            <a:endParaRPr lang="en-US" dirty="0"/>
          </a:p>
        </p:txBody>
      </p:sp>
      <p:sp>
        <p:nvSpPr>
          <p:cNvPr id="4" name="Text Placeholder 3"/>
          <p:cNvSpPr>
            <a:spLocks noGrp="1"/>
          </p:cNvSpPr>
          <p:nvPr>
            <p:ph type="body" sz="quarter" idx="13"/>
          </p:nvPr>
        </p:nvSpPr>
        <p:spPr/>
        <p:txBody>
          <a:bodyPr/>
          <a:lstStyle/>
          <a:p>
            <a:r>
              <a:rPr lang="en-US" dirty="0" smtClean="0"/>
              <a:t>5.3</a:t>
            </a:r>
            <a:endParaRPr lang="en-US" dirty="0"/>
          </a:p>
        </p:txBody>
      </p:sp>
      <p:pic>
        <p:nvPicPr>
          <p:cNvPr id="5" name="Picture 4"/>
          <p:cNvPicPr>
            <a:picLocks noChangeAspect="1"/>
          </p:cNvPicPr>
          <p:nvPr/>
        </p:nvPicPr>
        <p:blipFill>
          <a:blip r:embed="rId2"/>
          <a:stretch>
            <a:fillRect/>
          </a:stretch>
        </p:blipFill>
        <p:spPr>
          <a:xfrm>
            <a:off x="1430762" y="1566818"/>
            <a:ext cx="7768778" cy="4613564"/>
          </a:xfrm>
          <a:prstGeom prst="rect">
            <a:avLst/>
          </a:prstGeom>
        </p:spPr>
      </p:pic>
    </p:spTree>
    <p:extLst>
      <p:ext uri="{BB962C8B-B14F-4D97-AF65-F5344CB8AC3E}">
        <p14:creationId xmlns:p14="http://schemas.microsoft.com/office/powerpoint/2010/main" val="377577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Activity 5.1 on P. 270 of your textbook.</a:t>
            </a:r>
          </a:p>
          <a:p>
            <a:r>
              <a:rPr lang="en-US" dirty="0" smtClean="0">
                <a:solidFill>
                  <a:srgbClr val="FF0000"/>
                </a:solidFill>
              </a:rPr>
              <a:t>Method 1</a:t>
            </a:r>
            <a:endParaRPr lang="en-US" dirty="0">
              <a:solidFill>
                <a:srgbClr val="FF0000"/>
              </a:solidFill>
            </a:endParaRPr>
          </a:p>
          <a:p>
            <a:r>
              <a:rPr lang="en-US" dirty="0" smtClean="0">
                <a:solidFill>
                  <a:srgbClr val="FF0000"/>
                </a:solidFill>
              </a:rPr>
              <a:t>1. Yes</a:t>
            </a:r>
          </a:p>
          <a:p>
            <a:r>
              <a:rPr lang="en-US" dirty="0" smtClean="0">
                <a:solidFill>
                  <a:srgbClr val="FF0000"/>
                </a:solidFill>
              </a:rPr>
              <a:t>2. Yes</a:t>
            </a:r>
          </a:p>
          <a:p>
            <a:r>
              <a:rPr lang="en-US" dirty="0" smtClean="0">
                <a:solidFill>
                  <a:srgbClr val="FF0000"/>
                </a:solidFill>
              </a:rPr>
              <a:t>3. No</a:t>
            </a:r>
          </a:p>
          <a:p>
            <a:r>
              <a:rPr lang="en-US" dirty="0">
                <a:solidFill>
                  <a:srgbClr val="FF0000"/>
                </a:solidFill>
              </a:rPr>
              <a:t>4. </a:t>
            </a:r>
            <a:r>
              <a:rPr lang="en-US" dirty="0" smtClean="0">
                <a:solidFill>
                  <a:srgbClr val="FF0000"/>
                </a:solidFill>
              </a:rPr>
              <a:t>No</a:t>
            </a:r>
          </a:p>
          <a:p>
            <a:r>
              <a:rPr lang="en-US" dirty="0">
                <a:solidFill>
                  <a:srgbClr val="FF0000"/>
                </a:solidFill>
              </a:rPr>
              <a:t>5. No</a:t>
            </a:r>
          </a:p>
        </p:txBody>
      </p:sp>
      <p:sp>
        <p:nvSpPr>
          <p:cNvPr id="3" name="Slide Number Placeholder 2"/>
          <p:cNvSpPr>
            <a:spLocks noGrp="1"/>
          </p:cNvSpPr>
          <p:nvPr>
            <p:ph type="sldNum" sz="quarter" idx="12"/>
          </p:nvPr>
        </p:nvSpPr>
        <p:spPr/>
        <p:txBody>
          <a:bodyPr/>
          <a:lstStyle/>
          <a:p>
            <a:fld id="{6D22F896-40B5-4ADD-8801-0D06FADFA095}" type="slidenum">
              <a:rPr lang="en-US" smtClean="0"/>
              <a:t>52</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spTree>
    <p:extLst>
      <p:ext uri="{BB962C8B-B14F-4D97-AF65-F5344CB8AC3E}">
        <p14:creationId xmlns:p14="http://schemas.microsoft.com/office/powerpoint/2010/main" val="103092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fade">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FF0000"/>
                </a:solidFill>
              </a:rPr>
              <a:t>Method </a:t>
            </a:r>
            <a:r>
              <a:rPr lang="en-US" dirty="0" smtClean="0">
                <a:solidFill>
                  <a:srgbClr val="FF0000"/>
                </a:solidFill>
              </a:rPr>
              <a:t>2</a:t>
            </a:r>
            <a:endParaRPr lang="en-US" dirty="0">
              <a:solidFill>
                <a:srgbClr val="FF0000"/>
              </a:solidFill>
            </a:endParaRPr>
          </a:p>
          <a:p>
            <a:r>
              <a:rPr lang="en-US" dirty="0">
                <a:solidFill>
                  <a:srgbClr val="FF0000"/>
                </a:solidFill>
              </a:rPr>
              <a:t>1. </a:t>
            </a:r>
            <a:r>
              <a:rPr lang="en-US" dirty="0" smtClean="0">
                <a:solidFill>
                  <a:srgbClr val="FF0000"/>
                </a:solidFill>
              </a:rPr>
              <a:t>No</a:t>
            </a:r>
            <a:endParaRPr lang="en-US" dirty="0">
              <a:solidFill>
                <a:srgbClr val="FF0000"/>
              </a:solidFill>
            </a:endParaRPr>
          </a:p>
          <a:p>
            <a:r>
              <a:rPr lang="en-US" dirty="0">
                <a:solidFill>
                  <a:srgbClr val="FF0000"/>
                </a:solidFill>
              </a:rPr>
              <a:t>2. </a:t>
            </a:r>
            <a:r>
              <a:rPr lang="en-US" dirty="0" smtClean="0">
                <a:solidFill>
                  <a:srgbClr val="FF0000"/>
                </a:solidFill>
              </a:rPr>
              <a:t>No</a:t>
            </a:r>
            <a:endParaRPr lang="en-US" dirty="0">
              <a:solidFill>
                <a:srgbClr val="FF0000"/>
              </a:solidFill>
            </a:endParaRPr>
          </a:p>
          <a:p>
            <a:r>
              <a:rPr lang="en-US" dirty="0">
                <a:solidFill>
                  <a:srgbClr val="FF0000"/>
                </a:solidFill>
              </a:rPr>
              <a:t>3. </a:t>
            </a:r>
            <a:r>
              <a:rPr lang="en-US" dirty="0" smtClean="0">
                <a:solidFill>
                  <a:srgbClr val="FF0000"/>
                </a:solidFill>
              </a:rPr>
              <a:t>Yes</a:t>
            </a:r>
            <a:endParaRPr lang="en-US" dirty="0">
              <a:solidFill>
                <a:srgbClr val="FF0000"/>
              </a:solidFill>
            </a:endParaRPr>
          </a:p>
          <a:p>
            <a:r>
              <a:rPr lang="en-US" dirty="0">
                <a:solidFill>
                  <a:srgbClr val="FF0000"/>
                </a:solidFill>
              </a:rPr>
              <a:t>4. No</a:t>
            </a:r>
          </a:p>
          <a:p>
            <a:r>
              <a:rPr lang="en-US" dirty="0">
                <a:solidFill>
                  <a:srgbClr val="FF0000"/>
                </a:solidFill>
              </a:rPr>
              <a:t>5. </a:t>
            </a:r>
            <a:r>
              <a:rPr lang="en-US" dirty="0" smtClean="0">
                <a:solidFill>
                  <a:srgbClr val="FF0000"/>
                </a:solidFill>
              </a:rPr>
              <a:t>Yes</a:t>
            </a:r>
            <a:endParaRPr lang="en-US" dirty="0">
              <a:solidFill>
                <a:srgbClr val="FF0000"/>
              </a:solidFill>
            </a:endParaRP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53</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spTree>
    <p:extLst>
      <p:ext uri="{BB962C8B-B14F-4D97-AF65-F5344CB8AC3E}">
        <p14:creationId xmlns:p14="http://schemas.microsoft.com/office/powerpoint/2010/main" val="317926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FF0000"/>
                </a:solidFill>
              </a:rPr>
              <a:t>Method </a:t>
            </a:r>
            <a:r>
              <a:rPr lang="en-US" dirty="0" smtClean="0">
                <a:solidFill>
                  <a:srgbClr val="FF0000"/>
                </a:solidFill>
              </a:rPr>
              <a:t>3</a:t>
            </a:r>
            <a:endParaRPr lang="en-US" dirty="0">
              <a:solidFill>
                <a:srgbClr val="FF0000"/>
              </a:solidFill>
            </a:endParaRPr>
          </a:p>
          <a:p>
            <a:r>
              <a:rPr lang="en-US" dirty="0">
                <a:solidFill>
                  <a:srgbClr val="FF0000"/>
                </a:solidFill>
              </a:rPr>
              <a:t>1. Yes</a:t>
            </a:r>
          </a:p>
          <a:p>
            <a:r>
              <a:rPr lang="en-US" dirty="0">
                <a:solidFill>
                  <a:srgbClr val="FF0000"/>
                </a:solidFill>
              </a:rPr>
              <a:t>2. </a:t>
            </a:r>
            <a:r>
              <a:rPr lang="en-US" dirty="0" smtClean="0">
                <a:solidFill>
                  <a:srgbClr val="FF0000"/>
                </a:solidFill>
              </a:rPr>
              <a:t>No</a:t>
            </a:r>
            <a:endParaRPr lang="en-US" dirty="0">
              <a:solidFill>
                <a:srgbClr val="FF0000"/>
              </a:solidFill>
            </a:endParaRPr>
          </a:p>
          <a:p>
            <a:r>
              <a:rPr lang="en-US" dirty="0">
                <a:solidFill>
                  <a:srgbClr val="FF0000"/>
                </a:solidFill>
              </a:rPr>
              <a:t>3. </a:t>
            </a:r>
            <a:r>
              <a:rPr lang="en-US" dirty="0" smtClean="0">
                <a:solidFill>
                  <a:srgbClr val="FF0000"/>
                </a:solidFill>
              </a:rPr>
              <a:t>Yes</a:t>
            </a:r>
            <a:endParaRPr lang="en-US" dirty="0">
              <a:solidFill>
                <a:srgbClr val="FF0000"/>
              </a:solidFill>
            </a:endParaRPr>
          </a:p>
          <a:p>
            <a:r>
              <a:rPr lang="en-US" dirty="0">
                <a:solidFill>
                  <a:srgbClr val="FF0000"/>
                </a:solidFill>
              </a:rPr>
              <a:t>4. No</a:t>
            </a:r>
          </a:p>
          <a:p>
            <a:r>
              <a:rPr lang="en-US" dirty="0">
                <a:solidFill>
                  <a:srgbClr val="FF0000"/>
                </a:solidFill>
              </a:rPr>
              <a:t>5. No</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54</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spTree>
    <p:extLst>
      <p:ext uri="{BB962C8B-B14F-4D97-AF65-F5344CB8AC3E}">
        <p14:creationId xmlns:p14="http://schemas.microsoft.com/office/powerpoint/2010/main" val="418151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FF0000"/>
                </a:solidFill>
              </a:rPr>
              <a:t>Method </a:t>
            </a:r>
            <a:r>
              <a:rPr lang="en-US" dirty="0" smtClean="0">
                <a:solidFill>
                  <a:srgbClr val="FF0000"/>
                </a:solidFill>
              </a:rPr>
              <a:t>4</a:t>
            </a:r>
            <a:endParaRPr lang="en-US" dirty="0">
              <a:solidFill>
                <a:srgbClr val="FF0000"/>
              </a:solidFill>
            </a:endParaRPr>
          </a:p>
          <a:p>
            <a:r>
              <a:rPr lang="en-US" dirty="0">
                <a:solidFill>
                  <a:srgbClr val="FF0000"/>
                </a:solidFill>
              </a:rPr>
              <a:t>1. Yes</a:t>
            </a:r>
          </a:p>
          <a:p>
            <a:r>
              <a:rPr lang="en-US" dirty="0">
                <a:solidFill>
                  <a:srgbClr val="FF0000"/>
                </a:solidFill>
              </a:rPr>
              <a:t>2. Yes</a:t>
            </a:r>
          </a:p>
          <a:p>
            <a:r>
              <a:rPr lang="en-US" dirty="0">
                <a:solidFill>
                  <a:srgbClr val="FF0000"/>
                </a:solidFill>
              </a:rPr>
              <a:t>3. Yes</a:t>
            </a:r>
          </a:p>
          <a:p>
            <a:r>
              <a:rPr lang="en-US" dirty="0">
                <a:solidFill>
                  <a:srgbClr val="FF0000"/>
                </a:solidFill>
              </a:rPr>
              <a:t>4. Yes</a:t>
            </a:r>
          </a:p>
          <a:p>
            <a:r>
              <a:rPr lang="en-US" dirty="0">
                <a:solidFill>
                  <a:srgbClr val="FF0000"/>
                </a:solidFill>
              </a:rPr>
              <a:t>5. </a:t>
            </a:r>
            <a:r>
              <a:rPr lang="en-US" dirty="0" smtClean="0">
                <a:solidFill>
                  <a:srgbClr val="FF0000"/>
                </a:solidFill>
              </a:rPr>
              <a:t>Yes</a:t>
            </a:r>
            <a:br>
              <a:rPr lang="en-US" dirty="0" smtClean="0">
                <a:solidFill>
                  <a:srgbClr val="FF0000"/>
                </a:solidFill>
              </a:rPr>
            </a:br>
            <a:endParaRPr lang="en-US" dirty="0" smtClean="0">
              <a:solidFill>
                <a:srgbClr val="FF0000"/>
              </a:solidFill>
            </a:endParaRPr>
          </a:p>
          <a:p>
            <a:r>
              <a:rPr lang="en-US" dirty="0" smtClean="0">
                <a:solidFill>
                  <a:srgbClr val="FF0000"/>
                </a:solidFill>
              </a:rPr>
              <a:t>Conclusion</a:t>
            </a:r>
          </a:p>
          <a:p>
            <a:r>
              <a:rPr lang="en-US" dirty="0" smtClean="0">
                <a:solidFill>
                  <a:srgbClr val="FF0000"/>
                </a:solidFill>
              </a:rPr>
              <a:t>Method 4</a:t>
            </a:r>
            <a:endParaRPr lang="en-US" dirty="0">
              <a:solidFill>
                <a:srgbClr val="FF0000"/>
              </a:solidFill>
            </a:endParaRP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55</a:t>
            </a:fld>
            <a:endParaRPr lang="en-US" dirty="0"/>
          </a:p>
        </p:txBody>
      </p:sp>
      <p:sp>
        <p:nvSpPr>
          <p:cNvPr id="4" name="Text Placeholder 3"/>
          <p:cNvSpPr>
            <a:spLocks noGrp="1"/>
          </p:cNvSpPr>
          <p:nvPr>
            <p:ph type="body" sz="quarter" idx="13"/>
          </p:nvPr>
        </p:nvSpPr>
        <p:spPr/>
        <p:txBody>
          <a:bodyPr/>
          <a:lstStyle/>
          <a:p>
            <a:r>
              <a:rPr lang="en-US" dirty="0" smtClean="0"/>
              <a:t>5.1</a:t>
            </a:r>
            <a:endParaRPr lang="en-US" dirty="0"/>
          </a:p>
        </p:txBody>
      </p:sp>
    </p:spTree>
    <p:extLst>
      <p:ext uri="{BB962C8B-B14F-4D97-AF65-F5344CB8AC3E}">
        <p14:creationId xmlns:p14="http://schemas.microsoft.com/office/powerpoint/2010/main" val="391898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56</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A </a:t>
            </a:r>
            <a:r>
              <a:rPr lang="en-US" dirty="0">
                <a:solidFill>
                  <a:srgbClr val="145897"/>
                </a:solidFill>
              </a:rPr>
              <a:t>many</a:t>
            </a:r>
            <a:r>
              <a:rPr lang="en-US" dirty="0"/>
              <a:t>-to-</a:t>
            </a:r>
            <a:r>
              <a:rPr lang="en-US" dirty="0">
                <a:solidFill>
                  <a:srgbClr val="145897"/>
                </a:solidFill>
              </a:rPr>
              <a:t>many</a:t>
            </a:r>
            <a:r>
              <a:rPr lang="en-US" dirty="0"/>
              <a:t> relationship is usually represented by a separate table. An ER diagram with </a:t>
            </a:r>
            <a:r>
              <a:rPr lang="en-US" dirty="0">
                <a:solidFill>
                  <a:srgbClr val="145897"/>
                </a:solidFill>
              </a:rPr>
              <a:t>many</a:t>
            </a:r>
            <a:r>
              <a:rPr lang="en-US" dirty="0"/>
              <a:t>-to-</a:t>
            </a:r>
            <a:r>
              <a:rPr lang="en-US" dirty="0">
                <a:solidFill>
                  <a:srgbClr val="145897"/>
                </a:solidFill>
              </a:rPr>
              <a:t>many</a:t>
            </a:r>
            <a:r>
              <a:rPr lang="en-US" dirty="0"/>
              <a:t> relationship like below</a:t>
            </a:r>
            <a:r>
              <a:rPr lang="en-US" dirty="0" smtClean="0"/>
              <a:t>:</a:t>
            </a:r>
          </a:p>
          <a:p>
            <a:endParaRPr lang="en-US" dirty="0"/>
          </a:p>
          <a:p>
            <a:endParaRPr lang="en-US" dirty="0" smtClean="0"/>
          </a:p>
          <a:p>
            <a:endParaRPr lang="en-US" dirty="0" smtClean="0"/>
          </a:p>
          <a:p>
            <a:r>
              <a:rPr lang="en-US" dirty="0"/>
              <a:t>can be resolved into this ER diagram with one-to-many relationship and many-to-one relationship:</a:t>
            </a:r>
          </a:p>
        </p:txBody>
      </p:sp>
      <p:pic>
        <p:nvPicPr>
          <p:cNvPr id="6" name="Picture 5"/>
          <p:cNvPicPr>
            <a:picLocks noChangeAspect="1"/>
          </p:cNvPicPr>
          <p:nvPr/>
        </p:nvPicPr>
        <p:blipFill>
          <a:blip r:embed="rId2"/>
          <a:stretch>
            <a:fillRect/>
          </a:stretch>
        </p:blipFill>
        <p:spPr>
          <a:xfrm>
            <a:off x="2014363" y="2687524"/>
            <a:ext cx="8164473" cy="1031819"/>
          </a:xfrm>
          <a:prstGeom prst="rect">
            <a:avLst/>
          </a:prstGeom>
        </p:spPr>
      </p:pic>
      <p:pic>
        <p:nvPicPr>
          <p:cNvPr id="7" name="Picture 6"/>
          <p:cNvPicPr>
            <a:picLocks noChangeAspect="1"/>
          </p:cNvPicPr>
          <p:nvPr/>
        </p:nvPicPr>
        <p:blipFill>
          <a:blip r:embed="rId3"/>
          <a:stretch>
            <a:fillRect/>
          </a:stretch>
        </p:blipFill>
        <p:spPr>
          <a:xfrm>
            <a:off x="824537" y="5066445"/>
            <a:ext cx="10529263" cy="938035"/>
          </a:xfrm>
          <a:prstGeom prst="rect">
            <a:avLst/>
          </a:prstGeom>
        </p:spPr>
      </p:pic>
    </p:spTree>
    <p:extLst>
      <p:ext uri="{BB962C8B-B14F-4D97-AF65-F5344CB8AC3E}">
        <p14:creationId xmlns:p14="http://schemas.microsoft.com/office/powerpoint/2010/main" val="359839358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57</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This </a:t>
            </a:r>
            <a:r>
              <a:rPr lang="en-US" b="1" dirty="0">
                <a:solidFill>
                  <a:srgbClr val="C6963F"/>
                </a:solidFill>
                <a:latin typeface="Courier New" panose="02070309020205020404" pitchFamily="49" charset="0"/>
                <a:cs typeface="Courier New" panose="02070309020205020404" pitchFamily="49" charset="0"/>
              </a:rPr>
              <a:t>ENROLMENT</a:t>
            </a:r>
            <a:r>
              <a:rPr lang="en-US" dirty="0"/>
              <a:t> table can be seen as an associative entity type. It has multiple foreign keys (</a:t>
            </a:r>
            <a:r>
              <a:rPr lang="en-US" dirty="0">
                <a:solidFill>
                  <a:srgbClr val="C6963F"/>
                </a:solidFill>
                <a:latin typeface="Courier New" panose="02070309020205020404" pitchFamily="49" charset="0"/>
                <a:cs typeface="Courier New" panose="02070309020205020404" pitchFamily="49" charset="0"/>
              </a:rPr>
              <a:t>SID</a:t>
            </a:r>
            <a:r>
              <a:rPr lang="en-US" dirty="0"/>
              <a:t> and </a:t>
            </a:r>
            <a:r>
              <a:rPr lang="en-US" dirty="0">
                <a:solidFill>
                  <a:srgbClr val="C6963F"/>
                </a:solidFill>
                <a:latin typeface="Courier New" panose="02070309020205020404" pitchFamily="49" charset="0"/>
                <a:cs typeface="Courier New" panose="02070309020205020404" pitchFamily="49" charset="0"/>
              </a:rPr>
              <a:t>EID</a:t>
            </a:r>
            <a:r>
              <a:rPr lang="en-US" dirty="0"/>
              <a:t>) to reference the primary keys of multiple tables (</a:t>
            </a:r>
            <a:r>
              <a:rPr lang="en-US" dirty="0">
                <a:solidFill>
                  <a:srgbClr val="29A0D6"/>
                </a:solidFill>
                <a:latin typeface="Courier New" panose="02070309020205020404" pitchFamily="49" charset="0"/>
                <a:cs typeface="Courier New" panose="02070309020205020404" pitchFamily="49" charset="0"/>
              </a:rPr>
              <a:t>STUDENT</a:t>
            </a:r>
            <a:r>
              <a:rPr lang="en-US" dirty="0"/>
              <a:t> and </a:t>
            </a:r>
            <a:r>
              <a:rPr lang="en-US" dirty="0">
                <a:solidFill>
                  <a:srgbClr val="A6CEE7"/>
                </a:solidFill>
                <a:latin typeface="Courier New" panose="02070309020205020404" pitchFamily="49" charset="0"/>
                <a:cs typeface="Courier New" panose="02070309020205020404" pitchFamily="49" charset="0"/>
              </a:rPr>
              <a:t>ELECTIVE</a:t>
            </a:r>
            <a:r>
              <a:rPr lang="en-US" dirty="0"/>
              <a:t>).</a:t>
            </a:r>
          </a:p>
        </p:txBody>
      </p:sp>
      <p:pic>
        <p:nvPicPr>
          <p:cNvPr id="7" name="Picture 6"/>
          <p:cNvPicPr>
            <a:picLocks noChangeAspect="1"/>
          </p:cNvPicPr>
          <p:nvPr/>
        </p:nvPicPr>
        <p:blipFill>
          <a:blip r:embed="rId2"/>
          <a:stretch>
            <a:fillRect/>
          </a:stretch>
        </p:blipFill>
        <p:spPr>
          <a:xfrm>
            <a:off x="838800" y="2746679"/>
            <a:ext cx="10632929" cy="2627233"/>
          </a:xfrm>
          <a:prstGeom prst="rect">
            <a:avLst/>
          </a:prstGeom>
        </p:spPr>
      </p:pic>
    </p:spTree>
    <p:extLst>
      <p:ext uri="{BB962C8B-B14F-4D97-AF65-F5344CB8AC3E}">
        <p14:creationId xmlns:p14="http://schemas.microsoft.com/office/powerpoint/2010/main" val="4000814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58</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Now we have a table structure that is flexible and easy to manage. Sometimes, the associated entity type has attributes too.</a:t>
            </a:r>
          </a:p>
        </p:txBody>
      </p:sp>
      <p:pic>
        <p:nvPicPr>
          <p:cNvPr id="6" name="Picture 5"/>
          <p:cNvPicPr>
            <a:picLocks noChangeAspect="1"/>
          </p:cNvPicPr>
          <p:nvPr/>
        </p:nvPicPr>
        <p:blipFill>
          <a:blip r:embed="rId2"/>
          <a:stretch>
            <a:fillRect/>
          </a:stretch>
        </p:blipFill>
        <p:spPr>
          <a:xfrm>
            <a:off x="2105528" y="2854135"/>
            <a:ext cx="7886372" cy="3435065"/>
          </a:xfrm>
          <a:prstGeom prst="rect">
            <a:avLst/>
          </a:prstGeom>
        </p:spPr>
      </p:pic>
    </p:spTree>
    <p:extLst>
      <p:ext uri="{BB962C8B-B14F-4D97-AF65-F5344CB8AC3E}">
        <p14:creationId xmlns:p14="http://schemas.microsoft.com/office/powerpoint/2010/main" val="26619088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59</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The </a:t>
            </a:r>
            <a:r>
              <a:rPr lang="en-US" dirty="0">
                <a:solidFill>
                  <a:srgbClr val="7DAC4F"/>
                </a:solidFill>
              </a:rPr>
              <a:t>checkout date</a:t>
            </a:r>
            <a:r>
              <a:rPr lang="en-US" dirty="0"/>
              <a:t>, </a:t>
            </a:r>
            <a:r>
              <a:rPr lang="en-US" dirty="0">
                <a:solidFill>
                  <a:srgbClr val="7DAC4F"/>
                </a:solidFill>
              </a:rPr>
              <a:t>due date</a:t>
            </a:r>
            <a:r>
              <a:rPr lang="en-US" dirty="0"/>
              <a:t> and </a:t>
            </a:r>
            <a:r>
              <a:rPr lang="en-US" dirty="0">
                <a:solidFill>
                  <a:srgbClr val="7DAC4F"/>
                </a:solidFill>
              </a:rPr>
              <a:t>return date</a:t>
            </a:r>
            <a:r>
              <a:rPr lang="en-US" dirty="0"/>
              <a:t> is related to a </a:t>
            </a:r>
            <a:r>
              <a:rPr lang="en-US" dirty="0">
                <a:solidFill>
                  <a:srgbClr val="C6963F"/>
                </a:solidFill>
              </a:rPr>
              <a:t>checkout</a:t>
            </a:r>
            <a:r>
              <a:rPr lang="en-US" dirty="0"/>
              <a:t> of a </a:t>
            </a:r>
            <a:r>
              <a:rPr lang="en-US" dirty="0">
                <a:solidFill>
                  <a:srgbClr val="29A0D6"/>
                </a:solidFill>
              </a:rPr>
              <a:t>book</a:t>
            </a:r>
            <a:r>
              <a:rPr lang="en-US" dirty="0"/>
              <a:t> done by a </a:t>
            </a:r>
            <a:r>
              <a:rPr lang="en-US" dirty="0">
                <a:solidFill>
                  <a:srgbClr val="29A0D6"/>
                </a:solidFill>
              </a:rPr>
              <a:t>student</a:t>
            </a:r>
            <a:r>
              <a:rPr lang="en-US" dirty="0"/>
              <a:t>. Without the information of either the student or the book, these dates are meaningless.</a:t>
            </a:r>
          </a:p>
        </p:txBody>
      </p:sp>
      <p:pic>
        <p:nvPicPr>
          <p:cNvPr id="6" name="Picture 5"/>
          <p:cNvPicPr>
            <a:picLocks noChangeAspect="1"/>
          </p:cNvPicPr>
          <p:nvPr/>
        </p:nvPicPr>
        <p:blipFill>
          <a:blip r:embed="rId2"/>
          <a:stretch>
            <a:fillRect/>
          </a:stretch>
        </p:blipFill>
        <p:spPr>
          <a:xfrm>
            <a:off x="838800" y="2853049"/>
            <a:ext cx="10778138" cy="2206702"/>
          </a:xfrm>
          <a:prstGeom prst="rect">
            <a:avLst/>
          </a:prstGeom>
        </p:spPr>
      </p:pic>
    </p:spTree>
    <p:extLst>
      <p:ext uri="{BB962C8B-B14F-4D97-AF65-F5344CB8AC3E}">
        <p14:creationId xmlns:p14="http://schemas.microsoft.com/office/powerpoint/2010/main" val="8308399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60</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List of relationship with different </a:t>
            </a:r>
            <a:r>
              <a:rPr lang="en-US" dirty="0" smtClean="0"/>
              <a:t>cardinalities:</a:t>
            </a:r>
            <a:endParaRPr lang="en-US" dirty="0"/>
          </a:p>
        </p:txBody>
      </p:sp>
      <p:pic>
        <p:nvPicPr>
          <p:cNvPr id="6" name="Picture 5"/>
          <p:cNvPicPr>
            <a:picLocks noChangeAspect="1"/>
          </p:cNvPicPr>
          <p:nvPr/>
        </p:nvPicPr>
        <p:blipFill>
          <a:blip r:embed="rId2"/>
          <a:stretch>
            <a:fillRect/>
          </a:stretch>
        </p:blipFill>
        <p:spPr>
          <a:xfrm>
            <a:off x="838800" y="2116927"/>
            <a:ext cx="10526359" cy="3678945"/>
          </a:xfrm>
          <a:prstGeom prst="rect">
            <a:avLst/>
          </a:prstGeom>
        </p:spPr>
      </p:pic>
    </p:spTree>
    <p:extLst>
      <p:ext uri="{BB962C8B-B14F-4D97-AF65-F5344CB8AC3E}">
        <p14:creationId xmlns:p14="http://schemas.microsoft.com/office/powerpoint/2010/main" val="23685170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5.4 on P. 273 of your textbook.</a:t>
            </a:r>
          </a:p>
          <a:p>
            <a:r>
              <a:rPr lang="en-US" dirty="0" smtClean="0">
                <a:solidFill>
                  <a:srgbClr val="FF0000"/>
                </a:solidFill>
              </a:rPr>
              <a:t>1 (a) </a:t>
            </a:r>
          </a:p>
          <a:p>
            <a:endParaRPr lang="en-US" dirty="0">
              <a:solidFill>
                <a:srgbClr val="FF0000"/>
              </a:solidFill>
            </a:endParaRPr>
          </a:p>
          <a:p>
            <a:r>
              <a:rPr lang="en-US" dirty="0" smtClean="0">
                <a:solidFill>
                  <a:srgbClr val="FF0000"/>
                </a:solidFill>
              </a:rPr>
              <a:t>   (b)</a:t>
            </a:r>
          </a:p>
          <a:p>
            <a:r>
              <a:rPr lang="en-US" dirty="0">
                <a:solidFill>
                  <a:srgbClr val="FF0000"/>
                </a:solidFill>
              </a:rPr>
              <a:t> </a:t>
            </a:r>
            <a:endParaRPr lang="en-US" dirty="0" smtClean="0">
              <a:solidFill>
                <a:srgbClr val="FF0000"/>
              </a:solidFill>
            </a:endParaRPr>
          </a:p>
          <a:p>
            <a:r>
              <a:rPr lang="en-US" dirty="0">
                <a:solidFill>
                  <a:srgbClr val="FF0000"/>
                </a:solidFill>
              </a:rPr>
              <a:t> </a:t>
            </a:r>
            <a:r>
              <a:rPr lang="en-US" dirty="0" smtClean="0">
                <a:solidFill>
                  <a:srgbClr val="FF0000"/>
                </a:solidFill>
              </a:rPr>
              <a:t>  (c)</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61</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1652295" y="2018018"/>
            <a:ext cx="8223225" cy="799690"/>
          </a:xfrm>
          <a:prstGeom prst="rect">
            <a:avLst/>
          </a:prstGeom>
        </p:spPr>
      </p:pic>
      <p:pic>
        <p:nvPicPr>
          <p:cNvPr id="6" name="Picture 5"/>
          <p:cNvPicPr>
            <a:picLocks noChangeAspect="1"/>
          </p:cNvPicPr>
          <p:nvPr/>
        </p:nvPicPr>
        <p:blipFill>
          <a:blip r:embed="rId3"/>
          <a:stretch>
            <a:fillRect/>
          </a:stretch>
        </p:blipFill>
        <p:spPr>
          <a:xfrm>
            <a:off x="1602416" y="2996521"/>
            <a:ext cx="8273103" cy="818220"/>
          </a:xfrm>
          <a:prstGeom prst="rect">
            <a:avLst/>
          </a:prstGeom>
        </p:spPr>
      </p:pic>
      <p:pic>
        <p:nvPicPr>
          <p:cNvPr id="7" name="Picture 6"/>
          <p:cNvPicPr>
            <a:picLocks noChangeAspect="1"/>
          </p:cNvPicPr>
          <p:nvPr/>
        </p:nvPicPr>
        <p:blipFill>
          <a:blip r:embed="rId4"/>
          <a:stretch>
            <a:fillRect/>
          </a:stretch>
        </p:blipFill>
        <p:spPr>
          <a:xfrm>
            <a:off x="1602416" y="4004016"/>
            <a:ext cx="9277818" cy="1821672"/>
          </a:xfrm>
          <a:prstGeom prst="rect">
            <a:avLst/>
          </a:prstGeom>
        </p:spPr>
      </p:pic>
    </p:spTree>
    <p:extLst>
      <p:ext uri="{BB962C8B-B14F-4D97-AF65-F5344CB8AC3E}">
        <p14:creationId xmlns:p14="http://schemas.microsoft.com/office/powerpoint/2010/main" val="1371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Effect transition="in" filter="fade">
                                      <p:cBhvr>
                                        <p:cTn id="23" dur="500"/>
                                        <p:tgtEl>
                                          <p:spTgt spid="2">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solidFill>
                  <a:srgbClr val="FF0000"/>
                </a:solidFill>
              </a:rPr>
              <a:t>2. </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62</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1593454" y="1543517"/>
            <a:ext cx="9374801" cy="2887167"/>
          </a:xfrm>
          <a:prstGeom prst="rect">
            <a:avLst/>
          </a:prstGeom>
        </p:spPr>
      </p:pic>
    </p:spTree>
    <p:extLst>
      <p:ext uri="{BB962C8B-B14F-4D97-AF65-F5344CB8AC3E}">
        <p14:creationId xmlns:p14="http://schemas.microsoft.com/office/powerpoint/2010/main" val="1013354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solidFill>
                  <a:srgbClr val="FF0000"/>
                </a:solidFill>
              </a:rPr>
              <a:t>3 (a)</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63</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1702589" y="1443600"/>
            <a:ext cx="7325033" cy="4757430"/>
          </a:xfrm>
          <a:prstGeom prst="rect">
            <a:avLst/>
          </a:prstGeom>
        </p:spPr>
      </p:pic>
    </p:spTree>
    <p:extLst>
      <p:ext uri="{BB962C8B-B14F-4D97-AF65-F5344CB8AC3E}">
        <p14:creationId xmlns:p14="http://schemas.microsoft.com/office/powerpoint/2010/main" val="128215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FF0000"/>
                </a:solidFill>
              </a:rPr>
              <a:t>3 (b) Each store may or may not sell more than one different book, while each book is sold by at least one store, if not more</a:t>
            </a:r>
            <a:r>
              <a:rPr lang="en-US" dirty="0" smtClean="0">
                <a:solidFill>
                  <a:srgbClr val="FF0000"/>
                </a:solidFill>
              </a:rPr>
              <a:t>.</a:t>
            </a:r>
          </a:p>
          <a:p>
            <a:endParaRPr lang="en-US" dirty="0">
              <a:solidFill>
                <a:srgbClr val="FF0000"/>
              </a:solidFill>
            </a:endParaRPr>
          </a:p>
          <a:p>
            <a:endParaRPr lang="en-US" dirty="0" smtClean="0">
              <a:solidFill>
                <a:srgbClr val="FF0000"/>
              </a:solidFill>
            </a:endParaRPr>
          </a:p>
          <a:p>
            <a:r>
              <a:rPr lang="en-US" dirty="0">
                <a:solidFill>
                  <a:srgbClr val="FF0000"/>
                </a:solidFill>
              </a:rPr>
              <a:t> </a:t>
            </a:r>
            <a:r>
              <a:rPr lang="en-US" dirty="0" smtClean="0">
                <a:solidFill>
                  <a:srgbClr val="FF0000"/>
                </a:solidFill>
              </a:rPr>
              <a:t>  (</a:t>
            </a:r>
            <a:r>
              <a:rPr lang="en-US" dirty="0">
                <a:solidFill>
                  <a:srgbClr val="FF0000"/>
                </a:solidFill>
              </a:rPr>
              <a:t>c) Each publisher publishes one or more books, while a book is published by exactly one publisher</a:t>
            </a:r>
          </a:p>
        </p:txBody>
      </p:sp>
      <p:sp>
        <p:nvSpPr>
          <p:cNvPr id="3" name="Slide Number Placeholder 2"/>
          <p:cNvSpPr>
            <a:spLocks noGrp="1"/>
          </p:cNvSpPr>
          <p:nvPr>
            <p:ph type="sldNum" sz="quarter" idx="12"/>
          </p:nvPr>
        </p:nvSpPr>
        <p:spPr/>
        <p:txBody>
          <a:bodyPr/>
          <a:lstStyle/>
          <a:p>
            <a:fld id="{6D22F896-40B5-4ADD-8801-0D06FADFA095}" type="slidenum">
              <a:rPr lang="en-US" smtClean="0"/>
              <a:t>64</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spTree>
    <p:extLst>
      <p:ext uri="{BB962C8B-B14F-4D97-AF65-F5344CB8AC3E}">
        <p14:creationId xmlns:p14="http://schemas.microsoft.com/office/powerpoint/2010/main" val="867661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Redundancy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65</a:t>
            </a:fld>
            <a:endParaRPr lang="en-US" dirty="0"/>
          </a:p>
        </p:txBody>
      </p:sp>
      <p:sp>
        <p:nvSpPr>
          <p:cNvPr id="4" name="Text Placeholder 3"/>
          <p:cNvSpPr>
            <a:spLocks noGrp="1"/>
          </p:cNvSpPr>
          <p:nvPr>
            <p:ph type="body" sz="quarter" idx="14"/>
          </p:nvPr>
        </p:nvSpPr>
        <p:spPr/>
        <p:txBody>
          <a:bodyPr/>
          <a:lstStyle/>
          <a:p>
            <a:r>
              <a:rPr lang="en-US" dirty="0" smtClean="0"/>
              <a:t>5.4</a:t>
            </a:r>
            <a:endParaRPr lang="en-US" dirty="0"/>
          </a:p>
        </p:txBody>
      </p:sp>
      <p:sp>
        <p:nvSpPr>
          <p:cNvPr id="5" name="Content Placeholder 4"/>
          <p:cNvSpPr>
            <a:spLocks noGrp="1"/>
          </p:cNvSpPr>
          <p:nvPr>
            <p:ph sz="quarter" idx="15"/>
          </p:nvPr>
        </p:nvSpPr>
        <p:spPr/>
        <p:txBody>
          <a:bodyPr/>
          <a:lstStyle/>
          <a:p>
            <a:r>
              <a:rPr lang="en-US" dirty="0"/>
              <a:t>When a database stores redundant data due to being poorly designed, </a:t>
            </a:r>
            <a:r>
              <a:rPr lang="en-US" b="1" dirty="0">
                <a:solidFill>
                  <a:srgbClr val="4B479C"/>
                </a:solidFill>
              </a:rPr>
              <a:t>anomalies</a:t>
            </a:r>
            <a:r>
              <a:rPr lang="en-US" dirty="0"/>
              <a:t> may occur</a:t>
            </a:r>
            <a:r>
              <a:rPr lang="en-US" dirty="0" smtClean="0"/>
              <a:t>.</a:t>
            </a:r>
          </a:p>
          <a:p>
            <a:endParaRPr lang="en-US" dirty="0"/>
          </a:p>
          <a:p>
            <a:r>
              <a:rPr lang="en-US" dirty="0"/>
              <a:t>The following table, </a:t>
            </a:r>
            <a:r>
              <a:rPr lang="en-US" dirty="0">
                <a:latin typeface="Courier New" panose="02070309020205020404" pitchFamily="49" charset="0"/>
                <a:cs typeface="Courier New" panose="02070309020205020404" pitchFamily="49" charset="0"/>
              </a:rPr>
              <a:t>STUDENT</a:t>
            </a:r>
            <a:r>
              <a:rPr lang="en-US" dirty="0"/>
              <a:t> is used as an example to explain </a:t>
            </a:r>
            <a:r>
              <a:rPr lang="en-US" b="1" dirty="0">
                <a:solidFill>
                  <a:srgbClr val="4B479C"/>
                </a:solidFill>
              </a:rPr>
              <a:t>data redundancy</a:t>
            </a:r>
            <a:r>
              <a:rPr lang="en-US" dirty="0"/>
              <a:t>. It is used to store the data of students, elective subjects and which elective subjects each student takes.</a:t>
            </a:r>
          </a:p>
        </p:txBody>
      </p:sp>
      <p:pic>
        <p:nvPicPr>
          <p:cNvPr id="6" name="Picture 5"/>
          <p:cNvPicPr>
            <a:picLocks noChangeAspect="1"/>
          </p:cNvPicPr>
          <p:nvPr/>
        </p:nvPicPr>
        <p:blipFill>
          <a:blip r:embed="rId2"/>
          <a:stretch>
            <a:fillRect/>
          </a:stretch>
        </p:blipFill>
        <p:spPr>
          <a:xfrm>
            <a:off x="2719511" y="3548892"/>
            <a:ext cx="6754177" cy="2842145"/>
          </a:xfrm>
          <a:prstGeom prst="rect">
            <a:avLst/>
          </a:prstGeom>
        </p:spPr>
      </p:pic>
    </p:spTree>
    <p:extLst>
      <p:ext uri="{BB962C8B-B14F-4D97-AF65-F5344CB8AC3E}">
        <p14:creationId xmlns:p14="http://schemas.microsoft.com/office/powerpoint/2010/main" val="33011886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Redundancy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66</a:t>
            </a:fld>
            <a:endParaRPr lang="en-US" dirty="0"/>
          </a:p>
        </p:txBody>
      </p:sp>
      <p:sp>
        <p:nvSpPr>
          <p:cNvPr id="4" name="Text Placeholder 3"/>
          <p:cNvSpPr>
            <a:spLocks noGrp="1"/>
          </p:cNvSpPr>
          <p:nvPr>
            <p:ph type="body" sz="quarter" idx="14"/>
          </p:nvPr>
        </p:nvSpPr>
        <p:spPr/>
        <p:txBody>
          <a:bodyPr/>
          <a:lstStyle/>
          <a:p>
            <a:r>
              <a:rPr lang="en-US" dirty="0" smtClean="0"/>
              <a:t>5.4</a:t>
            </a:r>
            <a:endParaRPr lang="en-US" dirty="0"/>
          </a:p>
        </p:txBody>
      </p:sp>
      <p:sp>
        <p:nvSpPr>
          <p:cNvPr id="5" name="Content Placeholder 4"/>
          <p:cNvSpPr>
            <a:spLocks noGrp="1"/>
          </p:cNvSpPr>
          <p:nvPr>
            <p:ph sz="quarter" idx="15"/>
          </p:nvPr>
        </p:nvSpPr>
        <p:spPr/>
        <p:txBody>
          <a:bodyPr/>
          <a:lstStyle/>
          <a:p>
            <a:r>
              <a:rPr lang="en-US" dirty="0"/>
              <a:t>The primary key of this table is </a:t>
            </a:r>
            <a:r>
              <a:rPr lang="en-US" dirty="0">
                <a:latin typeface="Courier New" panose="02070309020205020404" pitchFamily="49" charset="0"/>
                <a:cs typeface="Courier New" panose="02070309020205020404" pitchFamily="49" charset="0"/>
              </a:rPr>
              <a:t>SID+EID</a:t>
            </a:r>
            <a:r>
              <a:rPr lang="en-US" dirty="0"/>
              <a:t>.</a:t>
            </a:r>
          </a:p>
        </p:txBody>
      </p:sp>
      <p:pic>
        <p:nvPicPr>
          <p:cNvPr id="6" name="Picture 5"/>
          <p:cNvPicPr>
            <a:picLocks noChangeAspect="1"/>
          </p:cNvPicPr>
          <p:nvPr/>
        </p:nvPicPr>
        <p:blipFill>
          <a:blip r:embed="rId2"/>
          <a:stretch>
            <a:fillRect/>
          </a:stretch>
        </p:blipFill>
        <p:spPr>
          <a:xfrm>
            <a:off x="2305121" y="2232442"/>
            <a:ext cx="7582958" cy="3124636"/>
          </a:xfrm>
          <a:prstGeom prst="rect">
            <a:avLst/>
          </a:prstGeom>
        </p:spPr>
      </p:pic>
    </p:spTree>
    <p:extLst>
      <p:ext uri="{BB962C8B-B14F-4D97-AF65-F5344CB8AC3E}">
        <p14:creationId xmlns:p14="http://schemas.microsoft.com/office/powerpoint/2010/main" val="28397851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Redundancy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67</a:t>
            </a:fld>
            <a:endParaRPr lang="en-US" dirty="0"/>
          </a:p>
        </p:txBody>
      </p:sp>
      <p:sp>
        <p:nvSpPr>
          <p:cNvPr id="4" name="Text Placeholder 3"/>
          <p:cNvSpPr>
            <a:spLocks noGrp="1"/>
          </p:cNvSpPr>
          <p:nvPr>
            <p:ph type="body" sz="quarter" idx="14"/>
          </p:nvPr>
        </p:nvSpPr>
        <p:spPr/>
        <p:txBody>
          <a:bodyPr/>
          <a:lstStyle/>
          <a:p>
            <a:r>
              <a:rPr lang="en-US" dirty="0" smtClean="0"/>
              <a:t>5.4</a:t>
            </a:r>
            <a:endParaRPr lang="en-US" dirty="0"/>
          </a:p>
        </p:txBody>
      </p:sp>
      <p:sp>
        <p:nvSpPr>
          <p:cNvPr id="5" name="Content Placeholder 4"/>
          <p:cNvSpPr>
            <a:spLocks noGrp="1"/>
          </p:cNvSpPr>
          <p:nvPr>
            <p:ph sz="quarter" idx="15"/>
          </p:nvPr>
        </p:nvSpPr>
        <p:spPr/>
        <p:txBody>
          <a:bodyPr/>
          <a:lstStyle/>
          <a:p>
            <a:r>
              <a:rPr lang="en-US" dirty="0"/>
              <a:t>We can see multiple records for Clem in the above table, repeatedly telling us </a:t>
            </a:r>
            <a:r>
              <a:rPr lang="en-US" dirty="0">
                <a:solidFill>
                  <a:srgbClr val="00AE9D"/>
                </a:solidFill>
              </a:rPr>
              <a:t>Clem</a:t>
            </a:r>
            <a:r>
              <a:rPr lang="en-US" dirty="0"/>
              <a:t> is in class </a:t>
            </a:r>
            <a:r>
              <a:rPr lang="en-US" dirty="0">
                <a:solidFill>
                  <a:srgbClr val="00AE9D"/>
                </a:solidFill>
              </a:rPr>
              <a:t>3B</a:t>
            </a:r>
            <a:r>
              <a:rPr lang="en-US" dirty="0"/>
              <a:t> taught by </a:t>
            </a:r>
            <a:r>
              <a:rPr lang="en-US" dirty="0" err="1">
                <a:solidFill>
                  <a:srgbClr val="00AE9D"/>
                </a:solidFill>
              </a:rPr>
              <a:t>Mr</a:t>
            </a:r>
            <a:r>
              <a:rPr lang="en-US" dirty="0">
                <a:solidFill>
                  <a:srgbClr val="00AE9D"/>
                </a:solidFill>
              </a:rPr>
              <a:t> </a:t>
            </a:r>
            <a:r>
              <a:rPr lang="en-US" dirty="0" err="1">
                <a:solidFill>
                  <a:srgbClr val="00AE9D"/>
                </a:solidFill>
              </a:rPr>
              <a:t>Bao</a:t>
            </a:r>
            <a:r>
              <a:rPr lang="en-US" dirty="0"/>
              <a:t>.</a:t>
            </a:r>
          </a:p>
        </p:txBody>
      </p:sp>
      <p:pic>
        <p:nvPicPr>
          <p:cNvPr id="6" name="Picture 5"/>
          <p:cNvPicPr>
            <a:picLocks noChangeAspect="1"/>
          </p:cNvPicPr>
          <p:nvPr/>
        </p:nvPicPr>
        <p:blipFill>
          <a:blip r:embed="rId2"/>
          <a:stretch>
            <a:fillRect/>
          </a:stretch>
        </p:blipFill>
        <p:spPr>
          <a:xfrm>
            <a:off x="2309884" y="2869200"/>
            <a:ext cx="7573432" cy="1314633"/>
          </a:xfrm>
          <a:prstGeom prst="rect">
            <a:avLst/>
          </a:prstGeom>
        </p:spPr>
      </p:pic>
    </p:spTree>
    <p:extLst>
      <p:ext uri="{BB962C8B-B14F-4D97-AF65-F5344CB8AC3E}">
        <p14:creationId xmlns:p14="http://schemas.microsoft.com/office/powerpoint/2010/main" val="13397128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Redundancy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68</a:t>
            </a:fld>
            <a:endParaRPr lang="en-US" dirty="0"/>
          </a:p>
        </p:txBody>
      </p:sp>
      <p:sp>
        <p:nvSpPr>
          <p:cNvPr id="4" name="Text Placeholder 3"/>
          <p:cNvSpPr>
            <a:spLocks noGrp="1"/>
          </p:cNvSpPr>
          <p:nvPr>
            <p:ph type="body" sz="quarter" idx="14"/>
          </p:nvPr>
        </p:nvSpPr>
        <p:spPr/>
        <p:txBody>
          <a:bodyPr/>
          <a:lstStyle/>
          <a:p>
            <a:r>
              <a:rPr lang="en-US" dirty="0" smtClean="0"/>
              <a:t>5.4</a:t>
            </a:r>
            <a:endParaRPr lang="en-US" dirty="0"/>
          </a:p>
        </p:txBody>
      </p:sp>
      <p:sp>
        <p:nvSpPr>
          <p:cNvPr id="5" name="Content Placeholder 4"/>
          <p:cNvSpPr>
            <a:spLocks noGrp="1"/>
          </p:cNvSpPr>
          <p:nvPr>
            <p:ph sz="quarter" idx="15"/>
          </p:nvPr>
        </p:nvSpPr>
        <p:spPr/>
        <p:txBody>
          <a:bodyPr/>
          <a:lstStyle/>
          <a:p>
            <a:r>
              <a:rPr lang="en-US" dirty="0"/>
              <a:t>There are also multiple records for the elective subject ICT, repeatedly telling us </a:t>
            </a:r>
            <a:r>
              <a:rPr lang="en-US" dirty="0">
                <a:solidFill>
                  <a:srgbClr val="00AE9D"/>
                </a:solidFill>
              </a:rPr>
              <a:t>ICT</a:t>
            </a:r>
            <a:r>
              <a:rPr lang="en-US" dirty="0"/>
              <a:t> is taught by </a:t>
            </a:r>
            <a:r>
              <a:rPr lang="en-US" dirty="0" err="1">
                <a:solidFill>
                  <a:srgbClr val="00AE9D"/>
                </a:solidFill>
              </a:rPr>
              <a:t>Mr</a:t>
            </a:r>
            <a:r>
              <a:rPr lang="en-US" dirty="0">
                <a:solidFill>
                  <a:srgbClr val="00AE9D"/>
                </a:solidFill>
              </a:rPr>
              <a:t> </a:t>
            </a:r>
            <a:r>
              <a:rPr lang="en-US" dirty="0" err="1">
                <a:solidFill>
                  <a:srgbClr val="00AE9D"/>
                </a:solidFill>
              </a:rPr>
              <a:t>Suen</a:t>
            </a:r>
            <a:r>
              <a:rPr lang="en-US" dirty="0" smtClean="0"/>
              <a:t>.</a:t>
            </a:r>
          </a:p>
          <a:p>
            <a:endParaRPr lang="en-US" dirty="0"/>
          </a:p>
          <a:p>
            <a:endParaRPr lang="en-US" dirty="0" smtClean="0"/>
          </a:p>
          <a:p>
            <a:endParaRPr lang="en-US" dirty="0"/>
          </a:p>
          <a:p>
            <a:endParaRPr lang="en-US" dirty="0" smtClean="0"/>
          </a:p>
          <a:p>
            <a:endParaRPr lang="en-US" dirty="0"/>
          </a:p>
          <a:p>
            <a:r>
              <a:rPr lang="en-US" dirty="0"/>
              <a:t>These duplicated pieces of data are redundant and occupy precious storage space. This is called data redundancy.</a:t>
            </a:r>
          </a:p>
        </p:txBody>
      </p:sp>
      <p:pic>
        <p:nvPicPr>
          <p:cNvPr id="6" name="Picture 5"/>
          <p:cNvPicPr>
            <a:picLocks noChangeAspect="1"/>
          </p:cNvPicPr>
          <p:nvPr/>
        </p:nvPicPr>
        <p:blipFill>
          <a:blip r:embed="rId2"/>
          <a:stretch>
            <a:fillRect/>
          </a:stretch>
        </p:blipFill>
        <p:spPr>
          <a:xfrm>
            <a:off x="1918800" y="2869200"/>
            <a:ext cx="7977577" cy="1410719"/>
          </a:xfrm>
          <a:prstGeom prst="rect">
            <a:avLst/>
          </a:prstGeom>
        </p:spPr>
      </p:pic>
    </p:spTree>
    <p:extLst>
      <p:ext uri="{BB962C8B-B14F-4D97-AF65-F5344CB8AC3E}">
        <p14:creationId xmlns:p14="http://schemas.microsoft.com/office/powerpoint/2010/main" val="9125426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Redundancy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69</a:t>
            </a:fld>
            <a:endParaRPr lang="en-US" dirty="0"/>
          </a:p>
        </p:txBody>
      </p:sp>
      <p:sp>
        <p:nvSpPr>
          <p:cNvPr id="4" name="Text Placeholder 3"/>
          <p:cNvSpPr>
            <a:spLocks noGrp="1"/>
          </p:cNvSpPr>
          <p:nvPr>
            <p:ph type="body" sz="quarter" idx="14"/>
          </p:nvPr>
        </p:nvSpPr>
        <p:spPr/>
        <p:txBody>
          <a:bodyPr/>
          <a:lstStyle/>
          <a:p>
            <a:r>
              <a:rPr lang="en-US" dirty="0" smtClean="0"/>
              <a:t>5.4</a:t>
            </a:r>
            <a:endParaRPr lang="en-US" dirty="0"/>
          </a:p>
        </p:txBody>
      </p:sp>
      <p:sp>
        <p:nvSpPr>
          <p:cNvPr id="5" name="Content Placeholder 4"/>
          <p:cNvSpPr>
            <a:spLocks noGrp="1"/>
          </p:cNvSpPr>
          <p:nvPr>
            <p:ph sz="quarter" idx="15"/>
          </p:nvPr>
        </p:nvSpPr>
        <p:spPr/>
        <p:txBody>
          <a:bodyPr/>
          <a:lstStyle/>
          <a:p>
            <a:r>
              <a:rPr lang="en-US" dirty="0"/>
              <a:t>While it is not a fatal issue when we have abundant storage space, data redundancy tends to induce the following </a:t>
            </a:r>
            <a:r>
              <a:rPr lang="en-US" dirty="0" smtClean="0"/>
              <a:t>anomalies:</a:t>
            </a:r>
          </a:p>
          <a:p>
            <a:endParaRPr lang="en-US" dirty="0"/>
          </a:p>
          <a:p>
            <a:pPr marL="342900" indent="-342900">
              <a:buClr>
                <a:schemeClr val="tx1"/>
              </a:buClr>
              <a:buFont typeface="Arial" panose="020B0604020202020204" pitchFamily="34" charset="0"/>
              <a:buChar char="•"/>
            </a:pPr>
            <a:r>
              <a:rPr lang="en-US" b="1" dirty="0" smtClean="0">
                <a:solidFill>
                  <a:srgbClr val="4B479C"/>
                </a:solidFill>
              </a:rPr>
              <a:t>Update </a:t>
            </a:r>
            <a:r>
              <a:rPr lang="en-US" b="1" dirty="0">
                <a:solidFill>
                  <a:srgbClr val="4B479C"/>
                </a:solidFill>
              </a:rPr>
              <a:t>anomaly</a:t>
            </a:r>
            <a:r>
              <a:rPr lang="en-US" dirty="0"/>
              <a:t>;</a:t>
            </a:r>
          </a:p>
          <a:p>
            <a:pPr marL="342900" indent="-342900">
              <a:buClr>
                <a:schemeClr val="tx1"/>
              </a:buClr>
              <a:buFont typeface="Arial" panose="020B0604020202020204" pitchFamily="34" charset="0"/>
              <a:buChar char="•"/>
            </a:pPr>
            <a:r>
              <a:rPr lang="en-US" b="1" dirty="0" smtClean="0">
                <a:solidFill>
                  <a:srgbClr val="4B479C"/>
                </a:solidFill>
              </a:rPr>
              <a:t>Insertion </a:t>
            </a:r>
            <a:r>
              <a:rPr lang="en-US" b="1" dirty="0">
                <a:solidFill>
                  <a:srgbClr val="4B479C"/>
                </a:solidFill>
              </a:rPr>
              <a:t>anomaly</a:t>
            </a:r>
            <a:r>
              <a:rPr lang="en-US" dirty="0"/>
              <a:t>; and</a:t>
            </a:r>
          </a:p>
          <a:p>
            <a:pPr marL="342900" indent="-342900">
              <a:buClr>
                <a:schemeClr val="tx1"/>
              </a:buClr>
              <a:buFont typeface="Arial" panose="020B0604020202020204" pitchFamily="34" charset="0"/>
              <a:buChar char="•"/>
            </a:pPr>
            <a:r>
              <a:rPr lang="en-US" b="1" dirty="0" smtClean="0">
                <a:solidFill>
                  <a:srgbClr val="4B479C"/>
                </a:solidFill>
              </a:rPr>
              <a:t>Deletion </a:t>
            </a:r>
            <a:r>
              <a:rPr lang="en-US" b="1" dirty="0">
                <a:solidFill>
                  <a:srgbClr val="4B479C"/>
                </a:solidFill>
              </a:rPr>
              <a:t>anomaly</a:t>
            </a:r>
            <a:r>
              <a:rPr lang="en-US" dirty="0"/>
              <a:t>.</a:t>
            </a:r>
          </a:p>
        </p:txBody>
      </p:sp>
    </p:spTree>
    <p:extLst>
      <p:ext uri="{BB962C8B-B14F-4D97-AF65-F5344CB8AC3E}">
        <p14:creationId xmlns:p14="http://schemas.microsoft.com/office/powerpoint/2010/main" val="3039708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 anomaly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70</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If the student Clem is transferred from class </a:t>
            </a:r>
            <a:r>
              <a:rPr lang="en-US" dirty="0">
                <a:solidFill>
                  <a:srgbClr val="00AE9D"/>
                </a:solidFill>
              </a:rPr>
              <a:t>3B</a:t>
            </a:r>
            <a:r>
              <a:rPr lang="en-US" dirty="0"/>
              <a:t> to class </a:t>
            </a:r>
            <a:r>
              <a:rPr lang="en-US" dirty="0">
                <a:solidFill>
                  <a:srgbClr val="00AE9D"/>
                </a:solidFill>
              </a:rPr>
              <a:t>3A</a:t>
            </a:r>
            <a:r>
              <a:rPr lang="en-US" dirty="0"/>
              <a:t>, all three records for Clem have to be updated at the same time. Otherwise, the data will be inconsistent.</a:t>
            </a:r>
          </a:p>
        </p:txBody>
      </p:sp>
      <p:pic>
        <p:nvPicPr>
          <p:cNvPr id="6" name="Picture 5"/>
          <p:cNvPicPr>
            <a:picLocks noChangeAspect="1"/>
          </p:cNvPicPr>
          <p:nvPr/>
        </p:nvPicPr>
        <p:blipFill>
          <a:blip r:embed="rId2"/>
          <a:stretch>
            <a:fillRect/>
          </a:stretch>
        </p:blipFill>
        <p:spPr>
          <a:xfrm>
            <a:off x="2343785" y="2763492"/>
            <a:ext cx="7505629" cy="3284153"/>
          </a:xfrm>
          <a:prstGeom prst="rect">
            <a:avLst/>
          </a:prstGeom>
        </p:spPr>
      </p:pic>
    </p:spTree>
    <p:extLst>
      <p:ext uri="{BB962C8B-B14F-4D97-AF65-F5344CB8AC3E}">
        <p14:creationId xmlns:p14="http://schemas.microsoft.com/office/powerpoint/2010/main" val="13290955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 anomaly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71</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Similarly, if </a:t>
            </a:r>
            <a:r>
              <a:rPr lang="en-US" dirty="0" err="1">
                <a:solidFill>
                  <a:srgbClr val="00AE9D"/>
                </a:solidFill>
              </a:rPr>
              <a:t>Mrs</a:t>
            </a:r>
            <a:r>
              <a:rPr lang="en-US" dirty="0">
                <a:solidFill>
                  <a:srgbClr val="00AE9D"/>
                </a:solidFill>
              </a:rPr>
              <a:t> Lee</a:t>
            </a:r>
            <a:r>
              <a:rPr lang="en-US" dirty="0"/>
              <a:t> teaches the elective subject ICT, replacing </a:t>
            </a:r>
            <a:r>
              <a:rPr lang="en-US" dirty="0" err="1">
                <a:solidFill>
                  <a:srgbClr val="00AE9D"/>
                </a:solidFill>
              </a:rPr>
              <a:t>Mr</a:t>
            </a:r>
            <a:r>
              <a:rPr lang="en-US" dirty="0">
                <a:solidFill>
                  <a:srgbClr val="00AE9D"/>
                </a:solidFill>
              </a:rPr>
              <a:t> </a:t>
            </a:r>
            <a:r>
              <a:rPr lang="en-US" dirty="0" err="1">
                <a:solidFill>
                  <a:srgbClr val="00AE9D"/>
                </a:solidFill>
              </a:rPr>
              <a:t>Suen</a:t>
            </a:r>
            <a:r>
              <a:rPr lang="en-US" dirty="0"/>
              <a:t>, all three records for ICT have to be updated at the same time to preserve data consistency.</a:t>
            </a:r>
          </a:p>
        </p:txBody>
      </p:sp>
      <p:pic>
        <p:nvPicPr>
          <p:cNvPr id="6" name="Picture 5"/>
          <p:cNvPicPr>
            <a:picLocks noChangeAspect="1"/>
          </p:cNvPicPr>
          <p:nvPr/>
        </p:nvPicPr>
        <p:blipFill>
          <a:blip r:embed="rId2"/>
          <a:stretch>
            <a:fillRect/>
          </a:stretch>
        </p:blipFill>
        <p:spPr>
          <a:xfrm>
            <a:off x="1918800" y="2626449"/>
            <a:ext cx="8288147" cy="3604562"/>
          </a:xfrm>
          <a:prstGeom prst="rect">
            <a:avLst/>
          </a:prstGeom>
        </p:spPr>
      </p:pic>
    </p:spTree>
    <p:extLst>
      <p:ext uri="{BB962C8B-B14F-4D97-AF65-F5344CB8AC3E}">
        <p14:creationId xmlns:p14="http://schemas.microsoft.com/office/powerpoint/2010/main" val="344362547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 anomaly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72</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An </a:t>
            </a:r>
            <a:r>
              <a:rPr lang="en-US" dirty="0">
                <a:solidFill>
                  <a:srgbClr val="00AE9D"/>
                </a:solidFill>
              </a:rPr>
              <a:t>update anomaly</a:t>
            </a:r>
            <a:r>
              <a:rPr lang="en-US" dirty="0"/>
              <a:t> occurs when a database with data redundancy fails to maintain data consistency after an update is made.</a:t>
            </a:r>
          </a:p>
        </p:txBody>
      </p:sp>
      <p:pic>
        <p:nvPicPr>
          <p:cNvPr id="6" name="Picture 5"/>
          <p:cNvPicPr>
            <a:picLocks noChangeAspect="1"/>
          </p:cNvPicPr>
          <p:nvPr/>
        </p:nvPicPr>
        <p:blipFill>
          <a:blip r:embed="rId2"/>
          <a:stretch>
            <a:fillRect/>
          </a:stretch>
        </p:blipFill>
        <p:spPr>
          <a:xfrm>
            <a:off x="1918800" y="2587615"/>
            <a:ext cx="8147847" cy="3402566"/>
          </a:xfrm>
          <a:prstGeom prst="rect">
            <a:avLst/>
          </a:prstGeom>
        </p:spPr>
      </p:pic>
    </p:spTree>
    <p:extLst>
      <p:ext uri="{BB962C8B-B14F-4D97-AF65-F5344CB8AC3E}">
        <p14:creationId xmlns:p14="http://schemas.microsoft.com/office/powerpoint/2010/main" val="21237461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Insertion </a:t>
            </a:r>
            <a:r>
              <a:rPr lang="en-US" dirty="0"/>
              <a:t>anomaly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73</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If there is a new student </a:t>
            </a:r>
            <a:r>
              <a:rPr lang="en-US" dirty="0" err="1"/>
              <a:t>Dio</a:t>
            </a:r>
            <a:r>
              <a:rPr lang="en-US" dirty="0"/>
              <a:t> who has not taken any elective subject yet, his </a:t>
            </a:r>
            <a:r>
              <a:rPr lang="en-US" dirty="0">
                <a:solidFill>
                  <a:srgbClr val="E79199"/>
                </a:solidFill>
                <a:latin typeface="Courier New" panose="02070309020205020404" pitchFamily="49" charset="0"/>
                <a:cs typeface="Courier New" panose="02070309020205020404" pitchFamily="49" charset="0"/>
              </a:rPr>
              <a:t>EID</a:t>
            </a:r>
            <a:r>
              <a:rPr lang="en-US" dirty="0"/>
              <a:t> can only be </a:t>
            </a:r>
            <a:r>
              <a:rPr lang="en-US" dirty="0">
                <a:latin typeface="Courier New" panose="02070309020205020404" pitchFamily="49" charset="0"/>
                <a:cs typeface="Courier New" panose="02070309020205020404" pitchFamily="49" charset="0"/>
              </a:rPr>
              <a:t>NULL</a:t>
            </a:r>
            <a:r>
              <a:rPr lang="en-US" dirty="0"/>
              <a:t>. Since the </a:t>
            </a:r>
            <a:r>
              <a:rPr lang="en-US" dirty="0">
                <a:solidFill>
                  <a:srgbClr val="DB325F"/>
                </a:solidFill>
              </a:rPr>
              <a:t>primary key</a:t>
            </a:r>
            <a:r>
              <a:rPr lang="en-US" dirty="0"/>
              <a:t> of </a:t>
            </a:r>
            <a:r>
              <a:rPr lang="en-US" dirty="0">
                <a:latin typeface="Courier New" panose="02070309020205020404" pitchFamily="49" charset="0"/>
                <a:cs typeface="Courier New" panose="02070309020205020404" pitchFamily="49" charset="0"/>
              </a:rPr>
              <a:t>STUDENT</a:t>
            </a:r>
            <a:r>
              <a:rPr lang="en-US" dirty="0"/>
              <a:t> is </a:t>
            </a:r>
            <a:r>
              <a:rPr lang="en-US" dirty="0">
                <a:solidFill>
                  <a:srgbClr val="B32E59"/>
                </a:solidFill>
                <a:latin typeface="Courier New" panose="02070309020205020404" pitchFamily="49" charset="0"/>
                <a:cs typeface="Courier New" panose="02070309020205020404" pitchFamily="49" charset="0"/>
              </a:rPr>
              <a:t>SID</a:t>
            </a:r>
            <a:r>
              <a:rPr lang="en-US" dirty="0">
                <a:solidFill>
                  <a:srgbClr val="E24E7C"/>
                </a:solidFill>
                <a:latin typeface="Courier New" panose="02070309020205020404" pitchFamily="49" charset="0"/>
                <a:cs typeface="Courier New" panose="02070309020205020404" pitchFamily="49" charset="0"/>
              </a:rPr>
              <a:t>+</a:t>
            </a:r>
            <a:r>
              <a:rPr lang="en-US" dirty="0">
                <a:solidFill>
                  <a:srgbClr val="E79199"/>
                </a:solidFill>
                <a:latin typeface="Courier New" panose="02070309020205020404" pitchFamily="49" charset="0"/>
                <a:cs typeface="Courier New" panose="02070309020205020404" pitchFamily="49" charset="0"/>
              </a:rPr>
              <a:t>EID</a:t>
            </a:r>
            <a:r>
              <a:rPr lang="en-US" dirty="0"/>
              <a:t> and a primary key cannot be </a:t>
            </a:r>
            <a:r>
              <a:rPr lang="en-US" dirty="0">
                <a:latin typeface="Courier New" panose="02070309020205020404" pitchFamily="49" charset="0"/>
                <a:cs typeface="Courier New" panose="02070309020205020404" pitchFamily="49" charset="0"/>
              </a:rPr>
              <a:t>NULL</a:t>
            </a:r>
            <a:r>
              <a:rPr lang="en-US" dirty="0"/>
              <a:t>, his record cannot be inserted into the table.</a:t>
            </a:r>
          </a:p>
        </p:txBody>
      </p:sp>
      <p:pic>
        <p:nvPicPr>
          <p:cNvPr id="6" name="Picture 5"/>
          <p:cNvPicPr>
            <a:picLocks noChangeAspect="1"/>
          </p:cNvPicPr>
          <p:nvPr/>
        </p:nvPicPr>
        <p:blipFill>
          <a:blip r:embed="rId2"/>
          <a:stretch>
            <a:fillRect/>
          </a:stretch>
        </p:blipFill>
        <p:spPr>
          <a:xfrm>
            <a:off x="1875330" y="3309106"/>
            <a:ext cx="8442540" cy="795715"/>
          </a:xfrm>
          <a:prstGeom prst="rect">
            <a:avLst/>
          </a:prstGeom>
        </p:spPr>
      </p:pic>
    </p:spTree>
    <p:extLst>
      <p:ext uri="{BB962C8B-B14F-4D97-AF65-F5344CB8AC3E}">
        <p14:creationId xmlns:p14="http://schemas.microsoft.com/office/powerpoint/2010/main" val="19507877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anomaly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74</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Similarly, if there is a new elective subject Art which is not taken by any student yet, its </a:t>
            </a:r>
            <a:r>
              <a:rPr lang="en-US" dirty="0">
                <a:solidFill>
                  <a:srgbClr val="B32E59"/>
                </a:solidFill>
                <a:latin typeface="Courier New" panose="02070309020205020404" pitchFamily="49" charset="0"/>
                <a:cs typeface="Courier New" panose="02070309020205020404" pitchFamily="49" charset="0"/>
              </a:rPr>
              <a:t>SID</a:t>
            </a:r>
            <a:r>
              <a:rPr lang="en-US" dirty="0"/>
              <a:t> can only be </a:t>
            </a:r>
            <a:r>
              <a:rPr lang="en-US" dirty="0">
                <a:latin typeface="Courier New" panose="02070309020205020404" pitchFamily="49" charset="0"/>
                <a:cs typeface="Courier New" panose="02070309020205020404" pitchFamily="49" charset="0"/>
              </a:rPr>
              <a:t>NULL</a:t>
            </a:r>
            <a:r>
              <a:rPr lang="en-US" dirty="0"/>
              <a:t>. Thus, its record cannot be inserted into the table</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r>
              <a:rPr lang="en-US" dirty="0"/>
              <a:t>An </a:t>
            </a:r>
            <a:r>
              <a:rPr lang="en-US" dirty="0">
                <a:solidFill>
                  <a:srgbClr val="00AE9D"/>
                </a:solidFill>
              </a:rPr>
              <a:t>insertion anomaly</a:t>
            </a:r>
            <a:r>
              <a:rPr lang="en-US" dirty="0"/>
              <a:t> refers to the inability to insert data of one entity type without having the data of another entity type.</a:t>
            </a:r>
          </a:p>
        </p:txBody>
      </p:sp>
      <p:pic>
        <p:nvPicPr>
          <p:cNvPr id="6" name="Picture 5"/>
          <p:cNvPicPr>
            <a:picLocks noChangeAspect="1"/>
          </p:cNvPicPr>
          <p:nvPr/>
        </p:nvPicPr>
        <p:blipFill>
          <a:blip r:embed="rId2"/>
          <a:stretch>
            <a:fillRect/>
          </a:stretch>
        </p:blipFill>
        <p:spPr>
          <a:xfrm>
            <a:off x="1669451" y="3258767"/>
            <a:ext cx="8854298" cy="893420"/>
          </a:xfrm>
          <a:prstGeom prst="rect">
            <a:avLst/>
          </a:prstGeom>
        </p:spPr>
      </p:pic>
    </p:spTree>
    <p:extLst>
      <p:ext uri="{BB962C8B-B14F-4D97-AF65-F5344CB8AC3E}">
        <p14:creationId xmlns:p14="http://schemas.microsoft.com/office/powerpoint/2010/main" val="20625770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Deletion anomaly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75</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If the student Ada, who is the only student in class </a:t>
            </a:r>
            <a:r>
              <a:rPr lang="en-US" dirty="0">
                <a:solidFill>
                  <a:srgbClr val="7DAC4F"/>
                </a:solidFill>
              </a:rPr>
              <a:t>3A</a:t>
            </a:r>
            <a:r>
              <a:rPr lang="en-US" dirty="0"/>
              <a:t>, quits school, her record will be deleted. As a result, the data related to class </a:t>
            </a:r>
            <a:r>
              <a:rPr lang="en-US" dirty="0">
                <a:solidFill>
                  <a:srgbClr val="7DAC4F"/>
                </a:solidFill>
              </a:rPr>
              <a:t>3A</a:t>
            </a:r>
            <a:r>
              <a:rPr lang="en-US" dirty="0"/>
              <a:t>, such as the name of the teacher who teaches class </a:t>
            </a:r>
            <a:r>
              <a:rPr lang="en-US" dirty="0">
                <a:solidFill>
                  <a:srgbClr val="7DAC4F"/>
                </a:solidFill>
              </a:rPr>
              <a:t>3A</a:t>
            </a:r>
            <a:r>
              <a:rPr lang="en-US" dirty="0"/>
              <a:t>, will be lost.</a:t>
            </a:r>
          </a:p>
        </p:txBody>
      </p:sp>
      <p:pic>
        <p:nvPicPr>
          <p:cNvPr id="6" name="Picture 5"/>
          <p:cNvPicPr>
            <a:picLocks noChangeAspect="1"/>
          </p:cNvPicPr>
          <p:nvPr/>
        </p:nvPicPr>
        <p:blipFill>
          <a:blip r:embed="rId2"/>
          <a:stretch>
            <a:fillRect/>
          </a:stretch>
        </p:blipFill>
        <p:spPr>
          <a:xfrm>
            <a:off x="1978876" y="2952328"/>
            <a:ext cx="8235448" cy="3040571"/>
          </a:xfrm>
          <a:prstGeom prst="rect">
            <a:avLst/>
          </a:prstGeom>
        </p:spPr>
      </p:pic>
    </p:spTree>
    <p:extLst>
      <p:ext uri="{BB962C8B-B14F-4D97-AF65-F5344CB8AC3E}">
        <p14:creationId xmlns:p14="http://schemas.microsoft.com/office/powerpoint/2010/main" val="14738347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Deletion anomaly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76</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Similarly, if Clem and Eva, who are the only students taking </a:t>
            </a:r>
            <a:r>
              <a:rPr lang="en-US" dirty="0">
                <a:solidFill>
                  <a:srgbClr val="7DAC4F"/>
                </a:solidFill>
              </a:rPr>
              <a:t>History</a:t>
            </a:r>
            <a:r>
              <a:rPr lang="en-US" dirty="0"/>
              <a:t>, quit studying </a:t>
            </a:r>
            <a:r>
              <a:rPr lang="en-US" dirty="0">
                <a:solidFill>
                  <a:srgbClr val="7DAC4F"/>
                </a:solidFill>
              </a:rPr>
              <a:t>History</a:t>
            </a:r>
            <a:r>
              <a:rPr lang="en-US" dirty="0"/>
              <a:t>. Their records for </a:t>
            </a:r>
            <a:r>
              <a:rPr lang="en-US" dirty="0">
                <a:solidFill>
                  <a:srgbClr val="7DAC4F"/>
                </a:solidFill>
              </a:rPr>
              <a:t>History</a:t>
            </a:r>
            <a:r>
              <a:rPr lang="en-US" dirty="0"/>
              <a:t> will be deleted. </a:t>
            </a: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As </a:t>
            </a:r>
            <a:r>
              <a:rPr lang="en-US" dirty="0"/>
              <a:t>a result, the data related to </a:t>
            </a:r>
            <a:r>
              <a:rPr lang="en-US" dirty="0">
                <a:solidFill>
                  <a:srgbClr val="7DAC4F"/>
                </a:solidFill>
              </a:rPr>
              <a:t>History</a:t>
            </a:r>
            <a:r>
              <a:rPr lang="en-US" dirty="0"/>
              <a:t>, such as the name of the teacher who teaches </a:t>
            </a:r>
            <a:r>
              <a:rPr lang="en-US" dirty="0">
                <a:solidFill>
                  <a:srgbClr val="7DAC4F"/>
                </a:solidFill>
              </a:rPr>
              <a:t>History</a:t>
            </a:r>
            <a:r>
              <a:rPr lang="en-US" dirty="0"/>
              <a:t>, will be lost</a:t>
            </a:r>
            <a:r>
              <a:rPr lang="en-US" dirty="0" smtClean="0"/>
              <a:t>.</a:t>
            </a:r>
          </a:p>
          <a:p>
            <a:endParaRPr lang="en-US" dirty="0"/>
          </a:p>
          <a:p>
            <a:endParaRPr lang="en-US" dirty="0" smtClean="0"/>
          </a:p>
          <a:p>
            <a:endParaRPr lang="en-US" dirty="0"/>
          </a:p>
          <a:p>
            <a:endParaRPr lang="en-US" dirty="0" smtClean="0"/>
          </a:p>
          <a:p>
            <a:endParaRPr lang="en-US" dirty="0"/>
          </a:p>
        </p:txBody>
      </p:sp>
      <p:pic>
        <p:nvPicPr>
          <p:cNvPr id="7" name="Picture 6"/>
          <p:cNvPicPr>
            <a:picLocks noChangeAspect="1"/>
          </p:cNvPicPr>
          <p:nvPr/>
        </p:nvPicPr>
        <p:blipFill>
          <a:blip r:embed="rId2"/>
          <a:stretch>
            <a:fillRect/>
          </a:stretch>
        </p:blipFill>
        <p:spPr>
          <a:xfrm>
            <a:off x="2336323" y="2487103"/>
            <a:ext cx="7313110" cy="2700039"/>
          </a:xfrm>
          <a:prstGeom prst="rect">
            <a:avLst/>
          </a:prstGeom>
        </p:spPr>
      </p:pic>
    </p:spTree>
    <p:extLst>
      <p:ext uri="{BB962C8B-B14F-4D97-AF65-F5344CB8AC3E}">
        <p14:creationId xmlns:p14="http://schemas.microsoft.com/office/powerpoint/2010/main" val="165061285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Deletion anomaly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77</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Moreover, as </a:t>
            </a:r>
            <a:r>
              <a:rPr lang="en-US" dirty="0">
                <a:solidFill>
                  <a:srgbClr val="7DAC4F"/>
                </a:solidFill>
              </a:rPr>
              <a:t>Eva</a:t>
            </a:r>
            <a:r>
              <a:rPr lang="en-US" dirty="0"/>
              <a:t> takes History only, with her record for History gone, her data, such as her name and her class, will be lost too</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r>
              <a:rPr lang="en-US" dirty="0"/>
              <a:t>A </a:t>
            </a:r>
            <a:r>
              <a:rPr lang="en-US" dirty="0">
                <a:solidFill>
                  <a:srgbClr val="00AE9D"/>
                </a:solidFill>
              </a:rPr>
              <a:t>deletion anomaly</a:t>
            </a:r>
            <a:r>
              <a:rPr lang="en-US" dirty="0"/>
              <a:t> refers to the loss of data of one entity type when deleting the data of another entity type.</a:t>
            </a:r>
          </a:p>
        </p:txBody>
      </p:sp>
      <p:pic>
        <p:nvPicPr>
          <p:cNvPr id="6" name="Picture 5"/>
          <p:cNvPicPr>
            <a:picLocks noChangeAspect="1"/>
          </p:cNvPicPr>
          <p:nvPr/>
        </p:nvPicPr>
        <p:blipFill>
          <a:blip r:embed="rId2"/>
          <a:stretch>
            <a:fillRect/>
          </a:stretch>
        </p:blipFill>
        <p:spPr>
          <a:xfrm>
            <a:off x="1918800" y="2527982"/>
            <a:ext cx="8153510" cy="2666090"/>
          </a:xfrm>
          <a:prstGeom prst="rect">
            <a:avLst/>
          </a:prstGeom>
        </p:spPr>
      </p:pic>
    </p:spTree>
    <p:extLst>
      <p:ext uri="{BB962C8B-B14F-4D97-AF65-F5344CB8AC3E}">
        <p14:creationId xmlns:p14="http://schemas.microsoft.com/office/powerpoint/2010/main" val="8001586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1. A </a:t>
            </a:r>
            <a:r>
              <a:rPr lang="en-US" dirty="0"/>
              <a:t>manager uses a table, </a:t>
            </a:r>
            <a:r>
              <a:rPr lang="en-US" dirty="0">
                <a:latin typeface="Courier New" panose="02070309020205020404" pitchFamily="49" charset="0"/>
                <a:cs typeface="Courier New" panose="02070309020205020404" pitchFamily="49" charset="0"/>
              </a:rPr>
              <a:t>CITIZEN</a:t>
            </a:r>
            <a:r>
              <a:rPr lang="en-US" dirty="0"/>
              <a:t> to manage the data of the ownership of properties</a:t>
            </a:r>
            <a:r>
              <a:rPr lang="en-US" dirty="0" smtClean="0"/>
              <a:t>.</a:t>
            </a:r>
          </a:p>
          <a:p>
            <a:endParaRPr lang="en-US" dirty="0" smtClean="0"/>
          </a:p>
          <a:p>
            <a:endParaRPr lang="en-US" dirty="0"/>
          </a:p>
          <a:p>
            <a:endParaRPr lang="en-US" dirty="0" smtClean="0"/>
          </a:p>
          <a:p>
            <a:endParaRPr lang="en-US" dirty="0"/>
          </a:p>
          <a:p>
            <a:endParaRPr lang="en-US" dirty="0" smtClean="0"/>
          </a:p>
          <a:p>
            <a:endParaRPr lang="en-US" dirty="0"/>
          </a:p>
          <a:p>
            <a:r>
              <a:rPr lang="en-US" dirty="0"/>
              <a:t>The primary key of CITIZEN is CID+PID. </a:t>
            </a:r>
          </a:p>
        </p:txBody>
      </p:sp>
      <p:sp>
        <p:nvSpPr>
          <p:cNvPr id="3" name="Slide Number Placeholder 2"/>
          <p:cNvSpPr>
            <a:spLocks noGrp="1"/>
          </p:cNvSpPr>
          <p:nvPr>
            <p:ph type="sldNum" sz="quarter" idx="12"/>
          </p:nvPr>
        </p:nvSpPr>
        <p:spPr/>
        <p:txBody>
          <a:bodyPr/>
          <a:lstStyle/>
          <a:p>
            <a:fld id="{6D22F896-40B5-4ADD-8801-0D06FADFA095}" type="slidenum">
              <a:rPr lang="en-US" smtClean="0"/>
              <a:t>78</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1106246" y="1991190"/>
            <a:ext cx="5712170" cy="2755377"/>
          </a:xfrm>
          <a:prstGeom prst="rect">
            <a:avLst/>
          </a:prstGeom>
        </p:spPr>
      </p:pic>
    </p:spTree>
    <p:extLst>
      <p:ext uri="{BB962C8B-B14F-4D97-AF65-F5344CB8AC3E}">
        <p14:creationId xmlns:p14="http://schemas.microsoft.com/office/powerpoint/2010/main" val="188827805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Here is the data of </a:t>
            </a:r>
            <a:r>
              <a:rPr lang="en-US" dirty="0">
                <a:latin typeface="Courier New" panose="02070309020205020404" pitchFamily="49" charset="0"/>
                <a:cs typeface="Courier New" panose="02070309020205020404" pitchFamily="49" charset="0"/>
              </a:rPr>
              <a:t>CITIZEN</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r>
              <a:rPr lang="en-US" dirty="0"/>
              <a:t>(a) Adam no long owns GG Garden 6/F Flat B now. Instead, Adam owns a commercial property, PP Plaza 2/F Shop G23. What anomaly may occur due to this change?</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79</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pic>
        <p:nvPicPr>
          <p:cNvPr id="5" name="Picture 4"/>
          <p:cNvPicPr>
            <a:picLocks noChangeAspect="1"/>
          </p:cNvPicPr>
          <p:nvPr/>
        </p:nvPicPr>
        <p:blipFill>
          <a:blip r:embed="rId2"/>
          <a:stretch>
            <a:fillRect/>
          </a:stretch>
        </p:blipFill>
        <p:spPr>
          <a:xfrm>
            <a:off x="896390" y="1943742"/>
            <a:ext cx="7870933" cy="2582888"/>
          </a:xfrm>
          <a:prstGeom prst="rect">
            <a:avLst/>
          </a:prstGeom>
        </p:spPr>
      </p:pic>
    </p:spTree>
    <p:extLst>
      <p:ext uri="{BB962C8B-B14F-4D97-AF65-F5344CB8AC3E}">
        <p14:creationId xmlns:p14="http://schemas.microsoft.com/office/powerpoint/2010/main" val="66656015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Can the manager add an unowned property to the table? Explain briefly and name the anomaly if </a:t>
            </a:r>
            <a:r>
              <a:rPr lang="en-US" dirty="0" smtClean="0"/>
              <a:t>any.</a:t>
            </a:r>
          </a:p>
          <a:p>
            <a:endParaRPr lang="en-US" dirty="0"/>
          </a:p>
          <a:p>
            <a:r>
              <a:rPr lang="en-US" dirty="0"/>
              <a:t>(c) CC City is renamed to CC Court. How many records needs to be updated? What anomaly may </a:t>
            </a:r>
            <a:r>
              <a:rPr lang="en-US" dirty="0" smtClean="0"/>
              <a:t>occur</a:t>
            </a:r>
            <a:r>
              <a:rPr lang="en-US" dirty="0"/>
              <a:t>?</a:t>
            </a:r>
          </a:p>
        </p:txBody>
      </p:sp>
      <p:sp>
        <p:nvSpPr>
          <p:cNvPr id="3" name="Slide Number Placeholder 2"/>
          <p:cNvSpPr>
            <a:spLocks noGrp="1"/>
          </p:cNvSpPr>
          <p:nvPr>
            <p:ph type="sldNum" sz="quarter" idx="12"/>
          </p:nvPr>
        </p:nvSpPr>
        <p:spPr/>
        <p:txBody>
          <a:bodyPr/>
          <a:lstStyle/>
          <a:p>
            <a:fld id="{6D22F896-40B5-4ADD-8801-0D06FADFA095}" type="slidenum">
              <a:rPr lang="en-US" smtClean="0"/>
              <a:t>80</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spTree>
    <p:extLst>
      <p:ext uri="{BB962C8B-B14F-4D97-AF65-F5344CB8AC3E}">
        <p14:creationId xmlns:p14="http://schemas.microsoft.com/office/powerpoint/2010/main" val="416830730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37A3D4"/>
                </a:solidFill>
              </a:rPr>
              <a:t>◣ </a:t>
            </a:r>
            <a:r>
              <a:rPr lang="en-US" b="1" dirty="0">
                <a:solidFill>
                  <a:srgbClr val="37A3D4"/>
                </a:solidFill>
              </a:rPr>
              <a:t>Solution</a:t>
            </a:r>
          </a:p>
          <a:p>
            <a:r>
              <a:rPr lang="en-US" dirty="0" smtClean="0"/>
              <a:t>(a) Deletion </a:t>
            </a:r>
            <a:r>
              <a:rPr lang="en-US" dirty="0"/>
              <a:t>anomaly</a:t>
            </a:r>
            <a:r>
              <a:rPr lang="en-US" dirty="0" smtClean="0"/>
              <a:t>.</a:t>
            </a:r>
          </a:p>
          <a:p>
            <a:endParaRPr lang="en-US" dirty="0"/>
          </a:p>
          <a:p>
            <a:r>
              <a:rPr lang="en-US" dirty="0"/>
              <a:t>(b) No. An unowned property does not have CID. However CID+PID is the primary key, thus an </a:t>
            </a:r>
          </a:p>
          <a:p>
            <a:r>
              <a:rPr lang="en-US" dirty="0"/>
              <a:t>unowned property cannot be added to the table. It is called insertion anomaly</a:t>
            </a:r>
            <a:r>
              <a:rPr lang="en-US" dirty="0" smtClean="0"/>
              <a:t>.</a:t>
            </a:r>
          </a:p>
          <a:p>
            <a:endParaRPr lang="en-US" dirty="0"/>
          </a:p>
          <a:p>
            <a:r>
              <a:rPr lang="en-US" dirty="0"/>
              <a:t>(c) 2 records need to be updated. An update anomaly may occur.</a:t>
            </a:r>
          </a:p>
        </p:txBody>
      </p:sp>
      <p:sp>
        <p:nvSpPr>
          <p:cNvPr id="3" name="Slide Number Placeholder 2"/>
          <p:cNvSpPr>
            <a:spLocks noGrp="1"/>
          </p:cNvSpPr>
          <p:nvPr>
            <p:ph type="sldNum" sz="quarter" idx="12"/>
          </p:nvPr>
        </p:nvSpPr>
        <p:spPr/>
        <p:txBody>
          <a:bodyPr/>
          <a:lstStyle/>
          <a:p>
            <a:fld id="{6D22F896-40B5-4ADD-8801-0D06FADFA095}" type="slidenum">
              <a:rPr lang="en-US" smtClean="0"/>
              <a:t>81</a:t>
            </a:fld>
            <a:endParaRPr lang="en-US" dirty="0"/>
          </a:p>
        </p:txBody>
      </p:sp>
      <p:sp>
        <p:nvSpPr>
          <p:cNvPr id="4" name="Text Placeholder 3"/>
          <p:cNvSpPr>
            <a:spLocks noGrp="1"/>
          </p:cNvSpPr>
          <p:nvPr>
            <p:ph type="body" sz="quarter" idx="13"/>
          </p:nvPr>
        </p:nvSpPr>
        <p:spPr/>
        <p:txBody>
          <a:bodyPr/>
          <a:lstStyle/>
          <a:p>
            <a:r>
              <a:rPr lang="en-US" dirty="0" smtClean="0"/>
              <a:t>5.4</a:t>
            </a:r>
            <a:endParaRPr lang="en-US" dirty="0"/>
          </a:p>
        </p:txBody>
      </p:sp>
    </p:spTree>
    <p:extLst>
      <p:ext uri="{BB962C8B-B14F-4D97-AF65-F5344CB8AC3E}">
        <p14:creationId xmlns:p14="http://schemas.microsoft.com/office/powerpoint/2010/main" val="239104394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5.5 on P. 282 of your textbook.</a:t>
            </a:r>
            <a:br>
              <a:rPr lang="en-US" dirty="0" smtClean="0"/>
            </a:br>
            <a:endParaRPr lang="en-US" dirty="0"/>
          </a:p>
          <a:p>
            <a:r>
              <a:rPr lang="en-US" dirty="0" smtClean="0">
                <a:solidFill>
                  <a:srgbClr val="FF0000"/>
                </a:solidFill>
              </a:rPr>
              <a:t>1 (a) </a:t>
            </a:r>
            <a:r>
              <a:rPr lang="en-US" dirty="0">
                <a:solidFill>
                  <a:srgbClr val="FF0000"/>
                </a:solidFill>
              </a:rPr>
              <a:t>Yes. Update </a:t>
            </a:r>
            <a:r>
              <a:rPr lang="en-US" dirty="0" smtClean="0">
                <a:solidFill>
                  <a:srgbClr val="FF0000"/>
                </a:solidFill>
              </a:rPr>
              <a:t>anomaly</a:t>
            </a:r>
          </a:p>
          <a:p>
            <a:endParaRPr lang="en-US" dirty="0">
              <a:solidFill>
                <a:srgbClr val="FF0000"/>
              </a:solidFill>
            </a:endParaRPr>
          </a:p>
          <a:p>
            <a:r>
              <a:rPr lang="en-US" dirty="0">
                <a:solidFill>
                  <a:srgbClr val="FF0000"/>
                </a:solidFill>
              </a:rPr>
              <a:t> </a:t>
            </a:r>
            <a:r>
              <a:rPr lang="en-US" dirty="0" smtClean="0">
                <a:solidFill>
                  <a:srgbClr val="FF0000"/>
                </a:solidFill>
              </a:rPr>
              <a:t>  (b) No</a:t>
            </a:r>
          </a:p>
          <a:p>
            <a:endParaRPr lang="en-US" dirty="0">
              <a:solidFill>
                <a:srgbClr val="FF0000"/>
              </a:solidFill>
            </a:endParaRPr>
          </a:p>
          <a:p>
            <a:r>
              <a:rPr lang="en-US" dirty="0" smtClean="0">
                <a:solidFill>
                  <a:srgbClr val="FF0000"/>
                </a:solidFill>
              </a:rPr>
              <a:t>   (c) </a:t>
            </a:r>
            <a:r>
              <a:rPr lang="en-US" dirty="0">
                <a:solidFill>
                  <a:srgbClr val="FF0000"/>
                </a:solidFill>
              </a:rPr>
              <a:t>Smartphone. Deletion anomaly</a:t>
            </a:r>
            <a:r>
              <a:rPr lang="en-US" dirty="0" smtClean="0">
                <a:solidFill>
                  <a:srgbClr val="FF0000"/>
                </a:solidFill>
              </a:rPr>
              <a:t>.</a:t>
            </a:r>
          </a:p>
          <a:p>
            <a:endParaRPr lang="en-US" dirty="0">
              <a:solidFill>
                <a:srgbClr val="FF0000"/>
              </a:solidFill>
            </a:endParaRPr>
          </a:p>
          <a:p>
            <a:r>
              <a:rPr lang="en-US" dirty="0">
                <a:solidFill>
                  <a:srgbClr val="FF0000"/>
                </a:solidFill>
              </a:rPr>
              <a:t>   (d) The manager needs to add a new product which is not sold by any shop yet / a new shop which sells no products yet.</a:t>
            </a:r>
          </a:p>
        </p:txBody>
      </p:sp>
      <p:sp>
        <p:nvSpPr>
          <p:cNvPr id="3" name="Slide Number Placeholder 2"/>
          <p:cNvSpPr>
            <a:spLocks noGrp="1"/>
          </p:cNvSpPr>
          <p:nvPr>
            <p:ph type="sldNum" sz="quarter" idx="12"/>
          </p:nvPr>
        </p:nvSpPr>
        <p:spPr/>
        <p:txBody>
          <a:bodyPr/>
          <a:lstStyle/>
          <a:p>
            <a:fld id="{6D22F896-40B5-4ADD-8801-0D06FADFA095}" type="slidenum">
              <a:rPr lang="en-US" smtClean="0"/>
              <a:t>82</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spTree>
    <p:extLst>
      <p:ext uri="{BB962C8B-B14F-4D97-AF65-F5344CB8AC3E}">
        <p14:creationId xmlns:p14="http://schemas.microsoft.com/office/powerpoint/2010/main" val="141971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fade">
                                      <p:cBhvr>
                                        <p:cTn id="17" dur="500"/>
                                        <p:tgtEl>
                                          <p:spTgt spid="2">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animEffect transition="in" filter="fade">
                                      <p:cBhvr>
                                        <p:cTn id="2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Normalisation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83</a:t>
            </a:fld>
            <a:endParaRPr lang="en-US" dirty="0"/>
          </a:p>
        </p:txBody>
      </p:sp>
      <p:sp>
        <p:nvSpPr>
          <p:cNvPr id="4" name="Text Placeholder 3"/>
          <p:cNvSpPr>
            <a:spLocks noGrp="1"/>
          </p:cNvSpPr>
          <p:nvPr>
            <p:ph type="body" sz="quarter" idx="14"/>
          </p:nvPr>
        </p:nvSpPr>
        <p:spPr/>
        <p:txBody>
          <a:bodyPr/>
          <a:lstStyle/>
          <a:p>
            <a:r>
              <a:rPr lang="en-US" dirty="0" smtClean="0"/>
              <a:t>5.5</a:t>
            </a:r>
            <a:endParaRPr lang="en-US" dirty="0"/>
          </a:p>
        </p:txBody>
      </p:sp>
      <p:sp>
        <p:nvSpPr>
          <p:cNvPr id="5" name="Content Placeholder 4"/>
          <p:cNvSpPr>
            <a:spLocks noGrp="1"/>
          </p:cNvSpPr>
          <p:nvPr>
            <p:ph sz="quarter" idx="15"/>
          </p:nvPr>
        </p:nvSpPr>
        <p:spPr/>
        <p:txBody>
          <a:bodyPr/>
          <a:lstStyle/>
          <a:p>
            <a:r>
              <a:rPr lang="en-US" b="1" dirty="0" err="1">
                <a:solidFill>
                  <a:srgbClr val="4B479C"/>
                </a:solidFill>
              </a:rPr>
              <a:t>Normalisation</a:t>
            </a:r>
            <a:r>
              <a:rPr lang="en-US" dirty="0"/>
              <a:t> is the process of designing database in a particular way that:</a:t>
            </a:r>
          </a:p>
          <a:p>
            <a:pPr marL="342900" indent="-342900">
              <a:buFont typeface="Arial" panose="020B0604020202020204" pitchFamily="34" charset="0"/>
              <a:buChar char="•"/>
            </a:pPr>
            <a:r>
              <a:rPr lang="en-US" dirty="0" smtClean="0"/>
              <a:t>Reduces </a:t>
            </a:r>
            <a:r>
              <a:rPr lang="en-US" dirty="0"/>
              <a:t>data redundancy;</a:t>
            </a:r>
          </a:p>
          <a:p>
            <a:pPr marL="342900" indent="-342900">
              <a:buFont typeface="Arial" panose="020B0604020202020204" pitchFamily="34" charset="0"/>
              <a:buChar char="•"/>
            </a:pPr>
            <a:r>
              <a:rPr lang="en-US" dirty="0" smtClean="0"/>
              <a:t>Prevents </a:t>
            </a:r>
            <a:r>
              <a:rPr lang="en-US" dirty="0"/>
              <a:t>occurrences of anomalies; and</a:t>
            </a:r>
          </a:p>
          <a:p>
            <a:pPr marL="342900" indent="-342900">
              <a:buFont typeface="Arial" panose="020B0604020202020204" pitchFamily="34" charset="0"/>
              <a:buChar char="•"/>
            </a:pPr>
            <a:r>
              <a:rPr lang="en-US" dirty="0" smtClean="0"/>
              <a:t>Improve </a:t>
            </a:r>
            <a:r>
              <a:rPr lang="en-US" dirty="0"/>
              <a:t>flexibility.</a:t>
            </a:r>
          </a:p>
        </p:txBody>
      </p:sp>
    </p:spTree>
    <p:extLst>
      <p:ext uri="{BB962C8B-B14F-4D97-AF65-F5344CB8AC3E}">
        <p14:creationId xmlns:p14="http://schemas.microsoft.com/office/powerpoint/2010/main" val="185735539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Normalisation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84</a:t>
            </a:fld>
            <a:endParaRPr lang="en-US" dirty="0"/>
          </a:p>
        </p:txBody>
      </p:sp>
      <p:sp>
        <p:nvSpPr>
          <p:cNvPr id="4" name="Text Placeholder 3"/>
          <p:cNvSpPr>
            <a:spLocks noGrp="1"/>
          </p:cNvSpPr>
          <p:nvPr>
            <p:ph type="body" sz="quarter" idx="14"/>
          </p:nvPr>
        </p:nvSpPr>
        <p:spPr/>
        <p:txBody>
          <a:bodyPr/>
          <a:lstStyle/>
          <a:p>
            <a:r>
              <a:rPr lang="en-US" dirty="0" smtClean="0"/>
              <a:t>5.5</a:t>
            </a:r>
            <a:endParaRPr lang="en-US" dirty="0"/>
          </a:p>
        </p:txBody>
      </p:sp>
      <p:sp>
        <p:nvSpPr>
          <p:cNvPr id="5" name="Content Placeholder 4"/>
          <p:cNvSpPr>
            <a:spLocks noGrp="1"/>
          </p:cNvSpPr>
          <p:nvPr>
            <p:ph sz="quarter" idx="15"/>
          </p:nvPr>
        </p:nvSpPr>
        <p:spPr/>
        <p:txBody>
          <a:bodyPr/>
          <a:lstStyle/>
          <a:p>
            <a:r>
              <a:rPr lang="en-US" dirty="0"/>
              <a:t>There are different levels of </a:t>
            </a:r>
            <a:r>
              <a:rPr lang="en-US" dirty="0" err="1"/>
              <a:t>normalisation</a:t>
            </a:r>
            <a:r>
              <a:rPr lang="en-US" dirty="0"/>
              <a:t> which follows certain rules. </a:t>
            </a:r>
          </a:p>
          <a:p>
            <a:r>
              <a:rPr lang="en-US" dirty="0"/>
              <a:t>Common levels of </a:t>
            </a:r>
            <a:r>
              <a:rPr lang="en-US" dirty="0" err="1"/>
              <a:t>normalisation</a:t>
            </a:r>
            <a:r>
              <a:rPr lang="en-US" dirty="0"/>
              <a:t> are</a:t>
            </a:r>
            <a:r>
              <a:rPr lang="en-US" dirty="0" smtClean="0"/>
              <a:t>:</a:t>
            </a:r>
          </a:p>
          <a:p>
            <a:endParaRPr lang="en-US" dirty="0"/>
          </a:p>
          <a:p>
            <a:pPr marL="457200" indent="-457200">
              <a:buClr>
                <a:schemeClr val="tx1"/>
              </a:buClr>
              <a:buFont typeface="+mj-lt"/>
              <a:buAutoNum type="arabicPeriod"/>
            </a:pPr>
            <a:r>
              <a:rPr lang="en-US" dirty="0">
                <a:solidFill>
                  <a:srgbClr val="4B479C"/>
                </a:solidFill>
              </a:rPr>
              <a:t> </a:t>
            </a:r>
            <a:r>
              <a:rPr lang="en-US" b="1" dirty="0" smtClean="0">
                <a:solidFill>
                  <a:srgbClr val="4B479C"/>
                </a:solidFill>
              </a:rPr>
              <a:t>First </a:t>
            </a:r>
            <a:r>
              <a:rPr lang="en-US" b="1" dirty="0">
                <a:solidFill>
                  <a:srgbClr val="4B479C"/>
                </a:solidFill>
              </a:rPr>
              <a:t>Normal Form </a:t>
            </a:r>
            <a:r>
              <a:rPr lang="en-US" dirty="0"/>
              <a:t>(1NF);</a:t>
            </a:r>
          </a:p>
          <a:p>
            <a:pPr marL="457200" indent="-457200">
              <a:buClr>
                <a:schemeClr val="tx1"/>
              </a:buClr>
              <a:buFont typeface="+mj-lt"/>
              <a:buAutoNum type="arabicPeriod"/>
            </a:pPr>
            <a:r>
              <a:rPr lang="en-US" dirty="0" smtClean="0">
                <a:solidFill>
                  <a:srgbClr val="4B479C"/>
                </a:solidFill>
              </a:rPr>
              <a:t> </a:t>
            </a:r>
            <a:r>
              <a:rPr lang="en-US" b="1" dirty="0" smtClean="0">
                <a:solidFill>
                  <a:srgbClr val="4B479C"/>
                </a:solidFill>
              </a:rPr>
              <a:t>Second </a:t>
            </a:r>
            <a:r>
              <a:rPr lang="en-US" b="1" dirty="0">
                <a:solidFill>
                  <a:srgbClr val="4B479C"/>
                </a:solidFill>
              </a:rPr>
              <a:t>Normal Form </a:t>
            </a:r>
            <a:r>
              <a:rPr lang="en-US" dirty="0"/>
              <a:t>(2NF); and</a:t>
            </a:r>
          </a:p>
          <a:p>
            <a:pPr marL="457200" indent="-457200">
              <a:buClr>
                <a:schemeClr val="tx1"/>
              </a:buClr>
              <a:buFont typeface="+mj-lt"/>
              <a:buAutoNum type="arabicPeriod"/>
            </a:pPr>
            <a:r>
              <a:rPr lang="en-US" dirty="0" smtClean="0">
                <a:solidFill>
                  <a:srgbClr val="4B479C"/>
                </a:solidFill>
              </a:rPr>
              <a:t> </a:t>
            </a:r>
            <a:r>
              <a:rPr lang="en-US" b="1" dirty="0" smtClean="0">
                <a:solidFill>
                  <a:srgbClr val="4B479C"/>
                </a:solidFill>
              </a:rPr>
              <a:t>Third </a:t>
            </a:r>
            <a:r>
              <a:rPr lang="en-US" b="1" dirty="0">
                <a:solidFill>
                  <a:srgbClr val="4B479C"/>
                </a:solidFill>
              </a:rPr>
              <a:t>Normal Form </a:t>
            </a:r>
            <a:r>
              <a:rPr lang="en-US" dirty="0"/>
              <a:t>(3NF).</a:t>
            </a:r>
          </a:p>
        </p:txBody>
      </p:sp>
    </p:spTree>
    <p:extLst>
      <p:ext uri="{BB962C8B-B14F-4D97-AF65-F5344CB8AC3E}">
        <p14:creationId xmlns:p14="http://schemas.microsoft.com/office/powerpoint/2010/main" val="95571998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85</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A table in First Normal Form (1NF) should follow these rules:</a:t>
            </a:r>
          </a:p>
          <a:p>
            <a:pPr marL="457200" indent="-457200">
              <a:buFont typeface="+mj-lt"/>
              <a:buAutoNum type="arabicPeriod"/>
            </a:pPr>
            <a:r>
              <a:rPr lang="en-US" dirty="0" smtClean="0"/>
              <a:t>Every </a:t>
            </a:r>
            <a:r>
              <a:rPr lang="en-US" dirty="0"/>
              <a:t>attribute must not contain </a:t>
            </a:r>
            <a:r>
              <a:rPr lang="en-US" dirty="0">
                <a:solidFill>
                  <a:srgbClr val="DB325F"/>
                </a:solidFill>
              </a:rPr>
              <a:t>multiple values</a:t>
            </a:r>
            <a:r>
              <a:rPr lang="en-US" dirty="0"/>
              <a:t>; and</a:t>
            </a:r>
          </a:p>
          <a:p>
            <a:pPr marL="457200" indent="-457200">
              <a:buFont typeface="+mj-lt"/>
              <a:buAutoNum type="arabicPeriod"/>
            </a:pPr>
            <a:r>
              <a:rPr lang="en-US" dirty="0" smtClean="0"/>
              <a:t>There </a:t>
            </a:r>
            <a:r>
              <a:rPr lang="en-US" dirty="0"/>
              <a:t>must not be any </a:t>
            </a:r>
            <a:r>
              <a:rPr lang="en-US" dirty="0">
                <a:solidFill>
                  <a:srgbClr val="DB325F"/>
                </a:solidFill>
              </a:rPr>
              <a:t>repeating attributes</a:t>
            </a:r>
            <a:r>
              <a:rPr lang="en-US" dirty="0"/>
              <a:t>.</a:t>
            </a:r>
          </a:p>
        </p:txBody>
      </p:sp>
    </p:spTree>
    <p:extLst>
      <p:ext uri="{BB962C8B-B14F-4D97-AF65-F5344CB8AC3E}">
        <p14:creationId xmlns:p14="http://schemas.microsoft.com/office/powerpoint/2010/main" val="59798915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86</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a:xfrm>
            <a:off x="925610" y="1529825"/>
            <a:ext cx="10515600" cy="4680000"/>
          </a:xfrm>
        </p:spPr>
        <p:txBody>
          <a:bodyPr>
            <a:normAutofit lnSpcReduction="10000"/>
          </a:bodyPr>
          <a:lstStyle/>
          <a:p>
            <a:r>
              <a:rPr lang="en-US" dirty="0"/>
              <a:t>See the following table, </a:t>
            </a:r>
            <a:r>
              <a:rPr lang="en-US" dirty="0">
                <a:latin typeface="Courier New" panose="02070309020205020404" pitchFamily="49" charset="0"/>
                <a:cs typeface="Courier New" panose="02070309020205020404" pitchFamily="49" charset="0"/>
              </a:rPr>
              <a:t>STUDENT</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a:t>The attribute </a:t>
            </a:r>
            <a:r>
              <a:rPr lang="en-US" dirty="0">
                <a:latin typeface="Courier New" panose="02070309020205020404" pitchFamily="49" charset="0"/>
                <a:cs typeface="Courier New" panose="02070309020205020404" pitchFamily="49" charset="0"/>
              </a:rPr>
              <a:t>ENAME</a:t>
            </a:r>
            <a:r>
              <a:rPr lang="en-US" dirty="0"/>
              <a:t> of a single record may contain names of multiple elective subjects, i.e. </a:t>
            </a:r>
            <a:r>
              <a:rPr lang="en-US" dirty="0">
                <a:solidFill>
                  <a:srgbClr val="DB325F"/>
                </a:solidFill>
              </a:rPr>
              <a:t>multiple values</a:t>
            </a:r>
            <a:r>
              <a:rPr lang="en-US" dirty="0"/>
              <a:t>. Thus, this table is NOT in 1NF.</a:t>
            </a:r>
          </a:p>
        </p:txBody>
      </p:sp>
      <p:pic>
        <p:nvPicPr>
          <p:cNvPr id="7" name="Picture 6"/>
          <p:cNvPicPr>
            <a:picLocks noChangeAspect="1"/>
          </p:cNvPicPr>
          <p:nvPr/>
        </p:nvPicPr>
        <p:blipFill>
          <a:blip r:embed="rId2"/>
          <a:stretch>
            <a:fillRect/>
          </a:stretch>
        </p:blipFill>
        <p:spPr>
          <a:xfrm>
            <a:off x="5692849" y="2457735"/>
            <a:ext cx="6053161" cy="2106857"/>
          </a:xfrm>
          <a:prstGeom prst="rect">
            <a:avLst/>
          </a:prstGeom>
        </p:spPr>
      </p:pic>
      <p:pic>
        <p:nvPicPr>
          <p:cNvPr id="11" name="Picture 10"/>
          <p:cNvPicPr>
            <a:picLocks noChangeAspect="1"/>
          </p:cNvPicPr>
          <p:nvPr/>
        </p:nvPicPr>
        <p:blipFill>
          <a:blip r:embed="rId3"/>
          <a:stretch>
            <a:fillRect/>
          </a:stretch>
        </p:blipFill>
        <p:spPr>
          <a:xfrm>
            <a:off x="687485" y="2524862"/>
            <a:ext cx="4837015" cy="1972604"/>
          </a:xfrm>
          <a:prstGeom prst="rect">
            <a:avLst/>
          </a:prstGeom>
        </p:spPr>
      </p:pic>
    </p:spTree>
    <p:extLst>
      <p:ext uri="{BB962C8B-B14F-4D97-AF65-F5344CB8AC3E}">
        <p14:creationId xmlns:p14="http://schemas.microsoft.com/office/powerpoint/2010/main" val="187493293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87</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Now </a:t>
            </a:r>
            <a:r>
              <a:rPr lang="en-US" dirty="0">
                <a:solidFill>
                  <a:srgbClr val="DB325F"/>
                </a:solidFill>
                <a:latin typeface="Courier New" panose="02070309020205020404" pitchFamily="49" charset="0"/>
                <a:cs typeface="Courier New" panose="02070309020205020404" pitchFamily="49" charset="0"/>
              </a:rPr>
              <a:t>ENAME</a:t>
            </a:r>
            <a:r>
              <a:rPr lang="en-US" dirty="0"/>
              <a:t> is divided into three attributes: </a:t>
            </a:r>
            <a:r>
              <a:rPr lang="en-US" dirty="0">
                <a:solidFill>
                  <a:srgbClr val="DB325F"/>
                </a:solidFill>
                <a:latin typeface="Courier New" panose="02070309020205020404" pitchFamily="49" charset="0"/>
                <a:cs typeface="Courier New" panose="02070309020205020404" pitchFamily="49" charset="0"/>
              </a:rPr>
              <a:t>ENAME1</a:t>
            </a:r>
            <a:r>
              <a:rPr lang="en-US" dirty="0"/>
              <a:t>, </a:t>
            </a:r>
            <a:r>
              <a:rPr lang="en-US" dirty="0">
                <a:solidFill>
                  <a:srgbClr val="DB325F"/>
                </a:solidFill>
                <a:latin typeface="Courier New" panose="02070309020205020404" pitchFamily="49" charset="0"/>
                <a:cs typeface="Courier New" panose="02070309020205020404" pitchFamily="49" charset="0"/>
              </a:rPr>
              <a:t>ENAME2</a:t>
            </a:r>
            <a:r>
              <a:rPr lang="en-US" dirty="0"/>
              <a:t> and </a:t>
            </a:r>
            <a:r>
              <a:rPr lang="en-US" dirty="0">
                <a:solidFill>
                  <a:srgbClr val="DB325F"/>
                </a:solidFill>
                <a:latin typeface="Courier New" panose="02070309020205020404" pitchFamily="49" charset="0"/>
                <a:cs typeface="Courier New" panose="02070309020205020404" pitchFamily="49" charset="0"/>
              </a:rPr>
              <a:t>ENAME3</a:t>
            </a:r>
            <a:r>
              <a:rPr lang="en-US" dirty="0"/>
              <a:t>.</a:t>
            </a:r>
          </a:p>
        </p:txBody>
      </p:sp>
      <p:pic>
        <p:nvPicPr>
          <p:cNvPr id="6" name="Picture 5"/>
          <p:cNvPicPr>
            <a:picLocks noChangeAspect="1"/>
          </p:cNvPicPr>
          <p:nvPr/>
        </p:nvPicPr>
        <p:blipFill>
          <a:blip r:embed="rId2"/>
          <a:stretch>
            <a:fillRect/>
          </a:stretch>
        </p:blipFill>
        <p:spPr>
          <a:xfrm>
            <a:off x="2867783" y="2077272"/>
            <a:ext cx="6457634" cy="4332815"/>
          </a:xfrm>
          <a:prstGeom prst="rect">
            <a:avLst/>
          </a:prstGeom>
        </p:spPr>
      </p:pic>
    </p:spTree>
    <p:extLst>
      <p:ext uri="{BB962C8B-B14F-4D97-AF65-F5344CB8AC3E}">
        <p14:creationId xmlns:p14="http://schemas.microsoft.com/office/powerpoint/2010/main" val="266755191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88</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Even though each of </a:t>
            </a:r>
            <a:r>
              <a:rPr lang="en-US" dirty="0">
                <a:solidFill>
                  <a:srgbClr val="DB325F"/>
                </a:solidFill>
                <a:latin typeface="Courier New" panose="02070309020205020404" pitchFamily="49" charset="0"/>
                <a:cs typeface="Courier New" panose="02070309020205020404" pitchFamily="49" charset="0"/>
              </a:rPr>
              <a:t>ENAME1</a:t>
            </a:r>
            <a:r>
              <a:rPr lang="en-US" dirty="0"/>
              <a:t>, </a:t>
            </a:r>
            <a:r>
              <a:rPr lang="en-US" dirty="0">
                <a:solidFill>
                  <a:srgbClr val="DB325F"/>
                </a:solidFill>
                <a:latin typeface="Courier New" panose="02070309020205020404" pitchFamily="49" charset="0"/>
                <a:cs typeface="Courier New" panose="02070309020205020404" pitchFamily="49" charset="0"/>
              </a:rPr>
              <a:t>ENAME2</a:t>
            </a:r>
            <a:r>
              <a:rPr lang="en-US" dirty="0"/>
              <a:t> and </a:t>
            </a:r>
            <a:r>
              <a:rPr lang="en-US" dirty="0">
                <a:solidFill>
                  <a:srgbClr val="DB325F"/>
                </a:solidFill>
                <a:latin typeface="Courier New" panose="02070309020205020404" pitchFamily="49" charset="0"/>
                <a:cs typeface="Courier New" panose="02070309020205020404" pitchFamily="49" charset="0"/>
              </a:rPr>
              <a:t>ENAME3</a:t>
            </a:r>
            <a:r>
              <a:rPr lang="en-US" dirty="0"/>
              <a:t> stores a single value, they are a group of attributes which store the names of the elective subjects, i.e. they are all </a:t>
            </a:r>
            <a:r>
              <a:rPr lang="en-US" dirty="0">
                <a:solidFill>
                  <a:srgbClr val="DB325F"/>
                </a:solidFill>
              </a:rPr>
              <a:t>repeating attributes</a:t>
            </a:r>
            <a:r>
              <a:rPr lang="en-US" dirty="0"/>
              <a:t>. Thus, this table is NOT in 1NF.</a:t>
            </a:r>
          </a:p>
        </p:txBody>
      </p:sp>
      <p:pic>
        <p:nvPicPr>
          <p:cNvPr id="6" name="Picture 5"/>
          <p:cNvPicPr>
            <a:picLocks noChangeAspect="1"/>
          </p:cNvPicPr>
          <p:nvPr/>
        </p:nvPicPr>
        <p:blipFill>
          <a:blip r:embed="rId2"/>
          <a:stretch>
            <a:fillRect/>
          </a:stretch>
        </p:blipFill>
        <p:spPr>
          <a:xfrm>
            <a:off x="1918800" y="3043066"/>
            <a:ext cx="8164064" cy="2448267"/>
          </a:xfrm>
          <a:prstGeom prst="rect">
            <a:avLst/>
          </a:prstGeom>
        </p:spPr>
      </p:pic>
    </p:spTree>
    <p:extLst>
      <p:ext uri="{BB962C8B-B14F-4D97-AF65-F5344CB8AC3E}">
        <p14:creationId xmlns:p14="http://schemas.microsoft.com/office/powerpoint/2010/main" val="305989302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89</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Now </a:t>
            </a:r>
            <a:r>
              <a:rPr lang="en-US" dirty="0">
                <a:solidFill>
                  <a:srgbClr val="DB325F"/>
                </a:solidFill>
                <a:latin typeface="Courier New" panose="02070309020205020404" pitchFamily="49" charset="0"/>
                <a:cs typeface="Courier New" panose="02070309020205020404" pitchFamily="49" charset="0"/>
              </a:rPr>
              <a:t>ENAME1</a:t>
            </a:r>
            <a:r>
              <a:rPr lang="en-US" dirty="0"/>
              <a:t>, </a:t>
            </a:r>
            <a:r>
              <a:rPr lang="en-US" dirty="0">
                <a:solidFill>
                  <a:srgbClr val="DB325F"/>
                </a:solidFill>
                <a:latin typeface="Courier New" panose="02070309020205020404" pitchFamily="49" charset="0"/>
                <a:cs typeface="Courier New" panose="02070309020205020404" pitchFamily="49" charset="0"/>
              </a:rPr>
              <a:t>ENAME2</a:t>
            </a:r>
            <a:r>
              <a:rPr lang="en-US" dirty="0"/>
              <a:t> and </a:t>
            </a:r>
            <a:r>
              <a:rPr lang="en-US" dirty="0">
                <a:solidFill>
                  <a:srgbClr val="DB325F"/>
                </a:solidFill>
                <a:latin typeface="Courier New" panose="02070309020205020404" pitchFamily="49" charset="0"/>
                <a:cs typeface="Courier New" panose="02070309020205020404" pitchFamily="49" charset="0"/>
              </a:rPr>
              <a:t>ENAME3</a:t>
            </a:r>
            <a:r>
              <a:rPr lang="en-US" dirty="0"/>
              <a:t> of each record are broken down into multiple records</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a:t>This table is now in 1NF with </a:t>
            </a:r>
            <a:r>
              <a:rPr lang="en-US" dirty="0">
                <a:latin typeface="Courier New" panose="02070309020205020404" pitchFamily="49" charset="0"/>
                <a:cs typeface="Courier New" panose="02070309020205020404" pitchFamily="49" charset="0"/>
              </a:rPr>
              <a:t>SID+ENAME</a:t>
            </a:r>
            <a:r>
              <a:rPr lang="en-US" dirty="0"/>
              <a:t> as the primary key.</a:t>
            </a:r>
          </a:p>
        </p:txBody>
      </p:sp>
      <p:pic>
        <p:nvPicPr>
          <p:cNvPr id="6" name="Picture 5"/>
          <p:cNvPicPr>
            <a:picLocks noChangeAspect="1"/>
          </p:cNvPicPr>
          <p:nvPr/>
        </p:nvPicPr>
        <p:blipFill>
          <a:blip r:embed="rId2"/>
          <a:stretch>
            <a:fillRect/>
          </a:stretch>
        </p:blipFill>
        <p:spPr>
          <a:xfrm>
            <a:off x="1091852" y="2251856"/>
            <a:ext cx="10204798" cy="3024993"/>
          </a:xfrm>
          <a:prstGeom prst="rect">
            <a:avLst/>
          </a:prstGeom>
        </p:spPr>
      </p:pic>
    </p:spTree>
    <p:extLst>
      <p:ext uri="{BB962C8B-B14F-4D97-AF65-F5344CB8AC3E}">
        <p14:creationId xmlns:p14="http://schemas.microsoft.com/office/powerpoint/2010/main" val="1824835227"/>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 </a:t>
            </a:r>
            <a:r>
              <a:rPr lang="en-US" dirty="0"/>
              <a:t>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90</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A table in Second Normal Form (2NF) should follow these rules</a:t>
            </a:r>
            <a:r>
              <a:rPr lang="en-US" dirty="0" smtClean="0"/>
              <a:t>:</a:t>
            </a:r>
          </a:p>
          <a:p>
            <a:endParaRPr lang="en-US" dirty="0"/>
          </a:p>
          <a:p>
            <a:pPr marL="457200" indent="-457200">
              <a:buFont typeface="+mj-lt"/>
              <a:buAutoNum type="arabicPeriod"/>
            </a:pPr>
            <a:r>
              <a:rPr lang="en-US" dirty="0" smtClean="0"/>
              <a:t>The </a:t>
            </a:r>
            <a:r>
              <a:rPr lang="en-US" dirty="0"/>
              <a:t>database follows </a:t>
            </a:r>
            <a:r>
              <a:rPr lang="en-US" dirty="0">
                <a:solidFill>
                  <a:srgbClr val="D93566"/>
                </a:solidFill>
              </a:rPr>
              <a:t>every </a:t>
            </a:r>
            <a:r>
              <a:rPr lang="en-US" dirty="0" err="1">
                <a:solidFill>
                  <a:srgbClr val="D93566"/>
                </a:solidFill>
              </a:rPr>
              <a:t>normalisation</a:t>
            </a:r>
            <a:r>
              <a:rPr lang="en-US" dirty="0">
                <a:solidFill>
                  <a:srgbClr val="D93566"/>
                </a:solidFill>
              </a:rPr>
              <a:t> rule of 1NF</a:t>
            </a:r>
            <a:r>
              <a:rPr lang="en-US" dirty="0"/>
              <a:t>; </a:t>
            </a:r>
            <a:r>
              <a:rPr lang="en-US" dirty="0" smtClean="0"/>
              <a:t>and</a:t>
            </a:r>
            <a:br>
              <a:rPr lang="en-US" dirty="0" smtClean="0"/>
            </a:br>
            <a:endParaRPr lang="en-US" dirty="0"/>
          </a:p>
          <a:p>
            <a:pPr marL="457200" indent="-457200">
              <a:buFont typeface="+mj-lt"/>
              <a:buAutoNum type="arabicPeriod"/>
            </a:pPr>
            <a:r>
              <a:rPr lang="en-US" dirty="0" smtClean="0"/>
              <a:t>There </a:t>
            </a:r>
            <a:r>
              <a:rPr lang="en-US" dirty="0"/>
              <a:t>must NOT be any </a:t>
            </a:r>
            <a:r>
              <a:rPr lang="en-US" dirty="0">
                <a:solidFill>
                  <a:srgbClr val="18C5CC"/>
                </a:solidFill>
              </a:rPr>
              <a:t>partial functional dependency</a:t>
            </a:r>
            <a:r>
              <a:rPr lang="en-US" dirty="0"/>
              <a:t> between </a:t>
            </a:r>
            <a:r>
              <a:rPr lang="en-US" dirty="0" smtClean="0"/>
              <a:t>attributes.</a:t>
            </a:r>
          </a:p>
          <a:p>
            <a:endParaRPr lang="en-US" dirty="0"/>
          </a:p>
          <a:p>
            <a:endParaRPr lang="en-US" dirty="0" smtClean="0"/>
          </a:p>
          <a:p>
            <a:r>
              <a:rPr lang="en-US" dirty="0" smtClean="0"/>
              <a:t>To </a:t>
            </a:r>
            <a:r>
              <a:rPr lang="en-US" dirty="0"/>
              <a:t>learn about 2NF, we must first understand the concept of </a:t>
            </a:r>
            <a:r>
              <a:rPr lang="en-US" b="1" dirty="0">
                <a:solidFill>
                  <a:srgbClr val="4B479C"/>
                </a:solidFill>
              </a:rPr>
              <a:t>functional dependency</a:t>
            </a:r>
            <a:r>
              <a:rPr lang="en-US" dirty="0"/>
              <a:t>.</a:t>
            </a:r>
          </a:p>
        </p:txBody>
      </p:sp>
    </p:spTree>
    <p:extLst>
      <p:ext uri="{BB962C8B-B14F-4D97-AF65-F5344CB8AC3E}">
        <p14:creationId xmlns:p14="http://schemas.microsoft.com/office/powerpoint/2010/main" val="358832556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91</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A functional dependency exists between two sets of attributes when the values of one set can be uniquely determined by the values of another set.</a:t>
            </a:r>
          </a:p>
        </p:txBody>
      </p:sp>
      <p:pic>
        <p:nvPicPr>
          <p:cNvPr id="6" name="Picture 5"/>
          <p:cNvPicPr>
            <a:picLocks noChangeAspect="1"/>
          </p:cNvPicPr>
          <p:nvPr/>
        </p:nvPicPr>
        <p:blipFill>
          <a:blip r:embed="rId2"/>
          <a:stretch>
            <a:fillRect/>
          </a:stretch>
        </p:blipFill>
        <p:spPr>
          <a:xfrm>
            <a:off x="2280667" y="2774831"/>
            <a:ext cx="7636417" cy="3162375"/>
          </a:xfrm>
          <a:prstGeom prst="rect">
            <a:avLst/>
          </a:prstGeom>
        </p:spPr>
      </p:pic>
    </p:spTree>
    <p:extLst>
      <p:ext uri="{BB962C8B-B14F-4D97-AF65-F5344CB8AC3E}">
        <p14:creationId xmlns:p14="http://schemas.microsoft.com/office/powerpoint/2010/main" val="294492120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92</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a:p>
          <a:p>
            <a:r>
              <a:rPr lang="en-US" dirty="0" smtClean="0"/>
              <a:t>Considering </a:t>
            </a:r>
            <a:r>
              <a:rPr lang="en-US" dirty="0"/>
              <a:t>the above table, if we know the class of a student (</a:t>
            </a:r>
            <a:r>
              <a:rPr lang="en-US" dirty="0">
                <a:solidFill>
                  <a:srgbClr val="7DAC4F"/>
                </a:solidFill>
                <a:latin typeface="Courier New" panose="02070309020205020404" pitchFamily="49" charset="0"/>
                <a:cs typeface="Courier New" panose="02070309020205020404" pitchFamily="49" charset="0"/>
              </a:rPr>
              <a:t>CLASS</a:t>
            </a:r>
            <a:r>
              <a:rPr lang="en-US" dirty="0"/>
              <a:t>), we will know the name of their class teacher (</a:t>
            </a:r>
            <a:r>
              <a:rPr lang="en-US" dirty="0">
                <a:solidFill>
                  <a:srgbClr val="7DAC4F"/>
                </a:solidFill>
                <a:latin typeface="Courier New" panose="02070309020205020404" pitchFamily="49" charset="0"/>
                <a:cs typeface="Courier New" panose="02070309020205020404" pitchFamily="49" charset="0"/>
              </a:rPr>
              <a:t>CTEACH</a:t>
            </a:r>
            <a:r>
              <a:rPr lang="en-US" dirty="0"/>
              <a:t>), but not the name of the student (</a:t>
            </a:r>
            <a:r>
              <a:rPr lang="en-US" dirty="0">
                <a:solidFill>
                  <a:srgbClr val="054D90"/>
                </a:solidFill>
                <a:latin typeface="Courier New" panose="02070309020205020404" pitchFamily="49" charset="0"/>
                <a:cs typeface="Courier New" panose="02070309020205020404" pitchFamily="49" charset="0"/>
              </a:rPr>
              <a:t>SNAME</a:t>
            </a:r>
            <a:r>
              <a:rPr lang="en-US" dirty="0" smtClean="0"/>
              <a:t>). </a:t>
            </a:r>
            <a:br>
              <a:rPr lang="en-US" dirty="0" smtClean="0"/>
            </a:br>
            <a:r>
              <a:rPr lang="en-US" dirty="0" smtClean="0"/>
              <a:t>The </a:t>
            </a:r>
            <a:r>
              <a:rPr lang="en-US" dirty="0"/>
              <a:t>fact that </a:t>
            </a:r>
            <a:r>
              <a:rPr lang="en-US" dirty="0">
                <a:solidFill>
                  <a:srgbClr val="7DAC4F"/>
                </a:solidFill>
                <a:latin typeface="Courier New" panose="02070309020205020404" pitchFamily="49" charset="0"/>
                <a:cs typeface="Courier New" panose="02070309020205020404" pitchFamily="49" charset="0"/>
              </a:rPr>
              <a:t>CTEACH</a:t>
            </a:r>
            <a:r>
              <a:rPr lang="en-US" dirty="0"/>
              <a:t> is dependent on </a:t>
            </a:r>
            <a:r>
              <a:rPr lang="en-US" dirty="0">
                <a:solidFill>
                  <a:srgbClr val="7DAC4F"/>
                </a:solidFill>
                <a:latin typeface="Courier New" panose="02070309020205020404" pitchFamily="49" charset="0"/>
                <a:cs typeface="Courier New" panose="02070309020205020404" pitchFamily="49" charset="0"/>
              </a:rPr>
              <a:t>CLASS</a:t>
            </a:r>
            <a:r>
              <a:rPr lang="en-US" dirty="0"/>
              <a:t> can be denoted by: </a:t>
            </a:r>
            <a:endParaRPr lang="en-US" dirty="0" smtClean="0"/>
          </a:p>
          <a:p>
            <a:pPr algn="ctr"/>
            <a:r>
              <a:rPr lang="en-US" dirty="0" smtClean="0">
                <a:latin typeface="Courier New" panose="02070309020205020404" pitchFamily="49" charset="0"/>
                <a:cs typeface="Courier New" panose="02070309020205020404" pitchFamily="49" charset="0"/>
              </a:rPr>
              <a:t>CLASS</a:t>
            </a:r>
            <a:r>
              <a:rPr lang="en-US" dirty="0" smtClean="0"/>
              <a: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smtClean="0">
                <a:sym typeface="Wingdings" panose="05000000000000000000" pitchFamily="2" charset="2"/>
              </a:rPr>
              <a:t> </a:t>
            </a:r>
            <a:r>
              <a:rPr lang="en-US" dirty="0" smtClean="0">
                <a:latin typeface="Courier New" panose="02070309020205020404" pitchFamily="49" charset="0"/>
                <a:cs typeface="Courier New" panose="02070309020205020404" pitchFamily="49" charset="0"/>
              </a:rPr>
              <a:t>CTEACH</a:t>
            </a:r>
            <a:endParaRPr lang="en-US" dirty="0">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a:stretch>
            <a:fillRect/>
          </a:stretch>
        </p:blipFill>
        <p:spPr>
          <a:xfrm>
            <a:off x="2822875" y="1623600"/>
            <a:ext cx="6547449" cy="2711414"/>
          </a:xfrm>
          <a:prstGeom prst="rect">
            <a:avLst/>
          </a:prstGeom>
        </p:spPr>
      </p:pic>
    </p:spTree>
    <p:extLst>
      <p:ext uri="{BB962C8B-B14F-4D97-AF65-F5344CB8AC3E}">
        <p14:creationId xmlns:p14="http://schemas.microsoft.com/office/powerpoint/2010/main" val="404252092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93</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When </a:t>
            </a:r>
            <a:r>
              <a:rPr lang="en-US" dirty="0">
                <a:solidFill>
                  <a:srgbClr val="7DAC4F"/>
                </a:solidFill>
              </a:rPr>
              <a:t>all attributes that are not primary key</a:t>
            </a:r>
            <a:r>
              <a:rPr lang="en-US" dirty="0"/>
              <a:t> are dependent on the </a:t>
            </a:r>
            <a:r>
              <a:rPr lang="en-US" dirty="0">
                <a:solidFill>
                  <a:srgbClr val="D93566"/>
                </a:solidFill>
              </a:rPr>
              <a:t>primary key</a:t>
            </a:r>
            <a:r>
              <a:rPr lang="en-US" dirty="0"/>
              <a:t>, the table is considered to have a full functional </a:t>
            </a:r>
            <a:r>
              <a:rPr lang="en-US" dirty="0" smtClean="0"/>
              <a:t>dependency.</a:t>
            </a:r>
          </a:p>
          <a:p>
            <a:endParaRPr lang="en-US" dirty="0"/>
          </a:p>
          <a:p>
            <a:endParaRPr lang="en-US" dirty="0" smtClean="0"/>
          </a:p>
          <a:p>
            <a:endParaRPr lang="en-US" dirty="0"/>
          </a:p>
          <a:p>
            <a:endParaRPr lang="en-US" dirty="0" smtClean="0"/>
          </a:p>
          <a:p>
            <a:endParaRPr lang="en-US" dirty="0" smtClean="0"/>
          </a:p>
          <a:p>
            <a:r>
              <a:rPr lang="en-US" dirty="0">
                <a:solidFill>
                  <a:srgbClr val="D93566"/>
                </a:solidFill>
                <a:latin typeface="Courier New" panose="02070309020205020404" pitchFamily="49" charset="0"/>
                <a:cs typeface="Courier New" panose="02070309020205020404" pitchFamily="49" charset="0"/>
              </a:rPr>
              <a:t>EID</a:t>
            </a:r>
            <a:r>
              <a:rPr lang="en-US" dirty="0"/>
              <a:t> is the </a:t>
            </a:r>
            <a:r>
              <a:rPr lang="en-US" dirty="0">
                <a:solidFill>
                  <a:srgbClr val="D93566"/>
                </a:solidFill>
              </a:rPr>
              <a:t>primary key</a:t>
            </a:r>
            <a:r>
              <a:rPr lang="en-US" dirty="0"/>
              <a:t> of </a:t>
            </a:r>
            <a:r>
              <a:rPr lang="en-US" dirty="0">
                <a:latin typeface="Courier New" panose="02070309020205020404" pitchFamily="49" charset="0"/>
                <a:cs typeface="Courier New" panose="02070309020205020404" pitchFamily="49" charset="0"/>
              </a:rPr>
              <a:t>ELECTIVE</a:t>
            </a:r>
            <a:r>
              <a:rPr lang="en-US" dirty="0"/>
              <a:t>. Since </a:t>
            </a:r>
            <a:r>
              <a:rPr lang="en-US" dirty="0">
                <a:solidFill>
                  <a:srgbClr val="7DAC4F"/>
                </a:solidFill>
                <a:latin typeface="Courier New" panose="02070309020205020404" pitchFamily="49" charset="0"/>
                <a:cs typeface="Courier New" panose="02070309020205020404" pitchFamily="49" charset="0"/>
              </a:rPr>
              <a:t>ENAME</a:t>
            </a:r>
            <a:r>
              <a:rPr lang="en-US" dirty="0"/>
              <a:t> and </a:t>
            </a:r>
            <a:r>
              <a:rPr lang="en-US" dirty="0">
                <a:solidFill>
                  <a:srgbClr val="7DAC4F"/>
                </a:solidFill>
                <a:latin typeface="Courier New" panose="02070309020205020404" pitchFamily="49" charset="0"/>
                <a:cs typeface="Courier New" panose="02070309020205020404" pitchFamily="49" charset="0"/>
              </a:rPr>
              <a:t>ETEACH</a:t>
            </a:r>
            <a:r>
              <a:rPr lang="en-US" dirty="0"/>
              <a:t> are dependent on </a:t>
            </a:r>
            <a:r>
              <a:rPr lang="en-US" dirty="0">
                <a:solidFill>
                  <a:srgbClr val="D93566"/>
                </a:solidFill>
                <a:latin typeface="Courier New" panose="02070309020205020404" pitchFamily="49" charset="0"/>
                <a:cs typeface="Courier New" panose="02070309020205020404" pitchFamily="49" charset="0"/>
              </a:rPr>
              <a:t>EID</a:t>
            </a:r>
            <a:r>
              <a:rPr lang="en-US" dirty="0"/>
              <a:t>, the table above has full functional dependency. </a:t>
            </a:r>
            <a:endParaRPr lang="en-US" dirty="0" smtClean="0"/>
          </a:p>
          <a:p>
            <a:pPr algn="ctr"/>
            <a:r>
              <a:rPr lang="en-US" dirty="0">
                <a:latin typeface="Courier New" panose="02070309020205020404" pitchFamily="49" charset="0"/>
                <a:cs typeface="Courier New" panose="02070309020205020404" pitchFamily="49" charset="0"/>
              </a:rPr>
              <a:t>EID </a:t>
            </a:r>
            <a:r>
              <a:rPr lang="en-US" dirty="0" smtClean="0">
                <a:sym typeface="Wingdings" panose="05000000000000000000" pitchFamily="2" charset="2"/>
              </a:rPr>
              <a:t></a:t>
            </a:r>
            <a:r>
              <a:rPr lang="en-US" dirty="0" smtClean="0"/>
              <a:t> </a:t>
            </a:r>
            <a:r>
              <a:rPr lang="en-US" dirty="0">
                <a:latin typeface="Courier New" panose="02070309020205020404" pitchFamily="49" charset="0"/>
                <a:cs typeface="Courier New" panose="02070309020205020404" pitchFamily="49" charset="0"/>
              </a:rPr>
              <a:t>{ENAME, ETEACH}</a:t>
            </a:r>
          </a:p>
        </p:txBody>
      </p:sp>
      <p:pic>
        <p:nvPicPr>
          <p:cNvPr id="6" name="Picture 5"/>
          <p:cNvPicPr>
            <a:picLocks noChangeAspect="1"/>
          </p:cNvPicPr>
          <p:nvPr/>
        </p:nvPicPr>
        <p:blipFill>
          <a:blip r:embed="rId2"/>
          <a:stretch>
            <a:fillRect/>
          </a:stretch>
        </p:blipFill>
        <p:spPr>
          <a:xfrm>
            <a:off x="4401043" y="2769447"/>
            <a:ext cx="2857899" cy="1533739"/>
          </a:xfrm>
          <a:prstGeom prst="rect">
            <a:avLst/>
          </a:prstGeom>
        </p:spPr>
      </p:pic>
    </p:spTree>
    <p:extLst>
      <p:ext uri="{BB962C8B-B14F-4D97-AF65-F5344CB8AC3E}">
        <p14:creationId xmlns:p14="http://schemas.microsoft.com/office/powerpoint/2010/main" val="247344246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94</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When </a:t>
            </a:r>
            <a:r>
              <a:rPr lang="en-US" dirty="0">
                <a:solidFill>
                  <a:srgbClr val="537B32"/>
                </a:solidFill>
              </a:rPr>
              <a:t>some</a:t>
            </a:r>
            <a:r>
              <a:rPr lang="en-US" dirty="0"/>
              <a:t> </a:t>
            </a:r>
            <a:r>
              <a:rPr lang="en-US" dirty="0">
                <a:solidFill>
                  <a:srgbClr val="A6BF71"/>
                </a:solidFill>
              </a:rPr>
              <a:t>attributes</a:t>
            </a:r>
            <a:r>
              <a:rPr lang="en-US" dirty="0"/>
              <a:t> </a:t>
            </a:r>
            <a:r>
              <a:rPr lang="en-US" dirty="0">
                <a:solidFill>
                  <a:srgbClr val="537B32"/>
                </a:solidFill>
              </a:rPr>
              <a:t>that</a:t>
            </a:r>
            <a:r>
              <a:rPr lang="en-US" dirty="0"/>
              <a:t> </a:t>
            </a:r>
            <a:r>
              <a:rPr lang="en-US" dirty="0">
                <a:solidFill>
                  <a:srgbClr val="A6BF71"/>
                </a:solidFill>
              </a:rPr>
              <a:t>are</a:t>
            </a:r>
            <a:r>
              <a:rPr lang="en-US" dirty="0"/>
              <a:t> </a:t>
            </a:r>
            <a:r>
              <a:rPr lang="en-US" dirty="0">
                <a:solidFill>
                  <a:srgbClr val="537B32"/>
                </a:solidFill>
              </a:rPr>
              <a:t>not</a:t>
            </a:r>
            <a:r>
              <a:rPr lang="en-US" dirty="0"/>
              <a:t> </a:t>
            </a:r>
            <a:r>
              <a:rPr lang="en-US" dirty="0">
                <a:solidFill>
                  <a:srgbClr val="A6BF71"/>
                </a:solidFill>
              </a:rPr>
              <a:t>primary</a:t>
            </a:r>
            <a:r>
              <a:rPr lang="en-US" dirty="0"/>
              <a:t> </a:t>
            </a:r>
            <a:r>
              <a:rPr lang="en-US" dirty="0">
                <a:solidFill>
                  <a:srgbClr val="537B32"/>
                </a:solidFill>
              </a:rPr>
              <a:t>key</a:t>
            </a:r>
            <a:r>
              <a:rPr lang="en-US" dirty="0"/>
              <a:t> are dependent on </a:t>
            </a:r>
            <a:r>
              <a:rPr lang="en-US" dirty="0">
                <a:solidFill>
                  <a:srgbClr val="B12552"/>
                </a:solidFill>
              </a:rPr>
              <a:t>part</a:t>
            </a:r>
            <a:r>
              <a:rPr lang="en-US" dirty="0"/>
              <a:t> </a:t>
            </a:r>
            <a:r>
              <a:rPr lang="en-US" dirty="0">
                <a:solidFill>
                  <a:srgbClr val="E8949C"/>
                </a:solidFill>
              </a:rPr>
              <a:t>of</a:t>
            </a:r>
            <a:r>
              <a:rPr lang="en-US" dirty="0"/>
              <a:t> </a:t>
            </a:r>
            <a:r>
              <a:rPr lang="en-US" dirty="0">
                <a:solidFill>
                  <a:srgbClr val="B12552"/>
                </a:solidFill>
              </a:rPr>
              <a:t>the</a:t>
            </a:r>
            <a:r>
              <a:rPr lang="en-US" dirty="0"/>
              <a:t> </a:t>
            </a:r>
            <a:r>
              <a:rPr lang="en-US" dirty="0">
                <a:solidFill>
                  <a:srgbClr val="E8949C"/>
                </a:solidFill>
              </a:rPr>
              <a:t>primary</a:t>
            </a:r>
            <a:r>
              <a:rPr lang="en-US" dirty="0"/>
              <a:t> </a:t>
            </a:r>
            <a:r>
              <a:rPr lang="en-US" dirty="0">
                <a:solidFill>
                  <a:srgbClr val="B12552"/>
                </a:solidFill>
              </a:rPr>
              <a:t>key</a:t>
            </a:r>
            <a:r>
              <a:rPr lang="en-US" dirty="0"/>
              <a:t>, the table is considered to have a partial functional dependency.</a:t>
            </a:r>
          </a:p>
        </p:txBody>
      </p:sp>
      <p:pic>
        <p:nvPicPr>
          <p:cNvPr id="10" name="Picture 9"/>
          <p:cNvPicPr>
            <a:picLocks noChangeAspect="1"/>
          </p:cNvPicPr>
          <p:nvPr/>
        </p:nvPicPr>
        <p:blipFill>
          <a:blip r:embed="rId2"/>
          <a:stretch>
            <a:fillRect/>
          </a:stretch>
        </p:blipFill>
        <p:spPr>
          <a:xfrm>
            <a:off x="2306641" y="2727081"/>
            <a:ext cx="7579918" cy="3129823"/>
          </a:xfrm>
          <a:prstGeom prst="rect">
            <a:avLst/>
          </a:prstGeom>
        </p:spPr>
      </p:pic>
    </p:spTree>
    <p:extLst>
      <p:ext uri="{BB962C8B-B14F-4D97-AF65-F5344CB8AC3E}">
        <p14:creationId xmlns:p14="http://schemas.microsoft.com/office/powerpoint/2010/main" val="370962824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95</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normAutofit/>
          </a:bodyPr>
          <a:lstStyle/>
          <a:p>
            <a:endParaRPr lang="en-US" dirty="0" smtClean="0"/>
          </a:p>
          <a:p>
            <a:endParaRPr lang="en-US" dirty="0"/>
          </a:p>
          <a:p>
            <a:endParaRPr lang="en-US" dirty="0" smtClean="0"/>
          </a:p>
          <a:p>
            <a:r>
              <a:rPr lang="en-US" sz="1800" dirty="0" smtClean="0">
                <a:solidFill>
                  <a:srgbClr val="B12552"/>
                </a:solidFill>
                <a:latin typeface="Courier New" panose="02070309020205020404" pitchFamily="49" charset="0"/>
                <a:cs typeface="Courier New" panose="02070309020205020404" pitchFamily="49" charset="0"/>
              </a:rPr>
              <a:t>SID</a:t>
            </a:r>
            <a:r>
              <a:rPr lang="en-US" sz="1800" dirty="0" smtClean="0">
                <a:solidFill>
                  <a:srgbClr val="DB325F"/>
                </a:solidFill>
                <a:latin typeface="Courier New" panose="02070309020205020404" pitchFamily="49" charset="0"/>
                <a:cs typeface="Courier New" panose="02070309020205020404" pitchFamily="49" charset="0"/>
              </a:rPr>
              <a:t>+</a:t>
            </a:r>
            <a:r>
              <a:rPr lang="en-US" sz="1800" dirty="0" smtClean="0">
                <a:solidFill>
                  <a:srgbClr val="E8949C"/>
                </a:solidFill>
                <a:latin typeface="Courier New" panose="02070309020205020404" pitchFamily="49" charset="0"/>
                <a:cs typeface="Courier New" panose="02070309020205020404" pitchFamily="49" charset="0"/>
              </a:rPr>
              <a:t>EID</a:t>
            </a:r>
            <a:r>
              <a:rPr lang="en-US" sz="1800" dirty="0" smtClean="0"/>
              <a:t> </a:t>
            </a:r>
            <a:r>
              <a:rPr lang="en-US" sz="1800" dirty="0"/>
              <a:t>is the </a:t>
            </a:r>
            <a:r>
              <a:rPr lang="en-US" sz="1800" dirty="0">
                <a:solidFill>
                  <a:srgbClr val="DB325F"/>
                </a:solidFill>
              </a:rPr>
              <a:t>primary key</a:t>
            </a:r>
            <a:r>
              <a:rPr lang="en-US" sz="1800" dirty="0"/>
              <a:t> of </a:t>
            </a:r>
            <a:r>
              <a:rPr lang="en-US" sz="1800" dirty="0">
                <a:latin typeface="Courier New" panose="02070309020205020404" pitchFamily="49" charset="0"/>
                <a:cs typeface="Courier New" panose="02070309020205020404" pitchFamily="49" charset="0"/>
              </a:rPr>
              <a:t>STUDENT</a:t>
            </a:r>
            <a:r>
              <a:rPr lang="en-US" sz="1800" dirty="0" smtClean="0"/>
              <a:t>.</a:t>
            </a:r>
            <a:br>
              <a:rPr lang="en-US" sz="1800" dirty="0" smtClean="0"/>
            </a:br>
            <a:r>
              <a:rPr lang="en-US" sz="1800" dirty="0">
                <a:solidFill>
                  <a:srgbClr val="7DAC4F"/>
                </a:solidFill>
                <a:latin typeface="Courier New" panose="02070309020205020404" pitchFamily="49" charset="0"/>
                <a:cs typeface="Courier New" panose="02070309020205020404" pitchFamily="49" charset="0"/>
              </a:rPr>
              <a:t>SNAME</a:t>
            </a:r>
            <a:r>
              <a:rPr lang="en-US" sz="1800" dirty="0"/>
              <a:t>, </a:t>
            </a:r>
            <a:r>
              <a:rPr lang="en-US" sz="1800" dirty="0">
                <a:solidFill>
                  <a:srgbClr val="7DAC4F"/>
                </a:solidFill>
                <a:latin typeface="Courier New" panose="02070309020205020404" pitchFamily="49" charset="0"/>
                <a:cs typeface="Courier New" panose="02070309020205020404" pitchFamily="49" charset="0"/>
              </a:rPr>
              <a:t>CLASS</a:t>
            </a:r>
            <a:r>
              <a:rPr lang="en-US" sz="1800" dirty="0"/>
              <a:t> and </a:t>
            </a:r>
            <a:r>
              <a:rPr lang="en-US" sz="1800" dirty="0">
                <a:solidFill>
                  <a:srgbClr val="7DAC4F"/>
                </a:solidFill>
                <a:latin typeface="Courier New" panose="02070309020205020404" pitchFamily="49" charset="0"/>
                <a:cs typeface="Courier New" panose="02070309020205020404" pitchFamily="49" charset="0"/>
              </a:rPr>
              <a:t>CTEACH</a:t>
            </a:r>
            <a:r>
              <a:rPr lang="en-US" sz="1800" dirty="0"/>
              <a:t> are dependent on </a:t>
            </a:r>
            <a:r>
              <a:rPr lang="en-US" sz="1800" dirty="0">
                <a:solidFill>
                  <a:srgbClr val="B12552"/>
                </a:solidFill>
                <a:latin typeface="Courier New" panose="02070309020205020404" pitchFamily="49" charset="0"/>
                <a:cs typeface="Courier New" panose="02070309020205020404" pitchFamily="49" charset="0"/>
              </a:rPr>
              <a:t>SID</a:t>
            </a:r>
            <a:r>
              <a:rPr lang="en-US" sz="1800" dirty="0" smtClean="0"/>
              <a:t>.</a:t>
            </a:r>
          </a:p>
          <a:p>
            <a:pPr algn="ctr"/>
            <a:r>
              <a:rPr lang="en-US" sz="1800" dirty="0" smtClean="0">
                <a:latin typeface="Courier New" panose="02070309020205020404" pitchFamily="49" charset="0"/>
                <a:cs typeface="Courier New" panose="02070309020205020404" pitchFamily="49" charset="0"/>
              </a:rPr>
              <a:t>SID</a:t>
            </a:r>
            <a:r>
              <a:rPr lang="en-US" sz="1800" dirty="0" smtClean="0"/>
              <a:t> </a:t>
            </a:r>
            <a:r>
              <a:rPr lang="en-US" sz="1800" dirty="0" smtClean="0">
                <a:sym typeface="Wingdings" panose="05000000000000000000" pitchFamily="2" charset="2"/>
              </a:rPr>
              <a:t></a:t>
            </a:r>
            <a:r>
              <a:rPr lang="en-US" sz="1800" dirty="0" smtClean="0">
                <a:latin typeface="Courier New" panose="02070309020205020404" pitchFamily="49" charset="0"/>
                <a:cs typeface="Courier New" panose="02070309020205020404" pitchFamily="49" charset="0"/>
              </a:rPr>
              <a:t>{</a:t>
            </a:r>
            <a:r>
              <a:rPr lang="en-US" sz="1800" dirty="0">
                <a:latin typeface="Courier New" panose="02070309020205020404" pitchFamily="49" charset="0"/>
                <a:cs typeface="Courier New" panose="02070309020205020404" pitchFamily="49" charset="0"/>
              </a:rPr>
              <a:t>SNAME</a:t>
            </a:r>
            <a:r>
              <a:rPr lang="en-US" sz="1800" dirty="0"/>
              <a:t>, </a:t>
            </a:r>
            <a:r>
              <a:rPr lang="en-US" sz="1800" dirty="0">
                <a:latin typeface="Courier New" panose="02070309020205020404" pitchFamily="49" charset="0"/>
                <a:cs typeface="Courier New" panose="02070309020205020404" pitchFamily="49" charset="0"/>
              </a:rPr>
              <a:t>CLASS</a:t>
            </a:r>
            <a:r>
              <a:rPr lang="en-US" sz="1800" dirty="0"/>
              <a:t>, </a:t>
            </a:r>
            <a:r>
              <a:rPr lang="en-US" sz="1800" dirty="0" smtClean="0">
                <a:latin typeface="Courier New" panose="02070309020205020404" pitchFamily="49" charset="0"/>
                <a:cs typeface="Courier New" panose="02070309020205020404" pitchFamily="49" charset="0"/>
              </a:rPr>
              <a:t>CTEACH}</a:t>
            </a:r>
            <a:endParaRPr lang="en-US" sz="1800" dirty="0"/>
          </a:p>
          <a:p>
            <a:r>
              <a:rPr lang="en-US" sz="1800" dirty="0" smtClean="0">
                <a:solidFill>
                  <a:srgbClr val="A6BF71"/>
                </a:solidFill>
                <a:latin typeface="Courier New" panose="02070309020205020404" pitchFamily="49" charset="0"/>
                <a:cs typeface="Courier New" panose="02070309020205020404" pitchFamily="49" charset="0"/>
              </a:rPr>
              <a:t>ENAME</a:t>
            </a:r>
            <a:r>
              <a:rPr lang="en-US" sz="1800" dirty="0" smtClean="0"/>
              <a:t> </a:t>
            </a:r>
            <a:r>
              <a:rPr lang="en-US" sz="1800" dirty="0"/>
              <a:t>and </a:t>
            </a:r>
            <a:r>
              <a:rPr lang="en-US" sz="1800" dirty="0">
                <a:solidFill>
                  <a:srgbClr val="A6BF71"/>
                </a:solidFill>
                <a:latin typeface="Courier New" panose="02070309020205020404" pitchFamily="49" charset="0"/>
                <a:cs typeface="Courier New" panose="02070309020205020404" pitchFamily="49" charset="0"/>
              </a:rPr>
              <a:t>ETEACH</a:t>
            </a:r>
            <a:r>
              <a:rPr lang="en-US" sz="1800" dirty="0"/>
              <a:t> are dependent on </a:t>
            </a:r>
            <a:r>
              <a:rPr lang="en-US" sz="1800" dirty="0" smtClean="0">
                <a:solidFill>
                  <a:srgbClr val="E8949C"/>
                </a:solidFill>
                <a:latin typeface="Courier New" panose="02070309020205020404" pitchFamily="49" charset="0"/>
                <a:cs typeface="Courier New" panose="02070309020205020404" pitchFamily="49" charset="0"/>
              </a:rPr>
              <a:t>EID</a:t>
            </a:r>
            <a:r>
              <a:rPr lang="en-US" sz="1800" dirty="0" smtClean="0"/>
              <a:t>.</a:t>
            </a:r>
          </a:p>
          <a:p>
            <a:pPr algn="ctr"/>
            <a:r>
              <a:rPr lang="en-US" sz="1800" dirty="0" smtClean="0">
                <a:latin typeface="Courier New" panose="02070309020205020404" pitchFamily="49" charset="0"/>
                <a:cs typeface="Courier New" panose="02070309020205020404" pitchFamily="49" charset="0"/>
              </a:rPr>
              <a:t>EID</a:t>
            </a:r>
            <a:r>
              <a:rPr lang="en-US" sz="1800" dirty="0" smtClean="0"/>
              <a:t> </a:t>
            </a:r>
            <a:r>
              <a:rPr lang="en-US" sz="1800" dirty="0" smtClean="0">
                <a:sym typeface="Wingdings" panose="05000000000000000000" pitchFamily="2" charset="2"/>
              </a:rPr>
              <a:t></a:t>
            </a:r>
            <a:r>
              <a:rPr lang="en-US" sz="1800" dirty="0" smtClean="0">
                <a:latin typeface="Courier New" panose="02070309020205020404" pitchFamily="49" charset="0"/>
                <a:cs typeface="Courier New" panose="02070309020205020404" pitchFamily="49" charset="0"/>
              </a:rPr>
              <a:t>{ENAME, ETEACH}</a:t>
            </a:r>
            <a:endParaRPr lang="en-US" sz="1800" dirty="0">
              <a:latin typeface="Courier New" panose="02070309020205020404" pitchFamily="49" charset="0"/>
              <a:cs typeface="Courier New" panose="02070309020205020404" pitchFamily="49" charset="0"/>
            </a:endParaRPr>
          </a:p>
          <a:p>
            <a:r>
              <a:rPr lang="en-US" sz="1800" dirty="0"/>
              <a:t>Only </a:t>
            </a:r>
            <a:r>
              <a:rPr lang="en-US" sz="1800" dirty="0">
                <a:solidFill>
                  <a:srgbClr val="A6BF71"/>
                </a:solidFill>
                <a:latin typeface="Courier New" panose="02070309020205020404" pitchFamily="49" charset="0"/>
                <a:cs typeface="Courier New" panose="02070309020205020404" pitchFamily="49" charset="0"/>
              </a:rPr>
              <a:t>SCORE</a:t>
            </a:r>
            <a:r>
              <a:rPr lang="en-US" sz="1800" dirty="0"/>
              <a:t> is dependent on </a:t>
            </a:r>
            <a:r>
              <a:rPr lang="en-US" sz="1800" dirty="0">
                <a:latin typeface="Courier New" panose="02070309020205020404" pitchFamily="49" charset="0"/>
                <a:cs typeface="Courier New" panose="02070309020205020404" pitchFamily="49" charset="0"/>
              </a:rPr>
              <a:t>SID+EID</a:t>
            </a:r>
            <a:r>
              <a:rPr lang="en-US" sz="1800" dirty="0"/>
              <a:t>. </a:t>
            </a:r>
            <a:endParaRPr lang="en-US" sz="1800" dirty="0" smtClean="0"/>
          </a:p>
          <a:p>
            <a:pPr algn="ctr"/>
            <a:r>
              <a:rPr lang="en-US" sz="1800" dirty="0" smtClean="0">
                <a:latin typeface="Courier New" panose="02070309020205020404" pitchFamily="49" charset="0"/>
                <a:cs typeface="Courier New" panose="02070309020205020404" pitchFamily="49" charset="0"/>
              </a:rPr>
              <a:t>{</a:t>
            </a:r>
            <a:r>
              <a:rPr lang="en-US" sz="1800" dirty="0">
                <a:latin typeface="Courier New" panose="02070309020205020404" pitchFamily="49" charset="0"/>
                <a:cs typeface="Courier New" panose="02070309020205020404" pitchFamily="49" charset="0"/>
              </a:rPr>
              <a:t>SID, EID} </a:t>
            </a:r>
            <a:r>
              <a:rPr lang="en-US" sz="1800" dirty="0" smtClean="0">
                <a:latin typeface="Courier New" panose="02070309020205020404" pitchFamily="49" charset="0"/>
                <a:cs typeface="Courier New" panose="02070309020205020404" pitchFamily="49" charset="0"/>
                <a:sym typeface="Wingdings" panose="05000000000000000000" pitchFamily="2" charset="2"/>
              </a:rPr>
              <a:t> </a:t>
            </a:r>
            <a:r>
              <a:rPr lang="en-US" sz="1800" dirty="0" smtClean="0">
                <a:latin typeface="Courier New" panose="02070309020205020404" pitchFamily="49" charset="0"/>
                <a:cs typeface="Courier New" panose="02070309020205020404" pitchFamily="49" charset="0"/>
              </a:rPr>
              <a:t>SCORE</a:t>
            </a:r>
            <a:endParaRPr lang="en-US" sz="1800" dirty="0">
              <a:latin typeface="Courier New" panose="02070309020205020404" pitchFamily="49" charset="0"/>
              <a:cs typeface="Courier New" panose="02070309020205020404" pitchFamily="49" charset="0"/>
            </a:endParaRPr>
          </a:p>
        </p:txBody>
      </p:sp>
      <p:pic>
        <p:nvPicPr>
          <p:cNvPr id="17" name="Picture 16"/>
          <p:cNvPicPr>
            <a:picLocks noChangeAspect="1"/>
          </p:cNvPicPr>
          <p:nvPr/>
        </p:nvPicPr>
        <p:blipFill rotWithShape="1">
          <a:blip r:embed="rId2"/>
          <a:srcRect t="8748" b="80097"/>
          <a:stretch/>
        </p:blipFill>
        <p:spPr>
          <a:xfrm>
            <a:off x="2306641" y="2069869"/>
            <a:ext cx="7579918" cy="349135"/>
          </a:xfrm>
          <a:prstGeom prst="rect">
            <a:avLst/>
          </a:prstGeom>
        </p:spPr>
      </p:pic>
    </p:spTree>
    <p:extLst>
      <p:ext uri="{BB962C8B-B14F-4D97-AF65-F5344CB8AC3E}">
        <p14:creationId xmlns:p14="http://schemas.microsoft.com/office/powerpoint/2010/main" val="414864840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96</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endParaRPr lang="en-US" dirty="0" smtClean="0"/>
          </a:p>
          <a:p>
            <a:endParaRPr lang="en-US" dirty="0"/>
          </a:p>
          <a:p>
            <a:endParaRPr lang="en-US" dirty="0" smtClean="0"/>
          </a:p>
          <a:p>
            <a:endParaRPr lang="en-US" dirty="0"/>
          </a:p>
          <a:p>
            <a:endParaRPr lang="en-US" dirty="0" smtClean="0"/>
          </a:p>
          <a:p>
            <a:r>
              <a:rPr lang="en-US" dirty="0" smtClean="0"/>
              <a:t>In </a:t>
            </a:r>
            <a:r>
              <a:rPr lang="en-US" dirty="0"/>
              <a:t>conclusion, partial functional dependency can exist only when the primary key of a table is a composite key.</a:t>
            </a:r>
          </a:p>
        </p:txBody>
      </p:sp>
      <p:pic>
        <p:nvPicPr>
          <p:cNvPr id="6" name="Picture 5"/>
          <p:cNvPicPr>
            <a:picLocks noChangeAspect="1"/>
          </p:cNvPicPr>
          <p:nvPr/>
        </p:nvPicPr>
        <p:blipFill>
          <a:blip r:embed="rId2"/>
          <a:stretch>
            <a:fillRect/>
          </a:stretch>
        </p:blipFill>
        <p:spPr>
          <a:xfrm>
            <a:off x="2630968" y="2551273"/>
            <a:ext cx="6932205" cy="1222705"/>
          </a:xfrm>
          <a:prstGeom prst="rect">
            <a:avLst/>
          </a:prstGeom>
        </p:spPr>
      </p:pic>
    </p:spTree>
    <p:extLst>
      <p:ext uri="{BB962C8B-B14F-4D97-AF65-F5344CB8AC3E}">
        <p14:creationId xmlns:p14="http://schemas.microsoft.com/office/powerpoint/2010/main" val="332445190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97</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To remove partial functional dependency, we have to ensure that all attributes that are not primary key are dependent on the </a:t>
            </a:r>
            <a:r>
              <a:rPr lang="en-US" dirty="0">
                <a:solidFill>
                  <a:srgbClr val="D93566"/>
                </a:solidFill>
              </a:rPr>
              <a:t>entire primary key</a:t>
            </a:r>
            <a:r>
              <a:rPr lang="en-US" dirty="0" smtClean="0"/>
              <a:t>.</a:t>
            </a:r>
            <a:br>
              <a:rPr lang="en-US" dirty="0" smtClean="0"/>
            </a:br>
            <a:endParaRPr lang="en-US" dirty="0"/>
          </a:p>
          <a:p>
            <a:r>
              <a:rPr lang="en-US" dirty="0"/>
              <a:t>See the following table:</a:t>
            </a:r>
          </a:p>
        </p:txBody>
      </p:sp>
      <p:pic>
        <p:nvPicPr>
          <p:cNvPr id="6" name="Picture 5"/>
          <p:cNvPicPr>
            <a:picLocks noChangeAspect="1"/>
          </p:cNvPicPr>
          <p:nvPr/>
        </p:nvPicPr>
        <p:blipFill>
          <a:blip r:embed="rId2"/>
          <a:stretch>
            <a:fillRect/>
          </a:stretch>
        </p:blipFill>
        <p:spPr>
          <a:xfrm>
            <a:off x="2529541" y="3414976"/>
            <a:ext cx="6984487" cy="2976061"/>
          </a:xfrm>
          <a:prstGeom prst="rect">
            <a:avLst/>
          </a:prstGeom>
        </p:spPr>
      </p:pic>
    </p:spTree>
    <p:extLst>
      <p:ext uri="{BB962C8B-B14F-4D97-AF65-F5344CB8AC3E}">
        <p14:creationId xmlns:p14="http://schemas.microsoft.com/office/powerpoint/2010/main" val="49702977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98</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Base on its functional dependencies, we shall split this table into three</a:t>
            </a:r>
            <a:r>
              <a:rPr lang="en-US" dirty="0" smtClean="0"/>
              <a:t>.</a:t>
            </a:r>
          </a:p>
          <a:p>
            <a:endParaRPr lang="en-US" dirty="0"/>
          </a:p>
          <a:p>
            <a:endParaRPr lang="en-US" dirty="0" smtClean="0"/>
          </a:p>
          <a:p>
            <a:endParaRPr lang="en-US" dirty="0"/>
          </a:p>
          <a:p>
            <a:endParaRPr lang="en-US" dirty="0" smtClean="0"/>
          </a:p>
          <a:p>
            <a:endParaRPr lang="en-US" dirty="0" smtClean="0"/>
          </a:p>
          <a:p>
            <a:r>
              <a:rPr lang="en-US" dirty="0"/>
              <a:t/>
            </a:r>
            <a:br>
              <a:rPr lang="en-US" dirty="0"/>
            </a:br>
            <a:r>
              <a:rPr lang="en-US" dirty="0" smtClean="0"/>
              <a:t/>
            </a:r>
            <a:br>
              <a:rPr lang="en-US" dirty="0" smtClean="0"/>
            </a:br>
            <a:r>
              <a:rPr lang="en-US" dirty="0"/>
              <a:t/>
            </a:r>
            <a:br>
              <a:rPr lang="en-US" dirty="0"/>
            </a:br>
            <a:r>
              <a:rPr lang="en-US" dirty="0"/>
              <a:t>This three tables are now in 2NF.</a:t>
            </a:r>
          </a:p>
        </p:txBody>
      </p:sp>
      <p:pic>
        <p:nvPicPr>
          <p:cNvPr id="7" name="Picture 6"/>
          <p:cNvPicPr>
            <a:picLocks noChangeAspect="1"/>
          </p:cNvPicPr>
          <p:nvPr/>
        </p:nvPicPr>
        <p:blipFill>
          <a:blip r:embed="rId2"/>
          <a:stretch>
            <a:fillRect/>
          </a:stretch>
        </p:blipFill>
        <p:spPr>
          <a:xfrm>
            <a:off x="8301828" y="2561330"/>
            <a:ext cx="2400103" cy="3343274"/>
          </a:xfrm>
          <a:prstGeom prst="rect">
            <a:avLst/>
          </a:prstGeom>
        </p:spPr>
      </p:pic>
      <p:pic>
        <p:nvPicPr>
          <p:cNvPr id="8" name="Picture 7"/>
          <p:cNvPicPr>
            <a:picLocks noChangeAspect="1"/>
          </p:cNvPicPr>
          <p:nvPr/>
        </p:nvPicPr>
        <p:blipFill>
          <a:blip r:embed="rId3"/>
          <a:stretch>
            <a:fillRect/>
          </a:stretch>
        </p:blipFill>
        <p:spPr>
          <a:xfrm>
            <a:off x="838801" y="2561330"/>
            <a:ext cx="3635194" cy="2459557"/>
          </a:xfrm>
          <a:prstGeom prst="rect">
            <a:avLst/>
          </a:prstGeom>
        </p:spPr>
      </p:pic>
      <p:pic>
        <p:nvPicPr>
          <p:cNvPr id="9" name="Picture 8"/>
          <p:cNvPicPr>
            <a:picLocks noChangeAspect="1"/>
          </p:cNvPicPr>
          <p:nvPr/>
        </p:nvPicPr>
        <p:blipFill>
          <a:blip r:embed="rId4"/>
          <a:stretch>
            <a:fillRect/>
          </a:stretch>
        </p:blipFill>
        <p:spPr>
          <a:xfrm>
            <a:off x="5034546" y="2561330"/>
            <a:ext cx="2706731" cy="1886277"/>
          </a:xfrm>
          <a:prstGeom prst="rect">
            <a:avLst/>
          </a:prstGeom>
        </p:spPr>
      </p:pic>
    </p:spTree>
    <p:extLst>
      <p:ext uri="{BB962C8B-B14F-4D97-AF65-F5344CB8AC3E}">
        <p14:creationId xmlns:p14="http://schemas.microsoft.com/office/powerpoint/2010/main" val="179338945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Activity 5.2 on P. 289 </a:t>
            </a:r>
            <a:r>
              <a:rPr lang="en-US" dirty="0" smtClean="0"/>
              <a:t>of your textbook.</a:t>
            </a:r>
          </a:p>
          <a:p>
            <a:endParaRPr lang="en-US" dirty="0"/>
          </a:p>
          <a:p>
            <a:r>
              <a:rPr lang="en-US" dirty="0" smtClean="0">
                <a:solidFill>
                  <a:srgbClr val="FF0000"/>
                </a:solidFill>
              </a:rPr>
              <a:t>(</a:t>
            </a:r>
            <a:r>
              <a:rPr lang="en-US" dirty="0">
                <a:solidFill>
                  <a:srgbClr val="FF0000"/>
                </a:solidFill>
              </a:rPr>
              <a:t>a) Yes. Deletion anomaly</a:t>
            </a:r>
            <a:endParaRPr lang="en-US" dirty="0" smtClean="0">
              <a:solidFill>
                <a:srgbClr val="FF0000"/>
              </a:solidFill>
            </a:endParaRPr>
          </a:p>
          <a:p>
            <a:endParaRPr lang="en-US" dirty="0">
              <a:solidFill>
                <a:srgbClr val="FF0000"/>
              </a:solidFill>
            </a:endParaRPr>
          </a:p>
          <a:p>
            <a:r>
              <a:rPr lang="en-US" dirty="0" smtClean="0">
                <a:solidFill>
                  <a:srgbClr val="FF0000"/>
                </a:solidFill>
              </a:rPr>
              <a:t>(b) </a:t>
            </a:r>
            <a:r>
              <a:rPr lang="en-US" dirty="0">
                <a:solidFill>
                  <a:srgbClr val="FF0000"/>
                </a:solidFill>
              </a:rPr>
              <a:t>Yes. Update anomaly.</a:t>
            </a:r>
            <a:endParaRPr lang="en-US" dirty="0" smtClean="0">
              <a:solidFill>
                <a:srgbClr val="FF0000"/>
              </a:solidFill>
            </a:endParaRPr>
          </a:p>
          <a:p>
            <a:endParaRPr lang="en-US" dirty="0">
              <a:solidFill>
                <a:srgbClr val="FF0000"/>
              </a:solidFill>
            </a:endParaRPr>
          </a:p>
          <a:p>
            <a:r>
              <a:rPr lang="en-US" dirty="0" smtClean="0">
                <a:solidFill>
                  <a:srgbClr val="FF0000"/>
                </a:solidFill>
              </a:rPr>
              <a:t>(c) </a:t>
            </a:r>
            <a:r>
              <a:rPr lang="en-US" dirty="0">
                <a:solidFill>
                  <a:srgbClr val="FF0000"/>
                </a:solidFill>
              </a:rPr>
              <a:t>Yes. Insertion anomaly.</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99</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spTree>
    <p:extLst>
      <p:ext uri="{BB962C8B-B14F-4D97-AF65-F5344CB8AC3E}">
        <p14:creationId xmlns:p14="http://schemas.microsoft.com/office/powerpoint/2010/main" val="3006134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fade">
                                      <p:cBhvr>
                                        <p:cTn id="12" dur="500"/>
                                        <p:tgtEl>
                                          <p:spTgt spid="2">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animEffect transition="in" filter="fade">
                                      <p:cBhvr>
                                        <p:cTn id="1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a:p>
            <a:r>
              <a:rPr lang="en-US" dirty="0" smtClean="0">
                <a:solidFill>
                  <a:srgbClr val="FF0000"/>
                </a:solidFill>
              </a:rPr>
              <a:t>(a) No.</a:t>
            </a:r>
          </a:p>
          <a:p>
            <a:endParaRPr lang="en-US" dirty="0" smtClean="0">
              <a:solidFill>
                <a:srgbClr val="FF0000"/>
              </a:solidFill>
            </a:endParaRPr>
          </a:p>
          <a:p>
            <a:r>
              <a:rPr lang="en-US" dirty="0" smtClean="0">
                <a:solidFill>
                  <a:srgbClr val="FF0000"/>
                </a:solidFill>
              </a:rPr>
              <a:t>(b) No. </a:t>
            </a:r>
          </a:p>
          <a:p>
            <a:endParaRPr lang="en-US" dirty="0" smtClean="0">
              <a:solidFill>
                <a:srgbClr val="FF0000"/>
              </a:solidFill>
            </a:endParaRPr>
          </a:p>
          <a:p>
            <a:r>
              <a:rPr lang="en-US" dirty="0" smtClean="0">
                <a:solidFill>
                  <a:srgbClr val="FF0000"/>
                </a:solidFill>
              </a:rPr>
              <a:t>(c) No.</a:t>
            </a:r>
          </a:p>
          <a:p>
            <a:endParaRPr lang="en-US" dirty="0" smtClean="0">
              <a:solidFill>
                <a:srgbClr val="FF0000"/>
              </a:solidFill>
            </a:endParaRPr>
          </a:p>
          <a:p>
            <a:r>
              <a:rPr lang="en-US" dirty="0" smtClean="0">
                <a:solidFill>
                  <a:srgbClr val="FF0000"/>
                </a:solidFill>
              </a:rPr>
              <a:t>To reduce data redundancy and anomalies.</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100</a:t>
            </a:fld>
            <a:endParaRPr lang="en-US" dirty="0"/>
          </a:p>
        </p:txBody>
      </p:sp>
      <p:sp>
        <p:nvSpPr>
          <p:cNvPr id="4" name="Text Placeholder 3"/>
          <p:cNvSpPr>
            <a:spLocks noGrp="1"/>
          </p:cNvSpPr>
          <p:nvPr>
            <p:ph type="body" sz="quarter" idx="13"/>
          </p:nvPr>
        </p:nvSpPr>
        <p:spPr/>
        <p:txBody>
          <a:bodyPr/>
          <a:lstStyle/>
          <a:p>
            <a:r>
              <a:rPr lang="en-US" dirty="0" smtClean="0"/>
              <a:t>5.2</a:t>
            </a:r>
            <a:endParaRPr lang="en-US" dirty="0"/>
          </a:p>
        </p:txBody>
      </p:sp>
    </p:spTree>
    <p:extLst>
      <p:ext uri="{BB962C8B-B14F-4D97-AF65-F5344CB8AC3E}">
        <p14:creationId xmlns:p14="http://schemas.microsoft.com/office/powerpoint/2010/main" val="320029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fade">
                                      <p:cBhvr>
                                        <p:cTn id="17" dur="500"/>
                                        <p:tgtEl>
                                          <p:spTgt spid="2">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animEffect transition="in" filter="fade">
                                      <p:cBhvr>
                                        <p:cTn id="2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101</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A table in Third Normal Form (3NF) should follow these rules</a:t>
            </a:r>
            <a:r>
              <a:rPr lang="en-US" dirty="0" smtClean="0"/>
              <a:t>:</a:t>
            </a:r>
          </a:p>
          <a:p>
            <a:endParaRPr lang="en-US" dirty="0"/>
          </a:p>
          <a:p>
            <a:pPr marL="457200" indent="-457200">
              <a:buFont typeface="+mj-lt"/>
              <a:buAutoNum type="arabicPeriod"/>
            </a:pPr>
            <a:r>
              <a:rPr lang="en-US" dirty="0" smtClean="0"/>
              <a:t>The </a:t>
            </a:r>
            <a:r>
              <a:rPr lang="en-US" dirty="0"/>
              <a:t>database follows every </a:t>
            </a:r>
            <a:r>
              <a:rPr lang="en-US" dirty="0" err="1"/>
              <a:t>normalisation</a:t>
            </a:r>
            <a:r>
              <a:rPr lang="en-US" dirty="0"/>
              <a:t> rule of 2NF; </a:t>
            </a:r>
            <a:r>
              <a:rPr lang="en-US" dirty="0" smtClean="0"/>
              <a:t>and</a:t>
            </a:r>
          </a:p>
          <a:p>
            <a:pPr marL="457200" indent="-457200">
              <a:buFont typeface="+mj-lt"/>
              <a:buAutoNum type="arabicPeriod"/>
            </a:pPr>
            <a:endParaRPr lang="en-US" dirty="0"/>
          </a:p>
          <a:p>
            <a:pPr marL="457200" indent="-457200">
              <a:buFont typeface="+mj-lt"/>
              <a:buAutoNum type="arabicPeriod"/>
            </a:pPr>
            <a:r>
              <a:rPr lang="en-US" dirty="0" smtClean="0"/>
              <a:t>There </a:t>
            </a:r>
            <a:r>
              <a:rPr lang="en-US" dirty="0"/>
              <a:t>must NOT be any </a:t>
            </a:r>
            <a:r>
              <a:rPr lang="en-US" b="1" dirty="0">
                <a:solidFill>
                  <a:srgbClr val="4B479C"/>
                </a:solidFill>
              </a:rPr>
              <a:t>transitive functional dependency</a:t>
            </a:r>
            <a:r>
              <a:rPr lang="en-US" dirty="0"/>
              <a:t> between </a:t>
            </a:r>
            <a:r>
              <a:rPr lang="en-US" dirty="0" smtClean="0"/>
              <a:t>attributes.</a:t>
            </a:r>
          </a:p>
          <a:p>
            <a:pPr marL="457200" indent="-457200">
              <a:buFont typeface="+mj-lt"/>
              <a:buAutoNum type="arabicPeriod"/>
            </a:pPr>
            <a:endParaRPr lang="en-US" dirty="0"/>
          </a:p>
          <a:p>
            <a:r>
              <a:rPr lang="en-US" dirty="0"/>
              <a:t>To learn about 3NF, we must first understand the concept of transitive </a:t>
            </a:r>
            <a:r>
              <a:rPr lang="en-US" dirty="0" smtClean="0"/>
              <a:t>functional </a:t>
            </a:r>
            <a:r>
              <a:rPr lang="en-US" dirty="0"/>
              <a:t>dependency.</a:t>
            </a:r>
          </a:p>
        </p:txBody>
      </p:sp>
    </p:spTree>
    <p:extLst>
      <p:ext uri="{BB962C8B-B14F-4D97-AF65-F5344CB8AC3E}">
        <p14:creationId xmlns:p14="http://schemas.microsoft.com/office/powerpoint/2010/main" val="190389815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102</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smtClean="0"/>
              <a:t>When </a:t>
            </a:r>
            <a:r>
              <a:rPr lang="en-US" dirty="0">
                <a:solidFill>
                  <a:srgbClr val="A6BF71"/>
                </a:solidFill>
              </a:rPr>
              <a:t>some non-primary key attributes</a:t>
            </a:r>
            <a:r>
              <a:rPr lang="en-US" dirty="0"/>
              <a:t> are dependent on </a:t>
            </a:r>
            <a:r>
              <a:rPr lang="en-US" dirty="0">
                <a:solidFill>
                  <a:srgbClr val="537B32"/>
                </a:solidFill>
              </a:rPr>
              <a:t>other </a:t>
            </a:r>
            <a:r>
              <a:rPr lang="en-US" dirty="0" smtClean="0">
                <a:solidFill>
                  <a:srgbClr val="537B32"/>
                </a:solidFill>
              </a:rPr>
              <a:t>non-primary </a:t>
            </a:r>
            <a:r>
              <a:rPr lang="en-US" dirty="0">
                <a:solidFill>
                  <a:srgbClr val="537B32"/>
                </a:solidFill>
              </a:rPr>
              <a:t>key attributes</a:t>
            </a:r>
            <a:r>
              <a:rPr lang="en-US" dirty="0"/>
              <a:t>, the table is considered to have a transitive functional dependency</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r>
              <a:rPr lang="en-US" dirty="0">
                <a:solidFill>
                  <a:srgbClr val="D93566"/>
                </a:solidFill>
                <a:latin typeface="Courier New" panose="02070309020205020404" pitchFamily="49" charset="0"/>
                <a:cs typeface="Courier New" panose="02070309020205020404" pitchFamily="49" charset="0"/>
              </a:rPr>
              <a:t>SID</a:t>
            </a:r>
            <a:r>
              <a:rPr lang="en-US" dirty="0"/>
              <a:t> is the </a:t>
            </a:r>
            <a:r>
              <a:rPr lang="en-US" dirty="0">
                <a:solidFill>
                  <a:srgbClr val="D93566"/>
                </a:solidFill>
              </a:rPr>
              <a:t>primary key</a:t>
            </a:r>
            <a:r>
              <a:rPr lang="en-US" dirty="0"/>
              <a:t> of </a:t>
            </a:r>
            <a:r>
              <a:rPr lang="en-US" dirty="0">
                <a:latin typeface="Courier New" panose="02070309020205020404" pitchFamily="49" charset="0"/>
                <a:cs typeface="Courier New" panose="02070309020205020404" pitchFamily="49" charset="0"/>
              </a:rPr>
              <a:t>STUDENT</a:t>
            </a:r>
            <a:r>
              <a:rPr lang="en-US" dirty="0"/>
              <a:t>.</a:t>
            </a:r>
          </a:p>
        </p:txBody>
      </p:sp>
      <p:pic>
        <p:nvPicPr>
          <p:cNvPr id="6" name="Picture 5"/>
          <p:cNvPicPr>
            <a:picLocks noChangeAspect="1"/>
          </p:cNvPicPr>
          <p:nvPr/>
        </p:nvPicPr>
        <p:blipFill>
          <a:blip r:embed="rId2"/>
          <a:stretch>
            <a:fillRect/>
          </a:stretch>
        </p:blipFill>
        <p:spPr>
          <a:xfrm>
            <a:off x="4214238" y="2647685"/>
            <a:ext cx="3756696" cy="2157071"/>
          </a:xfrm>
          <a:prstGeom prst="rect">
            <a:avLst/>
          </a:prstGeom>
        </p:spPr>
      </p:pic>
    </p:spTree>
    <p:extLst>
      <p:ext uri="{BB962C8B-B14F-4D97-AF65-F5344CB8AC3E}">
        <p14:creationId xmlns:p14="http://schemas.microsoft.com/office/powerpoint/2010/main" val="312131423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103</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normAutofit fontScale="92500" lnSpcReduction="20000"/>
          </a:bodyPr>
          <a:lstStyle/>
          <a:p>
            <a:r>
              <a:rPr lang="en-US" dirty="0"/>
              <a:t>If we know the identity code of a student (</a:t>
            </a:r>
            <a:r>
              <a:rPr lang="en-US" sz="2200" dirty="0">
                <a:solidFill>
                  <a:srgbClr val="D93566"/>
                </a:solidFill>
                <a:latin typeface="Courier New" panose="02070309020205020404" pitchFamily="49" charset="0"/>
                <a:cs typeface="Courier New" panose="02070309020205020404" pitchFamily="49" charset="0"/>
              </a:rPr>
              <a:t>SID</a:t>
            </a:r>
            <a:r>
              <a:rPr lang="en-US" dirty="0"/>
              <a:t>), we will know their class </a:t>
            </a:r>
            <a:r>
              <a:rPr lang="en-US" dirty="0" smtClean="0"/>
              <a:t>(</a:t>
            </a:r>
            <a:r>
              <a:rPr lang="en-US" sz="2200" dirty="0">
                <a:solidFill>
                  <a:srgbClr val="7DAC4F"/>
                </a:solidFill>
                <a:latin typeface="Courier New" panose="02070309020205020404" pitchFamily="49" charset="0"/>
                <a:cs typeface="Courier New" panose="02070309020205020404" pitchFamily="49" charset="0"/>
              </a:rPr>
              <a:t>CLASS</a:t>
            </a:r>
            <a:r>
              <a:rPr lang="en-US" dirty="0" smtClean="0"/>
              <a:t>).</a:t>
            </a:r>
          </a:p>
          <a:p>
            <a:pPr algn="ctr"/>
            <a:r>
              <a:rPr lang="en-US" dirty="0" smtClean="0"/>
              <a:t/>
            </a:r>
            <a:br>
              <a:rPr lang="en-US" dirty="0" smtClean="0"/>
            </a:br>
            <a:r>
              <a:rPr lang="en-US" sz="2200" dirty="0">
                <a:latin typeface="Courier New" panose="02070309020205020404" pitchFamily="49" charset="0"/>
                <a:cs typeface="Courier New" panose="02070309020205020404" pitchFamily="49" charset="0"/>
              </a:rPr>
              <a:t>SID </a:t>
            </a:r>
            <a:r>
              <a:rPr lang="en-US" sz="2200" dirty="0">
                <a:latin typeface="Courier New" panose="02070309020205020404" pitchFamily="49" charset="0"/>
                <a:cs typeface="Courier New" panose="02070309020205020404" pitchFamily="49" charset="0"/>
                <a:sym typeface="Wingdings" panose="05000000000000000000" pitchFamily="2" charset="2"/>
              </a:rPr>
              <a:t> </a:t>
            </a:r>
            <a:r>
              <a:rPr lang="en-US" sz="2200" dirty="0">
                <a:latin typeface="Courier New" panose="02070309020205020404" pitchFamily="49" charset="0"/>
                <a:cs typeface="Courier New" panose="02070309020205020404" pitchFamily="49" charset="0"/>
              </a:rPr>
              <a:t>CLASS</a:t>
            </a:r>
            <a:r>
              <a:rPr lang="en-US" dirty="0" smtClean="0"/>
              <a:t/>
            </a:r>
            <a:br>
              <a:rPr lang="en-US" dirty="0" smtClean="0"/>
            </a:br>
            <a:endParaRPr lang="en-US" dirty="0" smtClean="0"/>
          </a:p>
          <a:p>
            <a:r>
              <a:rPr lang="en-US" dirty="0" smtClean="0"/>
              <a:t>If </a:t>
            </a:r>
            <a:r>
              <a:rPr lang="en-US" dirty="0"/>
              <a:t>we know the class of a student (</a:t>
            </a:r>
            <a:r>
              <a:rPr lang="en-US" sz="2200" dirty="0">
                <a:solidFill>
                  <a:srgbClr val="7DAC4F"/>
                </a:solidFill>
                <a:latin typeface="Courier New" panose="02070309020205020404" pitchFamily="49" charset="0"/>
                <a:cs typeface="Courier New" panose="02070309020205020404" pitchFamily="49" charset="0"/>
              </a:rPr>
              <a:t>CLASS</a:t>
            </a:r>
            <a:r>
              <a:rPr lang="en-US" dirty="0"/>
              <a:t>), we will know the name of their </a:t>
            </a:r>
            <a:r>
              <a:rPr lang="en-US" dirty="0" smtClean="0"/>
              <a:t>class </a:t>
            </a:r>
            <a:r>
              <a:rPr lang="en-US" dirty="0"/>
              <a:t>teacher (</a:t>
            </a:r>
            <a:r>
              <a:rPr lang="en-US" sz="2200" dirty="0">
                <a:solidFill>
                  <a:srgbClr val="7DAC4F"/>
                </a:solidFill>
                <a:latin typeface="Courier New" panose="02070309020205020404" pitchFamily="49" charset="0"/>
                <a:cs typeface="Courier New" panose="02070309020205020404" pitchFamily="49" charset="0"/>
              </a:rPr>
              <a:t>CTEACH</a:t>
            </a:r>
            <a:r>
              <a:rPr lang="en-US" dirty="0" smtClean="0"/>
              <a:t>).</a:t>
            </a:r>
            <a:br>
              <a:rPr lang="en-US" dirty="0" smtClean="0"/>
            </a:br>
            <a:endParaRPr lang="en-US" dirty="0" smtClean="0"/>
          </a:p>
          <a:p>
            <a:pPr algn="ctr"/>
            <a:r>
              <a:rPr lang="en-US" sz="2200" dirty="0">
                <a:latin typeface="Courier New" panose="02070309020205020404" pitchFamily="49" charset="0"/>
                <a:cs typeface="Courier New" panose="02070309020205020404" pitchFamily="49" charset="0"/>
              </a:rPr>
              <a:t>CLASS </a:t>
            </a:r>
            <a:r>
              <a:rPr lang="en-US" sz="2200" dirty="0">
                <a:latin typeface="Courier New" panose="02070309020205020404" pitchFamily="49" charset="0"/>
                <a:cs typeface="Courier New" panose="02070309020205020404" pitchFamily="49" charset="0"/>
                <a:sym typeface="Wingdings" panose="05000000000000000000" pitchFamily="2" charset="2"/>
              </a:rPr>
              <a:t> </a:t>
            </a:r>
            <a:r>
              <a:rPr lang="en-US" sz="2200" dirty="0">
                <a:latin typeface="Courier New" panose="02070309020205020404" pitchFamily="49" charset="0"/>
                <a:cs typeface="Courier New" panose="02070309020205020404" pitchFamily="49" charset="0"/>
              </a:rPr>
              <a:t>CTEACH</a:t>
            </a:r>
          </a:p>
          <a:p>
            <a:r>
              <a:rPr lang="en-US" dirty="0" smtClean="0"/>
              <a:t/>
            </a:r>
            <a:br>
              <a:rPr lang="en-US" dirty="0" smtClean="0"/>
            </a:br>
            <a:r>
              <a:rPr lang="en-US" dirty="0" smtClean="0"/>
              <a:t>Therefore</a:t>
            </a:r>
            <a:r>
              <a:rPr lang="en-US" dirty="0"/>
              <a:t>, if we know the identity code of student (</a:t>
            </a:r>
            <a:r>
              <a:rPr lang="en-US" sz="2200" dirty="0">
                <a:solidFill>
                  <a:srgbClr val="D93566"/>
                </a:solidFill>
                <a:latin typeface="Courier New" panose="02070309020205020404" pitchFamily="49" charset="0"/>
                <a:cs typeface="Courier New" panose="02070309020205020404" pitchFamily="49" charset="0"/>
              </a:rPr>
              <a:t>SID</a:t>
            </a:r>
            <a:r>
              <a:rPr lang="en-US" dirty="0"/>
              <a:t>), we will also know </a:t>
            </a:r>
            <a:r>
              <a:rPr lang="en-US" dirty="0" smtClean="0"/>
              <a:t>the </a:t>
            </a:r>
            <a:r>
              <a:rPr lang="en-US" dirty="0"/>
              <a:t>name of their class teacher (</a:t>
            </a:r>
            <a:r>
              <a:rPr lang="en-US" sz="2200" dirty="0">
                <a:solidFill>
                  <a:srgbClr val="7DAC4F"/>
                </a:solidFill>
                <a:latin typeface="Courier New" panose="02070309020205020404" pitchFamily="49" charset="0"/>
                <a:cs typeface="Courier New" panose="02070309020205020404" pitchFamily="49" charset="0"/>
              </a:rPr>
              <a:t>CTEACH</a:t>
            </a:r>
            <a:r>
              <a:rPr lang="en-US" dirty="0" smtClean="0"/>
              <a:t>).</a:t>
            </a:r>
          </a:p>
          <a:p>
            <a:pPr algn="ctr"/>
            <a:r>
              <a:rPr lang="en-US" sz="2200" dirty="0">
                <a:latin typeface="Courier New" panose="02070309020205020404" pitchFamily="49" charset="0"/>
                <a:cs typeface="Courier New" panose="02070309020205020404" pitchFamily="49" charset="0"/>
              </a:rPr>
              <a:t>SID </a:t>
            </a:r>
            <a:r>
              <a:rPr lang="en-US" sz="2200" dirty="0">
                <a:latin typeface="Courier New" panose="02070309020205020404" pitchFamily="49" charset="0"/>
                <a:cs typeface="Courier New" panose="02070309020205020404" pitchFamily="49" charset="0"/>
                <a:sym typeface="Wingdings" panose="05000000000000000000" pitchFamily="2" charset="2"/>
              </a:rPr>
              <a:t> </a:t>
            </a:r>
            <a:r>
              <a:rPr lang="en-US" sz="2200" dirty="0">
                <a:latin typeface="Courier New" panose="02070309020205020404" pitchFamily="49" charset="0"/>
                <a:cs typeface="Courier New" panose="02070309020205020404" pitchFamily="49" charset="0"/>
              </a:rPr>
              <a:t>CLASS</a:t>
            </a:r>
            <a:br>
              <a:rPr lang="en-US" sz="2200" dirty="0">
                <a:latin typeface="Courier New" panose="02070309020205020404" pitchFamily="49" charset="0"/>
                <a:cs typeface="Courier New" panose="02070309020205020404" pitchFamily="49" charset="0"/>
              </a:rPr>
            </a:br>
            <a:r>
              <a:rPr lang="en-US" sz="2200" dirty="0" err="1">
                <a:latin typeface="Courier New" panose="02070309020205020404" pitchFamily="49" charset="0"/>
                <a:cs typeface="Courier New" panose="02070309020205020404" pitchFamily="49" charset="0"/>
              </a:rPr>
              <a:t>CLASS</a:t>
            </a:r>
            <a:r>
              <a:rPr lang="en-US" sz="2200" dirty="0">
                <a:latin typeface="Courier New" panose="02070309020205020404" pitchFamily="49" charset="0"/>
                <a:cs typeface="Courier New" panose="02070309020205020404" pitchFamily="49" charset="0"/>
              </a:rPr>
              <a:t> </a:t>
            </a:r>
            <a:r>
              <a:rPr lang="en-US" sz="2200" dirty="0">
                <a:latin typeface="Courier New" panose="02070309020205020404" pitchFamily="49" charset="0"/>
                <a:cs typeface="Courier New" panose="02070309020205020404" pitchFamily="49" charset="0"/>
                <a:sym typeface="Wingdings" panose="05000000000000000000" pitchFamily="2" charset="2"/>
              </a:rPr>
              <a:t> </a:t>
            </a:r>
            <a:r>
              <a:rPr lang="en-US" sz="2200" dirty="0">
                <a:latin typeface="Courier New" panose="02070309020205020404" pitchFamily="49" charset="0"/>
                <a:cs typeface="Courier New" panose="02070309020205020404" pitchFamily="49" charset="0"/>
              </a:rPr>
              <a:t>CTEACH</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SID </a:t>
            </a:r>
            <a:r>
              <a:rPr lang="en-US" sz="2200" dirty="0">
                <a:latin typeface="Courier New" panose="02070309020205020404" pitchFamily="49" charset="0"/>
                <a:cs typeface="Courier New" panose="02070309020205020404" pitchFamily="49" charset="0"/>
                <a:sym typeface="Wingdings" panose="05000000000000000000" pitchFamily="2" charset="2"/>
              </a:rPr>
              <a:t> </a:t>
            </a:r>
            <a:r>
              <a:rPr lang="en-US" sz="2200" dirty="0">
                <a:latin typeface="Courier New" panose="02070309020205020404" pitchFamily="49" charset="0"/>
                <a:cs typeface="Courier New" panose="02070309020205020404" pitchFamily="49" charset="0"/>
              </a:rPr>
              <a:t>CTEACH</a:t>
            </a:r>
          </a:p>
        </p:txBody>
      </p:sp>
    </p:spTree>
    <p:extLst>
      <p:ext uri="{BB962C8B-B14F-4D97-AF65-F5344CB8AC3E}">
        <p14:creationId xmlns:p14="http://schemas.microsoft.com/office/powerpoint/2010/main" val="2551385166"/>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104</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endParaRPr lang="en-US" dirty="0" smtClean="0"/>
          </a:p>
          <a:p>
            <a:endParaRPr lang="en-US" dirty="0"/>
          </a:p>
          <a:p>
            <a:endParaRPr lang="en-US" dirty="0" smtClean="0"/>
          </a:p>
          <a:p>
            <a:endParaRPr lang="en-US" dirty="0"/>
          </a:p>
          <a:p>
            <a:r>
              <a:rPr lang="en-US" dirty="0" smtClean="0"/>
              <a:t>This </a:t>
            </a:r>
            <a:r>
              <a:rPr lang="en-US" dirty="0"/>
              <a:t>is transitive functional dependency. While </a:t>
            </a:r>
            <a:r>
              <a:rPr lang="en-US" dirty="0">
                <a:solidFill>
                  <a:srgbClr val="7DAC4F"/>
                </a:solidFill>
                <a:latin typeface="Courier New" panose="02070309020205020404" pitchFamily="49" charset="0"/>
                <a:cs typeface="Courier New" panose="02070309020205020404" pitchFamily="49" charset="0"/>
              </a:rPr>
              <a:t>CTEACH</a:t>
            </a:r>
            <a:r>
              <a:rPr lang="en-US" dirty="0"/>
              <a:t> is still dependent on the primary key </a:t>
            </a:r>
            <a:r>
              <a:rPr lang="en-US" dirty="0">
                <a:solidFill>
                  <a:srgbClr val="D93566"/>
                </a:solidFill>
                <a:latin typeface="Courier New" panose="02070309020205020404" pitchFamily="49" charset="0"/>
                <a:cs typeface="Courier New" panose="02070309020205020404" pitchFamily="49" charset="0"/>
              </a:rPr>
              <a:t>SID</a:t>
            </a:r>
            <a:r>
              <a:rPr lang="en-US" dirty="0"/>
              <a:t>, its dependency actually comes from the dependency of </a:t>
            </a:r>
            <a:r>
              <a:rPr lang="en-US" dirty="0">
                <a:solidFill>
                  <a:srgbClr val="7DAC4F"/>
                </a:solidFill>
                <a:latin typeface="Courier New" panose="02070309020205020404" pitchFamily="49" charset="0"/>
                <a:cs typeface="Courier New" panose="02070309020205020404" pitchFamily="49" charset="0"/>
              </a:rPr>
              <a:t>CLASS</a:t>
            </a:r>
            <a:r>
              <a:rPr lang="en-US" dirty="0"/>
              <a:t> on </a:t>
            </a:r>
            <a:r>
              <a:rPr lang="en-US" dirty="0">
                <a:solidFill>
                  <a:srgbClr val="D93566"/>
                </a:solidFill>
                <a:latin typeface="Courier New" panose="02070309020205020404" pitchFamily="49" charset="0"/>
                <a:cs typeface="Courier New" panose="02070309020205020404" pitchFamily="49" charset="0"/>
              </a:rPr>
              <a:t>SID</a:t>
            </a:r>
            <a:r>
              <a:rPr lang="en-US" dirty="0"/>
              <a:t>.</a:t>
            </a:r>
          </a:p>
        </p:txBody>
      </p:sp>
      <p:pic>
        <p:nvPicPr>
          <p:cNvPr id="6" name="Picture 5"/>
          <p:cNvPicPr>
            <a:picLocks noChangeAspect="1"/>
          </p:cNvPicPr>
          <p:nvPr/>
        </p:nvPicPr>
        <p:blipFill>
          <a:blip r:embed="rId2"/>
          <a:stretch>
            <a:fillRect/>
          </a:stretch>
        </p:blipFill>
        <p:spPr>
          <a:xfrm>
            <a:off x="4132323" y="2556030"/>
            <a:ext cx="3623451" cy="766950"/>
          </a:xfrm>
          <a:prstGeom prst="rect">
            <a:avLst/>
          </a:prstGeom>
        </p:spPr>
      </p:pic>
    </p:spTree>
    <p:extLst>
      <p:ext uri="{BB962C8B-B14F-4D97-AF65-F5344CB8AC3E}">
        <p14:creationId xmlns:p14="http://schemas.microsoft.com/office/powerpoint/2010/main" val="886495780"/>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105</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To remove transitive functional dependency, we have to ensure that there is no functional dependency between any attributes that are not primary key</a:t>
            </a:r>
            <a:r>
              <a:rPr lang="en-US" dirty="0" smtClean="0"/>
              <a:t>.</a:t>
            </a:r>
          </a:p>
          <a:p>
            <a:endParaRPr lang="en-US" dirty="0"/>
          </a:p>
          <a:p>
            <a:r>
              <a:rPr lang="en-US" dirty="0"/>
              <a:t>See the following table:</a:t>
            </a:r>
            <a:endParaRPr lang="en-US" dirty="0" smtClean="0"/>
          </a:p>
        </p:txBody>
      </p:sp>
      <p:pic>
        <p:nvPicPr>
          <p:cNvPr id="7" name="Picture 6"/>
          <p:cNvPicPr>
            <a:picLocks noChangeAspect="1"/>
          </p:cNvPicPr>
          <p:nvPr/>
        </p:nvPicPr>
        <p:blipFill>
          <a:blip r:embed="rId2"/>
          <a:stretch>
            <a:fillRect/>
          </a:stretch>
        </p:blipFill>
        <p:spPr>
          <a:xfrm>
            <a:off x="4157351" y="3448133"/>
            <a:ext cx="3878497" cy="2179583"/>
          </a:xfrm>
          <a:prstGeom prst="rect">
            <a:avLst/>
          </a:prstGeom>
        </p:spPr>
      </p:pic>
    </p:spTree>
    <p:extLst>
      <p:ext uri="{BB962C8B-B14F-4D97-AF65-F5344CB8AC3E}">
        <p14:creationId xmlns:p14="http://schemas.microsoft.com/office/powerpoint/2010/main" val="3632720473"/>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Normal Form</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106</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Base on its functional dependencies, we shall split this table into two</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a:t>This two tables are now in 3NF.</a:t>
            </a:r>
            <a:endParaRPr lang="en-US" dirty="0" smtClean="0"/>
          </a:p>
        </p:txBody>
      </p:sp>
      <p:pic>
        <p:nvPicPr>
          <p:cNvPr id="6" name="Picture 5"/>
          <p:cNvPicPr>
            <a:picLocks noChangeAspect="1"/>
          </p:cNvPicPr>
          <p:nvPr/>
        </p:nvPicPr>
        <p:blipFill>
          <a:blip r:embed="rId2"/>
          <a:stretch>
            <a:fillRect/>
          </a:stretch>
        </p:blipFill>
        <p:spPr>
          <a:xfrm>
            <a:off x="2739476" y="2474333"/>
            <a:ext cx="6387898" cy="2665750"/>
          </a:xfrm>
          <a:prstGeom prst="rect">
            <a:avLst/>
          </a:prstGeom>
        </p:spPr>
      </p:pic>
    </p:spTree>
    <p:extLst>
      <p:ext uri="{BB962C8B-B14F-4D97-AF65-F5344CB8AC3E}">
        <p14:creationId xmlns:p14="http://schemas.microsoft.com/office/powerpoint/2010/main" val="697448137"/>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Denormalisation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107</a:t>
            </a:fld>
            <a:endParaRPr lang="en-US" dirty="0"/>
          </a:p>
        </p:txBody>
      </p:sp>
      <p:sp>
        <p:nvSpPr>
          <p:cNvPr id="4" name="Text Placeholder 3"/>
          <p:cNvSpPr>
            <a:spLocks noGrp="1"/>
          </p:cNvSpPr>
          <p:nvPr>
            <p:ph type="body" sz="quarter" idx="14"/>
          </p:nvPr>
        </p:nvSpPr>
        <p:spPr/>
        <p:txBody>
          <a:bodyPr/>
          <a:lstStyle/>
          <a:p>
            <a:r>
              <a:rPr lang="en-US" dirty="0" smtClean="0"/>
              <a:t>D</a:t>
            </a:r>
            <a:endParaRPr lang="en-US" dirty="0"/>
          </a:p>
        </p:txBody>
      </p:sp>
      <p:sp>
        <p:nvSpPr>
          <p:cNvPr id="5" name="Content Placeholder 4"/>
          <p:cNvSpPr>
            <a:spLocks noGrp="1"/>
          </p:cNvSpPr>
          <p:nvPr>
            <p:ph sz="quarter" idx="15"/>
          </p:nvPr>
        </p:nvSpPr>
        <p:spPr/>
        <p:txBody>
          <a:bodyPr/>
          <a:lstStyle/>
          <a:p>
            <a:r>
              <a:rPr lang="en-US" dirty="0"/>
              <a:t>Sometimes, data redundancy is not the result of a poor database design, but an intentional way to improve the performance of data retrieval. </a:t>
            </a:r>
            <a:endParaRPr lang="en-US" dirty="0" smtClean="0"/>
          </a:p>
          <a:p>
            <a:endParaRPr lang="en-US" dirty="0"/>
          </a:p>
          <a:p>
            <a:r>
              <a:rPr lang="en-US" dirty="0" smtClean="0"/>
              <a:t>See </a:t>
            </a:r>
            <a:r>
              <a:rPr lang="en-US" dirty="0"/>
              <a:t>the following tables:</a:t>
            </a:r>
          </a:p>
        </p:txBody>
      </p:sp>
      <p:pic>
        <p:nvPicPr>
          <p:cNvPr id="6" name="Picture 5"/>
          <p:cNvPicPr>
            <a:picLocks noChangeAspect="1"/>
          </p:cNvPicPr>
          <p:nvPr/>
        </p:nvPicPr>
        <p:blipFill>
          <a:blip r:embed="rId2"/>
          <a:stretch>
            <a:fillRect/>
          </a:stretch>
        </p:blipFill>
        <p:spPr>
          <a:xfrm>
            <a:off x="678384" y="3577164"/>
            <a:ext cx="5680194" cy="2184096"/>
          </a:xfrm>
          <a:prstGeom prst="rect">
            <a:avLst/>
          </a:prstGeom>
        </p:spPr>
      </p:pic>
      <p:pic>
        <p:nvPicPr>
          <p:cNvPr id="7" name="Picture 6"/>
          <p:cNvPicPr>
            <a:picLocks noChangeAspect="1"/>
          </p:cNvPicPr>
          <p:nvPr/>
        </p:nvPicPr>
        <p:blipFill>
          <a:blip r:embed="rId3"/>
          <a:stretch>
            <a:fillRect/>
          </a:stretch>
        </p:blipFill>
        <p:spPr>
          <a:xfrm>
            <a:off x="6518994" y="3577164"/>
            <a:ext cx="4333067" cy="2813874"/>
          </a:xfrm>
          <a:prstGeom prst="rect">
            <a:avLst/>
          </a:prstGeom>
        </p:spPr>
      </p:pic>
    </p:spTree>
    <p:extLst>
      <p:ext uri="{BB962C8B-B14F-4D97-AF65-F5344CB8AC3E}">
        <p14:creationId xmlns:p14="http://schemas.microsoft.com/office/powerpoint/2010/main" val="342778716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Denormalisation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108</a:t>
            </a:fld>
            <a:endParaRPr lang="en-US" dirty="0"/>
          </a:p>
        </p:txBody>
      </p:sp>
      <p:sp>
        <p:nvSpPr>
          <p:cNvPr id="4" name="Text Placeholder 3"/>
          <p:cNvSpPr>
            <a:spLocks noGrp="1"/>
          </p:cNvSpPr>
          <p:nvPr>
            <p:ph type="body" sz="quarter" idx="14"/>
          </p:nvPr>
        </p:nvSpPr>
        <p:spPr/>
        <p:txBody>
          <a:bodyPr/>
          <a:lstStyle/>
          <a:p>
            <a:r>
              <a:rPr lang="en-US" dirty="0" smtClean="0"/>
              <a:t>D</a:t>
            </a:r>
            <a:endParaRPr lang="en-US" dirty="0"/>
          </a:p>
        </p:txBody>
      </p:sp>
      <p:sp>
        <p:nvSpPr>
          <p:cNvPr id="5" name="Content Placeholder 4"/>
          <p:cNvSpPr>
            <a:spLocks noGrp="1"/>
          </p:cNvSpPr>
          <p:nvPr>
            <p:ph sz="quarter" idx="15"/>
          </p:nvPr>
        </p:nvSpPr>
        <p:spPr/>
        <p:txBody>
          <a:bodyPr/>
          <a:lstStyle/>
          <a:p>
            <a:r>
              <a:rPr lang="en-US" dirty="0"/>
              <a:t>To list all data of each students, we may use the following SQL statement:</a:t>
            </a:r>
          </a:p>
          <a:p>
            <a:r>
              <a:rPr lang="en-US" dirty="0">
                <a:latin typeface="Courier New" panose="02070309020205020404" pitchFamily="49" charset="0"/>
                <a:cs typeface="Courier New" panose="02070309020205020404" pitchFamily="49" charset="0"/>
              </a:rPr>
              <a:t>SELECT </a:t>
            </a:r>
            <a:r>
              <a:rPr lang="en-US" dirty="0" err="1">
                <a:latin typeface="Courier New" panose="02070309020205020404" pitchFamily="49" charset="0"/>
                <a:cs typeface="Courier New" panose="02070309020205020404" pitchFamily="49" charset="0"/>
              </a:rPr>
              <a:t>s.SID</a:t>
            </a:r>
            <a:r>
              <a:rPr lang="en-US" dirty="0">
                <a:latin typeface="Courier New" panose="02070309020205020404" pitchFamily="49" charset="0"/>
                <a:cs typeface="Courier New" panose="02070309020205020404" pitchFamily="49" charset="0"/>
              </a:rPr>
              <a:t>, SNAME, </a:t>
            </a:r>
            <a:r>
              <a:rPr lang="en-US" dirty="0" err="1">
                <a:latin typeface="Courier New" panose="02070309020205020404" pitchFamily="49" charset="0"/>
                <a:cs typeface="Courier New" panose="02070309020205020404" pitchFamily="49" charset="0"/>
              </a:rPr>
              <a:t>c.CLASS</a:t>
            </a:r>
            <a:r>
              <a:rPr lang="en-US" dirty="0">
                <a:latin typeface="Courier New" panose="02070309020205020404" pitchFamily="49" charset="0"/>
                <a:cs typeface="Courier New" panose="02070309020205020404" pitchFamily="49" charset="0"/>
              </a:rPr>
              <a:t>, CTEACH, </a:t>
            </a:r>
            <a:r>
              <a:rPr lang="en-US" dirty="0" err="1">
                <a:latin typeface="Courier New" panose="02070309020205020404" pitchFamily="49" charset="0"/>
                <a:cs typeface="Courier New" panose="02070309020205020404" pitchFamily="49" charset="0"/>
              </a:rPr>
              <a:t>e.EID</a:t>
            </a:r>
            <a:r>
              <a:rPr lang="en-US" dirty="0">
                <a:latin typeface="Courier New" panose="02070309020205020404" pitchFamily="49" charset="0"/>
                <a:cs typeface="Courier New" panose="02070309020205020404" pitchFamily="49" charset="0"/>
              </a:rPr>
              <a:t>, ENAME, ETEACH, SCORE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FROM STUDENT s, CLASSLIST c, ENROL </a:t>
            </a:r>
            <a:r>
              <a:rPr lang="en-US" dirty="0" err="1">
                <a:latin typeface="Courier New" panose="02070309020205020404" pitchFamily="49" charset="0"/>
                <a:cs typeface="Courier New" panose="02070309020205020404" pitchFamily="49" charset="0"/>
              </a:rPr>
              <a:t>en</a:t>
            </a:r>
            <a:r>
              <a:rPr lang="en-US" dirty="0">
                <a:latin typeface="Courier New" panose="02070309020205020404" pitchFamily="49" charset="0"/>
                <a:cs typeface="Courier New" panose="02070309020205020404" pitchFamily="49" charset="0"/>
              </a:rPr>
              <a:t>, ELECTIVE </a:t>
            </a:r>
            <a:r>
              <a:rPr lang="en-US" dirty="0" smtClean="0">
                <a:latin typeface="Courier New" panose="02070309020205020404" pitchFamily="49" charset="0"/>
                <a:cs typeface="Courier New" panose="02070309020205020404" pitchFamily="49" charset="0"/>
              </a:rPr>
              <a:t>e</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WHERE </a:t>
            </a:r>
            <a:r>
              <a:rPr lang="en-US" dirty="0" err="1">
                <a:latin typeface="Courier New" panose="02070309020205020404" pitchFamily="49" charset="0"/>
                <a:cs typeface="Courier New" panose="02070309020205020404" pitchFamily="49" charset="0"/>
              </a:rPr>
              <a:t>s.SID</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en.SID</a:t>
            </a:r>
            <a:r>
              <a:rPr lang="en-US" dirty="0">
                <a:latin typeface="Courier New" panose="02070309020205020404" pitchFamily="49" charset="0"/>
                <a:cs typeface="Courier New" panose="02070309020205020404" pitchFamily="49" charset="0"/>
              </a:rPr>
              <a:t> AND </a:t>
            </a:r>
            <a:r>
              <a:rPr lang="en-US" dirty="0" err="1">
                <a:latin typeface="Courier New" panose="02070309020205020404" pitchFamily="49" charset="0"/>
                <a:cs typeface="Courier New" panose="02070309020205020404" pitchFamily="49" charset="0"/>
              </a:rPr>
              <a:t>en.EID</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e.EID</a:t>
            </a:r>
            <a:r>
              <a:rPr lang="en-US" dirty="0">
                <a:latin typeface="Courier New" panose="02070309020205020404" pitchFamily="49" charset="0"/>
                <a:cs typeface="Courier New" panose="02070309020205020404" pitchFamily="49" charset="0"/>
              </a:rPr>
              <a:t> AND </a:t>
            </a:r>
            <a:r>
              <a:rPr lang="en-US" dirty="0" err="1">
                <a:latin typeface="Courier New" panose="02070309020205020404" pitchFamily="49" charset="0"/>
                <a:cs typeface="Courier New" panose="02070309020205020404" pitchFamily="49" charset="0"/>
              </a:rPr>
              <a:t>s.CLASS</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c.CLASS</a:t>
            </a:r>
            <a:endParaRPr lang="en-US" dirty="0">
              <a:latin typeface="Courier New" panose="02070309020205020404" pitchFamily="49" charset="0"/>
              <a:cs typeface="Courier New" panose="02070309020205020404" pitchFamily="49" charset="0"/>
            </a:endParaRPr>
          </a:p>
        </p:txBody>
      </p:sp>
      <p:pic>
        <p:nvPicPr>
          <p:cNvPr id="6" name="Picture 5"/>
          <p:cNvPicPr>
            <a:picLocks noChangeAspect="1"/>
          </p:cNvPicPr>
          <p:nvPr/>
        </p:nvPicPr>
        <p:blipFill>
          <a:blip r:embed="rId2"/>
          <a:stretch>
            <a:fillRect/>
          </a:stretch>
        </p:blipFill>
        <p:spPr>
          <a:xfrm>
            <a:off x="2738340" y="3549091"/>
            <a:ext cx="6716520" cy="2740109"/>
          </a:xfrm>
          <a:prstGeom prst="rect">
            <a:avLst/>
          </a:prstGeom>
        </p:spPr>
      </p:pic>
    </p:spTree>
    <p:extLst>
      <p:ext uri="{BB962C8B-B14F-4D97-AF65-F5344CB8AC3E}">
        <p14:creationId xmlns:p14="http://schemas.microsoft.com/office/powerpoint/2010/main" val="112290582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Denormalisation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109</a:t>
            </a:fld>
            <a:endParaRPr lang="en-US" dirty="0"/>
          </a:p>
        </p:txBody>
      </p:sp>
      <p:sp>
        <p:nvSpPr>
          <p:cNvPr id="4" name="Text Placeholder 3"/>
          <p:cNvSpPr>
            <a:spLocks noGrp="1"/>
          </p:cNvSpPr>
          <p:nvPr>
            <p:ph type="body" sz="quarter" idx="14"/>
          </p:nvPr>
        </p:nvSpPr>
        <p:spPr/>
        <p:txBody>
          <a:bodyPr/>
          <a:lstStyle/>
          <a:p>
            <a:r>
              <a:rPr lang="en-US" dirty="0" smtClean="0"/>
              <a:t>D</a:t>
            </a:r>
            <a:endParaRPr lang="en-US" dirty="0"/>
          </a:p>
        </p:txBody>
      </p:sp>
      <p:sp>
        <p:nvSpPr>
          <p:cNvPr id="5" name="Content Placeholder 4"/>
          <p:cNvSpPr>
            <a:spLocks noGrp="1"/>
          </p:cNvSpPr>
          <p:nvPr>
            <p:ph sz="quarter" idx="15"/>
          </p:nvPr>
        </p:nvSpPr>
        <p:spPr/>
        <p:txBody>
          <a:bodyPr/>
          <a:lstStyle/>
          <a:p>
            <a:r>
              <a:rPr lang="en-US" dirty="0"/>
              <a:t>We shall be aware of the pros and cons of </a:t>
            </a:r>
            <a:r>
              <a:rPr lang="en-US" dirty="0" err="1"/>
              <a:t>denormalisation</a:t>
            </a:r>
            <a:r>
              <a:rPr lang="en-US" dirty="0"/>
              <a:t>.</a:t>
            </a:r>
          </a:p>
        </p:txBody>
      </p:sp>
      <p:pic>
        <p:nvPicPr>
          <p:cNvPr id="6" name="Picture 5"/>
          <p:cNvPicPr>
            <a:picLocks noChangeAspect="1"/>
          </p:cNvPicPr>
          <p:nvPr/>
        </p:nvPicPr>
        <p:blipFill>
          <a:blip r:embed="rId2"/>
          <a:stretch>
            <a:fillRect/>
          </a:stretch>
        </p:blipFill>
        <p:spPr>
          <a:xfrm>
            <a:off x="1009675" y="2383831"/>
            <a:ext cx="10173849" cy="2671471"/>
          </a:xfrm>
          <a:prstGeom prst="rect">
            <a:avLst/>
          </a:prstGeom>
        </p:spPr>
      </p:pic>
    </p:spTree>
    <p:extLst>
      <p:ext uri="{BB962C8B-B14F-4D97-AF65-F5344CB8AC3E}">
        <p14:creationId xmlns:p14="http://schemas.microsoft.com/office/powerpoint/2010/main" val="426207910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1. Tom builds a website for people to search for the data of actors and films. He uses a table, </a:t>
            </a:r>
            <a:r>
              <a:rPr lang="en-US" dirty="0">
                <a:latin typeface="Courier New" panose="02070309020205020404" pitchFamily="49" charset="0"/>
                <a:cs typeface="Courier New" panose="02070309020205020404" pitchFamily="49" charset="0"/>
              </a:rPr>
              <a:t>ACTOR</a:t>
            </a:r>
            <a:r>
              <a:rPr lang="en-US" dirty="0"/>
              <a:t> to manage the data.</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110</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pic>
        <p:nvPicPr>
          <p:cNvPr id="5" name="Picture 4"/>
          <p:cNvPicPr>
            <a:picLocks noChangeAspect="1"/>
          </p:cNvPicPr>
          <p:nvPr/>
        </p:nvPicPr>
        <p:blipFill>
          <a:blip r:embed="rId2"/>
          <a:stretch>
            <a:fillRect/>
          </a:stretch>
        </p:blipFill>
        <p:spPr>
          <a:xfrm>
            <a:off x="1115773" y="2327564"/>
            <a:ext cx="5740747" cy="3629581"/>
          </a:xfrm>
          <a:prstGeom prst="rect">
            <a:avLst/>
          </a:prstGeom>
        </p:spPr>
      </p:pic>
    </p:spTree>
    <p:extLst>
      <p:ext uri="{BB962C8B-B14F-4D97-AF65-F5344CB8AC3E}">
        <p14:creationId xmlns:p14="http://schemas.microsoft.com/office/powerpoint/2010/main" val="103195354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primary key of ACTOR is ID+FID. Here is the data of ACTOR: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111</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pic>
        <p:nvPicPr>
          <p:cNvPr id="5" name="Picture 4"/>
          <p:cNvPicPr>
            <a:picLocks noChangeAspect="1"/>
          </p:cNvPicPr>
          <p:nvPr/>
        </p:nvPicPr>
        <p:blipFill>
          <a:blip r:embed="rId2"/>
          <a:stretch>
            <a:fillRect/>
          </a:stretch>
        </p:blipFill>
        <p:spPr>
          <a:xfrm>
            <a:off x="813650" y="2058834"/>
            <a:ext cx="10564699" cy="3629532"/>
          </a:xfrm>
          <a:prstGeom prst="rect">
            <a:avLst/>
          </a:prstGeom>
        </p:spPr>
      </p:pic>
    </p:spTree>
    <p:extLst>
      <p:ext uri="{BB962C8B-B14F-4D97-AF65-F5344CB8AC3E}">
        <p14:creationId xmlns:p14="http://schemas.microsoft.com/office/powerpoint/2010/main" val="200327908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(a) Explain why </a:t>
            </a:r>
            <a:r>
              <a:rPr lang="en-US" dirty="0">
                <a:latin typeface="Courier New" panose="02070309020205020404" pitchFamily="49" charset="0"/>
                <a:cs typeface="Courier New" panose="02070309020205020404" pitchFamily="49" charset="0"/>
              </a:rPr>
              <a:t>ACTOR</a:t>
            </a:r>
            <a:r>
              <a:rPr lang="en-US" dirty="0"/>
              <a:t> is not in 1NF. After converting the table into 1NF, how many records should </a:t>
            </a:r>
            <a:r>
              <a:rPr lang="en-US" dirty="0" smtClean="0"/>
              <a:t>there </a:t>
            </a:r>
            <a:r>
              <a:rPr lang="en-US" dirty="0"/>
              <a:t>be?</a:t>
            </a:r>
          </a:p>
          <a:p>
            <a:endParaRPr lang="en-US" dirty="0" smtClean="0"/>
          </a:p>
          <a:p>
            <a:r>
              <a:rPr lang="en-US" dirty="0" smtClean="0"/>
              <a:t>(</a:t>
            </a:r>
            <a:r>
              <a:rPr lang="en-US" dirty="0"/>
              <a:t>b) Assume that </a:t>
            </a:r>
            <a:r>
              <a:rPr lang="en-US" dirty="0">
                <a:latin typeface="Courier New" panose="02070309020205020404" pitchFamily="49" charset="0"/>
                <a:cs typeface="Courier New" panose="02070309020205020404" pitchFamily="49" charset="0"/>
              </a:rPr>
              <a:t>ACTOR</a:t>
            </a:r>
            <a:r>
              <a:rPr lang="en-US" dirty="0"/>
              <a:t> is converted into 1NF now. Explain why it is not in 2NF in terms of functional </a:t>
            </a:r>
            <a:r>
              <a:rPr lang="en-US" dirty="0" smtClean="0"/>
              <a:t>dependency</a:t>
            </a:r>
            <a:r>
              <a:rPr lang="en-US" dirty="0"/>
              <a:t>.</a:t>
            </a:r>
          </a:p>
          <a:p>
            <a:endParaRPr lang="en-US" dirty="0" smtClean="0"/>
          </a:p>
          <a:p>
            <a:r>
              <a:rPr lang="en-US" dirty="0" smtClean="0"/>
              <a:t>(</a:t>
            </a:r>
            <a:r>
              <a:rPr lang="en-US" dirty="0"/>
              <a:t>c) Convert </a:t>
            </a:r>
            <a:r>
              <a:rPr lang="en-US" dirty="0">
                <a:latin typeface="Courier New" panose="02070309020205020404" pitchFamily="49" charset="0"/>
                <a:cs typeface="Courier New" panose="02070309020205020404" pitchFamily="49" charset="0"/>
              </a:rPr>
              <a:t>ACTOR</a:t>
            </a:r>
            <a:r>
              <a:rPr lang="en-US" dirty="0"/>
              <a:t> into 3NF by suggesting three schemas. Underline the primary keys.</a:t>
            </a:r>
          </a:p>
          <a:p>
            <a:endParaRPr lang="en-US" dirty="0" smtClean="0"/>
          </a:p>
          <a:p>
            <a:r>
              <a:rPr lang="en-US" dirty="0" smtClean="0"/>
              <a:t>(</a:t>
            </a:r>
            <a:r>
              <a:rPr lang="en-US" dirty="0"/>
              <a:t>d) Assume that there are three tables in 3NF now. Tom wants to add a field named </a:t>
            </a:r>
            <a:r>
              <a:rPr lang="en-US" dirty="0">
                <a:latin typeface="Courier New" panose="02070309020205020404" pitchFamily="49" charset="0"/>
                <a:cs typeface="Courier New" panose="02070309020205020404" pitchFamily="49" charset="0"/>
              </a:rPr>
              <a:t>GDESC</a:t>
            </a:r>
            <a:r>
              <a:rPr lang="en-US" dirty="0"/>
              <a:t> to the table </a:t>
            </a:r>
            <a:r>
              <a:rPr lang="en-US" dirty="0" smtClean="0"/>
              <a:t>which </a:t>
            </a:r>
            <a:r>
              <a:rPr lang="en-US" dirty="0"/>
              <a:t>uses </a:t>
            </a:r>
            <a:r>
              <a:rPr lang="en-US" dirty="0">
                <a:latin typeface="Courier New" panose="02070309020205020404" pitchFamily="49" charset="0"/>
                <a:cs typeface="Courier New" panose="02070309020205020404" pitchFamily="49" charset="0"/>
              </a:rPr>
              <a:t>FID</a:t>
            </a:r>
            <a:r>
              <a:rPr lang="en-US" dirty="0" smtClean="0"/>
              <a:t> </a:t>
            </a:r>
            <a:r>
              <a:rPr lang="en-US" dirty="0"/>
              <a:t>as the primary key. </a:t>
            </a:r>
            <a:r>
              <a:rPr lang="en-US" dirty="0">
                <a:latin typeface="Courier New" panose="02070309020205020404" pitchFamily="49" charset="0"/>
                <a:cs typeface="Courier New" panose="02070309020205020404" pitchFamily="49" charset="0"/>
              </a:rPr>
              <a:t>GDESC</a:t>
            </a:r>
            <a:r>
              <a:rPr lang="en-US" dirty="0"/>
              <a:t> is to store the description of a genre. Explain how his </a:t>
            </a:r>
            <a:r>
              <a:rPr lang="en-US" dirty="0" smtClean="0"/>
              <a:t>approach </a:t>
            </a:r>
            <a:r>
              <a:rPr lang="en-US" dirty="0"/>
              <a:t>affects the </a:t>
            </a:r>
            <a:r>
              <a:rPr lang="en-US" dirty="0" err="1"/>
              <a:t>normalisation</a:t>
            </a:r>
            <a:r>
              <a:rPr lang="en-US" dirty="0"/>
              <a:t> level of the database.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112</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spTree>
    <p:extLst>
      <p:ext uri="{BB962C8B-B14F-4D97-AF65-F5344CB8AC3E}">
        <p14:creationId xmlns:p14="http://schemas.microsoft.com/office/powerpoint/2010/main" val="2445387366"/>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solidFill>
                  <a:srgbClr val="37A3D4"/>
                </a:solidFill>
              </a:rPr>
              <a:t>◣ </a:t>
            </a:r>
            <a:r>
              <a:rPr lang="en-US" b="1" dirty="0">
                <a:solidFill>
                  <a:srgbClr val="37A3D4"/>
                </a:solidFill>
              </a:rPr>
              <a:t>Solution</a:t>
            </a:r>
          </a:p>
          <a:p>
            <a:r>
              <a:rPr lang="en-US" dirty="0" smtClean="0"/>
              <a:t>(a) The </a:t>
            </a:r>
            <a:r>
              <a:rPr lang="en-US" dirty="0"/>
              <a:t>field, </a:t>
            </a:r>
            <a:r>
              <a:rPr lang="en-US" dirty="0">
                <a:latin typeface="Courier New" panose="02070309020205020404" pitchFamily="49" charset="0"/>
                <a:cs typeface="Courier New" panose="02070309020205020404" pitchFamily="49" charset="0"/>
              </a:rPr>
              <a:t>AWARD</a:t>
            </a:r>
            <a:r>
              <a:rPr lang="en-US" dirty="0"/>
              <a:t> of a single record store multiple values. Thus, the table is not in 1NF. After </a:t>
            </a:r>
            <a:r>
              <a:rPr lang="en-US" dirty="0" smtClean="0"/>
              <a:t>converting </a:t>
            </a:r>
            <a:r>
              <a:rPr lang="en-US" dirty="0"/>
              <a:t>the table into 1NF, there should be nine records</a:t>
            </a:r>
            <a:r>
              <a:rPr lang="en-US" dirty="0" smtClean="0"/>
              <a:t>.</a:t>
            </a:r>
          </a:p>
          <a:p>
            <a:endParaRPr lang="en-US" dirty="0"/>
          </a:p>
          <a:p>
            <a:r>
              <a:rPr lang="en-US" dirty="0"/>
              <a:t>(b) Non-key attributes like </a:t>
            </a:r>
            <a:r>
              <a:rPr lang="en-US" dirty="0">
                <a:latin typeface="Courier New" panose="02070309020205020404" pitchFamily="49" charset="0"/>
                <a:cs typeface="Courier New" panose="02070309020205020404" pitchFamily="49" charset="0"/>
              </a:rPr>
              <a:t>NAME</a:t>
            </a:r>
            <a:r>
              <a:rPr lang="en-US" dirty="0"/>
              <a:t> and </a:t>
            </a:r>
            <a:r>
              <a:rPr lang="en-US" dirty="0">
                <a:latin typeface="Courier New" panose="02070309020205020404" pitchFamily="49" charset="0"/>
                <a:cs typeface="Courier New" panose="02070309020205020404" pitchFamily="49" charset="0"/>
              </a:rPr>
              <a:t>SEX</a:t>
            </a:r>
            <a:r>
              <a:rPr lang="en-US" dirty="0"/>
              <a:t> are dependent on </a:t>
            </a:r>
            <a:r>
              <a:rPr lang="en-US" dirty="0">
                <a:latin typeface="Courier New" panose="02070309020205020404" pitchFamily="49" charset="0"/>
                <a:cs typeface="Courier New" panose="02070309020205020404" pitchFamily="49" charset="0"/>
              </a:rPr>
              <a:t>ID</a:t>
            </a:r>
            <a:r>
              <a:rPr lang="en-US" dirty="0"/>
              <a:t> only, while the whole primary key is </a:t>
            </a:r>
            <a:r>
              <a:rPr lang="en-US" dirty="0">
                <a:latin typeface="Courier New" panose="02070309020205020404" pitchFamily="49" charset="0"/>
                <a:cs typeface="Courier New" panose="02070309020205020404" pitchFamily="49" charset="0"/>
              </a:rPr>
              <a:t>ID+FID</a:t>
            </a:r>
            <a:r>
              <a:rPr lang="en-US" dirty="0"/>
              <a:t>. Thus, there are partial functional dependencies in the table and it is not in 2NF.</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113</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spTree>
    <p:extLst>
      <p:ext uri="{BB962C8B-B14F-4D97-AF65-F5344CB8AC3E}">
        <p14:creationId xmlns:p14="http://schemas.microsoft.com/office/powerpoint/2010/main" val="1741751679"/>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 </a:t>
            </a:r>
            <a:r>
              <a:rPr lang="en-US" dirty="0" smtClean="0"/>
              <a:t>	</a:t>
            </a:r>
            <a:r>
              <a:rPr lang="en-US" dirty="0" smtClean="0">
                <a:latin typeface="Courier New" panose="02070309020205020404" pitchFamily="49" charset="0"/>
                <a:cs typeface="Courier New" panose="02070309020205020404" pitchFamily="49" charset="0"/>
              </a:rPr>
              <a:t>ACTOR(ID</a:t>
            </a:r>
            <a:r>
              <a:rPr lang="en-US" dirty="0">
                <a:latin typeface="Courier New" panose="02070309020205020404" pitchFamily="49" charset="0"/>
                <a:cs typeface="Courier New" panose="02070309020205020404" pitchFamily="49" charset="0"/>
              </a:rPr>
              <a:t>, NAME, SEX, DOB) </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FILM(FID</a:t>
            </a:r>
            <a:r>
              <a:rPr lang="en-US" dirty="0">
                <a:latin typeface="Courier New" panose="02070309020205020404" pitchFamily="49" charset="0"/>
                <a:cs typeface="Courier New" panose="02070309020205020404" pitchFamily="49" charset="0"/>
              </a:rPr>
              <a:t>, FNAME, FYEAR, GENRE) </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ROLE(ID</a:t>
            </a:r>
            <a:r>
              <a:rPr lang="en-US" dirty="0">
                <a:latin typeface="Courier New" panose="02070309020205020404" pitchFamily="49" charset="0"/>
                <a:cs typeface="Courier New" panose="02070309020205020404" pitchFamily="49" charset="0"/>
              </a:rPr>
              <a:t>, FID, RNAME, AWARD)</a:t>
            </a:r>
            <a:br>
              <a:rPr lang="en-US" dirty="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a:t>
            </a:r>
            <a:r>
              <a:rPr lang="en-US" dirty="0" smtClean="0"/>
              <a:t>For </a:t>
            </a:r>
            <a:r>
              <a:rPr lang="en-US" dirty="0"/>
              <a:t>the table ROLE, ID+FID is the primary key</a:t>
            </a:r>
            <a:r>
              <a:rPr lang="en-US" dirty="0" smtClean="0"/>
              <a:t>.</a:t>
            </a:r>
          </a:p>
          <a:p>
            <a:r>
              <a:rPr lang="en-US" dirty="0"/>
              <a:t/>
            </a:r>
            <a:br>
              <a:rPr lang="en-US" dirty="0"/>
            </a:br>
            <a:r>
              <a:rPr lang="en-US" dirty="0"/>
              <a:t>(d) </a:t>
            </a:r>
            <a:r>
              <a:rPr lang="en-US" dirty="0">
                <a:latin typeface="Courier New" panose="02070309020205020404" pitchFamily="49" charset="0"/>
                <a:cs typeface="Courier New" panose="02070309020205020404" pitchFamily="49" charset="0"/>
              </a:rPr>
              <a:t>GDESC</a:t>
            </a:r>
            <a:r>
              <a:rPr lang="en-US" dirty="0"/>
              <a:t> is dependent on </a:t>
            </a:r>
            <a:r>
              <a:rPr lang="en-US" dirty="0">
                <a:latin typeface="Courier New" panose="02070309020205020404" pitchFamily="49" charset="0"/>
                <a:cs typeface="Courier New" panose="02070309020205020404" pitchFamily="49" charset="0"/>
              </a:rPr>
              <a:t>GENRE</a:t>
            </a:r>
            <a:r>
              <a:rPr lang="en-US" dirty="0"/>
              <a:t>, which is dependent on </a:t>
            </a:r>
            <a:r>
              <a:rPr lang="en-US" dirty="0">
                <a:latin typeface="Courier New" panose="02070309020205020404" pitchFamily="49" charset="0"/>
                <a:cs typeface="Courier New" panose="02070309020205020404" pitchFamily="49" charset="0"/>
              </a:rPr>
              <a:t>FID</a:t>
            </a:r>
            <a:r>
              <a:rPr lang="en-US" dirty="0"/>
              <a:t>. This is a transitive functional </a:t>
            </a:r>
            <a:br>
              <a:rPr lang="en-US" dirty="0"/>
            </a:br>
            <a:r>
              <a:rPr lang="en-US" dirty="0"/>
              <a:t>dependency. Thus, the table which uses </a:t>
            </a:r>
            <a:r>
              <a:rPr lang="en-US" dirty="0">
                <a:latin typeface="Courier New" panose="02070309020205020404" pitchFamily="49" charset="0"/>
                <a:cs typeface="Courier New" panose="02070309020205020404" pitchFamily="49" charset="0"/>
              </a:rPr>
              <a:t>FID</a:t>
            </a:r>
            <a:r>
              <a:rPr lang="en-US" dirty="0"/>
              <a:t> as the primary key will no longer be in 3NF.</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114</a:t>
            </a:fld>
            <a:endParaRPr lang="en-US" dirty="0"/>
          </a:p>
        </p:txBody>
      </p:sp>
      <p:sp>
        <p:nvSpPr>
          <p:cNvPr id="4" name="Text Placeholder 3"/>
          <p:cNvSpPr>
            <a:spLocks noGrp="1"/>
          </p:cNvSpPr>
          <p:nvPr>
            <p:ph type="body" sz="quarter" idx="13"/>
          </p:nvPr>
        </p:nvSpPr>
        <p:spPr/>
        <p:txBody>
          <a:bodyPr/>
          <a:lstStyle/>
          <a:p>
            <a:r>
              <a:rPr lang="en-US" dirty="0" smtClean="0"/>
              <a:t>5.5</a:t>
            </a:r>
            <a:endParaRPr lang="en-US" dirty="0"/>
          </a:p>
        </p:txBody>
      </p:sp>
    </p:spTree>
    <p:extLst>
      <p:ext uri="{BB962C8B-B14F-4D97-AF65-F5344CB8AC3E}">
        <p14:creationId xmlns:p14="http://schemas.microsoft.com/office/powerpoint/2010/main" val="56922272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5.6 on P. 297 </a:t>
            </a:r>
            <a:r>
              <a:rPr lang="en-US" dirty="0" smtClean="0"/>
              <a:t>of your textbook.</a:t>
            </a:r>
          </a:p>
          <a:p>
            <a:endParaRPr lang="en-US" dirty="0" smtClean="0"/>
          </a:p>
          <a:p>
            <a:r>
              <a:rPr lang="en-US" dirty="0" smtClean="0">
                <a:solidFill>
                  <a:srgbClr val="FF0000"/>
                </a:solidFill>
              </a:rPr>
              <a:t>(a) </a:t>
            </a:r>
            <a:r>
              <a:rPr lang="en-US" dirty="0">
                <a:solidFill>
                  <a:srgbClr val="FF0000"/>
                </a:solidFill>
              </a:rPr>
              <a:t>No. LM1, LM2 and LM3 are repeating attributes. Thus, this table is not in 1NF.</a:t>
            </a:r>
            <a:endParaRPr lang="en-US" dirty="0" smtClean="0">
              <a:solidFill>
                <a:srgbClr val="FF0000"/>
              </a:solidFill>
            </a:endParaRPr>
          </a:p>
          <a:p>
            <a:endParaRPr lang="en-US" dirty="0">
              <a:solidFill>
                <a:srgbClr val="FF0000"/>
              </a:solidFill>
            </a:endParaRPr>
          </a:p>
          <a:p>
            <a:r>
              <a:rPr lang="en-US" dirty="0" smtClean="0">
                <a:solidFill>
                  <a:srgbClr val="FF0000"/>
                </a:solidFill>
              </a:rPr>
              <a:t>(b) </a:t>
            </a:r>
            <a:r>
              <a:rPr lang="en-US" dirty="0">
                <a:solidFill>
                  <a:srgbClr val="FF0000"/>
                </a:solidFill>
              </a:rPr>
              <a:t>Update </a:t>
            </a:r>
            <a:r>
              <a:rPr lang="en-US" dirty="0" smtClean="0">
                <a:solidFill>
                  <a:srgbClr val="FF0000"/>
                </a:solidFill>
              </a:rPr>
              <a:t>anomaly.</a:t>
            </a:r>
            <a:endParaRPr lang="en-US" dirty="0" smtClean="0">
              <a:solidFill>
                <a:srgbClr val="FF0000"/>
              </a:solidFill>
            </a:endParaRP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115</a:t>
            </a:fld>
            <a:endParaRPr lang="en-US" dirty="0"/>
          </a:p>
        </p:txBody>
      </p:sp>
      <p:sp>
        <p:nvSpPr>
          <p:cNvPr id="4" name="Text Placeholder 3"/>
          <p:cNvSpPr>
            <a:spLocks noGrp="1"/>
          </p:cNvSpPr>
          <p:nvPr>
            <p:ph type="body" sz="quarter" idx="13"/>
          </p:nvPr>
        </p:nvSpPr>
        <p:spPr/>
        <p:txBody>
          <a:bodyPr/>
          <a:lstStyle/>
          <a:p>
            <a:r>
              <a:rPr lang="en-US" dirty="0" smtClean="0"/>
              <a:t>5.6</a:t>
            </a:r>
            <a:endParaRPr lang="en-US" dirty="0"/>
          </a:p>
        </p:txBody>
      </p:sp>
    </p:spTree>
    <p:extLst>
      <p:ext uri="{BB962C8B-B14F-4D97-AF65-F5344CB8AC3E}">
        <p14:creationId xmlns:p14="http://schemas.microsoft.com/office/powerpoint/2010/main" val="3484243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fade">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solidFill>
                  <a:srgbClr val="FF0000"/>
                </a:solidFill>
              </a:rPr>
              <a:t>(c)</a:t>
            </a:r>
          </a:p>
          <a:p>
            <a:endParaRPr lang="en-US" dirty="0">
              <a:solidFill>
                <a:srgbClr val="FF0000"/>
              </a:solidFill>
            </a:endParaRPr>
          </a:p>
          <a:p>
            <a:endParaRPr lang="en-US" dirty="0" smtClean="0">
              <a:solidFill>
                <a:srgbClr val="FF0000"/>
              </a:solidFill>
            </a:endParaRPr>
          </a:p>
          <a:p>
            <a:endParaRPr lang="en-US" dirty="0">
              <a:solidFill>
                <a:srgbClr val="FF0000"/>
              </a:solidFill>
            </a:endParaRPr>
          </a:p>
          <a:p>
            <a:r>
              <a:rPr lang="en-US" dirty="0">
                <a:solidFill>
                  <a:srgbClr val="FF0000"/>
                </a:solidFill>
              </a:rPr>
              <a:t> </a:t>
            </a:r>
            <a:r>
              <a:rPr lang="en-US" dirty="0" smtClean="0">
                <a:solidFill>
                  <a:srgbClr val="FF0000"/>
                </a:solidFill>
              </a:rPr>
              <a:t>        CTID </a:t>
            </a:r>
            <a:r>
              <a:rPr lang="en-US" dirty="0">
                <a:solidFill>
                  <a:srgbClr val="FF0000"/>
                </a:solidFill>
              </a:rPr>
              <a:t>is the foreign key. It references CTID in the table CITY.</a:t>
            </a:r>
            <a:r>
              <a:rPr lang="en-US" dirty="0" smtClean="0">
                <a:solidFill>
                  <a:srgbClr val="FF0000"/>
                </a:solidFill>
              </a:rPr>
              <a:t> </a:t>
            </a:r>
          </a:p>
          <a:p>
            <a:endParaRPr lang="en-US" dirty="0">
              <a:solidFill>
                <a:srgbClr val="FF0000"/>
              </a:solidFill>
            </a:endParaRPr>
          </a:p>
          <a:p>
            <a:r>
              <a:rPr lang="en-US" dirty="0" smtClean="0">
                <a:solidFill>
                  <a:srgbClr val="FF0000"/>
                </a:solidFill>
              </a:rPr>
              <a:t>(d) </a:t>
            </a:r>
            <a:r>
              <a:rPr lang="en-US" dirty="0">
                <a:solidFill>
                  <a:srgbClr val="FF0000"/>
                </a:solidFill>
              </a:rPr>
              <a:t>The new one, as it allows a city to have more than 3 landmarks</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116</a:t>
            </a:fld>
            <a:endParaRPr lang="en-US" dirty="0"/>
          </a:p>
        </p:txBody>
      </p:sp>
      <p:sp>
        <p:nvSpPr>
          <p:cNvPr id="4" name="Text Placeholder 3"/>
          <p:cNvSpPr>
            <a:spLocks noGrp="1"/>
          </p:cNvSpPr>
          <p:nvPr>
            <p:ph type="body" sz="quarter" idx="13"/>
          </p:nvPr>
        </p:nvSpPr>
        <p:spPr/>
        <p:txBody>
          <a:bodyPr/>
          <a:lstStyle/>
          <a:p>
            <a:r>
              <a:rPr lang="en-US" dirty="0" smtClean="0"/>
              <a:t>5.6</a:t>
            </a:r>
            <a:endParaRPr lang="en-US" dirty="0"/>
          </a:p>
        </p:txBody>
      </p:sp>
      <p:pic>
        <p:nvPicPr>
          <p:cNvPr id="5" name="Picture 4"/>
          <p:cNvPicPr>
            <a:picLocks noChangeAspect="1"/>
          </p:cNvPicPr>
          <p:nvPr/>
        </p:nvPicPr>
        <p:blipFill>
          <a:blip r:embed="rId2"/>
          <a:stretch>
            <a:fillRect/>
          </a:stretch>
        </p:blipFill>
        <p:spPr>
          <a:xfrm>
            <a:off x="1346550" y="1501789"/>
            <a:ext cx="6617044" cy="1859738"/>
          </a:xfrm>
          <a:prstGeom prst="rect">
            <a:avLst/>
          </a:prstGeom>
        </p:spPr>
      </p:pic>
    </p:spTree>
    <p:extLst>
      <p:ext uri="{BB962C8B-B14F-4D97-AF65-F5344CB8AC3E}">
        <p14:creationId xmlns:p14="http://schemas.microsoft.com/office/powerpoint/2010/main" val="29329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fade">
                                      <p:cBhvr>
                                        <p:cTn id="10" dur="500"/>
                                        <p:tgtEl>
                                          <p:spTgt spid="2">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6" end="6"/>
                                            </p:txEl>
                                          </p:spTgt>
                                        </p:tgtEl>
                                        <p:attrNameLst>
                                          <p:attrName>style.visibility</p:attrName>
                                        </p:attrNameLst>
                                      </p:cBhvr>
                                      <p:to>
                                        <p:strVal val="visible"/>
                                      </p:to>
                                    </p:set>
                                    <p:animEffect transition="in" filter="fade">
                                      <p:cBhvr>
                                        <p:cTn id="1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solidFill>
                  <a:srgbClr val="FF0000"/>
                </a:solidFill>
              </a:rPr>
              <a:t>(e) </a:t>
            </a:r>
            <a:r>
              <a:rPr lang="en-US" dirty="0">
                <a:solidFill>
                  <a:srgbClr val="FF0000"/>
                </a:solidFill>
              </a:rPr>
              <a:t>CITY(CTID, CTNAME, TIMEZONE, AREA, POPULATION, CC) COUNTRY(CC, CNAME, HOS, CONTINENT</a:t>
            </a:r>
            <a:r>
              <a:rPr lang="en-US" dirty="0" smtClean="0">
                <a:solidFill>
                  <a:srgbClr val="FF0000"/>
                </a:solidFill>
              </a:rPr>
              <a:t>)</a:t>
            </a:r>
          </a:p>
          <a:p>
            <a:endParaRPr lang="en-US" dirty="0">
              <a:solidFill>
                <a:srgbClr val="FF0000"/>
              </a:solidFill>
            </a:endParaRPr>
          </a:p>
          <a:p>
            <a:r>
              <a:rPr lang="en-US" dirty="0">
                <a:solidFill>
                  <a:srgbClr val="FF0000"/>
                </a:solidFill>
              </a:rPr>
              <a:t>(f) Faster data retrieval / simpler SQL statements for queries.</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117</a:t>
            </a:fld>
            <a:endParaRPr lang="en-US" dirty="0"/>
          </a:p>
        </p:txBody>
      </p:sp>
      <p:sp>
        <p:nvSpPr>
          <p:cNvPr id="4" name="Text Placeholder 3"/>
          <p:cNvSpPr>
            <a:spLocks noGrp="1"/>
          </p:cNvSpPr>
          <p:nvPr>
            <p:ph type="body" sz="quarter" idx="13"/>
          </p:nvPr>
        </p:nvSpPr>
        <p:spPr/>
        <p:txBody>
          <a:bodyPr/>
          <a:lstStyle/>
          <a:p>
            <a:r>
              <a:rPr lang="en-US" dirty="0" smtClean="0"/>
              <a:t>5.6</a:t>
            </a:r>
            <a:endParaRPr lang="en-US" dirty="0"/>
          </a:p>
        </p:txBody>
      </p:sp>
    </p:spTree>
    <p:extLst>
      <p:ext uri="{BB962C8B-B14F-4D97-AF65-F5344CB8AC3E}">
        <p14:creationId xmlns:p14="http://schemas.microsoft.com/office/powerpoint/2010/main" val="398522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Privacy</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118</a:t>
            </a:fld>
            <a:endParaRPr lang="en-US" dirty="0"/>
          </a:p>
        </p:txBody>
      </p:sp>
      <p:sp>
        <p:nvSpPr>
          <p:cNvPr id="4" name="Text Placeholder 3"/>
          <p:cNvSpPr>
            <a:spLocks noGrp="1"/>
          </p:cNvSpPr>
          <p:nvPr>
            <p:ph type="body" sz="quarter" idx="14"/>
          </p:nvPr>
        </p:nvSpPr>
        <p:spPr/>
        <p:txBody>
          <a:bodyPr/>
          <a:lstStyle/>
          <a:p>
            <a:r>
              <a:rPr lang="en-US" dirty="0" smtClean="0"/>
              <a:t>5.6</a:t>
            </a:r>
            <a:endParaRPr lang="en-US" dirty="0"/>
          </a:p>
        </p:txBody>
      </p:sp>
      <p:sp>
        <p:nvSpPr>
          <p:cNvPr id="5" name="Content Placeholder 4"/>
          <p:cNvSpPr>
            <a:spLocks noGrp="1"/>
          </p:cNvSpPr>
          <p:nvPr>
            <p:ph sz="quarter" idx="15"/>
          </p:nvPr>
        </p:nvSpPr>
        <p:spPr/>
        <p:txBody>
          <a:bodyPr/>
          <a:lstStyle/>
          <a:p>
            <a:r>
              <a:rPr lang="en-US" b="1" dirty="0">
                <a:solidFill>
                  <a:srgbClr val="4B479C"/>
                </a:solidFill>
              </a:rPr>
              <a:t>Data privacy</a:t>
            </a:r>
            <a:r>
              <a:rPr lang="en-US" dirty="0"/>
              <a:t> concerns the collection, storage and management of personal </a:t>
            </a:r>
            <a:r>
              <a:rPr lang="en-US" dirty="0" smtClean="0"/>
              <a:t>data</a:t>
            </a:r>
            <a:r>
              <a:rPr lang="en-US" dirty="0"/>
              <a:t>, such as residential addresses, personal photos and even bank account </a:t>
            </a:r>
            <a:r>
              <a:rPr lang="en-US" dirty="0" smtClean="0"/>
              <a:t>passwords.</a:t>
            </a:r>
          </a:p>
          <a:p>
            <a:endParaRPr lang="en-US" dirty="0"/>
          </a:p>
          <a:p>
            <a:endParaRPr lang="en-US" dirty="0"/>
          </a:p>
        </p:txBody>
      </p:sp>
    </p:spTree>
    <p:extLst>
      <p:ext uri="{BB962C8B-B14F-4D97-AF65-F5344CB8AC3E}">
        <p14:creationId xmlns:p14="http://schemas.microsoft.com/office/powerpoint/2010/main" val="48352162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data privacy</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119</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When handling these pieces of data, we should</a:t>
            </a:r>
            <a:r>
              <a:rPr lang="en-US" dirty="0" smtClean="0"/>
              <a:t>:</a:t>
            </a:r>
          </a:p>
          <a:p>
            <a:endParaRPr lang="en-US" dirty="0"/>
          </a:p>
          <a:p>
            <a:pPr marL="342900" indent="-342900">
              <a:buFont typeface="Arial" panose="020B0604020202020204" pitchFamily="34" charset="0"/>
              <a:buChar char="•"/>
            </a:pPr>
            <a:r>
              <a:rPr lang="en-US" dirty="0"/>
              <a:t>use the data for its original purposes only; </a:t>
            </a:r>
            <a:r>
              <a:rPr lang="en-US" dirty="0" smtClean="0"/>
              <a:t>and</a:t>
            </a:r>
            <a:br>
              <a:rPr lang="en-US" dirty="0" smtClean="0"/>
            </a:br>
            <a:endParaRPr lang="en-US" dirty="0"/>
          </a:p>
          <a:p>
            <a:pPr marL="342900" indent="-342900">
              <a:buFont typeface="Arial" panose="020B0604020202020204" pitchFamily="34" charset="0"/>
              <a:buChar char="•"/>
            </a:pPr>
            <a:r>
              <a:rPr lang="en-US" dirty="0"/>
              <a:t>not disclose the data to </a:t>
            </a:r>
            <a:r>
              <a:rPr lang="en-US" dirty="0" err="1"/>
              <a:t>unauthorised</a:t>
            </a:r>
            <a:r>
              <a:rPr lang="en-US" dirty="0"/>
              <a:t> people.</a:t>
            </a:r>
          </a:p>
          <a:p>
            <a:endParaRPr lang="en-US" dirty="0"/>
          </a:p>
        </p:txBody>
      </p:sp>
    </p:spTree>
    <p:extLst>
      <p:ext uri="{BB962C8B-B14F-4D97-AF65-F5344CB8AC3E}">
        <p14:creationId xmlns:p14="http://schemas.microsoft.com/office/powerpoint/2010/main" val="2697990815"/>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 right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120</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b="1" dirty="0">
                <a:solidFill>
                  <a:srgbClr val="4B479C"/>
                </a:solidFill>
              </a:rPr>
              <a:t>Access rights</a:t>
            </a:r>
            <a:r>
              <a:rPr lang="en-US" dirty="0"/>
              <a:t> are the permissions granted to a user to perform certain operations on specific data, such as retrieve, create, update and delete</a:t>
            </a:r>
            <a:r>
              <a:rPr lang="en-US" dirty="0" smtClean="0"/>
              <a:t>.</a:t>
            </a:r>
          </a:p>
          <a:p>
            <a:endParaRPr lang="en-US" dirty="0"/>
          </a:p>
          <a:p>
            <a:r>
              <a:rPr lang="en-US" dirty="0"/>
              <a:t>Take the following table as an example. It stores customer accounts in a streaming platform.</a:t>
            </a:r>
            <a:endParaRPr lang="en-US" dirty="0" smtClean="0"/>
          </a:p>
          <a:p>
            <a:endParaRPr lang="en-US" dirty="0"/>
          </a:p>
        </p:txBody>
      </p:sp>
      <p:pic>
        <p:nvPicPr>
          <p:cNvPr id="6" name="Picture 5"/>
          <p:cNvPicPr>
            <a:picLocks noChangeAspect="1"/>
          </p:cNvPicPr>
          <p:nvPr/>
        </p:nvPicPr>
        <p:blipFill>
          <a:blip r:embed="rId2"/>
          <a:stretch>
            <a:fillRect/>
          </a:stretch>
        </p:blipFill>
        <p:spPr>
          <a:xfrm>
            <a:off x="2309249" y="3515366"/>
            <a:ext cx="7574702" cy="2773834"/>
          </a:xfrm>
          <a:prstGeom prst="rect">
            <a:avLst/>
          </a:prstGeom>
        </p:spPr>
      </p:pic>
    </p:spTree>
    <p:extLst>
      <p:ext uri="{BB962C8B-B14F-4D97-AF65-F5344CB8AC3E}">
        <p14:creationId xmlns:p14="http://schemas.microsoft.com/office/powerpoint/2010/main" val="4283516327"/>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 right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121</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a:t>Different roles usually have different access rights assigned.</a:t>
            </a:r>
          </a:p>
        </p:txBody>
      </p:sp>
      <p:pic>
        <p:nvPicPr>
          <p:cNvPr id="6" name="Picture 5"/>
          <p:cNvPicPr>
            <a:picLocks noChangeAspect="1"/>
          </p:cNvPicPr>
          <p:nvPr/>
        </p:nvPicPr>
        <p:blipFill>
          <a:blip r:embed="rId2"/>
          <a:stretch>
            <a:fillRect/>
          </a:stretch>
        </p:blipFill>
        <p:spPr>
          <a:xfrm>
            <a:off x="1467644" y="2208654"/>
            <a:ext cx="9257911" cy="2906874"/>
          </a:xfrm>
          <a:prstGeom prst="rect">
            <a:avLst/>
          </a:prstGeom>
        </p:spPr>
      </p:pic>
    </p:spTree>
    <p:extLst>
      <p:ext uri="{BB962C8B-B14F-4D97-AF65-F5344CB8AC3E}">
        <p14:creationId xmlns:p14="http://schemas.microsoft.com/office/powerpoint/2010/main" val="2971546269"/>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122</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Setting views can protect the data privacy by limiting the access of certain </a:t>
            </a:r>
            <a:r>
              <a:rPr lang="en-US" dirty="0" smtClean="0"/>
              <a:t>data </a:t>
            </a:r>
            <a:r>
              <a:rPr lang="en-US" dirty="0"/>
              <a:t>for specific users</a:t>
            </a:r>
            <a:r>
              <a:rPr lang="en-US" dirty="0" smtClean="0"/>
              <a:t>.</a:t>
            </a:r>
          </a:p>
          <a:p>
            <a:endParaRPr lang="en-US" dirty="0"/>
          </a:p>
          <a:p>
            <a:r>
              <a:rPr lang="en-US" dirty="0"/>
              <a:t>If a customer service officer is responsible for matters related to film </a:t>
            </a:r>
            <a:r>
              <a:rPr lang="en-US" dirty="0" smtClean="0"/>
              <a:t>streaming </a:t>
            </a:r>
            <a:r>
              <a:rPr lang="en-US" dirty="0"/>
              <a:t>only, they should have the access right to view the data of accounts </a:t>
            </a:r>
            <a:r>
              <a:rPr lang="en-US" dirty="0" smtClean="0"/>
              <a:t>with </a:t>
            </a:r>
            <a:r>
              <a:rPr lang="en-US" dirty="0"/>
              <a:t>an </a:t>
            </a:r>
            <a:r>
              <a:rPr lang="en-US" dirty="0">
                <a:latin typeface="Courier New" panose="02070309020205020404" pitchFamily="49" charset="0"/>
                <a:cs typeface="Courier New" panose="02070309020205020404" pitchFamily="49" charset="0"/>
              </a:rPr>
              <a:t>ATYPE</a:t>
            </a:r>
            <a:r>
              <a:rPr lang="en-US" dirty="0"/>
              <a:t> of 0 and 1 only.</a:t>
            </a:r>
          </a:p>
        </p:txBody>
      </p:sp>
      <p:pic>
        <p:nvPicPr>
          <p:cNvPr id="6" name="Picture 5"/>
          <p:cNvPicPr>
            <a:picLocks noChangeAspect="1"/>
          </p:cNvPicPr>
          <p:nvPr/>
        </p:nvPicPr>
        <p:blipFill>
          <a:blip r:embed="rId2"/>
          <a:stretch>
            <a:fillRect/>
          </a:stretch>
        </p:blipFill>
        <p:spPr>
          <a:xfrm>
            <a:off x="3972454" y="3833088"/>
            <a:ext cx="4248291" cy="1705300"/>
          </a:xfrm>
          <a:prstGeom prst="rect">
            <a:avLst/>
          </a:prstGeom>
        </p:spPr>
      </p:pic>
    </p:spTree>
    <p:extLst>
      <p:ext uri="{BB962C8B-B14F-4D97-AF65-F5344CB8AC3E}">
        <p14:creationId xmlns:p14="http://schemas.microsoft.com/office/powerpoint/2010/main" val="2080576345"/>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123</a:t>
            </a:fld>
            <a:endParaRPr lang="en-US" dirty="0"/>
          </a:p>
        </p:txBody>
      </p:sp>
      <p:sp>
        <p:nvSpPr>
          <p:cNvPr id="4" name="Text Placeholder 3"/>
          <p:cNvSpPr>
            <a:spLocks noGrp="1"/>
          </p:cNvSpPr>
          <p:nvPr>
            <p:ph type="body" sz="quarter" idx="14"/>
          </p:nvPr>
        </p:nvSpPr>
        <p:spPr/>
        <p:txBody>
          <a:bodyPr/>
          <a:lstStyle/>
          <a:p>
            <a:r>
              <a:rPr lang="en-US" dirty="0" smtClean="0"/>
              <a:t>C</a:t>
            </a:r>
            <a:endParaRPr lang="en-US" dirty="0"/>
          </a:p>
        </p:txBody>
      </p:sp>
      <p:sp>
        <p:nvSpPr>
          <p:cNvPr id="5" name="Content Placeholder 4"/>
          <p:cNvSpPr>
            <a:spLocks noGrp="1"/>
          </p:cNvSpPr>
          <p:nvPr>
            <p:ph sz="quarter" idx="15"/>
          </p:nvPr>
        </p:nvSpPr>
        <p:spPr/>
        <p:txBody>
          <a:bodyPr/>
          <a:lstStyle/>
          <a:p>
            <a:r>
              <a:rPr lang="en-US" dirty="0"/>
              <a:t>We may restrict what data they can view by creating a view</a:t>
            </a:r>
            <a:r>
              <a:rPr lang="en-US" dirty="0" smtClean="0"/>
              <a:t>:</a:t>
            </a:r>
          </a:p>
          <a:p>
            <a:endParaRPr lang="en-US" dirty="0"/>
          </a:p>
          <a:p>
            <a:pPr lvl="1"/>
            <a:r>
              <a:rPr lang="en-US" sz="2000" dirty="0">
                <a:latin typeface="Courier New" panose="02070309020205020404" pitchFamily="49" charset="0"/>
                <a:cs typeface="Courier New" panose="02070309020205020404" pitchFamily="49" charset="0"/>
              </a:rPr>
              <a:t>CREATE VIEW AFILM AS</a:t>
            </a:r>
            <a:br>
              <a:rPr lang="en-US" sz="2000" dirty="0">
                <a:latin typeface="Courier New" panose="02070309020205020404" pitchFamily="49" charset="0"/>
                <a:cs typeface="Courier New" panose="02070309020205020404" pitchFamily="49" charset="0"/>
              </a:rPr>
            </a:br>
            <a:r>
              <a:rPr lang="en-US" sz="2000" dirty="0" smtClean="0">
                <a:latin typeface="Courier New" panose="02070309020205020404" pitchFamily="49" charset="0"/>
                <a:cs typeface="Courier New" panose="02070309020205020404" pitchFamily="49" charset="0"/>
              </a:rPr>
              <a:t>	(</a:t>
            </a:r>
            <a:r>
              <a:rPr lang="en-US" sz="2000" dirty="0">
                <a:latin typeface="Courier New" panose="02070309020205020404" pitchFamily="49" charset="0"/>
                <a:cs typeface="Courier New" panose="02070309020205020404" pitchFamily="49" charset="0"/>
              </a:rPr>
              <a:t>SELECT * FROM ACCOUNT WHERE ATYPE IN (0, 1))</a:t>
            </a:r>
          </a:p>
        </p:txBody>
      </p:sp>
    </p:spTree>
    <p:extLst>
      <p:ext uri="{BB962C8B-B14F-4D97-AF65-F5344CB8AC3E}">
        <p14:creationId xmlns:p14="http://schemas.microsoft.com/office/powerpoint/2010/main" val="1989168356"/>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1. Janet is the </a:t>
            </a:r>
            <a:r>
              <a:rPr lang="en-US" dirty="0" err="1"/>
              <a:t>organiser</a:t>
            </a:r>
            <a:r>
              <a:rPr lang="en-US" dirty="0"/>
              <a:t> of a game show. She uses the following table to store the data of participants. Participants are divided into different teams.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124</a:t>
            </a:fld>
            <a:endParaRPr lang="en-US" dirty="0"/>
          </a:p>
        </p:txBody>
      </p:sp>
      <p:sp>
        <p:nvSpPr>
          <p:cNvPr id="4" name="Text Placeholder 3"/>
          <p:cNvSpPr>
            <a:spLocks noGrp="1"/>
          </p:cNvSpPr>
          <p:nvPr>
            <p:ph type="body" sz="quarter" idx="13"/>
          </p:nvPr>
        </p:nvSpPr>
        <p:spPr/>
        <p:txBody>
          <a:bodyPr/>
          <a:lstStyle/>
          <a:p>
            <a:r>
              <a:rPr lang="en-US" dirty="0" smtClean="0"/>
              <a:t>5.6</a:t>
            </a:r>
            <a:endParaRPr lang="en-US" dirty="0"/>
          </a:p>
        </p:txBody>
      </p:sp>
      <p:pic>
        <p:nvPicPr>
          <p:cNvPr id="5" name="Picture 4"/>
          <p:cNvPicPr>
            <a:picLocks noChangeAspect="1"/>
          </p:cNvPicPr>
          <p:nvPr/>
        </p:nvPicPr>
        <p:blipFill>
          <a:blip r:embed="rId2"/>
          <a:stretch>
            <a:fillRect/>
          </a:stretch>
        </p:blipFill>
        <p:spPr>
          <a:xfrm>
            <a:off x="999998" y="2418325"/>
            <a:ext cx="7519163" cy="3309145"/>
          </a:xfrm>
          <a:prstGeom prst="rect">
            <a:avLst/>
          </a:prstGeom>
        </p:spPr>
      </p:pic>
    </p:spTree>
    <p:extLst>
      <p:ext uri="{BB962C8B-B14F-4D97-AF65-F5344CB8AC3E}">
        <p14:creationId xmlns:p14="http://schemas.microsoft.com/office/powerpoint/2010/main" val="231502062"/>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Each participant can sign in their account in the official website of the game show. Here is the webpage after a participant named Kara has signed in.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125</a:t>
            </a:fld>
            <a:endParaRPr lang="en-US" dirty="0"/>
          </a:p>
        </p:txBody>
      </p:sp>
      <p:sp>
        <p:nvSpPr>
          <p:cNvPr id="4" name="Text Placeholder 3"/>
          <p:cNvSpPr>
            <a:spLocks noGrp="1"/>
          </p:cNvSpPr>
          <p:nvPr>
            <p:ph type="body" sz="quarter" idx="13"/>
          </p:nvPr>
        </p:nvSpPr>
        <p:spPr/>
        <p:txBody>
          <a:bodyPr/>
          <a:lstStyle/>
          <a:p>
            <a:r>
              <a:rPr lang="en-US" dirty="0" smtClean="0"/>
              <a:t>5.6</a:t>
            </a:r>
            <a:endParaRPr lang="en-US" dirty="0"/>
          </a:p>
        </p:txBody>
      </p:sp>
      <p:pic>
        <p:nvPicPr>
          <p:cNvPr id="5" name="Picture 4"/>
          <p:cNvPicPr>
            <a:picLocks noChangeAspect="1"/>
          </p:cNvPicPr>
          <p:nvPr/>
        </p:nvPicPr>
        <p:blipFill>
          <a:blip r:embed="rId2"/>
          <a:stretch>
            <a:fillRect/>
          </a:stretch>
        </p:blipFill>
        <p:spPr>
          <a:xfrm>
            <a:off x="2859959" y="2458857"/>
            <a:ext cx="6558361" cy="3225276"/>
          </a:xfrm>
          <a:prstGeom prst="rect">
            <a:avLst/>
          </a:prstGeom>
        </p:spPr>
      </p:pic>
    </p:spTree>
    <p:extLst>
      <p:ext uri="{BB962C8B-B14F-4D97-AF65-F5344CB8AC3E}">
        <p14:creationId xmlns:p14="http://schemas.microsoft.com/office/powerpoint/2010/main" val="454880973"/>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 Write </a:t>
            </a:r>
            <a:r>
              <a:rPr lang="en-US" dirty="0"/>
              <a:t>a SQL statement to retrieve the above list of members by using the data of the participant, </a:t>
            </a:r>
            <a:r>
              <a:rPr lang="en-US" dirty="0" smtClean="0"/>
              <a:t>Kara.</a:t>
            </a:r>
          </a:p>
          <a:p>
            <a:endParaRPr lang="en-US" dirty="0"/>
          </a:p>
          <a:p>
            <a:r>
              <a:rPr lang="en-US" dirty="0"/>
              <a:t>(b) What is the potential ethical issue raised by this webpage? Explain briefly</a:t>
            </a:r>
            <a:r>
              <a:rPr lang="en-US" dirty="0" smtClean="0"/>
              <a:t>.</a:t>
            </a:r>
          </a:p>
          <a:p>
            <a:endParaRPr lang="en-US" dirty="0"/>
          </a:p>
          <a:p>
            <a:r>
              <a:rPr lang="en-US" dirty="0"/>
              <a:t>(c) Each participant is allowed to edit their own personal data in the database. Which of the following </a:t>
            </a:r>
            <a:r>
              <a:rPr lang="en-US" dirty="0" smtClean="0"/>
              <a:t>access </a:t>
            </a:r>
            <a:r>
              <a:rPr lang="en-US" dirty="0"/>
              <a:t>rights should be granted to them? </a:t>
            </a:r>
          </a:p>
          <a:p>
            <a:r>
              <a:rPr lang="en-US" dirty="0">
                <a:latin typeface="Courier New" panose="02070309020205020404" pitchFamily="49" charset="0"/>
                <a:cs typeface="Courier New" panose="02070309020205020404" pitchFamily="49" charset="0"/>
              </a:rPr>
              <a:t>CREATE, INSERT, ALTER, UPDATE, DROP, DELETE</a:t>
            </a:r>
          </a:p>
        </p:txBody>
      </p:sp>
      <p:sp>
        <p:nvSpPr>
          <p:cNvPr id="3" name="Slide Number Placeholder 2"/>
          <p:cNvSpPr>
            <a:spLocks noGrp="1"/>
          </p:cNvSpPr>
          <p:nvPr>
            <p:ph type="sldNum" sz="quarter" idx="12"/>
          </p:nvPr>
        </p:nvSpPr>
        <p:spPr/>
        <p:txBody>
          <a:bodyPr/>
          <a:lstStyle/>
          <a:p>
            <a:fld id="{6D22F896-40B5-4ADD-8801-0D06FADFA095}" type="slidenum">
              <a:rPr lang="en-US" smtClean="0"/>
              <a:t>126</a:t>
            </a:fld>
            <a:endParaRPr lang="en-US" dirty="0"/>
          </a:p>
        </p:txBody>
      </p:sp>
      <p:sp>
        <p:nvSpPr>
          <p:cNvPr id="4" name="Text Placeholder 3"/>
          <p:cNvSpPr>
            <a:spLocks noGrp="1"/>
          </p:cNvSpPr>
          <p:nvPr>
            <p:ph type="body" sz="quarter" idx="13"/>
          </p:nvPr>
        </p:nvSpPr>
        <p:spPr/>
        <p:txBody>
          <a:bodyPr/>
          <a:lstStyle/>
          <a:p>
            <a:r>
              <a:rPr lang="en-US" dirty="0" smtClean="0"/>
              <a:t>5.6</a:t>
            </a:r>
            <a:endParaRPr lang="en-US" dirty="0"/>
          </a:p>
        </p:txBody>
      </p:sp>
    </p:spTree>
    <p:extLst>
      <p:ext uri="{BB962C8B-B14F-4D97-AF65-F5344CB8AC3E}">
        <p14:creationId xmlns:p14="http://schemas.microsoft.com/office/powerpoint/2010/main" val="2563646192"/>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 Sean is the host of the game show. He should know only the team number, participant numbers, </a:t>
            </a:r>
            <a:r>
              <a:rPr lang="en-US" dirty="0" smtClean="0"/>
              <a:t>names</a:t>
            </a:r>
            <a:r>
              <a:rPr lang="en-US" dirty="0"/>
              <a:t>, sexes and phone numbers of all participants.</a:t>
            </a:r>
          </a:p>
          <a:p>
            <a:endParaRPr lang="en-US" dirty="0" smtClean="0"/>
          </a:p>
          <a:p>
            <a:r>
              <a:rPr lang="en-US" dirty="0" smtClean="0"/>
              <a:t>Help </a:t>
            </a:r>
            <a:r>
              <a:rPr lang="en-US" dirty="0"/>
              <a:t>Janet create a database view named </a:t>
            </a:r>
            <a:r>
              <a:rPr lang="en-US" dirty="0">
                <a:latin typeface="Courier New" panose="02070309020205020404" pitchFamily="49" charset="0"/>
                <a:cs typeface="Courier New" panose="02070309020205020404" pitchFamily="49" charset="0"/>
              </a:rPr>
              <a:t>HOSTVIEW</a:t>
            </a:r>
            <a:r>
              <a:rPr lang="en-US" dirty="0"/>
              <a:t> for Sean by writing down the required SQL </a:t>
            </a:r>
            <a:r>
              <a:rPr lang="en-US" dirty="0" smtClean="0"/>
              <a:t>statement</a:t>
            </a:r>
            <a:r>
              <a:rPr lang="en-US" dirty="0"/>
              <a: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127</a:t>
            </a:fld>
            <a:endParaRPr lang="en-US" dirty="0"/>
          </a:p>
        </p:txBody>
      </p:sp>
      <p:sp>
        <p:nvSpPr>
          <p:cNvPr id="4" name="Text Placeholder 3"/>
          <p:cNvSpPr>
            <a:spLocks noGrp="1"/>
          </p:cNvSpPr>
          <p:nvPr>
            <p:ph type="body" sz="quarter" idx="13"/>
          </p:nvPr>
        </p:nvSpPr>
        <p:spPr/>
        <p:txBody>
          <a:bodyPr/>
          <a:lstStyle/>
          <a:p>
            <a:r>
              <a:rPr lang="en-US" dirty="0" smtClean="0"/>
              <a:t>5.6</a:t>
            </a:r>
            <a:endParaRPr lang="en-US" dirty="0"/>
          </a:p>
        </p:txBody>
      </p:sp>
    </p:spTree>
    <p:extLst>
      <p:ext uri="{BB962C8B-B14F-4D97-AF65-F5344CB8AC3E}">
        <p14:creationId xmlns:p14="http://schemas.microsoft.com/office/powerpoint/2010/main" val="137777724"/>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solidFill>
                  <a:srgbClr val="37A3D4"/>
                </a:solidFill>
              </a:rPr>
              <a:t>◣ </a:t>
            </a:r>
            <a:r>
              <a:rPr lang="en-US" b="1" dirty="0" smtClean="0">
                <a:solidFill>
                  <a:srgbClr val="37A3D4"/>
                </a:solidFill>
              </a:rPr>
              <a:t>Solution</a:t>
            </a:r>
          </a:p>
          <a:p>
            <a:r>
              <a:rPr lang="en-US" dirty="0" smtClean="0"/>
              <a:t>(a) </a:t>
            </a:r>
            <a:r>
              <a:rPr lang="en-US" dirty="0" smtClean="0">
                <a:latin typeface="Courier New" panose="02070309020205020404" pitchFamily="49" charset="0"/>
                <a:cs typeface="Courier New" panose="02070309020205020404" pitchFamily="49" charset="0"/>
              </a:rPr>
              <a:t>SELECT </a:t>
            </a:r>
            <a:r>
              <a:rPr lang="en-US" dirty="0">
                <a:latin typeface="Courier New" panose="02070309020205020404" pitchFamily="49" charset="0"/>
                <a:cs typeface="Courier New" panose="02070309020205020404" pitchFamily="49" charset="0"/>
              </a:rPr>
              <a:t>PNAME, HKID, SEX, PNUM FROM P WHERE TNUM = </a:t>
            </a:r>
            <a:r>
              <a:rPr lang="en-US" dirty="0" smtClean="0">
                <a:latin typeface="Courier New" panose="02070309020205020404" pitchFamily="49" charset="0"/>
                <a:cs typeface="Courier New" panose="02070309020205020404" pitchFamily="49" charset="0"/>
              </a:rPr>
              <a:t/>
            </a:r>
            <a:br>
              <a:rPr lang="en-US" dirty="0" smtClean="0">
                <a:latin typeface="Courier New" panose="02070309020205020404" pitchFamily="49" charset="0"/>
                <a:cs typeface="Courier New" panose="02070309020205020404" pitchFamily="49" charset="0"/>
              </a:rPr>
            </a:b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SELECT TNUM FROM P WHERE PNUM = '579</a:t>
            </a:r>
            <a:r>
              <a:rPr lang="en-US" dirty="0" smtClean="0">
                <a:latin typeface="Courier New" panose="02070309020205020404" pitchFamily="49" charset="0"/>
                <a:cs typeface="Courier New" panose="02070309020205020404" pitchFamily="49" charset="0"/>
              </a:rPr>
              <a:t>')</a:t>
            </a:r>
            <a:br>
              <a:rPr lang="en-US" dirty="0" smtClean="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a:p>
            <a:r>
              <a:rPr lang="en-US" dirty="0"/>
              <a:t>(b) HKID number is a piece of personal data. The webpage violates data privacy by showing the HKID </a:t>
            </a:r>
            <a:r>
              <a:rPr lang="en-US" dirty="0" smtClean="0"/>
              <a:t>number </a:t>
            </a:r>
            <a:r>
              <a:rPr lang="en-US" dirty="0"/>
              <a:t>of other participants</a:t>
            </a:r>
            <a:r>
              <a:rPr lang="en-US" dirty="0" smtClean="0"/>
              <a:t>.</a:t>
            </a:r>
            <a:br>
              <a:rPr lang="en-US" dirty="0" smtClean="0"/>
            </a:br>
            <a:endParaRPr lang="en-US" dirty="0"/>
          </a:p>
          <a:p>
            <a:r>
              <a:rPr lang="en-US" dirty="0"/>
              <a:t>(c) </a:t>
            </a:r>
            <a:r>
              <a:rPr lang="en-US" dirty="0" smtClean="0">
                <a:latin typeface="Courier New" panose="02070309020205020404" pitchFamily="49" charset="0"/>
                <a:cs typeface="Courier New" panose="02070309020205020404" pitchFamily="49" charset="0"/>
              </a:rPr>
              <a:t>UPDATE</a:t>
            </a:r>
            <a:br>
              <a:rPr lang="en-US" dirty="0" smtClean="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a:p>
            <a:r>
              <a:rPr lang="en-US" dirty="0"/>
              <a:t>(d) </a:t>
            </a:r>
            <a:r>
              <a:rPr lang="en-US" dirty="0">
                <a:latin typeface="Courier New" panose="02070309020205020404" pitchFamily="49" charset="0"/>
                <a:cs typeface="Courier New" panose="02070309020205020404" pitchFamily="49" charset="0"/>
              </a:rPr>
              <a:t>CREATE VIEW HOSTVIEW AS </a:t>
            </a:r>
          </a:p>
          <a:p>
            <a:r>
              <a:rPr lang="en-US" dirty="0">
                <a:latin typeface="Courier New" panose="02070309020205020404" pitchFamily="49" charset="0"/>
                <a:cs typeface="Courier New" panose="02070309020205020404" pitchFamily="49" charset="0"/>
              </a:rPr>
              <a:t> (SELECT TNUM, PNUM, PNAME, SEX, PHONE FROM PARTICIPANT)</a:t>
            </a:r>
          </a:p>
        </p:txBody>
      </p:sp>
      <p:sp>
        <p:nvSpPr>
          <p:cNvPr id="3" name="Slide Number Placeholder 2"/>
          <p:cNvSpPr>
            <a:spLocks noGrp="1"/>
          </p:cNvSpPr>
          <p:nvPr>
            <p:ph type="sldNum" sz="quarter" idx="12"/>
          </p:nvPr>
        </p:nvSpPr>
        <p:spPr/>
        <p:txBody>
          <a:bodyPr/>
          <a:lstStyle/>
          <a:p>
            <a:fld id="{6D22F896-40B5-4ADD-8801-0D06FADFA095}" type="slidenum">
              <a:rPr lang="en-US" smtClean="0"/>
              <a:t>128</a:t>
            </a:fld>
            <a:endParaRPr lang="en-US" dirty="0"/>
          </a:p>
        </p:txBody>
      </p:sp>
      <p:sp>
        <p:nvSpPr>
          <p:cNvPr id="4" name="Text Placeholder 3"/>
          <p:cNvSpPr>
            <a:spLocks noGrp="1"/>
          </p:cNvSpPr>
          <p:nvPr>
            <p:ph type="body" sz="quarter" idx="13"/>
          </p:nvPr>
        </p:nvSpPr>
        <p:spPr/>
        <p:txBody>
          <a:bodyPr/>
          <a:lstStyle/>
          <a:p>
            <a:r>
              <a:rPr lang="en-US" dirty="0" smtClean="0"/>
              <a:t>5.6</a:t>
            </a:r>
            <a:endParaRPr lang="en-US" dirty="0"/>
          </a:p>
        </p:txBody>
      </p:sp>
    </p:spTree>
    <p:extLst>
      <p:ext uri="{BB962C8B-B14F-4D97-AF65-F5344CB8AC3E}">
        <p14:creationId xmlns:p14="http://schemas.microsoft.com/office/powerpoint/2010/main" val="1769912749"/>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5.7 on P. 302 of your textbook.</a:t>
            </a:r>
          </a:p>
          <a:p>
            <a:r>
              <a:rPr lang="en-US" dirty="0" smtClean="0">
                <a:solidFill>
                  <a:srgbClr val="FF0000"/>
                </a:solidFill>
              </a:rPr>
              <a:t>(</a:t>
            </a:r>
            <a:r>
              <a:rPr lang="en-US" dirty="0">
                <a:solidFill>
                  <a:srgbClr val="FF0000"/>
                </a:solidFill>
              </a:rPr>
              <a:t>a) </a:t>
            </a:r>
            <a:r>
              <a:rPr lang="en-US" dirty="0">
                <a:solidFill>
                  <a:srgbClr val="FF0000"/>
                </a:solidFill>
                <a:latin typeface="Courier New" panose="02070309020205020404" pitchFamily="49" charset="0"/>
                <a:cs typeface="Courier New" panose="02070309020205020404" pitchFamily="49" charset="0"/>
              </a:rPr>
              <a:t>SELECT AVG(HEIGHT) FROM STUDNET </a:t>
            </a:r>
            <a:r>
              <a:rPr lang="en-US" dirty="0" smtClean="0">
                <a:solidFill>
                  <a:srgbClr val="FF0000"/>
                </a:solidFill>
                <a:latin typeface="Courier New" panose="02070309020205020404" pitchFamily="49" charset="0"/>
                <a:cs typeface="Courier New" panose="02070309020205020404" pitchFamily="49" charset="0"/>
              </a:rPr>
              <a:t/>
            </a:r>
            <a:br>
              <a:rPr lang="en-US" dirty="0" smtClean="0">
                <a:solidFill>
                  <a:srgbClr val="FF0000"/>
                </a:solidFill>
                <a:latin typeface="Courier New" panose="02070309020205020404" pitchFamily="49" charset="0"/>
                <a:cs typeface="Courier New" panose="02070309020205020404" pitchFamily="49" charset="0"/>
              </a:rPr>
            </a:br>
            <a:r>
              <a:rPr lang="en-US" dirty="0" smtClean="0">
                <a:solidFill>
                  <a:srgbClr val="FF0000"/>
                </a:solidFill>
                <a:latin typeface="Courier New" panose="02070309020205020404" pitchFamily="49" charset="0"/>
                <a:cs typeface="Courier New" panose="02070309020205020404" pitchFamily="49" charset="0"/>
              </a:rPr>
              <a:t>	WHERE </a:t>
            </a:r>
            <a:r>
              <a:rPr lang="en-US" dirty="0">
                <a:solidFill>
                  <a:srgbClr val="FF0000"/>
                </a:solidFill>
                <a:latin typeface="Courier New" panose="02070309020205020404" pitchFamily="49" charset="0"/>
                <a:cs typeface="Courier New" panose="02070309020205020404" pitchFamily="49" charset="0"/>
              </a:rPr>
              <a:t>SEX = 'F' AND AGE BETWEEN 11 AND 14</a:t>
            </a:r>
            <a:endParaRPr lang="en-US" dirty="0">
              <a:solidFill>
                <a:srgbClr val="FF0000"/>
              </a:solidFill>
              <a:latin typeface="Courier New" panose="02070309020205020404" pitchFamily="49" charset="0"/>
              <a:cs typeface="Courier New" panose="02070309020205020404" pitchFamily="49" charset="0"/>
            </a:endParaRPr>
          </a:p>
          <a:p>
            <a:endParaRPr lang="en-US" dirty="0">
              <a:solidFill>
                <a:srgbClr val="FF0000"/>
              </a:solidFill>
            </a:endParaRPr>
          </a:p>
          <a:p>
            <a:r>
              <a:rPr lang="en-US" dirty="0" smtClean="0">
                <a:solidFill>
                  <a:srgbClr val="FF0000"/>
                </a:solidFill>
              </a:rPr>
              <a:t>(</a:t>
            </a:r>
            <a:r>
              <a:rPr lang="en-US" dirty="0">
                <a:solidFill>
                  <a:srgbClr val="FF0000"/>
                </a:solidFill>
              </a:rPr>
              <a:t>b) Yes. It violates data privacy, as the data is not used for their original purposes in this case.</a:t>
            </a:r>
            <a:endParaRPr lang="en-US" dirty="0" smtClean="0">
              <a:solidFill>
                <a:srgbClr val="FF0000"/>
              </a:solidFill>
            </a:endParaRPr>
          </a:p>
          <a:p>
            <a:endParaRPr lang="en-US" dirty="0">
              <a:solidFill>
                <a:srgbClr val="FF0000"/>
              </a:solidFill>
            </a:endParaRPr>
          </a:p>
          <a:p>
            <a:r>
              <a:rPr lang="en-US" dirty="0" smtClean="0">
                <a:solidFill>
                  <a:srgbClr val="FF0000"/>
                </a:solidFill>
              </a:rPr>
              <a:t>(</a:t>
            </a:r>
            <a:r>
              <a:rPr lang="en-US" dirty="0">
                <a:solidFill>
                  <a:srgbClr val="FF0000"/>
                </a:solidFill>
              </a:rPr>
              <a:t>c) </a:t>
            </a:r>
            <a:r>
              <a:rPr lang="en-US" dirty="0">
                <a:solidFill>
                  <a:srgbClr val="FF0000"/>
                </a:solidFill>
                <a:latin typeface="Courier New" panose="02070309020205020404" pitchFamily="49" charset="0"/>
                <a:cs typeface="Courier New" panose="02070309020205020404" pitchFamily="49" charset="0"/>
              </a:rPr>
              <a:t>CREATE VIEW ANALYSIS AS </a:t>
            </a:r>
            <a:r>
              <a:rPr lang="en-US" dirty="0" smtClean="0">
                <a:solidFill>
                  <a:srgbClr val="FF0000"/>
                </a:solidFill>
                <a:latin typeface="Courier New" panose="02070309020205020404" pitchFamily="49" charset="0"/>
                <a:cs typeface="Courier New" panose="02070309020205020404" pitchFamily="49" charset="0"/>
              </a:rPr>
              <a:t/>
            </a:r>
            <a:br>
              <a:rPr lang="en-US" dirty="0" smtClean="0">
                <a:solidFill>
                  <a:srgbClr val="FF0000"/>
                </a:solidFill>
                <a:latin typeface="Courier New" panose="02070309020205020404" pitchFamily="49" charset="0"/>
                <a:cs typeface="Courier New" panose="02070309020205020404" pitchFamily="49" charset="0"/>
              </a:rPr>
            </a:br>
            <a:r>
              <a:rPr lang="en-US" dirty="0" smtClean="0">
                <a:solidFill>
                  <a:srgbClr val="FF0000"/>
                </a:solidFill>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SELECT SEX, AGE, WEIGHT, HEIGHT FROM STUDENT)</a:t>
            </a:r>
            <a:endParaRPr lang="en-US" dirty="0">
              <a:solidFill>
                <a:srgbClr val="FF0000"/>
              </a:solidFill>
              <a:latin typeface="Courier New" panose="02070309020205020404" pitchFamily="49" charset="0"/>
              <a:cs typeface="Courier New" panose="02070309020205020404" pitchFamily="49" charset="0"/>
            </a:endParaRPr>
          </a:p>
          <a:p>
            <a:endParaRPr lang="en-US" dirty="0">
              <a:solidFill>
                <a:srgbClr val="FF0000"/>
              </a:solidFill>
            </a:endParaRPr>
          </a:p>
          <a:p>
            <a:r>
              <a:rPr lang="en-US" dirty="0" smtClean="0">
                <a:solidFill>
                  <a:srgbClr val="FF0000"/>
                </a:solidFill>
              </a:rPr>
              <a:t>(</a:t>
            </a:r>
            <a:r>
              <a:rPr lang="en-US" dirty="0">
                <a:solidFill>
                  <a:srgbClr val="FF0000"/>
                </a:solidFill>
              </a:rPr>
              <a:t>d) </a:t>
            </a:r>
            <a:r>
              <a:rPr lang="en-US" dirty="0">
                <a:solidFill>
                  <a:srgbClr val="FF0000"/>
                </a:solidFill>
                <a:latin typeface="Courier New" panose="02070309020205020404" pitchFamily="49" charset="0"/>
                <a:cs typeface="Courier New" panose="02070309020205020404" pitchFamily="49" charset="0"/>
              </a:rPr>
              <a:t>SELECT</a:t>
            </a:r>
          </a:p>
        </p:txBody>
      </p:sp>
      <p:sp>
        <p:nvSpPr>
          <p:cNvPr id="3" name="Slide Number Placeholder 2"/>
          <p:cNvSpPr>
            <a:spLocks noGrp="1"/>
          </p:cNvSpPr>
          <p:nvPr>
            <p:ph type="sldNum" sz="quarter" idx="12"/>
          </p:nvPr>
        </p:nvSpPr>
        <p:spPr/>
        <p:txBody>
          <a:bodyPr/>
          <a:lstStyle/>
          <a:p>
            <a:fld id="{6D22F896-40B5-4ADD-8801-0D06FADFA095}" type="slidenum">
              <a:rPr lang="en-US" smtClean="0"/>
              <a:t>129</a:t>
            </a:fld>
            <a:endParaRPr lang="en-US" dirty="0"/>
          </a:p>
        </p:txBody>
      </p:sp>
      <p:sp>
        <p:nvSpPr>
          <p:cNvPr id="4" name="Text Placeholder 3"/>
          <p:cNvSpPr>
            <a:spLocks noGrp="1"/>
          </p:cNvSpPr>
          <p:nvPr>
            <p:ph type="body" sz="quarter" idx="13"/>
          </p:nvPr>
        </p:nvSpPr>
        <p:spPr/>
        <p:txBody>
          <a:bodyPr/>
          <a:lstStyle/>
          <a:p>
            <a:r>
              <a:rPr lang="en-US" dirty="0" smtClean="0"/>
              <a:t>5.7</a:t>
            </a:r>
            <a:endParaRPr lang="en-US" dirty="0"/>
          </a:p>
        </p:txBody>
      </p:sp>
    </p:spTree>
    <p:extLst>
      <p:ext uri="{BB962C8B-B14F-4D97-AF65-F5344CB8AC3E}">
        <p14:creationId xmlns:p14="http://schemas.microsoft.com/office/powerpoint/2010/main" val="884340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fade">
                                      <p:cBhvr>
                                        <p:cTn id="17" dur="500"/>
                                        <p:tgtEl>
                                          <p:spTgt spid="2">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animEffect transition="in" filter="fade">
                                      <p:cBhvr>
                                        <p:cTn id="2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SEPPT_EN_Kelie_20230427">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Presentation5" id="{870A11EB-92D6-4F97-997A-48342F7B5A00}" vid="{0765A16F-C91A-4B03-A6B8-7E4395E092E3}"/>
    </a:ext>
  </a:extLst>
</a:theme>
</file>

<file path=docProps/app.xml><?xml version="1.0" encoding="utf-8"?>
<Properties xmlns="http://schemas.openxmlformats.org/officeDocument/2006/extended-properties" xmlns:vt="http://schemas.openxmlformats.org/officeDocument/2006/docPropsVTypes">
  <Template>DSEPPT_EN_Kelie_20230427</Template>
  <TotalTime>431</TotalTime>
  <Words>4449</Words>
  <Application>Microsoft Office PowerPoint</Application>
  <PresentationFormat>Widescreen</PresentationFormat>
  <Paragraphs>835</Paragraphs>
  <Slides>129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129</vt:i4>
      </vt:variant>
    </vt:vector>
  </HeadingPairs>
  <TitlesOfParts>
    <vt:vector size="136" baseType="lpstr">
      <vt:lpstr>Noto Sans CJK KR Black</vt:lpstr>
      <vt:lpstr>Arial</vt:lpstr>
      <vt:lpstr>Courier New</vt:lpstr>
      <vt:lpstr>Myriad Pro</vt:lpstr>
      <vt:lpstr>Tw Cen MT</vt:lpstr>
      <vt:lpstr>Wingdings</vt:lpstr>
      <vt:lpstr>DSEPPT_EN_Kelie_20230427</vt:lpstr>
      <vt:lpstr>Chapter 5 Database Design and ER Diagram</vt:lpstr>
      <vt:lpstr>ER Diagram</vt:lpstr>
      <vt:lpstr>ER Diagram</vt:lpstr>
      <vt:lpstr>ER Diagram</vt:lpstr>
      <vt:lpstr>Element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Participation Constraint</vt:lpstr>
      <vt:lpstr>Participation Constraint</vt:lpstr>
      <vt:lpstr>Mandatory side &amp; mandatory side</vt:lpstr>
      <vt:lpstr>Mandatory side &amp; optional side</vt:lpstr>
      <vt:lpstr>Optional side &amp; optional side</vt:lpstr>
      <vt:lpstr>Optional side &amp; optional side</vt:lpstr>
      <vt:lpstr>PowerPoint Presentation</vt:lpstr>
      <vt:lpstr>PowerPoint Presentation</vt:lpstr>
      <vt:lpstr>PowerPoint Presentation</vt:lpstr>
      <vt:lpstr>PowerPoint Presentation</vt:lpstr>
      <vt:lpstr>PowerPoint Presentation</vt:lpstr>
      <vt:lpstr>Cardinality</vt:lpstr>
      <vt:lpstr>Cardinality</vt:lpstr>
      <vt:lpstr>One-to-one relationship</vt:lpstr>
      <vt:lpstr>One-to-one relationship</vt:lpstr>
      <vt:lpstr>One-to-one relationship</vt:lpstr>
      <vt:lpstr>One-to-one relationship</vt:lpstr>
      <vt:lpstr>One-to-one relationship</vt:lpstr>
      <vt:lpstr>One-to-one relationship</vt:lpstr>
      <vt:lpstr>One-to-many relationship</vt:lpstr>
      <vt:lpstr>One-to-many relationship</vt:lpstr>
      <vt:lpstr>One-to-many relationship</vt:lpstr>
      <vt:lpstr>One-to-many relationship</vt:lpstr>
      <vt:lpstr>One-to-many relationship</vt:lpstr>
      <vt:lpstr>One-to-many relationship</vt:lpstr>
      <vt:lpstr>Many-to-many relationship</vt:lpstr>
      <vt:lpstr>Many-to-many relationship</vt:lpstr>
      <vt:lpstr>Many-to-many relationship</vt:lpstr>
      <vt:lpstr>Many-to-many relationship</vt:lpstr>
      <vt:lpstr>Many-to-many relationship</vt:lpstr>
      <vt:lpstr>Many-to-many relationship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Many-to-many relationship</vt:lpstr>
      <vt:lpstr>Many-to-many relationship</vt:lpstr>
      <vt:lpstr>Many-to-many relationship</vt:lpstr>
      <vt:lpstr>Many-to-many relationship</vt:lpstr>
      <vt:lpstr>Many-to-many relationship</vt:lpstr>
      <vt:lpstr>PowerPoint Presentation</vt:lpstr>
      <vt:lpstr>PowerPoint Presentation</vt:lpstr>
      <vt:lpstr>PowerPoint Presentation</vt:lpstr>
      <vt:lpstr>PowerPoint Presentation</vt:lpstr>
      <vt:lpstr>Data Redundancy</vt:lpstr>
      <vt:lpstr>Data Redundancy</vt:lpstr>
      <vt:lpstr>Data Redundancy</vt:lpstr>
      <vt:lpstr>Data Redundancy</vt:lpstr>
      <vt:lpstr>Data Redundancy</vt:lpstr>
      <vt:lpstr>Update anomaly</vt:lpstr>
      <vt:lpstr>Update anomaly</vt:lpstr>
      <vt:lpstr>Update anomaly</vt:lpstr>
      <vt:lpstr>Insertion anomaly</vt:lpstr>
      <vt:lpstr>Insertion anomaly</vt:lpstr>
      <vt:lpstr>Deletion anomaly</vt:lpstr>
      <vt:lpstr>Deletion anomaly</vt:lpstr>
      <vt:lpstr>Deletion anomaly</vt:lpstr>
      <vt:lpstr>PowerPoint Presentation</vt:lpstr>
      <vt:lpstr>PowerPoint Presentation</vt:lpstr>
      <vt:lpstr>PowerPoint Presentation</vt:lpstr>
      <vt:lpstr>PowerPoint Presentation</vt:lpstr>
      <vt:lpstr>PowerPoint Presentation</vt:lpstr>
      <vt:lpstr>Normalisation</vt:lpstr>
      <vt:lpstr>Normalisation</vt:lpstr>
      <vt:lpstr>First Normal Form</vt:lpstr>
      <vt:lpstr>First Normal Form</vt:lpstr>
      <vt:lpstr>First Normal Form</vt:lpstr>
      <vt:lpstr>First Normal Form</vt:lpstr>
      <vt:lpstr>First Normal Form</vt:lpstr>
      <vt:lpstr>Second Normal Form</vt:lpstr>
      <vt:lpstr>Second Normal Form</vt:lpstr>
      <vt:lpstr>Second Normal Form</vt:lpstr>
      <vt:lpstr>Second Normal Form</vt:lpstr>
      <vt:lpstr>Second Normal Form</vt:lpstr>
      <vt:lpstr>Second Normal Form</vt:lpstr>
      <vt:lpstr>Second Normal Form</vt:lpstr>
      <vt:lpstr>Second Normal Form</vt:lpstr>
      <vt:lpstr>Second Normal Form</vt:lpstr>
      <vt:lpstr>PowerPoint Presentation</vt:lpstr>
      <vt:lpstr>PowerPoint Presentation</vt:lpstr>
      <vt:lpstr>Third Normal Form</vt:lpstr>
      <vt:lpstr>Third Normal Form</vt:lpstr>
      <vt:lpstr>Third Normal Form</vt:lpstr>
      <vt:lpstr>Third Normal Form</vt:lpstr>
      <vt:lpstr>Third Normal Form</vt:lpstr>
      <vt:lpstr>Third Normal Form</vt:lpstr>
      <vt:lpstr>Denormalisation</vt:lpstr>
      <vt:lpstr>Denormalisation</vt:lpstr>
      <vt:lpstr>Denormalisation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Privacy</vt:lpstr>
      <vt:lpstr>Principle of data privacy</vt:lpstr>
      <vt:lpstr>Access right</vt:lpstr>
      <vt:lpstr>Access right</vt:lpstr>
      <vt:lpstr>View</vt:lpstr>
      <vt:lpstr>View</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Database Design and ER Diagram</dc:title>
  <dc:creator>iClass</dc:creator>
  <cp:lastModifiedBy>iClass</cp:lastModifiedBy>
  <cp:revision>48</cp:revision>
  <dcterms:created xsi:type="dcterms:W3CDTF">2023-05-11T08:38:12Z</dcterms:created>
  <dcterms:modified xsi:type="dcterms:W3CDTF">2023-05-18T01:53:29Z</dcterms:modified>
</cp:coreProperties>
</file>