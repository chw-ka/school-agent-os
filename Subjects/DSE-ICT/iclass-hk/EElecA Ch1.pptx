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309" r:id="rId2"/>
    <p:sldId id="311" r:id="rId3"/>
    <p:sldId id="316" r:id="rId4"/>
    <p:sldId id="359" r:id="rId5"/>
    <p:sldId id="312" r:id="rId6"/>
    <p:sldId id="390" r:id="rId7"/>
    <p:sldId id="392" r:id="rId8"/>
    <p:sldId id="313" r:id="rId9"/>
    <p:sldId id="314" r:id="rId10"/>
    <p:sldId id="315" r:id="rId11"/>
    <p:sldId id="409" r:id="rId12"/>
    <p:sldId id="360" r:id="rId13"/>
    <p:sldId id="317" r:id="rId14"/>
    <p:sldId id="318" r:id="rId15"/>
    <p:sldId id="361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62" r:id="rId24"/>
    <p:sldId id="326" r:id="rId25"/>
    <p:sldId id="396" r:id="rId26"/>
    <p:sldId id="327" r:id="rId27"/>
    <p:sldId id="328" r:id="rId28"/>
    <p:sldId id="329" r:id="rId29"/>
    <p:sldId id="363" r:id="rId30"/>
    <p:sldId id="364" r:id="rId31"/>
    <p:sldId id="365" r:id="rId32"/>
    <p:sldId id="366" r:id="rId33"/>
    <p:sldId id="330" r:id="rId34"/>
    <p:sldId id="367" r:id="rId35"/>
    <p:sldId id="331" r:id="rId36"/>
    <p:sldId id="332" r:id="rId37"/>
    <p:sldId id="368" r:id="rId38"/>
    <p:sldId id="333" r:id="rId39"/>
    <p:sldId id="334" r:id="rId40"/>
    <p:sldId id="397" r:id="rId41"/>
    <p:sldId id="399" r:id="rId42"/>
    <p:sldId id="335" r:id="rId43"/>
    <p:sldId id="336" r:id="rId44"/>
    <p:sldId id="337" r:id="rId45"/>
    <p:sldId id="369" r:id="rId46"/>
    <p:sldId id="370" r:id="rId47"/>
    <p:sldId id="338" r:id="rId48"/>
    <p:sldId id="371" r:id="rId49"/>
    <p:sldId id="339" r:id="rId50"/>
    <p:sldId id="340" r:id="rId51"/>
    <p:sldId id="341" r:id="rId52"/>
    <p:sldId id="398" r:id="rId53"/>
    <p:sldId id="400" r:id="rId54"/>
    <p:sldId id="401" r:id="rId55"/>
    <p:sldId id="342" r:id="rId56"/>
    <p:sldId id="343" r:id="rId57"/>
    <p:sldId id="344" r:id="rId58"/>
    <p:sldId id="346" r:id="rId59"/>
    <p:sldId id="393" r:id="rId60"/>
    <p:sldId id="395" r:id="rId61"/>
    <p:sldId id="345" r:id="rId62"/>
    <p:sldId id="372" r:id="rId63"/>
    <p:sldId id="373" r:id="rId64"/>
    <p:sldId id="374" r:id="rId65"/>
    <p:sldId id="375" r:id="rId66"/>
    <p:sldId id="376" r:id="rId67"/>
    <p:sldId id="347" r:id="rId68"/>
    <p:sldId id="377" r:id="rId69"/>
    <p:sldId id="378" r:id="rId70"/>
    <p:sldId id="379" r:id="rId71"/>
    <p:sldId id="380" r:id="rId72"/>
    <p:sldId id="381" r:id="rId73"/>
    <p:sldId id="382" r:id="rId74"/>
    <p:sldId id="348" r:id="rId75"/>
    <p:sldId id="349" r:id="rId76"/>
    <p:sldId id="402" r:id="rId77"/>
    <p:sldId id="403" r:id="rId78"/>
    <p:sldId id="404" r:id="rId79"/>
    <p:sldId id="350" r:id="rId80"/>
    <p:sldId id="351" r:id="rId81"/>
    <p:sldId id="352" r:id="rId82"/>
    <p:sldId id="353" r:id="rId83"/>
    <p:sldId id="383" r:id="rId84"/>
    <p:sldId id="354" r:id="rId85"/>
    <p:sldId id="384" r:id="rId86"/>
    <p:sldId id="355" r:id="rId87"/>
    <p:sldId id="356" r:id="rId88"/>
    <p:sldId id="385" r:id="rId89"/>
    <p:sldId id="386" r:id="rId90"/>
    <p:sldId id="387" r:id="rId91"/>
    <p:sldId id="388" r:id="rId92"/>
    <p:sldId id="389" r:id="rId93"/>
    <p:sldId id="357" r:id="rId94"/>
    <p:sldId id="405" r:id="rId95"/>
    <p:sldId id="406" r:id="rId96"/>
    <p:sldId id="407" r:id="rId97"/>
    <p:sldId id="358" r:id="rId98"/>
  </p:sldIdLst>
  <p:sldSz cx="12192000" cy="6858000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4B9E"/>
    <a:srgbClr val="DA4170"/>
    <a:srgbClr val="309ED1"/>
    <a:srgbClr val="7AA632"/>
    <a:srgbClr val="ADC8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5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6615-1BF4-13FA-B219-1C5DDA4AE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Chapter 1</a:t>
            </a:r>
            <a:br>
              <a:rPr lang="en-HK" dirty="0"/>
            </a:br>
            <a:r>
              <a:rPr lang="en-HK" dirty="0"/>
              <a:t>Managing Data Using SQL</a:t>
            </a:r>
          </a:p>
        </p:txBody>
      </p:sp>
    </p:spTree>
    <p:extLst>
      <p:ext uri="{BB962C8B-B14F-4D97-AF65-F5344CB8AC3E}">
        <p14:creationId xmlns:p14="http://schemas.microsoft.com/office/powerpoint/2010/main" val="3566833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DD5E-A121-336B-7E59-EF671743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Database and SQL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23249-DD46-A568-8930-58D368AB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BD7FB-F599-84AF-CB95-6102D25781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/>
              <a:t>1.1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481012-C554-73CF-39DD-CA511B72D21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Database is a collection of structured data in a computer system that facilitates the storage and retrieval of data. </a:t>
            </a:r>
          </a:p>
          <a:p>
            <a:endParaRPr lang="en-GB" dirty="0"/>
          </a:p>
          <a:p>
            <a:r>
              <a:rPr lang="en-GB" dirty="0"/>
              <a:t>It is designed in a manner that allows us to store a large amount of data efficiently.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156D4C-ED58-64BE-1C17-39B4F3FE1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653" y="3639552"/>
            <a:ext cx="3856693" cy="257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46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DD5E-A121-336B-7E59-EF671743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What is a database?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23249-DD46-A568-8930-58D368AB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BD7FB-F599-84AF-CB95-6102D25781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481012-C554-73CF-39DD-CA511B72D21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Database management includes the following three tasks: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Retrieval of information from a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Modification, deletion and insertion of data in a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Modification on database structure so as to meet the changing needs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87259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DD5E-A121-336B-7E59-EF671743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What is a database?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23249-DD46-A568-8930-58D368AB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BD7FB-F599-84AF-CB95-6102D25781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481012-C554-73CF-39DD-CA511B72D21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following are some examples of the application of databases in our daily life.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5D54E-226E-F715-890C-558F7CD0C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76" y="2659287"/>
            <a:ext cx="8228447" cy="259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0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F7A9A5-E692-0A86-5AE0-137FCBAA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Activity 1.1 on P. 5 of your textbook.</a:t>
            </a:r>
            <a:endParaRPr lang="en-GB" dirty="0"/>
          </a:p>
          <a:p>
            <a:r>
              <a:rPr lang="en-GB" dirty="0"/>
              <a:t>When borrowing books from the library, have you ever seen a card under the cover of the borrowed book?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F6833-9371-573F-0BA2-7322642C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3B1A4-C343-1AD4-CD26-507B1123DF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1.1</a:t>
            </a:r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00C43-994E-AB8B-2166-A875DC5C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027" y="2911005"/>
            <a:ext cx="7348154" cy="339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5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F6833-9371-573F-0BA2-7322642C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3B1A4-C343-1AD4-CD26-507B1123DF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1.1</a:t>
            </a:r>
            <a:endParaRPr lang="en-H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C7EFAE-5A30-CDD8-78C4-066320FB6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 </a:t>
            </a:r>
          </a:p>
        </p:txBody>
      </p:sp>
      <p:graphicFrame>
        <p:nvGraphicFramePr>
          <p:cNvPr id="8" name="Google Shape;127;p20">
            <a:extLst>
              <a:ext uri="{FF2B5EF4-FFF2-40B4-BE49-F238E27FC236}">
                <a16:creationId xmlns:a16="http://schemas.microsoft.com/office/drawing/2014/main" id="{379BFEF6-703D-B90E-1B16-FA6C241B2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4552841"/>
              </p:ext>
            </p:extLst>
          </p:nvPr>
        </p:nvGraphicFramePr>
        <p:xfrm>
          <a:off x="2037272" y="2236086"/>
          <a:ext cx="8117456" cy="20299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58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8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0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Traditional method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Online library management system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8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0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67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F6833-9371-573F-0BA2-7322642C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3B1A4-C343-1AD4-CD26-507B1123DF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1.1</a:t>
            </a:r>
            <a:endParaRPr lang="en-H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C7EFAE-5A30-CDD8-78C4-066320FB6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 </a:t>
            </a:r>
          </a:p>
        </p:txBody>
      </p:sp>
      <p:graphicFrame>
        <p:nvGraphicFramePr>
          <p:cNvPr id="8" name="Google Shape;127;p20">
            <a:extLst>
              <a:ext uri="{FF2B5EF4-FFF2-40B4-BE49-F238E27FC236}">
                <a16:creationId xmlns:a16="http://schemas.microsoft.com/office/drawing/2014/main" id="{379BFEF6-703D-B90E-1B16-FA6C241B2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3667684"/>
              </p:ext>
            </p:extLst>
          </p:nvPr>
        </p:nvGraphicFramePr>
        <p:xfrm>
          <a:off x="2037272" y="2236086"/>
          <a:ext cx="8117456" cy="22336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58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8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0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Traditional method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Online library management system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8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Data is recorded on the checkout cards and log books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Data is stored in the online system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0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Data must be searched manually from a physical copy of checkout cards or log books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Data can be searched by the system in a relatively short time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63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048E-6308-2D21-5DD9-F6CF92A3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Database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E013F-837F-BAED-E5A7-B8B86860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CD370-ED95-142E-B951-72171930CB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7ECC49-CE66-5779-CAD9-3FC37A4696E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 database organises data as fields, record and tables.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AA632"/>
                </a:solidFill>
              </a:rPr>
              <a:t>Field</a:t>
            </a:r>
            <a:r>
              <a:rPr lang="en-GB" dirty="0"/>
              <a:t>: A single piece of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DA4170"/>
                </a:solidFill>
              </a:rPr>
              <a:t>Record</a:t>
            </a:r>
            <a:r>
              <a:rPr lang="en-GB" dirty="0"/>
              <a:t>: One complete set of fields.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09ED1"/>
                </a:solidFill>
              </a:rPr>
              <a:t>Table</a:t>
            </a:r>
            <a:r>
              <a:rPr lang="en-GB" dirty="0"/>
              <a:t>: A collection of records.</a:t>
            </a:r>
            <a:endParaRPr lang="en-HK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300" y="2845571"/>
            <a:ext cx="5393268" cy="145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2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E5AAD4-97CD-4439-19AE-0806AAAAD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Activity 1.2 on P. 6 of your textbook.</a:t>
            </a: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DVD ID; DVD name, DVD price, age restriction of DVD, etc.</a:t>
            </a:r>
          </a:p>
          <a:p>
            <a:pPr marL="457200" indent="-457200">
              <a:buAutoNum type="arabicPeriod"/>
            </a:pPr>
            <a:endParaRPr lang="en-GB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Member ID, member name, member contact, member age, etc.</a:t>
            </a:r>
          </a:p>
          <a:p>
            <a:pPr marL="457200" indent="-457200">
              <a:buAutoNum type="arabicPeriod"/>
            </a:pPr>
            <a:endParaRPr lang="en-GB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GB" dirty="0">
                <a:solidFill>
                  <a:srgbClr val="FF0000"/>
                </a:solidFill>
              </a:rPr>
              <a:t>Member ID, DVD ID, rent date, due date, payable amount, etc.</a:t>
            </a:r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2D376-D44B-8839-29FD-CA571389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75740-7969-8CF2-74C6-8533DC161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1.2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801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3EC5-65B4-4EC6-1807-72525DE6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Database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8871F0-1E94-A8C3-EEF0-CB4AF63E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2E4F8-39E1-A519-0C69-C8F02DC7BB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D86196-EBE4-507E-85F1-01751EDFDF2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 poor database design may lead to problems such as: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Causing data to be inaccurate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Degraded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Loss of flexibility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9351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Structure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often use a </a:t>
            </a:r>
            <a:r>
              <a:rPr lang="en-US" b="1" dirty="0">
                <a:solidFill>
                  <a:srgbClr val="504B9E"/>
                </a:solidFill>
              </a:rPr>
              <a:t>database management system</a:t>
            </a:r>
            <a:r>
              <a:rPr lang="en-US" dirty="0"/>
              <a:t> (DBMS) to help us manage databases. </a:t>
            </a:r>
          </a:p>
          <a:p>
            <a:endParaRPr lang="en-US" dirty="0"/>
          </a:p>
          <a:p>
            <a:r>
              <a:rPr lang="en-US" dirty="0"/>
              <a:t>For example, Microsoft Access is a DBMS with a graphical user interface (GUI), while MySQL is a DBMS which allows us to manage databases without a GUI.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615" y="3723018"/>
            <a:ext cx="7428724" cy="256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4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3EC5-65B4-4EC6-1807-72525DE6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SQL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8871F0-1E94-A8C3-EEF0-CB4AF63E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2E4F8-39E1-A519-0C69-C8F02DC7BB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D86196-EBE4-507E-85F1-01751EDFDF2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use queries to filter, sort, summarise, update or delete data in a DBMS. These queries are written in </a:t>
            </a:r>
            <a:r>
              <a:rPr lang="en-GB" b="1" dirty="0">
                <a:solidFill>
                  <a:srgbClr val="504B9E"/>
                </a:solidFill>
              </a:rPr>
              <a:t>Structured Query Language</a:t>
            </a:r>
            <a:r>
              <a:rPr lang="en-GB" dirty="0"/>
              <a:t> (SQL).</a:t>
            </a:r>
          </a:p>
          <a:p>
            <a:endParaRPr lang="en-GB" dirty="0"/>
          </a:p>
          <a:p>
            <a:r>
              <a:rPr lang="en-GB" dirty="0"/>
              <a:t>Here is a quick summary of common SQL keywords which we have learnt in the Compulsory Part. </a:t>
            </a:r>
            <a:endParaRPr lang="en-HK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F515A10-65E1-9DF2-7C8C-B25600867121}"/>
              </a:ext>
            </a:extLst>
          </p:cNvPr>
          <p:cNvGraphicFramePr>
            <a:graphicFrameLocks noGrp="1"/>
          </p:cNvGraphicFramePr>
          <p:nvPr/>
        </p:nvGraphicFramePr>
        <p:xfrm>
          <a:off x="3213819" y="4049462"/>
          <a:ext cx="5291826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5913">
                  <a:extLst>
                    <a:ext uri="{9D8B030D-6E8A-4147-A177-3AD203B41FA5}">
                      <a16:colId xmlns:a16="http://schemas.microsoft.com/office/drawing/2014/main" val="3895184231"/>
                    </a:ext>
                  </a:extLst>
                </a:gridCol>
                <a:gridCol w="2645913">
                  <a:extLst>
                    <a:ext uri="{9D8B030D-6E8A-4147-A177-3AD203B41FA5}">
                      <a16:colId xmlns:a16="http://schemas.microsoft.com/office/drawing/2014/main" val="2650987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b="1" dirty="0">
                          <a:solidFill>
                            <a:schemeClr val="bg1"/>
                          </a:solidFill>
                          <a:latin typeface="Myriad Pro" panose="020B0503030403020204"/>
                        </a:rPr>
                        <a:t>Function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>
                          <a:solidFill>
                            <a:schemeClr val="bg1"/>
                          </a:solidFill>
                          <a:latin typeface="Myriad Pro" panose="020B0503030403020204"/>
                        </a:rPr>
                        <a:t>Keywords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8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0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  <a:latin typeface="Myriad Pro" panose="020B0503030403020204"/>
                        </a:rPr>
                        <a:t>Retrieval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 FROM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46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  <a:latin typeface="Myriad Pro" panose="020B0503030403020204"/>
                        </a:rPr>
                        <a:t>Summarisation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GROUP BY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718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  <a:latin typeface="Myriad Pro" panose="020B0503030403020204"/>
                        </a:rPr>
                        <a:t>Filtering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WHERE/HAVING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308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HK" dirty="0">
                          <a:solidFill>
                            <a:schemeClr val="tx1"/>
                          </a:solidFill>
                          <a:latin typeface="Myriad Pro" panose="020B0503030403020204"/>
                        </a:rPr>
                        <a:t>Sorting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 BY</a:t>
                      </a:r>
                    </a:p>
                  </a:txBody>
                  <a:tcPr>
                    <a:lnL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8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9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425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6F8A-9ECF-C5A1-A66A-58CA63BC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Creating Databases and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0125D-0010-A83C-82D8-38C219EA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AF3C0-6E10-66BB-9B14-D3D6FCCCDF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1.2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2D5BE8-BB05-6C4B-A2F8-D99D5F3A1B6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In this section, we are going to create a database including a table filled with data using SQL statements in a DBMS named MySQL.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23431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CFA6-BA6A-75B1-C859-2EAA0CE9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SHOW DATABASES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9077-F923-C705-B7EB-573A0833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6ABE4-F07E-C0A0-D4DB-4BC905FABE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0A771-5B3A-DEE1-682F-12F82A3D111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HK" dirty="0"/>
              <a:t>In a DBMS, there can be multiple databases.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BAA58-AFE4-3F41-4B76-4352F76FC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921" y="2591133"/>
            <a:ext cx="9194219" cy="330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79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6157-28FB-6FC9-D04F-972D1769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SHOW DATABASES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3D1E6-01FE-5E6A-0230-734A3DB4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2D64B-B19F-F6A1-ED9A-D18F79A51C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/>
              <a:t>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D6B30D-7829-C1B7-AA5C-B3A9EA112A3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Command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SHOW DATABASES</a:t>
            </a:r>
            <a:r>
              <a:rPr lang="en-GB" dirty="0"/>
              <a:t> gets a list of the databases in MySQL.</a:t>
            </a:r>
            <a:endParaRPr lang="en-H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511AE-350F-366F-1968-A9198ED2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237" y="2869200"/>
            <a:ext cx="2343472" cy="266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88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19F2-1F3F-6C74-1ED3-717DC020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CREATE DATABASE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F04DC3-0A1B-9D9A-D8CA-A666D049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6C205-0CA4-17A1-F342-14222CEAC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699749-3932-806E-085F-C91E47F15D4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If we do not want to use any existing databases, we may create a new database.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A15E9-F93C-8778-FC69-62A2AF23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069" y="2501660"/>
            <a:ext cx="4905573" cy="335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77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0A54A-47FC-F43A-1971-7BCDCDB8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BDDB89-C2AA-ECE3-591A-0083FC07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F02FE-4AE6-8DD4-E7AB-35A02E8F37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9C4CE8-DB5B-0575-CDC6-824B2758A69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Whenever we start MySQL, we must specifies which database to use before manipulating any data from tables.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914C56-8B9C-A9AF-BCC2-8E2886B2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468" y="3073120"/>
            <a:ext cx="2157762" cy="114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63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2347-2215-51DA-3C88-94D6A962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CREATE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5E572-D70B-2AD2-7555-6EB2B621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766C5-4A90-644D-AA70-6F71D5829B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2FDDEA-5482-ADBD-0F36-8EB69D311F1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To store data, we should create a table inside the newly created database first. </a:t>
            </a:r>
          </a:p>
          <a:p>
            <a:r>
              <a:rPr lang="en-GB" dirty="0"/>
              <a:t>The SQL statement below creates a table named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 with four fields: </a:t>
            </a:r>
          </a:p>
          <a:p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GB" dirty="0"/>
              <a:t> (student identity number), </a:t>
            </a:r>
          </a:p>
          <a:p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dirty="0"/>
              <a:t> (student name), </a:t>
            </a:r>
          </a:p>
          <a:p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dirty="0"/>
              <a:t> (class name) and </a:t>
            </a:r>
          </a:p>
          <a:p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GB" dirty="0"/>
              <a:t> (class number).</a:t>
            </a:r>
            <a:endParaRPr lang="en-H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5E2D96-856B-E2C9-ADEA-F489CF8A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621" y="4442607"/>
            <a:ext cx="7998758" cy="191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3C8AA-6959-138F-0BBF-4868A941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SHOW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5B51AB-A090-8294-58BA-BE062772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A55F4-5E94-6BCD-1637-D81FF8B4AA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B3FECB-FE16-B2EC-FDD2-91C10604BD4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Command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SHOW TABLES</a:t>
            </a:r>
            <a:r>
              <a:rPr lang="en-GB" dirty="0"/>
              <a:t> gets a list of the tables in the current database.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A17BCC-C00C-7DBB-8421-068D7FF4B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814" y="2725021"/>
            <a:ext cx="1762371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39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283CA5-5FF3-3B6D-625C-A518497C7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Lab 1.1 on P. 11 of your textbook.</a:t>
            </a:r>
            <a:endParaRPr lang="en-US" dirty="0"/>
          </a:p>
          <a:p>
            <a:endParaRPr lang="en-HK" dirty="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</a:rPr>
              <a:t>No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</a:rPr>
              <a:t>Yes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</a:rPr>
              <a:t>Yes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37073-8650-76CD-8878-B4671C29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3BEA0-79D7-6C53-9E1E-D8E22D879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1.1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22271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F7139F-8F16-8ED5-BE02-D7056CB8A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Activity 1.3 on P. 12 of your textbook.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3F8D82-A211-B242-0A5C-88D47B91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C1587-0B3F-36D9-CA39-DA94406DB7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1.3</a:t>
            </a:r>
            <a:endParaRPr lang="en-HK" dirty="0"/>
          </a:p>
        </p:txBody>
      </p:sp>
      <p:graphicFrame>
        <p:nvGraphicFramePr>
          <p:cNvPr id="5" name="Google Shape;127;p20">
            <a:extLst>
              <a:ext uri="{FF2B5EF4-FFF2-40B4-BE49-F238E27FC236}">
                <a16:creationId xmlns:a16="http://schemas.microsoft.com/office/drawing/2014/main" id="{C14E1C44-D4AE-3909-8E4B-BB5C9E7D45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384052"/>
              </p:ext>
            </p:extLst>
          </p:nvPr>
        </p:nvGraphicFramePr>
        <p:xfrm>
          <a:off x="1353586" y="2032085"/>
          <a:ext cx="9519463" cy="8333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6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dirty="0">
                          <a:solidFill>
                            <a:schemeClr val="lt1"/>
                          </a:solidFill>
                        </a:rPr>
                        <a:t>A</a:t>
                      </a: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DATABASE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654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show database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127;p20">
            <a:extLst>
              <a:ext uri="{FF2B5EF4-FFF2-40B4-BE49-F238E27FC236}">
                <a16:creationId xmlns:a16="http://schemas.microsoft.com/office/drawing/2014/main" id="{83D27F46-93B2-93E1-2579-8191C30080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06809"/>
              </p:ext>
            </p:extLst>
          </p:nvPr>
        </p:nvGraphicFramePr>
        <p:xfrm>
          <a:off x="1353586" y="3100850"/>
          <a:ext cx="9519463" cy="8333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6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dirty="0">
                          <a:solidFill>
                            <a:schemeClr val="lt1"/>
                          </a:solidFill>
                        </a:rPr>
                        <a:t>A</a:t>
                      </a: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 DATABASE CITY CENTRE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654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 DATABASE TOWNCENTRE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oogle Shape;127;p20">
            <a:extLst>
              <a:ext uri="{FF2B5EF4-FFF2-40B4-BE49-F238E27FC236}">
                <a16:creationId xmlns:a16="http://schemas.microsoft.com/office/drawing/2014/main" id="{9E485719-4E48-AD28-3B3A-C775BFE9C9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606304"/>
              </p:ext>
            </p:extLst>
          </p:nvPr>
        </p:nvGraphicFramePr>
        <p:xfrm>
          <a:off x="1353588" y="4247101"/>
          <a:ext cx="9519462" cy="8333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6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dirty="0">
                          <a:solidFill>
                            <a:schemeClr val="lt1"/>
                          </a:solidFill>
                        </a:rPr>
                        <a:t>A</a:t>
                      </a: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 table shop (id, name, location)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654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 table shop (id int, name char(30))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oogle Shape;127;p20">
            <a:extLst>
              <a:ext uri="{FF2B5EF4-FFF2-40B4-BE49-F238E27FC236}">
                <a16:creationId xmlns:a16="http://schemas.microsoft.com/office/drawing/2014/main" id="{5E0B9949-1CD8-9382-7049-EB33D7142E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255102"/>
              </p:ext>
            </p:extLst>
          </p:nvPr>
        </p:nvGraphicFramePr>
        <p:xfrm>
          <a:off x="1353589" y="5470292"/>
          <a:ext cx="9519460" cy="8333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dirty="0">
                          <a:solidFill>
                            <a:schemeClr val="lt1"/>
                          </a:solidFill>
                        </a:rPr>
                        <a:t>A</a:t>
                      </a: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CREATE TABLE HOTEL (hid INT,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hname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CHAR(40), address CHAR(40))</a:t>
                      </a:r>
                      <a:endParaRPr sz="16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lt1"/>
                        </a:solidFill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654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 TABLE HOTEL (HID INT, HNAME CHAR(40), HADDRESS CHAR(40)</a:t>
                      </a:r>
                      <a:endParaRPr sz="16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83323" marR="83323" marT="83323" marB="83323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C8E04C1-815C-2723-F6A2-61C2F7DF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89" y="2493818"/>
            <a:ext cx="368365" cy="364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8E04C1-815C-2723-F6A2-61C2F7DF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87" y="3544507"/>
            <a:ext cx="368365" cy="3640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8E04C1-815C-2723-F6A2-61C2F7DF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88" y="4677384"/>
            <a:ext cx="368365" cy="3640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8E04C1-815C-2723-F6A2-61C2F7DF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89" y="5489432"/>
            <a:ext cx="368365" cy="36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6E8B-2099-CC22-02B9-662934DD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DC45A-4F1A-C343-AF65-7A2ADE3B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701A4-09A8-8134-C261-707C1CF06C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1.3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0F2846-F98D-9061-3E88-02E1CCB2925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When creating a table, we have to define the data type of each field in the table.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15EEC-0033-659A-0DD2-BD27998F6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46" y="2540496"/>
            <a:ext cx="4247272" cy="338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16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6E8B-2099-CC22-02B9-662934DD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Data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DC45A-4F1A-C343-AF65-7A2ADE3B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701A4-09A8-8134-C261-707C1CF06C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1.3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0F2846-F98D-9061-3E88-02E1CCB2925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HK" dirty="0"/>
              <a:t>List of common data types in DBMS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458C44-3E79-A085-0C10-886E1A071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279" y="2149441"/>
            <a:ext cx="9549441" cy="402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20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B15B18-1916-8C5F-DC54-001EFBE0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 teacher wants to create a table named EVENT to store the data of school events.</a:t>
            </a:r>
          </a:p>
          <a:p>
            <a:r>
              <a:rPr lang="en-GB" dirty="0"/>
              <a:t>Here is the table structure of EVENT.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data to be stored in the mentioned table is shown below.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Write a SQL statement to create the mentioned table. Choose data types that will mostly likely minimise the storage size of the table. 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E183C-4A60-A7E1-9FE7-1CCA8F98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D08C3-AF14-A356-E0BE-37F29E237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1.1</a:t>
            </a:r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D23D4-F4C5-7DF6-3444-DC6DB8B1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4" y="2154891"/>
            <a:ext cx="6316228" cy="1580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3DF7AB-3421-2C71-5697-F5D8394BB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44" y="4294787"/>
            <a:ext cx="5631611" cy="119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43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B721E9-F77E-F2AD-E814-DFB90D215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>
                <a:solidFill>
                  <a:srgbClr val="37A3D4"/>
                </a:solidFill>
              </a:rPr>
              <a:t>◣ Solution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EVENT (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EID INT,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ENAME VARCHAR(255),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EDATE DATE,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FEE FLOAT,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FINISHED BOOL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 can be written as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 can be written as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ENAME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 can be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CHAR(255)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FEE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 can be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en-GB" dirty="0">
                <a:latin typeface="Myriad Pro" panose="020B0503030403020204"/>
                <a:cs typeface="Courier New" panose="02070309020205020404" pitchFamily="49" charset="0"/>
              </a:rPr>
              <a:t>.</a:t>
            </a:r>
            <a:endParaRPr lang="en-HK" b="1" dirty="0">
              <a:solidFill>
                <a:srgbClr val="37A3D4"/>
              </a:solidFill>
              <a:latin typeface="Myriad Pro" panose="020B0503030403020204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A3C65-539A-76DB-3730-C659FCE9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EE141-34DC-8A5B-24DB-C0A262AD98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2025504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4A201E-E7DD-31E9-CEBD-8F79F2CF0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Checkpoint 1.1 on P. 16 of your textbook.</a:t>
            </a:r>
            <a:endParaRPr lang="en-US" dirty="0"/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rabicPeriod"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NOTICE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NID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INT,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INT,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CONTENT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VARCHAR(255)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EXPIRY DATETIME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MEMBER (MID CHAR(5), MNAME VARCHAR(40), VIP BOOL, AGE INT, CREDIT FLOAT) </a:t>
            </a:r>
          </a:p>
          <a:p>
            <a:pPr marL="457200" indent="-457200">
              <a:buAutoNum type="arabicPeriod"/>
            </a:pP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309C09-4027-17BC-1BCB-57909460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E19DE-61A0-4348-4823-577D440B9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1.1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43920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5D2C-F618-EEB1-5F00-8A51B5EA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Inserting and Retrieving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E1EA5-5D69-9049-88DE-85881D77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46B0F-9764-1BFB-6806-A5AD4CC329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89DC7B-2B58-CAEF-2C29-FDC2078FEC2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In this section, we are going to store data in and retrieve data from a table.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98363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FE87-3043-972A-C1A6-C7D8EFA5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INSERT INTO ...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118C01-4072-F411-114C-24801517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3639B-3A74-7556-B961-7C9739CBA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42793-3DCC-FB0B-F4D2-2C46AC56CBB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inserts a record of a student into the table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B067B-0004-FECC-91DF-FD3AFE14A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66" y="2676702"/>
            <a:ext cx="9678838" cy="20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19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FE87-3043-972A-C1A6-C7D8EFA5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INSERT INTO ...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118C01-4072-F411-114C-24801517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3639B-3A74-7556-B961-7C9739CBA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42793-3DCC-FB0B-F4D2-2C46AC56CBB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If you arrange the values in the same order as the fields in the table, you do not have to specify the fields.</a:t>
            </a:r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53CE8-E4DA-CDB0-4E43-B582DC9CC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2724323"/>
            <a:ext cx="7935432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06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BFE87-3043-972A-C1A6-C7D8EFA5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INSERT INTO ...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118C01-4072-F411-114C-24801517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3639B-3A74-7556-B961-7C9739CBA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42793-3DCC-FB0B-F4D2-2C46AC56CBB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However, if you specify the fields, you can arrange the values in any order.</a:t>
            </a:r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0584FF-C9F9-D0F9-0560-609B5938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00" y="2404795"/>
            <a:ext cx="9435000" cy="265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03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EE6B-9608-8B8A-077B-6C272BB8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INSERT INTO ...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2E213F-950D-4D3F-328E-A71D2B73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149F9-B054-F39D-2E72-B15B05E032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/>
              <a:t>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6D62A8-C89A-4519-7D6D-63D8C74FAD5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leave a field empty during insertion. In such a case, this field will have a NULL value, i.e. a lack of value.</a:t>
            </a:r>
            <a:endParaRPr lang="en-H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59243E-AF66-6102-4C57-2EE42BE0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00" y="2673760"/>
            <a:ext cx="9435000" cy="855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43CA9D-628A-24C4-6FD9-A4F946C3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071" y="3949200"/>
            <a:ext cx="8717857" cy="206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43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EE6B-9608-8B8A-077B-6C272BB8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INSERT INTO ...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2E213F-950D-4D3F-328E-A71D2B734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149F9-B054-F39D-2E72-B15B05E032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/>
              <a:t>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6D62A8-C89A-4519-7D6D-63D8C74FAD5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insert more than one record at a time. Use comma to separate the records.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D59E4-26E6-A4A1-71EF-8B0A7F99D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485" y="2375321"/>
            <a:ext cx="7091029" cy="391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94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B7C6-FB15-B66F-5D83-CABC2612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SELECT … FROM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E44CC-1F05-D433-DDFA-889C2810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01462-04A9-C2F4-91F2-EE15B6616C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AC2467-849C-881E-2B53-C525C2FC76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After insertion, we may retrieve the data from specific fields of a table 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FROM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 SQL statement below retrieves the data from the fields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dirty="0"/>
              <a:t> from the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43B627-4726-3501-D348-D485AFBDD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9" y="4244197"/>
            <a:ext cx="4653679" cy="1004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78606D-7B9D-4F72-1160-7195F597C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278" y="3258170"/>
            <a:ext cx="6577558" cy="297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85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FAF1-2389-1E20-77EB-A0BF8188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SELECT … FROM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C7C0C-48B6-C5E5-664F-5D49137E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9F385-9424-0AE1-25EF-15BC418AAE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HK" dirty="0"/>
              <a:t>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1B8298-9BEC-929B-E848-9C54C9995C5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also retrieve the data from all fields of a table using a wildcard *.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9849F-708C-1B49-A53D-8E91C5F6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834" y="2375975"/>
            <a:ext cx="7785917" cy="38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17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B7C6-FB15-B66F-5D83-CABC2612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E44CC-1F05-D433-DDFA-889C2810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01462-04A9-C2F4-91F2-EE15B6616C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AC2467-849C-881E-2B53-C525C2FC767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When retrieving data, we may set criteria to filter records. The SQL statement below retrieves the data of students in class </a:t>
            </a:r>
            <a:r>
              <a:rPr lang="en-GB" dirty="0">
                <a:solidFill>
                  <a:srgbClr val="94B75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1B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232EF-EE64-CB54-B2A8-89193AA11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587" y="2668820"/>
            <a:ext cx="6515148" cy="897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9910A2-2CE4-EFC5-53D2-D9F5A70DB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058" y="3566740"/>
            <a:ext cx="5730842" cy="27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40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34FF-C01D-8CEB-BC93-2163C3E3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ORDER BY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F8B90B-90CE-7E60-AF82-98F8C751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A38A3-D548-E4D3-53B7-71A8A523FE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D46D1-4BFF-2F2D-1FF9-D837EFE64AB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When retrieving data, we may also set criteria to sort records. The SQL statement below retrieves the data of students in class </a:t>
            </a:r>
            <a:r>
              <a:rPr lang="en-GB" dirty="0">
                <a:solidFill>
                  <a:srgbClr val="94B75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1B</a:t>
            </a:r>
            <a:r>
              <a:rPr lang="en-GB" dirty="0"/>
              <a:t>. The data is sorted by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GB" dirty="0"/>
              <a:t> in ascending order.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05A804-294C-76D4-BA68-B185EDCF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737" y="2666125"/>
            <a:ext cx="6950524" cy="673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2E567F-516E-9492-29EA-36BF95764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291" y="3543546"/>
            <a:ext cx="7195417" cy="284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270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34FF-C01D-8CEB-BC93-2163C3E3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ORDER BY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F8B90B-90CE-7E60-AF82-98F8C751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A38A3-D548-E4D3-53B7-71A8A523FE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8D46D1-4BFF-2F2D-1FF9-D837EFE64AB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Data can be sorted in either ascending order (</a:t>
            </a:r>
            <a:r>
              <a:rPr lang="en-GB" dirty="0">
                <a:solidFill>
                  <a:srgbClr val="6D67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GB" dirty="0"/>
              <a:t>) or descending order (</a:t>
            </a:r>
            <a:r>
              <a:rPr lang="en-GB" dirty="0">
                <a:solidFill>
                  <a:srgbClr val="6D67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GB" dirty="0"/>
              <a:t>).</a:t>
            </a:r>
            <a:endParaRPr lang="en-H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F5E7F8-70F7-34E6-5F27-638E8AC4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199" y="2090955"/>
            <a:ext cx="7719793" cy="1286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43546A-8D32-292E-D27D-DD1E756B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744" y="3658211"/>
            <a:ext cx="7154062" cy="280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23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5870-1D7D-DB56-8370-BF87AC52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DISTINCT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61ECC-1E9E-3E24-15C3-0E822FB7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C5EAF-5916-DD64-886F-91B9C73169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189636-B255-917A-4702-8F7FCAB3123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filtered duplicated results by using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D3CC8-B289-3CA9-5E80-25603C40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70" y="2213357"/>
            <a:ext cx="7865860" cy="410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79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CCBCDE-24DB-5986-7D86-90851FBAF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GB" dirty="0"/>
              <a:t>A teacher created a table named EVENT to store the data of school events. Here is the table structure of EVENT.</a:t>
            </a:r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pPr marL="457200" indent="-457200">
              <a:buAutoNum type="arabicPeriod"/>
            </a:pPr>
            <a:endParaRPr lang="en-GB" dirty="0"/>
          </a:p>
          <a:p>
            <a:r>
              <a:rPr lang="en-GB" dirty="0"/>
              <a:t>The first two records to be stored in the mentioned table are shown below.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0B86D-3573-FD51-4542-4E7EA464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C1B89-C926-5CCD-6946-4E83DCEC09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1.2</a:t>
            </a:r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5B1182-E41D-C41D-0120-F4A0DF79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540" y="2337813"/>
            <a:ext cx="7869196" cy="2182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036F9D-1C74-D8EF-74C3-2ACA4359F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540" y="5228191"/>
            <a:ext cx="8712679" cy="9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15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CCBCDE-24DB-5986-7D86-90851FBAF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(a) Write a SQL statement to insert the above two records into EVENT.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(b) Write a SQL statement to show the data of finished events.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(c) Write a SQL statement to show the name of the events sorted by the fee in descending order.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0B86D-3573-FD51-4542-4E7EA464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C1B89-C926-5CCD-6946-4E83DCEC09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1.2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166753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0211C9-E234-2DFA-8686-6FB5E9543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37A3D4"/>
                </a:solidFill>
              </a:rPr>
              <a:t>◣ Solution </a:t>
            </a:r>
          </a:p>
          <a:p>
            <a:r>
              <a:rPr lang="en-GB" dirty="0"/>
              <a:t>(a)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EVENT (EID, ENAME, EDATE, FEE, FINISHED) VALUES 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(83313, 'History Tour', '2036-04-15', 40, 1), (83315, 'Swimming Gala', '2036-06-08', 0, 0) </a:t>
            </a:r>
            <a:endParaRPr lang="en-GB" sz="2000" dirty="0"/>
          </a:p>
          <a:p>
            <a:r>
              <a:rPr lang="en-GB" dirty="0"/>
              <a:t>(b)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EVENT WHERE FINISHED = 1 </a:t>
            </a:r>
            <a:br>
              <a:rPr lang="en-GB" dirty="0"/>
            </a:br>
            <a:endParaRPr lang="en-GB" dirty="0"/>
          </a:p>
          <a:p>
            <a:r>
              <a:rPr lang="en-GB" dirty="0"/>
              <a:t>(c)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ENAME FROM EVENT ORDER BY FEE DESC </a:t>
            </a:r>
            <a:br>
              <a:rPr lang="en-GB" dirty="0"/>
            </a:br>
            <a:r>
              <a:rPr lang="en-GB" dirty="0"/>
              <a:t>We may write 0 and 1 as FALSE and TRUE respectively when inserting Booleans or filtering by a Boolean field.</a:t>
            </a:r>
            <a:endParaRPr lang="en-HK" dirty="0"/>
          </a:p>
          <a:p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2E5BBB-CE74-56B7-EB27-F3205ED6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0BB83-B5A5-3451-0100-76D2DC161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3496640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751AD-FAA0-C3B4-9E34-CFC44603B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Checkpoint 1.2 on P. 23 of your textbook.</a:t>
            </a:r>
            <a:endParaRPr lang="en-HK" dirty="0">
              <a:solidFill>
                <a:srgbClr val="FF0000"/>
              </a:solidFill>
            </a:endParaRPr>
          </a:p>
          <a:p>
            <a:r>
              <a:rPr lang="en-HK" dirty="0">
                <a:solidFill>
                  <a:srgbClr val="FF0000"/>
                </a:solidFill>
              </a:rPr>
              <a:t>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MEMBER (MID, MNAME, MTYPE, AGE, CREDIT) VALUES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(23908, 'Ada Chan', 'Bronze', 26, 472.5),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(72330, 'Eva Wong', 'Gold', 23, 203.7)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(b)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MTYPE FROM MEMBER WHERE MNAME = 'Ivy Chau'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(c)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MEMBER WHERE MTYPE = 'Gold' ORDER BY AGE [ASC]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(d)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DISTINCT MTYPE FROM MEMBER</a:t>
            </a:r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8B1FAB-C50D-1CF8-1943-B6A2DEC1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52EDD-6571-A5F2-C6F6-086AF8105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1.2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74097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141B-D41F-13AF-F251-BD13FD06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Updating and Deleting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0CAA6-2492-7A65-AE22-1DFBDA83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F760B-C3D6-404F-5819-FE4BD5FFE3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1.5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284FFA-5719-3F3F-664E-7D153ADA365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In this section, we are going to update and delete data from a table.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9391575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7A52-CB0C-C768-18AA-42E4D655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UPDATE … 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03A0D-FCEF-CC6B-8D9F-B519BFFA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4D3A7-C84E-60B9-4509-6DE122257C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AA1908-FCC2-8622-46B2-832D4676884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updates the name of a specific student in the table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EA678-72A3-6A74-7A38-5E89331F4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04" y="2426906"/>
            <a:ext cx="7134792" cy="353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63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7A52-CB0C-C768-18AA-42E4D655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UPDATE … 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03A0D-FCEF-CC6B-8D9F-B519BFFA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4D3A7-C84E-60B9-4509-6DE122257C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AA1908-FCC2-8622-46B2-832D4676884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Note that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GB" dirty="0"/>
              <a:t> usually comes with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dirty="0"/>
              <a:t> clause, otherwise, it will update the whole table.</a:t>
            </a:r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AB2F6-39D3-B009-A944-29A7E796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715" y="2598710"/>
            <a:ext cx="7040078" cy="350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580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7A52-CB0C-C768-18AA-42E4D655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UPDATE … 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03A0D-FCEF-CC6B-8D9F-B519BFFA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4D3A7-C84E-60B9-4509-6DE122257C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AA1908-FCC2-8622-46B2-832D4676884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updates the name and the class of a specific student in the table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7BB17D-AA93-BBEF-0BA5-D52DEF29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449" y="2584382"/>
            <a:ext cx="8137101" cy="370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25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D78-09E3-584B-74CB-7FA0B27E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DELETE FROM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0841DA-7248-6C1B-B796-E4C2BE5C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476BF-29B0-1107-BBED-31A00A6C63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48966E-796B-4618-12D7-87626C4735D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deletes specific records in the table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A3292-83E6-0107-CF76-03B738740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690" y="2403908"/>
            <a:ext cx="7704136" cy="37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051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0D78-09E3-584B-74CB-7FA0B27E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DELETE FROM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0841DA-7248-6C1B-B796-E4C2BE5C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476BF-29B0-1107-BBED-31A00A6C63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48966E-796B-4618-12D7-87626C4735D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GB" dirty="0"/>
              <a:t> without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GB" dirty="0"/>
              <a:t> clause simply deletes all records from the table.</a:t>
            </a:r>
            <a:endParaRPr lang="en-H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FFF39E-B3BC-65D6-1AF0-DDCA2830F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2607643"/>
            <a:ext cx="7979761" cy="27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99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765D-2E21-C983-9446-6646F2C8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DROP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8DFE9-FF82-644F-33A4-FFD98B82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58766-4129-1526-62F8-F9999F3CD4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8CBFA7-4ED7-A451-B697-D552D3611B9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 is not needed anymore. We are going to delete the whole table from the database 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1E068-62BE-67D0-EC28-F4D32A56F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77" y="3009657"/>
            <a:ext cx="8930645" cy="225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20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ECE1-D36C-32FD-701A-3EFB81DE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DROP DATABASE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6A140-D49A-C1AC-7A35-D2EEF072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6153C-DAF1-DF86-D114-4DCA3FC5D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0B59EE-3209-5AC3-62F1-1C28E35F397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database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SCHOOLE</a:t>
            </a:r>
            <a:r>
              <a:rPr lang="en-GB" dirty="0"/>
              <a:t> is not needed anymore. We are going to drop the whole database 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DROP DATABASE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79C5B-2FD3-991C-9F02-142CDCA99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27" y="2682380"/>
            <a:ext cx="5132596" cy="360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37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340603-FFA7-AB5B-54D4-BF57AE82F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 A retail store manager created a table named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dirty="0"/>
              <a:t> to store the data of products in the store.</a:t>
            </a:r>
          </a:p>
          <a:p>
            <a:r>
              <a:rPr lang="en-GB" dirty="0"/>
              <a:t>(a) Here is the table structure of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GB" dirty="0"/>
              <a:t>. Fill in suitable data types below.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(b) Write a SQL statement to create the above table.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BA2E8-0A24-58C6-777B-9CA90E64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45EE0-F8FD-2185-A5B5-9F429F7B33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1.3</a:t>
            </a:r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A8AA3E-A3D9-B69F-4D72-4519035D1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99" y="3097113"/>
            <a:ext cx="8124916" cy="185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68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340603-FFA7-AB5B-54D4-BF57AE82F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(c) Write a SQL statement to insert the data of the product below into the table.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(d) The product with an identity number of BA1100 is out of stock now. Write a SQL statement to update its record.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BA2E8-0A24-58C6-777B-9CA90E64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45EE0-F8FD-2185-A5B5-9F429F7B33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1.3</a:t>
            </a:r>
            <a:endParaRPr lang="en-HK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251" y="2042043"/>
            <a:ext cx="365811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47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85EE2C-4C93-A440-1092-F0B946B1F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HK" sz="1800" b="1" dirty="0">
                <a:solidFill>
                  <a:srgbClr val="37A3D4"/>
                </a:solidFill>
              </a:rPr>
              <a:t>◣ Solution</a:t>
            </a:r>
          </a:p>
          <a:p>
            <a:r>
              <a:rPr lang="en-HK" sz="1800" dirty="0"/>
              <a:t>(a)</a:t>
            </a:r>
          </a:p>
          <a:p>
            <a:endParaRPr lang="en-HK" sz="1800" dirty="0"/>
          </a:p>
          <a:p>
            <a:endParaRPr lang="en-HK" sz="1800" dirty="0"/>
          </a:p>
          <a:p>
            <a:r>
              <a:rPr lang="en-HK" sz="1800" dirty="0"/>
              <a:t>(b) 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PRODUCT (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PID CHAR(6),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PNAME VARCHAR(80),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STOCK INT,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PRICE FLOAT,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	EXPIRY DATE ) </a:t>
            </a:r>
          </a:p>
          <a:p>
            <a:r>
              <a:rPr lang="en-GB" sz="1800" dirty="0"/>
              <a:t>Though not recommended, PID and PRICE can also be VARCHAR(6) and DOUBLE respectively.</a:t>
            </a:r>
            <a:endParaRPr lang="en-HK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HK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EE1654-D325-A6EB-D19A-45FA0716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3EE45-B090-9896-939A-F46554578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9A1F5-60AF-72D2-5C5A-3316C173E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61" y="2007173"/>
            <a:ext cx="2885981" cy="11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823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0766DD-08D5-C066-E0E0-4F1802B9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(c)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PRODUCT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VALUES ('SN2359', 'Smart Candy', 138, 14.5, '2042-11-24’)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Though not required, we may include the field names in the SQL statement.</a:t>
            </a:r>
            <a:br>
              <a:rPr lang="en-GB" dirty="0"/>
            </a:br>
            <a:br>
              <a:rPr lang="en-GB" dirty="0"/>
            </a:br>
            <a:endParaRPr lang="en-HK" dirty="0"/>
          </a:p>
          <a:p>
            <a:r>
              <a:rPr lang="en-HK" dirty="0"/>
              <a:t>(d)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UPDATE PRODUCT SET STOCK = 0 WHERE PID = 'BA1100'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7037AE-820E-AB61-C9C4-42F29EEC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C3208-743E-030B-0ACC-2FE4ED0116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8004948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0356C5-757A-3A18-974D-647754793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Checkpoint 1.3 on P. 31 of your textbook.</a:t>
            </a:r>
          </a:p>
          <a:p>
            <a:endParaRPr lang="en-GB" dirty="0">
              <a:solidFill>
                <a:srgbClr val="FF0000"/>
              </a:solidFill>
              <a:latin typeface="Myriad Pro" panose="020B0503030403020204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Myriad Pro" panose="020B0503030403020204"/>
                <a:cs typeface="Courier New" panose="02070309020205020404" pitchFamily="49" charset="0"/>
              </a:rPr>
              <a:t>(a)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BOOK (BID CHAR(4), BOOKNAME VARCHAR(200), </a:t>
            </a:r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AUTHOR VARCHAR(200), PUBDATE DATE, NUMPAGE INT, PRICE FLOAT)</a:t>
            </a:r>
          </a:p>
          <a:p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Myriad Pro" panose="020B0503030403020204"/>
                <a:cs typeface="Courier New" panose="02070309020205020404" pitchFamily="49" charset="0"/>
              </a:rPr>
              <a:t>(b)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BOOK [(BID, BOOKNAME, AUTHOR, PUBDATE, </a:t>
            </a:r>
            <a:b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NUMPAGE, PRICE)] VALUES </a:t>
            </a:r>
            <a:b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('2012', '2012', 'Arthur White', '20-12-2012', 2012, 201.2)</a:t>
            </a:r>
          </a:p>
          <a:p>
            <a:pPr marL="457200" indent="-457200">
              <a:buAutoNum type="alphaLcParenBoth"/>
            </a:pP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Myriad Pro" panose="020B0503030403020204"/>
                <a:cs typeface="Courier New" panose="02070309020205020404" pitchFamily="49" charset="0"/>
              </a:rPr>
              <a:t>(c)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BOOK SET PRICE = 12.4 WHERE AUTHOR = 'Sela Brooks'</a:t>
            </a:r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01E119-1FFA-56B1-A862-8FF7D19F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61D6C-37F3-803E-2882-46522988B2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1.3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29513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9A5E-AB31-DD22-E72D-BFE922E3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Setting Constraints and Indexing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272F35-33CC-914F-E437-BC13EF6A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3E7A6-C1E3-19F8-CB7E-79F5EBBB63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1.6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6B102F-DC27-2E20-8FA0-7BC45625A2D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To maintain data integrity and validate data input, we should set constraints for a table.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0795355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B53A-91A6-6AFE-8EE7-D68FABB6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F58A7-99A4-4E44-EEDC-1C8FFB0C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FCE8F-3654-774E-83C0-D394A54EBE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EF5D4-B26D-6D28-6A95-71D3B24FB64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b="1" dirty="0">
                <a:solidFill>
                  <a:srgbClr val="504B9E"/>
                </a:solidFill>
              </a:rPr>
              <a:t>Primary key</a:t>
            </a:r>
            <a:r>
              <a:rPr lang="en-GB" dirty="0"/>
              <a:t> is a field or a combination of fields that store unique data for every record. A table should always have a primary key to identify a record from all other records. </a:t>
            </a:r>
          </a:p>
          <a:p>
            <a:endParaRPr lang="en-GB" dirty="0"/>
          </a:p>
          <a:p>
            <a:r>
              <a:rPr lang="en-GB" dirty="0"/>
              <a:t>Moreover, the value stored in the primary key field cannot be empty, i.e.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dirty="0"/>
              <a:t>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8685315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4950B2-0575-5031-D884-527DE90A0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Checkpoint 1.4 on P. 32 of your textbook.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98E3E-B4CC-A1D5-5C1D-14F711DA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384DF-8585-8315-3DD3-B2A337493E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  <p:graphicFrame>
        <p:nvGraphicFramePr>
          <p:cNvPr id="5" name="Google Shape;127;p20">
            <a:extLst>
              <a:ext uri="{FF2B5EF4-FFF2-40B4-BE49-F238E27FC236}">
                <a16:creationId xmlns:a16="http://schemas.microsoft.com/office/drawing/2014/main" id="{B7DF218A-B67D-2B2C-05BE-F71EBB6944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117891"/>
              </p:ext>
            </p:extLst>
          </p:nvPr>
        </p:nvGraphicFramePr>
        <p:xfrm>
          <a:off x="1010943" y="1912772"/>
          <a:ext cx="10342857" cy="45717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55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431">
                  <a:extLst>
                    <a:ext uri="{9D8B030D-6E8A-4147-A177-3AD203B41FA5}">
                      <a16:colId xmlns:a16="http://schemas.microsoft.com/office/drawing/2014/main" val="3587848330"/>
                    </a:ext>
                  </a:extLst>
                </a:gridCol>
                <a:gridCol w="2802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17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Field name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Possible to have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duplications?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Available for everyone?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 Possible to change?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3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HKID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3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ENAME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1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SEX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Yes. It is very common for people to have the same sex.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No. Biological sex is based on chromosome.</a:t>
                      </a:r>
                      <a:endParaRPr lang="en-US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76826"/>
                  </a:ext>
                </a:extLst>
              </a:tr>
              <a:tr h="691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Yes. Everyone have a date of birth.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225715"/>
                  </a:ext>
                </a:extLst>
              </a:tr>
              <a:tr h="691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BANKAC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No. Some people do not have a bank account.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1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EMAIL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No. A personal email address is not supposed to be shared.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Yes. People can create email addresses for themselves.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5116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4950B2-0575-5031-D884-527DE90A0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98E3E-B4CC-A1D5-5C1D-14F711DA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384DF-8585-8315-3DD3-B2A337493E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  <p:graphicFrame>
        <p:nvGraphicFramePr>
          <p:cNvPr id="7" name="Google Shape;127;p20">
            <a:extLst>
              <a:ext uri="{FF2B5EF4-FFF2-40B4-BE49-F238E27FC236}">
                <a16:creationId xmlns:a16="http://schemas.microsoft.com/office/drawing/2014/main" id="{BB2120D6-8D64-0909-4C4D-E48849534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1569827"/>
              </p:ext>
            </p:extLst>
          </p:nvPr>
        </p:nvGraphicFramePr>
        <p:xfrm>
          <a:off x="1010943" y="1189237"/>
          <a:ext cx="10342857" cy="520042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55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431">
                  <a:extLst>
                    <a:ext uri="{9D8B030D-6E8A-4147-A177-3AD203B41FA5}">
                      <a16:colId xmlns:a16="http://schemas.microsoft.com/office/drawing/2014/main" val="3587848330"/>
                    </a:ext>
                  </a:extLst>
                </a:gridCol>
                <a:gridCol w="2802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277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Field name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Possible to have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duplications?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Available for everyone?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b="1" dirty="0">
                          <a:solidFill>
                            <a:schemeClr val="lt1"/>
                          </a:solidFill>
                        </a:rPr>
                        <a:t> Possible to change?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9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HKID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No. HKID number is unique for everyone.</a:t>
                      </a:r>
                      <a:endParaRPr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Every Hong Kong citizen should have one.</a:t>
                      </a:r>
                      <a:endParaRPr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No. HKID number is permanent.</a:t>
                      </a:r>
                      <a:endParaRPr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9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ENAME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Some people may share the same name.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Every Hong Kong citizen has an English name.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People are allowed to change their names.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27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SEX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Yes. It is very common for people to have the same sex.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Everyone have a biological sex.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No. Biological sex is based on chromosome.</a:t>
                      </a:r>
                      <a:endParaRPr lang="en-US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76826"/>
                  </a:ext>
                </a:extLst>
              </a:tr>
              <a:tr h="7127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Some people may share the same date of birth.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Yes. Everyone have a date of birth.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No. Date of birth cannot be changed.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225715"/>
                  </a:ext>
                </a:extLst>
              </a:tr>
              <a:tr h="86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BANKAC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No. A personal bank account number is unique for everyone.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No. Some people do not have a bank account.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Yes. People can create bank accounts for themselves.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69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EMAIL</a:t>
                      </a:r>
                      <a:endParaRPr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No. A personal email address is not supposed to be shared.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No. Some people do not have an email address.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Yes. People can create email addresses for themselves.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5204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16B681-6B84-9F39-7AF0-95F8872C2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the definition of primary key, which of the above fields should be the primary key of the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HKCITIZEN</a:t>
            </a:r>
            <a:r>
              <a:rPr lang="en-GB" dirty="0"/>
              <a:t>?</a:t>
            </a:r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HKID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3AEB3-7C4E-70D0-19CE-93051713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C3359-36E2-F4DB-E966-6596B54CAF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9607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82-281C-5135-3ACB-481CC78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BC50A-45E2-5889-C15E-F3E1BCCF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0620-8908-598D-50BB-E172F4C9E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4B764A-D3F4-62FC-188E-393AC8E4F6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creates a table named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, where </a:t>
            </a:r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GB" dirty="0"/>
              <a:t> is set as the primary key by the keyword,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638EBE-2EDE-193D-C0D8-728345AC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259" y="2653281"/>
            <a:ext cx="5294386" cy="351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122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82-281C-5135-3ACB-481CC78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BC50A-45E2-5889-C15E-F3E1BCCF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0620-8908-598D-50BB-E172F4C9E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4B764A-D3F4-62FC-188E-393AC8E4F6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Constraint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GB" dirty="0"/>
              <a:t> prevents a field from storing duplicated values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dirty="0"/>
              <a:t> by any means, including insertion and updating.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 record will be inserted into the table STUDENT after executing the above two SQL statements.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35300-19B9-A9A7-A23D-CC57E5285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23" y="2581514"/>
            <a:ext cx="9412394" cy="248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686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82-281C-5135-3ACB-481CC78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BC50A-45E2-5889-C15E-F3E1BCCF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0620-8908-598D-50BB-E172F4C9E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4B764A-D3F4-62FC-188E-393AC8E4F6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Two records are inserted into the table. However, the update attempts to set the </a:t>
            </a:r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GB" dirty="0"/>
              <a:t> of a record to an existing </a:t>
            </a:r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GB" dirty="0"/>
              <a:t>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This update results in an error due to the constraint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7B1DA8-DD71-8590-A827-B007A8D7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55" y="2943161"/>
            <a:ext cx="10212490" cy="150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6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82-281C-5135-3ACB-481CC78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BC50A-45E2-5889-C15E-F3E1BCCF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0620-8908-598D-50BB-E172F4C9E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4B764A-D3F4-62FC-188E-393AC8E4F6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also set a combination of fields as the primary key of the table. Such a primary key is called a composite key.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43685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82-281C-5135-3ACB-481CC78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BC50A-45E2-5889-C15E-F3E1BCCF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0620-8908-598D-50BB-E172F4C9E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4B764A-D3F4-62FC-188E-393AC8E4F6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creates a table named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, where </a:t>
            </a:r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CLASS+CNO</a:t>
            </a:r>
            <a:r>
              <a:rPr lang="en-GB" dirty="0"/>
              <a:t> is set as the primary key by the keyword,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GB" dirty="0"/>
              <a:t>.</a:t>
            </a:r>
            <a:endParaRPr lang="en-HK" dirty="0"/>
          </a:p>
          <a:p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ECF71-F13C-E24E-FBB9-345F30E47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773" y="2734573"/>
            <a:ext cx="4169660" cy="341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737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82-281C-5135-3ACB-481CC78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PRIMARY KEY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BC50A-45E2-5889-C15E-F3E1BCCF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A0620-8908-598D-50BB-E172F4C9E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4B764A-D3F4-62FC-188E-393AC8E4F63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Under this constraint, every combination of the class and the class number of a student must be unique.</a:t>
            </a:r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7F7D92-0EE6-1BF8-F8F9-C4B4404C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79" y="3025314"/>
            <a:ext cx="8681842" cy="224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393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b="1" dirty="0">
                <a:solidFill>
                  <a:srgbClr val="504B9E"/>
                </a:solidFill>
              </a:rPr>
              <a:t>Foreign keys</a:t>
            </a:r>
            <a:r>
              <a:rPr lang="en-GB" dirty="0"/>
              <a:t> are used to show the relationship between records in two tables. A foreign key in a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GB" dirty="0"/>
              <a:t> is always the primary key of another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In this relationship,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GB" dirty="0"/>
              <a:t> is considered as the host table, while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GB" dirty="0"/>
              <a:t> is considered as the parent table.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2147952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below creates a table named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, where </a:t>
            </a:r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dirty="0"/>
              <a:t> is set as the foreign key by the keyword,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47A1AF3-EAE6-91F4-0CB2-B5FB839E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00" y="2575289"/>
            <a:ext cx="10515600" cy="371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841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Constraint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en-GB" dirty="0"/>
              <a:t> prevents a field from storing a value that does not exist in corresponding field of the parent table by any means, including insertion, update and deletion.</a:t>
            </a:r>
          </a:p>
          <a:p>
            <a:endParaRPr lang="en-GB" dirty="0"/>
          </a:p>
          <a:p>
            <a:r>
              <a:rPr lang="en-GB" dirty="0"/>
              <a:t>Assume there are class 1A, 1B, 1C and 1D in the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491848-0F70-F59A-8491-66390E983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855" y="3842312"/>
            <a:ext cx="5180290" cy="23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826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 record will be inserted into the table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 after executing the above SQL statement.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E7284F-A165-0045-2D8C-462B8E06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23600"/>
            <a:ext cx="10515601" cy="10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729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One records are inserted into the table. However, the update attempts to set the </a:t>
            </a:r>
            <a:r>
              <a:rPr lang="en-GB" dirty="0">
                <a:solidFill>
                  <a:srgbClr val="DB4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dirty="0"/>
              <a:t> of a record to a non-existing class. This update results in an error due to the constraint </a:t>
            </a:r>
            <a:r>
              <a:rPr lang="en-GB" dirty="0">
                <a:solidFill>
                  <a:srgbClr val="D1A3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44A933-F90C-54EC-3F88-5AF71AF6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58" y="2230143"/>
            <a:ext cx="10287915" cy="13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936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Consider the following data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12D08-604C-0DC1-D653-FA16C402C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33" y="2288608"/>
            <a:ext cx="8886934" cy="228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912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27B3-6FA5-5CCF-E7FE-564197F2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FOREIGN KEY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A542E-3F24-0B13-F0DB-4716E5C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5BE39-058A-8C77-1B9F-3F7014CD7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F137E-71D8-A67A-3B47-08418E70229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Since there is at least one student from class 1A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, class 1A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en-GB" dirty="0"/>
              <a:t> cannot be renamed to 1E, nor can it be deleted.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C6653-7F6F-E98F-FB82-0B17C700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754" y="2351935"/>
            <a:ext cx="8828491" cy="1928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B00390-B350-D8A2-8437-866C84B6A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629" y="4280072"/>
            <a:ext cx="8149860" cy="175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030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C4BF-17F9-F3B5-D81F-66C6D09CC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Other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35EF6-1CAD-B65F-81AC-3CDCB417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46700-3988-F489-D38E-A22C6143D6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E49A5A-1485-F980-BAFC-BEA881FEE3A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There are other constraints in MySQL. They are useful for data validation and shorten our time for data management. </a:t>
            </a:r>
          </a:p>
          <a:p>
            <a:r>
              <a:rPr lang="en-GB" dirty="0"/>
              <a:t>Here is a table named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STUDENT1A</a:t>
            </a:r>
            <a:r>
              <a:rPr lang="en-GB" dirty="0"/>
              <a:t> created by the following SQL statement. This table stores the data of students from Class 1A.</a:t>
            </a:r>
            <a:endParaRPr lang="en-H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E86379-AA9B-E30A-6343-2AD44317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44" y="3403122"/>
            <a:ext cx="6681736" cy="29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152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E04146-758E-8BA5-4CE9-B5A2FAEFB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 A game store manager wants to create a table named GAME to store the data of video games sold in the store.</a:t>
            </a:r>
          </a:p>
          <a:p>
            <a:endParaRPr lang="en-GB" dirty="0"/>
          </a:p>
          <a:p>
            <a:r>
              <a:rPr lang="en-GB" dirty="0"/>
              <a:t>Here is the table structure of GAME.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391C4-E42E-12E6-5103-8CF268D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83713-668C-7D9C-9D22-0E2C17F3B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D56E79-A916-DA00-2B2A-9D4F6E3A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73" y="3212197"/>
            <a:ext cx="9025361" cy="289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17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E04146-758E-8BA5-4CE9-B5A2FAEFB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(a) Name a field that is suitable to be the primary key of the table GAME.</a:t>
            </a:r>
          </a:p>
          <a:p>
            <a:r>
              <a:rPr lang="en-GB" dirty="0"/>
              <a:t>Here is the table structure of two related tables.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(b) Name two fields that are suitable to be the foreign keys of the table GAME.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391C4-E42E-12E6-5103-8CF268D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83713-668C-7D9C-9D22-0E2C17F3B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396F7B-AE99-9C74-CF2B-ABB9833E9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7" y="2428074"/>
            <a:ext cx="8135287" cy="289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739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E04146-758E-8BA5-4CE9-B5A2FAEFB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HK" dirty="0"/>
              <a:t>(c)</a:t>
            </a:r>
            <a:r>
              <a:rPr lang="en-GB" dirty="0"/>
              <a:t> Assume that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PCODE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GCODE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GNAME</a:t>
            </a:r>
            <a:r>
              <a:rPr lang="en-GB" dirty="0"/>
              <a:t> cannot be empty. Finish the following SQL statement to create the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GB" dirty="0"/>
              <a:t>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GAME (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PCODE ___________,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GCODE ___________,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GID ___________,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GNAME VARCHAR(255) ___________,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GENREID INT,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___________,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FOREIGN KEY (___________) REFERENCES ___________ (CODE),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FOREIGN KEY (___________) REFERENCES GENRE ___________)</a:t>
            </a: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HK" dirty="0"/>
              <a:t>(d) </a:t>
            </a:r>
            <a:r>
              <a:rPr lang="en-GB" dirty="0"/>
              <a:t>One of the fields in GAME is redundant. Which one is it? What change should be done if that field is dropped?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391C4-E42E-12E6-5103-8CF268D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83713-668C-7D9C-9D22-0E2C17F3B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4957197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E04146-758E-8BA5-4CE9-B5A2FAEFB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HK" b="1" dirty="0">
                <a:solidFill>
                  <a:srgbClr val="37A3D4"/>
                </a:solidFill>
              </a:rPr>
              <a:t>◣ Solution</a:t>
            </a:r>
          </a:p>
          <a:p>
            <a:r>
              <a:rPr lang="en-HK" dirty="0"/>
              <a:t>(a)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GID.</a:t>
            </a:r>
          </a:p>
          <a:p>
            <a:r>
              <a:rPr lang="en-HK" dirty="0"/>
              <a:t>(b)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PCODE</a:t>
            </a:r>
            <a:r>
              <a:rPr lang="en-HK" dirty="0"/>
              <a:t> and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GENREID</a:t>
            </a:r>
            <a:r>
              <a:rPr lang="en-HK" dirty="0"/>
              <a:t>.</a:t>
            </a:r>
          </a:p>
          <a:p>
            <a:r>
              <a:rPr lang="en-HK" dirty="0"/>
              <a:t>(c)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GAME (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PCODE CHAR(2) NOT NULL,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GCODE CHAR(3) NOT NULL,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GID CHAR(5) PRIMARY KEY,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GNAME VARCHAR(255) NOT NULL,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GENREID INT,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PRICE FLOAT,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FOREIGN KEY (PCODE) REFERENCES PUBLISHER (CODE),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	FOREIGN KEY (GENREID) REFERENCES GENRE (ID))</a:t>
            </a:r>
          </a:p>
          <a:p>
            <a:r>
              <a:rPr lang="en-HK" dirty="0"/>
              <a:t>(d)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GID</a:t>
            </a:r>
            <a:r>
              <a:rPr lang="en-HK" dirty="0"/>
              <a:t>. The table should use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PCODE+GCODE</a:t>
            </a:r>
            <a:r>
              <a:rPr lang="en-HK" dirty="0"/>
              <a:t> as the primary key instead.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391C4-E42E-12E6-5103-8CF268D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83713-668C-7D9C-9D22-0E2C17F3B6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0233362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567105-9D97-4E18-D9D8-79780F69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HK" dirty="0"/>
              <a:t>Finish Checkpoint 1.4 on P. 41 of your textbook.</a:t>
            </a:r>
            <a:endParaRPr lang="en-US" dirty="0"/>
          </a:p>
          <a:p>
            <a:endParaRPr lang="en-HK" dirty="0"/>
          </a:p>
          <a:p>
            <a:r>
              <a:rPr lang="en-HK" dirty="0"/>
              <a:t>(a)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dirty="0">
                <a:solidFill>
                  <a:srgbClr val="FF0000"/>
                </a:solidFill>
              </a:rPr>
              <a:t> for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GB" dirty="0">
                <a:solidFill>
                  <a:srgbClr val="FF0000"/>
                </a:solidFill>
              </a:rPr>
              <a:t> and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PHONE</a:t>
            </a:r>
            <a:r>
              <a:rPr lang="en-GB" dirty="0">
                <a:solidFill>
                  <a:srgbClr val="FF0000"/>
                </a:solidFill>
              </a:rPr>
              <a:t> for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</a:t>
            </a:r>
            <a:r>
              <a:rPr lang="en-GB" dirty="0">
                <a:solidFill>
                  <a:srgbClr val="FF0000"/>
                </a:solidFill>
              </a:rPr>
              <a:t>.</a:t>
            </a:r>
          </a:p>
          <a:p>
            <a:endParaRPr lang="en-HK" dirty="0"/>
          </a:p>
          <a:p>
            <a:r>
              <a:rPr lang="en-HK" dirty="0"/>
              <a:t>(b)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SHOP (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SID INT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SNAME VARCHAR(255)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 NOT NULL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OPEN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NOT NULL DEFAULT '09:00’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PHONE CHAR(8) NOT NULL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SEX CHAR(1),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FOREIGN KEY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(PHONE) REFERENCES MANAGER (PHONE)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'08:00'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) )</a:t>
            </a:r>
          </a:p>
          <a:p>
            <a:endParaRPr lang="en-GB" dirty="0"/>
          </a:p>
          <a:p>
            <a:r>
              <a:rPr lang="en-GB" dirty="0"/>
              <a:t>(c)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GB" dirty="0">
                <a:solidFill>
                  <a:srgbClr val="FF0000"/>
                </a:solidFill>
              </a:rPr>
              <a:t>. This piece of data can be found in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MANAGER</a:t>
            </a:r>
            <a:r>
              <a:rPr lang="en-GB" dirty="0">
                <a:solidFill>
                  <a:srgbClr val="FF0000"/>
                </a:solidFill>
              </a:rPr>
              <a:t>.</a:t>
            </a:r>
            <a:endParaRPr lang="en-HK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65D81B-0A37-F09D-ECBF-F83B637E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C159E-2496-D681-E08F-BADC6697A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1.4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15328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BE18-3D65-B27A-5987-80FB66517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Altering Table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A8532-54F7-C22B-9F1E-D69186EE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82537-31F3-58CA-B3AE-5A9E1D267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1.7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BED9EC-F8AC-1BCA-1726-9CEB75A719F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After creating a table, its structure can still be altered. We can add, modify or drop fields and constraints. </a:t>
            </a:r>
          </a:p>
          <a:p>
            <a:endParaRPr lang="en-GB" dirty="0"/>
          </a:p>
          <a:p>
            <a:r>
              <a:rPr lang="en-GB" dirty="0"/>
              <a:t>Note that some of the alterations may result in data loss so we should proceed with caution.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0309077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D552-B274-10FE-58FA-472DDE43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Renaming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1AD6E-9842-9D87-BC56-1D24F20E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4BB2A-D422-6B58-7E35-49D08FD3DE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A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34D616-81AD-2E35-E061-617E7DAB2D6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a table has its name spelt wrong, we may use the following SQL statement to rename it.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7543F9-4F48-2B74-5880-72AC2ECC8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2518516"/>
            <a:ext cx="8495769" cy="349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775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200A5-8947-C13B-2546-446DBCE2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fields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258DFE-EB8E-5328-CA0E-3C82EA47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EC365-006F-BEDD-9DF3-967AC763C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CBA95D-7422-7052-97C5-B2ABBE42556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the table </a:t>
            </a:r>
            <a:r>
              <a:rPr lang="en-GB" dirty="0">
                <a:solidFill>
                  <a:srgbClr val="5BCAF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GB" dirty="0"/>
              <a:t> does not have a field for storing the student names. We may use the following SQL statement to add this field.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5C437-6706-4957-443D-FCDC6FEC6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70" y="2490621"/>
            <a:ext cx="7598860" cy="367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064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200A5-8947-C13B-2546-446DBCE2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fields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258DFE-EB8E-5328-CA0E-3C82EA47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EC365-006F-BEDD-9DF3-967AC763C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CBA95D-7422-7052-97C5-B2ABBE42556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include constraints when adding a new field, just like how we define a field when creating a table.</a:t>
            </a:r>
            <a:endParaRPr lang="en-H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4DCE76-7B8C-5188-D52A-8585E5533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674" y="2660138"/>
            <a:ext cx="7312651" cy="351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830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8A57-632B-0AA1-B2B0-F6952018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Modifying fields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4F0088-7DDF-E3ED-6846-612E4A94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C91BD-E0C4-ADBD-324E-0585C88A62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0EA96B-02F9-CAA5-4DE5-C37469EB93A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a field has its name spelt wrong, we may use the following SQL statement to rename it.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3482C-3F35-00B7-B8C4-87E44BE2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509" y="2605177"/>
            <a:ext cx="7954982" cy="356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28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8A57-632B-0AA1-B2B0-F6952018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Modifying fields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4F0088-7DDF-E3ED-6846-612E4A94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C91BD-E0C4-ADBD-324E-0585C88A62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0EA96B-02F9-CAA5-4DE5-C37469EB93A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GB" dirty="0"/>
              <a:t> is supposed to be an integer field, we may use the following SQL statement to change its data types.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54404-C154-77AF-344B-FEF7AB33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29" y="2503130"/>
            <a:ext cx="8230342" cy="384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262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E16B-1F55-3EA3-92F8-579BEF6A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Dropping fields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597798-0B03-0F40-5406-C96E0629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8C2D0-E091-9680-9A3B-81D069C9FA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A025D6-5C4D-595E-543E-A3250D0E799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Assume that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GB" dirty="0"/>
              <a:t> is no longer needed, we may use the following SQL statement to drop it.</a:t>
            </a:r>
            <a:endParaRPr lang="en-HK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D889F1-F200-9789-C6AA-0079BF4E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62" y="2293967"/>
            <a:ext cx="8989275" cy="399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092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31E9-A230-D787-A6B4-2E857EC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and dropping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7FD6A-E56E-DB21-CF91-7BEE7B7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6599D-72E4-D948-8923-C191BA044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4447A-7A1E-909C-39CA-B035D439C6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When adding constraints, all existing data must not violate the constraints to be added, otherwise, such an operation will fail. We may set the primary key by adding a constraint.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7DCFF-2C03-F74D-0472-3BF9E3B5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2869200"/>
            <a:ext cx="8433435" cy="323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947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31E9-A230-D787-A6B4-2E857EC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and dropping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7FD6A-E56E-DB21-CF91-7BEE7B7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6599D-72E4-D948-8923-C191BA044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4447A-7A1E-909C-39CA-B035D439C6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also set the primary key by redefining an existing field. Such a method yields the same result as the previous one does. </a:t>
            </a:r>
          </a:p>
          <a:p>
            <a:endParaRPr lang="en-GB" dirty="0"/>
          </a:p>
          <a:p>
            <a:r>
              <a:rPr lang="en-GB" dirty="0"/>
              <a:t>However, it requires you to input the data type. It cannot set a composite key as the primary key too.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95767-EE7A-3F68-AF57-8262E021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214" y="3946457"/>
            <a:ext cx="7371572" cy="16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8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31E9-A230-D787-A6B4-2E857EC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and dropping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7FD6A-E56E-DB21-CF91-7BEE7B7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6599D-72E4-D948-8923-C191BA044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4447A-7A1E-909C-39CA-B035D439C6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We may use the following SQL statement to drop the primary key.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76D7A-C3B7-678F-CB90-7C2E85F2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61" y="2901106"/>
            <a:ext cx="5799528" cy="10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936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31E9-A230-D787-A6B4-2E857EC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and dropping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7FD6A-E56E-DB21-CF91-7BEE7B7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6599D-72E4-D948-8923-C191BA044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4447A-7A1E-909C-39CA-B035D439C6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We may use the following SQL statement to set a foreign key.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A31FF3-9516-889E-11B8-07237AFC2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581" y="2159726"/>
            <a:ext cx="8724974" cy="396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817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31E9-A230-D787-A6B4-2E857EC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and dropping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7FD6A-E56E-DB21-CF91-7BEE7B7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6599D-72E4-D948-8923-C191BA044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4447A-7A1E-909C-39CA-B035D439C6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Since there can be more than one foreign key in a table, when dropping a foreign key, we need to specify which one to drop. </a:t>
            </a:r>
          </a:p>
          <a:p>
            <a:endParaRPr lang="en-GB" dirty="0"/>
          </a:p>
          <a:p>
            <a:r>
              <a:rPr lang="en-GB" dirty="0"/>
              <a:t>Each foreign key has a constraint name in DBMS. To find out which is which, we may 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SHOW CREATE TABLE</a:t>
            </a:r>
            <a:r>
              <a:rPr lang="en-GB" dirty="0"/>
              <a:t>.</a:t>
            </a:r>
            <a:endParaRPr lang="en-H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6F5D5E-348C-72E9-4AA8-B2F6A8F73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918" y="4280516"/>
            <a:ext cx="4002142" cy="100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235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31E9-A230-D787-A6B4-2E857EC5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Adding and dropping constraints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7FD6A-E56E-DB21-CF91-7BEE7B7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6599D-72E4-D948-8923-C191BA044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</a:t>
            </a:r>
            <a:endParaRPr lang="en-H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D4447A-7A1E-909C-39CA-B035D439C6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dirty="0"/>
              <a:t>The SQL statement should return a result like below: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may use the following SQL statement to drop the foreign key.</a:t>
            </a:r>
            <a:endParaRPr lang="en-H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248A67-74A7-DCCA-DEB8-55346D2E8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89" y="2279888"/>
            <a:ext cx="9530215" cy="1850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AB9A2-3F56-CFB9-597D-352B0E15C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047" y="5248800"/>
            <a:ext cx="6237906" cy="87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622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5501E-5596-DA75-5B23-9166A683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HK" dirty="0"/>
              <a:t>1. </a:t>
            </a:r>
            <a:r>
              <a:rPr lang="en-GB" dirty="0"/>
              <a:t>The administrator of an online shopping website uses a table named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/>
              <a:t> to store the data of the website users.</a:t>
            </a:r>
          </a:p>
          <a:p>
            <a:r>
              <a:rPr lang="en-GB" dirty="0"/>
              <a:t>Here is the table structure of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/>
              <a:t>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administrator tries to set two types of membership for the users. These two types are “Regular” and “Premium”. All users are Regular users by default.</a:t>
            </a:r>
          </a:p>
          <a:p>
            <a:endParaRPr lang="en-GB" dirty="0"/>
          </a:p>
          <a:p>
            <a:r>
              <a:rPr lang="en-GB" dirty="0"/>
              <a:t>(a) Write a SQL statement to add a field named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MTYPE</a:t>
            </a:r>
            <a:r>
              <a:rPr lang="en-GB" dirty="0"/>
              <a:t> into the table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/>
              <a:t>. The default value of this field should be '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Regular</a:t>
            </a:r>
            <a:r>
              <a:rPr lang="en-GB" dirty="0"/>
              <a:t>'.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152B14-9832-8129-7352-F5C482E0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D6EB6-DDC8-8203-F4F4-BCCA497BD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1.5</a:t>
            </a:r>
            <a:endParaRPr lang="en-H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DC2DB-F6B0-0F28-7BD4-A21B32225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01" y="2773805"/>
            <a:ext cx="9023072" cy="129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486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3B83CD-143B-5C71-8D6B-87084038D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Six months later, the administrator decides to set not two but four types of membership for the users. These four types are, in order, “Regular”, “Bronze”, “Silver” and “Gold”.</a:t>
            </a:r>
          </a:p>
          <a:p>
            <a:endParaRPr lang="en-GB" dirty="0"/>
          </a:p>
          <a:p>
            <a:r>
              <a:rPr lang="en-GB" dirty="0"/>
              <a:t>(b) All Premium users shall be changed to Bronze users. Write a SQL statement to update the records of all Premium users.</a:t>
            </a:r>
          </a:p>
          <a:p>
            <a:endParaRPr lang="en-GB" dirty="0"/>
          </a:p>
          <a:p>
            <a:r>
              <a:rPr lang="en-GB" dirty="0"/>
              <a:t>(c) (</a:t>
            </a:r>
            <a:r>
              <a:rPr lang="en-GB" dirty="0" err="1"/>
              <a:t>i</a:t>
            </a:r>
            <a:r>
              <a:rPr lang="en-GB" dirty="0"/>
              <a:t>) The administrator wants to view the data of all users sorted by the membership type in ascending order. Write a SQL statement to retrieve the corresponding data.</a:t>
            </a:r>
          </a:p>
          <a:p>
            <a:endParaRPr lang="en-GB" dirty="0"/>
          </a:p>
          <a:p>
            <a:r>
              <a:rPr lang="en-GB" dirty="0"/>
              <a:t>(ii) How will the membership type be sorted by the above SQL statement? Write the membership types in order.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78747-7210-9873-39F5-90535BEB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7B384-E2C6-4459-EF18-64CEAD7BB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25979794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3B83CD-143B-5C71-8D6B-87084038D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administrator creates a table named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MTYPELIST</a:t>
            </a:r>
            <a:r>
              <a:rPr lang="en-GB" dirty="0"/>
              <a:t> to store all the membership types.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Here is the table structure of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MTYPELIST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(d) Now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MTYPE</a:t>
            </a:r>
            <a:r>
              <a:rPr lang="en-GB" dirty="0"/>
              <a:t>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/>
              <a:t> stores the identity numbers of the membership type instead. Write a SQL statement to change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MTYPE</a:t>
            </a:r>
            <a:r>
              <a:rPr lang="en-GB" dirty="0"/>
              <a:t> into an integer field. </a:t>
            </a:r>
          </a:p>
          <a:p>
            <a:endParaRPr lang="en-GB" dirty="0"/>
          </a:p>
          <a:p>
            <a:r>
              <a:rPr lang="en-GB" dirty="0"/>
              <a:t>(e) Write a SQL statement to set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MTYPE</a:t>
            </a:r>
            <a:r>
              <a:rPr lang="en-GB" dirty="0"/>
              <a:t>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/>
              <a:t> as a foreign key.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78747-7210-9873-39F5-90535BEB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7B384-E2C6-4459-EF18-64CEAD7BB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1F7F0-9C9B-6217-4865-88ED73C0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50" y="2678633"/>
            <a:ext cx="10161917" cy="15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9629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3B83CD-143B-5C71-8D6B-87084038D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HK" b="1" dirty="0">
                <a:solidFill>
                  <a:srgbClr val="37A3D4"/>
                </a:solidFill>
              </a:rPr>
              <a:t>◣ Solution</a:t>
            </a:r>
          </a:p>
          <a:p>
            <a:r>
              <a:rPr lang="en-HK" dirty="0"/>
              <a:t>(a)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ALTER TABLE USER ADD MTYPE CHAR(7) DEFAULT 'Regular’</a:t>
            </a:r>
          </a:p>
          <a:p>
            <a:endParaRPr lang="en-HK" dirty="0"/>
          </a:p>
          <a:p>
            <a:r>
              <a:rPr lang="en-HK" dirty="0"/>
              <a:t>(b)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UPDATE USER SET MTYPE = 'Bronze' WHERE MTYPE = 'Premium’</a:t>
            </a:r>
          </a:p>
          <a:p>
            <a:endParaRPr lang="en-HK" dirty="0"/>
          </a:p>
          <a:p>
            <a:r>
              <a:rPr lang="en-HK" dirty="0"/>
              <a:t>(c) 	(</a:t>
            </a:r>
            <a:r>
              <a:rPr lang="en-HK" dirty="0" err="1"/>
              <a:t>i</a:t>
            </a:r>
            <a:r>
              <a:rPr lang="en-HK" dirty="0"/>
              <a:t>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USER ORDER BY MTYPE [ASC]</a:t>
            </a:r>
          </a:p>
          <a:p>
            <a:r>
              <a:rPr lang="en-HK" dirty="0"/>
              <a:t>	(ii) Bronze, Gold, Regular and Silver.</a:t>
            </a:r>
          </a:p>
          <a:p>
            <a:endParaRPr lang="en-HK" dirty="0"/>
          </a:p>
          <a:p>
            <a:r>
              <a:rPr lang="en-HK" dirty="0"/>
              <a:t>(d)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ALTER TABLE USER MODIFY MTYPE INT</a:t>
            </a:r>
            <a:b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H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HK" dirty="0"/>
              <a:t>(e)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ALTER TABLE USER ADD FOREIGN KEY (MTYPE) REFERENCES MTYPELIST(TID)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78747-7210-9873-39F5-90535BEB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7B384-E2C6-4459-EF18-64CEAD7BBE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HK" dirty="0"/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12772806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C3EE44-7C5C-3F93-8EDA-BC8EE1A83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K" dirty="0"/>
              <a:t>Finish Checkpoint 1.5 on P. 49 of your textbook.</a:t>
            </a:r>
            <a:endParaRPr lang="en-HK" dirty="0">
              <a:solidFill>
                <a:srgbClr val="FF0000"/>
              </a:solidFill>
            </a:endParaRPr>
          </a:p>
          <a:p>
            <a:endParaRPr lang="en-HK" dirty="0">
              <a:solidFill>
                <a:srgbClr val="FF0000"/>
              </a:solidFill>
            </a:endParaRPr>
          </a:p>
          <a:p>
            <a:r>
              <a:rPr lang="en-HK" dirty="0">
                <a:solidFill>
                  <a:srgbClr val="FF0000"/>
                </a:solidFill>
              </a:rPr>
              <a:t>(a)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BOOKCLUB DROP HKID</a:t>
            </a:r>
            <a:b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HK" dirty="0">
                <a:solidFill>
                  <a:srgbClr val="FF0000"/>
                </a:solidFill>
                <a:latin typeface="Myriad Pro" panose="020B0503030403020204"/>
                <a:cs typeface="Courier New" panose="02070309020205020404" pitchFamily="49" charset="0"/>
              </a:rPr>
              <a:t>(b)</a:t>
            </a:r>
            <a:r>
              <a:rPr lang="en-GB" dirty="0">
                <a:solidFill>
                  <a:srgbClr val="FF0000"/>
                </a:solidFill>
              </a:rPr>
              <a:t> No.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MEMID</a:t>
            </a:r>
            <a:r>
              <a:rPr lang="en-GB" dirty="0">
                <a:solidFill>
                  <a:srgbClr val="FF0000"/>
                </a:solidFill>
              </a:rPr>
              <a:t> would be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 / 0</a:t>
            </a:r>
            <a:r>
              <a:rPr lang="en-GB" dirty="0">
                <a:solidFill>
                  <a:srgbClr val="FF0000"/>
                </a:solidFill>
              </a:rPr>
              <a:t> for all records in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BOOKCLUB</a:t>
            </a:r>
            <a:r>
              <a:rPr lang="en-GB" dirty="0">
                <a:solidFill>
                  <a:srgbClr val="FF0000"/>
                </a:solidFill>
              </a:rPr>
              <a:t> if it is added successfully. However,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GB" dirty="0">
                <a:solidFill>
                  <a:srgbClr val="FF0000"/>
                </a:solidFill>
              </a:rPr>
              <a:t> constraint forbids the value of a primary key to be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dirty="0">
                <a:solidFill>
                  <a:srgbClr val="FF0000"/>
                </a:solidFill>
              </a:rPr>
              <a:t>/ duplicated.</a:t>
            </a:r>
            <a:br>
              <a:rPr lang="en-GB" dirty="0">
                <a:solidFill>
                  <a:srgbClr val="FF0000"/>
                </a:solidFill>
              </a:rPr>
            </a:br>
            <a:endParaRPr lang="en-HK" dirty="0">
              <a:solidFill>
                <a:srgbClr val="FF0000"/>
              </a:solidFill>
              <a:latin typeface="Myriad Pro" panose="020B0503030403020204"/>
              <a:cs typeface="Courier New" panose="02070309020205020404" pitchFamily="49" charset="0"/>
            </a:endParaRPr>
          </a:p>
          <a:p>
            <a:r>
              <a:rPr lang="en-HK" dirty="0">
                <a:solidFill>
                  <a:srgbClr val="FF0000"/>
                </a:solidFill>
                <a:latin typeface="Myriad Pro" panose="020B0503030403020204"/>
                <a:cs typeface="Courier New" panose="02070309020205020404" pitchFamily="49" charset="0"/>
              </a:rPr>
              <a:t>(c)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BOOKCLUB ADD SCORE FLOAT DEFAULT 55.5</a:t>
            </a:r>
            <a:b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HK" dirty="0">
                <a:solidFill>
                  <a:srgbClr val="FF0000"/>
                </a:solidFill>
                <a:latin typeface="Myriad Pro" panose="020B0503030403020204"/>
                <a:cs typeface="Courier New" panose="02070309020205020404" pitchFamily="49" charset="0"/>
              </a:rPr>
              <a:t>(d)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BOOKCLUB ADD CHECK (SCORE &gt; 10)</a:t>
            </a:r>
            <a:b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(e)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BCGROUP (GNUM INT, GNAME VARCHAR(50), NEXTMEET DATETIME)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(f)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 FOREIGN KEY (BCGROUP) REFERENCES BCGROUP (GNUM)</a:t>
            </a:r>
          </a:p>
          <a:p>
            <a:endParaRPr lang="en-HK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89647-4DDE-54CF-BCF4-919FEB43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599E-685D-7D35-F184-EEC1BC59E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1.5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06380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427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870A11EB-92D6-4F97-997A-48342F7B5A00}" vid="{0765A16F-C91A-4B03-A6B8-7E4395E092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285</TotalTime>
  <Words>4335</Words>
  <Application>Microsoft Office PowerPoint</Application>
  <PresentationFormat>Widescreen</PresentationFormat>
  <Paragraphs>639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2" baseType="lpstr">
      <vt:lpstr>Arial</vt:lpstr>
      <vt:lpstr>Courier New</vt:lpstr>
      <vt:lpstr>Myriad Pro</vt:lpstr>
      <vt:lpstr>Tw Cen MT</vt:lpstr>
      <vt:lpstr>DSEPPT_EN_Kelie_20230427</vt:lpstr>
      <vt:lpstr>Chapter 1 Managing Data Using SQL</vt:lpstr>
      <vt:lpstr>Database and SQL Statement</vt:lpstr>
      <vt:lpstr>What is a database?</vt:lpstr>
      <vt:lpstr>What is a database?</vt:lpstr>
      <vt:lpstr>PowerPoint Presentation</vt:lpstr>
      <vt:lpstr>PowerPoint Presentation</vt:lpstr>
      <vt:lpstr>PowerPoint Presentation</vt:lpstr>
      <vt:lpstr>Database Structure</vt:lpstr>
      <vt:lpstr>PowerPoint Presentation</vt:lpstr>
      <vt:lpstr>Database Structure</vt:lpstr>
      <vt:lpstr>Database Structure</vt:lpstr>
      <vt:lpstr>SQL statement</vt:lpstr>
      <vt:lpstr>Creating Databases and Tables</vt:lpstr>
      <vt:lpstr>SHOW DATABASES</vt:lpstr>
      <vt:lpstr>SHOW DATABASES</vt:lpstr>
      <vt:lpstr>CREATE DATABASE</vt:lpstr>
      <vt:lpstr>USE</vt:lpstr>
      <vt:lpstr>CREATE TABLE</vt:lpstr>
      <vt:lpstr>SHOW TABLES</vt:lpstr>
      <vt:lpstr>PowerPoint Presentation</vt:lpstr>
      <vt:lpstr>PowerPoint Presentation</vt:lpstr>
      <vt:lpstr>Data Type</vt:lpstr>
      <vt:lpstr>Data Type</vt:lpstr>
      <vt:lpstr>PowerPoint Presentation</vt:lpstr>
      <vt:lpstr>PowerPoint Presentation</vt:lpstr>
      <vt:lpstr>PowerPoint Presentation</vt:lpstr>
      <vt:lpstr>Inserting and Retrieving Data</vt:lpstr>
      <vt:lpstr>INSERT INTO ... VALUES</vt:lpstr>
      <vt:lpstr>INSERT INTO ... VALUES</vt:lpstr>
      <vt:lpstr>INSERT INTO ... VALUES</vt:lpstr>
      <vt:lpstr>INSERT INTO ... VALUES</vt:lpstr>
      <vt:lpstr>INSERT INTO ... VALUES</vt:lpstr>
      <vt:lpstr>SELECT … FROM</vt:lpstr>
      <vt:lpstr>SELECT … FROM</vt:lpstr>
      <vt:lpstr>WHERE</vt:lpstr>
      <vt:lpstr>ORDER BY</vt:lpstr>
      <vt:lpstr>ORDER BY</vt:lpstr>
      <vt:lpstr>DISTINCT</vt:lpstr>
      <vt:lpstr>PowerPoint Presentation</vt:lpstr>
      <vt:lpstr>PowerPoint Presentation</vt:lpstr>
      <vt:lpstr>PowerPoint Presentation</vt:lpstr>
      <vt:lpstr>PowerPoint Presentation</vt:lpstr>
      <vt:lpstr>Updating and Deleting Data</vt:lpstr>
      <vt:lpstr>UPDATE … SET</vt:lpstr>
      <vt:lpstr>UPDATE … SET</vt:lpstr>
      <vt:lpstr>UPDATE … SET</vt:lpstr>
      <vt:lpstr>DELETE FROM</vt:lpstr>
      <vt:lpstr>DELETE FROM</vt:lpstr>
      <vt:lpstr>DROP TABLE</vt:lpstr>
      <vt:lpstr>DROP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Setting Constraints and Indexing</vt:lpstr>
      <vt:lpstr>PRIMARY KEY</vt:lpstr>
      <vt:lpstr>PowerPoint Presentation</vt:lpstr>
      <vt:lpstr>PowerPoint Presentation</vt:lpstr>
      <vt:lpstr>PowerPoint Presentation</vt:lpstr>
      <vt:lpstr>PRIMARY KEY</vt:lpstr>
      <vt:lpstr>PRIMARY KEY</vt:lpstr>
      <vt:lpstr>PRIMARY KEY</vt:lpstr>
      <vt:lpstr>PRIMARY KEY</vt:lpstr>
      <vt:lpstr>PRIMARY KEY</vt:lpstr>
      <vt:lpstr>PRIMARY KEY</vt:lpstr>
      <vt:lpstr>FOREIGN KEY</vt:lpstr>
      <vt:lpstr>FOREIGN KEY</vt:lpstr>
      <vt:lpstr>FOREIGN KEY</vt:lpstr>
      <vt:lpstr>FOREIGN KEY</vt:lpstr>
      <vt:lpstr>FOREIGN KEY</vt:lpstr>
      <vt:lpstr>FOREIGN KEY</vt:lpstr>
      <vt:lpstr>FOREIGN KEY</vt:lpstr>
      <vt:lpstr>Other constraints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Altering Table Structure</vt:lpstr>
      <vt:lpstr>Renaming tables</vt:lpstr>
      <vt:lpstr>Adding fields</vt:lpstr>
      <vt:lpstr>Adding fields</vt:lpstr>
      <vt:lpstr>Modifying fields</vt:lpstr>
      <vt:lpstr>Modifying fields</vt:lpstr>
      <vt:lpstr>Dropping fields</vt:lpstr>
      <vt:lpstr>Adding and dropping constraints</vt:lpstr>
      <vt:lpstr>Adding and dropping constraints</vt:lpstr>
      <vt:lpstr>Adding and dropping constraints</vt:lpstr>
      <vt:lpstr>Adding and dropping constraints</vt:lpstr>
      <vt:lpstr>Adding and dropping constraints</vt:lpstr>
      <vt:lpstr>Adding and dropping constraints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Managing Data Using SQL</dc:title>
  <dc:creator>Kelie Leung</dc:creator>
  <cp:lastModifiedBy>Kelie Leung</cp:lastModifiedBy>
  <cp:revision>15</cp:revision>
  <cp:lastPrinted>2023-05-05T01:48:56Z</cp:lastPrinted>
  <dcterms:created xsi:type="dcterms:W3CDTF">2023-04-27T02:48:01Z</dcterms:created>
  <dcterms:modified xsi:type="dcterms:W3CDTF">2023-05-10T06:21:25Z</dcterms:modified>
</cp:coreProperties>
</file>