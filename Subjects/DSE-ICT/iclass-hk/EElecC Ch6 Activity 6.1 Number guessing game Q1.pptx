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4" r:id="rId1"/>
  </p:sldMasterIdLst>
  <p:sldIdLst>
    <p:sldId id="257" r:id="rId2"/>
    <p:sldId id="258" r:id="rId3"/>
    <p:sldId id="269" r:id="rId4"/>
    <p:sldId id="270" r:id="rId5"/>
    <p:sldId id="271" r:id="rId6"/>
    <p:sldId id="272" r:id="rId7"/>
    <p:sldId id="273" r:id="rId8"/>
    <p:sldId id="275" r:id="rId9"/>
    <p:sldId id="276" r:id="rId10"/>
    <p:sldId id="277" r:id="rId11"/>
    <p:sldId id="278" r:id="rId12"/>
    <p:sldId id="279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7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3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pn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-Cover-EN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defRPr b="1">
                <a:solidFill>
                  <a:srgbClr val="007078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GB" altLang="zh-TW" sz="5600" b="1" dirty="0">
                <a:solidFill>
                  <a:srgbClr val="00A0A9"/>
                </a:solidFill>
                <a:latin typeface="Myriad Pro" panose="020B0503030403020204" pitchFamily="34" charset="0"/>
                <a:ea typeface="Noto Sans CJK KR Black" panose="020B0A00000000000000" pitchFamily="34" charset="-128"/>
              </a:rPr>
              <a:t>ICT for iGeneration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97C56F-506D-1CBF-DAEA-5491D019671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448" y="2853016"/>
            <a:ext cx="3145542" cy="5059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8FD09F-D8A1-E336-3B87-044CB68F4B9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69BCDB6-856A-6319-8C9A-5031698A31C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66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-Cover-EN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defRPr b="1">
                <a:solidFill>
                  <a:srgbClr val="007078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GB" altLang="zh-TW" sz="5600" b="1" dirty="0">
                <a:solidFill>
                  <a:srgbClr val="00A0A9"/>
                </a:solidFill>
                <a:latin typeface="Myriad Pro" panose="020B0503030403020204" pitchFamily="34" charset="0"/>
                <a:ea typeface="Noto Sans CJK KR Black" panose="020B0A00000000000000" pitchFamily="34" charset="-128"/>
              </a:rPr>
              <a:t>ICT for iGeneration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BE4C03-EDAE-8A34-CB24-BDAA03524E5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448" y="2853016"/>
            <a:ext cx="4093472" cy="5059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DAD781-428A-67D8-7C55-666DFF21CBB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36497C4-9FC9-151F-62D2-FB395805F0B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461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-Cover-EN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defRPr b="1">
                <a:solidFill>
                  <a:srgbClr val="007078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GB" altLang="zh-TW" sz="5600" b="1" dirty="0">
                <a:solidFill>
                  <a:srgbClr val="00A0A9"/>
                </a:solidFill>
                <a:latin typeface="Myriad Pro" panose="020B0503030403020204" pitchFamily="34" charset="0"/>
                <a:ea typeface="Noto Sans CJK KR Black" panose="020B0A00000000000000" pitchFamily="34" charset="-128"/>
              </a:rPr>
              <a:t>ICT for iGeneration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7E881E-670F-B298-11FD-7D2AE51F6D8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97C5F1C-1E54-2755-BD09-8B53BEC6CE1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448" y="2853016"/>
            <a:ext cx="3642367" cy="50596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97AA30C-B131-11B2-D159-FECF538D59B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414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-Cover-EN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defRPr b="1">
                <a:solidFill>
                  <a:srgbClr val="007078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GB" altLang="zh-TW" sz="5600" b="1" dirty="0">
                <a:solidFill>
                  <a:srgbClr val="00A0A9"/>
                </a:solidFill>
                <a:latin typeface="Myriad Pro" panose="020B0503030403020204" pitchFamily="34" charset="0"/>
                <a:ea typeface="Noto Sans CJK KR Black" panose="020B0A00000000000000" pitchFamily="34" charset="-128"/>
              </a:rPr>
              <a:t>ICT for iGeneration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0B2444-920A-39A5-579B-B54FCADA567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448" y="2853016"/>
            <a:ext cx="5117602" cy="5059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506DF5-D585-C85A-7378-578CF95524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6743423-DF9F-5DF4-442D-BF34F62A7AC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524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-Cover-EN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defRPr b="1">
                <a:solidFill>
                  <a:srgbClr val="007078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GB" altLang="zh-TW" sz="5600" b="1" dirty="0">
                <a:solidFill>
                  <a:srgbClr val="00A0A9"/>
                </a:solidFill>
                <a:latin typeface="Myriad Pro" panose="020B0503030403020204" pitchFamily="34" charset="0"/>
                <a:ea typeface="Noto Sans CJK KR Black" panose="020B0A00000000000000" pitchFamily="34" charset="-128"/>
              </a:rPr>
              <a:t>ICT for iGeneration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61E0BB-AC62-05F4-05B8-418A002D64E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448" y="2853016"/>
            <a:ext cx="2660909" cy="5059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CC61186-C2CB-33BF-880D-468C0FE8B48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390D0C5-32B0-F4A3-8473-6945918A77E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474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lecA-Cover-EN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defRPr b="1">
                <a:solidFill>
                  <a:srgbClr val="007078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GB" altLang="zh-TW" sz="5600" b="1" dirty="0">
                <a:solidFill>
                  <a:srgbClr val="00A0A9"/>
                </a:solidFill>
                <a:latin typeface="Myriad Pro" panose="020B0503030403020204" pitchFamily="34" charset="0"/>
                <a:ea typeface="Noto Sans CJK KR Black" panose="020B0A00000000000000" pitchFamily="34" charset="-128"/>
              </a:rPr>
              <a:t>ICT for iGeneration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69BCDB6-856A-6319-8C9A-5031698A31C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C75235-0293-8136-6524-0EEAD91BBFA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448" y="2853016"/>
            <a:ext cx="1813564" cy="50596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F7CD102-4498-ACB1-C72C-8082CD03250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726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lecB-Cover-EN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defRPr b="1">
                <a:solidFill>
                  <a:srgbClr val="007078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GB" altLang="zh-TW" sz="5600" b="1" dirty="0">
                <a:solidFill>
                  <a:srgbClr val="00A0A9"/>
                </a:solidFill>
                <a:latin typeface="Myriad Pro" panose="020B0503030403020204" pitchFamily="34" charset="0"/>
                <a:ea typeface="Noto Sans CJK KR Black" panose="020B0A00000000000000" pitchFamily="34" charset="-128"/>
              </a:rPr>
              <a:t>ICT for iGeneration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69BCDB6-856A-6319-8C9A-5031698A31C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48E981E-C35F-E8F8-DE42-4B0CC68BF4A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448" y="2853016"/>
            <a:ext cx="3864872" cy="5059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54FA34B-69E2-DB1D-D9D7-52FE3BD9BD0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670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lecC-Cover-EN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defRPr b="1">
                <a:solidFill>
                  <a:srgbClr val="007078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GB" altLang="zh-TW" sz="5600" b="1" dirty="0">
                <a:solidFill>
                  <a:srgbClr val="00A0A9"/>
                </a:solidFill>
                <a:latin typeface="Myriad Pro" panose="020B0503030403020204" pitchFamily="34" charset="0"/>
                <a:ea typeface="Noto Sans CJK KR Black" panose="020B0A00000000000000" pitchFamily="34" charset="-128"/>
              </a:rPr>
              <a:t>ICT for iGeneration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69BCDB6-856A-6319-8C9A-5031698A31C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6A66CFB-18D0-6F75-8C97-40CC53CD963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448" y="2853016"/>
            <a:ext cx="3691136" cy="50596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E316255-5138-F681-0D2B-20384F1BB20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983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orange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7C0BD9D-B8ED-5511-960F-8CA63E3A3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1624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blue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117F345-65C2-2CD1-DC0D-64AC50F13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>
            <a:lvl1pPr>
              <a:defRPr>
                <a:latin typeface="Myriad Pro" panose="020B0503030403020204" pitchFamily="34" charset="0"/>
              </a:defRPr>
            </a:lvl1pPr>
            <a:lvl2pPr>
              <a:defRPr>
                <a:latin typeface="Myriad Pro" panose="020B0503030403020204" pitchFamily="34" charset="0"/>
              </a:defRPr>
            </a:lvl2pPr>
            <a:lvl3pPr>
              <a:defRPr>
                <a:latin typeface="Myriad Pro" panose="020B0503030403020204" pitchFamily="34" charset="0"/>
              </a:defRPr>
            </a:lvl3pPr>
            <a:lvl4pPr>
              <a:defRPr>
                <a:latin typeface="Myriad Pro" panose="020B0503030403020204" pitchFamily="34" charset="0"/>
              </a:defRPr>
            </a:lvl4pPr>
            <a:lvl5pPr>
              <a:defRPr>
                <a:latin typeface="Myriad Pro" panose="020B0503030403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3244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green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311348A-7A65-4D63-9999-43FC28C9E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28945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red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196142E-F691-EA8F-3DCD-7E4A78F2E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7730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cyan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2C15972-37F2-DAE7-8C10-98E52C044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>
            <a:lvl1pPr>
              <a:defRPr>
                <a:latin typeface="Myriad Pro" panose="020B0503030403020204" pitchFamily="34" charset="0"/>
              </a:defRPr>
            </a:lvl1pPr>
            <a:lvl2pPr>
              <a:defRPr>
                <a:latin typeface="Myriad Pro" panose="020B0503030403020204" pitchFamily="34" charset="0"/>
              </a:defRPr>
            </a:lvl2pPr>
            <a:lvl3pPr>
              <a:defRPr>
                <a:latin typeface="Myriad Pro" panose="020B0503030403020204" pitchFamily="34" charset="0"/>
              </a:defRPr>
            </a:lvl3pPr>
            <a:lvl4pPr>
              <a:defRPr>
                <a:latin typeface="Myriad Pro" panose="020B0503030403020204" pitchFamily="34" charset="0"/>
              </a:defRPr>
            </a:lvl4pPr>
            <a:lvl5pPr>
              <a:defRPr>
                <a:latin typeface="Myriad Pro" panose="020B0503030403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04144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nip Diagonal Corner Rectangle 3">
            <a:extLst>
              <a:ext uri="{FF2B5EF4-FFF2-40B4-BE49-F238E27FC236}">
                <a16:creationId xmlns:a16="http://schemas.microsoft.com/office/drawing/2014/main" id="{B505DC89-2E6F-5786-39F5-2B4AC2C46AF0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C26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6/28/2023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C34498B1-43FD-DC69-5B53-AFC4C547FB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3D25585-2BA2-DAE6-6CD9-0856FBF8481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15144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Diagonal Corner Rectangle 3">
            <a:extLst>
              <a:ext uri="{FF2B5EF4-FFF2-40B4-BE49-F238E27FC236}">
                <a16:creationId xmlns:a16="http://schemas.microsoft.com/office/drawing/2014/main" id="{72874D61-669D-1562-9471-3F57078BE147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2132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6/28/2023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C34498B1-43FD-DC69-5B53-AFC4C547FB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B5BC051-110A-C89D-9342-F257EABF8C2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47905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Diagonal Corner Rectangle 3">
            <a:extLst>
              <a:ext uri="{FF2B5EF4-FFF2-40B4-BE49-F238E27FC236}">
                <a16:creationId xmlns:a16="http://schemas.microsoft.com/office/drawing/2014/main" id="{A2D0F62E-5468-5683-75D2-94AABF0D8A47}"/>
              </a:ext>
            </a:extLst>
          </p:cNvPr>
          <p:cNvSpPr>
            <a:spLocks noChangeAspect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0078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6/28/2023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C34498B1-43FD-DC69-5B53-AFC4C547FB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AA369FF4-FA36-C573-1B73-72B7F94DBF1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6728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Diagonal Corner Rectangle 3">
            <a:extLst>
              <a:ext uri="{FF2B5EF4-FFF2-40B4-BE49-F238E27FC236}">
                <a16:creationId xmlns:a16="http://schemas.microsoft.com/office/drawing/2014/main" id="{4DAD662D-900F-5555-5351-CB7EA4561EB7}"/>
              </a:ext>
            </a:extLst>
          </p:cNvPr>
          <p:cNvSpPr>
            <a:spLocks noChangeAspect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B72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6/28/2023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C34498B1-43FD-DC69-5B53-AFC4C547FB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8AEC8F0B-7C47-5026-ABEB-5E962B73948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9722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Diagonal Corner Rectangle 3">
            <a:extLst>
              <a:ext uri="{FF2B5EF4-FFF2-40B4-BE49-F238E27FC236}">
                <a16:creationId xmlns:a16="http://schemas.microsoft.com/office/drawing/2014/main" id="{215673C9-3F6B-C178-D494-7C8B73C3CDF6}"/>
              </a:ext>
            </a:extLst>
          </p:cNvPr>
          <p:cNvSpPr>
            <a:spLocks noChangeAspect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3F82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6/28/2023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C34498B1-43FD-DC69-5B53-AFC4C547FB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C9063645-AAC5-51BC-FFC8-34CC9F594B5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43791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xample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3BB63A3-9AB5-EBAC-F6F9-327B22130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B0149AE-399E-56CA-418B-96532FF191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3212307" y="755092"/>
            <a:ext cx="864000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rgbClr val="606060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02632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eckpoint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DF9B736-CC97-6F5A-03D8-7FA0AF198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E63A75CB-E77D-CC21-A6EF-2A476E4BC4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3704400" y="755092"/>
            <a:ext cx="864000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rgbClr val="606060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1645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ctivity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63E1F40-9013-EBB0-F98A-0AFCFACA2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E63A75CB-E77D-CC21-A6EF-2A476E4BC4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3170999" y="755092"/>
            <a:ext cx="864000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rgbClr val="606060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50399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b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9646B7-AEA6-E416-7BF3-052FDD7D2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E63A75CB-E77D-CC21-A6EF-2A476E4BC4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2467612" y="755092"/>
            <a:ext cx="864000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rgbClr val="606060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082824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isconce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7B0A839-D23C-1435-A186-FA67B6572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6/28/2023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MISCONCEPTION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35FBDB0-6C27-C606-20C5-686A00F1877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693716" y="1609199"/>
            <a:ext cx="9660083" cy="2159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2C0F3B-5325-9C8D-A663-14E64C0C815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693716" y="4024188"/>
            <a:ext cx="9658800" cy="216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68146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ink ab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F94735F-B64E-887A-0584-E2B7E148B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6/28/2023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THINK ABOUT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69195DCF-0E55-AAB5-1074-39FAB8E1950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102900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3F49635-7B62-1BF0-3627-0DEF2D36B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4923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6/28/2023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84AD40"/>
                </a:solidFill>
              </a:rPr>
              <a:t>TIP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9E46E5CA-E96E-2DB9-64FE-5E1D76C77C9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29095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a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E6276F9-8CAE-0301-EC9B-559DB9D08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6/28/2023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7570B3"/>
                </a:solidFill>
              </a:rPr>
              <a:t>ANALOGY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15CCE8C4-EE82-5FA1-86D9-7618ACBB4E8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7470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rich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EC24769-7557-7417-69AD-C7D98D6EF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4923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6/28/2023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7570B3"/>
                </a:solidFill>
              </a:rPr>
              <a:t>ENRICHMENT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C0FDA7B9-3B4F-45FE-C0CB-6CE489DF46B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2345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istorical 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A365613-9A6E-EC8F-CC4F-45C6843B5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6/28/2023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7570B3"/>
                </a:solidFill>
              </a:rPr>
              <a:t>HISTORICAL NOTE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9FE9C956-B01C-9F5B-D06E-B224FA04F06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11021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EAM+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9F6A893-6ACD-62D2-E506-31CE1C78B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6/28/2023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7570B3"/>
                </a:solidFill>
              </a:rPr>
              <a:t>STEAM+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D8CACC2A-8E2C-4654-1BEE-FF9B00C1EA1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759749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852B39E-570D-BB77-3EC2-68BF2DA34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4923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6/28/2023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82711" y="6492875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C6993D"/>
                </a:solidFill>
              </a:rPr>
              <a:t>RESOURCE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7873EF2F-CB2D-FF0C-FE7E-4E5878DAD73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78480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221140A-902D-C446-8456-B18F8CA1510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833800" y="1609200"/>
            <a:ext cx="2520000" cy="3283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13145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210F294E-2671-69F2-AD8E-91EF65CCF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6/28/2023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F720291-4918-3157-E8A0-2C33F0241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84E269C-57B9-5795-9B37-30D8685C0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12518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2754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15CB804-96AA-A5E1-7170-B54411166665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CE581-C706-43BB-9E93-1B4DA785C440}" type="datetime1">
              <a:rPr lang="en-US" smtClean="0"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8201" y="6492875"/>
            <a:ext cx="65425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F58C60C-B777-2B7A-945B-E3C184807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2431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25" r:id="rId6"/>
    <p:sldLayoutId id="2147483726" r:id="rId7"/>
    <p:sldLayoutId id="2147483727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21" r:id="rId15"/>
    <p:sldLayoutId id="2147483722" r:id="rId16"/>
    <p:sldLayoutId id="2147483723" r:id="rId17"/>
    <p:sldLayoutId id="2147483724" r:id="rId18"/>
    <p:sldLayoutId id="2147483706" r:id="rId19"/>
    <p:sldLayoutId id="2147483707" r:id="rId20"/>
    <p:sldLayoutId id="2147483708" r:id="rId21"/>
    <p:sldLayoutId id="2147483709" r:id="rId22"/>
    <p:sldLayoutId id="2147483712" r:id="rId23"/>
    <p:sldLayoutId id="2147483714" r:id="rId24"/>
    <p:sldLayoutId id="2147483715" r:id="rId25"/>
    <p:sldLayoutId id="2147483716" r:id="rId26"/>
    <p:sldLayoutId id="2147483717" r:id="rId27"/>
    <p:sldLayoutId id="2147483718" r:id="rId28"/>
    <p:sldLayoutId id="2147483719" r:id="rId29"/>
    <p:sldLayoutId id="2147483720" r:id="rId30"/>
    <p:sldLayoutId id="2147483710" r:id="rId31"/>
    <p:sldLayoutId id="2147483711" r:id="rId3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none" baseline="0">
          <a:solidFill>
            <a:srgbClr val="606060"/>
          </a:solidFill>
          <a:latin typeface="Myriad Pro" panose="020B0503030403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None/>
        <a:defRPr sz="2000" kern="1200">
          <a:solidFill>
            <a:schemeClr val="tx1"/>
          </a:solidFill>
          <a:latin typeface="Myriad Pro" panose="020B0503030403020204" pitchFamily="34" charset="0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None/>
        <a:defRPr sz="1800" kern="1200">
          <a:solidFill>
            <a:schemeClr val="tx1"/>
          </a:solidFill>
          <a:latin typeface="Myriad Pro" panose="020B0503030403020204" pitchFamily="34" charset="0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None/>
        <a:defRPr sz="1600" kern="1200">
          <a:solidFill>
            <a:schemeClr val="tx1"/>
          </a:solidFill>
          <a:latin typeface="Myriad Pro" panose="020B0503030403020204" pitchFamily="34" charset="0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None/>
        <a:defRPr sz="1400" kern="1200">
          <a:solidFill>
            <a:schemeClr val="tx1"/>
          </a:solidFill>
          <a:latin typeface="Myriad Pro" panose="020B0503030403020204" pitchFamily="34" charset="0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None/>
        <a:defRPr sz="1400" kern="1200">
          <a:solidFill>
            <a:schemeClr val="tx1"/>
          </a:solidFill>
          <a:latin typeface="Myriad Pro" panose="020B0503030403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577A35"/>
                </a:solidFill>
              </a:rPr>
              <a:t>Number guessing game</a:t>
            </a:r>
          </a:p>
          <a:p>
            <a:r>
              <a:rPr lang="en-US" dirty="0"/>
              <a:t>Given that the array is sorted in </a:t>
            </a:r>
            <a:r>
              <a:rPr lang="en-US" b="1" dirty="0">
                <a:solidFill>
                  <a:srgbClr val="504FA1"/>
                </a:solidFill>
              </a:rPr>
              <a:t>ascending order</a:t>
            </a:r>
            <a:r>
              <a:rPr lang="en-US" dirty="0"/>
              <a:t>, find the target value “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68</a:t>
            </a:r>
            <a:r>
              <a:rPr lang="en-US" dirty="0"/>
              <a:t>”.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6.1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68530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94014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22824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1634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65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67573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3512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2755" y="4572652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3085" y="4570010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85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71895" y="457742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86314" y="4570010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97</a:t>
            </a:r>
          </a:p>
        </p:txBody>
      </p:sp>
      <p:sp>
        <p:nvSpPr>
          <p:cNvPr id="15" name="Can 14"/>
          <p:cNvSpPr/>
          <p:nvPr/>
        </p:nvSpPr>
        <p:spPr>
          <a:xfrm>
            <a:off x="1627907" y="4177014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6" name="Can 15"/>
          <p:cNvSpPr/>
          <p:nvPr/>
        </p:nvSpPr>
        <p:spPr>
          <a:xfrm>
            <a:off x="2553393" y="4177014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17" name="Can 16"/>
          <p:cNvSpPr/>
          <p:nvPr/>
        </p:nvSpPr>
        <p:spPr>
          <a:xfrm>
            <a:off x="3478877" y="4177014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</p:txBody>
      </p:sp>
      <p:sp>
        <p:nvSpPr>
          <p:cNvPr id="18" name="Can 17"/>
          <p:cNvSpPr/>
          <p:nvPr/>
        </p:nvSpPr>
        <p:spPr>
          <a:xfrm>
            <a:off x="4407254" y="4177014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19" name="Can 18"/>
          <p:cNvSpPr/>
          <p:nvPr/>
        </p:nvSpPr>
        <p:spPr>
          <a:xfrm>
            <a:off x="5326952" y="4177014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</p:txBody>
      </p:sp>
      <p:sp>
        <p:nvSpPr>
          <p:cNvPr id="20" name="Can 19"/>
          <p:cNvSpPr/>
          <p:nvPr/>
        </p:nvSpPr>
        <p:spPr>
          <a:xfrm>
            <a:off x="6246650" y="4177014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</p:txBody>
      </p:sp>
      <p:sp>
        <p:nvSpPr>
          <p:cNvPr id="21" name="Can 20"/>
          <p:cNvSpPr/>
          <p:nvPr/>
        </p:nvSpPr>
        <p:spPr>
          <a:xfrm>
            <a:off x="7172134" y="4177014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</p:txBody>
      </p:sp>
      <p:sp>
        <p:nvSpPr>
          <p:cNvPr id="22" name="Can 21"/>
          <p:cNvSpPr/>
          <p:nvPr/>
        </p:nvSpPr>
        <p:spPr>
          <a:xfrm>
            <a:off x="8097618" y="4177014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</p:txBody>
      </p:sp>
      <p:sp>
        <p:nvSpPr>
          <p:cNvPr id="23" name="Can 22"/>
          <p:cNvSpPr/>
          <p:nvPr/>
        </p:nvSpPr>
        <p:spPr>
          <a:xfrm>
            <a:off x="9025995" y="4177014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</p:txBody>
      </p:sp>
      <p:sp>
        <p:nvSpPr>
          <p:cNvPr id="24" name="Can 23"/>
          <p:cNvSpPr/>
          <p:nvPr/>
        </p:nvSpPr>
        <p:spPr>
          <a:xfrm>
            <a:off x="9945693" y="4177014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336570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577A35"/>
                </a:solidFill>
              </a:rPr>
              <a:t>Number guessing game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6.1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68530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94014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22824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1634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65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67573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3512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2755" y="4572652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3085" y="4570010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85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71895" y="457742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86314" y="4570010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97</a:t>
            </a:r>
          </a:p>
        </p:txBody>
      </p:sp>
      <p:sp>
        <p:nvSpPr>
          <p:cNvPr id="15" name="Can 14"/>
          <p:cNvSpPr/>
          <p:nvPr/>
        </p:nvSpPr>
        <p:spPr>
          <a:xfrm>
            <a:off x="1627907" y="4177014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6" name="Can 15"/>
          <p:cNvSpPr/>
          <p:nvPr/>
        </p:nvSpPr>
        <p:spPr>
          <a:xfrm>
            <a:off x="2553393" y="4177014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17" name="Can 16"/>
          <p:cNvSpPr/>
          <p:nvPr/>
        </p:nvSpPr>
        <p:spPr>
          <a:xfrm>
            <a:off x="3478877" y="4177014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</p:txBody>
      </p:sp>
      <p:sp>
        <p:nvSpPr>
          <p:cNvPr id="18" name="Can 17"/>
          <p:cNvSpPr/>
          <p:nvPr/>
        </p:nvSpPr>
        <p:spPr>
          <a:xfrm>
            <a:off x="4407254" y="4177014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19" name="Can 18"/>
          <p:cNvSpPr/>
          <p:nvPr/>
        </p:nvSpPr>
        <p:spPr>
          <a:xfrm>
            <a:off x="5326952" y="4177014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</p:txBody>
      </p:sp>
      <p:sp>
        <p:nvSpPr>
          <p:cNvPr id="20" name="Can 19"/>
          <p:cNvSpPr/>
          <p:nvPr/>
        </p:nvSpPr>
        <p:spPr>
          <a:xfrm>
            <a:off x="6246650" y="4177014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</p:txBody>
      </p:sp>
      <p:sp>
        <p:nvSpPr>
          <p:cNvPr id="21" name="Can 20"/>
          <p:cNvSpPr/>
          <p:nvPr/>
        </p:nvSpPr>
        <p:spPr>
          <a:xfrm>
            <a:off x="7172134" y="4177014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</p:txBody>
      </p:sp>
      <p:sp>
        <p:nvSpPr>
          <p:cNvPr id="22" name="Can 21"/>
          <p:cNvSpPr/>
          <p:nvPr/>
        </p:nvSpPr>
        <p:spPr>
          <a:xfrm>
            <a:off x="8097618" y="4177014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</p:txBody>
      </p:sp>
      <p:sp>
        <p:nvSpPr>
          <p:cNvPr id="23" name="Can 22"/>
          <p:cNvSpPr/>
          <p:nvPr/>
        </p:nvSpPr>
        <p:spPr>
          <a:xfrm>
            <a:off x="9025995" y="4177014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</p:txBody>
      </p:sp>
      <p:sp>
        <p:nvSpPr>
          <p:cNvPr id="24" name="Can 23"/>
          <p:cNvSpPr/>
          <p:nvPr/>
        </p:nvSpPr>
        <p:spPr>
          <a:xfrm>
            <a:off x="9945693" y="4177014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1FD2F6D-AD03-3567-028A-C06305A58E61}"/>
              </a:ext>
            </a:extLst>
          </p:cNvPr>
          <p:cNvGrpSpPr/>
          <p:nvPr/>
        </p:nvGrpSpPr>
        <p:grpSpPr>
          <a:xfrm>
            <a:off x="9052279" y="1262730"/>
            <a:ext cx="2562351" cy="2261496"/>
            <a:chOff x="9052279" y="1262730"/>
            <a:chExt cx="2562351" cy="2261496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BBCCE305-D303-B5F7-99C8-E0A89EDA97BA}"/>
                </a:ext>
              </a:extLst>
            </p:cNvPr>
            <p:cNvSpPr/>
            <p:nvPr/>
          </p:nvSpPr>
          <p:spPr>
            <a:xfrm>
              <a:off x="9052279" y="1263165"/>
              <a:ext cx="2562351" cy="22610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Order: Ascending</a:t>
              </a: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Target: 68</a:t>
              </a: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No. of comparisons: 0</a:t>
              </a:r>
            </a:p>
            <a:p>
              <a:endPara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endPara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start: </a:t>
              </a:r>
              <a:r>
                <a:rPr lang="en-US" sz="1400" b="1" dirty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end: </a:t>
              </a:r>
              <a:r>
                <a:rPr lang="en-US" sz="1400" b="1" dirty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10</a:t>
              </a: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mid: (1+10)//2 = </a:t>
              </a:r>
              <a:r>
                <a:rPr lang="en-US" sz="1400" b="1" dirty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5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D1AAF2F-489C-5922-BB3F-229169FF52FC}"/>
                </a:ext>
              </a:extLst>
            </p:cNvPr>
            <p:cNvSpPr/>
            <p:nvPr/>
          </p:nvSpPr>
          <p:spPr>
            <a:xfrm>
              <a:off x="9052279" y="1262730"/>
              <a:ext cx="2562351" cy="18043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90028F1-E34F-099B-7E61-432527276C37}"/>
                </a:ext>
              </a:extLst>
            </p:cNvPr>
            <p:cNvSpPr/>
            <p:nvPr/>
          </p:nvSpPr>
          <p:spPr>
            <a:xfrm>
              <a:off x="11434630" y="1262730"/>
              <a:ext cx="180000" cy="18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11A9F52-C678-176B-BA42-83A8A56F2DD1}"/>
                </a:ext>
              </a:extLst>
            </p:cNvPr>
            <p:cNvSpPr/>
            <p:nvPr/>
          </p:nvSpPr>
          <p:spPr>
            <a:xfrm>
              <a:off x="11254630" y="1262730"/>
              <a:ext cx="180000" cy="18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19EAFF8-BE29-A578-F210-B587C8998BB4}"/>
                </a:ext>
              </a:extLst>
            </p:cNvPr>
            <p:cNvSpPr/>
            <p:nvPr/>
          </p:nvSpPr>
          <p:spPr>
            <a:xfrm>
              <a:off x="11074630" y="1262730"/>
              <a:ext cx="180000" cy="18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94365F4E-3024-BC42-6E54-C1175D7FC6A9}"/>
              </a:ext>
            </a:extLst>
          </p:cNvPr>
          <p:cNvSpPr txBox="1"/>
          <p:nvPr/>
        </p:nvSpPr>
        <p:spPr>
          <a:xfrm>
            <a:off x="1564307" y="5445558"/>
            <a:ext cx="873957" cy="36000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HK" b="1" dirty="0">
                <a:latin typeface="Courier New" panose="02070309020205020404" pitchFamily="49" charset="0"/>
                <a:cs typeface="Courier New" panose="02070309020205020404" pitchFamily="49" charset="0"/>
              </a:rPr>
              <a:t>start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0BDC6CC-8BA4-BFDD-714E-87891697C33D}"/>
              </a:ext>
            </a:extLst>
          </p:cNvPr>
          <p:cNvSpPr txBox="1"/>
          <p:nvPr/>
        </p:nvSpPr>
        <p:spPr>
          <a:xfrm>
            <a:off x="5401210" y="5445558"/>
            <a:ext cx="598241" cy="36000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HK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mid</a:t>
            </a:r>
            <a:endParaRPr lang="en-US" b="1" dirty="0">
              <a:solidFill>
                <a:schemeClr val="accent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705F5D6-8AD2-40BD-50E9-5A8D9A27492A}"/>
              </a:ext>
            </a:extLst>
          </p:cNvPr>
          <p:cNvSpPr txBox="1"/>
          <p:nvPr/>
        </p:nvSpPr>
        <p:spPr>
          <a:xfrm>
            <a:off x="10019951" y="5445558"/>
            <a:ext cx="598241" cy="36000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HK" b="1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D9D4960-3229-8651-61E6-5EE9784E15FF}"/>
              </a:ext>
            </a:extLst>
          </p:cNvPr>
          <p:cNvCxnSpPr>
            <a:cxnSpLocks/>
          </p:cNvCxnSpPr>
          <p:nvPr/>
        </p:nvCxnSpPr>
        <p:spPr>
          <a:xfrm flipV="1">
            <a:off x="10319071" y="5125444"/>
            <a:ext cx="0" cy="36000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2202062-7184-CC70-F28A-FAF3A678D5FE}"/>
              </a:ext>
            </a:extLst>
          </p:cNvPr>
          <p:cNvCxnSpPr>
            <a:cxnSpLocks/>
          </p:cNvCxnSpPr>
          <p:nvPr/>
        </p:nvCxnSpPr>
        <p:spPr>
          <a:xfrm flipV="1">
            <a:off x="5700330" y="5125444"/>
            <a:ext cx="0" cy="36000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B39FFF6-D73D-4C97-D117-56AED2711F02}"/>
              </a:ext>
            </a:extLst>
          </p:cNvPr>
          <p:cNvCxnSpPr>
            <a:cxnSpLocks/>
          </p:cNvCxnSpPr>
          <p:nvPr/>
        </p:nvCxnSpPr>
        <p:spPr>
          <a:xfrm flipV="1">
            <a:off x="2001285" y="5125444"/>
            <a:ext cx="0" cy="36000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9764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577A35"/>
                </a:solidFill>
              </a:rPr>
              <a:t>Number guessing game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6.1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68530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94014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22824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1634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65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67573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3512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2755" y="4572652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3085" y="4570010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85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71895" y="457742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86314" y="4570010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97</a:t>
            </a:r>
          </a:p>
        </p:txBody>
      </p:sp>
      <p:sp>
        <p:nvSpPr>
          <p:cNvPr id="15" name="Can 14"/>
          <p:cNvSpPr/>
          <p:nvPr/>
        </p:nvSpPr>
        <p:spPr>
          <a:xfrm>
            <a:off x="1627907" y="4177014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6" name="Can 15"/>
          <p:cNvSpPr/>
          <p:nvPr/>
        </p:nvSpPr>
        <p:spPr>
          <a:xfrm>
            <a:off x="2553393" y="4177014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17" name="Can 16"/>
          <p:cNvSpPr/>
          <p:nvPr/>
        </p:nvSpPr>
        <p:spPr>
          <a:xfrm>
            <a:off x="3478877" y="4177014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</p:txBody>
      </p:sp>
      <p:sp>
        <p:nvSpPr>
          <p:cNvPr id="18" name="Can 17"/>
          <p:cNvSpPr/>
          <p:nvPr/>
        </p:nvSpPr>
        <p:spPr>
          <a:xfrm>
            <a:off x="4407254" y="4177014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19" name="Can 18"/>
          <p:cNvSpPr/>
          <p:nvPr/>
        </p:nvSpPr>
        <p:spPr>
          <a:xfrm>
            <a:off x="5326952" y="3114000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</p:txBody>
      </p:sp>
      <p:sp>
        <p:nvSpPr>
          <p:cNvPr id="20" name="Can 19"/>
          <p:cNvSpPr/>
          <p:nvPr/>
        </p:nvSpPr>
        <p:spPr>
          <a:xfrm>
            <a:off x="6246650" y="4177014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</p:txBody>
      </p:sp>
      <p:sp>
        <p:nvSpPr>
          <p:cNvPr id="21" name="Can 20"/>
          <p:cNvSpPr/>
          <p:nvPr/>
        </p:nvSpPr>
        <p:spPr>
          <a:xfrm>
            <a:off x="7172134" y="4177014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</p:txBody>
      </p:sp>
      <p:sp>
        <p:nvSpPr>
          <p:cNvPr id="22" name="Can 21"/>
          <p:cNvSpPr/>
          <p:nvPr/>
        </p:nvSpPr>
        <p:spPr>
          <a:xfrm>
            <a:off x="8097618" y="4177014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</p:txBody>
      </p:sp>
      <p:sp>
        <p:nvSpPr>
          <p:cNvPr id="23" name="Can 22"/>
          <p:cNvSpPr/>
          <p:nvPr/>
        </p:nvSpPr>
        <p:spPr>
          <a:xfrm>
            <a:off x="9025995" y="4177014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</p:txBody>
      </p:sp>
      <p:sp>
        <p:nvSpPr>
          <p:cNvPr id="24" name="Can 23"/>
          <p:cNvSpPr/>
          <p:nvPr/>
        </p:nvSpPr>
        <p:spPr>
          <a:xfrm>
            <a:off x="9945693" y="4177014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1FD2F6D-AD03-3567-028A-C06305A58E61}"/>
              </a:ext>
            </a:extLst>
          </p:cNvPr>
          <p:cNvGrpSpPr/>
          <p:nvPr/>
        </p:nvGrpSpPr>
        <p:grpSpPr>
          <a:xfrm>
            <a:off x="9052279" y="1262730"/>
            <a:ext cx="2562351" cy="2261496"/>
            <a:chOff x="9052279" y="1262730"/>
            <a:chExt cx="2562351" cy="2261496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BBCCE305-D303-B5F7-99C8-E0A89EDA97BA}"/>
                </a:ext>
              </a:extLst>
            </p:cNvPr>
            <p:cNvSpPr/>
            <p:nvPr/>
          </p:nvSpPr>
          <p:spPr>
            <a:xfrm>
              <a:off x="9052279" y="1263165"/>
              <a:ext cx="2562351" cy="22610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Order: Ascending</a:t>
              </a: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Target: 68</a:t>
              </a: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No. of comparisons: </a:t>
              </a:r>
              <a:r>
                <a:rPr lang="en-US" sz="1400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</a:p>
            <a:p>
              <a:r>
                <a:rPr lang="en-US" sz="1400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DO NOT MATCH!</a:t>
              </a:r>
            </a:p>
            <a:p>
              <a:endPara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start: 1</a:t>
              </a: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end: 10</a:t>
              </a: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mid: (1+10)//2 = 5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D1AAF2F-489C-5922-BB3F-229169FF52FC}"/>
                </a:ext>
              </a:extLst>
            </p:cNvPr>
            <p:cNvSpPr/>
            <p:nvPr/>
          </p:nvSpPr>
          <p:spPr>
            <a:xfrm>
              <a:off x="9052279" y="1262730"/>
              <a:ext cx="2562351" cy="18043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90028F1-E34F-099B-7E61-432527276C37}"/>
                </a:ext>
              </a:extLst>
            </p:cNvPr>
            <p:cNvSpPr/>
            <p:nvPr/>
          </p:nvSpPr>
          <p:spPr>
            <a:xfrm>
              <a:off x="11434630" y="1262730"/>
              <a:ext cx="180000" cy="18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11A9F52-C678-176B-BA42-83A8A56F2DD1}"/>
                </a:ext>
              </a:extLst>
            </p:cNvPr>
            <p:cNvSpPr/>
            <p:nvPr/>
          </p:nvSpPr>
          <p:spPr>
            <a:xfrm>
              <a:off x="11254630" y="1262730"/>
              <a:ext cx="180000" cy="18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19EAFF8-BE29-A578-F210-B587C8998BB4}"/>
                </a:ext>
              </a:extLst>
            </p:cNvPr>
            <p:cNvSpPr/>
            <p:nvPr/>
          </p:nvSpPr>
          <p:spPr>
            <a:xfrm>
              <a:off x="11074630" y="1262730"/>
              <a:ext cx="180000" cy="18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94365F4E-3024-BC42-6E54-C1175D7FC6A9}"/>
              </a:ext>
            </a:extLst>
          </p:cNvPr>
          <p:cNvSpPr txBox="1"/>
          <p:nvPr/>
        </p:nvSpPr>
        <p:spPr>
          <a:xfrm>
            <a:off x="1564307" y="5445558"/>
            <a:ext cx="873957" cy="36000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HK" b="1" dirty="0">
                <a:latin typeface="Courier New" panose="02070309020205020404" pitchFamily="49" charset="0"/>
                <a:cs typeface="Courier New" panose="02070309020205020404" pitchFamily="49" charset="0"/>
              </a:rPr>
              <a:t>start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0BDC6CC-8BA4-BFDD-714E-87891697C33D}"/>
              </a:ext>
            </a:extLst>
          </p:cNvPr>
          <p:cNvSpPr txBox="1"/>
          <p:nvPr/>
        </p:nvSpPr>
        <p:spPr>
          <a:xfrm>
            <a:off x="5401210" y="5445558"/>
            <a:ext cx="598241" cy="36000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HK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mid</a:t>
            </a:r>
            <a:endParaRPr lang="en-US" b="1" dirty="0">
              <a:solidFill>
                <a:schemeClr val="accent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705F5D6-8AD2-40BD-50E9-5A8D9A27492A}"/>
              </a:ext>
            </a:extLst>
          </p:cNvPr>
          <p:cNvSpPr txBox="1"/>
          <p:nvPr/>
        </p:nvSpPr>
        <p:spPr>
          <a:xfrm>
            <a:off x="10019951" y="5445558"/>
            <a:ext cx="598241" cy="36000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HK" b="1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D9D4960-3229-8651-61E6-5EE9784E15FF}"/>
              </a:ext>
            </a:extLst>
          </p:cNvPr>
          <p:cNvCxnSpPr>
            <a:cxnSpLocks/>
          </p:cNvCxnSpPr>
          <p:nvPr/>
        </p:nvCxnSpPr>
        <p:spPr>
          <a:xfrm flipV="1">
            <a:off x="10319071" y="5125444"/>
            <a:ext cx="0" cy="36000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2202062-7184-CC70-F28A-FAF3A678D5FE}"/>
              </a:ext>
            </a:extLst>
          </p:cNvPr>
          <p:cNvCxnSpPr>
            <a:cxnSpLocks/>
          </p:cNvCxnSpPr>
          <p:nvPr/>
        </p:nvCxnSpPr>
        <p:spPr>
          <a:xfrm flipV="1">
            <a:off x="5700330" y="5125444"/>
            <a:ext cx="0" cy="36000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B39FFF6-D73D-4C97-D117-56AED2711F02}"/>
              </a:ext>
            </a:extLst>
          </p:cNvPr>
          <p:cNvCxnSpPr>
            <a:cxnSpLocks/>
          </p:cNvCxnSpPr>
          <p:nvPr/>
        </p:nvCxnSpPr>
        <p:spPr>
          <a:xfrm flipV="1">
            <a:off x="2001285" y="5125444"/>
            <a:ext cx="0" cy="36000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1571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577A35"/>
                </a:solidFill>
              </a:rPr>
              <a:t>Number guessing game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6.1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68530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94014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22824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1634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65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67573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3512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2755" y="4572652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3085" y="4570010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85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71895" y="457742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86314" y="4570010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97</a:t>
            </a:r>
          </a:p>
        </p:txBody>
      </p:sp>
      <p:sp>
        <p:nvSpPr>
          <p:cNvPr id="15" name="Can 14"/>
          <p:cNvSpPr/>
          <p:nvPr/>
        </p:nvSpPr>
        <p:spPr>
          <a:xfrm>
            <a:off x="1627907" y="4177014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6" name="Can 15"/>
          <p:cNvSpPr/>
          <p:nvPr/>
        </p:nvSpPr>
        <p:spPr>
          <a:xfrm>
            <a:off x="2553393" y="4177014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17" name="Can 16"/>
          <p:cNvSpPr/>
          <p:nvPr/>
        </p:nvSpPr>
        <p:spPr>
          <a:xfrm>
            <a:off x="3478877" y="4177014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</p:txBody>
      </p:sp>
      <p:sp>
        <p:nvSpPr>
          <p:cNvPr id="18" name="Can 17"/>
          <p:cNvSpPr/>
          <p:nvPr/>
        </p:nvSpPr>
        <p:spPr>
          <a:xfrm>
            <a:off x="4407254" y="4177014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19" name="Can 18"/>
          <p:cNvSpPr/>
          <p:nvPr/>
        </p:nvSpPr>
        <p:spPr>
          <a:xfrm>
            <a:off x="5326952" y="3114000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</p:txBody>
      </p:sp>
      <p:sp>
        <p:nvSpPr>
          <p:cNvPr id="20" name="Can 19"/>
          <p:cNvSpPr/>
          <p:nvPr/>
        </p:nvSpPr>
        <p:spPr>
          <a:xfrm>
            <a:off x="6246650" y="4177014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</p:txBody>
      </p:sp>
      <p:sp>
        <p:nvSpPr>
          <p:cNvPr id="21" name="Can 20"/>
          <p:cNvSpPr/>
          <p:nvPr/>
        </p:nvSpPr>
        <p:spPr>
          <a:xfrm>
            <a:off x="7172134" y="4177014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</p:txBody>
      </p:sp>
      <p:sp>
        <p:nvSpPr>
          <p:cNvPr id="22" name="Can 21"/>
          <p:cNvSpPr/>
          <p:nvPr/>
        </p:nvSpPr>
        <p:spPr>
          <a:xfrm>
            <a:off x="8097618" y="4177014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</p:txBody>
      </p:sp>
      <p:sp>
        <p:nvSpPr>
          <p:cNvPr id="23" name="Can 22"/>
          <p:cNvSpPr/>
          <p:nvPr/>
        </p:nvSpPr>
        <p:spPr>
          <a:xfrm>
            <a:off x="9025995" y="4177014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</p:txBody>
      </p:sp>
      <p:sp>
        <p:nvSpPr>
          <p:cNvPr id="24" name="Can 23"/>
          <p:cNvSpPr/>
          <p:nvPr/>
        </p:nvSpPr>
        <p:spPr>
          <a:xfrm>
            <a:off x="9945693" y="4177014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1FD2F6D-AD03-3567-028A-C06305A58E61}"/>
              </a:ext>
            </a:extLst>
          </p:cNvPr>
          <p:cNvGrpSpPr/>
          <p:nvPr/>
        </p:nvGrpSpPr>
        <p:grpSpPr>
          <a:xfrm>
            <a:off x="9052279" y="1262730"/>
            <a:ext cx="2562351" cy="2261496"/>
            <a:chOff x="9052279" y="1262730"/>
            <a:chExt cx="2562351" cy="2261496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BBCCE305-D303-B5F7-99C8-E0A89EDA97BA}"/>
                </a:ext>
              </a:extLst>
            </p:cNvPr>
            <p:cNvSpPr/>
            <p:nvPr/>
          </p:nvSpPr>
          <p:spPr>
            <a:xfrm>
              <a:off x="9052279" y="1263165"/>
              <a:ext cx="2562351" cy="22610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Order: Ascending</a:t>
              </a: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Target: 68</a:t>
              </a: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No. of comparisons: 1</a:t>
              </a:r>
            </a:p>
            <a:p>
              <a:endPara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endPara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start: 1</a:t>
              </a: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end: 10</a:t>
              </a: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mid: (1+10)//2 = 5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D1AAF2F-489C-5922-BB3F-229169FF52FC}"/>
                </a:ext>
              </a:extLst>
            </p:cNvPr>
            <p:cNvSpPr/>
            <p:nvPr/>
          </p:nvSpPr>
          <p:spPr>
            <a:xfrm>
              <a:off x="9052279" y="1262730"/>
              <a:ext cx="2562351" cy="18043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90028F1-E34F-099B-7E61-432527276C37}"/>
                </a:ext>
              </a:extLst>
            </p:cNvPr>
            <p:cNvSpPr/>
            <p:nvPr/>
          </p:nvSpPr>
          <p:spPr>
            <a:xfrm>
              <a:off x="11434630" y="1262730"/>
              <a:ext cx="180000" cy="18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11A9F52-C678-176B-BA42-83A8A56F2DD1}"/>
                </a:ext>
              </a:extLst>
            </p:cNvPr>
            <p:cNvSpPr/>
            <p:nvPr/>
          </p:nvSpPr>
          <p:spPr>
            <a:xfrm>
              <a:off x="11254630" y="1262730"/>
              <a:ext cx="180000" cy="18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19EAFF8-BE29-A578-F210-B587C8998BB4}"/>
                </a:ext>
              </a:extLst>
            </p:cNvPr>
            <p:cNvSpPr/>
            <p:nvPr/>
          </p:nvSpPr>
          <p:spPr>
            <a:xfrm>
              <a:off x="11074630" y="1262730"/>
              <a:ext cx="180000" cy="18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94365F4E-3024-BC42-6E54-C1175D7FC6A9}"/>
              </a:ext>
            </a:extLst>
          </p:cNvPr>
          <p:cNvSpPr txBox="1"/>
          <p:nvPr/>
        </p:nvSpPr>
        <p:spPr>
          <a:xfrm>
            <a:off x="1564307" y="5445558"/>
            <a:ext cx="873957" cy="36000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HK" b="1" dirty="0">
                <a:latin typeface="Courier New" panose="02070309020205020404" pitchFamily="49" charset="0"/>
                <a:cs typeface="Courier New" panose="02070309020205020404" pitchFamily="49" charset="0"/>
              </a:rPr>
              <a:t>start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0BDC6CC-8BA4-BFDD-714E-87891697C33D}"/>
              </a:ext>
            </a:extLst>
          </p:cNvPr>
          <p:cNvSpPr txBox="1"/>
          <p:nvPr/>
        </p:nvSpPr>
        <p:spPr>
          <a:xfrm>
            <a:off x="5401210" y="5445558"/>
            <a:ext cx="598241" cy="36000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HK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mid</a:t>
            </a:r>
            <a:endParaRPr lang="en-US" b="1" dirty="0">
              <a:solidFill>
                <a:schemeClr val="accent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705F5D6-8AD2-40BD-50E9-5A8D9A27492A}"/>
              </a:ext>
            </a:extLst>
          </p:cNvPr>
          <p:cNvSpPr txBox="1"/>
          <p:nvPr/>
        </p:nvSpPr>
        <p:spPr>
          <a:xfrm>
            <a:off x="10019951" y="5445558"/>
            <a:ext cx="598241" cy="36000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HK" b="1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D9D4960-3229-8651-61E6-5EE9784E15FF}"/>
              </a:ext>
            </a:extLst>
          </p:cNvPr>
          <p:cNvCxnSpPr>
            <a:cxnSpLocks/>
          </p:cNvCxnSpPr>
          <p:nvPr/>
        </p:nvCxnSpPr>
        <p:spPr>
          <a:xfrm flipV="1">
            <a:off x="10319071" y="5125444"/>
            <a:ext cx="0" cy="36000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2202062-7184-CC70-F28A-FAF3A678D5FE}"/>
              </a:ext>
            </a:extLst>
          </p:cNvPr>
          <p:cNvCxnSpPr>
            <a:cxnSpLocks/>
          </p:cNvCxnSpPr>
          <p:nvPr/>
        </p:nvCxnSpPr>
        <p:spPr>
          <a:xfrm flipV="1">
            <a:off x="5700330" y="5125444"/>
            <a:ext cx="0" cy="36000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B39FFF6-D73D-4C97-D117-56AED2711F02}"/>
              </a:ext>
            </a:extLst>
          </p:cNvPr>
          <p:cNvCxnSpPr>
            <a:cxnSpLocks/>
          </p:cNvCxnSpPr>
          <p:nvPr/>
        </p:nvCxnSpPr>
        <p:spPr>
          <a:xfrm flipV="1">
            <a:off x="2001285" y="5125444"/>
            <a:ext cx="0" cy="36000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A2E57D3F-BAC6-97BD-79D1-5233A488EDA1}"/>
              </a:ext>
            </a:extLst>
          </p:cNvPr>
          <p:cNvSpPr/>
          <p:nvPr/>
        </p:nvSpPr>
        <p:spPr>
          <a:xfrm>
            <a:off x="4390676" y="5763529"/>
            <a:ext cx="154241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target &lt; 75</a:t>
            </a:r>
          </a:p>
        </p:txBody>
      </p:sp>
    </p:spTree>
    <p:extLst>
      <p:ext uri="{BB962C8B-B14F-4D97-AF65-F5344CB8AC3E}">
        <p14:creationId xmlns:p14="http://schemas.microsoft.com/office/powerpoint/2010/main" val="1627548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577A35"/>
                </a:solidFill>
              </a:rPr>
              <a:t>Number guessing game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6.1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68530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94014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22824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1634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65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67573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3512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2755" y="4572652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3085" y="4570010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85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71895" y="457742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86314" y="4570010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97</a:t>
            </a:r>
          </a:p>
        </p:txBody>
      </p:sp>
      <p:sp>
        <p:nvSpPr>
          <p:cNvPr id="15" name="Can 14"/>
          <p:cNvSpPr/>
          <p:nvPr/>
        </p:nvSpPr>
        <p:spPr>
          <a:xfrm>
            <a:off x="1627907" y="4177014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6" name="Can 15"/>
          <p:cNvSpPr/>
          <p:nvPr/>
        </p:nvSpPr>
        <p:spPr>
          <a:xfrm>
            <a:off x="2553393" y="4177014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17" name="Can 16"/>
          <p:cNvSpPr/>
          <p:nvPr/>
        </p:nvSpPr>
        <p:spPr>
          <a:xfrm>
            <a:off x="3478877" y="4177014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</p:txBody>
      </p:sp>
      <p:sp>
        <p:nvSpPr>
          <p:cNvPr id="18" name="Can 17"/>
          <p:cNvSpPr/>
          <p:nvPr/>
        </p:nvSpPr>
        <p:spPr>
          <a:xfrm>
            <a:off x="4407254" y="4177014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20" name="Can 19"/>
          <p:cNvSpPr/>
          <p:nvPr/>
        </p:nvSpPr>
        <p:spPr>
          <a:xfrm>
            <a:off x="6246650" y="4177014"/>
            <a:ext cx="746756" cy="881280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</p:txBody>
      </p:sp>
      <p:sp>
        <p:nvSpPr>
          <p:cNvPr id="21" name="Can 20"/>
          <p:cNvSpPr/>
          <p:nvPr/>
        </p:nvSpPr>
        <p:spPr>
          <a:xfrm>
            <a:off x="7172134" y="4177014"/>
            <a:ext cx="746756" cy="881280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</p:txBody>
      </p:sp>
      <p:sp>
        <p:nvSpPr>
          <p:cNvPr id="22" name="Can 21"/>
          <p:cNvSpPr/>
          <p:nvPr/>
        </p:nvSpPr>
        <p:spPr>
          <a:xfrm>
            <a:off x="8097618" y="4177014"/>
            <a:ext cx="746756" cy="881280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</p:txBody>
      </p:sp>
      <p:sp>
        <p:nvSpPr>
          <p:cNvPr id="23" name="Can 22"/>
          <p:cNvSpPr/>
          <p:nvPr/>
        </p:nvSpPr>
        <p:spPr>
          <a:xfrm>
            <a:off x="9025995" y="4177014"/>
            <a:ext cx="746756" cy="881280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</p:txBody>
      </p:sp>
      <p:sp>
        <p:nvSpPr>
          <p:cNvPr id="24" name="Can 23"/>
          <p:cNvSpPr/>
          <p:nvPr/>
        </p:nvSpPr>
        <p:spPr>
          <a:xfrm>
            <a:off x="9945693" y="4177014"/>
            <a:ext cx="746756" cy="881280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1FD2F6D-AD03-3567-028A-C06305A58E61}"/>
              </a:ext>
            </a:extLst>
          </p:cNvPr>
          <p:cNvGrpSpPr/>
          <p:nvPr/>
        </p:nvGrpSpPr>
        <p:grpSpPr>
          <a:xfrm>
            <a:off x="9052279" y="1262730"/>
            <a:ext cx="2562351" cy="2261496"/>
            <a:chOff x="9052279" y="1262730"/>
            <a:chExt cx="2562351" cy="2261496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BBCCE305-D303-B5F7-99C8-E0A89EDA97BA}"/>
                </a:ext>
              </a:extLst>
            </p:cNvPr>
            <p:cNvSpPr/>
            <p:nvPr/>
          </p:nvSpPr>
          <p:spPr>
            <a:xfrm>
              <a:off x="9052279" y="1263165"/>
              <a:ext cx="2562351" cy="22610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Order: Ascending</a:t>
              </a: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Target: 68</a:t>
              </a: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No. of comparisons: 2</a:t>
              </a:r>
            </a:p>
            <a:p>
              <a:endPara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endPara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start: 1</a:t>
              </a: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end: </a:t>
              </a:r>
              <a:r>
                <a:rPr lang="en-US" sz="1400" b="1" dirty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4</a:t>
              </a: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mid: (1+4)//2 = </a:t>
              </a:r>
              <a:r>
                <a:rPr lang="en-US" sz="1400" b="1" dirty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D1AAF2F-489C-5922-BB3F-229169FF52FC}"/>
                </a:ext>
              </a:extLst>
            </p:cNvPr>
            <p:cNvSpPr/>
            <p:nvPr/>
          </p:nvSpPr>
          <p:spPr>
            <a:xfrm>
              <a:off x="9052279" y="1262730"/>
              <a:ext cx="2562351" cy="18043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90028F1-E34F-099B-7E61-432527276C37}"/>
                </a:ext>
              </a:extLst>
            </p:cNvPr>
            <p:cNvSpPr/>
            <p:nvPr/>
          </p:nvSpPr>
          <p:spPr>
            <a:xfrm>
              <a:off x="11434630" y="1262730"/>
              <a:ext cx="180000" cy="18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11A9F52-C678-176B-BA42-83A8A56F2DD1}"/>
                </a:ext>
              </a:extLst>
            </p:cNvPr>
            <p:cNvSpPr/>
            <p:nvPr/>
          </p:nvSpPr>
          <p:spPr>
            <a:xfrm>
              <a:off x="11254630" y="1262730"/>
              <a:ext cx="180000" cy="18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19EAFF8-BE29-A578-F210-B587C8998BB4}"/>
                </a:ext>
              </a:extLst>
            </p:cNvPr>
            <p:cNvSpPr/>
            <p:nvPr/>
          </p:nvSpPr>
          <p:spPr>
            <a:xfrm>
              <a:off x="11074630" y="1262730"/>
              <a:ext cx="180000" cy="18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94365F4E-3024-BC42-6E54-C1175D7FC6A9}"/>
              </a:ext>
            </a:extLst>
          </p:cNvPr>
          <p:cNvSpPr txBox="1"/>
          <p:nvPr/>
        </p:nvSpPr>
        <p:spPr>
          <a:xfrm>
            <a:off x="1564307" y="5445558"/>
            <a:ext cx="873957" cy="36000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HK" b="1" dirty="0">
                <a:latin typeface="Courier New" panose="02070309020205020404" pitchFamily="49" charset="0"/>
                <a:cs typeface="Courier New" panose="02070309020205020404" pitchFamily="49" charset="0"/>
              </a:rPr>
              <a:t>start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0BDC6CC-8BA4-BFDD-714E-87891697C33D}"/>
              </a:ext>
            </a:extLst>
          </p:cNvPr>
          <p:cNvSpPr txBox="1"/>
          <p:nvPr/>
        </p:nvSpPr>
        <p:spPr>
          <a:xfrm>
            <a:off x="2627651" y="5445558"/>
            <a:ext cx="598241" cy="36000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HK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mid</a:t>
            </a:r>
            <a:endParaRPr lang="en-US" b="1" dirty="0">
              <a:solidFill>
                <a:schemeClr val="accent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705F5D6-8AD2-40BD-50E9-5A8D9A27492A}"/>
              </a:ext>
            </a:extLst>
          </p:cNvPr>
          <p:cNvSpPr txBox="1"/>
          <p:nvPr/>
        </p:nvSpPr>
        <p:spPr>
          <a:xfrm>
            <a:off x="4481512" y="5445558"/>
            <a:ext cx="598241" cy="36000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HK" b="1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D9D4960-3229-8651-61E6-5EE9784E15FF}"/>
              </a:ext>
            </a:extLst>
          </p:cNvPr>
          <p:cNvCxnSpPr>
            <a:cxnSpLocks/>
          </p:cNvCxnSpPr>
          <p:nvPr/>
        </p:nvCxnSpPr>
        <p:spPr>
          <a:xfrm flipV="1">
            <a:off x="4780632" y="5125444"/>
            <a:ext cx="0" cy="36000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2202062-7184-CC70-F28A-FAF3A678D5FE}"/>
              </a:ext>
            </a:extLst>
          </p:cNvPr>
          <p:cNvCxnSpPr>
            <a:cxnSpLocks/>
          </p:cNvCxnSpPr>
          <p:nvPr/>
        </p:nvCxnSpPr>
        <p:spPr>
          <a:xfrm flipV="1">
            <a:off x="2926771" y="5125444"/>
            <a:ext cx="0" cy="36000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B39FFF6-D73D-4C97-D117-56AED2711F02}"/>
              </a:ext>
            </a:extLst>
          </p:cNvPr>
          <p:cNvCxnSpPr>
            <a:cxnSpLocks/>
          </p:cNvCxnSpPr>
          <p:nvPr/>
        </p:nvCxnSpPr>
        <p:spPr>
          <a:xfrm flipV="1">
            <a:off x="2001285" y="5125444"/>
            <a:ext cx="0" cy="36000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Can 18">
            <a:extLst>
              <a:ext uri="{FF2B5EF4-FFF2-40B4-BE49-F238E27FC236}">
                <a16:creationId xmlns:a16="http://schemas.microsoft.com/office/drawing/2014/main" id="{6BD0FE9D-00AE-2D13-44AC-E609273BA804}"/>
              </a:ext>
            </a:extLst>
          </p:cNvPr>
          <p:cNvSpPr/>
          <p:nvPr/>
        </p:nvSpPr>
        <p:spPr>
          <a:xfrm>
            <a:off x="5326952" y="3112983"/>
            <a:ext cx="746756" cy="881280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2009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577A35"/>
                </a:solidFill>
              </a:rPr>
              <a:t>Number guessing game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6.1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68530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94014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22824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1634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65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67573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3512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2755" y="4572652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3085" y="4570010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85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71895" y="457742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86314" y="4570010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97</a:t>
            </a:r>
          </a:p>
        </p:txBody>
      </p:sp>
      <p:sp>
        <p:nvSpPr>
          <p:cNvPr id="15" name="Can 14"/>
          <p:cNvSpPr/>
          <p:nvPr/>
        </p:nvSpPr>
        <p:spPr>
          <a:xfrm>
            <a:off x="1627907" y="4177014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6" name="Can 15"/>
          <p:cNvSpPr/>
          <p:nvPr/>
        </p:nvSpPr>
        <p:spPr>
          <a:xfrm>
            <a:off x="2553393" y="3112983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17" name="Can 16"/>
          <p:cNvSpPr/>
          <p:nvPr/>
        </p:nvSpPr>
        <p:spPr>
          <a:xfrm>
            <a:off x="3478877" y="4177014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</p:txBody>
      </p:sp>
      <p:sp>
        <p:nvSpPr>
          <p:cNvPr id="18" name="Can 17"/>
          <p:cNvSpPr/>
          <p:nvPr/>
        </p:nvSpPr>
        <p:spPr>
          <a:xfrm>
            <a:off x="4407254" y="4177014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20" name="Can 19"/>
          <p:cNvSpPr/>
          <p:nvPr/>
        </p:nvSpPr>
        <p:spPr>
          <a:xfrm>
            <a:off x="6246650" y="4177014"/>
            <a:ext cx="746756" cy="881280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</p:txBody>
      </p:sp>
      <p:sp>
        <p:nvSpPr>
          <p:cNvPr id="21" name="Can 20"/>
          <p:cNvSpPr/>
          <p:nvPr/>
        </p:nvSpPr>
        <p:spPr>
          <a:xfrm>
            <a:off x="7172134" y="4177014"/>
            <a:ext cx="746756" cy="881280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</p:txBody>
      </p:sp>
      <p:sp>
        <p:nvSpPr>
          <p:cNvPr id="22" name="Can 21"/>
          <p:cNvSpPr/>
          <p:nvPr/>
        </p:nvSpPr>
        <p:spPr>
          <a:xfrm>
            <a:off x="8097618" y="4177014"/>
            <a:ext cx="746756" cy="881280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</p:txBody>
      </p:sp>
      <p:sp>
        <p:nvSpPr>
          <p:cNvPr id="23" name="Can 22"/>
          <p:cNvSpPr/>
          <p:nvPr/>
        </p:nvSpPr>
        <p:spPr>
          <a:xfrm>
            <a:off x="9025995" y="4177014"/>
            <a:ext cx="746756" cy="881280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</p:txBody>
      </p:sp>
      <p:sp>
        <p:nvSpPr>
          <p:cNvPr id="24" name="Can 23"/>
          <p:cNvSpPr/>
          <p:nvPr/>
        </p:nvSpPr>
        <p:spPr>
          <a:xfrm>
            <a:off x="9945693" y="4177014"/>
            <a:ext cx="746756" cy="881280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1FD2F6D-AD03-3567-028A-C06305A58E61}"/>
              </a:ext>
            </a:extLst>
          </p:cNvPr>
          <p:cNvGrpSpPr/>
          <p:nvPr/>
        </p:nvGrpSpPr>
        <p:grpSpPr>
          <a:xfrm>
            <a:off x="9052279" y="1262730"/>
            <a:ext cx="2562351" cy="2261496"/>
            <a:chOff x="9052279" y="1262730"/>
            <a:chExt cx="2562351" cy="2261496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BBCCE305-D303-B5F7-99C8-E0A89EDA97BA}"/>
                </a:ext>
              </a:extLst>
            </p:cNvPr>
            <p:cNvSpPr/>
            <p:nvPr/>
          </p:nvSpPr>
          <p:spPr>
            <a:xfrm>
              <a:off x="9052279" y="1263165"/>
              <a:ext cx="2562351" cy="22610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Order: Ascending</a:t>
              </a: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Target: 68</a:t>
              </a: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No. of comparisons: </a:t>
              </a:r>
              <a:r>
                <a:rPr lang="en-US" sz="1400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</a:p>
            <a:p>
              <a:r>
                <a:rPr lang="en-US" sz="1400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DO NOT MATCH!</a:t>
              </a:r>
            </a:p>
            <a:p>
              <a:endPara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start: 1</a:t>
              </a: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end: 4</a:t>
              </a: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mid: (1+4)//2 = 2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D1AAF2F-489C-5922-BB3F-229169FF52FC}"/>
                </a:ext>
              </a:extLst>
            </p:cNvPr>
            <p:cNvSpPr/>
            <p:nvPr/>
          </p:nvSpPr>
          <p:spPr>
            <a:xfrm>
              <a:off x="9052279" y="1262730"/>
              <a:ext cx="2562351" cy="18043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90028F1-E34F-099B-7E61-432527276C37}"/>
                </a:ext>
              </a:extLst>
            </p:cNvPr>
            <p:cNvSpPr/>
            <p:nvPr/>
          </p:nvSpPr>
          <p:spPr>
            <a:xfrm>
              <a:off x="11434630" y="1262730"/>
              <a:ext cx="180000" cy="18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11A9F52-C678-176B-BA42-83A8A56F2DD1}"/>
                </a:ext>
              </a:extLst>
            </p:cNvPr>
            <p:cNvSpPr/>
            <p:nvPr/>
          </p:nvSpPr>
          <p:spPr>
            <a:xfrm>
              <a:off x="11254630" y="1262730"/>
              <a:ext cx="180000" cy="18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19EAFF8-BE29-A578-F210-B587C8998BB4}"/>
                </a:ext>
              </a:extLst>
            </p:cNvPr>
            <p:cNvSpPr/>
            <p:nvPr/>
          </p:nvSpPr>
          <p:spPr>
            <a:xfrm>
              <a:off x="11074630" y="1262730"/>
              <a:ext cx="180000" cy="18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94365F4E-3024-BC42-6E54-C1175D7FC6A9}"/>
              </a:ext>
            </a:extLst>
          </p:cNvPr>
          <p:cNvSpPr txBox="1"/>
          <p:nvPr/>
        </p:nvSpPr>
        <p:spPr>
          <a:xfrm>
            <a:off x="1564307" y="5445558"/>
            <a:ext cx="873957" cy="36000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HK" b="1" dirty="0">
                <a:latin typeface="Courier New" panose="02070309020205020404" pitchFamily="49" charset="0"/>
                <a:cs typeface="Courier New" panose="02070309020205020404" pitchFamily="49" charset="0"/>
              </a:rPr>
              <a:t>start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0BDC6CC-8BA4-BFDD-714E-87891697C33D}"/>
              </a:ext>
            </a:extLst>
          </p:cNvPr>
          <p:cNvSpPr txBox="1"/>
          <p:nvPr/>
        </p:nvSpPr>
        <p:spPr>
          <a:xfrm>
            <a:off x="2627651" y="5445558"/>
            <a:ext cx="598241" cy="36000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HK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mid</a:t>
            </a:r>
            <a:endParaRPr lang="en-US" b="1" dirty="0">
              <a:solidFill>
                <a:schemeClr val="accent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705F5D6-8AD2-40BD-50E9-5A8D9A27492A}"/>
              </a:ext>
            </a:extLst>
          </p:cNvPr>
          <p:cNvSpPr txBox="1"/>
          <p:nvPr/>
        </p:nvSpPr>
        <p:spPr>
          <a:xfrm>
            <a:off x="4481512" y="5445558"/>
            <a:ext cx="598241" cy="36000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HK" b="1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D9D4960-3229-8651-61E6-5EE9784E15FF}"/>
              </a:ext>
            </a:extLst>
          </p:cNvPr>
          <p:cNvCxnSpPr>
            <a:cxnSpLocks/>
          </p:cNvCxnSpPr>
          <p:nvPr/>
        </p:nvCxnSpPr>
        <p:spPr>
          <a:xfrm flipV="1">
            <a:off x="4780632" y="5125444"/>
            <a:ext cx="0" cy="36000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2202062-7184-CC70-F28A-FAF3A678D5FE}"/>
              </a:ext>
            </a:extLst>
          </p:cNvPr>
          <p:cNvCxnSpPr>
            <a:cxnSpLocks/>
          </p:cNvCxnSpPr>
          <p:nvPr/>
        </p:nvCxnSpPr>
        <p:spPr>
          <a:xfrm flipV="1">
            <a:off x="2926771" y="5125444"/>
            <a:ext cx="0" cy="36000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B39FFF6-D73D-4C97-D117-56AED2711F02}"/>
              </a:ext>
            </a:extLst>
          </p:cNvPr>
          <p:cNvCxnSpPr>
            <a:cxnSpLocks/>
          </p:cNvCxnSpPr>
          <p:nvPr/>
        </p:nvCxnSpPr>
        <p:spPr>
          <a:xfrm flipV="1">
            <a:off x="2001285" y="5125444"/>
            <a:ext cx="0" cy="36000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Can 18">
            <a:extLst>
              <a:ext uri="{FF2B5EF4-FFF2-40B4-BE49-F238E27FC236}">
                <a16:creationId xmlns:a16="http://schemas.microsoft.com/office/drawing/2014/main" id="{6BD0FE9D-00AE-2D13-44AC-E609273BA804}"/>
              </a:ext>
            </a:extLst>
          </p:cNvPr>
          <p:cNvSpPr/>
          <p:nvPr/>
        </p:nvSpPr>
        <p:spPr>
          <a:xfrm>
            <a:off x="5326952" y="3112983"/>
            <a:ext cx="746756" cy="881280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95759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577A35"/>
                </a:solidFill>
              </a:rPr>
              <a:t>Number guessing game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6.1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68530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94014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22824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1634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65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67573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3512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2755" y="4572652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3085" y="4570010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85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71895" y="457742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86314" y="4570010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97</a:t>
            </a:r>
          </a:p>
        </p:txBody>
      </p:sp>
      <p:sp>
        <p:nvSpPr>
          <p:cNvPr id="15" name="Can 14"/>
          <p:cNvSpPr/>
          <p:nvPr/>
        </p:nvSpPr>
        <p:spPr>
          <a:xfrm>
            <a:off x="1627907" y="4177014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6" name="Can 15"/>
          <p:cNvSpPr/>
          <p:nvPr/>
        </p:nvSpPr>
        <p:spPr>
          <a:xfrm>
            <a:off x="2553393" y="3112983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17" name="Can 16"/>
          <p:cNvSpPr/>
          <p:nvPr/>
        </p:nvSpPr>
        <p:spPr>
          <a:xfrm>
            <a:off x="3478877" y="4177014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</p:txBody>
      </p:sp>
      <p:sp>
        <p:nvSpPr>
          <p:cNvPr id="18" name="Can 17"/>
          <p:cNvSpPr/>
          <p:nvPr/>
        </p:nvSpPr>
        <p:spPr>
          <a:xfrm>
            <a:off x="4407254" y="4177014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20" name="Can 19"/>
          <p:cNvSpPr/>
          <p:nvPr/>
        </p:nvSpPr>
        <p:spPr>
          <a:xfrm>
            <a:off x="6246650" y="4177014"/>
            <a:ext cx="746756" cy="881280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</p:txBody>
      </p:sp>
      <p:sp>
        <p:nvSpPr>
          <p:cNvPr id="21" name="Can 20"/>
          <p:cNvSpPr/>
          <p:nvPr/>
        </p:nvSpPr>
        <p:spPr>
          <a:xfrm>
            <a:off x="7172134" y="4177014"/>
            <a:ext cx="746756" cy="881280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</p:txBody>
      </p:sp>
      <p:sp>
        <p:nvSpPr>
          <p:cNvPr id="22" name="Can 21"/>
          <p:cNvSpPr/>
          <p:nvPr/>
        </p:nvSpPr>
        <p:spPr>
          <a:xfrm>
            <a:off x="8097618" y="4177014"/>
            <a:ext cx="746756" cy="881280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</p:txBody>
      </p:sp>
      <p:sp>
        <p:nvSpPr>
          <p:cNvPr id="23" name="Can 22"/>
          <p:cNvSpPr/>
          <p:nvPr/>
        </p:nvSpPr>
        <p:spPr>
          <a:xfrm>
            <a:off x="9025995" y="4177014"/>
            <a:ext cx="746756" cy="881280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</p:txBody>
      </p:sp>
      <p:sp>
        <p:nvSpPr>
          <p:cNvPr id="24" name="Can 23"/>
          <p:cNvSpPr/>
          <p:nvPr/>
        </p:nvSpPr>
        <p:spPr>
          <a:xfrm>
            <a:off x="9945693" y="4177014"/>
            <a:ext cx="746756" cy="881280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1FD2F6D-AD03-3567-028A-C06305A58E61}"/>
              </a:ext>
            </a:extLst>
          </p:cNvPr>
          <p:cNvGrpSpPr/>
          <p:nvPr/>
        </p:nvGrpSpPr>
        <p:grpSpPr>
          <a:xfrm>
            <a:off x="9052279" y="1262730"/>
            <a:ext cx="2562351" cy="2261496"/>
            <a:chOff x="9052279" y="1262730"/>
            <a:chExt cx="2562351" cy="2261496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BBCCE305-D303-B5F7-99C8-E0A89EDA97BA}"/>
                </a:ext>
              </a:extLst>
            </p:cNvPr>
            <p:cNvSpPr/>
            <p:nvPr/>
          </p:nvSpPr>
          <p:spPr>
            <a:xfrm>
              <a:off x="9052279" y="1263165"/>
              <a:ext cx="2562351" cy="22610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Order: Ascending</a:t>
              </a: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Target: 68</a:t>
              </a: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No. of comparisons: 2</a:t>
              </a:r>
            </a:p>
            <a:p>
              <a:endPara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endPara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start: 1</a:t>
              </a: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end: 4</a:t>
              </a: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mid: (1+4)//2 = 2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D1AAF2F-489C-5922-BB3F-229169FF52FC}"/>
                </a:ext>
              </a:extLst>
            </p:cNvPr>
            <p:cNvSpPr/>
            <p:nvPr/>
          </p:nvSpPr>
          <p:spPr>
            <a:xfrm>
              <a:off x="9052279" y="1262730"/>
              <a:ext cx="2562351" cy="18043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90028F1-E34F-099B-7E61-432527276C37}"/>
                </a:ext>
              </a:extLst>
            </p:cNvPr>
            <p:cNvSpPr/>
            <p:nvPr/>
          </p:nvSpPr>
          <p:spPr>
            <a:xfrm>
              <a:off x="11434630" y="1262730"/>
              <a:ext cx="180000" cy="18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11A9F52-C678-176B-BA42-83A8A56F2DD1}"/>
                </a:ext>
              </a:extLst>
            </p:cNvPr>
            <p:cNvSpPr/>
            <p:nvPr/>
          </p:nvSpPr>
          <p:spPr>
            <a:xfrm>
              <a:off x="11254630" y="1262730"/>
              <a:ext cx="180000" cy="18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19EAFF8-BE29-A578-F210-B587C8998BB4}"/>
                </a:ext>
              </a:extLst>
            </p:cNvPr>
            <p:cNvSpPr/>
            <p:nvPr/>
          </p:nvSpPr>
          <p:spPr>
            <a:xfrm>
              <a:off x="11074630" y="1262730"/>
              <a:ext cx="180000" cy="18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94365F4E-3024-BC42-6E54-C1175D7FC6A9}"/>
              </a:ext>
            </a:extLst>
          </p:cNvPr>
          <p:cNvSpPr txBox="1"/>
          <p:nvPr/>
        </p:nvSpPr>
        <p:spPr>
          <a:xfrm>
            <a:off x="1564307" y="5445558"/>
            <a:ext cx="873957" cy="36000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HK" b="1" dirty="0">
                <a:latin typeface="Courier New" panose="02070309020205020404" pitchFamily="49" charset="0"/>
                <a:cs typeface="Courier New" panose="02070309020205020404" pitchFamily="49" charset="0"/>
              </a:rPr>
              <a:t>start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0BDC6CC-8BA4-BFDD-714E-87891697C33D}"/>
              </a:ext>
            </a:extLst>
          </p:cNvPr>
          <p:cNvSpPr txBox="1"/>
          <p:nvPr/>
        </p:nvSpPr>
        <p:spPr>
          <a:xfrm>
            <a:off x="2627651" y="5445558"/>
            <a:ext cx="598241" cy="36000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HK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mid</a:t>
            </a:r>
            <a:endParaRPr lang="en-US" b="1" dirty="0">
              <a:solidFill>
                <a:schemeClr val="accent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705F5D6-8AD2-40BD-50E9-5A8D9A27492A}"/>
              </a:ext>
            </a:extLst>
          </p:cNvPr>
          <p:cNvSpPr txBox="1"/>
          <p:nvPr/>
        </p:nvSpPr>
        <p:spPr>
          <a:xfrm>
            <a:off x="4481512" y="5445558"/>
            <a:ext cx="598241" cy="36000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HK" b="1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D9D4960-3229-8651-61E6-5EE9784E15FF}"/>
              </a:ext>
            </a:extLst>
          </p:cNvPr>
          <p:cNvCxnSpPr>
            <a:cxnSpLocks/>
          </p:cNvCxnSpPr>
          <p:nvPr/>
        </p:nvCxnSpPr>
        <p:spPr>
          <a:xfrm flipV="1">
            <a:off x="4780632" y="5125444"/>
            <a:ext cx="0" cy="36000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2202062-7184-CC70-F28A-FAF3A678D5FE}"/>
              </a:ext>
            </a:extLst>
          </p:cNvPr>
          <p:cNvCxnSpPr>
            <a:cxnSpLocks/>
          </p:cNvCxnSpPr>
          <p:nvPr/>
        </p:nvCxnSpPr>
        <p:spPr>
          <a:xfrm flipV="1">
            <a:off x="2926771" y="5125444"/>
            <a:ext cx="0" cy="36000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B39FFF6-D73D-4C97-D117-56AED2711F02}"/>
              </a:ext>
            </a:extLst>
          </p:cNvPr>
          <p:cNvCxnSpPr>
            <a:cxnSpLocks/>
          </p:cNvCxnSpPr>
          <p:nvPr/>
        </p:nvCxnSpPr>
        <p:spPr>
          <a:xfrm flipV="1">
            <a:off x="2001285" y="5125444"/>
            <a:ext cx="0" cy="36000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Can 18">
            <a:extLst>
              <a:ext uri="{FF2B5EF4-FFF2-40B4-BE49-F238E27FC236}">
                <a16:creationId xmlns:a16="http://schemas.microsoft.com/office/drawing/2014/main" id="{6BD0FE9D-00AE-2D13-44AC-E609273BA804}"/>
              </a:ext>
            </a:extLst>
          </p:cNvPr>
          <p:cNvSpPr/>
          <p:nvPr/>
        </p:nvSpPr>
        <p:spPr>
          <a:xfrm>
            <a:off x="5326952" y="3112983"/>
            <a:ext cx="746756" cy="881280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9B0FC8C-E2E9-800A-5217-263EA0DB31D0}"/>
              </a:ext>
            </a:extLst>
          </p:cNvPr>
          <p:cNvSpPr/>
          <p:nvPr/>
        </p:nvSpPr>
        <p:spPr>
          <a:xfrm>
            <a:off x="2694014" y="5770502"/>
            <a:ext cx="154241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51 &lt; target</a:t>
            </a:r>
          </a:p>
        </p:txBody>
      </p:sp>
    </p:spTree>
    <p:extLst>
      <p:ext uri="{BB962C8B-B14F-4D97-AF65-F5344CB8AC3E}">
        <p14:creationId xmlns:p14="http://schemas.microsoft.com/office/powerpoint/2010/main" val="1724164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577A35"/>
                </a:solidFill>
              </a:rPr>
              <a:t>Number guessing game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6.1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68530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94014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22824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1634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65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67573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3512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2755" y="4572652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3085" y="4570010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85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71895" y="457742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86314" y="4570010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97</a:t>
            </a:r>
          </a:p>
        </p:txBody>
      </p:sp>
      <p:sp>
        <p:nvSpPr>
          <p:cNvPr id="15" name="Can 14"/>
          <p:cNvSpPr/>
          <p:nvPr/>
        </p:nvSpPr>
        <p:spPr>
          <a:xfrm>
            <a:off x="1627907" y="4177014"/>
            <a:ext cx="746756" cy="881280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6" name="Can 15"/>
          <p:cNvSpPr/>
          <p:nvPr/>
        </p:nvSpPr>
        <p:spPr>
          <a:xfrm>
            <a:off x="2553393" y="3112983"/>
            <a:ext cx="746756" cy="881280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17" name="Can 16"/>
          <p:cNvSpPr/>
          <p:nvPr/>
        </p:nvSpPr>
        <p:spPr>
          <a:xfrm>
            <a:off x="3478877" y="4177014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</p:txBody>
      </p:sp>
      <p:sp>
        <p:nvSpPr>
          <p:cNvPr id="18" name="Can 17"/>
          <p:cNvSpPr/>
          <p:nvPr/>
        </p:nvSpPr>
        <p:spPr>
          <a:xfrm>
            <a:off x="4407254" y="4177014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20" name="Can 19"/>
          <p:cNvSpPr/>
          <p:nvPr/>
        </p:nvSpPr>
        <p:spPr>
          <a:xfrm>
            <a:off x="6246650" y="4177014"/>
            <a:ext cx="746756" cy="881280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</p:txBody>
      </p:sp>
      <p:sp>
        <p:nvSpPr>
          <p:cNvPr id="21" name="Can 20"/>
          <p:cNvSpPr/>
          <p:nvPr/>
        </p:nvSpPr>
        <p:spPr>
          <a:xfrm>
            <a:off x="7172134" y="4177014"/>
            <a:ext cx="746756" cy="881280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</p:txBody>
      </p:sp>
      <p:sp>
        <p:nvSpPr>
          <p:cNvPr id="22" name="Can 21"/>
          <p:cNvSpPr/>
          <p:nvPr/>
        </p:nvSpPr>
        <p:spPr>
          <a:xfrm>
            <a:off x="8097618" y="4177014"/>
            <a:ext cx="746756" cy="881280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</p:txBody>
      </p:sp>
      <p:sp>
        <p:nvSpPr>
          <p:cNvPr id="23" name="Can 22"/>
          <p:cNvSpPr/>
          <p:nvPr/>
        </p:nvSpPr>
        <p:spPr>
          <a:xfrm>
            <a:off x="9025995" y="4177014"/>
            <a:ext cx="746756" cy="881280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</p:txBody>
      </p:sp>
      <p:sp>
        <p:nvSpPr>
          <p:cNvPr id="24" name="Can 23"/>
          <p:cNvSpPr/>
          <p:nvPr/>
        </p:nvSpPr>
        <p:spPr>
          <a:xfrm>
            <a:off x="9945693" y="4177014"/>
            <a:ext cx="746756" cy="881280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1FD2F6D-AD03-3567-028A-C06305A58E61}"/>
              </a:ext>
            </a:extLst>
          </p:cNvPr>
          <p:cNvGrpSpPr/>
          <p:nvPr/>
        </p:nvGrpSpPr>
        <p:grpSpPr>
          <a:xfrm>
            <a:off x="9052279" y="1262730"/>
            <a:ext cx="2562351" cy="2261496"/>
            <a:chOff x="9052279" y="1262730"/>
            <a:chExt cx="2562351" cy="2261496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BBCCE305-D303-B5F7-99C8-E0A89EDA97BA}"/>
                </a:ext>
              </a:extLst>
            </p:cNvPr>
            <p:cNvSpPr/>
            <p:nvPr/>
          </p:nvSpPr>
          <p:spPr>
            <a:xfrm>
              <a:off x="9052279" y="1263165"/>
              <a:ext cx="2562351" cy="22610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Order: Ascending</a:t>
              </a: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Target: 68</a:t>
              </a: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No. of comparisons: 2</a:t>
              </a:r>
            </a:p>
            <a:p>
              <a:endPara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endPara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start: </a:t>
              </a:r>
              <a:r>
                <a:rPr lang="en-US" sz="1400" b="1" dirty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end: 4</a:t>
              </a: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mid: (3+4)//2 = </a:t>
              </a:r>
              <a:r>
                <a:rPr lang="en-US" sz="1400" b="1" dirty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D1AAF2F-489C-5922-BB3F-229169FF52FC}"/>
                </a:ext>
              </a:extLst>
            </p:cNvPr>
            <p:cNvSpPr/>
            <p:nvPr/>
          </p:nvSpPr>
          <p:spPr>
            <a:xfrm>
              <a:off x="9052279" y="1262730"/>
              <a:ext cx="2562351" cy="18043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90028F1-E34F-099B-7E61-432527276C37}"/>
                </a:ext>
              </a:extLst>
            </p:cNvPr>
            <p:cNvSpPr/>
            <p:nvPr/>
          </p:nvSpPr>
          <p:spPr>
            <a:xfrm>
              <a:off x="11434630" y="1262730"/>
              <a:ext cx="180000" cy="18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11A9F52-C678-176B-BA42-83A8A56F2DD1}"/>
                </a:ext>
              </a:extLst>
            </p:cNvPr>
            <p:cNvSpPr/>
            <p:nvPr/>
          </p:nvSpPr>
          <p:spPr>
            <a:xfrm>
              <a:off x="11254630" y="1262730"/>
              <a:ext cx="180000" cy="18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19EAFF8-BE29-A578-F210-B587C8998BB4}"/>
                </a:ext>
              </a:extLst>
            </p:cNvPr>
            <p:cNvSpPr/>
            <p:nvPr/>
          </p:nvSpPr>
          <p:spPr>
            <a:xfrm>
              <a:off x="11074630" y="1262730"/>
              <a:ext cx="180000" cy="18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94365F4E-3024-BC42-6E54-C1175D7FC6A9}"/>
              </a:ext>
            </a:extLst>
          </p:cNvPr>
          <p:cNvSpPr txBox="1"/>
          <p:nvPr/>
        </p:nvSpPr>
        <p:spPr>
          <a:xfrm>
            <a:off x="3415276" y="5445558"/>
            <a:ext cx="873957" cy="36000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HK" b="1" dirty="0">
                <a:latin typeface="Courier New" panose="02070309020205020404" pitchFamily="49" charset="0"/>
                <a:cs typeface="Courier New" panose="02070309020205020404" pitchFamily="49" charset="0"/>
              </a:rPr>
              <a:t>start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0BDC6CC-8BA4-BFDD-714E-87891697C33D}"/>
              </a:ext>
            </a:extLst>
          </p:cNvPr>
          <p:cNvSpPr txBox="1"/>
          <p:nvPr/>
        </p:nvSpPr>
        <p:spPr>
          <a:xfrm>
            <a:off x="3553134" y="5734800"/>
            <a:ext cx="598241" cy="36000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HK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mid</a:t>
            </a:r>
            <a:endParaRPr lang="en-US" b="1" dirty="0">
              <a:solidFill>
                <a:schemeClr val="accent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705F5D6-8AD2-40BD-50E9-5A8D9A27492A}"/>
              </a:ext>
            </a:extLst>
          </p:cNvPr>
          <p:cNvSpPr txBox="1"/>
          <p:nvPr/>
        </p:nvSpPr>
        <p:spPr>
          <a:xfrm>
            <a:off x="4481512" y="5445558"/>
            <a:ext cx="598241" cy="36000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HK" b="1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D9D4960-3229-8651-61E6-5EE9784E15FF}"/>
              </a:ext>
            </a:extLst>
          </p:cNvPr>
          <p:cNvCxnSpPr>
            <a:cxnSpLocks/>
          </p:cNvCxnSpPr>
          <p:nvPr/>
        </p:nvCxnSpPr>
        <p:spPr>
          <a:xfrm flipV="1">
            <a:off x="4780632" y="5125444"/>
            <a:ext cx="0" cy="36000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2202062-7184-CC70-F28A-FAF3A678D5FE}"/>
              </a:ext>
            </a:extLst>
          </p:cNvPr>
          <p:cNvCxnSpPr>
            <a:cxnSpLocks/>
          </p:cNvCxnSpPr>
          <p:nvPr/>
        </p:nvCxnSpPr>
        <p:spPr>
          <a:xfrm flipV="1">
            <a:off x="3852255" y="5125444"/>
            <a:ext cx="0" cy="36000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Can 18">
            <a:extLst>
              <a:ext uri="{FF2B5EF4-FFF2-40B4-BE49-F238E27FC236}">
                <a16:creationId xmlns:a16="http://schemas.microsoft.com/office/drawing/2014/main" id="{6BD0FE9D-00AE-2D13-44AC-E609273BA804}"/>
              </a:ext>
            </a:extLst>
          </p:cNvPr>
          <p:cNvSpPr/>
          <p:nvPr/>
        </p:nvSpPr>
        <p:spPr>
          <a:xfrm>
            <a:off x="5326952" y="3112983"/>
            <a:ext cx="746756" cy="881280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546856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577A35"/>
                </a:solidFill>
              </a:rPr>
              <a:t>Number guessing game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6.1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68530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94014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22824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1634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65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67573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3512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2755" y="4572652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3085" y="4570010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85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71895" y="457742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86314" y="4570010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97</a:t>
            </a:r>
          </a:p>
        </p:txBody>
      </p:sp>
      <p:sp>
        <p:nvSpPr>
          <p:cNvPr id="15" name="Can 14"/>
          <p:cNvSpPr/>
          <p:nvPr/>
        </p:nvSpPr>
        <p:spPr>
          <a:xfrm>
            <a:off x="1627907" y="4177014"/>
            <a:ext cx="746756" cy="881280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6" name="Can 15"/>
          <p:cNvSpPr/>
          <p:nvPr/>
        </p:nvSpPr>
        <p:spPr>
          <a:xfrm>
            <a:off x="2553393" y="3112983"/>
            <a:ext cx="746756" cy="881280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17" name="Can 16"/>
          <p:cNvSpPr/>
          <p:nvPr/>
        </p:nvSpPr>
        <p:spPr>
          <a:xfrm>
            <a:off x="3478877" y="3112983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</p:txBody>
      </p:sp>
      <p:sp>
        <p:nvSpPr>
          <p:cNvPr id="18" name="Can 17"/>
          <p:cNvSpPr/>
          <p:nvPr/>
        </p:nvSpPr>
        <p:spPr>
          <a:xfrm>
            <a:off x="4407254" y="4177014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20" name="Can 19"/>
          <p:cNvSpPr/>
          <p:nvPr/>
        </p:nvSpPr>
        <p:spPr>
          <a:xfrm>
            <a:off x="6246650" y="4177014"/>
            <a:ext cx="746756" cy="881280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</p:txBody>
      </p:sp>
      <p:sp>
        <p:nvSpPr>
          <p:cNvPr id="21" name="Can 20"/>
          <p:cNvSpPr/>
          <p:nvPr/>
        </p:nvSpPr>
        <p:spPr>
          <a:xfrm>
            <a:off x="7172134" y="4177014"/>
            <a:ext cx="746756" cy="881280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</p:txBody>
      </p:sp>
      <p:sp>
        <p:nvSpPr>
          <p:cNvPr id="22" name="Can 21"/>
          <p:cNvSpPr/>
          <p:nvPr/>
        </p:nvSpPr>
        <p:spPr>
          <a:xfrm>
            <a:off x="8097618" y="4177014"/>
            <a:ext cx="746756" cy="881280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</p:txBody>
      </p:sp>
      <p:sp>
        <p:nvSpPr>
          <p:cNvPr id="23" name="Can 22"/>
          <p:cNvSpPr/>
          <p:nvPr/>
        </p:nvSpPr>
        <p:spPr>
          <a:xfrm>
            <a:off x="9025995" y="4177014"/>
            <a:ext cx="746756" cy="881280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</p:txBody>
      </p:sp>
      <p:sp>
        <p:nvSpPr>
          <p:cNvPr id="24" name="Can 23"/>
          <p:cNvSpPr/>
          <p:nvPr/>
        </p:nvSpPr>
        <p:spPr>
          <a:xfrm>
            <a:off x="9945693" y="4177014"/>
            <a:ext cx="746756" cy="881280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1FD2F6D-AD03-3567-028A-C06305A58E61}"/>
              </a:ext>
            </a:extLst>
          </p:cNvPr>
          <p:cNvGrpSpPr/>
          <p:nvPr/>
        </p:nvGrpSpPr>
        <p:grpSpPr>
          <a:xfrm>
            <a:off x="9052279" y="1262730"/>
            <a:ext cx="2562351" cy="2261496"/>
            <a:chOff x="9052279" y="1262730"/>
            <a:chExt cx="2562351" cy="2261496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BBCCE305-D303-B5F7-99C8-E0A89EDA97BA}"/>
                </a:ext>
              </a:extLst>
            </p:cNvPr>
            <p:cNvSpPr/>
            <p:nvPr/>
          </p:nvSpPr>
          <p:spPr>
            <a:xfrm>
              <a:off x="9052279" y="1263165"/>
              <a:ext cx="2562351" cy="22610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Order: Ascending</a:t>
              </a: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Target: 68</a:t>
              </a: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No. of comparisons: </a:t>
              </a:r>
              <a:r>
                <a:rPr lang="en-US" sz="1400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</a:p>
            <a:p>
              <a:r>
                <a:rPr lang="en-US" sz="1400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DO NOT MATCH!</a:t>
              </a:r>
            </a:p>
            <a:p>
              <a:endPara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start: 3</a:t>
              </a: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end: 4</a:t>
              </a: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mid: (3+4)//2 = 3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D1AAF2F-489C-5922-BB3F-229169FF52FC}"/>
                </a:ext>
              </a:extLst>
            </p:cNvPr>
            <p:cNvSpPr/>
            <p:nvPr/>
          </p:nvSpPr>
          <p:spPr>
            <a:xfrm>
              <a:off x="9052279" y="1262730"/>
              <a:ext cx="2562351" cy="18043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90028F1-E34F-099B-7E61-432527276C37}"/>
                </a:ext>
              </a:extLst>
            </p:cNvPr>
            <p:cNvSpPr/>
            <p:nvPr/>
          </p:nvSpPr>
          <p:spPr>
            <a:xfrm>
              <a:off x="11434630" y="1262730"/>
              <a:ext cx="180000" cy="18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11A9F52-C678-176B-BA42-83A8A56F2DD1}"/>
                </a:ext>
              </a:extLst>
            </p:cNvPr>
            <p:cNvSpPr/>
            <p:nvPr/>
          </p:nvSpPr>
          <p:spPr>
            <a:xfrm>
              <a:off x="11254630" y="1262730"/>
              <a:ext cx="180000" cy="18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19EAFF8-BE29-A578-F210-B587C8998BB4}"/>
                </a:ext>
              </a:extLst>
            </p:cNvPr>
            <p:cNvSpPr/>
            <p:nvPr/>
          </p:nvSpPr>
          <p:spPr>
            <a:xfrm>
              <a:off x="11074630" y="1262730"/>
              <a:ext cx="180000" cy="18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94365F4E-3024-BC42-6E54-C1175D7FC6A9}"/>
              </a:ext>
            </a:extLst>
          </p:cNvPr>
          <p:cNvSpPr txBox="1"/>
          <p:nvPr/>
        </p:nvSpPr>
        <p:spPr>
          <a:xfrm>
            <a:off x="3415276" y="5445558"/>
            <a:ext cx="873957" cy="36000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HK" b="1" dirty="0">
                <a:latin typeface="Courier New" panose="02070309020205020404" pitchFamily="49" charset="0"/>
                <a:cs typeface="Courier New" panose="02070309020205020404" pitchFamily="49" charset="0"/>
              </a:rPr>
              <a:t>start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0BDC6CC-8BA4-BFDD-714E-87891697C33D}"/>
              </a:ext>
            </a:extLst>
          </p:cNvPr>
          <p:cNvSpPr txBox="1"/>
          <p:nvPr/>
        </p:nvSpPr>
        <p:spPr>
          <a:xfrm>
            <a:off x="3553134" y="5734800"/>
            <a:ext cx="598241" cy="36000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HK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mid</a:t>
            </a:r>
            <a:endParaRPr lang="en-US" b="1" dirty="0">
              <a:solidFill>
                <a:schemeClr val="accent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705F5D6-8AD2-40BD-50E9-5A8D9A27492A}"/>
              </a:ext>
            </a:extLst>
          </p:cNvPr>
          <p:cNvSpPr txBox="1"/>
          <p:nvPr/>
        </p:nvSpPr>
        <p:spPr>
          <a:xfrm>
            <a:off x="4481512" y="5445558"/>
            <a:ext cx="598241" cy="36000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HK" b="1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D9D4960-3229-8651-61E6-5EE9784E15FF}"/>
              </a:ext>
            </a:extLst>
          </p:cNvPr>
          <p:cNvCxnSpPr>
            <a:cxnSpLocks/>
          </p:cNvCxnSpPr>
          <p:nvPr/>
        </p:nvCxnSpPr>
        <p:spPr>
          <a:xfrm flipV="1">
            <a:off x="4780632" y="5125444"/>
            <a:ext cx="0" cy="36000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2202062-7184-CC70-F28A-FAF3A678D5FE}"/>
              </a:ext>
            </a:extLst>
          </p:cNvPr>
          <p:cNvCxnSpPr>
            <a:cxnSpLocks/>
          </p:cNvCxnSpPr>
          <p:nvPr/>
        </p:nvCxnSpPr>
        <p:spPr>
          <a:xfrm flipV="1">
            <a:off x="3852255" y="5125444"/>
            <a:ext cx="0" cy="36000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Can 18">
            <a:extLst>
              <a:ext uri="{FF2B5EF4-FFF2-40B4-BE49-F238E27FC236}">
                <a16:creationId xmlns:a16="http://schemas.microsoft.com/office/drawing/2014/main" id="{6BD0FE9D-00AE-2D13-44AC-E609273BA804}"/>
              </a:ext>
            </a:extLst>
          </p:cNvPr>
          <p:cNvSpPr/>
          <p:nvPr/>
        </p:nvSpPr>
        <p:spPr>
          <a:xfrm>
            <a:off x="5326952" y="3112983"/>
            <a:ext cx="746756" cy="881280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40289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577A35"/>
                </a:solidFill>
              </a:rPr>
              <a:t>Number guessing game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10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6.1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68530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94014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22824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1634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65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67573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3512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2755" y="4572652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3085" y="4570010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85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71895" y="457742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86314" y="4570010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97</a:t>
            </a:r>
          </a:p>
        </p:txBody>
      </p:sp>
      <p:sp>
        <p:nvSpPr>
          <p:cNvPr id="15" name="Can 14"/>
          <p:cNvSpPr/>
          <p:nvPr/>
        </p:nvSpPr>
        <p:spPr>
          <a:xfrm>
            <a:off x="1627907" y="4177014"/>
            <a:ext cx="746756" cy="881280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6" name="Can 15"/>
          <p:cNvSpPr/>
          <p:nvPr/>
        </p:nvSpPr>
        <p:spPr>
          <a:xfrm>
            <a:off x="2553393" y="3112983"/>
            <a:ext cx="746756" cy="881280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17" name="Can 16"/>
          <p:cNvSpPr/>
          <p:nvPr/>
        </p:nvSpPr>
        <p:spPr>
          <a:xfrm>
            <a:off x="3478877" y="3112983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</p:txBody>
      </p:sp>
      <p:sp>
        <p:nvSpPr>
          <p:cNvPr id="18" name="Can 17"/>
          <p:cNvSpPr/>
          <p:nvPr/>
        </p:nvSpPr>
        <p:spPr>
          <a:xfrm>
            <a:off x="4407254" y="4177014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20" name="Can 19"/>
          <p:cNvSpPr/>
          <p:nvPr/>
        </p:nvSpPr>
        <p:spPr>
          <a:xfrm>
            <a:off x="6246650" y="4177014"/>
            <a:ext cx="746756" cy="881280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</p:txBody>
      </p:sp>
      <p:sp>
        <p:nvSpPr>
          <p:cNvPr id="21" name="Can 20"/>
          <p:cNvSpPr/>
          <p:nvPr/>
        </p:nvSpPr>
        <p:spPr>
          <a:xfrm>
            <a:off x="7172134" y="4177014"/>
            <a:ext cx="746756" cy="881280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</p:txBody>
      </p:sp>
      <p:sp>
        <p:nvSpPr>
          <p:cNvPr id="22" name="Can 21"/>
          <p:cNvSpPr/>
          <p:nvPr/>
        </p:nvSpPr>
        <p:spPr>
          <a:xfrm>
            <a:off x="8097618" y="4177014"/>
            <a:ext cx="746756" cy="881280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</p:txBody>
      </p:sp>
      <p:sp>
        <p:nvSpPr>
          <p:cNvPr id="23" name="Can 22"/>
          <p:cNvSpPr/>
          <p:nvPr/>
        </p:nvSpPr>
        <p:spPr>
          <a:xfrm>
            <a:off x="9025995" y="4177014"/>
            <a:ext cx="746756" cy="881280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</p:txBody>
      </p:sp>
      <p:sp>
        <p:nvSpPr>
          <p:cNvPr id="24" name="Can 23"/>
          <p:cNvSpPr/>
          <p:nvPr/>
        </p:nvSpPr>
        <p:spPr>
          <a:xfrm>
            <a:off x="9945693" y="4177014"/>
            <a:ext cx="746756" cy="881280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1FD2F6D-AD03-3567-028A-C06305A58E61}"/>
              </a:ext>
            </a:extLst>
          </p:cNvPr>
          <p:cNvGrpSpPr/>
          <p:nvPr/>
        </p:nvGrpSpPr>
        <p:grpSpPr>
          <a:xfrm>
            <a:off x="9052279" y="1262730"/>
            <a:ext cx="2562351" cy="2261496"/>
            <a:chOff x="9052279" y="1262730"/>
            <a:chExt cx="2562351" cy="2261496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BBCCE305-D303-B5F7-99C8-E0A89EDA97BA}"/>
                </a:ext>
              </a:extLst>
            </p:cNvPr>
            <p:cNvSpPr/>
            <p:nvPr/>
          </p:nvSpPr>
          <p:spPr>
            <a:xfrm>
              <a:off x="9052279" y="1263165"/>
              <a:ext cx="2562351" cy="22610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Order: Ascending</a:t>
              </a: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Target: 68</a:t>
              </a: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No. of comparisons: 3</a:t>
              </a:r>
            </a:p>
            <a:p>
              <a:endPara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endPara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start: 3</a:t>
              </a: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end: 4</a:t>
              </a: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mid: (3+4)//2 = 3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D1AAF2F-489C-5922-BB3F-229169FF52FC}"/>
                </a:ext>
              </a:extLst>
            </p:cNvPr>
            <p:cNvSpPr/>
            <p:nvPr/>
          </p:nvSpPr>
          <p:spPr>
            <a:xfrm>
              <a:off x="9052279" y="1262730"/>
              <a:ext cx="2562351" cy="18043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90028F1-E34F-099B-7E61-432527276C37}"/>
                </a:ext>
              </a:extLst>
            </p:cNvPr>
            <p:cNvSpPr/>
            <p:nvPr/>
          </p:nvSpPr>
          <p:spPr>
            <a:xfrm>
              <a:off x="11434630" y="1262730"/>
              <a:ext cx="180000" cy="18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11A9F52-C678-176B-BA42-83A8A56F2DD1}"/>
                </a:ext>
              </a:extLst>
            </p:cNvPr>
            <p:cNvSpPr/>
            <p:nvPr/>
          </p:nvSpPr>
          <p:spPr>
            <a:xfrm>
              <a:off x="11254630" y="1262730"/>
              <a:ext cx="180000" cy="18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19EAFF8-BE29-A578-F210-B587C8998BB4}"/>
                </a:ext>
              </a:extLst>
            </p:cNvPr>
            <p:cNvSpPr/>
            <p:nvPr/>
          </p:nvSpPr>
          <p:spPr>
            <a:xfrm>
              <a:off x="11074630" y="1262730"/>
              <a:ext cx="180000" cy="18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94365F4E-3024-BC42-6E54-C1175D7FC6A9}"/>
              </a:ext>
            </a:extLst>
          </p:cNvPr>
          <p:cNvSpPr txBox="1"/>
          <p:nvPr/>
        </p:nvSpPr>
        <p:spPr>
          <a:xfrm>
            <a:off x="3415276" y="5445558"/>
            <a:ext cx="873957" cy="36000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HK" b="1" dirty="0">
                <a:latin typeface="Courier New" panose="02070309020205020404" pitchFamily="49" charset="0"/>
                <a:cs typeface="Courier New" panose="02070309020205020404" pitchFamily="49" charset="0"/>
              </a:rPr>
              <a:t>start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0BDC6CC-8BA4-BFDD-714E-87891697C33D}"/>
              </a:ext>
            </a:extLst>
          </p:cNvPr>
          <p:cNvSpPr txBox="1"/>
          <p:nvPr/>
        </p:nvSpPr>
        <p:spPr>
          <a:xfrm>
            <a:off x="3553134" y="5734800"/>
            <a:ext cx="598241" cy="36000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HK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mid</a:t>
            </a:r>
            <a:endParaRPr lang="en-US" b="1" dirty="0">
              <a:solidFill>
                <a:schemeClr val="accent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705F5D6-8AD2-40BD-50E9-5A8D9A27492A}"/>
              </a:ext>
            </a:extLst>
          </p:cNvPr>
          <p:cNvSpPr txBox="1"/>
          <p:nvPr/>
        </p:nvSpPr>
        <p:spPr>
          <a:xfrm>
            <a:off x="4481512" y="5445558"/>
            <a:ext cx="598241" cy="36000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HK" b="1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D9D4960-3229-8651-61E6-5EE9784E15FF}"/>
              </a:ext>
            </a:extLst>
          </p:cNvPr>
          <p:cNvCxnSpPr>
            <a:cxnSpLocks/>
          </p:cNvCxnSpPr>
          <p:nvPr/>
        </p:nvCxnSpPr>
        <p:spPr>
          <a:xfrm flipV="1">
            <a:off x="4780632" y="5125444"/>
            <a:ext cx="0" cy="36000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2202062-7184-CC70-F28A-FAF3A678D5FE}"/>
              </a:ext>
            </a:extLst>
          </p:cNvPr>
          <p:cNvCxnSpPr>
            <a:cxnSpLocks/>
          </p:cNvCxnSpPr>
          <p:nvPr/>
        </p:nvCxnSpPr>
        <p:spPr>
          <a:xfrm flipV="1">
            <a:off x="3852255" y="5125444"/>
            <a:ext cx="0" cy="36000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Can 18">
            <a:extLst>
              <a:ext uri="{FF2B5EF4-FFF2-40B4-BE49-F238E27FC236}">
                <a16:creationId xmlns:a16="http://schemas.microsoft.com/office/drawing/2014/main" id="{6BD0FE9D-00AE-2D13-44AC-E609273BA804}"/>
              </a:ext>
            </a:extLst>
          </p:cNvPr>
          <p:cNvSpPr/>
          <p:nvPr/>
        </p:nvSpPr>
        <p:spPr>
          <a:xfrm>
            <a:off x="5326952" y="3112983"/>
            <a:ext cx="746756" cy="881280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58EB32-E504-080E-52B3-A0C44DBE9401}"/>
              </a:ext>
            </a:extLst>
          </p:cNvPr>
          <p:cNvSpPr/>
          <p:nvPr/>
        </p:nvSpPr>
        <p:spPr>
          <a:xfrm>
            <a:off x="3622824" y="6027409"/>
            <a:ext cx="154241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64 &lt; target</a:t>
            </a:r>
          </a:p>
        </p:txBody>
      </p:sp>
    </p:spTree>
    <p:extLst>
      <p:ext uri="{BB962C8B-B14F-4D97-AF65-F5344CB8AC3E}">
        <p14:creationId xmlns:p14="http://schemas.microsoft.com/office/powerpoint/2010/main" val="3978355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577A35"/>
                </a:solidFill>
              </a:rPr>
              <a:t>Number guessing game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11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6.1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68530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94014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22824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1634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65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67573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3512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2755" y="4572652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3085" y="4570010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85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71895" y="457742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86314" y="4570010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97</a:t>
            </a:r>
          </a:p>
        </p:txBody>
      </p:sp>
      <p:sp>
        <p:nvSpPr>
          <p:cNvPr id="15" name="Can 14"/>
          <p:cNvSpPr/>
          <p:nvPr/>
        </p:nvSpPr>
        <p:spPr>
          <a:xfrm>
            <a:off x="1627907" y="4177014"/>
            <a:ext cx="746756" cy="881280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6" name="Can 15"/>
          <p:cNvSpPr/>
          <p:nvPr/>
        </p:nvSpPr>
        <p:spPr>
          <a:xfrm>
            <a:off x="2553393" y="3112983"/>
            <a:ext cx="746756" cy="881280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17" name="Can 16"/>
          <p:cNvSpPr/>
          <p:nvPr/>
        </p:nvSpPr>
        <p:spPr>
          <a:xfrm>
            <a:off x="3478877" y="3112983"/>
            <a:ext cx="746756" cy="881280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</p:txBody>
      </p:sp>
      <p:sp>
        <p:nvSpPr>
          <p:cNvPr id="18" name="Can 17"/>
          <p:cNvSpPr/>
          <p:nvPr/>
        </p:nvSpPr>
        <p:spPr>
          <a:xfrm>
            <a:off x="4407254" y="4177014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20" name="Can 19"/>
          <p:cNvSpPr/>
          <p:nvPr/>
        </p:nvSpPr>
        <p:spPr>
          <a:xfrm>
            <a:off x="6246650" y="4177014"/>
            <a:ext cx="746756" cy="881280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</p:txBody>
      </p:sp>
      <p:sp>
        <p:nvSpPr>
          <p:cNvPr id="21" name="Can 20"/>
          <p:cNvSpPr/>
          <p:nvPr/>
        </p:nvSpPr>
        <p:spPr>
          <a:xfrm>
            <a:off x="7172134" y="4177014"/>
            <a:ext cx="746756" cy="881280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</p:txBody>
      </p:sp>
      <p:sp>
        <p:nvSpPr>
          <p:cNvPr id="22" name="Can 21"/>
          <p:cNvSpPr/>
          <p:nvPr/>
        </p:nvSpPr>
        <p:spPr>
          <a:xfrm>
            <a:off x="8097618" y="4177014"/>
            <a:ext cx="746756" cy="881280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</p:txBody>
      </p:sp>
      <p:sp>
        <p:nvSpPr>
          <p:cNvPr id="23" name="Can 22"/>
          <p:cNvSpPr/>
          <p:nvPr/>
        </p:nvSpPr>
        <p:spPr>
          <a:xfrm>
            <a:off x="9025995" y="4177014"/>
            <a:ext cx="746756" cy="881280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</p:txBody>
      </p:sp>
      <p:sp>
        <p:nvSpPr>
          <p:cNvPr id="24" name="Can 23"/>
          <p:cNvSpPr/>
          <p:nvPr/>
        </p:nvSpPr>
        <p:spPr>
          <a:xfrm>
            <a:off x="9945693" y="4177014"/>
            <a:ext cx="746756" cy="881280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1FD2F6D-AD03-3567-028A-C06305A58E61}"/>
              </a:ext>
            </a:extLst>
          </p:cNvPr>
          <p:cNvGrpSpPr/>
          <p:nvPr/>
        </p:nvGrpSpPr>
        <p:grpSpPr>
          <a:xfrm>
            <a:off x="9052279" y="1262730"/>
            <a:ext cx="2562351" cy="2261496"/>
            <a:chOff x="9052279" y="1262730"/>
            <a:chExt cx="2562351" cy="2261496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BBCCE305-D303-B5F7-99C8-E0A89EDA97BA}"/>
                </a:ext>
              </a:extLst>
            </p:cNvPr>
            <p:cNvSpPr/>
            <p:nvPr/>
          </p:nvSpPr>
          <p:spPr>
            <a:xfrm>
              <a:off x="9052279" y="1263165"/>
              <a:ext cx="2562351" cy="22610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Order: Ascending</a:t>
              </a: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Target: 68</a:t>
              </a: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No. of comparisons: 3</a:t>
              </a:r>
            </a:p>
            <a:p>
              <a:endPara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endPara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start: </a:t>
              </a:r>
              <a:r>
                <a:rPr lang="en-US" sz="1400" b="1" dirty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4</a:t>
              </a: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end: 4</a:t>
              </a: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mid: (4+4)//2 = </a:t>
              </a:r>
              <a:r>
                <a:rPr lang="en-US" sz="1400" b="1" dirty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4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D1AAF2F-489C-5922-BB3F-229169FF52FC}"/>
                </a:ext>
              </a:extLst>
            </p:cNvPr>
            <p:cNvSpPr/>
            <p:nvPr/>
          </p:nvSpPr>
          <p:spPr>
            <a:xfrm>
              <a:off x="9052279" y="1262730"/>
              <a:ext cx="2562351" cy="18043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90028F1-E34F-099B-7E61-432527276C37}"/>
                </a:ext>
              </a:extLst>
            </p:cNvPr>
            <p:cNvSpPr/>
            <p:nvPr/>
          </p:nvSpPr>
          <p:spPr>
            <a:xfrm>
              <a:off x="11434630" y="1262730"/>
              <a:ext cx="180000" cy="18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11A9F52-C678-176B-BA42-83A8A56F2DD1}"/>
                </a:ext>
              </a:extLst>
            </p:cNvPr>
            <p:cNvSpPr/>
            <p:nvPr/>
          </p:nvSpPr>
          <p:spPr>
            <a:xfrm>
              <a:off x="11254630" y="1262730"/>
              <a:ext cx="180000" cy="18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19EAFF8-BE29-A578-F210-B587C8998BB4}"/>
                </a:ext>
              </a:extLst>
            </p:cNvPr>
            <p:cNvSpPr/>
            <p:nvPr/>
          </p:nvSpPr>
          <p:spPr>
            <a:xfrm>
              <a:off x="11074630" y="1262730"/>
              <a:ext cx="180000" cy="18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A705F5D6-8AD2-40BD-50E9-5A8D9A27492A}"/>
              </a:ext>
            </a:extLst>
          </p:cNvPr>
          <p:cNvSpPr txBox="1"/>
          <p:nvPr/>
        </p:nvSpPr>
        <p:spPr>
          <a:xfrm>
            <a:off x="3516504" y="5438348"/>
            <a:ext cx="2528256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HK" b="1" dirty="0">
                <a:latin typeface="Courier New" panose="02070309020205020404" pitchFamily="49" charset="0"/>
                <a:cs typeface="Courier New" panose="02070309020205020404" pitchFamily="49" charset="0"/>
              </a:rPr>
              <a:t>start = </a:t>
            </a:r>
            <a:r>
              <a:rPr lang="en-HK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mid</a:t>
            </a:r>
            <a:r>
              <a:rPr lang="en-HK" b="1" dirty="0">
                <a:latin typeface="Courier New" panose="02070309020205020404" pitchFamily="49" charset="0"/>
                <a:cs typeface="Courier New" panose="02070309020205020404" pitchFamily="49" charset="0"/>
              </a:rPr>
              <a:t> = end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D9D4960-3229-8651-61E6-5EE9784E15FF}"/>
              </a:ext>
            </a:extLst>
          </p:cNvPr>
          <p:cNvCxnSpPr>
            <a:cxnSpLocks/>
          </p:cNvCxnSpPr>
          <p:nvPr/>
        </p:nvCxnSpPr>
        <p:spPr>
          <a:xfrm flipV="1">
            <a:off x="4780632" y="5125444"/>
            <a:ext cx="0" cy="36000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Can 18">
            <a:extLst>
              <a:ext uri="{FF2B5EF4-FFF2-40B4-BE49-F238E27FC236}">
                <a16:creationId xmlns:a16="http://schemas.microsoft.com/office/drawing/2014/main" id="{6BD0FE9D-00AE-2D13-44AC-E609273BA804}"/>
              </a:ext>
            </a:extLst>
          </p:cNvPr>
          <p:cNvSpPr/>
          <p:nvPr/>
        </p:nvSpPr>
        <p:spPr>
          <a:xfrm>
            <a:off x="5326952" y="3112983"/>
            <a:ext cx="746756" cy="881280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0720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577A35"/>
                </a:solidFill>
              </a:rPr>
              <a:t>Number guessing game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12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6.1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68530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94014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22824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1634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65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67573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3512" y="457309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2755" y="4572652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3085" y="4570010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85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71895" y="4577426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86314" y="4570010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97</a:t>
            </a:r>
          </a:p>
        </p:txBody>
      </p:sp>
      <p:sp>
        <p:nvSpPr>
          <p:cNvPr id="15" name="Can 14"/>
          <p:cNvSpPr/>
          <p:nvPr/>
        </p:nvSpPr>
        <p:spPr>
          <a:xfrm>
            <a:off x="1627907" y="4177014"/>
            <a:ext cx="746756" cy="881280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6" name="Can 15"/>
          <p:cNvSpPr/>
          <p:nvPr/>
        </p:nvSpPr>
        <p:spPr>
          <a:xfrm>
            <a:off x="2553393" y="3112983"/>
            <a:ext cx="746756" cy="881280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17" name="Can 16"/>
          <p:cNvSpPr/>
          <p:nvPr/>
        </p:nvSpPr>
        <p:spPr>
          <a:xfrm>
            <a:off x="3478877" y="3112983"/>
            <a:ext cx="746756" cy="881280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</p:txBody>
      </p:sp>
      <p:sp>
        <p:nvSpPr>
          <p:cNvPr id="18" name="Can 17"/>
          <p:cNvSpPr/>
          <p:nvPr/>
        </p:nvSpPr>
        <p:spPr>
          <a:xfrm>
            <a:off x="4407254" y="3112983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20" name="Can 19"/>
          <p:cNvSpPr/>
          <p:nvPr/>
        </p:nvSpPr>
        <p:spPr>
          <a:xfrm>
            <a:off x="6246650" y="4177014"/>
            <a:ext cx="746756" cy="881280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</p:txBody>
      </p:sp>
      <p:sp>
        <p:nvSpPr>
          <p:cNvPr id="21" name="Can 20"/>
          <p:cNvSpPr/>
          <p:nvPr/>
        </p:nvSpPr>
        <p:spPr>
          <a:xfrm>
            <a:off x="7172134" y="4177014"/>
            <a:ext cx="746756" cy="881280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</p:txBody>
      </p:sp>
      <p:sp>
        <p:nvSpPr>
          <p:cNvPr id="22" name="Can 21"/>
          <p:cNvSpPr/>
          <p:nvPr/>
        </p:nvSpPr>
        <p:spPr>
          <a:xfrm>
            <a:off x="8097618" y="4177014"/>
            <a:ext cx="746756" cy="881280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</p:txBody>
      </p:sp>
      <p:sp>
        <p:nvSpPr>
          <p:cNvPr id="23" name="Can 22"/>
          <p:cNvSpPr/>
          <p:nvPr/>
        </p:nvSpPr>
        <p:spPr>
          <a:xfrm>
            <a:off x="9025995" y="4177014"/>
            <a:ext cx="746756" cy="881280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</p:txBody>
      </p:sp>
      <p:sp>
        <p:nvSpPr>
          <p:cNvPr id="24" name="Can 23"/>
          <p:cNvSpPr/>
          <p:nvPr/>
        </p:nvSpPr>
        <p:spPr>
          <a:xfrm>
            <a:off x="9945693" y="4177014"/>
            <a:ext cx="746756" cy="881280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1FD2F6D-AD03-3567-028A-C06305A58E61}"/>
              </a:ext>
            </a:extLst>
          </p:cNvPr>
          <p:cNvGrpSpPr/>
          <p:nvPr/>
        </p:nvGrpSpPr>
        <p:grpSpPr>
          <a:xfrm>
            <a:off x="9052279" y="1262730"/>
            <a:ext cx="2562351" cy="2261496"/>
            <a:chOff x="9052279" y="1262730"/>
            <a:chExt cx="2562351" cy="2261496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BBCCE305-D303-B5F7-99C8-E0A89EDA97BA}"/>
                </a:ext>
              </a:extLst>
            </p:cNvPr>
            <p:cNvSpPr/>
            <p:nvPr/>
          </p:nvSpPr>
          <p:spPr>
            <a:xfrm>
              <a:off x="9052279" y="1263165"/>
              <a:ext cx="2562351" cy="22610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Order: Ascending</a:t>
              </a: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Target: 68</a:t>
              </a: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No. of comparisons: 4</a:t>
              </a:r>
              <a:endParaRPr 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400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DO NOT MATCH!</a:t>
              </a:r>
            </a:p>
            <a:p>
              <a:r>
                <a:rPr lang="en-US" sz="1400" b="1" dirty="0">
                  <a:solidFill>
                    <a:srgbClr val="0000FF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END SEARCHING</a:t>
              </a: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start: 4</a:t>
              </a: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end: 4</a:t>
              </a:r>
            </a:p>
            <a:p>
              <a:r>
                <a: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mid: (4+4)//2 = 4</a:t>
              </a:r>
            </a:p>
            <a:p>
              <a:endParaRPr lang="en-US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D1AAF2F-489C-5922-BB3F-229169FF52FC}"/>
                </a:ext>
              </a:extLst>
            </p:cNvPr>
            <p:cNvSpPr/>
            <p:nvPr/>
          </p:nvSpPr>
          <p:spPr>
            <a:xfrm>
              <a:off x="9052279" y="1262730"/>
              <a:ext cx="2562351" cy="18043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90028F1-E34F-099B-7E61-432527276C37}"/>
                </a:ext>
              </a:extLst>
            </p:cNvPr>
            <p:cNvSpPr/>
            <p:nvPr/>
          </p:nvSpPr>
          <p:spPr>
            <a:xfrm>
              <a:off x="11434630" y="1262730"/>
              <a:ext cx="180000" cy="18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11A9F52-C678-176B-BA42-83A8A56F2DD1}"/>
                </a:ext>
              </a:extLst>
            </p:cNvPr>
            <p:cNvSpPr/>
            <p:nvPr/>
          </p:nvSpPr>
          <p:spPr>
            <a:xfrm>
              <a:off x="11254630" y="1262730"/>
              <a:ext cx="180000" cy="18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19EAFF8-BE29-A578-F210-B587C8998BB4}"/>
                </a:ext>
              </a:extLst>
            </p:cNvPr>
            <p:cNvSpPr/>
            <p:nvPr/>
          </p:nvSpPr>
          <p:spPr>
            <a:xfrm>
              <a:off x="11074630" y="1262730"/>
              <a:ext cx="180000" cy="18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A705F5D6-8AD2-40BD-50E9-5A8D9A27492A}"/>
              </a:ext>
            </a:extLst>
          </p:cNvPr>
          <p:cNvSpPr txBox="1"/>
          <p:nvPr/>
        </p:nvSpPr>
        <p:spPr>
          <a:xfrm>
            <a:off x="3516504" y="5438348"/>
            <a:ext cx="2528256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HK" b="1" dirty="0">
                <a:latin typeface="Courier New" panose="02070309020205020404" pitchFamily="49" charset="0"/>
                <a:cs typeface="Courier New" panose="02070309020205020404" pitchFamily="49" charset="0"/>
              </a:rPr>
              <a:t>start = </a:t>
            </a:r>
            <a:r>
              <a:rPr lang="en-HK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mid</a:t>
            </a:r>
            <a:r>
              <a:rPr lang="en-HK" b="1" dirty="0">
                <a:latin typeface="Courier New" panose="02070309020205020404" pitchFamily="49" charset="0"/>
                <a:cs typeface="Courier New" panose="02070309020205020404" pitchFamily="49" charset="0"/>
              </a:rPr>
              <a:t> = end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D9D4960-3229-8651-61E6-5EE9784E15FF}"/>
              </a:ext>
            </a:extLst>
          </p:cNvPr>
          <p:cNvCxnSpPr>
            <a:cxnSpLocks/>
          </p:cNvCxnSpPr>
          <p:nvPr/>
        </p:nvCxnSpPr>
        <p:spPr>
          <a:xfrm flipV="1">
            <a:off x="4780632" y="5125444"/>
            <a:ext cx="0" cy="36000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Can 18">
            <a:extLst>
              <a:ext uri="{FF2B5EF4-FFF2-40B4-BE49-F238E27FC236}">
                <a16:creationId xmlns:a16="http://schemas.microsoft.com/office/drawing/2014/main" id="{6BD0FE9D-00AE-2D13-44AC-E609273BA804}"/>
              </a:ext>
            </a:extLst>
          </p:cNvPr>
          <p:cNvSpPr/>
          <p:nvPr/>
        </p:nvSpPr>
        <p:spPr>
          <a:xfrm>
            <a:off x="5326952" y="3112983"/>
            <a:ext cx="746756" cy="881280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158081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Can 48"/>
          <p:cNvSpPr/>
          <p:nvPr/>
        </p:nvSpPr>
        <p:spPr>
          <a:xfrm>
            <a:off x="1693604" y="5307545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50" name="Can 49"/>
          <p:cNvSpPr/>
          <p:nvPr/>
        </p:nvSpPr>
        <p:spPr>
          <a:xfrm>
            <a:off x="2619088" y="5307545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51" name="Can 50"/>
          <p:cNvSpPr/>
          <p:nvPr/>
        </p:nvSpPr>
        <p:spPr>
          <a:xfrm>
            <a:off x="3544572" y="5307545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</p:txBody>
      </p:sp>
      <p:sp>
        <p:nvSpPr>
          <p:cNvPr id="52" name="Can 51"/>
          <p:cNvSpPr/>
          <p:nvPr/>
        </p:nvSpPr>
        <p:spPr>
          <a:xfrm>
            <a:off x="4472949" y="5307545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53" name="Can 52"/>
          <p:cNvSpPr/>
          <p:nvPr/>
        </p:nvSpPr>
        <p:spPr>
          <a:xfrm>
            <a:off x="5392647" y="5307545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</p:txBody>
      </p:sp>
      <p:sp>
        <p:nvSpPr>
          <p:cNvPr id="54" name="Can 53"/>
          <p:cNvSpPr/>
          <p:nvPr/>
        </p:nvSpPr>
        <p:spPr>
          <a:xfrm>
            <a:off x="6312345" y="5307545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</p:txBody>
      </p:sp>
      <p:sp>
        <p:nvSpPr>
          <p:cNvPr id="55" name="Can 54"/>
          <p:cNvSpPr/>
          <p:nvPr/>
        </p:nvSpPr>
        <p:spPr>
          <a:xfrm>
            <a:off x="7237829" y="5307545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</p:txBody>
      </p:sp>
      <p:sp>
        <p:nvSpPr>
          <p:cNvPr id="56" name="Can 55"/>
          <p:cNvSpPr/>
          <p:nvPr/>
        </p:nvSpPr>
        <p:spPr>
          <a:xfrm>
            <a:off x="8163313" y="5307545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</p:txBody>
      </p:sp>
      <p:sp>
        <p:nvSpPr>
          <p:cNvPr id="57" name="Can 56"/>
          <p:cNvSpPr/>
          <p:nvPr/>
        </p:nvSpPr>
        <p:spPr>
          <a:xfrm>
            <a:off x="9091690" y="5307545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</p:txBody>
      </p:sp>
      <p:sp>
        <p:nvSpPr>
          <p:cNvPr id="58" name="Can 57"/>
          <p:cNvSpPr/>
          <p:nvPr/>
        </p:nvSpPr>
        <p:spPr>
          <a:xfrm>
            <a:off x="10011388" y="5307545"/>
            <a:ext cx="746756" cy="881280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577A35"/>
                </a:solidFill>
              </a:rPr>
              <a:t>Number guessing game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13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6.1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955682" y="2061187"/>
            <a:ext cx="10333002" cy="1654467"/>
            <a:chOff x="955682" y="2061187"/>
            <a:chExt cx="10333002" cy="1654467"/>
          </a:xfrm>
        </p:grpSpPr>
        <p:grpSp>
          <p:nvGrpSpPr>
            <p:cNvPr id="31" name="Group 30"/>
            <p:cNvGrpSpPr/>
            <p:nvPr/>
          </p:nvGrpSpPr>
          <p:grpSpPr>
            <a:xfrm>
              <a:off x="955682" y="2061187"/>
              <a:ext cx="10333002" cy="1654467"/>
              <a:chOff x="9052279" y="1263165"/>
              <a:chExt cx="10333002" cy="1654467"/>
            </a:xfrm>
          </p:grpSpPr>
          <p:sp>
            <p:nvSpPr>
              <p:cNvPr id="32" name="Rectangle 31"/>
              <p:cNvSpPr/>
              <p:nvPr/>
            </p:nvSpPr>
            <p:spPr>
              <a:xfrm>
                <a:off x="9052279" y="1263166"/>
                <a:ext cx="10333002" cy="165446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endParaRPr lang="en-US" sz="1400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r>
                  <a:rPr lang="en-US" sz="1400" b="1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Order: Ascending</a:t>
                </a:r>
              </a:p>
              <a:p>
                <a:r>
                  <a:rPr lang="en-US" sz="1400" b="1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Target: 68</a:t>
                </a:r>
              </a:p>
              <a:p>
                <a:r>
                  <a:rPr lang="en-US" sz="1400" b="1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No. of comparisons: </a:t>
                </a:r>
                <a:r>
                  <a:rPr lang="en-US" sz="1400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4</a:t>
                </a:r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9052279" y="1263165"/>
                <a:ext cx="10333002" cy="18043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 34"/>
              <p:cNvSpPr/>
              <p:nvPr/>
            </p:nvSpPr>
            <p:spPr>
              <a:xfrm>
                <a:off x="19025281" y="1263165"/>
                <a:ext cx="180000" cy="18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tangle 35"/>
              <p:cNvSpPr/>
              <p:nvPr/>
            </p:nvSpPr>
            <p:spPr>
              <a:xfrm>
                <a:off x="18848725" y="1263165"/>
                <a:ext cx="180000" cy="180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36"/>
            <p:cNvSpPr/>
            <p:nvPr/>
          </p:nvSpPr>
          <p:spPr>
            <a:xfrm>
              <a:off x="11108684" y="2061187"/>
              <a:ext cx="180000" cy="18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1834225" y="5130049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50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59709" y="5130049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51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88519" y="5130049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17329" y="5130049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65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33268" y="5130049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75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9207" y="5130049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79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78450" y="5129605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80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08780" y="5126963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85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37590" y="5134379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52009" y="5126963"/>
            <a:ext cx="46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97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259" y="3756646"/>
            <a:ext cx="3379693" cy="139163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53044" y="2921478"/>
            <a:ext cx="32676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This is the worst case of the algorithm.</a:t>
            </a:r>
          </a:p>
        </p:txBody>
      </p:sp>
    </p:spTree>
    <p:extLst>
      <p:ext uri="{BB962C8B-B14F-4D97-AF65-F5344CB8AC3E}">
        <p14:creationId xmlns:p14="http://schemas.microsoft.com/office/powerpoint/2010/main" val="756392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SEPPT_EN_Kelie_20230202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E2FA0DF8-B9FD-49BD-BF21-D809885A44F7}" vid="{CB6A5490-A1D4-4702-A87E-C572EF97F42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DSEPPT_EN_Kelie_20230427</Template>
  <TotalTime>0</TotalTime>
  <Words>713</Words>
  <Application>Microsoft Office PowerPoint</Application>
  <PresentationFormat>Widescreen</PresentationFormat>
  <Paragraphs>436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Courier New</vt:lpstr>
      <vt:lpstr>Myriad Pro</vt:lpstr>
      <vt:lpstr>Tw Cen MT</vt:lpstr>
      <vt:lpstr>DSEPPT_EN_Kelie_20230202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Kelie Leung</dc:creator>
  <cp:lastModifiedBy>Kelie Leung</cp:lastModifiedBy>
  <cp:revision>3</cp:revision>
  <dcterms:created xsi:type="dcterms:W3CDTF">2023-06-28T02:40:40Z</dcterms:created>
  <dcterms:modified xsi:type="dcterms:W3CDTF">2023-06-28T02:41:36Z</dcterms:modified>
</cp:coreProperties>
</file>