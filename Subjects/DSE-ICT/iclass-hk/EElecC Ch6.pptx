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4"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283" r:id="rId26"/>
    <p:sldId id="284" r:id="rId27"/>
    <p:sldId id="285" r:id="rId28"/>
    <p:sldId id="286" r:id="rId29"/>
    <p:sldId id="287" r:id="rId30"/>
    <p:sldId id="288" r:id="rId31"/>
    <p:sldId id="289" r:id="rId32"/>
    <p:sldId id="290" r:id="rId33"/>
    <p:sldId id="291" r:id="rId34"/>
    <p:sldId id="292" r:id="rId35"/>
    <p:sldId id="293" r:id="rId36"/>
    <p:sldId id="375" r:id="rId37"/>
    <p:sldId id="376" r:id="rId38"/>
    <p:sldId id="377" r:id="rId39"/>
    <p:sldId id="378" r:id="rId40"/>
    <p:sldId id="294" r:id="rId41"/>
    <p:sldId id="295" r:id="rId42"/>
    <p:sldId id="296" r:id="rId43"/>
    <p:sldId id="297" r:id="rId44"/>
    <p:sldId id="298" r:id="rId45"/>
    <p:sldId id="299" r:id="rId46"/>
    <p:sldId id="379" r:id="rId47"/>
    <p:sldId id="300" r:id="rId48"/>
    <p:sldId id="301" r:id="rId49"/>
    <p:sldId id="302" r:id="rId50"/>
    <p:sldId id="303" r:id="rId51"/>
    <p:sldId id="395" r:id="rId52"/>
    <p:sldId id="386" r:id="rId53"/>
    <p:sldId id="387" r:id="rId54"/>
    <p:sldId id="388" r:id="rId55"/>
    <p:sldId id="389" r:id="rId56"/>
    <p:sldId id="390" r:id="rId57"/>
    <p:sldId id="391" r:id="rId58"/>
    <p:sldId id="392" r:id="rId59"/>
    <p:sldId id="393" r:id="rId60"/>
    <p:sldId id="394" r:id="rId61"/>
    <p:sldId id="312" r:id="rId62"/>
    <p:sldId id="313" r:id="rId63"/>
    <p:sldId id="314" r:id="rId64"/>
    <p:sldId id="315" r:id="rId65"/>
    <p:sldId id="316" r:id="rId66"/>
    <p:sldId id="317" r:id="rId67"/>
    <p:sldId id="318" r:id="rId68"/>
    <p:sldId id="319" r:id="rId69"/>
    <p:sldId id="320" r:id="rId70"/>
    <p:sldId id="322" r:id="rId71"/>
    <p:sldId id="323" r:id="rId72"/>
    <p:sldId id="324" r:id="rId73"/>
    <p:sldId id="325" r:id="rId74"/>
    <p:sldId id="396" r:id="rId75"/>
    <p:sldId id="397" r:id="rId76"/>
    <p:sldId id="398" r:id="rId77"/>
    <p:sldId id="399" r:id="rId78"/>
    <p:sldId id="326" r:id="rId79"/>
    <p:sldId id="400" r:id="rId80"/>
    <p:sldId id="328" r:id="rId81"/>
    <p:sldId id="327" r:id="rId82"/>
    <p:sldId id="329" r:id="rId83"/>
    <p:sldId id="330" r:id="rId84"/>
    <p:sldId id="331" r:id="rId85"/>
    <p:sldId id="332" r:id="rId86"/>
    <p:sldId id="333" r:id="rId87"/>
    <p:sldId id="380" r:id="rId88"/>
    <p:sldId id="381" r:id="rId89"/>
    <p:sldId id="334" r:id="rId90"/>
    <p:sldId id="336" r:id="rId91"/>
    <p:sldId id="337" r:id="rId92"/>
    <p:sldId id="401" r:id="rId93"/>
    <p:sldId id="338" r:id="rId94"/>
    <p:sldId id="402" r:id="rId95"/>
    <p:sldId id="339" r:id="rId96"/>
    <p:sldId id="340" r:id="rId97"/>
    <p:sldId id="403" r:id="rId98"/>
    <p:sldId id="344" r:id="rId99"/>
    <p:sldId id="345" r:id="rId100"/>
    <p:sldId id="341" r:id="rId101"/>
    <p:sldId id="342" r:id="rId102"/>
    <p:sldId id="346" r:id="rId103"/>
    <p:sldId id="347" r:id="rId104"/>
    <p:sldId id="348" r:id="rId105"/>
    <p:sldId id="349" r:id="rId106"/>
    <p:sldId id="382" r:id="rId107"/>
    <p:sldId id="383" r:id="rId108"/>
    <p:sldId id="350" r:id="rId109"/>
    <p:sldId id="351" r:id="rId110"/>
    <p:sldId id="353" r:id="rId111"/>
    <p:sldId id="354" r:id="rId112"/>
    <p:sldId id="355" r:id="rId113"/>
    <p:sldId id="356" r:id="rId114"/>
    <p:sldId id="357" r:id="rId115"/>
    <p:sldId id="358" r:id="rId116"/>
    <p:sldId id="359" r:id="rId117"/>
    <p:sldId id="360" r:id="rId118"/>
    <p:sldId id="361" r:id="rId119"/>
    <p:sldId id="362" r:id="rId120"/>
    <p:sldId id="384" r:id="rId121"/>
    <p:sldId id="363" r:id="rId122"/>
    <p:sldId id="365" r:id="rId123"/>
    <p:sldId id="374" r:id="rId1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2573"/>
    <a:srgbClr val="AB3D18"/>
    <a:srgbClr val="37A3D4"/>
    <a:srgbClr val="504FA0"/>
    <a:srgbClr val="136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2" d="100"/>
          <a:sy n="102" d="100"/>
        </p:scale>
        <p:origin x="180" y="10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97C56F-506D-1CBF-DAEA-5491D0196718}"/>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3145542" cy="505969"/>
          </a:xfrm>
          <a:prstGeom prst="rect">
            <a:avLst/>
          </a:prstGeom>
        </p:spPr>
      </p:pic>
      <p:pic>
        <p:nvPicPr>
          <p:cNvPr id="5" name="Picture 4">
            <a:extLst>
              <a:ext uri="{FF2B5EF4-FFF2-40B4-BE49-F238E27FC236}">
                <a16:creationId xmlns:a16="http://schemas.microsoft.com/office/drawing/2014/main" id="{9D8FD09F-D8A1-E336-3B87-044CB68F4B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322666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32BE4C03-EDAE-8A34-CB24-BDAA03524E5E}"/>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4093472" cy="505969"/>
          </a:xfrm>
          <a:prstGeom prst="rect">
            <a:avLst/>
          </a:prstGeom>
        </p:spPr>
      </p:pic>
      <p:pic>
        <p:nvPicPr>
          <p:cNvPr id="8" name="Picture 7">
            <a:extLst>
              <a:ext uri="{FF2B5EF4-FFF2-40B4-BE49-F238E27FC236}">
                <a16:creationId xmlns:a16="http://schemas.microsoft.com/office/drawing/2014/main" id="{E2DAD781-428A-67D8-7C55-666DFF21CBBC}"/>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736497C4-9FC9-151F-62D2-FB395805F0B0}"/>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749461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8" name="Picture 7">
            <a:extLst>
              <a:ext uri="{FF2B5EF4-FFF2-40B4-BE49-F238E27FC236}">
                <a16:creationId xmlns:a16="http://schemas.microsoft.com/office/drawing/2014/main" id="{217E881E-670F-B298-11FD-7D2AE51F6D8C}"/>
              </a:ext>
            </a:extLst>
          </p:cNvPr>
          <p:cNvPicPr>
            <a:picLocks noGrp="1" noRot="1" noChangeAspect="1" noMove="1" noResize="1" noEditPoints="1" noAdjustHandles="1" noChangeArrowheads="1" noChangeShapeType="1" noCrop="1"/>
          </p:cNvPicPr>
          <p:nvPr/>
        </p:nvPicPr>
        <p:blipFill>
          <a:blip r:embed="rId2"/>
          <a:stretch>
            <a:fillRect/>
          </a:stretch>
        </p:blipFill>
        <p:spPr>
          <a:xfrm>
            <a:off x="0" y="1898909"/>
            <a:ext cx="4744800" cy="4744800"/>
          </a:xfrm>
          <a:prstGeom prst="rect">
            <a:avLst/>
          </a:prstGeom>
        </p:spPr>
      </p:pic>
      <p:pic>
        <p:nvPicPr>
          <p:cNvPr id="18" name="Picture 17">
            <a:extLst>
              <a:ext uri="{FF2B5EF4-FFF2-40B4-BE49-F238E27FC236}">
                <a16:creationId xmlns:a16="http://schemas.microsoft.com/office/drawing/2014/main" id="{097C5F1C-1E54-2755-BD09-8B53BEC6CE1A}"/>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42367" cy="505969"/>
          </a:xfrm>
          <a:prstGeom prst="rect">
            <a:avLst/>
          </a:prstGeom>
        </p:spPr>
      </p:pic>
      <p:pic>
        <p:nvPicPr>
          <p:cNvPr id="16" name="Picture 15">
            <a:extLst>
              <a:ext uri="{FF2B5EF4-FFF2-40B4-BE49-F238E27FC236}">
                <a16:creationId xmlns:a16="http://schemas.microsoft.com/office/drawing/2014/main" id="{A97AA30C-B131-11B2-D159-FECF538D59B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71441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3" name="Picture 2">
            <a:extLst>
              <a:ext uri="{FF2B5EF4-FFF2-40B4-BE49-F238E27FC236}">
                <a16:creationId xmlns:a16="http://schemas.microsoft.com/office/drawing/2014/main" id="{FE0B2444-920A-39A5-579B-B54FCADA5674}"/>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5117602" cy="505969"/>
          </a:xfrm>
          <a:prstGeom prst="rect">
            <a:avLst/>
          </a:prstGeom>
        </p:spPr>
      </p:pic>
      <p:pic>
        <p:nvPicPr>
          <p:cNvPr id="5" name="Picture 4">
            <a:extLst>
              <a:ext uri="{FF2B5EF4-FFF2-40B4-BE49-F238E27FC236}">
                <a16:creationId xmlns:a16="http://schemas.microsoft.com/office/drawing/2014/main" id="{07506DF5-D585-C85A-7378-578CF95524AA}"/>
              </a:ext>
            </a:extLst>
          </p:cNvPr>
          <p:cNvPicPr>
            <a:picLocks noGrp="1" noRot="1" noChangeAspect="1" noMove="1" noResize="1" noEditPoints="1" noAdjustHandles="1" noChangeArrowheads="1" noChangeShapeType="1" noCrop="1"/>
          </p:cNvPicPr>
          <p:nvPr/>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F6743423-DF9F-5DF4-442D-BF34F62A7AC6}"/>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2795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E-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4" name="Picture 3">
            <a:extLst>
              <a:ext uri="{FF2B5EF4-FFF2-40B4-BE49-F238E27FC236}">
                <a16:creationId xmlns:a16="http://schemas.microsoft.com/office/drawing/2014/main" id="{B161E0BB-AC62-05F4-05B8-418A002D64E0}"/>
              </a:ext>
            </a:extLst>
          </p:cNvPr>
          <p:cNvPicPr>
            <a:picLocks noGrp="1" noRot="1" noChangeAspect="1" noMove="1" noResize="1" noEditPoints="1" noAdjustHandles="1" noChangeArrowheads="1" noChangeShapeType="1" noCrop="1"/>
          </p:cNvPicPr>
          <p:nvPr/>
        </p:nvPicPr>
        <p:blipFill>
          <a:blip r:embed="rId2"/>
          <a:stretch>
            <a:fillRect/>
          </a:stretch>
        </p:blipFill>
        <p:spPr>
          <a:xfrm>
            <a:off x="4880448" y="2853016"/>
            <a:ext cx="2660909" cy="505969"/>
          </a:xfrm>
          <a:prstGeom prst="rect">
            <a:avLst/>
          </a:prstGeom>
        </p:spPr>
      </p:pic>
      <p:pic>
        <p:nvPicPr>
          <p:cNvPr id="8" name="Picture 7">
            <a:extLst>
              <a:ext uri="{FF2B5EF4-FFF2-40B4-BE49-F238E27FC236}">
                <a16:creationId xmlns:a16="http://schemas.microsoft.com/office/drawing/2014/main" id="{3CC61186-C2CB-33BF-880D-468C0FE8B484}"/>
              </a:ext>
            </a:extLst>
          </p:cNvPr>
          <p:cNvPicPr>
            <a:picLocks noGrp="1" noRot="1" noChangeAspect="1" noMove="1" noResize="1" noEditPoints="1" noAdjustHandles="1" noChangeArrowheads="1" noChangeShapeType="1" noCrop="1"/>
          </p:cNvPicPr>
          <p:nvPr userDrawn="1"/>
        </p:nvPicPr>
        <p:blipFill>
          <a:blip r:embed="rId3"/>
          <a:stretch>
            <a:fillRect/>
          </a:stretch>
        </p:blipFill>
        <p:spPr>
          <a:xfrm>
            <a:off x="0" y="1898909"/>
            <a:ext cx="4744800" cy="4744800"/>
          </a:xfrm>
          <a:prstGeom prst="rect">
            <a:avLst/>
          </a:prstGeom>
        </p:spPr>
      </p:pic>
      <p:pic>
        <p:nvPicPr>
          <p:cNvPr id="16" name="Picture 15">
            <a:extLst>
              <a:ext uri="{FF2B5EF4-FFF2-40B4-BE49-F238E27FC236}">
                <a16:creationId xmlns:a16="http://schemas.microsoft.com/office/drawing/2014/main" id="{0390D0C5-32B0-F4A3-8473-6945918A77E3}"/>
              </a:ext>
            </a:extLst>
          </p:cNvPr>
          <p:cNvPicPr>
            <a:picLocks noGrp="1" noRot="1" noChangeAspect="1" noMove="1" noResize="1" noEditPoints="1" noAdjustHandles="1" noChangeArrowheads="1" noChangeShapeType="1" noCrop="1"/>
          </p:cNvPicPr>
          <p:nvPr/>
        </p:nvPicPr>
        <p:blipFill>
          <a:blip r:embed="rId4"/>
          <a:stretch>
            <a:fillRect/>
          </a:stretch>
        </p:blipFill>
        <p:spPr>
          <a:xfrm>
            <a:off x="3199169" y="724908"/>
            <a:ext cx="5712455" cy="784800"/>
          </a:xfrm>
          <a:prstGeom prst="rect">
            <a:avLst/>
          </a:prstGeom>
        </p:spPr>
      </p:pic>
    </p:spTree>
    <p:extLst>
      <p:ext uri="{BB962C8B-B14F-4D97-AF65-F5344CB8AC3E}">
        <p14:creationId xmlns:p14="http://schemas.microsoft.com/office/powerpoint/2010/main" val="1467474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ElecA-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7" name="Picture 6">
            <a:extLst>
              <a:ext uri="{FF2B5EF4-FFF2-40B4-BE49-F238E27FC236}">
                <a16:creationId xmlns:a16="http://schemas.microsoft.com/office/drawing/2014/main" id="{51C75235-0293-8136-6524-0EEAD91BBFA5}"/>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1813564" cy="505969"/>
          </a:xfrm>
          <a:prstGeom prst="rect">
            <a:avLst/>
          </a:prstGeom>
        </p:spPr>
      </p:pic>
      <p:pic>
        <p:nvPicPr>
          <p:cNvPr id="3" name="Picture 2">
            <a:extLst>
              <a:ext uri="{FF2B5EF4-FFF2-40B4-BE49-F238E27FC236}">
                <a16:creationId xmlns:a16="http://schemas.microsoft.com/office/drawing/2014/main" id="{BF7CD102-4498-ACB1-C72C-8082CD03250A}"/>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956726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lecB-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4" name="Picture 3">
            <a:extLst>
              <a:ext uri="{FF2B5EF4-FFF2-40B4-BE49-F238E27FC236}">
                <a16:creationId xmlns:a16="http://schemas.microsoft.com/office/drawing/2014/main" id="{348E981E-C35F-E8F8-DE42-4B0CC68BF4A0}"/>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864872" cy="505969"/>
          </a:xfrm>
          <a:prstGeom prst="rect">
            <a:avLst/>
          </a:prstGeom>
        </p:spPr>
      </p:pic>
      <p:pic>
        <p:nvPicPr>
          <p:cNvPr id="5" name="Picture 4">
            <a:extLst>
              <a:ext uri="{FF2B5EF4-FFF2-40B4-BE49-F238E27FC236}">
                <a16:creationId xmlns:a16="http://schemas.microsoft.com/office/drawing/2014/main" id="{154FA34B-69E2-DB1D-D9D7-52FE3BD9BD06}"/>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482670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ElecC-Cover-EN">
    <p:bg>
      <p:bgPr>
        <a:solidFill>
          <a:srgbClr val="CDEBF0"/>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43B01CD-A3F8-6072-36D5-309BE87E4A6A}"/>
              </a:ext>
            </a:extLst>
          </p:cNvPr>
          <p:cNvGrpSpPr>
            <a:grpSpLocks noGrp="1" noUngrp="1" noRot="1" noMove="1" noResize="1"/>
          </p:cNvGrpSpPr>
          <p:nvPr/>
        </p:nvGrpSpPr>
        <p:grpSpPr>
          <a:xfrm>
            <a:off x="499711" y="210200"/>
            <a:ext cx="5864753" cy="6437601"/>
            <a:chOff x="499711" y="210200"/>
            <a:chExt cx="5864753" cy="6437601"/>
          </a:xfrm>
        </p:grpSpPr>
        <p:sp>
          <p:nvSpPr>
            <p:cNvPr id="11" name="Flowchart: Card 10">
              <a:extLst>
                <a:ext uri="{FF2B5EF4-FFF2-40B4-BE49-F238E27FC236}">
                  <a16:creationId xmlns:a16="http://schemas.microsoft.com/office/drawing/2014/main" id="{D3DA1990-48FC-81A8-3D6B-B05262C03C71}"/>
                </a:ext>
              </a:extLst>
            </p:cNvPr>
            <p:cNvSpPr>
              <a:spLocks noGrp="1" noRot="1" noMove="1" noResize="1" noEditPoints="1" noAdjustHandles="1" noChangeArrowheads="1" noChangeShapeType="1"/>
            </p:cNvSpPr>
            <p:nvPr/>
          </p:nvSpPr>
          <p:spPr>
            <a:xfrm>
              <a:off x="502091" y="210200"/>
              <a:ext cx="5862373" cy="6437601"/>
            </a:xfrm>
            <a:prstGeom prst="flowChartPunchedCard">
              <a:avLst/>
            </a:prstGeom>
            <a:solidFill>
              <a:srgbClr val="00AE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391A222F-0510-233D-9528-9D796FC5F294}"/>
                </a:ext>
              </a:extLst>
            </p:cNvPr>
            <p:cNvSpPr>
              <a:spLocks noGrp="1" noRot="1" noMove="1" noResize="1" noEditPoints="1" noAdjustHandles="1" noChangeArrowheads="1" noChangeShapeType="1"/>
            </p:cNvSpPr>
            <p:nvPr/>
          </p:nvSpPr>
          <p:spPr>
            <a:xfrm rot="16200000">
              <a:off x="472785" y="891320"/>
              <a:ext cx="632850" cy="578997"/>
            </a:xfrm>
            <a:prstGeom prst="r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271EC0D9-CD00-7684-66AB-08F5E840ED14}"/>
              </a:ext>
            </a:extLst>
          </p:cNvPr>
          <p:cNvGrpSpPr>
            <a:grpSpLocks noGrp="1" noUngrp="1" noRot="1" noMove="1" noResize="1"/>
          </p:cNvGrpSpPr>
          <p:nvPr/>
        </p:nvGrpSpPr>
        <p:grpSpPr>
          <a:xfrm>
            <a:off x="3199169" y="729000"/>
            <a:ext cx="8650500" cy="5590500"/>
            <a:chOff x="3122969" y="729000"/>
            <a:chExt cx="8650500" cy="5590500"/>
          </a:xfrm>
        </p:grpSpPr>
        <p:sp>
          <p:nvSpPr>
            <p:cNvPr id="14" name="Rectangle 13">
              <a:extLst>
                <a:ext uri="{FF2B5EF4-FFF2-40B4-BE49-F238E27FC236}">
                  <a16:creationId xmlns:a16="http://schemas.microsoft.com/office/drawing/2014/main" id="{E508CA83-C7D5-EC32-92E9-31AD4DD18BE4}"/>
                </a:ext>
              </a:extLst>
            </p:cNvPr>
            <p:cNvSpPr>
              <a:spLocks noGrp="1" noRot="1" noMove="1" noResize="1" noEditPoints="1" noAdjustHandles="1" noChangeArrowheads="1" noChangeShapeType="1"/>
            </p:cNvSpPr>
            <p:nvPr/>
          </p:nvSpPr>
          <p:spPr>
            <a:xfrm>
              <a:off x="3313469" y="919500"/>
              <a:ext cx="8460000" cy="5400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CC05E4A-220C-8AD0-D5D0-8BCBDDBE32B0}"/>
                </a:ext>
              </a:extLst>
            </p:cNvPr>
            <p:cNvSpPr>
              <a:spLocks noGrp="1" noRot="1" noMove="1" noResize="1" noEditPoints="1" noAdjustHandles="1" noChangeArrowheads="1" noChangeShapeType="1"/>
            </p:cNvSpPr>
            <p:nvPr/>
          </p:nvSpPr>
          <p:spPr>
            <a:xfrm>
              <a:off x="3122969" y="729000"/>
              <a:ext cx="8460000" cy="540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itle 5">
            <a:extLst>
              <a:ext uri="{FF2B5EF4-FFF2-40B4-BE49-F238E27FC236}">
                <a16:creationId xmlns:a16="http://schemas.microsoft.com/office/drawing/2014/main" id="{B0382016-0D89-EF9D-39EF-278C3F31B3E3}"/>
              </a:ext>
            </a:extLst>
          </p:cNvPr>
          <p:cNvSpPr>
            <a:spLocks noGrp="1" noRot="1" noMove="1" noResize="1" noEditPoints="1" noAdjustHandles="1" noChangeArrowheads="1" noChangeShapeType="1"/>
          </p:cNvSpPr>
          <p:nvPr>
            <p:ph type="title"/>
          </p:nvPr>
        </p:nvSpPr>
        <p:spPr>
          <a:xfrm>
            <a:off x="4756006" y="4084032"/>
            <a:ext cx="6903163" cy="2044968"/>
          </a:xfrm>
        </p:spPr>
        <p:txBody>
          <a:bodyPr anchor="t"/>
          <a:lstStyle>
            <a:lvl1pPr algn="l">
              <a:defRPr b="1">
                <a:solidFill>
                  <a:srgbClr val="007078"/>
                </a:solidFill>
                <a:latin typeface="Myriad Pro" panose="020B0503030403020204" pitchFamily="34" charset="0"/>
              </a:defRPr>
            </a:lvl1pPr>
          </a:lstStyle>
          <a:p>
            <a:r>
              <a:rPr lang="en-US"/>
              <a:t>Click to edit Master title style</a:t>
            </a:r>
            <a:endParaRPr lang="en-GB" dirty="0"/>
          </a:p>
        </p:txBody>
      </p:sp>
      <p:sp>
        <p:nvSpPr>
          <p:cNvPr id="29" name="TextBox 28">
            <a:extLst>
              <a:ext uri="{FF2B5EF4-FFF2-40B4-BE49-F238E27FC236}">
                <a16:creationId xmlns:a16="http://schemas.microsoft.com/office/drawing/2014/main" id="{8793BAB5-13CD-5ADC-9F76-FC56C20F685A}"/>
              </a:ext>
            </a:extLst>
          </p:cNvPr>
          <p:cNvSpPr txBox="1">
            <a:spLocks noGrp="1" noRot="1" noMove="1" noResize="1" noEditPoints="1" noAdjustHandles="1" noChangeArrowheads="1" noChangeShapeType="1"/>
          </p:cNvSpPr>
          <p:nvPr/>
        </p:nvSpPr>
        <p:spPr>
          <a:xfrm>
            <a:off x="4742958" y="1898909"/>
            <a:ext cx="6916211" cy="954107"/>
          </a:xfrm>
          <a:prstGeom prst="rect">
            <a:avLst/>
          </a:prstGeom>
          <a:noFill/>
        </p:spPr>
        <p:txBody>
          <a:bodyPr wrap="square" rtlCol="0" anchor="ctr">
            <a:spAutoFit/>
          </a:bodyPr>
          <a:lstStyle/>
          <a:p>
            <a:pPr algn="l"/>
            <a:r>
              <a:rPr lang="en-GB" altLang="zh-TW" sz="5600" b="1" dirty="0">
                <a:solidFill>
                  <a:srgbClr val="00A0A9"/>
                </a:solidFill>
                <a:latin typeface="Myriad Pro" panose="020B0503030403020204" pitchFamily="34" charset="0"/>
                <a:ea typeface="Noto Sans CJK KR Black" panose="020B0A00000000000000" pitchFamily="34" charset="-128"/>
              </a:rPr>
              <a:t>ICT for iGeneration</a:t>
            </a:r>
          </a:p>
        </p:txBody>
      </p:sp>
      <p:pic>
        <p:nvPicPr>
          <p:cNvPr id="17" name="Picture 16">
            <a:extLst>
              <a:ext uri="{FF2B5EF4-FFF2-40B4-BE49-F238E27FC236}">
                <a16:creationId xmlns:a16="http://schemas.microsoft.com/office/drawing/2014/main" id="{069BCDB6-856A-6319-8C9A-5031698A31C3}"/>
              </a:ext>
            </a:extLst>
          </p:cNvPr>
          <p:cNvPicPr>
            <a:picLocks noGrp="1" noRot="1" noChangeAspect="1" noMove="1" noResize="1" noEditPoints="1" noAdjustHandles="1" noChangeArrowheads="1" noChangeShapeType="1" noCrop="1"/>
          </p:cNvPicPr>
          <p:nvPr/>
        </p:nvPicPr>
        <p:blipFill>
          <a:blip r:embed="rId2"/>
          <a:stretch>
            <a:fillRect/>
          </a:stretch>
        </p:blipFill>
        <p:spPr>
          <a:xfrm>
            <a:off x="3199169" y="724908"/>
            <a:ext cx="5712455" cy="784800"/>
          </a:xfrm>
          <a:prstGeom prst="rect">
            <a:avLst/>
          </a:prstGeom>
        </p:spPr>
      </p:pic>
      <p:pic>
        <p:nvPicPr>
          <p:cNvPr id="8" name="Picture 7">
            <a:extLst>
              <a:ext uri="{FF2B5EF4-FFF2-40B4-BE49-F238E27FC236}">
                <a16:creationId xmlns:a16="http://schemas.microsoft.com/office/drawing/2014/main" id="{36A66CFB-18D0-6F75-8C97-40CC53CD9633}"/>
              </a:ext>
            </a:extLst>
          </p:cNvPr>
          <p:cNvPicPr>
            <a:picLocks noGrp="1" noRot="1" noChangeAspect="1" noMove="1" noResize="1" noEditPoints="1" noAdjustHandles="1" noChangeArrowheads="1" noChangeShapeType="1" noCrop="1"/>
          </p:cNvPicPr>
          <p:nvPr/>
        </p:nvPicPr>
        <p:blipFill>
          <a:blip r:embed="rId3"/>
          <a:stretch>
            <a:fillRect/>
          </a:stretch>
        </p:blipFill>
        <p:spPr>
          <a:xfrm>
            <a:off x="4880448" y="2853016"/>
            <a:ext cx="3691136" cy="505969"/>
          </a:xfrm>
          <a:prstGeom prst="rect">
            <a:avLst/>
          </a:prstGeom>
        </p:spPr>
      </p:pic>
      <p:pic>
        <p:nvPicPr>
          <p:cNvPr id="3" name="Picture 2">
            <a:extLst>
              <a:ext uri="{FF2B5EF4-FFF2-40B4-BE49-F238E27FC236}">
                <a16:creationId xmlns:a16="http://schemas.microsoft.com/office/drawing/2014/main" id="{CE316255-5138-F681-0D2B-20384F1BB20E}"/>
              </a:ext>
            </a:extLst>
          </p:cNvPr>
          <p:cNvPicPr>
            <a:picLocks noGrp="1" noRot="1" noChangeAspect="1" noMove="1" noResize="1" noEditPoints="1" noAdjustHandles="1" noChangeArrowheads="1" noChangeShapeType="1" noCrop="1"/>
          </p:cNvPicPr>
          <p:nvPr/>
        </p:nvPicPr>
        <p:blipFill>
          <a:blip r:embed="rId4"/>
          <a:stretch>
            <a:fillRect/>
          </a:stretch>
        </p:blipFill>
        <p:spPr>
          <a:xfrm>
            <a:off x="0" y="1898909"/>
            <a:ext cx="4744800" cy="4744800"/>
          </a:xfrm>
          <a:prstGeom prst="rect">
            <a:avLst/>
          </a:prstGeom>
        </p:spPr>
      </p:pic>
    </p:spTree>
    <p:extLst>
      <p:ext uri="{BB962C8B-B14F-4D97-AF65-F5344CB8AC3E}">
        <p14:creationId xmlns:p14="http://schemas.microsoft.com/office/powerpoint/2010/main" val="326598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A&amp;C_orange-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C0BD9D-B8ED-5511-960F-8CA63E3A33D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83162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amp;C_blu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117F345-65C2-2CD1-DC0D-64AC50F134CF}"/>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4283244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amp;C_gree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11348A-7A65-4D63-9999-43FC28C9E5E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24528945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A&amp;C_red-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6142E-F691-EA8F-3DCD-7E4A78F2E4F1}"/>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373773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amp;C_cyan-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C15972-37F2-DAE7-8C10-98E52C044C25}"/>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5698201" y="1623600"/>
            <a:ext cx="5655598" cy="4680000"/>
          </a:xfrm>
          <a:prstGeom prst="rect">
            <a:avLst/>
          </a:prstGeom>
        </p:spPr>
        <p:txBody>
          <a:bodyPr/>
          <a:lstStyle>
            <a:lvl1pPr>
              <a:defRPr>
                <a:latin typeface="Myriad Pro" panose="020B0503030403020204" pitchFamily="34" charset="0"/>
              </a:defRPr>
            </a:lvl1pPr>
            <a:lvl2pPr>
              <a:defRPr>
                <a:latin typeface="Myriad Pro" panose="020B0503030403020204" pitchFamily="34" charset="0"/>
              </a:defRPr>
            </a:lvl2pPr>
            <a:lvl3pPr>
              <a:defRPr>
                <a:latin typeface="Myriad Pro" panose="020B0503030403020204" pitchFamily="34" charset="0"/>
              </a:defRPr>
            </a:lvl3pPr>
            <a:lvl4pPr>
              <a:defRPr>
                <a:latin typeface="Myriad Pro" panose="020B0503030403020204" pitchFamily="34" charset="0"/>
              </a:defRPr>
            </a:lvl4pPr>
            <a:lvl5pPr>
              <a:defRPr>
                <a:latin typeface="Myriad Pro" panose="020B0503030403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16" name="Picture Placeholder 15">
            <a:extLst>
              <a:ext uri="{FF2B5EF4-FFF2-40B4-BE49-F238E27FC236}">
                <a16:creationId xmlns:a16="http://schemas.microsoft.com/office/drawing/2014/main" id="{1D206AD6-A0AE-75C5-D359-E6474815B782}"/>
              </a:ext>
            </a:extLst>
          </p:cNvPr>
          <p:cNvSpPr>
            <a:spLocks noGrp="1"/>
          </p:cNvSpPr>
          <p:nvPr>
            <p:ph type="pic" sz="quarter" idx="14"/>
          </p:nvPr>
        </p:nvSpPr>
        <p:spPr>
          <a:xfrm>
            <a:off x="838201" y="2352599"/>
            <a:ext cx="4680000" cy="30599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r>
              <a:rPr lang="en-US"/>
              <a:t>Click icon to add picture</a:t>
            </a:r>
            <a:endParaRPr lang="en-GB"/>
          </a:p>
        </p:txBody>
      </p:sp>
    </p:spTree>
    <p:extLst>
      <p:ext uri="{BB962C8B-B14F-4D97-AF65-F5344CB8AC3E}">
        <p14:creationId xmlns:p14="http://schemas.microsoft.com/office/powerpoint/2010/main" val="620414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_orange">
    <p:spTree>
      <p:nvGrpSpPr>
        <p:cNvPr id="1" name=""/>
        <p:cNvGrpSpPr/>
        <p:nvPr/>
      </p:nvGrpSpPr>
      <p:grpSpPr>
        <a:xfrm>
          <a:off x="0" y="0"/>
          <a:ext cx="0" cy="0"/>
          <a:chOff x="0" y="0"/>
          <a:chExt cx="0" cy="0"/>
        </a:xfrm>
      </p:grpSpPr>
      <p:sp>
        <p:nvSpPr>
          <p:cNvPr id="10" name="Snip Diagonal Corner Rectangle 3">
            <a:extLst>
              <a:ext uri="{FF2B5EF4-FFF2-40B4-BE49-F238E27FC236}">
                <a16:creationId xmlns:a16="http://schemas.microsoft.com/office/drawing/2014/main" id="{B505DC89-2E6F-5786-39F5-2B4AC2C46AF0}"/>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C26A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43D25585-2BA2-DAE6-6CD9-0856FBF84816}"/>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2151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_blue">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72874D61-669D-1562-9471-3F57078BE147}"/>
              </a:ext>
            </a:extLst>
          </p:cNvPr>
          <p:cNvSpPr>
            <a:spLocks noGrp="1" noRot="1" noChangeAspect="1" noMove="1" noResize="1" noEditPoints="1" noAdjustHandles="1" noChangeArrowheads="1" noChangeShapeType="1"/>
          </p:cNvSpPr>
          <p:nvPr/>
        </p:nvSpPr>
        <p:spPr>
          <a:xfrm flipH="1">
            <a:off x="814200" y="669190"/>
            <a:ext cx="1020001" cy="612000"/>
          </a:xfrm>
          <a:prstGeom prst="snip2DiagRect">
            <a:avLst>
              <a:gd name="adj1" fmla="val 0"/>
              <a:gd name="adj2" fmla="val 24507"/>
            </a:avLst>
          </a:prstGeom>
          <a:solidFill>
            <a:srgbClr val="2132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noRot="1" noMove="1" noResize="1" noEditPoints="1" noAdjustHandles="1" noChangeArrowheads="1" noChangeShapeType="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1" name="Content Placeholder 10">
            <a:extLst>
              <a:ext uri="{FF2B5EF4-FFF2-40B4-BE49-F238E27FC236}">
                <a16:creationId xmlns:a16="http://schemas.microsoft.com/office/drawing/2014/main" id="{6B5BC051-110A-C89D-9342-F257EABF8C2E}"/>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14790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_gree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A2D0F62E-5468-5683-75D2-94AABF0D8A47}"/>
              </a:ext>
            </a:extLst>
          </p:cNvPr>
          <p:cNvSpPr>
            <a:spLocks noChangeAspect="1"/>
          </p:cNvSpPr>
          <p:nvPr/>
        </p:nvSpPr>
        <p:spPr>
          <a:xfrm flipH="1">
            <a:off x="814200" y="669190"/>
            <a:ext cx="1020001" cy="612000"/>
          </a:xfrm>
          <a:prstGeom prst="snip2DiagRect">
            <a:avLst>
              <a:gd name="adj1" fmla="val 0"/>
              <a:gd name="adj2" fmla="val 24507"/>
            </a:avLst>
          </a:prstGeom>
          <a:solidFill>
            <a:srgbClr val="0078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AA369FF4-FA36-C573-1B73-72B7F94DBF1D}"/>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672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red">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4DAD662D-900F-5555-5351-CB7EA4561EB7}"/>
              </a:ext>
            </a:extLst>
          </p:cNvPr>
          <p:cNvSpPr>
            <a:spLocks noChangeAspect="1"/>
          </p:cNvSpPr>
          <p:nvPr/>
        </p:nvSpPr>
        <p:spPr>
          <a:xfrm flipH="1">
            <a:off x="814200" y="669190"/>
            <a:ext cx="1020001" cy="612000"/>
          </a:xfrm>
          <a:prstGeom prst="snip2DiagRect">
            <a:avLst>
              <a:gd name="adj1" fmla="val 0"/>
              <a:gd name="adj2" fmla="val 24507"/>
            </a:avLst>
          </a:prstGeom>
          <a:solidFill>
            <a:srgbClr val="B72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8AEC8F0B-7C47-5026-ABEB-5E962B739489}"/>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597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_cyan">
    <p:spTree>
      <p:nvGrpSpPr>
        <p:cNvPr id="1" name=""/>
        <p:cNvGrpSpPr/>
        <p:nvPr/>
      </p:nvGrpSpPr>
      <p:grpSpPr>
        <a:xfrm>
          <a:off x="0" y="0"/>
          <a:ext cx="0" cy="0"/>
          <a:chOff x="0" y="0"/>
          <a:chExt cx="0" cy="0"/>
        </a:xfrm>
      </p:grpSpPr>
      <p:sp>
        <p:nvSpPr>
          <p:cNvPr id="9" name="Snip Diagonal Corner Rectangle 3">
            <a:extLst>
              <a:ext uri="{FF2B5EF4-FFF2-40B4-BE49-F238E27FC236}">
                <a16:creationId xmlns:a16="http://schemas.microsoft.com/office/drawing/2014/main" id="{215673C9-3F6B-C178-D494-7C8B73C3CDF6}"/>
              </a:ext>
            </a:extLst>
          </p:cNvPr>
          <p:cNvSpPr>
            <a:spLocks noChangeAspect="1"/>
          </p:cNvSpPr>
          <p:nvPr/>
        </p:nvSpPr>
        <p:spPr>
          <a:xfrm flipH="1">
            <a:off x="814200" y="669190"/>
            <a:ext cx="1020001" cy="612000"/>
          </a:xfrm>
          <a:prstGeom prst="snip2DiagRect">
            <a:avLst>
              <a:gd name="adj1" fmla="val 0"/>
              <a:gd name="adj2" fmla="val 24507"/>
            </a:avLst>
          </a:prstGeom>
          <a:solidFill>
            <a:srgbClr val="3F82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CE0739-E024-919C-BFC6-CB434061A741}"/>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 Placeholder 19">
            <a:extLst>
              <a:ext uri="{FF2B5EF4-FFF2-40B4-BE49-F238E27FC236}">
                <a16:creationId xmlns:a16="http://schemas.microsoft.com/office/drawing/2014/main" id="{C34498B1-43FD-DC69-5B53-AFC4C547FB83}"/>
              </a:ext>
            </a:extLst>
          </p:cNvPr>
          <p:cNvSpPr>
            <a:spLocks noGrp="1"/>
          </p:cNvSpPr>
          <p:nvPr>
            <p:ph type="body" sz="quarter" idx="14" hasCustomPrompt="1"/>
          </p:nvPr>
        </p:nvSpPr>
        <p:spPr>
          <a:xfrm>
            <a:off x="838800" y="684000"/>
            <a:ext cx="972000" cy="583200"/>
          </a:xfrm>
          <a:prstGeom prst="rect">
            <a:avLst/>
          </a:prstGeom>
        </p:spPr>
        <p:txBody>
          <a:bodyPr anchor="ctr">
            <a:noAutofit/>
          </a:bodyPr>
          <a:lstStyle>
            <a:lvl1pPr marL="0" indent="0" algn="ctr">
              <a:lnSpc>
                <a:spcPct val="100000"/>
              </a:lnSpc>
              <a:spcBef>
                <a:spcPts val="0"/>
              </a:spcBef>
              <a:buNone/>
              <a:defRPr sz="3200" b="1">
                <a:solidFill>
                  <a:schemeClr val="bg1"/>
                </a:solidFill>
                <a:latin typeface="Myriad Pro" panose="020B0503030403020204" pitchFamily="34" charset="0"/>
              </a:defRPr>
            </a:lvl1pPr>
          </a:lstStyle>
          <a:p>
            <a:pPr lvl="0"/>
            <a:r>
              <a:rPr lang="en-US" dirty="0"/>
              <a:t>X.X</a:t>
            </a:r>
            <a:endParaRPr lang="en-GB" dirty="0"/>
          </a:p>
        </p:txBody>
      </p:sp>
      <p:sp>
        <p:nvSpPr>
          <p:cNvPr id="10" name="Content Placeholder 10">
            <a:extLst>
              <a:ext uri="{FF2B5EF4-FFF2-40B4-BE49-F238E27FC236}">
                <a16:creationId xmlns:a16="http://schemas.microsoft.com/office/drawing/2014/main" id="{C9063645-AAC5-51BC-FFC8-34CC9F594B55}"/>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7943791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Example-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3BB63A3-9AB5-EBAC-F6F9-327B22130DCD}"/>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20" name="Text Placeholder 19">
            <a:extLst>
              <a:ext uri="{FF2B5EF4-FFF2-40B4-BE49-F238E27FC236}">
                <a16:creationId xmlns:a16="http://schemas.microsoft.com/office/drawing/2014/main" id="{EB0149AE-399E-56CA-418B-96532FF191D9}"/>
              </a:ext>
            </a:extLst>
          </p:cNvPr>
          <p:cNvSpPr>
            <a:spLocks noGrp="1" noRot="1" noMove="1" noResize="1" noEditPoints="1" noAdjustHandles="1" noChangeArrowheads="1" noChangeShapeType="1"/>
          </p:cNvSpPr>
          <p:nvPr>
            <p:ph type="body" sz="quarter" idx="13" hasCustomPrompt="1"/>
          </p:nvPr>
        </p:nvSpPr>
        <p:spPr>
          <a:xfrm>
            <a:off x="3212307"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4402632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Checkpoint-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DF9B736-CC97-6F5A-03D8-7FA0AF198BE9}"/>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704400"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03164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Activity-E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63E1F40-9013-EBB0-F98A-0AFCFACA220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3170999"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3055039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Lab-E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9646B7-AEA6-E416-7BF3-052FDD7D2013}"/>
              </a:ext>
            </a:extLst>
          </p:cNvPr>
          <p:cNvPicPr>
            <a:picLocks noChangeAspect="1"/>
          </p:cNvPicPr>
          <p:nvPr/>
        </p:nvPicPr>
        <p:blipFill>
          <a:blip r:embed="rId2"/>
          <a:stretch>
            <a:fillRect/>
          </a:stretch>
        </p:blipFill>
        <p:spPr>
          <a:xfrm>
            <a:off x="0" y="0"/>
            <a:ext cx="12192000" cy="6858000"/>
          </a:xfrm>
          <a:prstGeom prst="rect">
            <a:avLst/>
          </a:prstGeom>
        </p:spPr>
      </p:pic>
      <p:sp>
        <p:nvSpPr>
          <p:cNvPr id="3" name="Content Placeholder 2"/>
          <p:cNvSpPr>
            <a:spLocks noGrp="1"/>
          </p:cNvSpPr>
          <p:nvPr>
            <p:ph idx="1"/>
          </p:nvPr>
        </p:nvSpPr>
        <p:spPr>
          <a:xfrm>
            <a:off x="838200" y="1443600"/>
            <a:ext cx="10515600" cy="4860000"/>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323483-B172-4895-83DF-DAA6D810C218}" type="datetime1">
              <a:rPr lang="en-US" smtClean="0"/>
              <a:t>5/31/2023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9" name="Text Placeholder 19">
            <a:extLst>
              <a:ext uri="{FF2B5EF4-FFF2-40B4-BE49-F238E27FC236}">
                <a16:creationId xmlns:a16="http://schemas.microsoft.com/office/drawing/2014/main" id="{E63A75CB-E77D-CC21-A6EF-2A476E4BC4FE}"/>
              </a:ext>
            </a:extLst>
          </p:cNvPr>
          <p:cNvSpPr>
            <a:spLocks noGrp="1" noRot="1" noMove="1" noResize="1" noEditPoints="1" noAdjustHandles="1" noChangeArrowheads="1" noChangeShapeType="1"/>
          </p:cNvSpPr>
          <p:nvPr>
            <p:ph type="body" sz="quarter" idx="13" hasCustomPrompt="1"/>
          </p:nvPr>
        </p:nvSpPr>
        <p:spPr>
          <a:xfrm>
            <a:off x="2467612" y="755092"/>
            <a:ext cx="864000" cy="288000"/>
          </a:xfrm>
          <a:prstGeom prst="rect">
            <a:avLst/>
          </a:prstGeom>
        </p:spPr>
        <p:txBody>
          <a:bodyPr anchor="ctr">
            <a:noAutofit/>
          </a:bodyPr>
          <a:lstStyle>
            <a:lvl1pPr marL="0" indent="0" algn="ctr">
              <a:lnSpc>
                <a:spcPct val="100000"/>
              </a:lnSpc>
              <a:spcBef>
                <a:spcPts val="0"/>
              </a:spcBef>
              <a:buNone/>
              <a:defRPr sz="2000" b="1">
                <a:solidFill>
                  <a:srgbClr val="606060"/>
                </a:solidFill>
                <a:latin typeface="Myriad Pro" panose="020B0503030403020204" pitchFamily="34" charset="0"/>
              </a:defRPr>
            </a:lvl1pPr>
          </a:lstStyle>
          <a:p>
            <a:pPr lvl="0"/>
            <a:r>
              <a:rPr lang="en-US" dirty="0"/>
              <a:t>X.X</a:t>
            </a:r>
            <a:endParaRPr lang="en-GB" dirty="0"/>
          </a:p>
        </p:txBody>
      </p:sp>
    </p:spTree>
    <p:extLst>
      <p:ext uri="{BB962C8B-B14F-4D97-AF65-F5344CB8AC3E}">
        <p14:creationId xmlns:p14="http://schemas.microsoft.com/office/powerpoint/2010/main" val="13082824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misconcepti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B0A839-D23C-1435-A186-FA67B65721C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MISCONCEPTION</a:t>
            </a:r>
            <a:endParaRPr lang="en-GB" dirty="0"/>
          </a:p>
        </p:txBody>
      </p:sp>
      <p:sp>
        <p:nvSpPr>
          <p:cNvPr id="8" name="Content Placeholder 7">
            <a:extLst>
              <a:ext uri="{FF2B5EF4-FFF2-40B4-BE49-F238E27FC236}">
                <a16:creationId xmlns:a16="http://schemas.microsoft.com/office/drawing/2014/main" id="{435FBDB0-6C27-C606-20C5-686A00F18771}"/>
              </a:ext>
            </a:extLst>
          </p:cNvPr>
          <p:cNvSpPr>
            <a:spLocks noGrp="1"/>
          </p:cNvSpPr>
          <p:nvPr>
            <p:ph sz="quarter" idx="15"/>
          </p:nvPr>
        </p:nvSpPr>
        <p:spPr>
          <a:xfrm>
            <a:off x="1693716" y="1609199"/>
            <a:ext cx="9660083" cy="2159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a:extLst>
              <a:ext uri="{FF2B5EF4-FFF2-40B4-BE49-F238E27FC236}">
                <a16:creationId xmlns:a16="http://schemas.microsoft.com/office/drawing/2014/main" id="{042C0F3B-5325-9C8D-A663-14E64C0C8154}"/>
              </a:ext>
            </a:extLst>
          </p:cNvPr>
          <p:cNvSpPr>
            <a:spLocks noGrp="1"/>
          </p:cNvSpPr>
          <p:nvPr>
            <p:ph sz="quarter" idx="14"/>
          </p:nvPr>
        </p:nvSpPr>
        <p:spPr>
          <a:xfrm>
            <a:off x="1693716" y="4024188"/>
            <a:ext cx="9658800" cy="216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9468146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hink ab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F94735F-B64E-887A-0584-E2B7E148B655}"/>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t>THINK ABOUT</a:t>
            </a:r>
          </a:p>
        </p:txBody>
      </p:sp>
      <p:sp>
        <p:nvSpPr>
          <p:cNvPr id="8" name="Content Placeholder 10">
            <a:extLst>
              <a:ext uri="{FF2B5EF4-FFF2-40B4-BE49-F238E27FC236}">
                <a16:creationId xmlns:a16="http://schemas.microsoft.com/office/drawing/2014/main" id="{69195DCF-0E55-AAB5-1074-39FAB8E19505}"/>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4810290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p">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F49635-7B62-1BF0-3627-0DEF2D36B20A}"/>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84AD40"/>
                </a:solidFill>
              </a:rPr>
              <a:t>TIP</a:t>
            </a:r>
          </a:p>
        </p:txBody>
      </p:sp>
      <p:sp>
        <p:nvSpPr>
          <p:cNvPr id="8" name="Content Placeholder 10">
            <a:extLst>
              <a:ext uri="{FF2B5EF4-FFF2-40B4-BE49-F238E27FC236}">
                <a16:creationId xmlns:a16="http://schemas.microsoft.com/office/drawing/2014/main" id="{9E46E5CA-E96E-2DB9-64FE-5E1D76C77C98}"/>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129095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analog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E6276F9-8CAE-0301-EC9B-559DB9D0878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ANALOGY</a:t>
            </a:r>
          </a:p>
        </p:txBody>
      </p:sp>
      <p:sp>
        <p:nvSpPr>
          <p:cNvPr id="8" name="Content Placeholder 10">
            <a:extLst>
              <a:ext uri="{FF2B5EF4-FFF2-40B4-BE49-F238E27FC236}">
                <a16:creationId xmlns:a16="http://schemas.microsoft.com/office/drawing/2014/main" id="{15CCE8C4-EE82-5FA1-86D9-7618ACBB4E89}"/>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777470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richm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C24769-7557-7417-69AD-C7D98D6EF87C}"/>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ENRICHMENT</a:t>
            </a:r>
          </a:p>
        </p:txBody>
      </p:sp>
      <p:sp>
        <p:nvSpPr>
          <p:cNvPr id="8" name="Content Placeholder 10">
            <a:extLst>
              <a:ext uri="{FF2B5EF4-FFF2-40B4-BE49-F238E27FC236}">
                <a16:creationId xmlns:a16="http://schemas.microsoft.com/office/drawing/2014/main" id="{C0FDA7B9-3B4F-45FE-C0CB-6CE489DF46B9}"/>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612345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istorical not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A365613-9A6E-EC8F-CC4F-45C6843B5D0D}"/>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HISTORICAL NOTE</a:t>
            </a:r>
          </a:p>
        </p:txBody>
      </p:sp>
      <p:sp>
        <p:nvSpPr>
          <p:cNvPr id="9" name="Content Placeholder 10">
            <a:extLst>
              <a:ext uri="{FF2B5EF4-FFF2-40B4-BE49-F238E27FC236}">
                <a16:creationId xmlns:a16="http://schemas.microsoft.com/office/drawing/2014/main" id="{9FE9C956-B01C-9F5B-D06E-B224FA04F063}"/>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31102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F6A893-6ACD-62D2-E506-31CE1C78BC6A}"/>
              </a:ext>
            </a:extLst>
          </p:cNvPr>
          <p:cNvPicPr>
            <a:picLocks noChangeAspect="1"/>
          </p:cNvPicPr>
          <p:nvPr/>
        </p:nvPicPr>
        <p:blipFill>
          <a:blip r:embed="rId2"/>
          <a:stretch>
            <a:fillRect/>
          </a:stretch>
        </p:blipFill>
        <p:spPr>
          <a:xfrm>
            <a:off x="656925" y="363600"/>
            <a:ext cx="1261875"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7570B3"/>
                </a:solidFill>
              </a:rPr>
              <a:t>STEAM+</a:t>
            </a:r>
          </a:p>
        </p:txBody>
      </p:sp>
      <p:sp>
        <p:nvSpPr>
          <p:cNvPr id="8" name="Content Placeholder 10">
            <a:extLst>
              <a:ext uri="{FF2B5EF4-FFF2-40B4-BE49-F238E27FC236}">
                <a16:creationId xmlns:a16="http://schemas.microsoft.com/office/drawing/2014/main" id="{D8CACC2A-8E2C-4654-1BEE-FF9B00C1EA13}"/>
              </a:ext>
            </a:extLst>
          </p:cNvPr>
          <p:cNvSpPr>
            <a:spLocks noGrp="1"/>
          </p:cNvSpPr>
          <p:nvPr>
            <p:ph sz="quarter" idx="15"/>
          </p:nvPr>
        </p:nvSpPr>
        <p:spPr>
          <a:xfrm>
            <a:off x="838800" y="1609200"/>
            <a:ext cx="105156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35975974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resourc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52B39E-570D-BB77-3EC2-68BF2DA341F5}"/>
              </a:ext>
            </a:extLst>
          </p:cNvPr>
          <p:cNvPicPr>
            <a:picLocks noChangeAspect="1"/>
          </p:cNvPicPr>
          <p:nvPr/>
        </p:nvPicPr>
        <p:blipFill>
          <a:blip r:embed="rId2"/>
          <a:stretch>
            <a:fillRect/>
          </a:stretch>
        </p:blipFill>
        <p:spPr>
          <a:xfrm>
            <a:off x="656925" y="363600"/>
            <a:ext cx="1264923" cy="1261875"/>
          </a:xfrm>
          <a:prstGeom prst="rect">
            <a:avLst/>
          </a:prstGeom>
        </p:spPr>
      </p:pic>
      <p:sp>
        <p:nvSpPr>
          <p:cNvPr id="3" name="Date Placeholder 2">
            <a:extLst>
              <a:ext uri="{FF2B5EF4-FFF2-40B4-BE49-F238E27FC236}">
                <a16:creationId xmlns:a16="http://schemas.microsoft.com/office/drawing/2014/main" id="{BAD2444A-02E0-DED9-A000-1EAA36B2B28F}"/>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4" name="Footer Placeholder 3">
            <a:extLst>
              <a:ext uri="{FF2B5EF4-FFF2-40B4-BE49-F238E27FC236}">
                <a16:creationId xmlns:a16="http://schemas.microsoft.com/office/drawing/2014/main" id="{D09B550C-DFA6-FE93-6791-31D1AA72851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DE12C6C-181F-F439-058A-8A00FD13DDE0}"/>
              </a:ext>
            </a:extLst>
          </p:cNvPr>
          <p:cNvSpPr>
            <a:spLocks noGrp="1"/>
          </p:cNvSpPr>
          <p:nvPr>
            <p:ph type="sldNum" sz="quarter" idx="12"/>
          </p:nvPr>
        </p:nvSpPr>
        <p:spPr>
          <a:xfrm>
            <a:off x="10582711" y="6492875"/>
            <a:ext cx="771089" cy="365125"/>
          </a:xfrm>
        </p:spPr>
        <p:txBody>
          <a:bodyPr/>
          <a:lstStyle/>
          <a:p>
            <a:fld id="{6D22F896-40B5-4ADD-8801-0D06FADFA095}" type="slidenum">
              <a:rPr lang="en-US" smtClean="0"/>
              <a:pPr/>
              <a:t>‹#›</a:t>
            </a:fld>
            <a:endParaRPr lang="en-US" dirty="0"/>
          </a:p>
        </p:txBody>
      </p:sp>
      <p:sp>
        <p:nvSpPr>
          <p:cNvPr id="16" name="Title 1">
            <a:extLst>
              <a:ext uri="{FF2B5EF4-FFF2-40B4-BE49-F238E27FC236}">
                <a16:creationId xmlns:a16="http://schemas.microsoft.com/office/drawing/2014/main" id="{C355F62B-CCB7-A2A4-99C8-EBF589561E42}"/>
              </a:ext>
            </a:extLst>
          </p:cNvPr>
          <p:cNvSpPr txBox="1">
            <a:spLocks/>
          </p:cNvSpPr>
          <p:nvPr/>
        </p:nvSpPr>
        <p:spPr>
          <a:xfrm>
            <a:off x="1693718" y="363600"/>
            <a:ext cx="9660082" cy="1260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i="1" kern="1200" cap="none" baseline="0">
                <a:solidFill>
                  <a:srgbClr val="D83866"/>
                </a:solidFill>
                <a:latin typeface="Myriad Pro" panose="020B0503030403020204" pitchFamily="34" charset="0"/>
                <a:ea typeface="+mj-ea"/>
                <a:cs typeface="+mj-cs"/>
              </a:defRPr>
            </a:lvl1pPr>
          </a:lstStyle>
          <a:p>
            <a:r>
              <a:rPr lang="en-US" dirty="0">
                <a:solidFill>
                  <a:srgbClr val="C6993D"/>
                </a:solidFill>
              </a:rPr>
              <a:t>RESOURCE</a:t>
            </a:r>
          </a:p>
        </p:txBody>
      </p:sp>
      <p:sp>
        <p:nvSpPr>
          <p:cNvPr id="9" name="Content Placeholder 10">
            <a:extLst>
              <a:ext uri="{FF2B5EF4-FFF2-40B4-BE49-F238E27FC236}">
                <a16:creationId xmlns:a16="http://schemas.microsoft.com/office/drawing/2014/main" id="{7873EF2F-CB2D-FF0C-FE7E-4E5878DAD739}"/>
              </a:ext>
            </a:extLst>
          </p:cNvPr>
          <p:cNvSpPr>
            <a:spLocks noGrp="1"/>
          </p:cNvSpPr>
          <p:nvPr>
            <p:ph sz="quarter" idx="15"/>
          </p:nvPr>
        </p:nvSpPr>
        <p:spPr>
          <a:xfrm>
            <a:off x="838800" y="1609200"/>
            <a:ext cx="7848000" cy="46800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Picture Placeholder 9">
            <a:extLst>
              <a:ext uri="{FF2B5EF4-FFF2-40B4-BE49-F238E27FC236}">
                <a16:creationId xmlns:a16="http://schemas.microsoft.com/office/drawing/2014/main" id="{D221140A-902D-C446-8456-B18F8CA15108}"/>
              </a:ext>
            </a:extLst>
          </p:cNvPr>
          <p:cNvSpPr>
            <a:spLocks noGrp="1"/>
          </p:cNvSpPr>
          <p:nvPr>
            <p:ph type="pic" sz="quarter" idx="14"/>
          </p:nvPr>
        </p:nvSpPr>
        <p:spPr>
          <a:xfrm>
            <a:off x="8833800" y="1609200"/>
            <a:ext cx="2520000" cy="3283200"/>
          </a:xfrm>
          <a:prstGeom prst="rect">
            <a:avLst/>
          </a:prstGeom>
        </p:spPr>
        <p:txBody>
          <a:bodyPr/>
          <a:lstStyle/>
          <a:p>
            <a:r>
              <a:rPr lang="en-US"/>
              <a:t>Click icon to add picture</a:t>
            </a:r>
            <a:endParaRPr lang="en-GB"/>
          </a:p>
        </p:txBody>
      </p:sp>
    </p:spTree>
    <p:extLst>
      <p:ext uri="{BB962C8B-B14F-4D97-AF65-F5344CB8AC3E}">
        <p14:creationId xmlns:p14="http://schemas.microsoft.com/office/powerpoint/2010/main" val="9121314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lank-1">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210F294E-2671-69F2-AD8E-91EF65CCF609}"/>
              </a:ext>
            </a:extLst>
          </p:cNvPr>
          <p:cNvSpPr>
            <a:spLocks noGrp="1"/>
          </p:cNvSpPr>
          <p:nvPr>
            <p:ph type="dt" sz="half" idx="10"/>
          </p:nvPr>
        </p:nvSpPr>
        <p:spPr/>
        <p:txBody>
          <a:bodyPr/>
          <a:lstStyle/>
          <a:p>
            <a:fld id="{F07CE581-C706-43BB-9E93-1B4DA785C440}" type="datetime1">
              <a:rPr lang="en-US" smtClean="0"/>
              <a:t>5/31/2023</a:t>
            </a:fld>
            <a:endParaRPr lang="en-US" dirty="0"/>
          </a:p>
        </p:txBody>
      </p:sp>
      <p:sp>
        <p:nvSpPr>
          <p:cNvPr id="12" name="Footer Placeholder 11">
            <a:extLst>
              <a:ext uri="{FF2B5EF4-FFF2-40B4-BE49-F238E27FC236}">
                <a16:creationId xmlns:a16="http://schemas.microsoft.com/office/drawing/2014/main" id="{BF720291-4918-3157-E8A0-2C33F0241266}"/>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284E269C-57B9-5795-9B37-30D8685C0E9B}"/>
              </a:ext>
            </a:extLst>
          </p:cNvPr>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721251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Blank-2">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75464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5CB804-96AA-A5E1-7170-B54411166665}"/>
              </a:ext>
            </a:extLst>
          </p:cNvPr>
          <p:cNvPicPr>
            <a:picLocks noChangeAspect="1"/>
          </p:cNvPicPr>
          <p:nvPr/>
        </p:nvPicPr>
        <p:blipFill>
          <a:blip r:embed="rId34"/>
          <a:stretch>
            <a:fillRect/>
          </a:stretch>
        </p:blipFill>
        <p:spPr>
          <a:xfrm>
            <a:off x="0" y="0"/>
            <a:ext cx="12192000" cy="6858000"/>
          </a:xfrm>
          <a:prstGeom prst="rect">
            <a:avLst/>
          </a:prstGeom>
        </p:spPr>
      </p:pic>
      <p:sp>
        <p:nvSpPr>
          <p:cNvPr id="2" name="Title Placeholder 1"/>
          <p:cNvSpPr>
            <a:spLocks noGrp="1"/>
          </p:cNvSpPr>
          <p:nvPr>
            <p:ph type="title"/>
          </p:nvPr>
        </p:nvSpPr>
        <p:spPr>
          <a:xfrm>
            <a:off x="1918800" y="363600"/>
            <a:ext cx="9435000" cy="1260000"/>
          </a:xfrm>
          <a:prstGeom prst="rect">
            <a:avLst/>
          </a:prstGeom>
        </p:spPr>
        <p:txBody>
          <a:bodyPr vert="horz" lIns="91440" tIns="45720" rIns="91440" bIns="45720" rtlCol="0" anchor="ctr">
            <a:normAutofit/>
          </a:bodyPr>
          <a:lstStyle/>
          <a:p>
            <a:endParaRPr lang="en-US" dirty="0"/>
          </a:p>
        </p:txBody>
      </p:sp>
      <p:sp>
        <p:nvSpPr>
          <p:cNvPr id="4" name="Date Placeholder 3"/>
          <p:cNvSpPr>
            <a:spLocks noGrp="1"/>
          </p:cNvSpPr>
          <p:nvPr>
            <p:ph type="dt" sz="half" idx="2"/>
          </p:nvPr>
        </p:nvSpPr>
        <p:spPr>
          <a:xfrm>
            <a:off x="7456921" y="6492875"/>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07CE581-C706-43BB-9E93-1B4DA785C440}" type="datetime1">
              <a:rPr lang="en-US" smtClean="0"/>
              <a:t>5/31/2023</a:t>
            </a:fld>
            <a:endParaRPr lang="en-US" dirty="0"/>
          </a:p>
        </p:txBody>
      </p:sp>
      <p:sp>
        <p:nvSpPr>
          <p:cNvPr id="5" name="Footer Placeholder 4"/>
          <p:cNvSpPr>
            <a:spLocks noGrp="1"/>
          </p:cNvSpPr>
          <p:nvPr>
            <p:ph type="ftr" sz="quarter" idx="3"/>
          </p:nvPr>
        </p:nvSpPr>
        <p:spPr>
          <a:xfrm>
            <a:off x="838201" y="6492875"/>
            <a:ext cx="6542520"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82711" y="6492875"/>
            <a:ext cx="771089" cy="365125"/>
          </a:xfrm>
          <a:prstGeom prst="rect">
            <a:avLst/>
          </a:prstGeom>
        </p:spPr>
        <p:txBody>
          <a:bodyPr vert="horz" lIns="91440" tIns="45720" rIns="91440" bIns="45720" rtlCol="0" anchor="ctr"/>
          <a:lstStyle>
            <a:lvl1pPr algn="r">
              <a:defRPr sz="1050">
                <a:solidFill>
                  <a:schemeClr val="tx1"/>
                </a:solidFill>
              </a:defRPr>
            </a:lvl1pPr>
          </a:lstStyle>
          <a:p>
            <a:fld id="{6D22F896-40B5-4ADD-8801-0D06FADFA095}" type="slidenum">
              <a:rPr lang="en-US" smtClean="0"/>
              <a:pPr/>
              <a:t>‹#›</a:t>
            </a:fld>
            <a:endParaRPr lang="en-US" dirty="0"/>
          </a:p>
        </p:txBody>
      </p:sp>
      <p:sp>
        <p:nvSpPr>
          <p:cNvPr id="7" name="Text Placeholder 6">
            <a:extLst>
              <a:ext uri="{FF2B5EF4-FFF2-40B4-BE49-F238E27FC236}">
                <a16:creationId xmlns:a16="http://schemas.microsoft.com/office/drawing/2014/main" id="{0F58C60C-B777-2B7A-945B-E3C1848079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532431812"/>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25" r:id="rId6"/>
    <p:sldLayoutId id="2147483726" r:id="rId7"/>
    <p:sldLayoutId id="2147483727" r:id="rId8"/>
    <p:sldLayoutId id="2147483700" r:id="rId9"/>
    <p:sldLayoutId id="2147483701" r:id="rId10"/>
    <p:sldLayoutId id="2147483702" r:id="rId11"/>
    <p:sldLayoutId id="2147483703" r:id="rId12"/>
    <p:sldLayoutId id="2147483704" r:id="rId13"/>
    <p:sldLayoutId id="2147483705" r:id="rId14"/>
    <p:sldLayoutId id="2147483721" r:id="rId15"/>
    <p:sldLayoutId id="2147483722" r:id="rId16"/>
    <p:sldLayoutId id="2147483723" r:id="rId17"/>
    <p:sldLayoutId id="2147483724" r:id="rId18"/>
    <p:sldLayoutId id="2147483706" r:id="rId19"/>
    <p:sldLayoutId id="2147483707" r:id="rId20"/>
    <p:sldLayoutId id="2147483708" r:id="rId21"/>
    <p:sldLayoutId id="2147483709" r:id="rId22"/>
    <p:sldLayoutId id="2147483712" r:id="rId23"/>
    <p:sldLayoutId id="2147483714" r:id="rId24"/>
    <p:sldLayoutId id="2147483715" r:id="rId25"/>
    <p:sldLayoutId id="2147483716" r:id="rId26"/>
    <p:sldLayoutId id="2147483717" r:id="rId27"/>
    <p:sldLayoutId id="2147483718" r:id="rId28"/>
    <p:sldLayoutId id="2147483719" r:id="rId29"/>
    <p:sldLayoutId id="2147483720" r:id="rId30"/>
    <p:sldLayoutId id="2147483710" r:id="rId31"/>
    <p:sldLayoutId id="2147483711" r:id="rId32"/>
  </p:sldLayoutIdLst>
  <p:hf hdr="0" ftr="0" dt="0"/>
  <p:txStyles>
    <p:titleStyle>
      <a:lvl1pPr algn="l" defTabSz="914400" rtl="0" eaLnBrk="1" latinLnBrk="0" hangingPunct="1">
        <a:lnSpc>
          <a:spcPct val="90000"/>
        </a:lnSpc>
        <a:spcBef>
          <a:spcPct val="0"/>
        </a:spcBef>
        <a:buNone/>
        <a:defRPr sz="3200" b="1" kern="1200" cap="none" baseline="0">
          <a:solidFill>
            <a:srgbClr val="606060"/>
          </a:solidFill>
          <a:latin typeface="Myriad Pro" panose="020B0503030403020204" pitchFamily="34" charset="0"/>
          <a:ea typeface="+mj-ea"/>
          <a:cs typeface="+mj-cs"/>
        </a:defRPr>
      </a:lvl1pPr>
    </p:titleStyle>
    <p:bodyStyle>
      <a:lvl1pPr marL="0" indent="0" algn="l" defTabSz="914400" rtl="0" eaLnBrk="1" latinLnBrk="0" hangingPunct="1">
        <a:lnSpc>
          <a:spcPct val="120000"/>
        </a:lnSpc>
        <a:spcBef>
          <a:spcPts val="1000"/>
        </a:spcBef>
        <a:buSzPct val="125000"/>
        <a:buFont typeface="Arial" panose="020B0604020202020204" pitchFamily="34" charset="0"/>
        <a:buNone/>
        <a:defRPr sz="2000" kern="1200">
          <a:solidFill>
            <a:schemeClr val="tx1"/>
          </a:solidFill>
          <a:latin typeface="Myriad Pro" panose="020B0503030403020204" pitchFamily="34" charset="0"/>
          <a:ea typeface="+mn-ea"/>
          <a:cs typeface="+mn-cs"/>
        </a:defRPr>
      </a:lvl1pPr>
      <a:lvl2pPr marL="457200" indent="0" algn="l"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yriad Pro" panose="020B0503030403020204" pitchFamily="34" charset="0"/>
          <a:ea typeface="+mn-ea"/>
          <a:cs typeface="+mn-cs"/>
        </a:defRPr>
      </a:lvl2pPr>
      <a:lvl3pPr marL="914400" indent="0" algn="l"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yriad Pro" panose="020B0503030403020204" pitchFamily="34" charset="0"/>
          <a:ea typeface="+mn-ea"/>
          <a:cs typeface="+mn-cs"/>
        </a:defRPr>
      </a:lvl3pPr>
      <a:lvl4pPr marL="13716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4pPr>
      <a:lvl5pPr marL="1828800" indent="0" algn="l" defTabSz="914400" rtl="0" eaLnBrk="1" latinLnBrk="0" hangingPunct="1">
        <a:lnSpc>
          <a:spcPct val="120000"/>
        </a:lnSpc>
        <a:spcBef>
          <a:spcPts val="500"/>
        </a:spcBef>
        <a:buSzPct val="125000"/>
        <a:buFont typeface="Arial" panose="020B0604020202020204" pitchFamily="34" charset="0"/>
        <a:buNone/>
        <a:defRPr sz="1400" kern="1200">
          <a:solidFill>
            <a:schemeClr val="tx1"/>
          </a:solidFill>
          <a:latin typeface="Myriad Pro" panose="020B0503030403020204" pitchFamily="34" charset="0"/>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xml"/><Relationship Id="rId5" Type="http://schemas.openxmlformats.org/officeDocument/2006/relationships/image" Target="../media/image57.png"/><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73.png"/><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0.xml"/></Relationships>
</file>

<file path=ppt/slides/_rels/slide6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6.png"/><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7.png"/><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9.xml"/><Relationship Id="rId4" Type="http://schemas.openxmlformats.org/officeDocument/2006/relationships/image" Target="../media/image10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19.xml"/><Relationship Id="rId4" Type="http://schemas.openxmlformats.org/officeDocument/2006/relationships/image" Target="../media/image10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0.xml"/><Relationship Id="rId4" Type="http://schemas.openxmlformats.org/officeDocument/2006/relationships/image" Target="../media/image110.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1.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4.xml"/></Relationships>
</file>

<file path=ppt/slides/_rels/slide9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2.png"/><Relationship Id="rId1" Type="http://schemas.openxmlformats.org/officeDocument/2006/relationships/slideLayout" Target="../slideLayouts/slideLayout14.xml"/></Relationships>
</file>

<file path=ppt/slides/_rels/slide97.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2.png"/><Relationship Id="rId1" Type="http://schemas.openxmlformats.org/officeDocument/2006/relationships/slideLayout" Target="../slideLayouts/slideLayout14.xml"/></Relationships>
</file>

<file path=ppt/slides/_rels/slide9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4.xml"/></Relationships>
</file>

<file path=ppt/slides/_rels/slide9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4.xml"/></Relationships>
</file>

<file path=ppt/slides/_rels/slide100.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4.xml"/></Relationships>
</file>

<file path=ppt/slides/_rels/slide10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4.xml"/></Relationships>
</file>

<file path=ppt/slides/_rels/slide10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9.xml"/><Relationship Id="rId4" Type="http://schemas.openxmlformats.org/officeDocument/2006/relationships/image" Target="../media/image12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9.xml"/><Relationship Id="rId4" Type="http://schemas.openxmlformats.org/officeDocument/2006/relationships/image" Target="../media/image12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0.xml"/><Relationship Id="rId4" Type="http://schemas.openxmlformats.org/officeDocument/2006/relationships/image" Target="../media/image129.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4.xml"/></Relationships>
</file>

<file path=ppt/slides/_rels/slide11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4.xml"/></Relationships>
</file>

<file path=ppt/slides/_rels/slide11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9.xml"/></Relationships>
</file>

<file path=ppt/slides/_rels/slide11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3.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6</a:t>
            </a:r>
            <a:br>
              <a:rPr lang="en-US" dirty="0"/>
            </a:br>
            <a:r>
              <a:rPr lang="en-US" dirty="0"/>
              <a:t>Searching and Sorting</a:t>
            </a:r>
          </a:p>
        </p:txBody>
      </p:sp>
    </p:spTree>
    <p:extLst>
      <p:ext uri="{BB962C8B-B14F-4D97-AF65-F5344CB8AC3E}">
        <p14:creationId xmlns:p14="http://schemas.microsoft.com/office/powerpoint/2010/main" val="97670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Searching Algorithms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a:t>
            </a:fld>
            <a:endParaRPr lang="en-US" dirty="0"/>
          </a:p>
        </p:txBody>
      </p:sp>
      <p:sp>
        <p:nvSpPr>
          <p:cNvPr id="4" name="Text Placeholder 3"/>
          <p:cNvSpPr>
            <a:spLocks noGrp="1"/>
          </p:cNvSpPr>
          <p:nvPr>
            <p:ph type="body" sz="quarter" idx="14"/>
          </p:nvPr>
        </p:nvSpPr>
        <p:spPr/>
        <p:txBody>
          <a:bodyPr/>
          <a:lstStyle/>
          <a:p>
            <a:r>
              <a:rPr lang="en-US" dirty="0"/>
              <a:t>6.1</a:t>
            </a:r>
          </a:p>
        </p:txBody>
      </p:sp>
      <p:sp>
        <p:nvSpPr>
          <p:cNvPr id="5" name="Content Placeholder 4"/>
          <p:cNvSpPr>
            <a:spLocks noGrp="1"/>
          </p:cNvSpPr>
          <p:nvPr>
            <p:ph sz="quarter" idx="15"/>
          </p:nvPr>
        </p:nvSpPr>
        <p:spPr/>
        <p:txBody>
          <a:bodyPr/>
          <a:lstStyle/>
          <a:p>
            <a:r>
              <a:rPr lang="en-US" dirty="0"/>
              <a:t>Using lists or arrays to store data helps us </a:t>
            </a:r>
            <a:r>
              <a:rPr lang="en-US" dirty="0" err="1"/>
              <a:t>organise</a:t>
            </a:r>
            <a:r>
              <a:rPr lang="en-US" dirty="0"/>
              <a:t> large amounts of related data. To find a record in the list that is the same as the target value, we need to perform a </a:t>
            </a:r>
            <a:r>
              <a:rPr lang="en-US" b="1" dirty="0">
                <a:solidFill>
                  <a:srgbClr val="504FA0"/>
                </a:solidFill>
              </a:rPr>
              <a:t>search</a:t>
            </a:r>
            <a:r>
              <a:rPr lang="en-US" dirty="0"/>
              <a:t>. </a:t>
            </a:r>
          </a:p>
          <a:p>
            <a:endParaRPr lang="en-US" dirty="0"/>
          </a:p>
          <a:p>
            <a:r>
              <a:rPr lang="en-US" dirty="0"/>
              <a:t>Whether the items in the list are sorted will also affect the design and efficiency of the algorithm. This chapter will discuss the design and efficiency of different search algorithms.</a:t>
            </a:r>
          </a:p>
        </p:txBody>
      </p:sp>
      <p:pic>
        <p:nvPicPr>
          <p:cNvPr id="7" name="Picture 6"/>
          <p:cNvPicPr>
            <a:picLocks noChangeAspect="1"/>
          </p:cNvPicPr>
          <p:nvPr/>
        </p:nvPicPr>
        <p:blipFill>
          <a:blip r:embed="rId2"/>
          <a:stretch>
            <a:fillRect/>
          </a:stretch>
        </p:blipFill>
        <p:spPr>
          <a:xfrm>
            <a:off x="4503644" y="4174298"/>
            <a:ext cx="2953842" cy="1993512"/>
          </a:xfrm>
          <a:prstGeom prst="rect">
            <a:avLst/>
          </a:prstGeom>
        </p:spPr>
      </p:pic>
    </p:spTree>
    <p:extLst>
      <p:ext uri="{BB962C8B-B14F-4D97-AF65-F5344CB8AC3E}">
        <p14:creationId xmlns:p14="http://schemas.microsoft.com/office/powerpoint/2010/main" val="1077576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The easiest way to know if the target value exists in the list is to search the list from the beginning, i.e. start from index 0, then go through index 1, index 2 and so on until you reach the last index in the list or find the target value. </a:t>
            </a:r>
          </a:p>
          <a:p>
            <a:endParaRPr lang="en-US" dirty="0"/>
          </a:p>
          <a:p>
            <a:endParaRPr lang="en-US" dirty="0"/>
          </a:p>
          <a:p>
            <a:endParaRPr lang="en-US" dirty="0"/>
          </a:p>
          <a:p>
            <a:endParaRPr lang="en-US" dirty="0"/>
          </a:p>
          <a:p>
            <a:endParaRPr lang="en-US" dirty="0"/>
          </a:p>
          <a:p>
            <a:endParaRPr lang="en-US" dirty="0"/>
          </a:p>
          <a:p>
            <a:r>
              <a:rPr lang="en-US" dirty="0"/>
              <a:t>This algorithm is called </a:t>
            </a:r>
            <a:r>
              <a:rPr lang="en-US" b="1" dirty="0">
                <a:solidFill>
                  <a:srgbClr val="504FA0"/>
                </a:solidFill>
              </a:rPr>
              <a:t>linear search</a:t>
            </a:r>
            <a:r>
              <a:rPr lang="en-US" dirty="0"/>
              <a:t>. It is often used to search unsorted lists.</a:t>
            </a:r>
          </a:p>
        </p:txBody>
      </p:sp>
      <p:pic>
        <p:nvPicPr>
          <p:cNvPr id="6" name="Picture 5"/>
          <p:cNvPicPr>
            <a:picLocks noChangeAspect="1"/>
          </p:cNvPicPr>
          <p:nvPr/>
        </p:nvPicPr>
        <p:blipFill>
          <a:blip r:embed="rId2"/>
          <a:stretch>
            <a:fillRect/>
          </a:stretch>
        </p:blipFill>
        <p:spPr>
          <a:xfrm>
            <a:off x="2435817" y="3309794"/>
            <a:ext cx="7321565" cy="1895918"/>
          </a:xfrm>
          <a:prstGeom prst="rect">
            <a:avLst/>
          </a:prstGeom>
        </p:spPr>
      </p:pic>
    </p:spTree>
    <p:extLst>
      <p:ext uri="{BB962C8B-B14F-4D97-AF65-F5344CB8AC3E}">
        <p14:creationId xmlns:p14="http://schemas.microsoft.com/office/powerpoint/2010/main" val="593147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lnSpcReduction="10000"/>
          </a:bodyPr>
          <a:lstStyle/>
          <a:p>
            <a:r>
              <a:rPr lang="en-US" dirty="0"/>
              <a:t>Suppose unsorted list mark stores the test scores of ten students, as listed below:</a:t>
            </a:r>
          </a:p>
          <a:p>
            <a:endParaRPr lang="en-US" dirty="0"/>
          </a:p>
          <a:p>
            <a:endParaRPr lang="en-US" dirty="0"/>
          </a:p>
          <a:p>
            <a:endParaRPr lang="en-US" dirty="0"/>
          </a:p>
          <a:p>
            <a:r>
              <a:rPr lang="en-US" dirty="0"/>
              <a:t>The following Python program can search whether the target score exists in the list (</a:t>
            </a:r>
            <a:r>
              <a:rPr lang="en-US" dirty="0" err="1">
                <a:latin typeface="Courier New" panose="02070309020205020404" pitchFamily="49" charset="0"/>
                <a:cs typeface="Courier New" panose="02070309020205020404" pitchFamily="49" charset="0"/>
              </a:rPr>
              <a:t>ifexist</a:t>
            </a:r>
            <a:r>
              <a:rPr lang="en-US" dirty="0"/>
              <a:t>).</a:t>
            </a:r>
          </a:p>
          <a:p>
            <a:pPr lvl="1"/>
            <a:r>
              <a:rPr lang="en-US" sz="2000" dirty="0">
                <a:latin typeface="Courier New" panose="02070309020205020404" pitchFamily="49" charset="0"/>
                <a:cs typeface="Courier New" panose="02070309020205020404" pitchFamily="49" charset="0"/>
              </a:rPr>
              <a:t>target = </a:t>
            </a:r>
            <a:r>
              <a:rPr lang="en-US" sz="2000" dirty="0" err="1">
                <a:solidFill>
                  <a:srgbClr val="7C2573"/>
                </a:solidFill>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a:t>
            </a:r>
            <a:r>
              <a:rPr lang="en-US" sz="2000" dirty="0">
                <a:solidFill>
                  <a:srgbClr val="7C2573"/>
                </a:solidFill>
                <a:latin typeface="Courier New" panose="02070309020205020404" pitchFamily="49" charset="0"/>
                <a:cs typeface="Courier New" panose="02070309020205020404" pitchFamily="49" charset="0"/>
              </a:rPr>
              <a:t>input</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found = </a:t>
            </a:r>
            <a:r>
              <a:rPr lang="en-US" sz="2000" b="1" dirty="0">
                <a:solidFill>
                  <a:srgbClr val="7C2573"/>
                </a:solidFill>
                <a:latin typeface="Courier New" panose="02070309020205020404" pitchFamily="49" charset="0"/>
                <a:cs typeface="Courier New" panose="02070309020205020404" pitchFamily="49" charset="0"/>
              </a:rPr>
              <a:t>False</a:t>
            </a:r>
            <a:br>
              <a:rPr lang="en-US" sz="2000" dirty="0">
                <a:latin typeface="Courier New" panose="02070309020205020404" pitchFamily="49" charset="0"/>
                <a:cs typeface="Courier New" panose="02070309020205020404" pitchFamily="49" charset="0"/>
              </a:rPr>
            </a:br>
            <a:r>
              <a:rPr lang="en-US" sz="2000" b="1" dirty="0">
                <a:solidFill>
                  <a:srgbClr val="7C2573"/>
                </a:solidFill>
                <a:latin typeface="Courier New" panose="02070309020205020404" pitchFamily="49" charset="0"/>
                <a:cs typeface="Courier New" panose="02070309020205020404" pitchFamily="49" charset="0"/>
              </a:rPr>
              <a:t>for</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 </a:t>
            </a:r>
            <a:r>
              <a:rPr lang="en-US" sz="2000" b="1" dirty="0">
                <a:solidFill>
                  <a:srgbClr val="7C2573"/>
                </a:solidFill>
                <a:latin typeface="Courier New" panose="02070309020205020404" pitchFamily="49" charset="0"/>
                <a:cs typeface="Courier New" panose="02070309020205020404" pitchFamily="49" charset="0"/>
              </a:rPr>
              <a:t>in</a:t>
            </a:r>
            <a:r>
              <a:rPr lang="en-US" sz="2000" dirty="0">
                <a:solidFill>
                  <a:srgbClr val="7C2573"/>
                </a:solidFill>
                <a:latin typeface="Courier New" panose="02070309020205020404" pitchFamily="49" charset="0"/>
                <a:cs typeface="Courier New" panose="02070309020205020404" pitchFamily="49" charset="0"/>
              </a:rPr>
              <a:t> range</a:t>
            </a:r>
            <a:r>
              <a:rPr lang="en-US" sz="2000" dirty="0">
                <a:latin typeface="Courier New" panose="02070309020205020404" pitchFamily="49" charset="0"/>
                <a:cs typeface="Courier New" panose="02070309020205020404" pitchFamily="49" charset="0"/>
              </a:rPr>
              <a:t>(</a:t>
            </a:r>
            <a:r>
              <a:rPr lang="en-US" sz="2000" dirty="0">
                <a:solidFill>
                  <a:srgbClr val="AB3D18"/>
                </a:solidFill>
                <a:latin typeface="Courier New" panose="02070309020205020404" pitchFamily="49" charset="0"/>
                <a:cs typeface="Courier New" panose="02070309020205020404" pitchFamily="49" charset="0"/>
              </a:rPr>
              <a:t>0</a:t>
            </a:r>
            <a:r>
              <a:rPr lang="en-US" sz="2000" dirty="0">
                <a:latin typeface="Courier New" panose="02070309020205020404" pitchFamily="49" charset="0"/>
                <a:cs typeface="Courier New" panose="02070309020205020404" pitchFamily="49" charset="0"/>
              </a:rPr>
              <a:t>, </a:t>
            </a:r>
            <a:r>
              <a:rPr lang="en-US" sz="2000" dirty="0" err="1">
                <a:solidFill>
                  <a:srgbClr val="7C2573"/>
                </a:solidFill>
                <a:latin typeface="Courier New" panose="02070309020205020404" pitchFamily="49" charset="0"/>
                <a:cs typeface="Courier New" panose="02070309020205020404" pitchFamily="49" charset="0"/>
              </a:rPr>
              <a:t>len</a:t>
            </a:r>
            <a:r>
              <a:rPr lang="en-US" sz="2000" dirty="0">
                <a:latin typeface="Courier New" panose="02070309020205020404" pitchFamily="49" charset="0"/>
                <a:cs typeface="Courier New" panose="02070309020205020404" pitchFamily="49" charset="0"/>
              </a:rPr>
              <a:t>(mark)):</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b="1" dirty="0">
                <a:solidFill>
                  <a:srgbClr val="7C2573"/>
                </a:solidFill>
                <a:latin typeface="Courier New" panose="02070309020205020404" pitchFamily="49" charset="0"/>
                <a:cs typeface="Courier New" panose="02070309020205020404" pitchFamily="49" charset="0"/>
              </a:rPr>
              <a:t>if</a:t>
            </a:r>
            <a:r>
              <a:rPr lang="en-US" sz="2000" dirty="0">
                <a:latin typeface="Courier New" panose="02070309020205020404" pitchFamily="49" charset="0"/>
                <a:cs typeface="Courier New" panose="02070309020205020404" pitchFamily="49" charset="0"/>
              </a:rPr>
              <a:t> target == mark[</a:t>
            </a:r>
            <a:r>
              <a:rPr lang="en-US" sz="2000" dirty="0" err="1">
                <a:latin typeface="Courier New" panose="02070309020205020404" pitchFamily="49" charset="0"/>
                <a:cs typeface="Courier New" panose="02070309020205020404" pitchFamily="49" charset="0"/>
              </a:rPr>
              <a:t>i</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found = </a:t>
            </a:r>
            <a:r>
              <a:rPr lang="en-US" sz="2000" b="1" dirty="0">
                <a:solidFill>
                  <a:srgbClr val="7C2573"/>
                </a:solidFill>
                <a:latin typeface="Courier New" panose="02070309020205020404" pitchFamily="49" charset="0"/>
                <a:cs typeface="Courier New" panose="02070309020205020404" pitchFamily="49" charset="0"/>
              </a:rPr>
              <a:t>True</a:t>
            </a:r>
            <a:br>
              <a:rPr lang="en-US" sz="2000" dirty="0">
                <a:latin typeface="Courier New" panose="02070309020205020404" pitchFamily="49" charset="0"/>
                <a:cs typeface="Courier New" panose="02070309020205020404" pitchFamily="49" charset="0"/>
              </a:rPr>
            </a:br>
            <a:r>
              <a:rPr lang="en-US" sz="2000" dirty="0">
                <a:solidFill>
                  <a:srgbClr val="7C2573"/>
                </a:solidFill>
                <a:latin typeface="Courier New" panose="02070309020205020404" pitchFamily="49" charset="0"/>
                <a:cs typeface="Courier New" panose="02070309020205020404" pitchFamily="49" charset="0"/>
              </a:rPr>
              <a:t>print</a:t>
            </a:r>
            <a:r>
              <a:rPr lang="en-US" sz="2000" dirty="0">
                <a:latin typeface="Courier New" panose="02070309020205020404" pitchFamily="49" charset="0"/>
                <a:cs typeface="Courier New" panose="02070309020205020404" pitchFamily="49" charset="0"/>
              </a:rPr>
              <a:t>(found)</a:t>
            </a:r>
          </a:p>
        </p:txBody>
      </p:sp>
      <p:pic>
        <p:nvPicPr>
          <p:cNvPr id="6" name="Picture 5"/>
          <p:cNvPicPr>
            <a:picLocks noChangeAspect="1"/>
          </p:cNvPicPr>
          <p:nvPr/>
        </p:nvPicPr>
        <p:blipFill>
          <a:blip r:embed="rId2"/>
          <a:stretch>
            <a:fillRect/>
          </a:stretch>
        </p:blipFill>
        <p:spPr>
          <a:xfrm>
            <a:off x="1001591" y="2360400"/>
            <a:ext cx="10190017" cy="711939"/>
          </a:xfrm>
          <a:prstGeom prst="rect">
            <a:avLst/>
          </a:prstGeom>
        </p:spPr>
      </p:pic>
    </p:spTree>
    <p:extLst>
      <p:ext uri="{BB962C8B-B14F-4D97-AF65-F5344CB8AC3E}">
        <p14:creationId xmlns:p14="http://schemas.microsoft.com/office/powerpoint/2010/main" val="3918012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endParaRPr lang="en-US" dirty="0"/>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If the target value entered exists in the list, e.g. “50”, the final output of the program will be </a:t>
            </a:r>
            <a:r>
              <a:rPr lang="en-US" dirty="0">
                <a:latin typeface="Courier New" panose="02070309020205020404" pitchFamily="49" charset="0"/>
                <a:cs typeface="Courier New" panose="02070309020205020404" pitchFamily="49" charset="0"/>
              </a:rPr>
              <a:t>True</a:t>
            </a:r>
            <a:r>
              <a:rPr lang="en-US" dirty="0"/>
              <a:t>;  </a:t>
            </a:r>
          </a:p>
          <a:p>
            <a:pPr marL="342900" indent="-342900">
              <a:buFont typeface="Arial" panose="020B0604020202020204" pitchFamily="34" charset="0"/>
              <a:buChar char="•"/>
            </a:pPr>
            <a:r>
              <a:rPr lang="en-US" dirty="0"/>
              <a:t>If the target value entered does not exist in the list, e.g. “100”, the final output of the program will be </a:t>
            </a:r>
            <a:r>
              <a:rPr lang="en-US" dirty="0">
                <a:latin typeface="Courier New" panose="02070309020205020404" pitchFamily="49" charset="0"/>
                <a:cs typeface="Courier New" panose="02070309020205020404" pitchFamily="49" charset="0"/>
              </a:rPr>
              <a:t>False</a:t>
            </a:r>
            <a:r>
              <a:rPr lang="en-US" dirty="0"/>
              <a:t> instead.</a:t>
            </a:r>
          </a:p>
        </p:txBody>
      </p:sp>
      <p:pic>
        <p:nvPicPr>
          <p:cNvPr id="6" name="Picture 5"/>
          <p:cNvPicPr>
            <a:picLocks noChangeAspect="1"/>
          </p:cNvPicPr>
          <p:nvPr/>
        </p:nvPicPr>
        <p:blipFill>
          <a:blip r:embed="rId2"/>
          <a:stretch>
            <a:fillRect/>
          </a:stretch>
        </p:blipFill>
        <p:spPr>
          <a:xfrm>
            <a:off x="666449" y="2400246"/>
            <a:ext cx="10860301" cy="730041"/>
          </a:xfrm>
          <a:prstGeom prst="rect">
            <a:avLst/>
          </a:prstGeom>
        </p:spPr>
      </p:pic>
    </p:spTree>
    <p:extLst>
      <p:ext uri="{BB962C8B-B14F-4D97-AF65-F5344CB8AC3E}">
        <p14:creationId xmlns:p14="http://schemas.microsoft.com/office/powerpoint/2010/main" val="2764776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lnSpcReduction="10000"/>
          </a:bodyPr>
          <a:lstStyle/>
          <a:p>
            <a:r>
              <a:rPr lang="en-US" dirty="0"/>
              <a:t>Since we only need to know if the target value exists in the list, we can use the </a:t>
            </a:r>
            <a:r>
              <a:rPr lang="en-US" dirty="0">
                <a:latin typeface="Courier New" panose="02070309020205020404" pitchFamily="49" charset="0"/>
                <a:cs typeface="Courier New" panose="02070309020205020404" pitchFamily="49" charset="0"/>
              </a:rPr>
              <a:t>while</a:t>
            </a:r>
            <a:r>
              <a:rPr lang="en-US" dirty="0"/>
              <a:t> loop with an additional condition so that the program will stop the loop once it finds the same value as the target value, increasing the efficiency of the search algorithm.</a:t>
            </a:r>
          </a:p>
          <a:p>
            <a:endParaRPr lang="en-US" dirty="0"/>
          </a:p>
          <a:p>
            <a:r>
              <a:rPr lang="en-US" dirty="0">
                <a:latin typeface="Courier New" panose="02070309020205020404" pitchFamily="49" charset="0"/>
                <a:cs typeface="Courier New" panose="02070309020205020404" pitchFamily="49" charset="0"/>
              </a:rPr>
              <a:t>target = </a:t>
            </a:r>
            <a:r>
              <a:rPr lang="en-US" dirty="0" err="1">
                <a:solidFill>
                  <a:srgbClr val="7C2573"/>
                </a:solidFill>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a:t>
            </a:r>
            <a:r>
              <a:rPr lang="en-US" dirty="0">
                <a:solidFill>
                  <a:srgbClr val="7C2573"/>
                </a:solidFill>
                <a:latin typeface="Courier New" panose="02070309020205020404" pitchFamily="49" charset="0"/>
                <a:cs typeface="Courier New" panose="02070309020205020404" pitchFamily="49" charset="0"/>
              </a:rPr>
              <a:t>input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found = </a:t>
            </a:r>
            <a:r>
              <a:rPr lang="en-US" b="1" dirty="0">
                <a:solidFill>
                  <a:srgbClr val="7C2573"/>
                </a:solidFill>
                <a:latin typeface="Courier New" panose="02070309020205020404" pitchFamily="49" charset="0"/>
                <a:cs typeface="Courier New" panose="02070309020205020404" pitchFamily="49" charset="0"/>
              </a:rPr>
              <a:t>False</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a:solidFill>
                  <a:srgbClr val="AB3D18"/>
                </a:solidFill>
                <a:latin typeface="Courier New" panose="02070309020205020404" pitchFamily="49" charset="0"/>
                <a:cs typeface="Courier New" panose="02070309020205020404" pitchFamily="49" charset="0"/>
              </a:rPr>
              <a:t>0</a:t>
            </a:r>
            <a:br>
              <a:rPr lang="en-US" dirty="0">
                <a:latin typeface="Courier New" panose="02070309020205020404" pitchFamily="49" charset="0"/>
                <a:cs typeface="Courier New" panose="02070309020205020404" pitchFamily="49" charset="0"/>
              </a:rPr>
            </a:br>
            <a:r>
              <a:rPr lang="en-US" b="1" dirty="0">
                <a:solidFill>
                  <a:srgbClr val="7C2573"/>
                </a:solidFill>
                <a:latin typeface="Courier New" panose="02070309020205020404" pitchFamily="49" charset="0"/>
                <a:cs typeface="Courier New" panose="02070309020205020404" pitchFamily="49" charset="0"/>
              </a:rPr>
              <a:t>while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a:t>
            </a:r>
            <a:r>
              <a:rPr lang="en-US" dirty="0" err="1">
                <a:solidFill>
                  <a:srgbClr val="7C2573"/>
                </a:solidFill>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(mark) </a:t>
            </a:r>
            <a:r>
              <a:rPr lang="en-US" b="1" dirty="0">
                <a:solidFill>
                  <a:srgbClr val="7C2573"/>
                </a:solidFill>
                <a:latin typeface="Courier New" panose="02070309020205020404" pitchFamily="49" charset="0"/>
                <a:cs typeface="Courier New" panose="02070309020205020404" pitchFamily="49" charset="0"/>
              </a:rPr>
              <a:t>and</a:t>
            </a:r>
            <a:r>
              <a:rPr lang="en-US" dirty="0">
                <a:latin typeface="Courier New" panose="02070309020205020404" pitchFamily="49" charset="0"/>
                <a:cs typeface="Courier New" panose="02070309020205020404" pitchFamily="49" charset="0"/>
              </a:rPr>
              <a:t> found == </a:t>
            </a:r>
            <a:r>
              <a:rPr lang="en-US" b="1" dirty="0">
                <a:solidFill>
                  <a:srgbClr val="7C2573"/>
                </a:solidFill>
                <a:latin typeface="Courier New" panose="02070309020205020404" pitchFamily="49" charset="0"/>
                <a:cs typeface="Courier New" panose="02070309020205020404" pitchFamily="49" charset="0"/>
              </a:rPr>
              <a:t>False</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solidFill>
                  <a:srgbClr val="7C2573"/>
                </a:solidFill>
                <a:latin typeface="Courier New" panose="02070309020205020404" pitchFamily="49" charset="0"/>
                <a:cs typeface="Courier New" panose="02070309020205020404" pitchFamily="49" charset="0"/>
              </a:rPr>
              <a:t>if</a:t>
            </a:r>
            <a:r>
              <a:rPr lang="en-US" dirty="0">
                <a:latin typeface="Courier New" panose="02070309020205020404" pitchFamily="49" charset="0"/>
                <a:cs typeface="Courier New" panose="02070309020205020404" pitchFamily="49" charset="0"/>
              </a:rPr>
              <a:t> target == mark[</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found = </a:t>
            </a:r>
            <a:r>
              <a:rPr lang="en-US" b="1" dirty="0">
                <a:solidFill>
                  <a:srgbClr val="7C2573"/>
                </a:solidFill>
                <a:latin typeface="Courier New" panose="02070309020205020404" pitchFamily="49" charset="0"/>
                <a:cs typeface="Courier New" panose="02070309020205020404" pitchFamily="49" charset="0"/>
              </a:rPr>
              <a:t>True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a:solidFill>
                  <a:srgbClr val="AB3D18"/>
                </a:solidFill>
                <a:latin typeface="Courier New" panose="02070309020205020404" pitchFamily="49" charset="0"/>
                <a:cs typeface="Courier New" panose="02070309020205020404" pitchFamily="49" charset="0"/>
              </a:rPr>
              <a:t>1</a:t>
            </a:r>
            <a:br>
              <a:rPr lang="en-US" dirty="0">
                <a:latin typeface="Courier New" panose="02070309020205020404" pitchFamily="49" charset="0"/>
                <a:cs typeface="Courier New" panose="02070309020205020404" pitchFamily="49" charset="0"/>
              </a:rPr>
            </a:br>
            <a:r>
              <a:rPr lang="en-US" dirty="0">
                <a:solidFill>
                  <a:srgbClr val="7C2573"/>
                </a:solidFill>
                <a:latin typeface="Courier New" panose="02070309020205020404" pitchFamily="49" charset="0"/>
                <a:cs typeface="Courier New" panose="02070309020205020404" pitchFamily="49" charset="0"/>
              </a:rPr>
              <a:t>print</a:t>
            </a:r>
            <a:r>
              <a:rPr lang="en-US" dirty="0">
                <a:latin typeface="Courier New" panose="02070309020205020404" pitchFamily="49" charset="0"/>
                <a:cs typeface="Courier New" panose="02070309020205020404" pitchFamily="49" charset="0"/>
              </a:rPr>
              <a:t>(found)</a:t>
            </a:r>
          </a:p>
        </p:txBody>
      </p:sp>
    </p:spTree>
    <p:extLst>
      <p:ext uri="{BB962C8B-B14F-4D97-AF65-F5344CB8AC3E}">
        <p14:creationId xmlns:p14="http://schemas.microsoft.com/office/powerpoint/2010/main" val="256305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Using the following sample data, </a:t>
            </a:r>
            <a:r>
              <a:rPr lang="en-US" dirty="0" err="1"/>
              <a:t>analyse</a:t>
            </a:r>
            <a:r>
              <a:rPr lang="en-US" dirty="0"/>
              <a:t> how many evaluations are required for each of the two algorithms (</a:t>
            </a:r>
            <a:r>
              <a:rPr lang="en-US" dirty="0">
                <a:latin typeface="Courier New" panose="02070309020205020404" pitchFamily="49" charset="0"/>
                <a:cs typeface="Courier New" panose="02070309020205020404" pitchFamily="49" charset="0"/>
              </a:rPr>
              <a:t>target == mark[</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r>
              <a:rPr lang="en-US" dirty="0"/>
              <a:t>):</a:t>
            </a:r>
          </a:p>
          <a:p>
            <a:endParaRPr lang="en-US" dirty="0"/>
          </a:p>
          <a:p>
            <a:endParaRPr lang="en-US" dirty="0"/>
          </a:p>
          <a:p>
            <a:endParaRPr lang="en-US" dirty="0"/>
          </a:p>
          <a:p>
            <a:endParaRPr lang="en-US" dirty="0"/>
          </a:p>
          <a:p>
            <a:br>
              <a:rPr lang="en-US" dirty="0"/>
            </a:br>
            <a:endParaRPr lang="en-US" dirty="0"/>
          </a:p>
          <a:p>
            <a:r>
              <a:rPr lang="en-US" dirty="0"/>
              <a:t>As you can see, it is more efficient to use a </a:t>
            </a:r>
            <a:r>
              <a:rPr lang="en-US" dirty="0">
                <a:latin typeface="Courier New" panose="02070309020205020404" pitchFamily="49" charset="0"/>
                <a:cs typeface="Courier New" panose="02070309020205020404" pitchFamily="49" charset="0"/>
              </a:rPr>
              <a:t>while</a:t>
            </a:r>
            <a:r>
              <a:rPr lang="en-US" dirty="0"/>
              <a:t> loop, since it leaves the loop as soon as it finds the target value, without proceeding to check all items in the list.</a:t>
            </a:r>
          </a:p>
        </p:txBody>
      </p:sp>
      <p:pic>
        <p:nvPicPr>
          <p:cNvPr id="6" name="Picture 5"/>
          <p:cNvPicPr>
            <a:picLocks noChangeAspect="1"/>
          </p:cNvPicPr>
          <p:nvPr/>
        </p:nvPicPr>
        <p:blipFill>
          <a:blip r:embed="rId2"/>
          <a:stretch>
            <a:fillRect/>
          </a:stretch>
        </p:blipFill>
        <p:spPr>
          <a:xfrm>
            <a:off x="2064050" y="2772257"/>
            <a:ext cx="8065100" cy="2143698"/>
          </a:xfrm>
          <a:prstGeom prst="rect">
            <a:avLst/>
          </a:prstGeom>
        </p:spPr>
      </p:pic>
    </p:spTree>
    <p:extLst>
      <p:ext uri="{BB962C8B-B14F-4D97-AF65-F5344CB8AC3E}">
        <p14:creationId xmlns:p14="http://schemas.microsoft.com/office/powerpoint/2010/main" val="3545768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dirty="0"/>
              <a:t>We can now rewrite the program so that when the target value is found, the program will output its index in the list. </a:t>
            </a:r>
          </a:p>
          <a:p>
            <a:endParaRPr lang="en-US" dirty="0"/>
          </a:p>
          <a:p>
            <a:r>
              <a:rPr lang="en-US" dirty="0">
                <a:latin typeface="Courier New" panose="02070309020205020404" pitchFamily="49" charset="0"/>
                <a:cs typeface="Courier New" panose="02070309020205020404" pitchFamily="49" charset="0"/>
              </a:rPr>
              <a:t>	target = </a:t>
            </a:r>
            <a:r>
              <a:rPr lang="en-US" dirty="0" err="1">
                <a:solidFill>
                  <a:srgbClr val="7C2573"/>
                </a:solidFill>
                <a:latin typeface="Courier New" panose="02070309020205020404" pitchFamily="49" charset="0"/>
                <a:cs typeface="Courier New" panose="02070309020205020404" pitchFamily="49" charset="0"/>
              </a:rPr>
              <a:t>int</a:t>
            </a:r>
            <a:r>
              <a:rPr lang="en-US" dirty="0">
                <a:latin typeface="Courier New" panose="02070309020205020404" pitchFamily="49" charset="0"/>
                <a:cs typeface="Courier New" panose="02070309020205020404" pitchFamily="49" charset="0"/>
              </a:rPr>
              <a:t>(</a:t>
            </a:r>
            <a:r>
              <a:rPr lang="en-US" dirty="0">
                <a:solidFill>
                  <a:srgbClr val="7C2573"/>
                </a:solidFill>
                <a:latin typeface="Courier New" panose="02070309020205020404" pitchFamily="49" charset="0"/>
                <a:cs typeface="Courier New" panose="02070309020205020404" pitchFamily="49" charset="0"/>
              </a:rPr>
              <a:t>input</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index = -</a:t>
            </a:r>
            <a:r>
              <a:rPr lang="en-US" dirty="0">
                <a:solidFill>
                  <a:srgbClr val="AB3D18"/>
                </a:solidFill>
                <a:latin typeface="Courier New" panose="02070309020205020404" pitchFamily="49" charset="0"/>
                <a:cs typeface="Courier New" panose="02070309020205020404" pitchFamily="49" charset="0"/>
              </a:rPr>
              <a:t>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solidFill>
                  <a:srgbClr val="7C2573"/>
                </a:solidFill>
                <a:latin typeface="Courier New" panose="02070309020205020404" pitchFamily="49" charset="0"/>
                <a:cs typeface="Courier New" panose="02070309020205020404" pitchFamily="49" charset="0"/>
              </a:rPr>
              <a:t>for</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b="1" dirty="0">
                <a:solidFill>
                  <a:srgbClr val="7C2573"/>
                </a:solidFill>
                <a:latin typeface="Courier New" panose="02070309020205020404" pitchFamily="49" charset="0"/>
                <a:cs typeface="Courier New" panose="02070309020205020404" pitchFamily="49" charset="0"/>
              </a:rPr>
              <a:t>in</a:t>
            </a:r>
            <a:r>
              <a:rPr lang="en-US" dirty="0">
                <a:latin typeface="Courier New" panose="02070309020205020404" pitchFamily="49" charset="0"/>
                <a:cs typeface="Courier New" panose="02070309020205020404" pitchFamily="49" charset="0"/>
              </a:rPr>
              <a:t> </a:t>
            </a:r>
            <a:r>
              <a:rPr lang="en-US" dirty="0">
                <a:solidFill>
                  <a:srgbClr val="7C2573"/>
                </a:solidFill>
                <a:latin typeface="Courier New" panose="02070309020205020404" pitchFamily="49" charset="0"/>
                <a:cs typeface="Courier New" panose="02070309020205020404" pitchFamily="49" charset="0"/>
              </a:rPr>
              <a:t>range</a:t>
            </a:r>
            <a:r>
              <a:rPr lang="en-US" dirty="0">
                <a:latin typeface="Courier New" panose="02070309020205020404" pitchFamily="49" charset="0"/>
                <a:cs typeface="Courier New" panose="02070309020205020404" pitchFamily="49" charset="0"/>
              </a:rPr>
              <a:t>(</a:t>
            </a:r>
            <a:r>
              <a:rPr lang="en-US" dirty="0">
                <a:solidFill>
                  <a:srgbClr val="AB3D18"/>
                </a:solidFill>
                <a:latin typeface="Courier New" panose="02070309020205020404" pitchFamily="49" charset="0"/>
                <a:cs typeface="Courier New" panose="02070309020205020404" pitchFamily="49" charset="0"/>
              </a:rPr>
              <a:t>0</a:t>
            </a:r>
            <a:r>
              <a:rPr lang="en-US" dirty="0">
                <a:latin typeface="Courier New" panose="02070309020205020404" pitchFamily="49" charset="0"/>
                <a:cs typeface="Courier New" panose="02070309020205020404" pitchFamily="49" charset="0"/>
              </a:rPr>
              <a:t>, </a:t>
            </a:r>
            <a:r>
              <a:rPr lang="en-US" dirty="0" err="1">
                <a:solidFill>
                  <a:srgbClr val="7C2573"/>
                </a:solidFill>
                <a:latin typeface="Courier New" panose="02070309020205020404" pitchFamily="49" charset="0"/>
                <a:cs typeface="Courier New" panose="02070309020205020404" pitchFamily="49" charset="0"/>
              </a:rPr>
              <a:t>len</a:t>
            </a:r>
            <a:r>
              <a:rPr lang="en-US" dirty="0">
                <a:latin typeface="Courier New" panose="02070309020205020404" pitchFamily="49" charset="0"/>
                <a:cs typeface="Courier New" panose="02070309020205020404" pitchFamily="49" charset="0"/>
              </a:rPr>
              <a:t>(mark)):</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solidFill>
                  <a:srgbClr val="7C2573"/>
                </a:solidFill>
                <a:latin typeface="Courier New" panose="02070309020205020404" pitchFamily="49" charset="0"/>
                <a:cs typeface="Courier New" panose="02070309020205020404" pitchFamily="49" charset="0"/>
              </a:rPr>
              <a:t>if</a:t>
            </a:r>
            <a:r>
              <a:rPr lang="en-US" dirty="0">
                <a:latin typeface="Courier New" panose="02070309020205020404" pitchFamily="49" charset="0"/>
                <a:cs typeface="Courier New" panose="02070309020205020404" pitchFamily="49" charset="0"/>
              </a:rPr>
              <a:t> target == mark[</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index = 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a:solidFill>
                  <a:srgbClr val="7C2573"/>
                </a:solidFill>
                <a:latin typeface="Courier New" panose="02070309020205020404" pitchFamily="49" charset="0"/>
                <a:cs typeface="Courier New" panose="02070309020205020404" pitchFamily="49" charset="0"/>
              </a:rPr>
              <a:t>print</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b="1" dirty="0">
                <a:solidFill>
                  <a:srgbClr val="7C2573"/>
                </a:solidFill>
                <a:latin typeface="Courier New" panose="02070309020205020404" pitchFamily="49" charset="0"/>
                <a:cs typeface="Courier New" panose="02070309020205020404" pitchFamily="49" charset="0"/>
              </a:rPr>
              <a:t>if</a:t>
            </a:r>
            <a:r>
              <a:rPr lang="en-US" dirty="0">
                <a:latin typeface="Courier New" panose="02070309020205020404" pitchFamily="49" charset="0"/>
                <a:cs typeface="Courier New" panose="02070309020205020404" pitchFamily="49" charset="0"/>
              </a:rPr>
              <a:t> index == -</a:t>
            </a:r>
            <a:r>
              <a:rPr lang="en-US" dirty="0">
                <a:solidFill>
                  <a:srgbClr val="AB3D18"/>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dirty="0">
                <a:solidFill>
                  <a:srgbClr val="7C2573"/>
                </a:solidFill>
                <a:latin typeface="Courier New" panose="02070309020205020404" pitchFamily="49" charset="0"/>
                <a:cs typeface="Courier New" panose="02070309020205020404" pitchFamily="49" charset="0"/>
              </a:rPr>
              <a:t>print</a:t>
            </a:r>
            <a:r>
              <a:rPr lang="en-US" dirty="0">
                <a:latin typeface="Courier New" panose="02070309020205020404" pitchFamily="49" charset="0"/>
                <a:cs typeface="Courier New" panose="02070309020205020404" pitchFamily="49" charset="0"/>
              </a:rPr>
              <a:t>(</a:t>
            </a:r>
            <a:r>
              <a:rPr lang="en-US" dirty="0">
                <a:solidFill>
                  <a:srgbClr val="136433"/>
                </a:solidFill>
                <a:latin typeface="Courier New" panose="02070309020205020404" pitchFamily="49" charset="0"/>
                <a:cs typeface="Courier New" panose="02070309020205020404" pitchFamily="49" charset="0"/>
              </a:rPr>
              <a:t>"No result is found."</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91429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The following array </a:t>
            </a:r>
            <a:r>
              <a:rPr lang="en-US" dirty="0">
                <a:latin typeface="Courier New" panose="02070309020205020404" pitchFamily="49" charset="0"/>
                <a:cs typeface="Courier New" panose="02070309020205020404" pitchFamily="49" charset="0"/>
              </a:rPr>
              <a:t>participant</a:t>
            </a:r>
            <a:r>
              <a:rPr lang="en-US" dirty="0"/>
              <a:t> stores the username of participants who have signed up for a webinar:</a:t>
            </a:r>
          </a:p>
        </p:txBody>
      </p:sp>
      <p:sp>
        <p:nvSpPr>
          <p:cNvPr id="3" name="Slide Number Placeholder 2"/>
          <p:cNvSpPr>
            <a:spLocks noGrp="1"/>
          </p:cNvSpPr>
          <p:nvPr>
            <p:ph type="sldNum" sz="quarter" idx="12"/>
          </p:nvPr>
        </p:nvSpPr>
        <p:spPr/>
        <p:txBody>
          <a:bodyPr/>
          <a:lstStyle/>
          <a:p>
            <a:fld id="{6D22F896-40B5-4ADD-8801-0D06FADFA095}" type="slidenum">
              <a:rPr lang="en-US" smtClean="0"/>
              <a:t>9</a:t>
            </a:fld>
            <a:endParaRPr lang="en-US" dirty="0"/>
          </a:p>
        </p:txBody>
      </p:sp>
      <p:sp>
        <p:nvSpPr>
          <p:cNvPr id="4" name="Text Placeholder 3"/>
          <p:cNvSpPr>
            <a:spLocks noGrp="1"/>
          </p:cNvSpPr>
          <p:nvPr>
            <p:ph type="body" sz="quarter" idx="13"/>
          </p:nvPr>
        </p:nvSpPr>
        <p:spPr/>
        <p:txBody>
          <a:bodyPr/>
          <a:lstStyle/>
          <a:p>
            <a:r>
              <a:rPr lang="en-US" dirty="0"/>
              <a:t>6.1</a:t>
            </a:r>
          </a:p>
        </p:txBody>
      </p:sp>
      <p:pic>
        <p:nvPicPr>
          <p:cNvPr id="5" name="Picture 4"/>
          <p:cNvPicPr>
            <a:picLocks noChangeAspect="1"/>
          </p:cNvPicPr>
          <p:nvPr/>
        </p:nvPicPr>
        <p:blipFill>
          <a:blip r:embed="rId2"/>
          <a:stretch>
            <a:fillRect/>
          </a:stretch>
        </p:blipFill>
        <p:spPr>
          <a:xfrm>
            <a:off x="1726846" y="2294313"/>
            <a:ext cx="3834921" cy="3884596"/>
          </a:xfrm>
          <a:prstGeom prst="rect">
            <a:avLst/>
          </a:prstGeom>
        </p:spPr>
      </p:pic>
    </p:spTree>
    <p:extLst>
      <p:ext uri="{BB962C8B-B14F-4D97-AF65-F5344CB8AC3E}">
        <p14:creationId xmlns:p14="http://schemas.microsoft.com/office/powerpoint/2010/main" val="140072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Matthew uses the following linear search algorithm to check if the username entered is registered for the webinar.</a:t>
            </a:r>
          </a:p>
        </p:txBody>
      </p:sp>
      <p:sp>
        <p:nvSpPr>
          <p:cNvPr id="3" name="Slide Number Placeholder 2"/>
          <p:cNvSpPr>
            <a:spLocks noGrp="1"/>
          </p:cNvSpPr>
          <p:nvPr>
            <p:ph type="sldNum" sz="quarter" idx="12"/>
          </p:nvPr>
        </p:nvSpPr>
        <p:spPr/>
        <p:txBody>
          <a:bodyPr/>
          <a:lstStyle/>
          <a:p>
            <a:fld id="{6D22F896-40B5-4ADD-8801-0D06FADFA095}" type="slidenum">
              <a:rPr lang="en-US" smtClean="0"/>
              <a:t>10</a:t>
            </a:fld>
            <a:endParaRPr lang="en-US" dirty="0"/>
          </a:p>
        </p:txBody>
      </p:sp>
      <p:sp>
        <p:nvSpPr>
          <p:cNvPr id="4" name="Text Placeholder 3"/>
          <p:cNvSpPr>
            <a:spLocks noGrp="1"/>
          </p:cNvSpPr>
          <p:nvPr>
            <p:ph type="body" sz="quarter" idx="13"/>
          </p:nvPr>
        </p:nvSpPr>
        <p:spPr/>
        <p:txBody>
          <a:bodyPr/>
          <a:lstStyle/>
          <a:p>
            <a:r>
              <a:rPr lang="en-US" dirty="0"/>
              <a:t>6.1</a:t>
            </a:r>
          </a:p>
        </p:txBody>
      </p:sp>
      <p:pic>
        <p:nvPicPr>
          <p:cNvPr id="5" name="Picture 4"/>
          <p:cNvPicPr>
            <a:picLocks noChangeAspect="1"/>
          </p:cNvPicPr>
          <p:nvPr/>
        </p:nvPicPr>
        <p:blipFill>
          <a:blip r:embed="rId2"/>
          <a:stretch>
            <a:fillRect/>
          </a:stretch>
        </p:blipFill>
        <p:spPr>
          <a:xfrm>
            <a:off x="1229314" y="2442629"/>
            <a:ext cx="7715181" cy="3703029"/>
          </a:xfrm>
          <a:prstGeom prst="rect">
            <a:avLst/>
          </a:prstGeom>
        </p:spPr>
      </p:pic>
    </p:spTree>
    <p:extLst>
      <p:ext uri="{BB962C8B-B14F-4D97-AF65-F5344CB8AC3E}">
        <p14:creationId xmlns:p14="http://schemas.microsoft.com/office/powerpoint/2010/main" val="302988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Write down the number of times the program needs to make the evaluation </a:t>
            </a:r>
            <a:r>
              <a:rPr lang="en-US" dirty="0">
                <a:latin typeface="Courier New" panose="02070309020205020404" pitchFamily="49" charset="0"/>
                <a:cs typeface="Courier New" panose="02070309020205020404" pitchFamily="49" charset="0"/>
              </a:rPr>
              <a:t>“participant[</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 name”</a:t>
            </a:r>
            <a:r>
              <a:rPr lang="en-US" dirty="0"/>
              <a:t> for each of the names entered below.</a:t>
            </a:r>
            <a:br>
              <a:rPr lang="en-US" dirty="0"/>
            </a:br>
            <a:endParaRPr lang="en-US" dirty="0"/>
          </a:p>
          <a:p>
            <a:r>
              <a:rPr lang="en-US" dirty="0"/>
              <a:t>(</a:t>
            </a:r>
            <a:r>
              <a:rPr lang="en-US" dirty="0" err="1"/>
              <a:t>i</a:t>
            </a:r>
            <a:r>
              <a:rPr lang="en-US" dirty="0"/>
              <a:t>) Enter </a:t>
            </a:r>
            <a:r>
              <a:rPr lang="en-US" dirty="0">
                <a:latin typeface="Courier New" panose="02070309020205020404" pitchFamily="49" charset="0"/>
                <a:cs typeface="Courier New" panose="02070309020205020404" pitchFamily="49" charset="0"/>
              </a:rPr>
              <a:t>“smartguy123”</a:t>
            </a:r>
            <a:r>
              <a:rPr lang="en-US" dirty="0"/>
              <a:t> </a:t>
            </a:r>
          </a:p>
          <a:p>
            <a:r>
              <a:rPr lang="en-US" dirty="0"/>
              <a:t>(ii) Enter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funfunfun</a:t>
            </a:r>
            <a:r>
              <a:rPr lang="en-US" dirty="0">
                <a:latin typeface="Courier New" panose="02070309020205020404" pitchFamily="49" charset="0"/>
                <a:cs typeface="Courier New" panose="02070309020205020404" pitchFamily="49" charset="0"/>
              </a:rPr>
              <a:t>” </a:t>
            </a:r>
          </a:p>
          <a:p>
            <a:r>
              <a:rPr lang="en-US" dirty="0"/>
              <a:t>(iii) Enter a name that is not recorded</a:t>
            </a:r>
          </a:p>
          <a:p>
            <a:endParaRPr lang="en-US" dirty="0"/>
          </a:p>
          <a:p>
            <a:r>
              <a:rPr lang="en-US" dirty="0"/>
              <a:t>(b) Assuming that the username entered can be found in this array, what is the program’s average number of searches?</a:t>
            </a:r>
          </a:p>
        </p:txBody>
      </p:sp>
      <p:sp>
        <p:nvSpPr>
          <p:cNvPr id="3" name="Slide Number Placeholder 2"/>
          <p:cNvSpPr>
            <a:spLocks noGrp="1"/>
          </p:cNvSpPr>
          <p:nvPr>
            <p:ph type="sldNum" sz="quarter" idx="12"/>
          </p:nvPr>
        </p:nvSpPr>
        <p:spPr/>
        <p:txBody>
          <a:bodyPr/>
          <a:lstStyle/>
          <a:p>
            <a:fld id="{6D22F896-40B5-4ADD-8801-0D06FADFA095}" type="slidenum">
              <a:rPr lang="en-US" smtClean="0"/>
              <a:t>11</a:t>
            </a:fld>
            <a:endParaRPr lang="en-US" dirty="0"/>
          </a:p>
        </p:txBody>
      </p:sp>
      <p:sp>
        <p:nvSpPr>
          <p:cNvPr id="4" name="Text Placeholder 3"/>
          <p:cNvSpPr>
            <a:spLocks noGrp="1"/>
          </p:cNvSpPr>
          <p:nvPr>
            <p:ph type="body" sz="quarter" idx="13"/>
          </p:nvPr>
        </p:nvSpPr>
        <p:spPr/>
        <p:txBody>
          <a:bodyPr/>
          <a:lstStyle/>
          <a:p>
            <a:r>
              <a:rPr lang="en-US" dirty="0"/>
              <a:t>6.1</a:t>
            </a:r>
          </a:p>
        </p:txBody>
      </p:sp>
    </p:spTree>
    <p:extLst>
      <p:ext uri="{BB962C8B-B14F-4D97-AF65-F5344CB8AC3E}">
        <p14:creationId xmlns:p14="http://schemas.microsoft.com/office/powerpoint/2010/main" val="1811169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37A3D4"/>
                </a:solidFill>
              </a:rPr>
              <a:t>◣ Solution</a:t>
            </a:r>
          </a:p>
          <a:p>
            <a:r>
              <a:rPr lang="en-US" dirty="0"/>
              <a:t>(a) (</a:t>
            </a:r>
            <a:r>
              <a:rPr lang="en-US" dirty="0" err="1"/>
              <a:t>i</a:t>
            </a:r>
            <a:r>
              <a:rPr lang="en-US" dirty="0"/>
              <a:t>) 1</a:t>
            </a:r>
          </a:p>
          <a:p>
            <a:r>
              <a:rPr lang="en-US" dirty="0"/>
              <a:t>     (ii) 4</a:t>
            </a:r>
          </a:p>
          <a:p>
            <a:r>
              <a:rPr lang="en-US" dirty="0"/>
              <a:t>     (iii) 500</a:t>
            </a:r>
          </a:p>
          <a:p>
            <a:endParaRPr lang="en-US" dirty="0"/>
          </a:p>
          <a:p>
            <a:r>
              <a:rPr lang="en-US" dirty="0"/>
              <a:t>(b) 250</a:t>
            </a:r>
          </a:p>
        </p:txBody>
      </p:sp>
      <p:sp>
        <p:nvSpPr>
          <p:cNvPr id="3" name="Slide Number Placeholder 2"/>
          <p:cNvSpPr>
            <a:spLocks noGrp="1"/>
          </p:cNvSpPr>
          <p:nvPr>
            <p:ph type="sldNum" sz="quarter" idx="12"/>
          </p:nvPr>
        </p:nvSpPr>
        <p:spPr/>
        <p:txBody>
          <a:bodyPr/>
          <a:lstStyle/>
          <a:p>
            <a:fld id="{6D22F896-40B5-4ADD-8801-0D06FADFA095}" type="slidenum">
              <a:rPr lang="en-US" smtClean="0"/>
              <a:t>12</a:t>
            </a:fld>
            <a:endParaRPr lang="en-US" dirty="0"/>
          </a:p>
        </p:txBody>
      </p:sp>
      <p:sp>
        <p:nvSpPr>
          <p:cNvPr id="4" name="Text Placeholder 3"/>
          <p:cNvSpPr>
            <a:spLocks noGrp="1"/>
          </p:cNvSpPr>
          <p:nvPr>
            <p:ph type="body" sz="quarter" idx="13"/>
          </p:nvPr>
        </p:nvSpPr>
        <p:spPr/>
        <p:txBody>
          <a:bodyPr/>
          <a:lstStyle/>
          <a:p>
            <a:r>
              <a:rPr lang="en-US" dirty="0"/>
              <a:t>6.1</a:t>
            </a:r>
          </a:p>
        </p:txBody>
      </p:sp>
    </p:spTree>
    <p:extLst>
      <p:ext uri="{BB962C8B-B14F-4D97-AF65-F5344CB8AC3E}">
        <p14:creationId xmlns:p14="http://schemas.microsoft.com/office/powerpoint/2010/main" val="2941465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Checkpoint 6.1 on P. 214 of the textbook.</a:t>
            </a:r>
          </a:p>
          <a:p>
            <a:endParaRPr lang="en-US" dirty="0"/>
          </a:p>
          <a:p>
            <a:r>
              <a:rPr lang="en-US" dirty="0">
                <a:solidFill>
                  <a:srgbClr val="FF0000"/>
                </a:solidFill>
              </a:rPr>
              <a:t>(a) </a:t>
            </a:r>
            <a:r>
              <a:rPr lang="en-US" dirty="0">
                <a:solidFill>
                  <a:srgbClr val="FF0000"/>
                </a:solidFill>
                <a:latin typeface="Courier New" panose="02070309020205020404" pitchFamily="49" charset="0"/>
                <a:cs typeface="Courier New" panose="02070309020205020404" pitchFamily="49" charset="0"/>
              </a:rPr>
              <a:t>found == -1</a:t>
            </a:r>
            <a:br>
              <a:rPr lang="en-US" dirty="0"/>
            </a:br>
            <a:endParaRPr lang="en-US" dirty="0"/>
          </a:p>
          <a:p>
            <a:r>
              <a:rPr lang="en-US" dirty="0">
                <a:solidFill>
                  <a:srgbClr val="FF0000"/>
                </a:solidFill>
              </a:rPr>
              <a:t>(b) (</a:t>
            </a:r>
            <a:r>
              <a:rPr lang="en-US" dirty="0" err="1">
                <a:solidFill>
                  <a:srgbClr val="FF0000"/>
                </a:solidFill>
              </a:rPr>
              <a:t>i</a:t>
            </a:r>
            <a:r>
              <a:rPr lang="en-US" dirty="0">
                <a:solidFill>
                  <a:srgbClr val="FF0000"/>
                </a:solidFill>
              </a:rPr>
              <a:t>) The search method remains unchanged, and the average number of searches needed to find the target value is still 25 (n/2).</a:t>
            </a:r>
            <a:br>
              <a:rPr lang="en-US" dirty="0">
                <a:solidFill>
                  <a:srgbClr val="FF0000"/>
                </a:solidFill>
              </a:rPr>
            </a:br>
            <a:endParaRPr lang="en-US" dirty="0">
              <a:solidFill>
                <a:srgbClr val="FF0000"/>
              </a:solidFill>
            </a:endParaRPr>
          </a:p>
          <a:p>
            <a:r>
              <a:rPr lang="en-US" dirty="0">
                <a:solidFill>
                  <a:srgbClr val="FF0000"/>
                </a:solidFill>
              </a:rPr>
              <a:t>(ii) </a:t>
            </a:r>
            <a:r>
              <a:rPr lang="en-US" dirty="0">
                <a:solidFill>
                  <a:srgbClr val="FF0000"/>
                </a:solidFill>
                <a:latin typeface="Courier New" panose="02070309020205020404" pitchFamily="49" charset="0"/>
                <a:cs typeface="Courier New" panose="02070309020205020404" pitchFamily="49" charset="0"/>
              </a:rPr>
              <a:t>and </a:t>
            </a:r>
            <a:r>
              <a:rPr lang="en-US" dirty="0" err="1">
                <a:solidFill>
                  <a:srgbClr val="FF0000"/>
                </a:solidFill>
                <a:latin typeface="Courier New" panose="02070309020205020404" pitchFamily="49" charset="0"/>
                <a:cs typeface="Courier New" panose="02070309020205020404" pitchFamily="49" charset="0"/>
              </a:rPr>
              <a:t>staff_no</a:t>
            </a:r>
            <a:r>
              <a:rPr lang="en-US" dirty="0">
                <a:solidFill>
                  <a:srgbClr val="FF0000"/>
                </a:solidFill>
                <a:latin typeface="Courier New" panose="02070309020205020404" pitchFamily="49" charset="0"/>
                <a:cs typeface="Courier New" panose="02070309020205020404" pitchFamily="49" charset="0"/>
              </a:rPr>
              <a:t> &gt;= retire[</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rPr>
              <a:t>When searching through a list that has been sorted in ascending order, as soon as an item in the list is found to be larger than the target value, it can be established that the remaining items in the list are also larger than the target value (i.e., not equal), thus the loop can stop immediately.</a:t>
            </a:r>
          </a:p>
        </p:txBody>
      </p:sp>
      <p:sp>
        <p:nvSpPr>
          <p:cNvPr id="3" name="Slide Number Placeholder 2"/>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Text Placeholder 3"/>
          <p:cNvSpPr>
            <a:spLocks noGrp="1"/>
          </p:cNvSpPr>
          <p:nvPr>
            <p:ph type="body" sz="quarter" idx="13"/>
          </p:nvPr>
        </p:nvSpPr>
        <p:spPr/>
        <p:txBody>
          <a:bodyPr/>
          <a:lstStyle/>
          <a:p>
            <a:r>
              <a:rPr lang="en-US" dirty="0"/>
              <a:t>6.1</a:t>
            </a:r>
          </a:p>
        </p:txBody>
      </p:sp>
    </p:spTree>
    <p:extLst>
      <p:ext uri="{BB962C8B-B14F-4D97-AF65-F5344CB8AC3E}">
        <p14:creationId xmlns:p14="http://schemas.microsoft.com/office/powerpoint/2010/main" val="681550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14</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As you can see from unsorted list </a:t>
            </a:r>
            <a:r>
              <a:rPr lang="en-US" dirty="0">
                <a:latin typeface="Courier New" panose="02070309020205020404" pitchFamily="49" charset="0"/>
                <a:cs typeface="Courier New" panose="02070309020205020404" pitchFamily="49" charset="0"/>
              </a:rPr>
              <a:t>mark</a:t>
            </a:r>
            <a:r>
              <a:rPr lang="en-US" dirty="0"/>
              <a:t> above, the worst case that a program using linear search can encounter is when the search continues to the last index of the list. </a:t>
            </a:r>
          </a:p>
          <a:p>
            <a:endParaRPr lang="en-US" dirty="0"/>
          </a:p>
          <a:p>
            <a:r>
              <a:rPr lang="en-US" dirty="0"/>
              <a:t>The efficiency of linear search is rather low for searching lists with many items.</a:t>
            </a:r>
          </a:p>
        </p:txBody>
      </p:sp>
    </p:spTree>
    <p:extLst>
      <p:ext uri="{BB962C8B-B14F-4D97-AF65-F5344CB8AC3E}">
        <p14:creationId xmlns:p14="http://schemas.microsoft.com/office/powerpoint/2010/main" val="210631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15</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In this section, we will introduce another commonly used search algorithm — </a:t>
            </a:r>
            <a:r>
              <a:rPr lang="en-US" b="1" dirty="0">
                <a:solidFill>
                  <a:srgbClr val="504FA0"/>
                </a:solidFill>
              </a:rPr>
              <a:t>binary search</a:t>
            </a:r>
            <a:r>
              <a:rPr lang="en-US" dirty="0"/>
              <a:t>. </a:t>
            </a:r>
          </a:p>
          <a:p>
            <a:endParaRPr lang="en-US" dirty="0"/>
          </a:p>
          <a:p>
            <a:r>
              <a:rPr lang="en-US" b="1" dirty="0"/>
              <a:t>It can be performed on sorted lists only.</a:t>
            </a:r>
          </a:p>
        </p:txBody>
      </p:sp>
    </p:spTree>
    <p:extLst>
      <p:ext uri="{BB962C8B-B14F-4D97-AF65-F5344CB8AC3E}">
        <p14:creationId xmlns:p14="http://schemas.microsoft.com/office/powerpoint/2010/main" val="2437430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16</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The following list </a:t>
            </a:r>
            <a:r>
              <a:rPr lang="en-US" dirty="0">
                <a:latin typeface="Courier New" panose="02070309020205020404" pitchFamily="49" charset="0"/>
                <a:cs typeface="Courier New" panose="02070309020205020404" pitchFamily="49" charset="0"/>
              </a:rPr>
              <a:t>mark</a:t>
            </a:r>
            <a:r>
              <a:rPr lang="en-US" dirty="0"/>
              <a:t> stores the test scores of ten students and has been sorted in </a:t>
            </a:r>
            <a:r>
              <a:rPr lang="en-US" b="1" dirty="0"/>
              <a:t>ascending</a:t>
            </a:r>
            <a:r>
              <a:rPr lang="en-US" dirty="0"/>
              <a:t> order. It happens that the score of each student is different:</a:t>
            </a:r>
            <a:endParaRPr lang="en-US" b="1" dirty="0"/>
          </a:p>
        </p:txBody>
      </p:sp>
      <p:pic>
        <p:nvPicPr>
          <p:cNvPr id="6" name="Picture 5"/>
          <p:cNvPicPr>
            <a:picLocks noChangeAspect="1"/>
          </p:cNvPicPr>
          <p:nvPr/>
        </p:nvPicPr>
        <p:blipFill>
          <a:blip r:embed="rId2"/>
          <a:stretch>
            <a:fillRect/>
          </a:stretch>
        </p:blipFill>
        <p:spPr>
          <a:xfrm>
            <a:off x="968458" y="2933904"/>
            <a:ext cx="10256284" cy="725058"/>
          </a:xfrm>
          <a:prstGeom prst="rect">
            <a:avLst/>
          </a:prstGeom>
        </p:spPr>
      </p:pic>
    </p:spTree>
    <p:extLst>
      <p:ext uri="{BB962C8B-B14F-4D97-AF65-F5344CB8AC3E}">
        <p14:creationId xmlns:p14="http://schemas.microsoft.com/office/powerpoint/2010/main" val="2843740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17</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Suppose that the target value is “80”:</a:t>
            </a:r>
            <a:br>
              <a:rPr lang="en-US" dirty="0"/>
            </a:br>
            <a:r>
              <a:rPr lang="en-US" dirty="0"/>
              <a:t>1. In a binary search, the item in the middle of the list will be compared first. If it is the same as the target value, the search ends.</a:t>
            </a:r>
            <a:br>
              <a:rPr lang="en-US" dirty="0"/>
            </a:br>
            <a:endParaRPr lang="en-US" b="1" dirty="0"/>
          </a:p>
        </p:txBody>
      </p:sp>
      <p:pic>
        <p:nvPicPr>
          <p:cNvPr id="7" name="Picture 6"/>
          <p:cNvPicPr>
            <a:picLocks noChangeAspect="1"/>
          </p:cNvPicPr>
          <p:nvPr/>
        </p:nvPicPr>
        <p:blipFill>
          <a:blip r:embed="rId2"/>
          <a:stretch>
            <a:fillRect/>
          </a:stretch>
        </p:blipFill>
        <p:spPr>
          <a:xfrm>
            <a:off x="2164957" y="3632437"/>
            <a:ext cx="7360043" cy="1899709"/>
          </a:xfrm>
          <a:prstGeom prst="rect">
            <a:avLst/>
          </a:prstGeom>
        </p:spPr>
      </p:pic>
    </p:spTree>
    <p:extLst>
      <p:ext uri="{BB962C8B-B14F-4D97-AF65-F5344CB8AC3E}">
        <p14:creationId xmlns:p14="http://schemas.microsoft.com/office/powerpoint/2010/main" val="164779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18</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2. If the item is different from the target value, the program will continue searching. Since the list is sorted, if the item is smaller than the target value, the target value can only appear in the second half of the list.</a:t>
            </a:r>
            <a:br>
              <a:rPr lang="en-US" dirty="0"/>
            </a:br>
            <a:endParaRPr lang="en-US" b="1" dirty="0"/>
          </a:p>
        </p:txBody>
      </p:sp>
      <p:pic>
        <p:nvPicPr>
          <p:cNvPr id="6" name="Picture 5"/>
          <p:cNvPicPr>
            <a:picLocks noChangeAspect="1"/>
          </p:cNvPicPr>
          <p:nvPr/>
        </p:nvPicPr>
        <p:blipFill>
          <a:blip r:embed="rId2"/>
          <a:stretch>
            <a:fillRect/>
          </a:stretch>
        </p:blipFill>
        <p:spPr>
          <a:xfrm>
            <a:off x="1810800" y="3535808"/>
            <a:ext cx="7991813" cy="1225455"/>
          </a:xfrm>
          <a:prstGeom prst="rect">
            <a:avLst/>
          </a:prstGeom>
        </p:spPr>
      </p:pic>
    </p:spTree>
    <p:extLst>
      <p:ext uri="{BB962C8B-B14F-4D97-AF65-F5344CB8AC3E}">
        <p14:creationId xmlns:p14="http://schemas.microsoft.com/office/powerpoint/2010/main" val="10727802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19</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a:t>3. Narrow the search to the second half of the list and compare the item in the middle.</a:t>
            </a:r>
            <a:endParaRPr lang="en-US" b="1" dirty="0"/>
          </a:p>
        </p:txBody>
      </p:sp>
      <p:pic>
        <p:nvPicPr>
          <p:cNvPr id="8" name="Picture 7"/>
          <p:cNvPicPr>
            <a:picLocks noChangeAspect="1"/>
          </p:cNvPicPr>
          <p:nvPr/>
        </p:nvPicPr>
        <p:blipFill>
          <a:blip r:embed="rId2"/>
          <a:stretch>
            <a:fillRect/>
          </a:stretch>
        </p:blipFill>
        <p:spPr>
          <a:xfrm>
            <a:off x="1810800" y="3269762"/>
            <a:ext cx="7963010" cy="2051638"/>
          </a:xfrm>
          <a:prstGeom prst="rect">
            <a:avLst/>
          </a:prstGeom>
        </p:spPr>
      </p:pic>
    </p:spTree>
    <p:extLst>
      <p:ext uri="{BB962C8B-B14F-4D97-AF65-F5344CB8AC3E}">
        <p14:creationId xmlns:p14="http://schemas.microsoft.com/office/powerpoint/2010/main" val="3502191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20</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4. Since the item is larger than the target value, it means that the target value can only appear in the first half of the search range.</a:t>
            </a:r>
          </a:p>
        </p:txBody>
      </p:sp>
      <p:pic>
        <p:nvPicPr>
          <p:cNvPr id="6" name="Picture 5"/>
          <p:cNvPicPr>
            <a:picLocks noChangeAspect="1"/>
          </p:cNvPicPr>
          <p:nvPr/>
        </p:nvPicPr>
        <p:blipFill>
          <a:blip r:embed="rId2"/>
          <a:stretch>
            <a:fillRect/>
          </a:stretch>
        </p:blipFill>
        <p:spPr>
          <a:xfrm>
            <a:off x="1726303" y="3280275"/>
            <a:ext cx="8215718" cy="1257319"/>
          </a:xfrm>
          <a:prstGeom prst="rect">
            <a:avLst/>
          </a:prstGeom>
        </p:spPr>
      </p:pic>
    </p:spTree>
    <p:extLst>
      <p:ext uri="{BB962C8B-B14F-4D97-AF65-F5344CB8AC3E}">
        <p14:creationId xmlns:p14="http://schemas.microsoft.com/office/powerpoint/2010/main" val="405059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21</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5. Narrow the search range again and compare the item in the middle.</a:t>
            </a:r>
          </a:p>
        </p:txBody>
      </p:sp>
      <p:pic>
        <p:nvPicPr>
          <p:cNvPr id="6" name="Picture 5"/>
          <p:cNvPicPr>
            <a:picLocks noChangeAspect="1"/>
          </p:cNvPicPr>
          <p:nvPr/>
        </p:nvPicPr>
        <p:blipFill>
          <a:blip r:embed="rId2"/>
          <a:stretch>
            <a:fillRect/>
          </a:stretch>
        </p:blipFill>
        <p:spPr>
          <a:xfrm>
            <a:off x="1810800" y="3133899"/>
            <a:ext cx="8129512" cy="2181684"/>
          </a:xfrm>
          <a:prstGeom prst="rect">
            <a:avLst/>
          </a:prstGeom>
        </p:spPr>
      </p:pic>
    </p:spTree>
    <p:extLst>
      <p:ext uri="{BB962C8B-B14F-4D97-AF65-F5344CB8AC3E}">
        <p14:creationId xmlns:p14="http://schemas.microsoft.com/office/powerpoint/2010/main" val="1526367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22</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6. Since the item is smaller than the target value, it means that the target value can only appear in the second half of the search range.</a:t>
            </a:r>
          </a:p>
        </p:txBody>
      </p:sp>
      <p:pic>
        <p:nvPicPr>
          <p:cNvPr id="6" name="Picture 5"/>
          <p:cNvPicPr>
            <a:picLocks noChangeAspect="1"/>
          </p:cNvPicPr>
          <p:nvPr/>
        </p:nvPicPr>
        <p:blipFill>
          <a:blip r:embed="rId2"/>
          <a:stretch>
            <a:fillRect/>
          </a:stretch>
        </p:blipFill>
        <p:spPr>
          <a:xfrm>
            <a:off x="1632177" y="3323033"/>
            <a:ext cx="8426223" cy="1383311"/>
          </a:xfrm>
          <a:prstGeom prst="rect">
            <a:avLst/>
          </a:prstGeom>
        </p:spPr>
      </p:pic>
    </p:spTree>
    <p:extLst>
      <p:ext uri="{BB962C8B-B14F-4D97-AF65-F5344CB8AC3E}">
        <p14:creationId xmlns:p14="http://schemas.microsoft.com/office/powerpoint/2010/main" val="27470052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23</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7. The search is finally narrowed down to just one item. If this item is the same as the target value, the search ends. Otherwise, the target value does not exist in the list.</a:t>
            </a:r>
          </a:p>
        </p:txBody>
      </p:sp>
      <p:pic>
        <p:nvPicPr>
          <p:cNvPr id="7" name="Picture 6"/>
          <p:cNvPicPr>
            <a:picLocks noChangeAspect="1"/>
          </p:cNvPicPr>
          <p:nvPr/>
        </p:nvPicPr>
        <p:blipFill>
          <a:blip r:embed="rId2"/>
          <a:stretch>
            <a:fillRect/>
          </a:stretch>
        </p:blipFill>
        <p:spPr>
          <a:xfrm>
            <a:off x="1810800" y="3206798"/>
            <a:ext cx="8427251" cy="2238038"/>
          </a:xfrm>
          <a:prstGeom prst="rect">
            <a:avLst/>
          </a:prstGeom>
        </p:spPr>
      </p:pic>
    </p:spTree>
    <p:extLst>
      <p:ext uri="{BB962C8B-B14F-4D97-AF65-F5344CB8AC3E}">
        <p14:creationId xmlns:p14="http://schemas.microsoft.com/office/powerpoint/2010/main" val="1821423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24</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Autofit/>
          </a:bodyPr>
          <a:lstStyle/>
          <a:p>
            <a:pPr>
              <a:lnSpc>
                <a:spcPct val="100000"/>
              </a:lnSpc>
            </a:pPr>
            <a:r>
              <a:rPr lang="en-US" sz="1800" dirty="0"/>
              <a:t>A binary search algorithm is written into the following Python program:</a:t>
            </a:r>
            <a:endParaRPr lang="en-US" sz="1800" dirty="0">
              <a:latin typeface="Courier New" panose="02070309020205020404" pitchFamily="49" charset="0"/>
              <a:cs typeface="Courier New" panose="02070309020205020404" pitchFamily="49" charset="0"/>
            </a:endParaRPr>
          </a:p>
          <a:p>
            <a:pPr>
              <a:lnSpc>
                <a:spcPct val="100000"/>
              </a:lnSpc>
            </a:pPr>
            <a:r>
              <a:rPr lang="en-US" sz="1800"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start = </a:t>
            </a:r>
            <a:r>
              <a:rPr lang="en-US" sz="1600" dirty="0">
                <a:solidFill>
                  <a:srgbClr val="AB3D18"/>
                </a:solidFill>
                <a:latin typeface="Courier New" panose="02070309020205020404" pitchFamily="49" charset="0"/>
                <a:cs typeface="Courier New" panose="02070309020205020404" pitchFamily="49" charset="0"/>
              </a:rPr>
              <a:t>0</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end = </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(mark)-</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target = </a:t>
            </a:r>
            <a:r>
              <a:rPr lang="en-US" sz="1600" dirty="0" err="1">
                <a:solidFill>
                  <a:srgbClr val="7C2573"/>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a:t>
            </a:r>
            <a:r>
              <a:rPr lang="en-US" sz="1600" dirty="0">
                <a:solidFill>
                  <a:srgbClr val="7C2573"/>
                </a:solidFill>
                <a:latin typeface="Courier New" panose="02070309020205020404" pitchFamily="49" charset="0"/>
                <a:cs typeface="Courier New" panose="02070309020205020404" pitchFamily="49" charset="0"/>
              </a:rPr>
              <a:t>input</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False</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while</a:t>
            </a:r>
            <a:r>
              <a:rPr lang="en-US" sz="1600" dirty="0">
                <a:latin typeface="Courier New" panose="02070309020205020404" pitchFamily="49" charset="0"/>
                <a:cs typeface="Courier New" panose="02070309020205020404" pitchFamily="49" charset="0"/>
              </a:rPr>
              <a:t> start &lt;= end </a:t>
            </a:r>
            <a:r>
              <a:rPr lang="en-US" sz="1600" b="1" dirty="0">
                <a:solidFill>
                  <a:srgbClr val="7C2573"/>
                </a:solidFill>
                <a:latin typeface="Courier New" panose="02070309020205020404" pitchFamily="49" charset="0"/>
                <a:cs typeface="Courier New" panose="02070309020205020404" pitchFamily="49" charset="0"/>
              </a:rPr>
              <a:t>and</a:t>
            </a:r>
            <a:r>
              <a:rPr lang="en-US" sz="1600" dirty="0">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False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mid = </a:t>
            </a:r>
            <a:r>
              <a:rPr lang="en-US" sz="1600" dirty="0" err="1">
                <a:solidFill>
                  <a:srgbClr val="7C2573"/>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((start + end)/</a:t>
            </a:r>
            <a:r>
              <a:rPr lang="en-US" sz="1600" dirty="0">
                <a:solidFill>
                  <a:srgbClr val="AB3D18"/>
                </a:solidFill>
                <a:latin typeface="Courier New" panose="02070309020205020404" pitchFamily="49" charset="0"/>
                <a:cs typeface="Courier New" panose="02070309020205020404" pitchFamily="49" charset="0"/>
              </a:rPr>
              <a:t>2</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mark[mid] == target: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True</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target &lt; mark[mid]:</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end = mid – </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start = mid + </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True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dirty="0">
                <a:solidFill>
                  <a:srgbClr val="7C2573"/>
                </a:solidFill>
                <a:latin typeface="Courier New" panose="02070309020205020404" pitchFamily="49" charset="0"/>
                <a:cs typeface="Courier New" panose="02070309020205020404" pitchFamily="49" charset="0"/>
              </a:rPr>
              <a:t>print</a:t>
            </a:r>
            <a:r>
              <a:rPr lang="en-US" sz="1600" dirty="0">
                <a:latin typeface="Courier New" panose="02070309020205020404" pitchFamily="49" charset="0"/>
                <a:cs typeface="Courier New" panose="02070309020205020404" pitchFamily="49" charset="0"/>
              </a:rPr>
              <a:t>("Found at index", mid)</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dirty="0">
                <a:solidFill>
                  <a:srgbClr val="7C2573"/>
                </a:solidFill>
                <a:latin typeface="Courier New" panose="02070309020205020404" pitchFamily="49" charset="0"/>
                <a:cs typeface="Courier New" panose="02070309020205020404" pitchFamily="49" charset="0"/>
              </a:rPr>
              <a:t>print</a:t>
            </a:r>
            <a:r>
              <a:rPr lang="en-US" sz="1600" dirty="0">
                <a:latin typeface="Courier New" panose="02070309020205020404" pitchFamily="49" charset="0"/>
                <a:cs typeface="Courier New" panose="02070309020205020404" pitchFamily="49" charset="0"/>
              </a:rPr>
              <a:t>("Not found")</a:t>
            </a:r>
            <a:endParaRPr lang="en-US" sz="1600" dirty="0">
              <a:solidFill>
                <a:schemeClr val="bg1">
                  <a:lumMod val="75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54182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25</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Autofit/>
          </a:bodyPr>
          <a:lstStyle/>
          <a:p>
            <a:pPr>
              <a:lnSpc>
                <a:spcPct val="100000"/>
              </a:lnSpc>
            </a:pPr>
            <a:r>
              <a:rPr lang="en-US" sz="1800" dirty="0"/>
              <a:t>A binary search algorithm is written into the following Python program:</a:t>
            </a:r>
            <a:endParaRPr lang="en-US" sz="1800" dirty="0">
              <a:latin typeface="Courier New" panose="02070309020205020404" pitchFamily="49" charset="0"/>
              <a:cs typeface="Courier New" panose="02070309020205020404" pitchFamily="49" charset="0"/>
            </a:endParaRPr>
          </a:p>
          <a:p>
            <a:pPr>
              <a:lnSpc>
                <a:spcPct val="100000"/>
              </a:lnSpc>
            </a:pPr>
            <a:r>
              <a:rPr lang="en-US" sz="1800"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start = </a:t>
            </a:r>
            <a:r>
              <a:rPr lang="en-US" sz="1600" dirty="0">
                <a:solidFill>
                  <a:srgbClr val="AB3D18"/>
                </a:solidFill>
                <a:latin typeface="Courier New" panose="02070309020205020404" pitchFamily="49" charset="0"/>
                <a:cs typeface="Courier New" panose="02070309020205020404" pitchFamily="49" charset="0"/>
              </a:rPr>
              <a:t>0</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end = </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(mark)-</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target = </a:t>
            </a:r>
            <a:r>
              <a:rPr lang="en-US" sz="1600" dirty="0" err="1">
                <a:solidFill>
                  <a:srgbClr val="7C2573"/>
                </a:solidFill>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a:t>
            </a:r>
            <a:r>
              <a:rPr lang="en-US" sz="1600" dirty="0">
                <a:solidFill>
                  <a:srgbClr val="7C2573"/>
                </a:solidFill>
                <a:latin typeface="Courier New" panose="02070309020205020404" pitchFamily="49" charset="0"/>
                <a:cs typeface="Courier New" panose="02070309020205020404" pitchFamily="49" charset="0"/>
              </a:rPr>
              <a:t>input</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False</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000" b="1" dirty="0">
                <a:solidFill>
                  <a:schemeClr val="bg1">
                    <a:lumMod val="75000"/>
                  </a:schemeClr>
                </a:solidFill>
                <a:latin typeface="Courier New" panose="02070309020205020404" pitchFamily="49" charset="0"/>
                <a:cs typeface="Courier New" panose="02070309020205020404" pitchFamily="49" charset="0"/>
              </a:rPr>
              <a:t>while</a:t>
            </a:r>
            <a:r>
              <a:rPr lang="en-US" sz="1000" dirty="0">
                <a:solidFill>
                  <a:schemeClr val="bg1">
                    <a:lumMod val="75000"/>
                  </a:schemeClr>
                </a:solidFill>
                <a:latin typeface="Courier New" panose="02070309020205020404" pitchFamily="49" charset="0"/>
                <a:cs typeface="Courier New" panose="02070309020205020404" pitchFamily="49" charset="0"/>
              </a:rPr>
              <a:t> start &lt;= end </a:t>
            </a:r>
            <a:r>
              <a:rPr lang="en-US" sz="1000" b="1" dirty="0">
                <a:solidFill>
                  <a:schemeClr val="bg1">
                    <a:lumMod val="75000"/>
                  </a:schemeClr>
                </a:solidFill>
                <a:latin typeface="Courier New" panose="02070309020205020404" pitchFamily="49" charset="0"/>
                <a:cs typeface="Courier New" panose="02070309020205020404" pitchFamily="49" charset="0"/>
              </a:rPr>
              <a:t>and</a:t>
            </a:r>
            <a:r>
              <a:rPr lang="en-US" sz="1000" dirty="0">
                <a:solidFill>
                  <a:schemeClr val="bg1">
                    <a:lumMod val="75000"/>
                  </a:schemeClr>
                </a:solidFill>
                <a:latin typeface="Courier New" panose="02070309020205020404" pitchFamily="49" charset="0"/>
                <a:cs typeface="Courier New" panose="02070309020205020404" pitchFamily="49" charset="0"/>
              </a:rPr>
              <a:t> found == </a:t>
            </a:r>
            <a:r>
              <a:rPr lang="en-US" sz="1000" b="1" dirty="0">
                <a:solidFill>
                  <a:schemeClr val="bg1">
                    <a:lumMod val="75000"/>
                  </a:schemeClr>
                </a:solidFill>
                <a:latin typeface="Courier New" panose="02070309020205020404" pitchFamily="49" charset="0"/>
                <a:cs typeface="Courier New" panose="02070309020205020404" pitchFamily="49" charset="0"/>
              </a:rPr>
              <a:t>False</a:t>
            </a:r>
            <a:r>
              <a:rPr lang="en-US" sz="1000" dirty="0">
                <a:solidFill>
                  <a:schemeClr val="bg1">
                    <a:lumMod val="75000"/>
                  </a:schemeClr>
                </a:solidFill>
                <a:latin typeface="Courier New" panose="02070309020205020404" pitchFamily="49" charset="0"/>
                <a:cs typeface="Courier New" panose="02070309020205020404" pitchFamily="49" charset="0"/>
              </a:rPr>
              <a:t>:</a:t>
            </a:r>
            <a:br>
              <a:rPr lang="en-US" sz="1000" dirty="0">
                <a:solidFill>
                  <a:schemeClr val="bg1">
                    <a:lumMod val="75000"/>
                  </a:schemeClr>
                </a:solidFill>
                <a:latin typeface="Courier New" panose="02070309020205020404" pitchFamily="49" charset="0"/>
                <a:cs typeface="Courier New" panose="02070309020205020404" pitchFamily="49" charset="0"/>
              </a:rPr>
            </a:br>
            <a:r>
              <a:rPr lang="en-US" sz="1000" dirty="0">
                <a:solidFill>
                  <a:schemeClr val="bg1">
                    <a:lumMod val="75000"/>
                  </a:schemeClr>
                </a:solidFill>
                <a:latin typeface="Courier New" panose="02070309020205020404" pitchFamily="49" charset="0"/>
                <a:cs typeface="Courier New" panose="02070309020205020404" pitchFamily="49" charset="0"/>
              </a:rPr>
              <a:t>		mid = </a:t>
            </a:r>
            <a:r>
              <a:rPr lang="en-US" sz="1000" dirty="0" err="1">
                <a:solidFill>
                  <a:schemeClr val="bg1">
                    <a:lumMod val="75000"/>
                  </a:schemeClr>
                </a:solidFill>
                <a:latin typeface="Courier New" panose="02070309020205020404" pitchFamily="49" charset="0"/>
                <a:cs typeface="Courier New" panose="02070309020205020404" pitchFamily="49" charset="0"/>
              </a:rPr>
              <a:t>int</a:t>
            </a:r>
            <a:r>
              <a:rPr lang="en-US" sz="1000" dirty="0">
                <a:solidFill>
                  <a:schemeClr val="bg1">
                    <a:lumMod val="75000"/>
                  </a:schemeClr>
                </a:solidFill>
                <a:latin typeface="Courier New" panose="02070309020205020404" pitchFamily="49" charset="0"/>
                <a:cs typeface="Courier New" panose="02070309020205020404" pitchFamily="49" charset="0"/>
              </a:rPr>
              <a:t>((start + end)/2)</a:t>
            </a:r>
            <a:br>
              <a:rPr lang="en-US" sz="1000" dirty="0">
                <a:solidFill>
                  <a:schemeClr val="bg1">
                    <a:lumMod val="75000"/>
                  </a:schemeClr>
                </a:solidFill>
                <a:latin typeface="Courier New" panose="02070309020205020404" pitchFamily="49" charset="0"/>
                <a:cs typeface="Courier New" panose="02070309020205020404" pitchFamily="49" charset="0"/>
              </a:rPr>
            </a:br>
            <a:r>
              <a:rPr lang="en-US" sz="1000" dirty="0">
                <a:solidFill>
                  <a:schemeClr val="bg1">
                    <a:lumMod val="75000"/>
                  </a:schemeClr>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if</a:t>
            </a:r>
            <a:r>
              <a:rPr lang="en-US" sz="1000" dirty="0">
                <a:solidFill>
                  <a:schemeClr val="bg1">
                    <a:lumMod val="85000"/>
                  </a:schemeClr>
                </a:solidFill>
                <a:latin typeface="Courier New" panose="02070309020205020404" pitchFamily="49" charset="0"/>
                <a:cs typeface="Courier New" panose="02070309020205020404" pitchFamily="49" charset="0"/>
              </a:rPr>
              <a:t> mark[mid] == target:</a:t>
            </a:r>
            <a:br>
              <a:rPr lang="en-US" sz="1000" dirty="0">
                <a:solidFill>
                  <a:schemeClr val="bg1">
                    <a:lumMod val="85000"/>
                  </a:schemeClr>
                </a:solidFill>
                <a:latin typeface="Courier New" panose="02070309020205020404" pitchFamily="49" charset="0"/>
                <a:cs typeface="Courier New" panose="02070309020205020404" pitchFamily="49" charset="0"/>
              </a:rPr>
            </a:br>
            <a:r>
              <a:rPr lang="en-US" sz="1000" dirty="0">
                <a:solidFill>
                  <a:schemeClr val="bg1">
                    <a:lumMod val="85000"/>
                  </a:schemeClr>
                </a:solidFill>
                <a:latin typeface="Courier New" panose="02070309020205020404" pitchFamily="49" charset="0"/>
                <a:cs typeface="Courier New" panose="02070309020205020404" pitchFamily="49" charset="0"/>
              </a:rPr>
              <a:t>			found = </a:t>
            </a:r>
            <a:r>
              <a:rPr lang="en-US" sz="1000" b="1" dirty="0">
                <a:solidFill>
                  <a:schemeClr val="bg1">
                    <a:lumMod val="85000"/>
                  </a:schemeClr>
                </a:solidFill>
                <a:latin typeface="Courier New" panose="02070309020205020404" pitchFamily="49" charset="0"/>
                <a:cs typeface="Courier New" panose="02070309020205020404" pitchFamily="49" charset="0"/>
              </a:rPr>
              <a:t>True</a:t>
            </a:r>
            <a:br>
              <a:rPr lang="en-US" sz="1000" dirty="0">
                <a:solidFill>
                  <a:schemeClr val="bg1">
                    <a:lumMod val="85000"/>
                  </a:schemeClr>
                </a:solidFill>
                <a:latin typeface="Courier New" panose="02070309020205020404" pitchFamily="49" charset="0"/>
                <a:cs typeface="Courier New" panose="02070309020205020404" pitchFamily="49" charset="0"/>
              </a:rPr>
            </a:br>
            <a:r>
              <a:rPr lang="en-US" sz="1000" dirty="0">
                <a:solidFill>
                  <a:schemeClr val="bg1">
                    <a:lumMod val="85000"/>
                  </a:schemeClr>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else</a:t>
            </a:r>
            <a:r>
              <a:rPr lang="en-US" sz="1000" dirty="0">
                <a:solidFill>
                  <a:schemeClr val="bg1">
                    <a:lumMod val="85000"/>
                  </a:schemeClr>
                </a:solidFill>
                <a:latin typeface="Courier New" panose="02070309020205020404" pitchFamily="49" charset="0"/>
                <a:cs typeface="Courier New" panose="02070309020205020404" pitchFamily="49" charset="0"/>
              </a:rPr>
              <a:t>:</a:t>
            </a:r>
            <a:br>
              <a:rPr lang="en-US" sz="1000" dirty="0">
                <a:solidFill>
                  <a:schemeClr val="bg1">
                    <a:lumMod val="85000"/>
                  </a:schemeClr>
                </a:solidFill>
                <a:latin typeface="Courier New" panose="02070309020205020404" pitchFamily="49" charset="0"/>
                <a:cs typeface="Courier New" panose="02070309020205020404" pitchFamily="49" charset="0"/>
              </a:rPr>
            </a:br>
            <a:r>
              <a:rPr lang="en-US" sz="1000" dirty="0">
                <a:solidFill>
                  <a:schemeClr val="bg1">
                    <a:lumMod val="85000"/>
                  </a:schemeClr>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if</a:t>
            </a:r>
            <a:r>
              <a:rPr lang="en-US" sz="1000" dirty="0">
                <a:solidFill>
                  <a:schemeClr val="bg1">
                    <a:lumMod val="85000"/>
                  </a:schemeClr>
                </a:solidFill>
                <a:latin typeface="Courier New" panose="02070309020205020404" pitchFamily="49" charset="0"/>
                <a:cs typeface="Courier New" panose="02070309020205020404" pitchFamily="49" charset="0"/>
              </a:rPr>
              <a:t> target &lt; mark[mid]:</a:t>
            </a:r>
            <a:br>
              <a:rPr lang="en-US" sz="1000" dirty="0">
                <a:solidFill>
                  <a:schemeClr val="bg1">
                    <a:lumMod val="85000"/>
                  </a:schemeClr>
                </a:solidFill>
                <a:latin typeface="Courier New" panose="02070309020205020404" pitchFamily="49" charset="0"/>
                <a:cs typeface="Courier New" panose="02070309020205020404" pitchFamily="49" charset="0"/>
              </a:rPr>
            </a:br>
            <a:r>
              <a:rPr lang="en-US" sz="1000" dirty="0">
                <a:solidFill>
                  <a:schemeClr val="bg1">
                    <a:lumMod val="85000"/>
                  </a:schemeClr>
                </a:solidFill>
                <a:latin typeface="Courier New" panose="02070309020205020404" pitchFamily="49" charset="0"/>
                <a:cs typeface="Courier New" panose="02070309020205020404" pitchFamily="49" charset="0"/>
              </a:rPr>
              <a:t>			</a:t>
            </a:r>
            <a:r>
              <a:rPr lang="en-US" sz="1000" dirty="0">
                <a:solidFill>
                  <a:schemeClr val="bg1">
                    <a:lumMod val="95000"/>
                  </a:schemeClr>
                </a:solidFill>
                <a:latin typeface="Courier New" panose="02070309020205020404" pitchFamily="49" charset="0"/>
                <a:cs typeface="Courier New" panose="02070309020205020404" pitchFamily="49" charset="0"/>
              </a:rPr>
              <a:t>	end = mid – 1</a:t>
            </a:r>
            <a:br>
              <a:rPr lang="en-US" sz="1000" dirty="0">
                <a:solidFill>
                  <a:schemeClr val="bg1">
                    <a:lumMod val="95000"/>
                  </a:schemeClr>
                </a:solidFill>
                <a:latin typeface="Courier New" panose="02070309020205020404" pitchFamily="49" charset="0"/>
                <a:cs typeface="Courier New" panose="02070309020205020404" pitchFamily="49" charset="0"/>
              </a:rPr>
            </a:br>
            <a:r>
              <a:rPr lang="en-US" sz="1000" dirty="0">
                <a:solidFill>
                  <a:schemeClr val="bg1">
                    <a:lumMod val="95000"/>
                  </a:schemeClr>
                </a:solidFill>
                <a:latin typeface="Courier New" panose="02070309020205020404" pitchFamily="49" charset="0"/>
                <a:cs typeface="Courier New" panose="02070309020205020404" pitchFamily="49" charset="0"/>
              </a:rPr>
              <a:t>			</a:t>
            </a:r>
            <a:r>
              <a:rPr lang="en-US" sz="1000" b="1" dirty="0">
                <a:solidFill>
                  <a:schemeClr val="bg1">
                    <a:lumMod val="95000"/>
                  </a:schemeClr>
                </a:solidFill>
                <a:latin typeface="Courier New" panose="02070309020205020404" pitchFamily="49" charset="0"/>
                <a:cs typeface="Courier New" panose="02070309020205020404" pitchFamily="49" charset="0"/>
              </a:rPr>
              <a:t>else</a:t>
            </a:r>
            <a:r>
              <a:rPr lang="en-US" sz="1000" dirty="0">
                <a:solidFill>
                  <a:schemeClr val="bg1">
                    <a:lumMod val="95000"/>
                  </a:schemeClr>
                </a:solidFill>
                <a:latin typeface="Courier New" panose="02070309020205020404" pitchFamily="49" charset="0"/>
                <a:cs typeface="Courier New" panose="02070309020205020404" pitchFamily="49" charset="0"/>
              </a:rPr>
              <a:t>:</a:t>
            </a:r>
            <a:br>
              <a:rPr lang="en-US" sz="1000" dirty="0">
                <a:solidFill>
                  <a:schemeClr val="bg1">
                    <a:lumMod val="95000"/>
                  </a:schemeClr>
                </a:solidFill>
                <a:latin typeface="Courier New" panose="02070309020205020404" pitchFamily="49" charset="0"/>
                <a:cs typeface="Courier New" panose="02070309020205020404" pitchFamily="49" charset="0"/>
              </a:rPr>
            </a:br>
            <a:r>
              <a:rPr lang="en-US" sz="1000" dirty="0">
                <a:solidFill>
                  <a:schemeClr val="bg1">
                    <a:lumMod val="95000"/>
                  </a:schemeClr>
                </a:solidFill>
                <a:latin typeface="Courier New" panose="02070309020205020404" pitchFamily="49" charset="0"/>
                <a:cs typeface="Courier New" panose="02070309020205020404" pitchFamily="49" charset="0"/>
              </a:rPr>
              <a:t>				start = mid + 1</a:t>
            </a:r>
            <a:br>
              <a:rPr lang="en-US" sz="1000" dirty="0">
                <a:solidFill>
                  <a:schemeClr val="bg1">
                    <a:lumMod val="95000"/>
                  </a:schemeClr>
                </a:solidFill>
                <a:latin typeface="Courier New" panose="02070309020205020404" pitchFamily="49" charset="0"/>
                <a:cs typeface="Courier New" panose="02070309020205020404" pitchFamily="49" charset="0"/>
              </a:rPr>
            </a:br>
            <a:r>
              <a:rPr lang="en-US" sz="1000" dirty="0">
                <a:solidFill>
                  <a:schemeClr val="bg1">
                    <a:lumMod val="95000"/>
                  </a:schemeClr>
                </a:solidFill>
                <a:latin typeface="Courier New" panose="02070309020205020404" pitchFamily="49" charset="0"/>
                <a:cs typeface="Courier New" panose="02070309020205020404" pitchFamily="49" charset="0"/>
              </a:rPr>
              <a:t>	</a:t>
            </a:r>
          </a:p>
        </p:txBody>
      </p:sp>
      <p:pic>
        <p:nvPicPr>
          <p:cNvPr id="6" name="Picture 5"/>
          <p:cNvPicPr>
            <a:picLocks noChangeAspect="1"/>
          </p:cNvPicPr>
          <p:nvPr/>
        </p:nvPicPr>
        <p:blipFill>
          <a:blip r:embed="rId2"/>
          <a:stretch>
            <a:fillRect/>
          </a:stretch>
        </p:blipFill>
        <p:spPr>
          <a:xfrm>
            <a:off x="5090554" y="2280201"/>
            <a:ext cx="5042661" cy="653679"/>
          </a:xfrm>
          <a:prstGeom prst="rect">
            <a:avLst/>
          </a:prstGeom>
        </p:spPr>
      </p:pic>
      <p:pic>
        <p:nvPicPr>
          <p:cNvPr id="16" name="Picture 15"/>
          <p:cNvPicPr>
            <a:picLocks noChangeAspect="1"/>
          </p:cNvPicPr>
          <p:nvPr/>
        </p:nvPicPr>
        <p:blipFill>
          <a:blip r:embed="rId3"/>
          <a:stretch>
            <a:fillRect/>
          </a:stretch>
        </p:blipFill>
        <p:spPr>
          <a:xfrm>
            <a:off x="2427840" y="4590754"/>
            <a:ext cx="6888634" cy="1800284"/>
          </a:xfrm>
          <a:prstGeom prst="rect">
            <a:avLst/>
          </a:prstGeom>
        </p:spPr>
      </p:pic>
    </p:spTree>
    <p:extLst>
      <p:ext uri="{BB962C8B-B14F-4D97-AF65-F5344CB8AC3E}">
        <p14:creationId xmlns:p14="http://schemas.microsoft.com/office/powerpoint/2010/main" val="3842558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26</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Autofit/>
          </a:bodyPr>
          <a:lstStyle/>
          <a:p>
            <a:pPr>
              <a:lnSpc>
                <a:spcPct val="100000"/>
              </a:lnSpc>
            </a:pPr>
            <a:r>
              <a:rPr lang="en-US" sz="1800" dirty="0"/>
              <a:t>A binary search algorithm is written into the following Python program:</a:t>
            </a:r>
            <a:endParaRPr lang="en-US" sz="1800" dirty="0">
              <a:latin typeface="Courier New" panose="02070309020205020404" pitchFamily="49" charset="0"/>
              <a:cs typeface="Courier New" panose="02070309020205020404" pitchFamily="49" charset="0"/>
            </a:endParaRPr>
          </a:p>
          <a:p>
            <a:pPr lvl="0">
              <a:lnSpc>
                <a:spcPct val="100000"/>
              </a:lnSpc>
            </a:pPr>
            <a:br>
              <a:rPr lang="en-US" sz="1000" b="1" dirty="0">
                <a:solidFill>
                  <a:schemeClr val="bg1">
                    <a:lumMod val="95000"/>
                  </a:schemeClr>
                </a:solidFill>
                <a:latin typeface="Courier New" panose="02070309020205020404" pitchFamily="49" charset="0"/>
                <a:cs typeface="Courier New" panose="02070309020205020404" pitchFamily="49" charset="0"/>
              </a:rPr>
            </a:br>
            <a:r>
              <a:rPr lang="en-US" sz="1000" b="1" dirty="0">
                <a:solidFill>
                  <a:schemeClr val="bg1">
                    <a:lumMod val="95000"/>
                  </a:schemeClr>
                </a:solidFill>
                <a:latin typeface="Courier New" panose="02070309020205020404" pitchFamily="49" charset="0"/>
                <a:cs typeface="Courier New" panose="02070309020205020404" pitchFamily="49" charset="0"/>
              </a:rPr>
              <a:t>	end = </a:t>
            </a:r>
            <a:r>
              <a:rPr lang="en-US" sz="1000" b="1" dirty="0" err="1">
                <a:solidFill>
                  <a:schemeClr val="bg1">
                    <a:lumMod val="95000"/>
                  </a:schemeClr>
                </a:solidFill>
                <a:latin typeface="Courier New" panose="02070309020205020404" pitchFamily="49" charset="0"/>
                <a:cs typeface="Courier New" panose="02070309020205020404" pitchFamily="49" charset="0"/>
              </a:rPr>
              <a:t>len</a:t>
            </a:r>
            <a:r>
              <a:rPr lang="en-US" sz="1000" b="1" dirty="0">
                <a:solidFill>
                  <a:schemeClr val="bg1">
                    <a:lumMod val="95000"/>
                  </a:schemeClr>
                </a:solidFill>
                <a:latin typeface="Courier New" panose="02070309020205020404" pitchFamily="49" charset="0"/>
                <a:cs typeface="Courier New" panose="02070309020205020404" pitchFamily="49" charset="0"/>
              </a:rPr>
              <a:t>(mark)-1</a:t>
            </a:r>
            <a:br>
              <a:rPr lang="en-US" sz="1000" b="1" dirty="0">
                <a:solidFill>
                  <a:schemeClr val="bg1">
                    <a:lumMod val="75000"/>
                  </a:schemeClr>
                </a:solidFill>
                <a:latin typeface="Courier New" panose="02070309020205020404" pitchFamily="49" charset="0"/>
                <a:cs typeface="Courier New" panose="02070309020205020404" pitchFamily="49" charset="0"/>
              </a:rPr>
            </a:br>
            <a:r>
              <a:rPr lang="en-US" sz="1000" b="1" dirty="0">
                <a:solidFill>
                  <a:schemeClr val="bg1">
                    <a:lumMod val="75000"/>
                  </a:schemeClr>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target = </a:t>
            </a:r>
            <a:r>
              <a:rPr lang="en-US" sz="1000" b="1" dirty="0" err="1">
                <a:solidFill>
                  <a:schemeClr val="bg1">
                    <a:lumMod val="85000"/>
                  </a:schemeClr>
                </a:solidFill>
                <a:latin typeface="Courier New" panose="02070309020205020404" pitchFamily="49" charset="0"/>
                <a:cs typeface="Courier New" panose="02070309020205020404" pitchFamily="49" charset="0"/>
              </a:rPr>
              <a:t>int</a:t>
            </a:r>
            <a:r>
              <a:rPr lang="en-US" sz="1000" b="1" dirty="0">
                <a:solidFill>
                  <a:schemeClr val="bg1">
                    <a:lumMod val="85000"/>
                  </a:schemeClr>
                </a:solidFill>
                <a:latin typeface="Courier New" panose="02070309020205020404" pitchFamily="49" charset="0"/>
                <a:cs typeface="Courier New" panose="02070309020205020404" pitchFamily="49" charset="0"/>
              </a:rPr>
              <a:t>(input())</a:t>
            </a:r>
            <a:br>
              <a:rPr lang="en-US" sz="1000" b="1" dirty="0">
                <a:solidFill>
                  <a:schemeClr val="bg1">
                    <a:lumMod val="75000"/>
                  </a:schemeClr>
                </a:solidFill>
                <a:latin typeface="Courier New" panose="02070309020205020404" pitchFamily="49" charset="0"/>
                <a:cs typeface="Courier New" panose="02070309020205020404" pitchFamily="49" charset="0"/>
              </a:rPr>
            </a:br>
            <a:r>
              <a:rPr lang="en-US" sz="1000" b="1" dirty="0">
                <a:solidFill>
                  <a:schemeClr val="bg1">
                    <a:lumMod val="75000"/>
                  </a:schemeClr>
                </a:solidFill>
                <a:latin typeface="Courier New" panose="02070309020205020404" pitchFamily="49" charset="0"/>
                <a:cs typeface="Courier New" panose="02070309020205020404" pitchFamily="49" charset="0"/>
              </a:rPr>
              <a:t>	found = False</a:t>
            </a:r>
            <a:br>
              <a:rPr lang="en-US" sz="1000" b="1" dirty="0">
                <a:solidFill>
                  <a:schemeClr val="bg1">
                    <a:lumMod val="75000"/>
                  </a:schemeClr>
                </a:solidFill>
                <a:latin typeface="Courier New" panose="02070309020205020404" pitchFamily="49" charset="0"/>
                <a:cs typeface="Courier New" panose="02070309020205020404" pitchFamily="49" charset="0"/>
              </a:rPr>
            </a:br>
            <a:r>
              <a:rPr lang="en-US" sz="1600" dirty="0">
                <a:solidFill>
                  <a:prstClr val="black"/>
                </a:solidFill>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while</a:t>
            </a:r>
            <a:r>
              <a:rPr lang="en-US" sz="1600" dirty="0">
                <a:solidFill>
                  <a:prstClr val="black"/>
                </a:solidFill>
                <a:latin typeface="Courier New" panose="02070309020205020404" pitchFamily="49" charset="0"/>
                <a:cs typeface="Courier New" panose="02070309020205020404" pitchFamily="49" charset="0"/>
              </a:rPr>
              <a:t> start &lt;= end </a:t>
            </a:r>
            <a:r>
              <a:rPr lang="en-US" sz="1600" b="1" dirty="0">
                <a:solidFill>
                  <a:srgbClr val="7C2573"/>
                </a:solidFill>
                <a:latin typeface="Courier New" panose="02070309020205020404" pitchFamily="49" charset="0"/>
                <a:cs typeface="Courier New" panose="02070309020205020404" pitchFamily="49" charset="0"/>
              </a:rPr>
              <a:t>and</a:t>
            </a:r>
            <a:r>
              <a:rPr lang="en-US" sz="1600" dirty="0">
                <a:solidFill>
                  <a:prstClr val="black"/>
                </a:solidFill>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False</a:t>
            </a:r>
            <a:r>
              <a:rPr lang="en-US" sz="1600" dirty="0">
                <a:solidFill>
                  <a:prstClr val="black"/>
                </a:solidFill>
                <a:latin typeface="Courier New" panose="02070309020205020404" pitchFamily="49" charset="0"/>
                <a:cs typeface="Courier New" panose="02070309020205020404" pitchFamily="49" charset="0"/>
              </a:rPr>
              <a:t>:</a:t>
            </a:r>
            <a:br>
              <a:rPr lang="en-US" sz="1600" dirty="0">
                <a:solidFill>
                  <a:prstClr val="black"/>
                </a:solidFill>
                <a:latin typeface="Courier New" panose="02070309020205020404" pitchFamily="49" charset="0"/>
                <a:cs typeface="Courier New" panose="02070309020205020404" pitchFamily="49" charset="0"/>
              </a:rPr>
            </a:br>
            <a:r>
              <a:rPr lang="en-US" sz="1600" dirty="0">
                <a:solidFill>
                  <a:prstClr val="black"/>
                </a:solidFill>
                <a:latin typeface="Courier New" panose="02070309020205020404" pitchFamily="49" charset="0"/>
                <a:cs typeface="Courier New" panose="02070309020205020404" pitchFamily="49" charset="0"/>
              </a:rPr>
              <a:t>		mid = </a:t>
            </a:r>
            <a:r>
              <a:rPr lang="en-US" sz="1600" dirty="0" err="1">
                <a:solidFill>
                  <a:srgbClr val="7C2573"/>
                </a:solidFill>
                <a:latin typeface="Courier New" panose="02070309020205020404" pitchFamily="49" charset="0"/>
                <a:cs typeface="Courier New" panose="02070309020205020404" pitchFamily="49" charset="0"/>
              </a:rPr>
              <a:t>int</a:t>
            </a:r>
            <a:r>
              <a:rPr lang="en-US" sz="1600" dirty="0">
                <a:solidFill>
                  <a:prstClr val="black"/>
                </a:solidFill>
                <a:latin typeface="Courier New" panose="02070309020205020404" pitchFamily="49" charset="0"/>
                <a:cs typeface="Courier New" panose="02070309020205020404" pitchFamily="49" charset="0"/>
              </a:rPr>
              <a:t>((start + end)/</a:t>
            </a:r>
            <a:r>
              <a:rPr lang="en-US" sz="1600" dirty="0">
                <a:solidFill>
                  <a:srgbClr val="AB3D18"/>
                </a:solidFill>
                <a:latin typeface="Courier New" panose="02070309020205020404" pitchFamily="49" charset="0"/>
                <a:cs typeface="Courier New" panose="02070309020205020404" pitchFamily="49" charset="0"/>
              </a:rPr>
              <a:t>2</a:t>
            </a:r>
            <a:r>
              <a:rPr lang="en-US" sz="1600" dirty="0">
                <a:solidFill>
                  <a:prstClr val="black"/>
                </a:solidFill>
                <a:latin typeface="Courier New" panose="02070309020205020404" pitchFamily="49" charset="0"/>
                <a:cs typeface="Courier New" panose="02070309020205020404" pitchFamily="49" charset="0"/>
              </a:rPr>
              <a:t>)</a:t>
            </a:r>
            <a:br>
              <a:rPr lang="en-US" sz="1600" dirty="0">
                <a:solidFill>
                  <a:prstClr val="black"/>
                </a:solidFill>
                <a:latin typeface="Courier New" panose="02070309020205020404" pitchFamily="49" charset="0"/>
                <a:cs typeface="Courier New" panose="02070309020205020404" pitchFamily="49" charset="0"/>
              </a:rPr>
            </a:br>
            <a:r>
              <a:rPr lang="en-US" sz="1600" dirty="0">
                <a:solidFill>
                  <a:prstClr val="black"/>
                </a:solidFill>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solidFill>
                  <a:prstClr val="black"/>
                </a:solidFill>
                <a:latin typeface="Courier New" panose="02070309020205020404" pitchFamily="49" charset="0"/>
                <a:cs typeface="Courier New" panose="02070309020205020404" pitchFamily="49" charset="0"/>
              </a:rPr>
              <a:t> mark[mid] == target:</a:t>
            </a:r>
            <a:br>
              <a:rPr lang="en-US" sz="1600" dirty="0">
                <a:solidFill>
                  <a:prstClr val="black"/>
                </a:solidFill>
                <a:latin typeface="Courier New" panose="02070309020205020404" pitchFamily="49" charset="0"/>
                <a:cs typeface="Courier New" panose="02070309020205020404" pitchFamily="49" charset="0"/>
              </a:rPr>
            </a:br>
            <a:r>
              <a:rPr lang="en-US" sz="1600" dirty="0">
                <a:solidFill>
                  <a:prstClr val="black"/>
                </a:solidFill>
                <a:latin typeface="Courier New" panose="02070309020205020404" pitchFamily="49" charset="0"/>
                <a:cs typeface="Courier New" panose="02070309020205020404" pitchFamily="49" charset="0"/>
              </a:rPr>
              <a:t>			found = </a:t>
            </a:r>
            <a:r>
              <a:rPr lang="en-US" sz="1600" b="1" dirty="0">
                <a:solidFill>
                  <a:srgbClr val="7C2573"/>
                </a:solidFill>
                <a:latin typeface="Courier New" panose="02070309020205020404" pitchFamily="49" charset="0"/>
                <a:cs typeface="Courier New" panose="02070309020205020404" pitchFamily="49" charset="0"/>
              </a:rPr>
              <a:t>True</a:t>
            </a:r>
            <a:br>
              <a:rPr lang="en-US" sz="1600" dirty="0">
                <a:solidFill>
                  <a:prstClr val="black"/>
                </a:solidFill>
                <a:latin typeface="Courier New" panose="02070309020205020404" pitchFamily="49" charset="0"/>
                <a:cs typeface="Courier New" panose="02070309020205020404" pitchFamily="49" charset="0"/>
              </a:rPr>
            </a:br>
            <a:r>
              <a:rPr lang="en-US" sz="1600" dirty="0">
                <a:solidFill>
                  <a:prstClr val="black"/>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else:</a:t>
            </a:r>
            <a:br>
              <a:rPr lang="en-US" sz="1000" b="1" dirty="0">
                <a:solidFill>
                  <a:schemeClr val="bg1">
                    <a:lumMod val="85000"/>
                  </a:schemeClr>
                </a:solidFill>
                <a:latin typeface="Courier New" panose="02070309020205020404" pitchFamily="49" charset="0"/>
                <a:cs typeface="Courier New" panose="02070309020205020404" pitchFamily="49" charset="0"/>
              </a:rPr>
            </a:br>
            <a:r>
              <a:rPr lang="en-US" sz="1000" b="1" dirty="0">
                <a:solidFill>
                  <a:schemeClr val="bg1">
                    <a:lumMod val="85000"/>
                  </a:schemeClr>
                </a:solidFill>
                <a:latin typeface="Courier New" panose="02070309020205020404" pitchFamily="49" charset="0"/>
                <a:cs typeface="Courier New" panose="02070309020205020404" pitchFamily="49" charset="0"/>
              </a:rPr>
              <a:t>			if target &lt; mark[mid]:</a:t>
            </a:r>
            <a:br>
              <a:rPr lang="en-US" sz="1000" b="1" dirty="0">
                <a:solidFill>
                  <a:schemeClr val="bg1">
                    <a:lumMod val="85000"/>
                  </a:schemeClr>
                </a:solidFill>
                <a:latin typeface="Courier New" panose="02070309020205020404" pitchFamily="49" charset="0"/>
                <a:cs typeface="Courier New" panose="02070309020205020404" pitchFamily="49" charset="0"/>
              </a:rPr>
            </a:br>
            <a:r>
              <a:rPr lang="en-US" sz="1000" b="1" dirty="0">
                <a:solidFill>
                  <a:schemeClr val="bg1">
                    <a:lumMod val="85000"/>
                  </a:schemeClr>
                </a:solidFill>
                <a:latin typeface="Courier New" panose="02070309020205020404" pitchFamily="49" charset="0"/>
                <a:cs typeface="Courier New" panose="02070309020205020404" pitchFamily="49" charset="0"/>
              </a:rPr>
              <a:t>			</a:t>
            </a:r>
            <a:r>
              <a:rPr lang="en-US" sz="1000" b="1" dirty="0">
                <a:solidFill>
                  <a:schemeClr val="bg1">
                    <a:lumMod val="95000"/>
                  </a:schemeClr>
                </a:solidFill>
                <a:latin typeface="Courier New" panose="02070309020205020404" pitchFamily="49" charset="0"/>
                <a:cs typeface="Courier New" panose="02070309020205020404" pitchFamily="49" charset="0"/>
              </a:rPr>
              <a:t>	</a:t>
            </a:r>
            <a:r>
              <a:rPr lang="en-US" sz="1000" b="1" dirty="0">
                <a:solidFill>
                  <a:schemeClr val="bg1">
                    <a:lumMod val="85000"/>
                  </a:schemeClr>
                </a:solidFill>
                <a:latin typeface="Courier New" panose="02070309020205020404" pitchFamily="49" charset="0"/>
                <a:cs typeface="Courier New" panose="02070309020205020404" pitchFamily="49" charset="0"/>
              </a:rPr>
              <a:t>end = mid – 1</a:t>
            </a:r>
            <a:br>
              <a:rPr lang="en-US" sz="1000" b="1" dirty="0">
                <a:solidFill>
                  <a:schemeClr val="bg1">
                    <a:lumMod val="95000"/>
                  </a:schemeClr>
                </a:solidFill>
                <a:latin typeface="Courier New" panose="02070309020205020404" pitchFamily="49" charset="0"/>
                <a:cs typeface="Courier New" panose="02070309020205020404" pitchFamily="49" charset="0"/>
              </a:rPr>
            </a:br>
            <a:r>
              <a:rPr lang="en-US" sz="1000" b="1" dirty="0">
                <a:solidFill>
                  <a:schemeClr val="bg1">
                    <a:lumMod val="95000"/>
                  </a:schemeClr>
                </a:solidFill>
                <a:latin typeface="Courier New" panose="02070309020205020404" pitchFamily="49" charset="0"/>
                <a:cs typeface="Courier New" panose="02070309020205020404" pitchFamily="49" charset="0"/>
              </a:rPr>
              <a:t>			else:</a:t>
            </a:r>
            <a:br>
              <a:rPr lang="en-US" sz="1000" b="1" dirty="0">
                <a:solidFill>
                  <a:schemeClr val="bg1">
                    <a:lumMod val="95000"/>
                  </a:schemeClr>
                </a:solidFill>
                <a:latin typeface="Courier New" panose="02070309020205020404" pitchFamily="49" charset="0"/>
                <a:cs typeface="Courier New" panose="02070309020205020404" pitchFamily="49" charset="0"/>
              </a:rPr>
            </a:br>
            <a:r>
              <a:rPr lang="en-US" sz="1000" b="1" dirty="0">
                <a:solidFill>
                  <a:schemeClr val="bg1">
                    <a:lumMod val="95000"/>
                  </a:schemeClr>
                </a:solidFill>
                <a:latin typeface="Courier New" panose="02070309020205020404" pitchFamily="49" charset="0"/>
                <a:cs typeface="Courier New" panose="02070309020205020404" pitchFamily="49" charset="0"/>
              </a:rPr>
              <a:t>				start = mid + 1</a:t>
            </a:r>
            <a:br>
              <a:rPr lang="en-US" sz="1000" b="1" dirty="0">
                <a:solidFill>
                  <a:schemeClr val="bg1">
                    <a:lumMod val="75000"/>
                  </a:schemeClr>
                </a:solidFill>
                <a:latin typeface="Courier New" panose="02070309020205020404" pitchFamily="49" charset="0"/>
                <a:cs typeface="Courier New" panose="02070309020205020404" pitchFamily="49" charset="0"/>
              </a:rPr>
            </a:br>
            <a:r>
              <a:rPr lang="en-US" sz="1000" b="1" dirty="0">
                <a:solidFill>
                  <a:schemeClr val="bg1">
                    <a:lumMod val="75000"/>
                  </a:schemeClr>
                </a:solidFill>
                <a:latin typeface="Courier New" panose="02070309020205020404" pitchFamily="49" charset="0"/>
                <a:cs typeface="Courier New" panose="02070309020205020404" pitchFamily="49" charset="0"/>
              </a:rPr>
              <a:t>	</a:t>
            </a:r>
            <a:endParaRPr lang="en-US" sz="1000" dirty="0">
              <a:solidFill>
                <a:schemeClr val="bg1">
                  <a:lumMod val="95000"/>
                </a:schemeClr>
              </a:solidFill>
              <a:latin typeface="Courier New" panose="02070309020205020404" pitchFamily="49" charset="0"/>
              <a:cs typeface="Courier New" panose="02070309020205020404" pitchFamily="49" charset="0"/>
            </a:endParaRPr>
          </a:p>
        </p:txBody>
      </p:sp>
      <p:pic>
        <p:nvPicPr>
          <p:cNvPr id="7" name="Picture 6"/>
          <p:cNvPicPr>
            <a:picLocks noChangeAspect="1"/>
          </p:cNvPicPr>
          <p:nvPr/>
        </p:nvPicPr>
        <p:blipFill>
          <a:blip r:embed="rId2"/>
          <a:stretch>
            <a:fillRect/>
          </a:stretch>
        </p:blipFill>
        <p:spPr>
          <a:xfrm>
            <a:off x="2446227" y="4624143"/>
            <a:ext cx="6835236" cy="1808459"/>
          </a:xfrm>
          <a:prstGeom prst="rect">
            <a:avLst/>
          </a:prstGeom>
        </p:spPr>
      </p:pic>
      <p:pic>
        <p:nvPicPr>
          <p:cNvPr id="10" name="Picture 9"/>
          <p:cNvPicPr>
            <a:picLocks noChangeAspect="1"/>
          </p:cNvPicPr>
          <p:nvPr/>
        </p:nvPicPr>
        <p:blipFill>
          <a:blip r:embed="rId3"/>
          <a:stretch>
            <a:fillRect/>
          </a:stretch>
        </p:blipFill>
        <p:spPr>
          <a:xfrm>
            <a:off x="3572948" y="2101181"/>
            <a:ext cx="4581793" cy="525993"/>
          </a:xfrm>
          <a:prstGeom prst="rect">
            <a:avLst/>
          </a:prstGeom>
        </p:spPr>
      </p:pic>
      <p:pic>
        <p:nvPicPr>
          <p:cNvPr id="11" name="Picture 10"/>
          <p:cNvPicPr>
            <a:picLocks noChangeAspect="1"/>
          </p:cNvPicPr>
          <p:nvPr/>
        </p:nvPicPr>
        <p:blipFill>
          <a:blip r:embed="rId4"/>
          <a:stretch>
            <a:fillRect/>
          </a:stretch>
        </p:blipFill>
        <p:spPr>
          <a:xfrm>
            <a:off x="6226141" y="2986977"/>
            <a:ext cx="3001592" cy="430245"/>
          </a:xfrm>
          <a:prstGeom prst="rect">
            <a:avLst/>
          </a:prstGeom>
        </p:spPr>
      </p:pic>
      <p:pic>
        <p:nvPicPr>
          <p:cNvPr id="12" name="Picture 11"/>
          <p:cNvPicPr>
            <a:picLocks noChangeAspect="1"/>
          </p:cNvPicPr>
          <p:nvPr/>
        </p:nvPicPr>
        <p:blipFill>
          <a:blip r:embed="rId5"/>
          <a:stretch>
            <a:fillRect/>
          </a:stretch>
        </p:blipFill>
        <p:spPr>
          <a:xfrm>
            <a:off x="5304786" y="3542726"/>
            <a:ext cx="3922947" cy="406474"/>
          </a:xfrm>
          <a:prstGeom prst="rect">
            <a:avLst/>
          </a:prstGeom>
        </p:spPr>
      </p:pic>
    </p:spTree>
    <p:extLst>
      <p:ext uri="{BB962C8B-B14F-4D97-AF65-F5344CB8AC3E}">
        <p14:creationId xmlns:p14="http://schemas.microsoft.com/office/powerpoint/2010/main" val="2249214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27</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rmAutofit/>
          </a:bodyPr>
          <a:lstStyle/>
          <a:p>
            <a:pPr>
              <a:lnSpc>
                <a:spcPct val="100000"/>
              </a:lnSpc>
            </a:pPr>
            <a:r>
              <a:rPr lang="en-US" dirty="0"/>
              <a:t>A binary search algorithm is written into the following Python program:</a:t>
            </a:r>
            <a:br>
              <a:rPr lang="en-US" sz="1300" b="1" dirty="0">
                <a:solidFill>
                  <a:schemeClr val="bg1">
                    <a:lumMod val="95000"/>
                  </a:schemeClr>
                </a:solidFill>
                <a:latin typeface="Courier New" panose="02070309020205020404" pitchFamily="49" charset="0"/>
                <a:cs typeface="Courier New" panose="02070309020205020404" pitchFamily="49" charset="0"/>
              </a:rPr>
            </a:br>
            <a:r>
              <a:rPr lang="en-US" sz="1300" b="1" dirty="0">
                <a:solidFill>
                  <a:schemeClr val="bg1">
                    <a:lumMod val="95000"/>
                  </a:schemeClr>
                </a:solidFill>
                <a:latin typeface="Courier New" panose="02070309020205020404" pitchFamily="49" charset="0"/>
                <a:cs typeface="Courier New" panose="02070309020205020404" pitchFamily="49" charset="0"/>
              </a:rPr>
              <a:t>	</a:t>
            </a:r>
            <a:br>
              <a:rPr lang="en-US" sz="1300" b="1" dirty="0">
                <a:solidFill>
                  <a:schemeClr val="bg1">
                    <a:lumMod val="95000"/>
                  </a:schemeClr>
                </a:solidFill>
                <a:latin typeface="Courier New" panose="02070309020205020404" pitchFamily="49" charset="0"/>
                <a:cs typeface="Courier New" panose="02070309020205020404" pitchFamily="49" charset="0"/>
              </a:rPr>
            </a:br>
            <a:r>
              <a:rPr lang="en-US" sz="1300" b="1" dirty="0">
                <a:solidFill>
                  <a:schemeClr val="bg1">
                    <a:lumMod val="95000"/>
                  </a:schemeClr>
                </a:solidFill>
                <a:latin typeface="Courier New" panose="02070309020205020404" pitchFamily="49" charset="0"/>
                <a:cs typeface="Courier New" panose="02070309020205020404" pitchFamily="49" charset="0"/>
              </a:rPr>
              <a:t>		mid = </a:t>
            </a:r>
            <a:r>
              <a:rPr lang="en-US" sz="1300" b="1" dirty="0" err="1">
                <a:solidFill>
                  <a:schemeClr val="bg1">
                    <a:lumMod val="95000"/>
                  </a:schemeClr>
                </a:solidFill>
                <a:latin typeface="Courier New" panose="02070309020205020404" pitchFamily="49" charset="0"/>
                <a:cs typeface="Courier New" panose="02070309020205020404" pitchFamily="49" charset="0"/>
              </a:rPr>
              <a:t>int</a:t>
            </a:r>
            <a:r>
              <a:rPr lang="en-US" sz="1300" b="1" dirty="0">
                <a:solidFill>
                  <a:schemeClr val="bg1">
                    <a:lumMod val="95000"/>
                  </a:schemeClr>
                </a:solidFill>
                <a:latin typeface="Courier New" panose="02070309020205020404" pitchFamily="49" charset="0"/>
                <a:cs typeface="Courier New" panose="02070309020205020404" pitchFamily="49" charset="0"/>
              </a:rPr>
              <a:t>((start + end)/2)</a:t>
            </a:r>
            <a:br>
              <a:rPr lang="en-US" sz="1300" b="1" dirty="0">
                <a:solidFill>
                  <a:schemeClr val="bg1">
                    <a:lumMod val="75000"/>
                  </a:schemeClr>
                </a:solidFill>
                <a:latin typeface="Courier New" panose="02070309020205020404" pitchFamily="49" charset="0"/>
                <a:cs typeface="Courier New" panose="02070309020205020404" pitchFamily="49" charset="0"/>
              </a:rPr>
            </a:br>
            <a:r>
              <a:rPr lang="en-US" sz="1300" b="1" dirty="0">
                <a:solidFill>
                  <a:schemeClr val="bg1">
                    <a:lumMod val="75000"/>
                  </a:schemeClr>
                </a:solidFill>
                <a:latin typeface="Courier New" panose="02070309020205020404" pitchFamily="49" charset="0"/>
                <a:cs typeface="Courier New" panose="02070309020205020404" pitchFamily="49" charset="0"/>
              </a:rPr>
              <a:t>		</a:t>
            </a:r>
            <a:r>
              <a:rPr lang="en-US" sz="1300" b="1" dirty="0">
                <a:solidFill>
                  <a:schemeClr val="bg1">
                    <a:lumMod val="85000"/>
                  </a:schemeClr>
                </a:solidFill>
                <a:latin typeface="Courier New" panose="02070309020205020404" pitchFamily="49" charset="0"/>
                <a:cs typeface="Courier New" panose="02070309020205020404" pitchFamily="49" charset="0"/>
              </a:rPr>
              <a:t>if mark[mid] == target:</a:t>
            </a:r>
            <a:br>
              <a:rPr lang="en-US" sz="1300" b="1" dirty="0">
                <a:solidFill>
                  <a:schemeClr val="bg1">
                    <a:lumMod val="75000"/>
                  </a:schemeClr>
                </a:solidFill>
                <a:latin typeface="Courier New" panose="02070309020205020404" pitchFamily="49" charset="0"/>
                <a:cs typeface="Courier New" panose="02070309020205020404" pitchFamily="49" charset="0"/>
              </a:rPr>
            </a:br>
            <a:r>
              <a:rPr lang="en-US" sz="1300" b="1" dirty="0">
                <a:solidFill>
                  <a:schemeClr val="bg1">
                    <a:lumMod val="75000"/>
                  </a:schemeClr>
                </a:solidFill>
                <a:latin typeface="Courier New" panose="02070309020205020404" pitchFamily="49" charset="0"/>
                <a:cs typeface="Courier New" panose="02070309020205020404" pitchFamily="49" charset="0"/>
              </a:rPr>
              <a:t>			</a:t>
            </a:r>
            <a:r>
              <a:rPr lang="en-US" sz="1300" b="1" dirty="0">
                <a:solidFill>
                  <a:schemeClr val="bg1">
                    <a:lumMod val="85000"/>
                  </a:schemeClr>
                </a:solidFill>
                <a:latin typeface="Courier New" panose="02070309020205020404" pitchFamily="49" charset="0"/>
                <a:cs typeface="Courier New" panose="02070309020205020404" pitchFamily="49" charset="0"/>
              </a:rPr>
              <a:t>found = True</a:t>
            </a:r>
            <a:br>
              <a:rPr lang="en-US" sz="1300" b="1" dirty="0">
                <a:solidFill>
                  <a:schemeClr val="bg1">
                    <a:lumMod val="75000"/>
                  </a:schemeClr>
                </a:solidFill>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target &lt; mark[mid]:</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end = mid – </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start = mid + </a:t>
            </a:r>
            <a:r>
              <a:rPr lang="en-US" sz="1600" dirty="0">
                <a:solidFill>
                  <a:srgbClr val="AB3D18"/>
                </a:solidFill>
                <a:latin typeface="Courier New" panose="02070309020205020404" pitchFamily="49" charset="0"/>
                <a:cs typeface="Courier New" panose="02070309020205020404" pitchFamily="49" charset="0"/>
              </a:rPr>
              <a:t>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a:t>
            </a:r>
            <a:r>
              <a:rPr lang="en-US" sz="1100" b="1" dirty="0">
                <a:solidFill>
                  <a:schemeClr val="bg1">
                    <a:lumMod val="85000"/>
                  </a:schemeClr>
                </a:solidFill>
                <a:latin typeface="Courier New" panose="02070309020205020404" pitchFamily="49" charset="0"/>
                <a:cs typeface="Courier New" panose="02070309020205020404" pitchFamily="49" charset="0"/>
              </a:rPr>
              <a:t>if found == True:</a:t>
            </a:r>
            <a:br>
              <a:rPr lang="en-US" sz="1100" b="1" dirty="0">
                <a:solidFill>
                  <a:schemeClr val="bg1">
                    <a:lumMod val="75000"/>
                  </a:schemeClr>
                </a:solidFill>
                <a:latin typeface="Courier New" panose="02070309020205020404" pitchFamily="49" charset="0"/>
                <a:cs typeface="Courier New" panose="02070309020205020404" pitchFamily="49" charset="0"/>
              </a:rPr>
            </a:br>
            <a:r>
              <a:rPr lang="en-US" sz="1100" b="1" dirty="0">
                <a:solidFill>
                  <a:schemeClr val="bg1">
                    <a:lumMod val="75000"/>
                  </a:schemeClr>
                </a:solidFill>
                <a:latin typeface="Courier New" panose="02070309020205020404" pitchFamily="49" charset="0"/>
                <a:cs typeface="Courier New" panose="02070309020205020404" pitchFamily="49" charset="0"/>
              </a:rPr>
              <a:t>		</a:t>
            </a:r>
            <a:r>
              <a:rPr lang="en-US" sz="1100" b="1" dirty="0">
                <a:solidFill>
                  <a:schemeClr val="bg1">
                    <a:lumMod val="95000"/>
                  </a:schemeClr>
                </a:solidFill>
                <a:latin typeface="Courier New" panose="02070309020205020404" pitchFamily="49" charset="0"/>
                <a:cs typeface="Courier New" panose="02070309020205020404" pitchFamily="49" charset="0"/>
              </a:rPr>
              <a:t>print("Found at index", mid)</a:t>
            </a:r>
            <a:br>
              <a:rPr lang="en-US" sz="1100" b="1" dirty="0">
                <a:solidFill>
                  <a:schemeClr val="bg1">
                    <a:lumMod val="95000"/>
                  </a:schemeClr>
                </a:solidFill>
                <a:latin typeface="Courier New" panose="02070309020205020404" pitchFamily="49" charset="0"/>
                <a:cs typeface="Courier New" panose="02070309020205020404" pitchFamily="49" charset="0"/>
              </a:rPr>
            </a:br>
            <a:r>
              <a:rPr lang="en-US" sz="1100" b="1" dirty="0">
                <a:solidFill>
                  <a:schemeClr val="bg1">
                    <a:lumMod val="95000"/>
                  </a:schemeClr>
                </a:solidFill>
                <a:latin typeface="Courier New" panose="02070309020205020404" pitchFamily="49" charset="0"/>
                <a:cs typeface="Courier New" panose="02070309020205020404" pitchFamily="49" charset="0"/>
              </a:rPr>
              <a:t>	else:</a:t>
            </a:r>
            <a:br>
              <a:rPr lang="en-US" sz="1100" b="1" dirty="0">
                <a:solidFill>
                  <a:schemeClr val="bg1">
                    <a:lumMod val="95000"/>
                  </a:schemeClr>
                </a:solidFill>
                <a:latin typeface="Courier New" panose="02070309020205020404" pitchFamily="49" charset="0"/>
                <a:cs typeface="Courier New" panose="02070309020205020404" pitchFamily="49" charset="0"/>
              </a:rPr>
            </a:br>
            <a:r>
              <a:rPr lang="en-US" sz="1100" b="1" dirty="0">
                <a:solidFill>
                  <a:schemeClr val="bg1">
                    <a:lumMod val="95000"/>
                  </a:schemeClr>
                </a:solidFill>
                <a:latin typeface="Courier New" panose="02070309020205020404" pitchFamily="49" charset="0"/>
                <a:cs typeface="Courier New" panose="02070309020205020404" pitchFamily="49" charset="0"/>
              </a:rPr>
              <a:t>		</a:t>
            </a:r>
            <a:endParaRPr lang="en-US" dirty="0"/>
          </a:p>
        </p:txBody>
      </p:sp>
      <p:pic>
        <p:nvPicPr>
          <p:cNvPr id="6" name="Picture 5"/>
          <p:cNvPicPr>
            <a:picLocks noChangeAspect="1"/>
          </p:cNvPicPr>
          <p:nvPr/>
        </p:nvPicPr>
        <p:blipFill>
          <a:blip r:embed="rId2"/>
          <a:stretch>
            <a:fillRect/>
          </a:stretch>
        </p:blipFill>
        <p:spPr>
          <a:xfrm>
            <a:off x="2518252" y="4575977"/>
            <a:ext cx="6774603" cy="1889878"/>
          </a:xfrm>
          <a:prstGeom prst="rect">
            <a:avLst/>
          </a:prstGeom>
        </p:spPr>
      </p:pic>
      <p:pic>
        <p:nvPicPr>
          <p:cNvPr id="9" name="Picture 8"/>
          <p:cNvPicPr>
            <a:picLocks noChangeAspect="1"/>
          </p:cNvPicPr>
          <p:nvPr/>
        </p:nvPicPr>
        <p:blipFill>
          <a:blip r:embed="rId3"/>
          <a:stretch>
            <a:fillRect/>
          </a:stretch>
        </p:blipFill>
        <p:spPr>
          <a:xfrm>
            <a:off x="6704389" y="2650997"/>
            <a:ext cx="4392686" cy="1924980"/>
          </a:xfrm>
          <a:prstGeom prst="rect">
            <a:avLst/>
          </a:prstGeom>
        </p:spPr>
      </p:pic>
    </p:spTree>
    <p:extLst>
      <p:ext uri="{BB962C8B-B14F-4D97-AF65-F5344CB8AC3E}">
        <p14:creationId xmlns:p14="http://schemas.microsoft.com/office/powerpoint/2010/main" val="13043988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28</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Binary search assumes that the items in a list have been sorted and starts searching from the middle of the list. </a:t>
            </a:r>
          </a:p>
          <a:p>
            <a:endParaRPr lang="en-US" dirty="0"/>
          </a:p>
          <a:p>
            <a:r>
              <a:rPr lang="en-US" dirty="0"/>
              <a:t>After each comparison, even if the item is not the same as the target value, the search range can be reduced by half. </a:t>
            </a:r>
          </a:p>
        </p:txBody>
      </p:sp>
    </p:spTree>
    <p:extLst>
      <p:ext uri="{BB962C8B-B14F-4D97-AF65-F5344CB8AC3E}">
        <p14:creationId xmlns:p14="http://schemas.microsoft.com/office/powerpoint/2010/main" val="2300908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29</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The worst case is that the target value is stored in the last item in the list or does not exist in it. That is, after the </a:t>
            </a:r>
            <a:r>
              <a:rPr lang="en-US" dirty="0" err="1"/>
              <a:t>i</a:t>
            </a:r>
            <a:r>
              <a:rPr lang="en-US" baseline="30000" dirty="0" err="1"/>
              <a:t>th</a:t>
            </a:r>
            <a:r>
              <a:rPr lang="en-US" dirty="0"/>
              <a:t> iteration, only one item remains in the search range.</a:t>
            </a:r>
          </a:p>
        </p:txBody>
      </p:sp>
      <p:pic>
        <p:nvPicPr>
          <p:cNvPr id="6" name="Picture 5"/>
          <p:cNvPicPr>
            <a:picLocks noChangeAspect="1"/>
          </p:cNvPicPr>
          <p:nvPr/>
        </p:nvPicPr>
        <p:blipFill>
          <a:blip r:embed="rId2"/>
          <a:stretch>
            <a:fillRect/>
          </a:stretch>
        </p:blipFill>
        <p:spPr>
          <a:xfrm>
            <a:off x="5238318" y="3480926"/>
            <a:ext cx="1224492" cy="974696"/>
          </a:xfrm>
          <a:prstGeom prst="rect">
            <a:avLst/>
          </a:prstGeom>
        </p:spPr>
      </p:pic>
    </p:spTree>
    <p:extLst>
      <p:ext uri="{BB962C8B-B14F-4D97-AF65-F5344CB8AC3E}">
        <p14:creationId xmlns:p14="http://schemas.microsoft.com/office/powerpoint/2010/main" val="34214545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30</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Using the previous equation, we can calculate the maximum number of iterations required for searching a list with N items in the worst case:</a:t>
            </a:r>
          </a:p>
        </p:txBody>
      </p:sp>
      <p:pic>
        <p:nvPicPr>
          <p:cNvPr id="6" name="Picture 5"/>
          <p:cNvPicPr>
            <a:picLocks noChangeAspect="1"/>
          </p:cNvPicPr>
          <p:nvPr/>
        </p:nvPicPr>
        <p:blipFill>
          <a:blip r:embed="rId2"/>
          <a:stretch>
            <a:fillRect/>
          </a:stretch>
        </p:blipFill>
        <p:spPr>
          <a:xfrm>
            <a:off x="4502364" y="2777760"/>
            <a:ext cx="3105100" cy="3099338"/>
          </a:xfrm>
          <a:prstGeom prst="rect">
            <a:avLst/>
          </a:prstGeom>
        </p:spPr>
      </p:pic>
    </p:spTree>
    <p:extLst>
      <p:ext uri="{BB962C8B-B14F-4D97-AF65-F5344CB8AC3E}">
        <p14:creationId xmlns:p14="http://schemas.microsoft.com/office/powerpoint/2010/main" val="9417076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31</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The maximum number of iterations required for a binary search of the list mark with ten items </a:t>
            </a:r>
            <a:br>
              <a:rPr lang="en-US" dirty="0"/>
            </a:br>
            <a:r>
              <a:rPr lang="en-US" dirty="0"/>
              <a:t>is 4 (log</a:t>
            </a:r>
            <a:r>
              <a:rPr lang="en-US" baseline="-25000" dirty="0"/>
              <a:t>2 </a:t>
            </a:r>
            <a:r>
              <a:rPr lang="en-US" dirty="0"/>
              <a:t>10 = 3.32).</a:t>
            </a:r>
          </a:p>
        </p:txBody>
      </p:sp>
      <p:pic>
        <p:nvPicPr>
          <p:cNvPr id="6" name="Picture 5"/>
          <p:cNvPicPr>
            <a:picLocks noChangeAspect="1"/>
          </p:cNvPicPr>
          <p:nvPr/>
        </p:nvPicPr>
        <p:blipFill>
          <a:blip r:embed="rId2"/>
          <a:stretch>
            <a:fillRect/>
          </a:stretch>
        </p:blipFill>
        <p:spPr>
          <a:xfrm>
            <a:off x="2469912" y="3694334"/>
            <a:ext cx="7253375" cy="2012749"/>
          </a:xfrm>
          <a:prstGeom prst="rect">
            <a:avLst/>
          </a:prstGeom>
        </p:spPr>
      </p:pic>
    </p:spTree>
    <p:extLst>
      <p:ext uri="{BB962C8B-B14F-4D97-AF65-F5344CB8AC3E}">
        <p14:creationId xmlns:p14="http://schemas.microsoft.com/office/powerpoint/2010/main" val="3320082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The following array age stores the ages of the N customers who have purchased a product, sorted in descending order. The following example shows the first ten array items:</a:t>
            </a:r>
          </a:p>
        </p:txBody>
      </p:sp>
      <p:sp>
        <p:nvSpPr>
          <p:cNvPr id="3" name="Slide Number Placeholder 2"/>
          <p:cNvSpPr>
            <a:spLocks noGrp="1"/>
          </p:cNvSpPr>
          <p:nvPr>
            <p:ph type="sldNum" sz="quarter" idx="12"/>
          </p:nvPr>
        </p:nvSpPr>
        <p:spPr/>
        <p:txBody>
          <a:bodyPr/>
          <a:lstStyle/>
          <a:p>
            <a:fld id="{6D22F896-40B5-4ADD-8801-0D06FADFA095}" type="slidenum">
              <a:rPr lang="en-US" smtClean="0"/>
              <a:t>32</a:t>
            </a:fld>
            <a:endParaRPr lang="en-US" dirty="0"/>
          </a:p>
        </p:txBody>
      </p:sp>
      <p:sp>
        <p:nvSpPr>
          <p:cNvPr id="4" name="Text Placeholder 3"/>
          <p:cNvSpPr>
            <a:spLocks noGrp="1"/>
          </p:cNvSpPr>
          <p:nvPr>
            <p:ph type="body" sz="quarter" idx="13"/>
          </p:nvPr>
        </p:nvSpPr>
        <p:spPr/>
        <p:txBody>
          <a:bodyPr/>
          <a:lstStyle/>
          <a:p>
            <a:r>
              <a:rPr lang="en-US" dirty="0"/>
              <a:t>6.2</a:t>
            </a:r>
          </a:p>
        </p:txBody>
      </p:sp>
      <p:pic>
        <p:nvPicPr>
          <p:cNvPr id="5" name="Picture 4"/>
          <p:cNvPicPr>
            <a:picLocks noChangeAspect="1"/>
          </p:cNvPicPr>
          <p:nvPr/>
        </p:nvPicPr>
        <p:blipFill>
          <a:blip r:embed="rId2"/>
          <a:stretch>
            <a:fillRect/>
          </a:stretch>
        </p:blipFill>
        <p:spPr>
          <a:xfrm>
            <a:off x="1096200" y="2849796"/>
            <a:ext cx="9999599" cy="742445"/>
          </a:xfrm>
          <a:prstGeom prst="rect">
            <a:avLst/>
          </a:prstGeom>
        </p:spPr>
      </p:pic>
    </p:spTree>
    <p:extLst>
      <p:ext uri="{BB962C8B-B14F-4D97-AF65-F5344CB8AC3E}">
        <p14:creationId xmlns:p14="http://schemas.microsoft.com/office/powerpoint/2010/main" val="1563318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(a) </a:t>
            </a:r>
            <a:r>
              <a:rPr lang="en-US" dirty="0" err="1"/>
              <a:t>Mr</a:t>
            </a:r>
            <a:r>
              <a:rPr lang="en-US" dirty="0"/>
              <a:t> Chan, the manager, writes the sub-program </a:t>
            </a:r>
            <a:r>
              <a:rPr lang="en-US" dirty="0" err="1">
                <a:latin typeface="Courier New" panose="02070309020205020404" pitchFamily="49" charset="0"/>
                <a:cs typeface="Courier New" panose="02070309020205020404" pitchFamily="49" charset="0"/>
              </a:rPr>
              <a:t>SearchByBinary</a:t>
            </a:r>
            <a:r>
              <a:rPr lang="en-US" dirty="0">
                <a:latin typeface="Courier New" panose="02070309020205020404" pitchFamily="49" charset="0"/>
                <a:cs typeface="Courier New" panose="02070309020205020404" pitchFamily="49" charset="0"/>
              </a:rPr>
              <a:t>(target)</a:t>
            </a:r>
            <a:r>
              <a:rPr lang="en-US" dirty="0"/>
              <a:t> which searches for the </a:t>
            </a:r>
            <a:r>
              <a:rPr lang="en-US" dirty="0">
                <a:latin typeface="Courier New" panose="02070309020205020404" pitchFamily="49" charset="0"/>
                <a:cs typeface="Courier New" panose="02070309020205020404" pitchFamily="49" charset="0"/>
              </a:rPr>
              <a:t>target</a:t>
            </a:r>
            <a:r>
              <a:rPr lang="en-US" dirty="0"/>
              <a:t> value target using binary search. If the target value is found, the sub-program will return the array index where the target value is stored. If the target value is not found, “</a:t>
            </a:r>
            <a:r>
              <a:rPr lang="en-US" dirty="0">
                <a:latin typeface="Courier New" panose="02070309020205020404" pitchFamily="49" charset="0"/>
                <a:cs typeface="Courier New" panose="02070309020205020404" pitchFamily="49" charset="0"/>
              </a:rPr>
              <a:t>-1</a:t>
            </a:r>
            <a:r>
              <a:rPr lang="en-US" dirty="0"/>
              <a:t>” will be returned instead. Write the pseudocode for </a:t>
            </a:r>
            <a:r>
              <a:rPr lang="en-US" dirty="0" err="1">
                <a:latin typeface="Courier New" panose="02070309020205020404" pitchFamily="49" charset="0"/>
                <a:cs typeface="Courier New" panose="02070309020205020404" pitchFamily="49" charset="0"/>
              </a:rPr>
              <a:t>SearchByBinary</a:t>
            </a:r>
            <a:r>
              <a:rPr lang="en-US" dirty="0">
                <a:latin typeface="Courier New" panose="02070309020205020404" pitchFamily="49" charset="0"/>
                <a:cs typeface="Courier New" panose="02070309020205020404" pitchFamily="49" charset="0"/>
              </a:rPr>
              <a:t>(target)</a:t>
            </a:r>
            <a:r>
              <a:rPr lang="en-US" dirty="0"/>
              <a:t>.</a:t>
            </a:r>
          </a:p>
          <a:p>
            <a:r>
              <a:rPr lang="en-US" sz="1900" dirty="0">
                <a:latin typeface="Courier New" panose="02070309020205020404" pitchFamily="49" charset="0"/>
                <a:cs typeface="Courier New" panose="02070309020205020404" pitchFamily="49" charset="0"/>
              </a:rPr>
              <a:t>Sub-program </a:t>
            </a:r>
            <a:r>
              <a:rPr lang="en-US" sz="1900" dirty="0" err="1">
                <a:latin typeface="Courier New" panose="02070309020205020404" pitchFamily="49" charset="0"/>
                <a:cs typeface="Courier New" panose="02070309020205020404" pitchFamily="49" charset="0"/>
              </a:rPr>
              <a:t>SearchByBinary</a:t>
            </a:r>
            <a:r>
              <a:rPr lang="en-US" sz="1900" dirty="0">
                <a:latin typeface="Courier New" panose="02070309020205020404" pitchFamily="49" charset="0"/>
                <a:cs typeface="Courier New" panose="02070309020205020404" pitchFamily="49" charset="0"/>
              </a:rPr>
              <a:t>(target)</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start </a:t>
            </a:r>
            <a:r>
              <a:rPr lang="en-US" sz="1900" dirty="0">
                <a:latin typeface="Courier New" panose="02070309020205020404" pitchFamily="49" charset="0"/>
                <a:cs typeface="Courier New" panose="02070309020205020404" pitchFamily="49" charset="0"/>
                <a:sym typeface="Wingdings" panose="05000000000000000000" pitchFamily="2" charset="2"/>
              </a:rPr>
              <a:t> 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end </a:t>
            </a:r>
            <a:r>
              <a:rPr lang="en-US" sz="1900" dirty="0">
                <a:latin typeface="Courier New" panose="02070309020205020404" pitchFamily="49" charset="0"/>
                <a:cs typeface="Courier New" panose="02070309020205020404" pitchFamily="49" charset="0"/>
                <a:sym typeface="Wingdings" panose="05000000000000000000" pitchFamily="2" charset="2"/>
              </a:rPr>
              <a:t></a:t>
            </a:r>
            <a:r>
              <a:rPr lang="en-US" sz="1900" dirty="0">
                <a:latin typeface="Courier New" panose="02070309020205020404" pitchFamily="49" charset="0"/>
                <a:cs typeface="Courier New" panose="02070309020205020404" pitchFamily="49" charset="0"/>
              </a:rPr>
              <a:t> </a:t>
            </a:r>
            <a:r>
              <a:rPr lang="en-US" sz="1900" dirty="0">
                <a:latin typeface="Courier New" panose="02070309020205020404" pitchFamily="49" charset="0"/>
                <a:cs typeface="Courier New" panose="02070309020205020404" pitchFamily="49" charset="0"/>
                <a:sym typeface="Wingdings" panose="05000000000000000000" pitchFamily="2" charset="2"/>
              </a:rPr>
              <a:t>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while </a:t>
            </a:r>
            <a:r>
              <a:rPr lang="en-US" sz="1900" dirty="0">
                <a:latin typeface="Courier New" panose="02070309020205020404" pitchFamily="49" charset="0"/>
                <a:cs typeface="Courier New" panose="02070309020205020404" pitchFamily="49" charset="0"/>
                <a:sym typeface="Wingdings" panose="05000000000000000000" pitchFamily="2" charset="2"/>
              </a:rPr>
              <a:t>_____________</a:t>
            </a:r>
            <a:r>
              <a:rPr lang="en-US" sz="1900" dirty="0">
                <a:latin typeface="Courier New" panose="02070309020205020404" pitchFamily="49" charset="0"/>
                <a:cs typeface="Courier New" panose="02070309020205020404" pitchFamily="49" charset="0"/>
              </a:rPr>
              <a:t> do</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mid </a:t>
            </a:r>
            <a:r>
              <a:rPr lang="en-US" sz="1900" dirty="0">
                <a:latin typeface="Courier New" panose="02070309020205020404" pitchFamily="49" charset="0"/>
                <a:cs typeface="Courier New" panose="02070309020205020404" pitchFamily="49" charset="0"/>
                <a:sym typeface="Wingdings" panose="05000000000000000000" pitchFamily="2" charset="2"/>
              </a:rPr>
              <a:t></a:t>
            </a:r>
            <a:r>
              <a:rPr lang="en-US" sz="1900" dirty="0">
                <a:latin typeface="Courier New" panose="02070309020205020404" pitchFamily="49" charset="0"/>
                <a:cs typeface="Courier New" panose="02070309020205020404" pitchFamily="49" charset="0"/>
              </a:rPr>
              <a:t> </a:t>
            </a:r>
            <a:r>
              <a:rPr lang="en-US" sz="1900" dirty="0">
                <a:latin typeface="Courier New" panose="02070309020205020404" pitchFamily="49" charset="0"/>
                <a:cs typeface="Courier New" panose="02070309020205020404" pitchFamily="49" charset="0"/>
                <a:sym typeface="Wingdings" panose="05000000000000000000" pitchFamily="2" charset="2"/>
              </a:rPr>
              <a:t>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if age[mid] = target then</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return </a:t>
            </a:r>
            <a:r>
              <a:rPr lang="en-US" sz="1900" dirty="0">
                <a:latin typeface="Courier New" panose="02070309020205020404" pitchFamily="49" charset="0"/>
                <a:cs typeface="Courier New" panose="02070309020205020404" pitchFamily="49" charset="0"/>
                <a:sym typeface="Wingdings" panose="05000000000000000000" pitchFamily="2" charset="2"/>
              </a:rPr>
              <a:t>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else if age[mid] &gt; target then</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a:t>
            </a:r>
            <a:r>
              <a:rPr lang="en-US" sz="1900" dirty="0">
                <a:latin typeface="Courier New" panose="02070309020205020404" pitchFamily="49" charset="0"/>
                <a:cs typeface="Courier New" panose="02070309020205020404" pitchFamily="49" charset="0"/>
                <a:sym typeface="Wingdings" panose="05000000000000000000" pitchFamily="2" charset="2"/>
              </a:rPr>
              <a:t> 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else</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a:t>
            </a:r>
            <a:r>
              <a:rPr lang="en-US" sz="1900" dirty="0">
                <a:latin typeface="Courier New" panose="02070309020205020404" pitchFamily="49" charset="0"/>
                <a:cs typeface="Courier New" panose="02070309020205020404" pitchFamily="49" charset="0"/>
                <a:sym typeface="Wingdings" panose="05000000000000000000" pitchFamily="2" charset="2"/>
              </a:rPr>
              <a:t> _____________</a:t>
            </a:r>
            <a:br>
              <a:rPr lang="en-US" sz="1900" dirty="0">
                <a:latin typeface="Courier New" panose="02070309020205020404" pitchFamily="49" charset="0"/>
                <a:cs typeface="Courier New" panose="02070309020205020404" pitchFamily="49" charset="0"/>
              </a:rPr>
            </a:br>
            <a:r>
              <a:rPr lang="en-US" sz="1900" dirty="0">
                <a:latin typeface="Courier New" panose="02070309020205020404" pitchFamily="49" charset="0"/>
                <a:cs typeface="Courier New" panose="02070309020205020404" pitchFamily="49" charset="0"/>
              </a:rPr>
              <a:t>	return </a:t>
            </a:r>
            <a:r>
              <a:rPr lang="en-US" sz="1900" dirty="0">
                <a:latin typeface="Courier New" panose="02070309020205020404" pitchFamily="49" charset="0"/>
                <a:cs typeface="Courier New" panose="02070309020205020404" pitchFamily="49" charset="0"/>
                <a:sym typeface="Wingdings" panose="05000000000000000000" pitchFamily="2" charset="2"/>
              </a:rPr>
              <a:t>_____________</a:t>
            </a:r>
            <a:endParaRPr lang="en-US" sz="1900"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33</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16297782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Mr</a:t>
            </a:r>
            <a:r>
              <a:rPr lang="en-US" dirty="0"/>
              <a:t> Chan writes another sub-program </a:t>
            </a:r>
            <a:r>
              <a:rPr lang="en-US" dirty="0">
                <a:latin typeface="Courier New" panose="02070309020205020404" pitchFamily="49" charset="0"/>
                <a:cs typeface="Courier New" panose="02070309020205020404" pitchFamily="49" charset="0"/>
              </a:rPr>
              <a:t>count(target)</a:t>
            </a:r>
            <a:r>
              <a:rPr lang="en-US" dirty="0"/>
              <a:t>, which returns the number of customers whose age is equal to </a:t>
            </a:r>
            <a:r>
              <a:rPr lang="en-US" dirty="0">
                <a:latin typeface="Courier New" panose="02070309020205020404" pitchFamily="49" charset="0"/>
                <a:cs typeface="Courier New" panose="02070309020205020404" pitchFamily="49" charset="0"/>
              </a:rPr>
              <a:t>target</a:t>
            </a:r>
            <a:r>
              <a:rPr lang="en-US" dirty="0"/>
              <a:t>.</a:t>
            </a:r>
          </a:p>
          <a:p>
            <a:endParaRPr lang="en-US" dirty="0"/>
          </a:p>
          <a:p>
            <a:r>
              <a:rPr lang="en-US" dirty="0"/>
              <a:t>(</a:t>
            </a:r>
            <a:r>
              <a:rPr lang="en-US" dirty="0" err="1"/>
              <a:t>i</a:t>
            </a:r>
            <a:r>
              <a:rPr lang="en-US" dirty="0"/>
              <a:t>) What is the return value for calling </a:t>
            </a:r>
            <a:r>
              <a:rPr lang="en-US" dirty="0">
                <a:latin typeface="Courier New" panose="02070309020205020404" pitchFamily="49" charset="0"/>
                <a:cs typeface="Courier New" panose="02070309020205020404" pitchFamily="49" charset="0"/>
              </a:rPr>
              <a:t>count(38)</a:t>
            </a:r>
            <a:r>
              <a:rPr lang="en-US" dirty="0"/>
              <a:t>? </a:t>
            </a:r>
          </a:p>
          <a:p>
            <a:r>
              <a:rPr lang="en-US" dirty="0"/>
              <a:t>(ii) What is the return value for calling </a:t>
            </a:r>
            <a:r>
              <a:rPr lang="en-US" dirty="0">
                <a:latin typeface="Courier New" panose="02070309020205020404" pitchFamily="49" charset="0"/>
                <a:cs typeface="Courier New" panose="02070309020205020404" pitchFamily="49" charset="0"/>
              </a:rPr>
              <a:t>count(29)</a:t>
            </a:r>
            <a:r>
              <a:rPr lang="en-US" dirty="0"/>
              <a:t>? </a:t>
            </a:r>
          </a:p>
          <a:p>
            <a:r>
              <a:rPr lang="en-US" dirty="0"/>
              <a:t>(iii) What is the return value for calling </a:t>
            </a:r>
            <a:r>
              <a:rPr lang="en-US" dirty="0">
                <a:latin typeface="Courier New" panose="02070309020205020404" pitchFamily="49" charset="0"/>
                <a:cs typeface="Courier New" panose="02070309020205020404" pitchFamily="49" charset="0"/>
              </a:rPr>
              <a:t>count(18)</a:t>
            </a:r>
            <a:r>
              <a:rPr lang="en-US" dirty="0"/>
              <a:t>? </a:t>
            </a:r>
          </a:p>
          <a:p>
            <a:r>
              <a:rPr lang="en-US" dirty="0"/>
              <a:t>(iv) What is the return value for calling </a:t>
            </a:r>
            <a:r>
              <a:rPr lang="en-US" dirty="0">
                <a:latin typeface="Courier New" panose="02070309020205020404" pitchFamily="49" charset="0"/>
                <a:cs typeface="Courier New" panose="02070309020205020404" pitchFamily="49" charset="0"/>
              </a:rPr>
              <a:t>count(25)</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34</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863704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The following is the pseudocode for </a:t>
            </a:r>
            <a:r>
              <a:rPr lang="en-US" dirty="0">
                <a:latin typeface="Courier New" panose="02070309020205020404" pitchFamily="49" charset="0"/>
                <a:cs typeface="Courier New" panose="02070309020205020404" pitchFamily="49" charset="0"/>
              </a:rPr>
              <a:t>count(target)</a:t>
            </a:r>
            <a:r>
              <a:rPr lang="en-US" dirty="0"/>
              <a:t>:</a:t>
            </a:r>
          </a:p>
          <a:p>
            <a:r>
              <a:rPr lang="en-US" sz="1800" dirty="0">
                <a:latin typeface="Courier New" panose="02070309020205020404" pitchFamily="49" charset="0"/>
                <a:cs typeface="Courier New" panose="02070309020205020404" pitchFamily="49" charset="0"/>
              </a:rPr>
              <a:t>	Sub-program count(target)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index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SearchByBinary</a:t>
            </a:r>
            <a:r>
              <a:rPr lang="en-US" sz="1800" dirty="0">
                <a:latin typeface="Courier New" panose="02070309020205020404" pitchFamily="49" charset="0"/>
                <a:cs typeface="Courier New" panose="02070309020205020404" pitchFamily="49" charset="0"/>
              </a:rPr>
              <a:t>(target)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if index = -1 then</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return 0</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else</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left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leftMost</a:t>
            </a:r>
            <a:r>
              <a:rPr lang="en-US" sz="1800" dirty="0">
                <a:latin typeface="Courier New" panose="02070309020205020404" pitchFamily="49" charset="0"/>
                <a:cs typeface="Courier New" panose="02070309020205020404" pitchFamily="49" charset="0"/>
              </a:rPr>
              <a:t>(index)</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right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rightMost</a:t>
            </a:r>
            <a:r>
              <a:rPr lang="en-US" sz="1800" dirty="0">
                <a:latin typeface="Courier New" panose="02070309020205020404" pitchFamily="49" charset="0"/>
                <a:cs typeface="Courier New" panose="02070309020205020404" pitchFamily="49" charset="0"/>
              </a:rPr>
              <a:t>(index)</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return (right - left + 1)</a:t>
            </a:r>
          </a:p>
          <a:p>
            <a:br>
              <a:rPr lang="en-US" dirty="0"/>
            </a:br>
            <a:r>
              <a:rPr lang="en-US" dirty="0"/>
              <a:t>The sub-program </a:t>
            </a:r>
            <a:r>
              <a:rPr lang="en-US" dirty="0" err="1">
                <a:latin typeface="Courier New" panose="02070309020205020404" pitchFamily="49" charset="0"/>
                <a:cs typeface="Courier New" panose="02070309020205020404" pitchFamily="49" charset="0"/>
              </a:rPr>
              <a:t>leftMost</a:t>
            </a:r>
            <a:r>
              <a:rPr lang="en-US" dirty="0">
                <a:latin typeface="Courier New" panose="02070309020205020404" pitchFamily="49" charset="0"/>
                <a:cs typeface="Courier New" panose="02070309020205020404" pitchFamily="49" charset="0"/>
              </a:rPr>
              <a:t>(index)</a:t>
            </a:r>
            <a:r>
              <a:rPr lang="en-US" dirty="0"/>
              <a:t> returns the index of the first item that stores the value of </a:t>
            </a:r>
            <a:r>
              <a:rPr lang="en-US" dirty="0">
                <a:latin typeface="Courier New" panose="02070309020205020404" pitchFamily="49" charset="0"/>
                <a:cs typeface="Courier New" panose="02070309020205020404" pitchFamily="49" charset="0"/>
              </a:rPr>
              <a:t>age[index]</a:t>
            </a:r>
            <a:r>
              <a:rPr lang="en-US" dirty="0"/>
              <a:t>; the sub-program </a:t>
            </a:r>
            <a:r>
              <a:rPr lang="en-US" dirty="0" err="1">
                <a:latin typeface="Courier New" panose="02070309020205020404" pitchFamily="49" charset="0"/>
                <a:cs typeface="Courier New" panose="02070309020205020404" pitchFamily="49" charset="0"/>
              </a:rPr>
              <a:t>rightMost</a:t>
            </a:r>
            <a:r>
              <a:rPr lang="en-US" dirty="0">
                <a:latin typeface="Courier New" panose="02070309020205020404" pitchFamily="49" charset="0"/>
                <a:cs typeface="Courier New" panose="02070309020205020404" pitchFamily="49" charset="0"/>
              </a:rPr>
              <a:t>(index)</a:t>
            </a:r>
            <a:r>
              <a:rPr lang="en-US" dirty="0"/>
              <a:t> returns the index of the last item that stores the value of </a:t>
            </a:r>
            <a:r>
              <a:rPr lang="en-US" dirty="0">
                <a:latin typeface="Courier New" panose="02070309020205020404" pitchFamily="49" charset="0"/>
                <a:cs typeface="Courier New" panose="02070309020205020404" pitchFamily="49" charset="0"/>
              </a:rPr>
              <a:t>age[index]</a:t>
            </a:r>
            <a:r>
              <a:rPr lang="en-US" dirty="0"/>
              <a:t>.</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35</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25175994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t>
            </a:r>
            <a:r>
              <a:rPr lang="en-US" dirty="0" err="1"/>
              <a:t>i</a:t>
            </a:r>
            <a:r>
              <a:rPr lang="en-US" dirty="0"/>
              <a:t>) What is the return value for calling </a:t>
            </a:r>
            <a:r>
              <a:rPr lang="en-US" dirty="0" err="1">
                <a:latin typeface="Courier New" panose="02070309020205020404" pitchFamily="49" charset="0"/>
                <a:cs typeface="Courier New" panose="02070309020205020404" pitchFamily="49" charset="0"/>
              </a:rPr>
              <a:t>leftMost</a:t>
            </a:r>
            <a:r>
              <a:rPr lang="en-US" dirty="0">
                <a:latin typeface="Courier New" panose="02070309020205020404" pitchFamily="49" charset="0"/>
                <a:cs typeface="Courier New" panose="02070309020205020404" pitchFamily="49" charset="0"/>
              </a:rPr>
              <a:t>(5)</a:t>
            </a:r>
            <a:r>
              <a:rPr lang="en-US" dirty="0"/>
              <a:t>? </a:t>
            </a:r>
          </a:p>
          <a:p>
            <a:endParaRPr lang="en-US" dirty="0"/>
          </a:p>
          <a:p>
            <a:r>
              <a:rPr lang="en-US" dirty="0"/>
              <a:t>(ii) What is the return value for calling </a:t>
            </a:r>
            <a:r>
              <a:rPr lang="en-US" dirty="0" err="1">
                <a:latin typeface="Courier New" panose="02070309020205020404" pitchFamily="49" charset="0"/>
                <a:cs typeface="Courier New" panose="02070309020205020404" pitchFamily="49" charset="0"/>
              </a:rPr>
              <a:t>rightMost</a:t>
            </a:r>
            <a:r>
              <a:rPr lang="en-US" dirty="0">
                <a:latin typeface="Courier New" panose="02070309020205020404" pitchFamily="49" charset="0"/>
                <a:cs typeface="Courier New" panose="02070309020205020404" pitchFamily="49" charset="0"/>
              </a:rPr>
              <a:t>(5)</a:t>
            </a:r>
            <a:r>
              <a:rPr lang="en-US" dirty="0"/>
              <a:t>? </a:t>
            </a:r>
          </a:p>
        </p:txBody>
      </p:sp>
      <p:sp>
        <p:nvSpPr>
          <p:cNvPr id="3" name="Slide Number Placeholder 2"/>
          <p:cNvSpPr>
            <a:spLocks noGrp="1"/>
          </p:cNvSpPr>
          <p:nvPr>
            <p:ph type="sldNum" sz="quarter" idx="12"/>
          </p:nvPr>
        </p:nvSpPr>
        <p:spPr/>
        <p:txBody>
          <a:bodyPr/>
          <a:lstStyle/>
          <a:p>
            <a:fld id="{6D22F896-40B5-4ADD-8801-0D06FADFA095}" type="slidenum">
              <a:rPr lang="en-US" smtClean="0"/>
              <a:t>36</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3845763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(d) The following is the pseudocode for the sub-program </a:t>
            </a:r>
            <a:r>
              <a:rPr lang="en-US" dirty="0" err="1"/>
              <a:t>rightMost</a:t>
            </a:r>
            <a:r>
              <a:rPr lang="en-US" dirty="0"/>
              <a:t>(index).</a:t>
            </a:r>
          </a:p>
          <a:p>
            <a:r>
              <a:rPr lang="en-US" dirty="0">
                <a:latin typeface="Courier New" panose="02070309020205020404" pitchFamily="49" charset="0"/>
                <a:cs typeface="Courier New" panose="02070309020205020404" pitchFamily="49" charset="0"/>
              </a:rPr>
              <a:t>	Sub-program </a:t>
            </a:r>
            <a:r>
              <a:rPr lang="en-US" dirty="0" err="1">
                <a:latin typeface="Courier New" panose="02070309020205020404" pitchFamily="49" charset="0"/>
                <a:cs typeface="Courier New" panose="02070309020205020404" pitchFamily="49" charset="0"/>
              </a:rPr>
              <a:t>rightMost</a:t>
            </a:r>
            <a:r>
              <a:rPr lang="en-US" dirty="0">
                <a:latin typeface="Courier New" panose="02070309020205020404" pitchFamily="49" charset="0"/>
                <a:cs typeface="Courier New" panose="02070309020205020404" pitchFamily="49" charset="0"/>
              </a:rPr>
              <a:t>(index)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right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index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while right &lt; N AND age[right+1] = age[index] do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right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right + 1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right</a:t>
            </a:r>
          </a:p>
          <a:p>
            <a:r>
              <a:rPr lang="en-US" dirty="0"/>
              <a:t>Write the pseudocode for </a:t>
            </a:r>
            <a:r>
              <a:rPr lang="en-US" dirty="0" err="1">
                <a:latin typeface="Courier New" panose="02070309020205020404" pitchFamily="49" charset="0"/>
                <a:cs typeface="Courier New" panose="02070309020205020404" pitchFamily="49" charset="0"/>
              </a:rPr>
              <a:t>leftMost</a:t>
            </a:r>
            <a:r>
              <a:rPr lang="en-US" dirty="0">
                <a:latin typeface="Courier New" panose="02070309020205020404" pitchFamily="49" charset="0"/>
                <a:cs typeface="Courier New" panose="02070309020205020404" pitchFamily="49" charset="0"/>
              </a:rPr>
              <a:t>(index)</a:t>
            </a:r>
            <a:r>
              <a:rPr lang="en-US" dirty="0"/>
              <a:t> by referring to the above algorithm.</a:t>
            </a:r>
            <a:br>
              <a:rPr lang="en-US" dirty="0"/>
            </a:br>
            <a:br>
              <a:rPr lang="en-US" dirty="0"/>
            </a:br>
            <a:r>
              <a:rPr lang="en-US" dirty="0">
                <a:latin typeface="Courier New" panose="02070309020205020404" pitchFamily="49" charset="0"/>
                <a:cs typeface="Courier New" panose="02070309020205020404" pitchFamily="49" charset="0"/>
              </a:rPr>
              <a:t>	Sub-program </a:t>
            </a:r>
            <a:r>
              <a:rPr lang="en-US" dirty="0" err="1">
                <a:latin typeface="Courier New" panose="02070309020205020404" pitchFamily="49" charset="0"/>
                <a:cs typeface="Courier New" panose="02070309020205020404" pitchFamily="49" charset="0"/>
              </a:rPr>
              <a:t>leftMost</a:t>
            </a:r>
            <a:r>
              <a:rPr lang="en-US" dirty="0">
                <a:latin typeface="Courier New" panose="02070309020205020404" pitchFamily="49" charset="0"/>
                <a:cs typeface="Courier New" panose="02070309020205020404" pitchFamily="49" charset="0"/>
              </a:rPr>
              <a:t>(index)</a:t>
            </a:r>
          </a:p>
        </p:txBody>
      </p:sp>
      <p:sp>
        <p:nvSpPr>
          <p:cNvPr id="3" name="Slide Number Placeholder 2"/>
          <p:cNvSpPr>
            <a:spLocks noGrp="1"/>
          </p:cNvSpPr>
          <p:nvPr>
            <p:ph type="sldNum" sz="quarter" idx="12"/>
          </p:nvPr>
        </p:nvSpPr>
        <p:spPr/>
        <p:txBody>
          <a:bodyPr/>
          <a:lstStyle/>
          <a:p>
            <a:fld id="{6D22F896-40B5-4ADD-8801-0D06FADFA095}" type="slidenum">
              <a:rPr lang="en-US" smtClean="0"/>
              <a:t>37</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16407259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solidFill>
                  <a:srgbClr val="37A3D4"/>
                </a:solidFill>
              </a:rPr>
              <a:t>◣ </a:t>
            </a:r>
            <a:r>
              <a:rPr lang="en-US" b="1" dirty="0">
                <a:solidFill>
                  <a:srgbClr val="37A3D4"/>
                </a:solidFill>
              </a:rPr>
              <a:t>Solution</a:t>
            </a:r>
          </a:p>
          <a:p>
            <a:r>
              <a:rPr lang="en-US" dirty="0"/>
              <a:t>(a)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SearchByBinary</a:t>
            </a:r>
            <a:r>
              <a:rPr lang="en-US" dirty="0">
                <a:latin typeface="Courier New" panose="02070309020205020404" pitchFamily="49" charset="0"/>
                <a:cs typeface="Courier New" panose="02070309020205020404" pitchFamily="49" charset="0"/>
              </a:rPr>
              <a:t>(target)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start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1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end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N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while start &lt;= end do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mid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(start + end) // 2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age[mid] = target then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mid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 if age[mid] &gt; target then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start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mid + 1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else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end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mid - 1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-1</a:t>
            </a:r>
          </a:p>
        </p:txBody>
      </p:sp>
      <p:sp>
        <p:nvSpPr>
          <p:cNvPr id="3" name="Slide Number Placeholder 2"/>
          <p:cNvSpPr>
            <a:spLocks noGrp="1"/>
          </p:cNvSpPr>
          <p:nvPr>
            <p:ph type="sldNum" sz="quarter" idx="12"/>
          </p:nvPr>
        </p:nvSpPr>
        <p:spPr/>
        <p:txBody>
          <a:bodyPr/>
          <a:lstStyle/>
          <a:p>
            <a:fld id="{6D22F896-40B5-4ADD-8801-0D06FADFA095}" type="slidenum">
              <a:rPr lang="en-US" smtClean="0"/>
              <a:t>38</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275856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3 		(ii) 2 		(iii) 0 		(iv) 1</a:t>
            </a:r>
            <a:br>
              <a:rPr lang="en-US" dirty="0"/>
            </a:br>
            <a:endParaRPr lang="en-US" dirty="0"/>
          </a:p>
          <a:p>
            <a:r>
              <a:rPr lang="en-US" dirty="0"/>
              <a:t>(c) (</a:t>
            </a:r>
            <a:r>
              <a:rPr lang="en-US" dirty="0" err="1"/>
              <a:t>i</a:t>
            </a:r>
            <a:r>
              <a:rPr lang="en-US" dirty="0"/>
              <a:t>) 4 		(ii) 6</a:t>
            </a:r>
            <a:br>
              <a:rPr lang="en-US" dirty="0"/>
            </a:br>
            <a:br>
              <a:rPr lang="en-US" dirty="0"/>
            </a:br>
            <a:r>
              <a:rPr lang="en-US" dirty="0"/>
              <a:t>(d)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leftMost</a:t>
            </a:r>
            <a:r>
              <a:rPr lang="en-US" dirty="0">
                <a:latin typeface="Courier New" panose="02070309020205020404" pitchFamily="49" charset="0"/>
                <a:cs typeface="Courier New" panose="02070309020205020404" pitchFamily="49" charset="0"/>
              </a:rPr>
              <a:t>(index)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left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index</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while left &gt; 1 and age[left-1] = age[index] do</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left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left – 1</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return left</a:t>
            </a:r>
          </a:p>
        </p:txBody>
      </p:sp>
      <p:sp>
        <p:nvSpPr>
          <p:cNvPr id="3" name="Slide Number Placeholder 2"/>
          <p:cNvSpPr>
            <a:spLocks noGrp="1"/>
          </p:cNvSpPr>
          <p:nvPr>
            <p:ph type="sldNum" sz="quarter" idx="12"/>
          </p:nvPr>
        </p:nvSpPr>
        <p:spPr/>
        <p:txBody>
          <a:bodyPr/>
          <a:lstStyle/>
          <a:p>
            <a:fld id="{6D22F896-40B5-4ADD-8801-0D06FADFA095}" type="slidenum">
              <a:rPr lang="en-US" smtClean="0"/>
              <a:t>39</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3691842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62500" lnSpcReduction="20000"/>
          </a:bodyPr>
          <a:lstStyle/>
          <a:p>
            <a:r>
              <a:rPr lang="en-US" sz="2600" dirty="0"/>
              <a:t>Complete Checkpoint 6.2 on P. 225.</a:t>
            </a:r>
          </a:p>
          <a:p>
            <a:r>
              <a:rPr lang="en-US" dirty="0">
                <a:solidFill>
                  <a:srgbClr val="FF0000"/>
                </a:solidFill>
              </a:rPr>
              <a:t>(a) </a:t>
            </a:r>
            <a:r>
              <a:rPr lang="en-US" dirty="0"/>
              <a:t>	</a:t>
            </a:r>
            <a:r>
              <a:rPr lang="en-US" sz="2400" dirty="0">
                <a:latin typeface="Courier New" panose="02070309020205020404" pitchFamily="49" charset="0"/>
                <a:cs typeface="Courier New" panose="02070309020205020404" pitchFamily="49" charset="0"/>
              </a:rPr>
              <a:t>keywords = ["and", "as", "</a:t>
            </a:r>
            <a:r>
              <a:rPr lang="en-US" sz="2400" dirty="0" err="1">
                <a:latin typeface="Courier New" panose="02070309020205020404" pitchFamily="49" charset="0"/>
                <a:cs typeface="Courier New" panose="02070309020205020404" pitchFamily="49" charset="0"/>
              </a:rPr>
              <a:t>def</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elif</a:t>
            </a:r>
            <a:r>
              <a:rPr lang="en-US" sz="2400" dirty="0">
                <a:latin typeface="Courier New" panose="02070309020205020404" pitchFamily="49" charset="0"/>
                <a:cs typeface="Courier New" panose="02070309020205020404" pitchFamily="49" charset="0"/>
              </a:rPr>
              <a:t>", "else"]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a:t>
            </a:r>
            <a:r>
              <a:rPr lang="en-US" sz="2400" dirty="0">
                <a:solidFill>
                  <a:srgbClr val="FF0000"/>
                </a:solidFill>
                <a:latin typeface="Courier New" panose="02070309020205020404" pitchFamily="49" charset="0"/>
                <a:cs typeface="Courier New" panose="02070309020205020404" pitchFamily="49" charset="0"/>
              </a:rPr>
              <a:t>start = 0</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end = </a:t>
            </a:r>
            <a:r>
              <a:rPr lang="en-US" sz="2400" dirty="0" err="1">
                <a:solidFill>
                  <a:srgbClr val="FF0000"/>
                </a:solidFill>
                <a:latin typeface="Courier New" panose="02070309020205020404" pitchFamily="49" charset="0"/>
                <a:cs typeface="Courier New" panose="02070309020205020404" pitchFamily="49" charset="0"/>
              </a:rPr>
              <a:t>len</a:t>
            </a:r>
            <a:r>
              <a:rPr lang="en-US" sz="2400" dirty="0">
                <a:solidFill>
                  <a:srgbClr val="FF0000"/>
                </a:solidFill>
                <a:latin typeface="Courier New" panose="02070309020205020404" pitchFamily="49" charset="0"/>
                <a:cs typeface="Courier New" panose="02070309020205020404" pitchFamily="49" charset="0"/>
              </a:rPr>
              <a:t>(keywords)-1</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name = input()</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found = False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while start &lt;= end and found == False: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mid = </a:t>
            </a:r>
            <a:r>
              <a:rPr lang="en-US" sz="2400" dirty="0" err="1">
                <a:solidFill>
                  <a:srgbClr val="FF0000"/>
                </a:solidFill>
                <a:latin typeface="Courier New" panose="02070309020205020404" pitchFamily="49" charset="0"/>
                <a:cs typeface="Courier New" panose="02070309020205020404" pitchFamily="49" charset="0"/>
              </a:rPr>
              <a:t>int</a:t>
            </a:r>
            <a:r>
              <a:rPr lang="en-US" sz="2400" dirty="0">
                <a:solidFill>
                  <a:srgbClr val="FF0000"/>
                </a:solidFill>
                <a:latin typeface="Courier New" panose="02070309020205020404" pitchFamily="49" charset="0"/>
                <a:cs typeface="Courier New" panose="02070309020205020404" pitchFamily="49" charset="0"/>
              </a:rPr>
              <a:t>((start + end)/2)</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if keywords[mid] == name: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found = True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else: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if name[0] &lt; keywords[mid][0]:</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end = mid – 1</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else: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start = mid + 1</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if found == True: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print("This is a keyword.")</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else:</a:t>
            </a:r>
            <a:br>
              <a:rPr lang="en-US" sz="2400" dirty="0">
                <a:solidFill>
                  <a:srgbClr val="FF0000"/>
                </a:solidFill>
                <a:latin typeface="Courier New" panose="02070309020205020404" pitchFamily="49" charset="0"/>
                <a:cs typeface="Courier New" panose="02070309020205020404" pitchFamily="49" charset="0"/>
              </a:rPr>
            </a:br>
            <a:r>
              <a:rPr lang="en-US" sz="2400" dirty="0">
                <a:solidFill>
                  <a:srgbClr val="FF0000"/>
                </a:solidFill>
                <a:latin typeface="Courier New" panose="02070309020205020404" pitchFamily="49" charset="0"/>
                <a:cs typeface="Courier New" panose="02070309020205020404" pitchFamily="49" charset="0"/>
              </a:rPr>
              <a:t>		print("Available for use")</a:t>
            </a:r>
          </a:p>
        </p:txBody>
      </p:sp>
      <p:sp>
        <p:nvSpPr>
          <p:cNvPr id="3" name="Slide Number Placeholder 2"/>
          <p:cNvSpPr>
            <a:spLocks noGrp="1"/>
          </p:cNvSpPr>
          <p:nvPr>
            <p:ph type="sldNum" sz="quarter" idx="12"/>
          </p:nvPr>
        </p:nvSpPr>
        <p:spPr/>
        <p:txBody>
          <a:bodyPr/>
          <a:lstStyle/>
          <a:p>
            <a:fld id="{6D22F896-40B5-4ADD-8801-0D06FADFA095}" type="slidenum">
              <a:rPr lang="en-US" smtClean="0"/>
              <a:t>40</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224103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(b) N = 300, log2 N = log2 300 = 8.23 The strings will be compared 9 times.</a:t>
            </a:r>
          </a:p>
        </p:txBody>
      </p:sp>
      <p:sp>
        <p:nvSpPr>
          <p:cNvPr id="3" name="Slide Number Placeholder 2"/>
          <p:cNvSpPr>
            <a:spLocks noGrp="1"/>
          </p:cNvSpPr>
          <p:nvPr>
            <p:ph type="sldNum" sz="quarter" idx="12"/>
          </p:nvPr>
        </p:nvSpPr>
        <p:spPr/>
        <p:txBody>
          <a:bodyPr/>
          <a:lstStyle/>
          <a:p>
            <a:fld id="{6D22F896-40B5-4ADD-8801-0D06FADFA095}" type="slidenum">
              <a:rPr lang="en-US" smtClean="0"/>
              <a:t>41</a:t>
            </a:fld>
            <a:endParaRPr lang="en-US" dirty="0"/>
          </a:p>
        </p:txBody>
      </p:sp>
      <p:sp>
        <p:nvSpPr>
          <p:cNvPr id="4" name="Text Placeholder 3"/>
          <p:cNvSpPr>
            <a:spLocks noGrp="1"/>
          </p:cNvSpPr>
          <p:nvPr>
            <p:ph type="body" sz="quarter" idx="13"/>
          </p:nvPr>
        </p:nvSpPr>
        <p:spPr/>
        <p:txBody>
          <a:bodyPr/>
          <a:lstStyle/>
          <a:p>
            <a:r>
              <a:rPr lang="en-US" dirty="0"/>
              <a:t>6.2</a:t>
            </a:r>
          </a:p>
        </p:txBody>
      </p:sp>
    </p:spTree>
    <p:extLst>
      <p:ext uri="{BB962C8B-B14F-4D97-AF65-F5344CB8AC3E}">
        <p14:creationId xmlns:p14="http://schemas.microsoft.com/office/powerpoint/2010/main" val="329696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t>Comparison between linear search and 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42</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The following chart shows the average numbers of iterations required by the program for using linear search and binary search respectively in lists of different lengths.</a:t>
            </a:r>
          </a:p>
        </p:txBody>
      </p:sp>
      <p:pic>
        <p:nvPicPr>
          <p:cNvPr id="6" name="Picture 5"/>
          <p:cNvPicPr>
            <a:picLocks noChangeAspect="1"/>
          </p:cNvPicPr>
          <p:nvPr/>
        </p:nvPicPr>
        <p:blipFill>
          <a:blip r:embed="rId2"/>
          <a:stretch>
            <a:fillRect/>
          </a:stretch>
        </p:blipFill>
        <p:spPr>
          <a:xfrm>
            <a:off x="3246520" y="2512970"/>
            <a:ext cx="6404555" cy="3842734"/>
          </a:xfrm>
          <a:prstGeom prst="rect">
            <a:avLst/>
          </a:prstGeom>
        </p:spPr>
      </p:pic>
    </p:spTree>
    <p:extLst>
      <p:ext uri="{BB962C8B-B14F-4D97-AF65-F5344CB8AC3E}">
        <p14:creationId xmlns:p14="http://schemas.microsoft.com/office/powerpoint/2010/main" val="30845101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dirty="0"/>
              <a:t>Comparison between linear search and binary search</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43</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The following table lists the advantages and limitations of linear search and binary search:</a:t>
            </a:r>
          </a:p>
        </p:txBody>
      </p:sp>
      <p:pic>
        <p:nvPicPr>
          <p:cNvPr id="7" name="Picture 6"/>
          <p:cNvPicPr>
            <a:picLocks noChangeAspect="1"/>
          </p:cNvPicPr>
          <p:nvPr/>
        </p:nvPicPr>
        <p:blipFill>
          <a:blip r:embed="rId2"/>
          <a:stretch>
            <a:fillRect/>
          </a:stretch>
        </p:blipFill>
        <p:spPr>
          <a:xfrm>
            <a:off x="1877235" y="2165460"/>
            <a:ext cx="8594276" cy="4061407"/>
          </a:xfrm>
          <a:prstGeom prst="rect">
            <a:avLst/>
          </a:prstGeom>
        </p:spPr>
      </p:pic>
    </p:spTree>
    <p:extLst>
      <p:ext uri="{BB962C8B-B14F-4D97-AF65-F5344CB8AC3E}">
        <p14:creationId xmlns:p14="http://schemas.microsoft.com/office/powerpoint/2010/main" val="42206103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44</a:t>
            </a:fld>
            <a:endParaRPr lang="en-US" dirty="0"/>
          </a:p>
        </p:txBody>
      </p:sp>
      <p:sp>
        <p:nvSpPr>
          <p:cNvPr id="4" name="Text Placeholder 3"/>
          <p:cNvSpPr>
            <a:spLocks noGrp="1"/>
          </p:cNvSpPr>
          <p:nvPr>
            <p:ph type="body" sz="quarter" idx="14"/>
          </p:nvPr>
        </p:nvSpPr>
        <p:spPr/>
        <p:txBody>
          <a:bodyPr/>
          <a:lstStyle/>
          <a:p>
            <a:r>
              <a:rPr lang="en-US" dirty="0"/>
              <a:t>6.2</a:t>
            </a:r>
          </a:p>
        </p:txBody>
      </p:sp>
      <p:sp>
        <p:nvSpPr>
          <p:cNvPr id="5" name="Content Placeholder 4"/>
          <p:cNvSpPr>
            <a:spLocks noGrp="1"/>
          </p:cNvSpPr>
          <p:nvPr>
            <p:ph sz="quarter" idx="15"/>
          </p:nvPr>
        </p:nvSpPr>
        <p:spPr/>
        <p:txBody>
          <a:bodyPr/>
          <a:lstStyle/>
          <a:p>
            <a:r>
              <a:rPr lang="en-US" dirty="0"/>
              <a:t>If we need to </a:t>
            </a:r>
            <a:r>
              <a:rPr lang="en-US" b="1" dirty="0">
                <a:solidFill>
                  <a:srgbClr val="504FA0"/>
                </a:solidFill>
              </a:rPr>
              <a:t>swap</a:t>
            </a:r>
            <a:r>
              <a:rPr lang="en-US" dirty="0"/>
              <a:t> the values of two variables (</a:t>
            </a:r>
            <a:r>
              <a:rPr lang="en-US" dirty="0">
                <a:latin typeface="Courier New" panose="02070309020205020404" pitchFamily="49" charset="0"/>
                <a:cs typeface="Courier New" panose="02070309020205020404" pitchFamily="49" charset="0"/>
              </a:rPr>
              <a:t>A</a:t>
            </a:r>
            <a:r>
              <a:rPr lang="en-US" dirty="0"/>
              <a:t> and </a:t>
            </a:r>
            <a:r>
              <a:rPr lang="en-US" dirty="0">
                <a:latin typeface="Courier New" panose="02070309020205020404" pitchFamily="49" charset="0"/>
                <a:cs typeface="Courier New" panose="02070309020205020404" pitchFamily="49" charset="0"/>
              </a:rPr>
              <a:t>B</a:t>
            </a:r>
            <a:r>
              <a:rPr lang="en-US" dirty="0"/>
              <a:t>), we can use the variable “</a:t>
            </a:r>
            <a:r>
              <a:rPr lang="en-US" dirty="0">
                <a:latin typeface="Courier New" panose="02070309020205020404" pitchFamily="49" charset="0"/>
                <a:cs typeface="Courier New" panose="02070309020205020404" pitchFamily="49" charset="0"/>
              </a:rPr>
              <a:t>temp</a:t>
            </a:r>
            <a:r>
              <a:rPr lang="en-US" dirty="0"/>
              <a:t>” to temporarily store the value of one of the variables, as shown in the example below:</a:t>
            </a:r>
          </a:p>
          <a:p>
            <a:endParaRPr lang="en-US" dirty="0"/>
          </a:p>
          <a:p>
            <a:r>
              <a:rPr lang="pt-BR" dirty="0">
                <a:latin typeface="Courier New" panose="02070309020205020404" pitchFamily="49" charset="0"/>
                <a:cs typeface="Courier New" panose="02070309020205020404" pitchFamily="49" charset="0"/>
              </a:rPr>
              <a:t>	A </a:t>
            </a:r>
            <a:r>
              <a:rPr lang="pt-BR" dirty="0">
                <a:latin typeface="Courier New" panose="02070309020205020404" pitchFamily="49" charset="0"/>
                <a:cs typeface="Courier New" panose="02070309020205020404" pitchFamily="49" charset="0"/>
                <a:sym typeface="Wingdings" panose="05000000000000000000" pitchFamily="2" charset="2"/>
              </a:rPr>
              <a:t></a:t>
            </a:r>
            <a:r>
              <a:rPr lang="pt-BR" dirty="0">
                <a:latin typeface="Courier New" panose="02070309020205020404" pitchFamily="49" charset="0"/>
                <a:cs typeface="Courier New" panose="02070309020205020404" pitchFamily="49" charset="0"/>
              </a:rPr>
              <a:t> 1</a:t>
            </a:r>
            <a:br>
              <a:rPr lang="pt-BR" dirty="0">
                <a:latin typeface="Courier New" panose="02070309020205020404" pitchFamily="49" charset="0"/>
                <a:cs typeface="Courier New" panose="02070309020205020404" pitchFamily="49" charset="0"/>
              </a:rPr>
            </a:br>
            <a:r>
              <a:rPr lang="pt-BR" dirty="0">
                <a:latin typeface="Courier New" panose="02070309020205020404" pitchFamily="49" charset="0"/>
                <a:cs typeface="Courier New" panose="02070309020205020404" pitchFamily="49" charset="0"/>
              </a:rPr>
              <a:t>	B </a:t>
            </a:r>
            <a:r>
              <a:rPr lang="pt-BR" dirty="0">
                <a:latin typeface="Courier New" panose="02070309020205020404" pitchFamily="49" charset="0"/>
                <a:cs typeface="Courier New" panose="02070309020205020404" pitchFamily="49" charset="0"/>
                <a:sym typeface="Wingdings" panose="05000000000000000000" pitchFamily="2" charset="2"/>
              </a:rPr>
              <a:t></a:t>
            </a:r>
            <a:r>
              <a:rPr lang="pt-BR" dirty="0">
                <a:latin typeface="Courier New" panose="02070309020205020404" pitchFamily="49" charset="0"/>
                <a:cs typeface="Courier New" panose="02070309020205020404" pitchFamily="49" charset="0"/>
              </a:rPr>
              <a:t> 2</a:t>
            </a:r>
            <a:br>
              <a:rPr lang="pt-BR" dirty="0">
                <a:latin typeface="Courier New" panose="02070309020205020404" pitchFamily="49" charset="0"/>
                <a:cs typeface="Courier New" panose="02070309020205020404" pitchFamily="49" charset="0"/>
              </a:rPr>
            </a:br>
            <a:r>
              <a:rPr lang="pt-BR" dirty="0">
                <a:latin typeface="Courier New" panose="02070309020205020404" pitchFamily="49" charset="0"/>
                <a:cs typeface="Courier New" panose="02070309020205020404" pitchFamily="49" charset="0"/>
              </a:rPr>
              <a:t>	temp </a:t>
            </a:r>
            <a:r>
              <a:rPr lang="pt-BR" dirty="0">
                <a:latin typeface="Courier New" panose="02070309020205020404" pitchFamily="49" charset="0"/>
                <a:cs typeface="Courier New" panose="02070309020205020404" pitchFamily="49" charset="0"/>
                <a:sym typeface="Wingdings" panose="05000000000000000000" pitchFamily="2" charset="2"/>
              </a:rPr>
              <a:t></a:t>
            </a:r>
            <a:r>
              <a:rPr lang="pt-BR" dirty="0">
                <a:latin typeface="Courier New" panose="02070309020205020404" pitchFamily="49" charset="0"/>
                <a:cs typeface="Courier New" panose="02070309020205020404" pitchFamily="49" charset="0"/>
              </a:rPr>
              <a:t> A</a:t>
            </a:r>
            <a:br>
              <a:rPr lang="pt-BR" dirty="0">
                <a:latin typeface="Courier New" panose="02070309020205020404" pitchFamily="49" charset="0"/>
                <a:cs typeface="Courier New" panose="02070309020205020404" pitchFamily="49" charset="0"/>
              </a:rPr>
            </a:br>
            <a:r>
              <a:rPr lang="pt-BR" dirty="0">
                <a:latin typeface="Courier New" panose="02070309020205020404" pitchFamily="49" charset="0"/>
                <a:cs typeface="Courier New" panose="02070309020205020404" pitchFamily="49" charset="0"/>
              </a:rPr>
              <a:t>	A </a:t>
            </a:r>
            <a:r>
              <a:rPr lang="pt-BR" dirty="0">
                <a:latin typeface="Courier New" panose="02070309020205020404" pitchFamily="49" charset="0"/>
                <a:cs typeface="Courier New" panose="02070309020205020404" pitchFamily="49" charset="0"/>
                <a:sym typeface="Wingdings" panose="05000000000000000000" pitchFamily="2" charset="2"/>
              </a:rPr>
              <a:t></a:t>
            </a:r>
            <a:r>
              <a:rPr lang="pt-BR" dirty="0">
                <a:latin typeface="Courier New" panose="02070309020205020404" pitchFamily="49" charset="0"/>
                <a:cs typeface="Courier New" panose="02070309020205020404" pitchFamily="49" charset="0"/>
              </a:rPr>
              <a:t> B</a:t>
            </a:r>
            <a:br>
              <a:rPr lang="pt-BR" dirty="0">
                <a:latin typeface="Courier New" panose="02070309020205020404" pitchFamily="49" charset="0"/>
                <a:cs typeface="Courier New" panose="02070309020205020404" pitchFamily="49" charset="0"/>
              </a:rPr>
            </a:br>
            <a:r>
              <a:rPr lang="pt-BR" dirty="0">
                <a:latin typeface="Courier New" panose="02070309020205020404" pitchFamily="49" charset="0"/>
                <a:cs typeface="Courier New" panose="02070309020205020404" pitchFamily="49" charset="0"/>
              </a:rPr>
              <a:t>	B </a:t>
            </a:r>
            <a:r>
              <a:rPr lang="pt-BR" dirty="0">
                <a:latin typeface="Courier New" panose="02070309020205020404" pitchFamily="49" charset="0"/>
                <a:cs typeface="Courier New" panose="02070309020205020404" pitchFamily="49" charset="0"/>
                <a:sym typeface="Wingdings" panose="05000000000000000000" pitchFamily="2" charset="2"/>
              </a:rPr>
              <a:t></a:t>
            </a:r>
            <a:r>
              <a:rPr lang="pt-BR" dirty="0">
                <a:latin typeface="Courier New" panose="02070309020205020404" pitchFamily="49" charset="0"/>
                <a:cs typeface="Courier New" panose="02070309020205020404" pitchFamily="49" charset="0"/>
              </a:rPr>
              <a:t> temp</a:t>
            </a:r>
            <a:endParaRPr lang="en-US" dirty="0">
              <a:latin typeface="Courier New" panose="02070309020205020404" pitchFamily="49" charset="0"/>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4908741" y="2559544"/>
            <a:ext cx="4893824" cy="3521838"/>
          </a:xfrm>
          <a:prstGeom prst="rect">
            <a:avLst/>
          </a:prstGeom>
        </p:spPr>
      </p:pic>
    </p:spTree>
    <p:extLst>
      <p:ext uri="{BB962C8B-B14F-4D97-AF65-F5344CB8AC3E}">
        <p14:creationId xmlns:p14="http://schemas.microsoft.com/office/powerpoint/2010/main" val="2259254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Checkpoint 6.3 on P. 231 of the textbook.</a:t>
            </a:r>
          </a:p>
          <a:p>
            <a:endParaRPr lang="en-US" dirty="0"/>
          </a:p>
          <a:p>
            <a:r>
              <a:rPr lang="en-US" dirty="0">
                <a:solidFill>
                  <a:srgbClr val="FF0000"/>
                </a:solidFill>
              </a:rPr>
              <a:t>1 (a) </a:t>
            </a:r>
          </a:p>
          <a:p>
            <a:endParaRPr lang="en-US" dirty="0"/>
          </a:p>
          <a:p>
            <a:endParaRPr lang="en-US" dirty="0"/>
          </a:p>
          <a:p>
            <a:r>
              <a:rPr lang="en-US" dirty="0"/>
              <a:t>   </a:t>
            </a:r>
            <a:r>
              <a:rPr lang="en-US" dirty="0">
                <a:solidFill>
                  <a:srgbClr val="FF0000"/>
                </a:solidFill>
              </a:rPr>
              <a:t>(b)</a:t>
            </a:r>
            <a:r>
              <a:rPr lang="pt-BR" dirty="0">
                <a:solidFill>
                  <a:srgbClr val="FF0000"/>
                </a:solidFill>
              </a:rPr>
              <a:t> </a:t>
            </a:r>
            <a:r>
              <a:rPr lang="pt-BR" dirty="0">
                <a:latin typeface="Courier New" panose="02070309020205020404" pitchFamily="49" charset="0"/>
                <a:cs typeface="Courier New" panose="02070309020205020404" pitchFamily="49" charset="0"/>
              </a:rPr>
              <a:t>Sub-program swap(num)</a:t>
            </a:r>
            <a:br>
              <a:rPr lang="pt-BR" dirty="0"/>
            </a:br>
            <a:r>
              <a:rPr lang="pt-BR" dirty="0">
                <a:solidFill>
                  <a:srgbClr val="FF0000"/>
                </a:solidFill>
                <a:latin typeface="Courier New" panose="02070309020205020404" pitchFamily="49" charset="0"/>
                <a:cs typeface="Courier New" panose="02070309020205020404" pitchFamily="49" charset="0"/>
              </a:rPr>
              <a:t>	 temp </a:t>
            </a:r>
            <a:r>
              <a:rPr lang="pt-BR"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pt-BR" dirty="0">
                <a:solidFill>
                  <a:srgbClr val="FF0000"/>
                </a:solidFill>
                <a:latin typeface="Courier New" panose="02070309020205020404" pitchFamily="49" charset="0"/>
                <a:cs typeface="Courier New" panose="02070309020205020404" pitchFamily="49" charset="0"/>
              </a:rPr>
              <a:t> num[0]</a:t>
            </a:r>
            <a:br>
              <a:rPr lang="pt-BR" dirty="0">
                <a:solidFill>
                  <a:srgbClr val="FF0000"/>
                </a:solidFill>
                <a:latin typeface="Courier New" panose="02070309020205020404" pitchFamily="49" charset="0"/>
                <a:cs typeface="Courier New" panose="02070309020205020404" pitchFamily="49" charset="0"/>
              </a:rPr>
            </a:br>
            <a:r>
              <a:rPr lang="pt-BR" dirty="0">
                <a:solidFill>
                  <a:srgbClr val="FF0000"/>
                </a:solidFill>
                <a:latin typeface="Courier New" panose="02070309020205020404" pitchFamily="49" charset="0"/>
                <a:cs typeface="Courier New" panose="02070309020205020404" pitchFamily="49" charset="0"/>
              </a:rPr>
              <a:t>	 num[0] </a:t>
            </a:r>
            <a:r>
              <a:rPr lang="pt-BR"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pt-BR" dirty="0">
                <a:solidFill>
                  <a:srgbClr val="FF0000"/>
                </a:solidFill>
                <a:latin typeface="Courier New" panose="02070309020205020404" pitchFamily="49" charset="0"/>
                <a:cs typeface="Courier New" panose="02070309020205020404" pitchFamily="49" charset="0"/>
              </a:rPr>
              <a:t> num[1]</a:t>
            </a:r>
            <a:br>
              <a:rPr lang="pt-BR" dirty="0">
                <a:solidFill>
                  <a:srgbClr val="FF0000"/>
                </a:solidFill>
                <a:latin typeface="Courier New" panose="02070309020205020404" pitchFamily="49" charset="0"/>
                <a:cs typeface="Courier New" panose="02070309020205020404" pitchFamily="49" charset="0"/>
              </a:rPr>
            </a:br>
            <a:r>
              <a:rPr lang="pt-BR" dirty="0">
                <a:solidFill>
                  <a:srgbClr val="FF0000"/>
                </a:solidFill>
                <a:latin typeface="Courier New" panose="02070309020205020404" pitchFamily="49" charset="0"/>
                <a:cs typeface="Courier New" panose="02070309020205020404" pitchFamily="49" charset="0"/>
              </a:rPr>
              <a:t>	 num[1] </a:t>
            </a:r>
            <a:r>
              <a:rPr lang="pt-BR"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pt-BR" dirty="0">
                <a:solidFill>
                  <a:srgbClr val="FF0000"/>
                </a:solidFill>
                <a:latin typeface="Courier New" panose="02070309020205020404" pitchFamily="49" charset="0"/>
                <a:cs typeface="Courier New" panose="02070309020205020404" pitchFamily="49" charset="0"/>
              </a:rPr>
              <a:t> temp</a:t>
            </a:r>
            <a:endParaRPr lang="en-US" dirty="0">
              <a:solidFill>
                <a:srgbClr val="FF0000"/>
              </a:solidFill>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45</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1784834" y="2517629"/>
            <a:ext cx="2936796" cy="794379"/>
          </a:xfrm>
          <a:prstGeom prst="rect">
            <a:avLst/>
          </a:prstGeom>
        </p:spPr>
      </p:pic>
    </p:spTree>
    <p:extLst>
      <p:ext uri="{BB962C8B-B14F-4D97-AF65-F5344CB8AC3E}">
        <p14:creationId xmlns:p14="http://schemas.microsoft.com/office/powerpoint/2010/main" val="27940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fade">
                                      <p:cBhvr>
                                        <p:cTn id="1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2. (a)</a:t>
            </a:r>
          </a:p>
          <a:p>
            <a:endParaRPr lang="en-US" dirty="0"/>
          </a:p>
          <a:p>
            <a:endParaRPr lang="en-US" dirty="0"/>
          </a:p>
          <a:p>
            <a:r>
              <a:rPr lang="en-US" dirty="0"/>
              <a:t>     </a:t>
            </a:r>
            <a:r>
              <a:rPr lang="en-US" dirty="0">
                <a:solidFill>
                  <a:srgbClr val="FF0000"/>
                </a:solidFill>
              </a:rPr>
              <a:t>(b) Swapping the values of array items </a:t>
            </a:r>
            <a:r>
              <a:rPr lang="en-US" dirty="0">
                <a:solidFill>
                  <a:srgbClr val="FF0000"/>
                </a:solidFill>
                <a:latin typeface="Courier New" panose="02070309020205020404" pitchFamily="49" charset="0"/>
                <a:cs typeface="Courier New" panose="02070309020205020404" pitchFamily="49" charset="0"/>
              </a:rPr>
              <a:t>A[m]</a:t>
            </a:r>
            <a:r>
              <a:rPr lang="en-US" dirty="0">
                <a:solidFill>
                  <a:srgbClr val="FF0000"/>
                </a:solidFill>
              </a:rPr>
              <a:t> and </a:t>
            </a:r>
            <a:r>
              <a:rPr lang="en-US" dirty="0">
                <a:solidFill>
                  <a:srgbClr val="FF0000"/>
                </a:solidFill>
                <a:latin typeface="Courier New" panose="02070309020205020404" pitchFamily="49" charset="0"/>
                <a:cs typeface="Courier New" panose="02070309020205020404" pitchFamily="49" charset="0"/>
              </a:rPr>
              <a:t>A[n]</a:t>
            </a:r>
            <a:r>
              <a:rPr lang="en-US" dirty="0">
                <a:solidFill>
                  <a:srgbClr val="FF0000"/>
                </a:solidFill>
              </a:rPr>
              <a:t>.</a:t>
            </a:r>
          </a:p>
        </p:txBody>
      </p:sp>
      <p:sp>
        <p:nvSpPr>
          <p:cNvPr id="3" name="Slide Number Placeholder 2"/>
          <p:cNvSpPr>
            <a:spLocks noGrp="1"/>
          </p:cNvSpPr>
          <p:nvPr>
            <p:ph type="sldNum" sz="quarter" idx="12"/>
          </p:nvPr>
        </p:nvSpPr>
        <p:spPr/>
        <p:txBody>
          <a:bodyPr/>
          <a:lstStyle/>
          <a:p>
            <a:fld id="{6D22F896-40B5-4ADD-8801-0D06FADFA095}" type="slidenum">
              <a:rPr lang="en-US" smtClean="0"/>
              <a:t>46</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1834540" y="1576153"/>
            <a:ext cx="8748171" cy="854446"/>
          </a:xfrm>
          <a:prstGeom prst="rect">
            <a:avLst/>
          </a:prstGeom>
        </p:spPr>
      </p:pic>
    </p:spTree>
    <p:extLst>
      <p:ext uri="{BB962C8B-B14F-4D97-AF65-F5344CB8AC3E}">
        <p14:creationId xmlns:p14="http://schemas.microsoft.com/office/powerpoint/2010/main" val="252868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Activity 6.3 on P. 232 of the textbook.</a:t>
            </a:r>
          </a:p>
        </p:txBody>
      </p:sp>
      <p:sp>
        <p:nvSpPr>
          <p:cNvPr id="3" name="Slide Number Placeholder 2"/>
          <p:cNvSpPr>
            <a:spLocks noGrp="1"/>
          </p:cNvSpPr>
          <p:nvPr>
            <p:ph type="sldNum" sz="quarter" idx="12"/>
          </p:nvPr>
        </p:nvSpPr>
        <p:spPr/>
        <p:txBody>
          <a:bodyPr/>
          <a:lstStyle/>
          <a:p>
            <a:fld id="{6D22F896-40B5-4ADD-8801-0D06FADFA095}" type="slidenum">
              <a:rPr lang="en-US" smtClean="0"/>
              <a:t>47</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1179048" y="2129411"/>
            <a:ext cx="9833904" cy="3488378"/>
          </a:xfrm>
          <a:prstGeom prst="rect">
            <a:avLst/>
          </a:prstGeom>
        </p:spPr>
      </p:pic>
    </p:spTree>
    <p:extLst>
      <p:ext uri="{BB962C8B-B14F-4D97-AF65-F5344CB8AC3E}">
        <p14:creationId xmlns:p14="http://schemas.microsoft.com/office/powerpoint/2010/main" val="106913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Algorithms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48</a:t>
            </a:fld>
            <a:endParaRPr lang="en-US" dirty="0"/>
          </a:p>
        </p:txBody>
      </p:sp>
      <p:sp>
        <p:nvSpPr>
          <p:cNvPr id="4" name="Text Placeholder 3"/>
          <p:cNvSpPr>
            <a:spLocks noGrp="1"/>
          </p:cNvSpPr>
          <p:nvPr>
            <p:ph type="body" sz="quarter" idx="14"/>
          </p:nvPr>
        </p:nvSpPr>
        <p:spPr/>
        <p:txBody>
          <a:bodyPr/>
          <a:lstStyle/>
          <a:p>
            <a:r>
              <a:rPr lang="en-US" dirty="0"/>
              <a:t>6.3</a:t>
            </a:r>
          </a:p>
        </p:txBody>
      </p:sp>
      <p:sp>
        <p:nvSpPr>
          <p:cNvPr id="5" name="Content Placeholder 4"/>
          <p:cNvSpPr>
            <a:spLocks noGrp="1"/>
          </p:cNvSpPr>
          <p:nvPr>
            <p:ph sz="quarter" idx="15"/>
          </p:nvPr>
        </p:nvSpPr>
        <p:spPr/>
        <p:txBody>
          <a:bodyPr/>
          <a:lstStyle/>
          <a:p>
            <a:r>
              <a:rPr lang="en-US" dirty="0"/>
              <a:t>As its name suggests, </a:t>
            </a:r>
            <a:r>
              <a:rPr lang="en-US" b="1" dirty="0">
                <a:solidFill>
                  <a:srgbClr val="504FA0"/>
                </a:solidFill>
              </a:rPr>
              <a:t>sorting</a:t>
            </a:r>
            <a:r>
              <a:rPr lang="en-US" dirty="0"/>
              <a:t> means arranging a series of data in ascending or descending order. We often need to sort data for different purposes. </a:t>
            </a:r>
          </a:p>
          <a:p>
            <a:endParaRPr lang="en-US" dirty="0"/>
          </a:p>
          <a:p>
            <a:r>
              <a:rPr lang="en-US" dirty="0"/>
              <a:t>For example, in a spreadsheet that stores the marks of 100 students, the marks are sorted from highest to lowest. </a:t>
            </a:r>
          </a:p>
        </p:txBody>
      </p:sp>
      <p:pic>
        <p:nvPicPr>
          <p:cNvPr id="6" name="Picture 5"/>
          <p:cNvPicPr>
            <a:picLocks noChangeAspect="1"/>
          </p:cNvPicPr>
          <p:nvPr/>
        </p:nvPicPr>
        <p:blipFill>
          <a:blip r:embed="rId2"/>
          <a:stretch>
            <a:fillRect/>
          </a:stretch>
        </p:blipFill>
        <p:spPr>
          <a:xfrm>
            <a:off x="4100563" y="3780207"/>
            <a:ext cx="3773316" cy="2508993"/>
          </a:xfrm>
          <a:prstGeom prst="rect">
            <a:avLst/>
          </a:prstGeom>
        </p:spPr>
      </p:pic>
    </p:spTree>
    <p:extLst>
      <p:ext uri="{BB962C8B-B14F-4D97-AF65-F5344CB8AC3E}">
        <p14:creationId xmlns:p14="http://schemas.microsoft.com/office/powerpoint/2010/main" val="37275675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Sorting Algorithms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49</a:t>
            </a:fld>
            <a:endParaRPr lang="en-US" dirty="0"/>
          </a:p>
        </p:txBody>
      </p:sp>
      <p:sp>
        <p:nvSpPr>
          <p:cNvPr id="4" name="Text Placeholder 3"/>
          <p:cNvSpPr>
            <a:spLocks noGrp="1"/>
          </p:cNvSpPr>
          <p:nvPr>
            <p:ph type="body" sz="quarter" idx="14"/>
          </p:nvPr>
        </p:nvSpPr>
        <p:spPr/>
        <p:txBody>
          <a:bodyPr/>
          <a:lstStyle/>
          <a:p>
            <a:r>
              <a:rPr lang="en-US" dirty="0"/>
              <a:t>6.3</a:t>
            </a:r>
          </a:p>
        </p:txBody>
      </p:sp>
      <p:sp>
        <p:nvSpPr>
          <p:cNvPr id="5" name="Content Placeholder 4"/>
          <p:cNvSpPr>
            <a:spLocks noGrp="1"/>
          </p:cNvSpPr>
          <p:nvPr>
            <p:ph sz="quarter" idx="15"/>
          </p:nvPr>
        </p:nvSpPr>
        <p:spPr/>
        <p:txBody>
          <a:bodyPr>
            <a:normAutofit/>
          </a:bodyPr>
          <a:lstStyle/>
          <a:p>
            <a:r>
              <a:rPr lang="en-US" dirty="0"/>
              <a:t>Sorting is also relevant to binary search, which we have learnt earlier. Binary search helps us find the target value quickly, but this algorithm is only applicable to sorted lists.</a:t>
            </a:r>
          </a:p>
          <a:p>
            <a:endParaRPr lang="en-US" dirty="0"/>
          </a:p>
          <a:p>
            <a:endParaRPr lang="en-US" dirty="0"/>
          </a:p>
          <a:p>
            <a:endParaRPr lang="en-US" dirty="0"/>
          </a:p>
          <a:p>
            <a:endParaRPr lang="en-US" dirty="0"/>
          </a:p>
          <a:p>
            <a:endParaRPr lang="en-US" dirty="0"/>
          </a:p>
          <a:p>
            <a:endParaRPr lang="en-US" dirty="0"/>
          </a:p>
        </p:txBody>
      </p:sp>
      <p:pic>
        <p:nvPicPr>
          <p:cNvPr id="6" name="Picture 5"/>
          <p:cNvPicPr>
            <a:picLocks noChangeAspect="1"/>
          </p:cNvPicPr>
          <p:nvPr/>
        </p:nvPicPr>
        <p:blipFill>
          <a:blip r:embed="rId2"/>
          <a:stretch>
            <a:fillRect/>
          </a:stretch>
        </p:blipFill>
        <p:spPr>
          <a:xfrm>
            <a:off x="4383825" y="2666999"/>
            <a:ext cx="3425549" cy="3622201"/>
          </a:xfrm>
          <a:prstGeom prst="rect">
            <a:avLst/>
          </a:prstGeom>
        </p:spPr>
      </p:pic>
    </p:spTree>
    <p:extLst>
      <p:ext uri="{BB962C8B-B14F-4D97-AF65-F5344CB8AC3E}">
        <p14:creationId xmlns:p14="http://schemas.microsoft.com/office/powerpoint/2010/main" val="24352559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50</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b="1" dirty="0">
                <a:solidFill>
                  <a:srgbClr val="504FA0"/>
                </a:solidFill>
              </a:rPr>
              <a:t>Selection sort</a:t>
            </a:r>
            <a:r>
              <a:rPr lang="en-US" dirty="0"/>
              <a:t> is based on linear search. The algorithm repeatedly carries out linear search in the unsorted part of the list in order to find the maximum or minimum value. </a:t>
            </a:r>
          </a:p>
          <a:p>
            <a:endParaRPr lang="en-US" dirty="0"/>
          </a:p>
          <a:p>
            <a:r>
              <a:rPr lang="en-US" dirty="0"/>
              <a:t>Then, this value is swapped with the first item of the unsorted list so as to set up the sorted part of the list. This process is repeated until all list items have been sorted.</a:t>
            </a:r>
          </a:p>
        </p:txBody>
      </p:sp>
      <p:pic>
        <p:nvPicPr>
          <p:cNvPr id="6" name="Picture 5"/>
          <p:cNvPicPr>
            <a:picLocks noChangeAspect="1"/>
          </p:cNvPicPr>
          <p:nvPr/>
        </p:nvPicPr>
        <p:blipFill>
          <a:blip r:embed="rId2"/>
          <a:stretch>
            <a:fillRect/>
          </a:stretch>
        </p:blipFill>
        <p:spPr>
          <a:xfrm>
            <a:off x="2565938" y="4002979"/>
            <a:ext cx="7068512" cy="1975421"/>
          </a:xfrm>
          <a:prstGeom prst="rect">
            <a:avLst/>
          </a:prstGeom>
        </p:spPr>
      </p:pic>
    </p:spTree>
    <p:extLst>
      <p:ext uri="{BB962C8B-B14F-4D97-AF65-F5344CB8AC3E}">
        <p14:creationId xmlns:p14="http://schemas.microsoft.com/office/powerpoint/2010/main" val="4235409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51</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The following Python program uses selection sort to sort list mark in descending order:</a:t>
            </a:r>
          </a:p>
          <a:p>
            <a:endParaRPr lang="en-US" sz="1800" dirty="0">
              <a:latin typeface="+mn-lt"/>
              <a:cs typeface="Courier New" panose="02070309020205020404" pitchFamily="49" charset="0"/>
            </a:endParaRPr>
          </a:p>
          <a:p>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in</a:t>
            </a:r>
            <a:r>
              <a:rPr lang="en-US" sz="1800" dirty="0">
                <a:latin typeface="Courier New" panose="02070309020205020404" pitchFamily="49" charset="0"/>
                <a:cs typeface="Courier New" panose="02070309020205020404" pitchFamily="49" charset="0"/>
              </a:rPr>
              <a:t> </a:t>
            </a:r>
            <a:r>
              <a:rPr lang="en-US" sz="1800" dirty="0">
                <a:solidFill>
                  <a:srgbClr val="7C2573"/>
                </a:solidFill>
                <a:latin typeface="Courier New" panose="02070309020205020404" pitchFamily="49" charset="0"/>
                <a:cs typeface="Courier New" panose="02070309020205020404" pitchFamily="49" charset="0"/>
              </a:rPr>
              <a:t>range</a:t>
            </a:r>
            <a:r>
              <a:rPr lang="en-US" sz="1800" dirty="0">
                <a:latin typeface="Courier New" panose="02070309020205020404" pitchFamily="49" charset="0"/>
                <a:cs typeface="Courier New" panose="02070309020205020404" pitchFamily="49" charset="0"/>
              </a:rPr>
              <a:t>(</a:t>
            </a:r>
            <a:r>
              <a:rPr lang="en-US" sz="1800" dirty="0">
                <a:solidFill>
                  <a:srgbClr val="AB3D18"/>
                </a:solidFill>
                <a:latin typeface="Courier New" panose="02070309020205020404" pitchFamily="49" charset="0"/>
                <a:cs typeface="Courier New" panose="02070309020205020404" pitchFamily="49" charset="0"/>
              </a:rPr>
              <a:t>0</a:t>
            </a:r>
            <a:r>
              <a:rPr lang="en-US" sz="1800" dirty="0">
                <a:latin typeface="Courier New" panose="02070309020205020404" pitchFamily="49" charset="0"/>
                <a:cs typeface="Courier New" panose="02070309020205020404" pitchFamily="49" charset="0"/>
              </a:rPr>
              <a:t>, </a:t>
            </a:r>
            <a:r>
              <a:rPr lang="en-US" sz="1800" dirty="0" err="1">
                <a:solidFill>
                  <a:srgbClr val="7C2573"/>
                </a:solidFill>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(mark)):</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max_index</a:t>
            </a:r>
            <a:r>
              <a:rPr lang="en-US" sz="1800" dirty="0">
                <a:latin typeface="Courier New" panose="02070309020205020404" pitchFamily="49" charset="0"/>
                <a:cs typeface="Courier New" panose="02070309020205020404" pitchFamily="49" charset="0"/>
              </a:rPr>
              <a:t> = i</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j </a:t>
            </a:r>
            <a:r>
              <a:rPr lang="en-US" sz="1800" b="1" dirty="0">
                <a:solidFill>
                  <a:srgbClr val="7C2573"/>
                </a:solidFill>
                <a:latin typeface="Courier New" panose="02070309020205020404" pitchFamily="49" charset="0"/>
                <a:cs typeface="Courier New" panose="02070309020205020404" pitchFamily="49" charset="0"/>
              </a:rPr>
              <a:t>in</a:t>
            </a:r>
            <a:r>
              <a:rPr lang="en-US" sz="1800" dirty="0">
                <a:latin typeface="Courier New" panose="02070309020205020404" pitchFamily="49" charset="0"/>
                <a:cs typeface="Courier New" panose="02070309020205020404" pitchFamily="49" charset="0"/>
              </a:rPr>
              <a:t> </a:t>
            </a:r>
            <a:r>
              <a:rPr lang="en-US" sz="1800" dirty="0">
                <a:solidFill>
                  <a:srgbClr val="7C2573"/>
                </a:solidFill>
                <a:latin typeface="Courier New" panose="02070309020205020404" pitchFamily="49" charset="0"/>
                <a:cs typeface="Courier New" panose="02070309020205020404" pitchFamily="49" charset="0"/>
              </a:rPr>
              <a:t>range</a:t>
            </a:r>
            <a:r>
              <a:rPr lang="en-US" sz="1800" dirty="0">
                <a:latin typeface="Courier New" panose="02070309020205020404" pitchFamily="49" charset="0"/>
                <a:cs typeface="Courier New" panose="02070309020205020404" pitchFamily="49" charset="0"/>
              </a:rPr>
              <a:t>(i+</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 </a:t>
            </a:r>
            <a:r>
              <a:rPr lang="en-US" sz="1800" dirty="0" err="1">
                <a:solidFill>
                  <a:srgbClr val="7C2573"/>
                </a:solidFill>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(mark)):</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if</a:t>
            </a:r>
            <a:r>
              <a:rPr lang="en-US" sz="1800" dirty="0">
                <a:latin typeface="Courier New" panose="02070309020205020404" pitchFamily="49" charset="0"/>
                <a:cs typeface="Courier New" panose="02070309020205020404" pitchFamily="49" charset="0"/>
              </a:rPr>
              <a:t> mark[j] &gt; mark[</a:t>
            </a:r>
            <a:r>
              <a:rPr lang="en-US" sz="1800" dirty="0" err="1">
                <a:latin typeface="Courier New" panose="02070309020205020404" pitchFamily="49" charset="0"/>
                <a:cs typeface="Courier New" panose="02070309020205020404" pitchFamily="49" charset="0"/>
              </a:rPr>
              <a:t>max_index</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max_index</a:t>
            </a:r>
            <a:r>
              <a:rPr lang="en-US" sz="1800" dirty="0">
                <a:latin typeface="Courier New" panose="02070309020205020404" pitchFamily="49" charset="0"/>
                <a:cs typeface="Courier New" panose="02070309020205020404" pitchFamily="49" charset="0"/>
              </a:rPr>
              <a:t> = 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temp = mark[</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 mark[</a:t>
            </a:r>
            <a:r>
              <a:rPr lang="en-US" sz="1800" dirty="0" err="1">
                <a:latin typeface="Courier New" panose="02070309020205020404" pitchFamily="49" charset="0"/>
                <a:cs typeface="Courier New" panose="02070309020205020404" pitchFamily="49" charset="0"/>
              </a:rPr>
              <a:t>max_index</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a:t>
            </a:r>
            <a:r>
              <a:rPr lang="en-US" sz="1800" dirty="0" err="1">
                <a:latin typeface="Courier New" panose="02070309020205020404" pitchFamily="49" charset="0"/>
                <a:cs typeface="Courier New" panose="02070309020205020404" pitchFamily="49" charset="0"/>
              </a:rPr>
              <a:t>max_index</a:t>
            </a:r>
            <a:r>
              <a:rPr lang="en-US" sz="1800" dirty="0">
                <a:latin typeface="Courier New" panose="02070309020205020404" pitchFamily="49" charset="0"/>
                <a:cs typeface="Courier New" panose="02070309020205020404" pitchFamily="49" charset="0"/>
              </a:rPr>
              <a:t>] = temp</a:t>
            </a:r>
          </a:p>
        </p:txBody>
      </p:sp>
    </p:spTree>
    <p:extLst>
      <p:ext uri="{BB962C8B-B14F-4D97-AF65-F5344CB8AC3E}">
        <p14:creationId xmlns:p14="http://schemas.microsoft.com/office/powerpoint/2010/main" val="10871390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52</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1. Firstly, perform linear search on the list to find the maximum value.</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sp>
        <p:nvSpPr>
          <p:cNvPr id="11" name="Rectangle 10"/>
          <p:cNvSpPr/>
          <p:nvPr/>
        </p:nvSpPr>
        <p:spPr>
          <a:xfrm>
            <a:off x="7390015" y="2869201"/>
            <a:ext cx="3963784" cy="16030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1665413" y="3182187"/>
            <a:ext cx="3463539" cy="1534025"/>
          </a:xfrm>
          <a:prstGeom prst="rect">
            <a:avLst/>
          </a:prstGeom>
        </p:spPr>
      </p:pic>
    </p:spTree>
    <p:extLst>
      <p:ext uri="{BB962C8B-B14F-4D97-AF65-F5344CB8AC3E}">
        <p14:creationId xmlns:p14="http://schemas.microsoft.com/office/powerpoint/2010/main" val="17914567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53</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1. Firstly, perform linear search on the list to find the maximum value.</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pic>
        <p:nvPicPr>
          <p:cNvPr id="10" name="Picture 9"/>
          <p:cNvPicPr>
            <a:picLocks noChangeAspect="1"/>
          </p:cNvPicPr>
          <p:nvPr/>
        </p:nvPicPr>
        <p:blipFill>
          <a:blip r:embed="rId3"/>
          <a:stretch>
            <a:fillRect/>
          </a:stretch>
        </p:blipFill>
        <p:spPr>
          <a:xfrm>
            <a:off x="1810800" y="2869200"/>
            <a:ext cx="3262116" cy="1979017"/>
          </a:xfrm>
          <a:prstGeom prst="rect">
            <a:avLst/>
          </a:prstGeom>
        </p:spPr>
      </p:pic>
      <p:sp>
        <p:nvSpPr>
          <p:cNvPr id="11" name="Rectangle 10"/>
          <p:cNvSpPr/>
          <p:nvPr/>
        </p:nvSpPr>
        <p:spPr>
          <a:xfrm>
            <a:off x="7390015" y="2869201"/>
            <a:ext cx="3963784" cy="160304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86051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54</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2. Swap the maximum value with the first item of the list. </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sp>
        <p:nvSpPr>
          <p:cNvPr id="11" name="Rectangle 10"/>
          <p:cNvSpPr/>
          <p:nvPr/>
        </p:nvSpPr>
        <p:spPr>
          <a:xfrm>
            <a:off x="7381703" y="4397433"/>
            <a:ext cx="3201008" cy="11222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918800" y="2844262"/>
            <a:ext cx="3429118" cy="2209876"/>
          </a:xfrm>
          <a:prstGeom prst="rect">
            <a:avLst/>
          </a:prstGeom>
        </p:spPr>
      </p:pic>
    </p:spTree>
    <p:extLst>
      <p:ext uri="{BB962C8B-B14F-4D97-AF65-F5344CB8AC3E}">
        <p14:creationId xmlns:p14="http://schemas.microsoft.com/office/powerpoint/2010/main" val="21030404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55</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This divides the sorted and unsorted parts of the list.</a:t>
            </a:r>
            <a:endParaRPr lang="en-US" sz="1800" dirty="0">
              <a:latin typeface="+mn-lt"/>
              <a:cs typeface="Courier New" panose="02070309020205020404" pitchFamily="49" charset="0"/>
            </a:endParaRPr>
          </a:p>
        </p:txBody>
      </p:sp>
      <p:pic>
        <p:nvPicPr>
          <p:cNvPr id="7" name="Picture 6"/>
          <p:cNvPicPr>
            <a:picLocks noChangeAspect="1"/>
          </p:cNvPicPr>
          <p:nvPr/>
        </p:nvPicPr>
        <p:blipFill>
          <a:blip r:embed="rId2"/>
          <a:stretch>
            <a:fillRect/>
          </a:stretch>
        </p:blipFill>
        <p:spPr>
          <a:xfrm>
            <a:off x="4130390" y="2782159"/>
            <a:ext cx="3932419" cy="2334081"/>
          </a:xfrm>
          <a:prstGeom prst="rect">
            <a:avLst/>
          </a:prstGeom>
        </p:spPr>
      </p:pic>
    </p:spTree>
    <p:extLst>
      <p:ext uri="{BB962C8B-B14F-4D97-AF65-F5344CB8AC3E}">
        <p14:creationId xmlns:p14="http://schemas.microsoft.com/office/powerpoint/2010/main" val="1835991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56</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3. Then, perform linear search on the unsorted part to find the maximum value.</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sp>
        <p:nvSpPr>
          <p:cNvPr id="11" name="Rectangle 10"/>
          <p:cNvSpPr/>
          <p:nvPr/>
        </p:nvSpPr>
        <p:spPr>
          <a:xfrm>
            <a:off x="6882938" y="2385753"/>
            <a:ext cx="4580313" cy="19784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1918800" y="2787504"/>
            <a:ext cx="3546552" cy="2042190"/>
          </a:xfrm>
          <a:prstGeom prst="rect">
            <a:avLst/>
          </a:prstGeom>
        </p:spPr>
      </p:pic>
    </p:spTree>
    <p:extLst>
      <p:ext uri="{BB962C8B-B14F-4D97-AF65-F5344CB8AC3E}">
        <p14:creationId xmlns:p14="http://schemas.microsoft.com/office/powerpoint/2010/main" val="21890854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57</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4. Swap the maximum value with the first item of the unsorted list.</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sp>
        <p:nvSpPr>
          <p:cNvPr id="11" name="Rectangle 10"/>
          <p:cNvSpPr/>
          <p:nvPr/>
        </p:nvSpPr>
        <p:spPr>
          <a:xfrm>
            <a:off x="7381703" y="4380807"/>
            <a:ext cx="3042458" cy="12302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rotWithShape="1">
          <a:blip r:embed="rId3"/>
          <a:srcRect t="18163"/>
          <a:stretch/>
        </p:blipFill>
        <p:spPr>
          <a:xfrm>
            <a:off x="1810800" y="3270447"/>
            <a:ext cx="3594389" cy="2174430"/>
          </a:xfrm>
          <a:prstGeom prst="rect">
            <a:avLst/>
          </a:prstGeom>
        </p:spPr>
      </p:pic>
    </p:spTree>
    <p:extLst>
      <p:ext uri="{BB962C8B-B14F-4D97-AF65-F5344CB8AC3E}">
        <p14:creationId xmlns:p14="http://schemas.microsoft.com/office/powerpoint/2010/main" val="19565093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58</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This adds an item to the sorted list.</a:t>
            </a:r>
            <a:endParaRPr lang="en-US" sz="1800" dirty="0">
              <a:latin typeface="+mn-lt"/>
              <a:cs typeface="Courier New" panose="02070309020205020404" pitchFamily="49" charset="0"/>
            </a:endParaRPr>
          </a:p>
        </p:txBody>
      </p:sp>
      <p:pic>
        <p:nvPicPr>
          <p:cNvPr id="6" name="Picture 5"/>
          <p:cNvPicPr>
            <a:picLocks noChangeAspect="1"/>
          </p:cNvPicPr>
          <p:nvPr/>
        </p:nvPicPr>
        <p:blipFill>
          <a:blip r:embed="rId2"/>
          <a:stretch>
            <a:fillRect/>
          </a:stretch>
        </p:blipFill>
        <p:spPr>
          <a:xfrm>
            <a:off x="4111827" y="2806218"/>
            <a:ext cx="3969545" cy="2285964"/>
          </a:xfrm>
          <a:prstGeom prst="rect">
            <a:avLst/>
          </a:prstGeom>
        </p:spPr>
      </p:pic>
    </p:spTree>
    <p:extLst>
      <p:ext uri="{BB962C8B-B14F-4D97-AF65-F5344CB8AC3E}">
        <p14:creationId xmlns:p14="http://schemas.microsoft.com/office/powerpoint/2010/main" val="39699516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59</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5. Repeat the above operations of linear search and swapping.</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sp>
        <p:nvSpPr>
          <p:cNvPr id="11" name="Rectangle 10"/>
          <p:cNvSpPr/>
          <p:nvPr/>
        </p:nvSpPr>
        <p:spPr>
          <a:xfrm>
            <a:off x="6899564" y="2377440"/>
            <a:ext cx="4454235" cy="32336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3"/>
          <a:stretch>
            <a:fillRect/>
          </a:stretch>
        </p:blipFill>
        <p:spPr>
          <a:xfrm>
            <a:off x="1810800" y="3073377"/>
            <a:ext cx="4046817" cy="2211774"/>
          </a:xfrm>
          <a:prstGeom prst="rect">
            <a:avLst/>
          </a:prstGeom>
        </p:spPr>
      </p:pic>
    </p:spTree>
    <p:extLst>
      <p:ext uri="{BB962C8B-B14F-4D97-AF65-F5344CB8AC3E}">
        <p14:creationId xmlns:p14="http://schemas.microsoft.com/office/powerpoint/2010/main" val="24626935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60</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sz="1800" dirty="0"/>
              <a:t>6. Repeat until all list items have been sorted.</a:t>
            </a:r>
            <a:endParaRPr lang="en-US" sz="1800" dirty="0">
              <a:latin typeface="+mn-lt"/>
              <a:cs typeface="Courier New" panose="02070309020205020404" pitchFamily="49" charset="0"/>
            </a:endParaRPr>
          </a:p>
        </p:txBody>
      </p:sp>
      <p:pic>
        <p:nvPicPr>
          <p:cNvPr id="9" name="Picture 8"/>
          <p:cNvPicPr>
            <a:picLocks noChangeAspect="1"/>
          </p:cNvPicPr>
          <p:nvPr/>
        </p:nvPicPr>
        <p:blipFill>
          <a:blip r:embed="rId2"/>
          <a:stretch>
            <a:fillRect/>
          </a:stretch>
        </p:blipFill>
        <p:spPr>
          <a:xfrm>
            <a:off x="6962877" y="2453523"/>
            <a:ext cx="4390923" cy="2991354"/>
          </a:xfrm>
          <a:prstGeom prst="rect">
            <a:avLst/>
          </a:prstGeom>
        </p:spPr>
      </p:pic>
      <p:pic>
        <p:nvPicPr>
          <p:cNvPr id="6" name="Picture 5"/>
          <p:cNvPicPr>
            <a:picLocks noChangeAspect="1"/>
          </p:cNvPicPr>
          <p:nvPr/>
        </p:nvPicPr>
        <p:blipFill>
          <a:blip r:embed="rId3"/>
          <a:stretch>
            <a:fillRect/>
          </a:stretch>
        </p:blipFill>
        <p:spPr>
          <a:xfrm>
            <a:off x="1702734" y="2803323"/>
            <a:ext cx="3826119" cy="2306154"/>
          </a:xfrm>
          <a:prstGeom prst="rect">
            <a:avLst/>
          </a:prstGeom>
        </p:spPr>
      </p:pic>
    </p:spTree>
    <p:extLst>
      <p:ext uri="{BB962C8B-B14F-4D97-AF65-F5344CB8AC3E}">
        <p14:creationId xmlns:p14="http://schemas.microsoft.com/office/powerpoint/2010/main" val="24250084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61</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Suppose that there are N items in the list:</a:t>
            </a:r>
          </a:p>
        </p:txBody>
      </p:sp>
      <p:pic>
        <p:nvPicPr>
          <p:cNvPr id="6" name="Picture 5"/>
          <p:cNvPicPr>
            <a:picLocks noChangeAspect="1"/>
          </p:cNvPicPr>
          <p:nvPr/>
        </p:nvPicPr>
        <p:blipFill>
          <a:blip r:embed="rId2"/>
          <a:stretch>
            <a:fillRect/>
          </a:stretch>
        </p:blipFill>
        <p:spPr>
          <a:xfrm>
            <a:off x="3314025" y="2541143"/>
            <a:ext cx="5570501" cy="3319329"/>
          </a:xfrm>
          <a:prstGeom prst="rect">
            <a:avLst/>
          </a:prstGeom>
        </p:spPr>
      </p:pic>
    </p:spTree>
    <p:extLst>
      <p:ext uri="{BB962C8B-B14F-4D97-AF65-F5344CB8AC3E}">
        <p14:creationId xmlns:p14="http://schemas.microsoft.com/office/powerpoint/2010/main" val="30853103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62</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Therefore, the number of comparisons for completing the whole selection sort is:</a:t>
            </a:r>
          </a:p>
          <a:p>
            <a:endParaRPr lang="en-US" dirty="0"/>
          </a:p>
          <a:p>
            <a:endParaRPr lang="en-US" dirty="0"/>
          </a:p>
          <a:p>
            <a:endParaRPr lang="en-US" dirty="0"/>
          </a:p>
          <a:p>
            <a:endParaRPr lang="en-US" dirty="0"/>
          </a:p>
          <a:p>
            <a:endParaRPr lang="en-US" dirty="0"/>
          </a:p>
          <a:p>
            <a:endParaRPr lang="en-US" dirty="0"/>
          </a:p>
          <a:p>
            <a:r>
              <a:rPr lang="en-US" dirty="0"/>
              <a:t>When selection sort is performed on list </a:t>
            </a:r>
            <a:r>
              <a:rPr lang="en-US" dirty="0">
                <a:latin typeface="Courier New" panose="02070309020205020404" pitchFamily="49" charset="0"/>
                <a:cs typeface="Courier New" panose="02070309020205020404" pitchFamily="49" charset="0"/>
              </a:rPr>
              <a:t>mark</a:t>
            </a:r>
            <a:r>
              <a:rPr lang="en-US" dirty="0"/>
              <a:t> with seven items, the maximum number of comparisons to be performed by the program is 21. </a:t>
            </a:r>
          </a:p>
        </p:txBody>
      </p:sp>
      <p:pic>
        <p:nvPicPr>
          <p:cNvPr id="7" name="Picture 6"/>
          <p:cNvPicPr>
            <a:picLocks noChangeAspect="1"/>
          </p:cNvPicPr>
          <p:nvPr/>
        </p:nvPicPr>
        <p:blipFill>
          <a:blip r:embed="rId2"/>
          <a:stretch>
            <a:fillRect/>
          </a:stretch>
        </p:blipFill>
        <p:spPr>
          <a:xfrm>
            <a:off x="2908832" y="2822451"/>
            <a:ext cx="6375536" cy="755966"/>
          </a:xfrm>
          <a:prstGeom prst="rect">
            <a:avLst/>
          </a:prstGeom>
        </p:spPr>
      </p:pic>
    </p:spTree>
    <p:extLst>
      <p:ext uri="{BB962C8B-B14F-4D97-AF65-F5344CB8AC3E}">
        <p14:creationId xmlns:p14="http://schemas.microsoft.com/office/powerpoint/2010/main" val="2725058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Steven records the titles of five books in array </a:t>
            </a:r>
            <a:r>
              <a:rPr lang="en-US" dirty="0">
                <a:latin typeface="Courier New" panose="02070309020205020404" pitchFamily="49" charset="0"/>
                <a:cs typeface="Courier New" panose="02070309020205020404" pitchFamily="49" charset="0"/>
              </a:rPr>
              <a:t>book</a:t>
            </a:r>
            <a:r>
              <a:rPr lang="en-US" dirty="0"/>
              <a:t> as follows:</a:t>
            </a:r>
          </a:p>
          <a:p>
            <a:endParaRPr lang="en-US" dirty="0"/>
          </a:p>
          <a:p>
            <a:endParaRPr lang="en-US" dirty="0"/>
          </a:p>
          <a:p>
            <a:endParaRPr lang="en-US" dirty="0"/>
          </a:p>
          <a:p>
            <a:endParaRPr lang="en-US" dirty="0"/>
          </a:p>
          <a:p>
            <a:endParaRPr lang="en-US" dirty="0"/>
          </a:p>
          <a:p>
            <a:endParaRPr lang="en-US" dirty="0"/>
          </a:p>
          <a:p>
            <a:r>
              <a:rPr lang="en-US" dirty="0"/>
              <a:t>He has written the following algorithm, which uses selection sort to sort the items in array </a:t>
            </a:r>
            <a:r>
              <a:rPr lang="en-US" dirty="0">
                <a:latin typeface="Courier New" panose="02070309020205020404" pitchFamily="49" charset="0"/>
                <a:cs typeface="Courier New" panose="02070309020205020404" pitchFamily="49" charset="0"/>
              </a:rPr>
              <a:t>book</a:t>
            </a:r>
            <a:r>
              <a:rPr lang="en-US" dirty="0"/>
              <a:t> in ascending order. Suppose that the character “</a:t>
            </a:r>
            <a:r>
              <a:rPr lang="en-US" dirty="0">
                <a:latin typeface="Courier New" panose="02070309020205020404" pitchFamily="49" charset="0"/>
                <a:cs typeface="Courier New" panose="02070309020205020404" pitchFamily="49" charset="0"/>
              </a:rPr>
              <a:t>A</a:t>
            </a:r>
            <a:r>
              <a:rPr lang="en-US" dirty="0"/>
              <a:t>” is smaller than the character “</a:t>
            </a:r>
            <a:r>
              <a:rPr lang="en-US" dirty="0">
                <a:latin typeface="Courier New" panose="02070309020205020404" pitchFamily="49" charset="0"/>
                <a:cs typeface="Courier New" panose="02070309020205020404" pitchFamily="49" charset="0"/>
              </a:rPr>
              <a:t>B</a:t>
            </a:r>
            <a:r>
              <a:rPr lang="en-US" dirty="0"/>
              <a:t>”, the character “</a:t>
            </a:r>
            <a:r>
              <a:rPr lang="en-US" dirty="0">
                <a:latin typeface="Courier New" panose="02070309020205020404" pitchFamily="49" charset="0"/>
                <a:cs typeface="Courier New" panose="02070309020205020404" pitchFamily="49" charset="0"/>
              </a:rPr>
              <a:t>B</a:t>
            </a:r>
            <a:r>
              <a:rPr lang="en-US" dirty="0"/>
              <a:t>” is smaller than the character “</a:t>
            </a:r>
            <a:r>
              <a:rPr lang="en-US" dirty="0">
                <a:latin typeface="Courier New" panose="02070309020205020404" pitchFamily="49" charset="0"/>
                <a:cs typeface="Courier New" panose="02070309020205020404" pitchFamily="49" charset="0"/>
              </a:rPr>
              <a:t>C</a:t>
            </a:r>
            <a:r>
              <a:rPr lang="en-US" dirty="0"/>
              <a:t>”, and so on.</a:t>
            </a:r>
          </a:p>
        </p:txBody>
      </p:sp>
      <p:sp>
        <p:nvSpPr>
          <p:cNvPr id="3" name="Slide Number Placeholder 2"/>
          <p:cNvSpPr>
            <a:spLocks noGrp="1"/>
          </p:cNvSpPr>
          <p:nvPr>
            <p:ph type="sldNum" sz="quarter" idx="12"/>
          </p:nvPr>
        </p:nvSpPr>
        <p:spPr/>
        <p:txBody>
          <a:bodyPr/>
          <a:lstStyle/>
          <a:p>
            <a:fld id="{6D22F896-40B5-4ADD-8801-0D06FADFA095}" type="slidenum">
              <a:rPr lang="en-US" smtClean="0"/>
              <a:t>63</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1717020" y="2142113"/>
            <a:ext cx="4519853" cy="2479763"/>
          </a:xfrm>
          <a:prstGeom prst="rect">
            <a:avLst/>
          </a:prstGeom>
        </p:spPr>
      </p:pic>
      <p:pic>
        <p:nvPicPr>
          <p:cNvPr id="6" name="Picture 5"/>
          <p:cNvPicPr>
            <a:picLocks noChangeAspect="1"/>
          </p:cNvPicPr>
          <p:nvPr/>
        </p:nvPicPr>
        <p:blipFill>
          <a:blip r:embed="rId3"/>
          <a:stretch>
            <a:fillRect/>
          </a:stretch>
        </p:blipFill>
        <p:spPr>
          <a:xfrm>
            <a:off x="7672791" y="2142113"/>
            <a:ext cx="3171391" cy="2134806"/>
          </a:xfrm>
          <a:prstGeom prst="rect">
            <a:avLst/>
          </a:prstGeom>
        </p:spPr>
      </p:pic>
    </p:spTree>
    <p:extLst>
      <p:ext uri="{BB962C8B-B14F-4D97-AF65-F5344CB8AC3E}">
        <p14:creationId xmlns:p14="http://schemas.microsoft.com/office/powerpoint/2010/main" val="8445969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r>
              <a:rPr lang="en-US" b="1" u="sng" dirty="0">
                <a:latin typeface="Courier New" panose="02070309020205020404" pitchFamily="49" charset="0"/>
                <a:cs typeface="Courier New" panose="02070309020205020404" pitchFamily="49" charset="0"/>
              </a:rPr>
              <a:t>Line</a:t>
            </a:r>
            <a:r>
              <a:rPr lang="en-US" b="1" dirty="0">
                <a:latin typeface="Courier New" panose="02070309020205020404" pitchFamily="49" charset="0"/>
                <a:cs typeface="Courier New" panose="02070309020205020404" pitchFamily="49" charset="0"/>
              </a:rPr>
              <a:t> 		</a:t>
            </a:r>
            <a:r>
              <a:rPr lang="en-US" b="1" u="sng" dirty="0">
                <a:latin typeface="Courier New" panose="02070309020205020404" pitchFamily="49" charset="0"/>
                <a:cs typeface="Courier New" panose="02070309020205020404" pitchFamily="49" charset="0"/>
              </a:rPr>
              <a:t>Pseudocode</a:t>
            </a:r>
          </a:p>
          <a:p>
            <a:r>
              <a:rPr lang="en-US" dirty="0">
                <a:latin typeface="Courier New" panose="02070309020205020404" pitchFamily="49" charset="0"/>
                <a:cs typeface="Courier New" panose="02070309020205020404" pitchFamily="49" charset="0"/>
              </a:rPr>
              <a:t> 1 		Sub-program swap(a, 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2 			temp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book[a]</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book[a]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book[b]</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book[b]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temp</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0 to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6 			</a:t>
            </a:r>
            <a:r>
              <a:rPr lang="en-US" dirty="0" err="1">
                <a:latin typeface="Courier New" panose="02070309020205020404" pitchFamily="49" charset="0"/>
                <a:cs typeface="Courier New" panose="02070309020205020404" pitchFamily="49" charset="0"/>
              </a:rPr>
              <a:t>min_index</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7 			for j from i+1 to 4</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8 				if book[j] &lt; book[</a:t>
            </a:r>
            <a:r>
              <a:rPr lang="en-US" dirty="0" err="1">
                <a:latin typeface="Courier New" panose="02070309020205020404" pitchFamily="49" charset="0"/>
                <a:cs typeface="Courier New" panose="02070309020205020404" pitchFamily="49" charset="0"/>
              </a:rPr>
              <a:t>min_index</a:t>
            </a:r>
            <a:r>
              <a:rPr lang="en-US" dirty="0">
                <a:latin typeface="Courier New" panose="02070309020205020404" pitchFamily="49" charset="0"/>
                <a:cs typeface="Courier New" panose="02070309020205020404" pitchFamily="49" charset="0"/>
              </a:rPr>
              <a:t>] 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9 					</a:t>
            </a:r>
            <a:r>
              <a:rPr lang="en-US" dirty="0" err="1">
                <a:latin typeface="Courier New" panose="02070309020205020404" pitchFamily="49" charset="0"/>
                <a:cs typeface="Courier New" panose="02070309020205020404" pitchFamily="49" charset="0"/>
              </a:rPr>
              <a:t>min_index</a:t>
            </a:r>
            <a:r>
              <a:rPr lang="en-US"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j</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10 			Call sub-program swap(______,______)</a:t>
            </a:r>
          </a:p>
        </p:txBody>
      </p:sp>
      <p:sp>
        <p:nvSpPr>
          <p:cNvPr id="3" name="Slide Number Placeholder 2"/>
          <p:cNvSpPr>
            <a:spLocks noGrp="1"/>
          </p:cNvSpPr>
          <p:nvPr>
            <p:ph type="sldNum" sz="quarter" idx="12"/>
          </p:nvPr>
        </p:nvSpPr>
        <p:spPr/>
        <p:txBody>
          <a:bodyPr/>
          <a:lstStyle/>
          <a:p>
            <a:fld id="{6D22F896-40B5-4ADD-8801-0D06FADFA095}" type="slidenum">
              <a:rPr lang="en-US" smtClean="0"/>
              <a:t>64</a:t>
            </a:fld>
            <a:endParaRPr lang="en-US" dirty="0"/>
          </a:p>
        </p:txBody>
      </p:sp>
      <p:sp>
        <p:nvSpPr>
          <p:cNvPr id="4" name="Text Placeholder 3"/>
          <p:cNvSpPr>
            <a:spLocks noGrp="1"/>
          </p:cNvSpPr>
          <p:nvPr>
            <p:ph type="body" sz="quarter" idx="13"/>
          </p:nvPr>
        </p:nvSpPr>
        <p:spPr/>
        <p:txBody>
          <a:bodyPr/>
          <a:lstStyle/>
          <a:p>
            <a:r>
              <a:rPr lang="en-US" dirty="0"/>
              <a:t>6.3</a:t>
            </a:r>
          </a:p>
        </p:txBody>
      </p:sp>
    </p:spTree>
    <p:extLst>
      <p:ext uri="{BB962C8B-B14F-4D97-AF65-F5344CB8AC3E}">
        <p14:creationId xmlns:p14="http://schemas.microsoft.com/office/powerpoint/2010/main" val="26874176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Complete the pseudocode in line 10.</a:t>
            </a:r>
          </a:p>
          <a:p>
            <a:r>
              <a:rPr lang="en-US" dirty="0"/>
              <a:t>(b) Write down the content of array </a:t>
            </a:r>
            <a:r>
              <a:rPr lang="en-US" dirty="0">
                <a:latin typeface="Courier New" panose="02070309020205020404" pitchFamily="49" charset="0"/>
                <a:cs typeface="Courier New" panose="02070309020205020404" pitchFamily="49" charset="0"/>
              </a:rPr>
              <a:t>book</a:t>
            </a:r>
            <a:r>
              <a:rPr lang="en-US" dirty="0"/>
              <a:t> after each pass of line 10.</a:t>
            </a:r>
          </a:p>
          <a:p>
            <a:endParaRPr lang="en-US" dirty="0"/>
          </a:p>
          <a:p>
            <a:endParaRPr lang="en-US" dirty="0"/>
          </a:p>
          <a:p>
            <a:endParaRPr lang="en-US" dirty="0"/>
          </a:p>
          <a:p>
            <a:endParaRPr lang="en-US" dirty="0"/>
          </a:p>
          <a:p>
            <a:br>
              <a:rPr lang="en-US" dirty="0"/>
            </a:br>
            <a:endParaRPr lang="en-US" dirty="0"/>
          </a:p>
          <a:p>
            <a:r>
              <a:rPr lang="en-US" dirty="0"/>
              <a:t>(c) Suppose that the pseudocode in line 5 is changed to “</a:t>
            </a: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0 to 3</a:t>
            </a:r>
            <a:r>
              <a:rPr lang="en-US" dirty="0"/>
              <a:t>”. How will this modification affect the result of this sorting algorithm?</a:t>
            </a:r>
          </a:p>
        </p:txBody>
      </p:sp>
      <p:sp>
        <p:nvSpPr>
          <p:cNvPr id="3" name="Slide Number Placeholder 2"/>
          <p:cNvSpPr>
            <a:spLocks noGrp="1"/>
          </p:cNvSpPr>
          <p:nvPr>
            <p:ph type="sldNum" sz="quarter" idx="12"/>
          </p:nvPr>
        </p:nvSpPr>
        <p:spPr/>
        <p:txBody>
          <a:bodyPr/>
          <a:lstStyle/>
          <a:p>
            <a:fld id="{6D22F896-40B5-4ADD-8801-0D06FADFA095}" type="slidenum">
              <a:rPr lang="en-US" smtClean="0"/>
              <a:t>65</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1642713" y="2473146"/>
            <a:ext cx="8906574" cy="2416723"/>
          </a:xfrm>
          <a:prstGeom prst="rect">
            <a:avLst/>
          </a:prstGeom>
        </p:spPr>
      </p:pic>
    </p:spTree>
    <p:extLst>
      <p:ext uri="{BB962C8B-B14F-4D97-AF65-F5344CB8AC3E}">
        <p14:creationId xmlns:p14="http://schemas.microsoft.com/office/powerpoint/2010/main" val="2160681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37A3D4"/>
                </a:solidFill>
              </a:rPr>
              <a:t>◣ Solution</a:t>
            </a:r>
          </a:p>
          <a:p>
            <a:r>
              <a:rPr lang="en-US" dirty="0"/>
              <a:t>(a) </a:t>
            </a:r>
            <a:r>
              <a:rPr lang="en-US" dirty="0">
                <a:latin typeface="Courier New" panose="02070309020205020404" pitchFamily="49" charset="0"/>
                <a:cs typeface="Courier New" panose="02070309020205020404" pitchFamily="49" charset="0"/>
              </a:rPr>
              <a:t>Sub-program swap(</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min_index</a:t>
            </a:r>
            <a:r>
              <a:rPr lang="en-US" dirty="0">
                <a:latin typeface="Courier New" panose="02070309020205020404" pitchFamily="49" charset="0"/>
                <a:cs typeface="Courier New" panose="02070309020205020404" pitchFamily="49" charset="0"/>
              </a:rPr>
              <a:t>)</a:t>
            </a:r>
          </a:p>
          <a:p>
            <a:r>
              <a:rPr lang="en-US" dirty="0"/>
              <a:t>(b) The content of array </a:t>
            </a:r>
            <a:r>
              <a:rPr lang="en-US" dirty="0">
                <a:latin typeface="Courier New" panose="02070309020205020404" pitchFamily="49" charset="0"/>
                <a:cs typeface="Courier New" panose="02070309020205020404" pitchFamily="49" charset="0"/>
              </a:rPr>
              <a:t>book</a:t>
            </a:r>
            <a:r>
              <a:rPr lang="en-US" dirty="0"/>
              <a:t>:</a:t>
            </a:r>
          </a:p>
          <a:p>
            <a:endParaRPr lang="en-US" dirty="0"/>
          </a:p>
          <a:p>
            <a:endParaRPr lang="en-US" dirty="0"/>
          </a:p>
          <a:p>
            <a:endParaRPr lang="en-US" dirty="0"/>
          </a:p>
          <a:p>
            <a:endParaRPr lang="en-US" dirty="0"/>
          </a:p>
          <a:p>
            <a:r>
              <a:rPr lang="en-US" dirty="0"/>
              <a:t>(c) No effect, because the iteration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4</a:t>
            </a:r>
            <a:r>
              <a:rPr lang="en-US" dirty="0"/>
              <a:t> is unnecessary. (When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4</a:t>
            </a:r>
            <a:r>
              <a:rPr lang="en-US" dirty="0"/>
              <a:t>, only one unsorted item is left, and the part of linear search is skipped in practice. This iteration simply assigns </a:t>
            </a:r>
            <a:r>
              <a:rPr lang="en-US" dirty="0">
                <a:latin typeface="Courier New" panose="02070309020205020404" pitchFamily="49" charset="0"/>
                <a:cs typeface="Courier New" panose="02070309020205020404" pitchFamily="49" charset="0"/>
              </a:rPr>
              <a:t>book[4]</a:t>
            </a:r>
            <a:r>
              <a:rPr lang="en-US" dirty="0"/>
              <a:t> to </a:t>
            </a:r>
            <a:r>
              <a:rPr lang="en-US" dirty="0">
                <a:latin typeface="Courier New" panose="02070309020205020404" pitchFamily="49" charset="0"/>
                <a:cs typeface="Courier New" panose="02070309020205020404" pitchFamily="49" charset="0"/>
              </a:rPr>
              <a:t>temp</a:t>
            </a:r>
            <a:r>
              <a:rPr lang="en-US" dirty="0"/>
              <a:t> and puts </a:t>
            </a:r>
            <a:r>
              <a:rPr lang="en-US" dirty="0">
                <a:latin typeface="Courier New" panose="02070309020205020404" pitchFamily="49" charset="0"/>
                <a:cs typeface="Courier New" panose="02070309020205020404" pitchFamily="49" charset="0"/>
              </a:rPr>
              <a:t>temp</a:t>
            </a:r>
            <a:r>
              <a:rPr lang="en-US" dirty="0"/>
              <a:t> back to </a:t>
            </a:r>
            <a:r>
              <a:rPr lang="en-US" dirty="0">
                <a:latin typeface="Courier New" panose="02070309020205020404" pitchFamily="49" charset="0"/>
                <a:cs typeface="Courier New" panose="02070309020205020404" pitchFamily="49" charset="0"/>
              </a:rPr>
              <a:t>book[4]</a:t>
            </a:r>
            <a:r>
              <a:rPr lang="en-US" dirty="0"/>
              <a:t>.)</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66</a:t>
            </a:fld>
            <a:endParaRPr lang="en-US" dirty="0"/>
          </a:p>
        </p:txBody>
      </p:sp>
      <p:sp>
        <p:nvSpPr>
          <p:cNvPr id="4" name="Text Placeholder 3"/>
          <p:cNvSpPr>
            <a:spLocks noGrp="1"/>
          </p:cNvSpPr>
          <p:nvPr>
            <p:ph type="body" sz="quarter" idx="13"/>
          </p:nvPr>
        </p:nvSpPr>
        <p:spPr/>
        <p:txBody>
          <a:bodyPr/>
          <a:lstStyle/>
          <a:p>
            <a:r>
              <a:rPr lang="en-US" dirty="0"/>
              <a:t>6.3</a:t>
            </a:r>
          </a:p>
        </p:txBody>
      </p:sp>
      <p:pic>
        <p:nvPicPr>
          <p:cNvPr id="5" name="Picture 4"/>
          <p:cNvPicPr>
            <a:picLocks noChangeAspect="1"/>
          </p:cNvPicPr>
          <p:nvPr/>
        </p:nvPicPr>
        <p:blipFill>
          <a:blip r:embed="rId2"/>
          <a:stretch>
            <a:fillRect/>
          </a:stretch>
        </p:blipFill>
        <p:spPr>
          <a:xfrm>
            <a:off x="2408602" y="2872206"/>
            <a:ext cx="7374795" cy="2002787"/>
          </a:xfrm>
          <a:prstGeom prst="rect">
            <a:avLst/>
          </a:prstGeom>
        </p:spPr>
      </p:pic>
    </p:spTree>
    <p:extLst>
      <p:ext uri="{BB962C8B-B14F-4D97-AF65-F5344CB8AC3E}">
        <p14:creationId xmlns:p14="http://schemas.microsoft.com/office/powerpoint/2010/main" val="24529941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Checkpoint 6.4 on P. 239 of your textbook.</a:t>
            </a:r>
          </a:p>
          <a:p>
            <a:r>
              <a:rPr lang="en-US" dirty="0"/>
              <a:t>1. (a) </a:t>
            </a:r>
            <a:r>
              <a:rPr lang="en-US" dirty="0">
                <a:latin typeface="Courier New" panose="02070309020205020404" pitchFamily="49" charset="0"/>
                <a:cs typeface="Courier New" panose="02070309020205020404" pitchFamily="49" charset="0"/>
              </a:rPr>
              <a:t>Sub-program swap(</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j) </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temp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athlete[</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athlete[</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athlete[j]</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athlete[j]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temp</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temp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result[</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a:t>
            </a:r>
            <a:r>
              <a:rPr lang="en-US" dirty="0" err="1">
                <a:solidFill>
                  <a:srgbClr val="FF0000"/>
                </a:solidFill>
                <a:latin typeface="Courier New" panose="02070309020205020404" pitchFamily="49" charset="0"/>
                <a:cs typeface="Courier New" panose="02070309020205020404" pitchFamily="49" charset="0"/>
              </a:rPr>
              <a:t>i</a:t>
            </a:r>
            <a:r>
              <a:rPr lang="en-US" dirty="0">
                <a:solidFill>
                  <a:srgbClr val="FF0000"/>
                </a:solidFill>
                <a:latin typeface="Courier New" panose="02070309020205020404" pitchFamily="49" charset="0"/>
                <a:cs typeface="Courier New" panose="02070309020205020404" pitchFamily="49" charset="0"/>
              </a:rPr>
              <a:t>]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result[j]</a:t>
            </a:r>
            <a:br>
              <a:rPr lang="en-US" dirty="0">
                <a:solidFill>
                  <a:srgbClr val="FF0000"/>
                </a:solidFill>
                <a:latin typeface="Courier New" panose="02070309020205020404" pitchFamily="49" charset="0"/>
                <a:cs typeface="Courier New" panose="02070309020205020404" pitchFamily="49" charset="0"/>
              </a:rPr>
            </a:br>
            <a:r>
              <a:rPr lang="en-US" dirty="0">
                <a:solidFill>
                  <a:srgbClr val="FF0000"/>
                </a:solidFill>
                <a:latin typeface="Courier New" panose="02070309020205020404" pitchFamily="49" charset="0"/>
                <a:cs typeface="Courier New" panose="02070309020205020404" pitchFamily="49" charset="0"/>
              </a:rPr>
              <a:t>	result[j] </a:t>
            </a:r>
            <a:r>
              <a:rPr lang="en-US" dirty="0">
                <a:solidFill>
                  <a:srgbClr val="FF0000"/>
                </a:solidFill>
                <a:latin typeface="Courier New" panose="02070309020205020404" pitchFamily="49" charset="0"/>
                <a:cs typeface="Courier New" panose="02070309020205020404" pitchFamily="49" charset="0"/>
                <a:sym typeface="Wingdings" panose="05000000000000000000" pitchFamily="2" charset="2"/>
              </a:rPr>
              <a:t></a:t>
            </a:r>
            <a:r>
              <a:rPr lang="en-US" dirty="0">
                <a:solidFill>
                  <a:srgbClr val="FF0000"/>
                </a:solidFill>
                <a:latin typeface="Courier New" panose="02070309020205020404" pitchFamily="49" charset="0"/>
                <a:cs typeface="Courier New" panose="02070309020205020404" pitchFamily="49" charset="0"/>
              </a:rPr>
              <a:t> temp</a:t>
            </a:r>
          </a:p>
        </p:txBody>
      </p:sp>
      <p:sp>
        <p:nvSpPr>
          <p:cNvPr id="3" name="Slide Number Placeholder 2"/>
          <p:cNvSpPr>
            <a:spLocks noGrp="1"/>
          </p:cNvSpPr>
          <p:nvPr>
            <p:ph type="sldNum" sz="quarter" idx="12"/>
          </p:nvPr>
        </p:nvSpPr>
        <p:spPr/>
        <p:txBody>
          <a:bodyPr/>
          <a:lstStyle/>
          <a:p>
            <a:fld id="{6D22F896-40B5-4ADD-8801-0D06FADFA095}" type="slidenum">
              <a:rPr lang="en-US" smtClean="0"/>
              <a:t>67</a:t>
            </a:fld>
            <a:endParaRPr lang="en-US" dirty="0"/>
          </a:p>
        </p:txBody>
      </p:sp>
      <p:sp>
        <p:nvSpPr>
          <p:cNvPr id="4" name="Text Placeholder 3"/>
          <p:cNvSpPr>
            <a:spLocks noGrp="1"/>
          </p:cNvSpPr>
          <p:nvPr>
            <p:ph type="body" sz="quarter" idx="13"/>
          </p:nvPr>
        </p:nvSpPr>
        <p:spPr/>
        <p:txBody>
          <a:bodyPr/>
          <a:lstStyle/>
          <a:p>
            <a:r>
              <a:rPr lang="en-US" dirty="0"/>
              <a:t>6.4</a:t>
            </a:r>
          </a:p>
        </p:txBody>
      </p:sp>
    </p:spTree>
    <p:extLst>
      <p:ext uri="{BB962C8B-B14F-4D97-AF65-F5344CB8AC3E}">
        <p14:creationId xmlns:p14="http://schemas.microsoft.com/office/powerpoint/2010/main" val="55016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rgbClr val="FF0000"/>
                </a:solidFill>
              </a:rPr>
              <a:t>1. (b) (</a:t>
            </a:r>
            <a:r>
              <a:rPr lang="en-US" dirty="0" err="1">
                <a:solidFill>
                  <a:srgbClr val="FF0000"/>
                </a:solidFill>
              </a:rPr>
              <a:t>i</a:t>
            </a:r>
            <a:r>
              <a:rPr lang="en-US" dirty="0">
                <a:solidFill>
                  <a:srgbClr val="FF0000"/>
                </a:solidFill>
              </a:rPr>
              <a:t>)</a:t>
            </a: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dirty="0">
                <a:solidFill>
                  <a:srgbClr val="FF0000"/>
                </a:solidFill>
              </a:rPr>
              <a:t>           (ii)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sortByName</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a:t>
            </a:r>
            <a:r>
              <a:rPr lang="en-US" dirty="0">
                <a:solidFill>
                  <a:srgbClr val="FF0000"/>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to </a:t>
            </a:r>
            <a:r>
              <a:rPr lang="en-US" dirty="0">
                <a:solidFill>
                  <a:srgbClr val="FF0000"/>
                </a:solidFill>
                <a:latin typeface="Courier New" panose="02070309020205020404" pitchFamily="49" charset="0"/>
                <a:cs typeface="Courier New" panose="02070309020205020404" pitchFamily="49" charset="0"/>
              </a:rPr>
              <a:t>7</a:t>
            </a:r>
            <a:r>
              <a:rPr lang="en-US" dirty="0">
                <a:solidFill>
                  <a:srgbClr val="FF0000"/>
                </a:solidFill>
                <a:latin typeface="+mn-lt"/>
                <a:cs typeface="Courier New" panose="02070309020205020404" pitchFamily="49" charset="0"/>
              </a:rPr>
              <a:t> or </a:t>
            </a:r>
            <a:r>
              <a:rPr lang="en-US" dirty="0">
                <a:solidFill>
                  <a:srgbClr val="FF0000"/>
                </a:solidFill>
                <a:latin typeface="Courier New" panose="02070309020205020404" pitchFamily="49" charset="0"/>
                <a:cs typeface="Courier New" panose="02070309020205020404" pitchFamily="49" charset="0"/>
              </a:rPr>
              <a:t>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smallest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for j from </a:t>
            </a:r>
            <a:r>
              <a:rPr lang="en-US" dirty="0">
                <a:solidFill>
                  <a:srgbClr val="FF0000"/>
                </a:solidFill>
                <a:latin typeface="Courier New" panose="02070309020205020404" pitchFamily="49" charset="0"/>
                <a:cs typeface="Courier New" panose="02070309020205020404" pitchFamily="49" charset="0"/>
              </a:rPr>
              <a:t>i+1</a:t>
            </a:r>
            <a:r>
              <a:rPr lang="en-US" dirty="0">
                <a:latin typeface="Courier New" panose="02070309020205020404" pitchFamily="49" charset="0"/>
                <a:cs typeface="Courier New" panose="02070309020205020404" pitchFamily="49" charset="0"/>
              </a:rPr>
              <a:t> to </a:t>
            </a:r>
            <a:r>
              <a:rPr lang="en-US" dirty="0">
                <a:solidFill>
                  <a:srgbClr val="FF0000"/>
                </a:solidFill>
                <a:latin typeface="Courier New" panose="02070309020205020404" pitchFamily="49" charset="0"/>
                <a:cs typeface="Courier New" panose="02070309020205020404" pitchFamily="49" charset="0"/>
              </a:rPr>
              <a:t>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a:solidFill>
                  <a:srgbClr val="FF0000"/>
                </a:solidFill>
                <a:latin typeface="Courier New" panose="02070309020205020404" pitchFamily="49" charset="0"/>
                <a:cs typeface="Courier New" panose="02070309020205020404" pitchFamily="49" charset="0"/>
              </a:rPr>
              <a:t>athlete[j] &lt; athlete[smallest]</a:t>
            </a:r>
            <a:r>
              <a:rPr lang="en-US" dirty="0">
                <a:latin typeface="Courier New" panose="02070309020205020404" pitchFamily="49" charset="0"/>
                <a:cs typeface="Courier New" panose="02070309020205020404" pitchFamily="49" charset="0"/>
              </a:rPr>
              <a:t> 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smallest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j</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Call sub-program swap( </a:t>
            </a:r>
            <a:r>
              <a:rPr lang="en-US" dirty="0" err="1">
                <a:solidFill>
                  <a:srgbClr val="FF0000"/>
                </a:solidFill>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a:solidFill>
                  <a:srgbClr val="FF0000"/>
                </a:solidFill>
                <a:latin typeface="Courier New" panose="02070309020205020404" pitchFamily="49" charset="0"/>
                <a:cs typeface="Courier New" panose="02070309020205020404" pitchFamily="49" charset="0"/>
              </a:rPr>
              <a:t>smallest</a:t>
            </a:r>
            <a:r>
              <a:rPr lang="en-US" dirty="0">
                <a:latin typeface="Courier New" panose="02070309020205020404" pitchFamily="49" charset="0"/>
                <a:cs typeface="Courier New" panose="02070309020205020404" pitchFamily="49" charset="0"/>
              </a:rPr>
              <a:t> )</a:t>
            </a:r>
          </a:p>
        </p:txBody>
      </p:sp>
      <p:sp>
        <p:nvSpPr>
          <p:cNvPr id="3" name="Slide Number Placeholder 2"/>
          <p:cNvSpPr>
            <a:spLocks noGrp="1"/>
          </p:cNvSpPr>
          <p:nvPr>
            <p:ph type="sldNum" sz="quarter" idx="12"/>
          </p:nvPr>
        </p:nvSpPr>
        <p:spPr/>
        <p:txBody>
          <a:bodyPr/>
          <a:lstStyle/>
          <a:p>
            <a:fld id="{6D22F896-40B5-4ADD-8801-0D06FADFA095}" type="slidenum">
              <a:rPr lang="en-US" smtClean="0"/>
              <a:t>68</a:t>
            </a:fld>
            <a:endParaRPr lang="en-US" dirty="0"/>
          </a:p>
        </p:txBody>
      </p:sp>
      <p:sp>
        <p:nvSpPr>
          <p:cNvPr id="4" name="Text Placeholder 3"/>
          <p:cNvSpPr>
            <a:spLocks noGrp="1"/>
          </p:cNvSpPr>
          <p:nvPr>
            <p:ph type="body" sz="quarter" idx="13"/>
          </p:nvPr>
        </p:nvSpPr>
        <p:spPr/>
        <p:txBody>
          <a:bodyPr/>
          <a:lstStyle/>
          <a:p>
            <a:r>
              <a:rPr lang="en-US" dirty="0"/>
              <a:t>6.4</a:t>
            </a:r>
          </a:p>
        </p:txBody>
      </p:sp>
      <p:pic>
        <p:nvPicPr>
          <p:cNvPr id="5" name="Picture 4"/>
          <p:cNvPicPr>
            <a:picLocks noChangeAspect="1"/>
          </p:cNvPicPr>
          <p:nvPr/>
        </p:nvPicPr>
        <p:blipFill>
          <a:blip r:embed="rId2"/>
          <a:stretch>
            <a:fillRect/>
          </a:stretch>
        </p:blipFill>
        <p:spPr>
          <a:xfrm>
            <a:off x="2004216" y="1529522"/>
            <a:ext cx="7605452" cy="1626535"/>
          </a:xfrm>
          <a:prstGeom prst="rect">
            <a:avLst/>
          </a:prstGeom>
        </p:spPr>
      </p:pic>
    </p:spTree>
    <p:extLst>
      <p:ext uri="{BB962C8B-B14F-4D97-AF65-F5344CB8AC3E}">
        <p14:creationId xmlns:p14="http://schemas.microsoft.com/office/powerpoint/2010/main" val="183612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solidFill>
                  <a:srgbClr val="FF0000"/>
                </a:solidFill>
              </a:rPr>
              <a:t>1. (c) (</a:t>
            </a:r>
            <a:r>
              <a:rPr lang="en-US" dirty="0" err="1">
                <a:solidFill>
                  <a:srgbClr val="FF0000"/>
                </a:solidFill>
              </a:rPr>
              <a:t>i</a:t>
            </a:r>
            <a:r>
              <a:rPr lang="en-US" dirty="0">
                <a:solidFill>
                  <a:srgbClr val="FF0000"/>
                </a:solidFill>
              </a:rPr>
              <a:t>)</a:t>
            </a:r>
          </a:p>
          <a:p>
            <a:endParaRPr lang="en-US" dirty="0"/>
          </a:p>
          <a:p>
            <a:endParaRPr lang="en-US" dirty="0"/>
          </a:p>
          <a:p>
            <a:endParaRPr lang="en-US" dirty="0"/>
          </a:p>
          <a:p>
            <a:r>
              <a:rPr lang="en-US" dirty="0"/>
              <a:t>          </a:t>
            </a:r>
            <a:r>
              <a:rPr lang="en-US" dirty="0">
                <a:solidFill>
                  <a:srgbClr val="FF0000"/>
                </a:solidFill>
              </a:rPr>
              <a:t>(ii) </a:t>
            </a:r>
            <a:r>
              <a:rPr lang="en-US" dirty="0">
                <a:latin typeface="Courier New" panose="02070309020205020404" pitchFamily="49" charset="0"/>
                <a:cs typeface="Courier New" panose="02070309020205020404" pitchFamily="49" charset="0"/>
              </a:rPr>
              <a:t>Sub-program </a:t>
            </a:r>
            <a:r>
              <a:rPr lang="en-US" dirty="0" err="1">
                <a:latin typeface="Courier New" panose="02070309020205020404" pitchFamily="49" charset="0"/>
                <a:cs typeface="Courier New" panose="02070309020205020404" pitchFamily="49" charset="0"/>
              </a:rPr>
              <a:t>sortByResult</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a:t>
            </a:r>
            <a:r>
              <a:rPr lang="en-US" dirty="0">
                <a:solidFill>
                  <a:srgbClr val="FF0000"/>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to </a:t>
            </a:r>
            <a:r>
              <a:rPr lang="en-US" dirty="0">
                <a:solidFill>
                  <a:srgbClr val="FF0000"/>
                </a:solidFill>
                <a:latin typeface="Courier New" panose="02070309020205020404" pitchFamily="49" charset="0"/>
                <a:cs typeface="Courier New" panose="02070309020205020404" pitchFamily="49" charset="0"/>
              </a:rPr>
              <a:t>7</a:t>
            </a:r>
            <a:r>
              <a:rPr lang="en-US" dirty="0">
                <a:solidFill>
                  <a:srgbClr val="FF0000"/>
                </a:solidFill>
                <a:latin typeface="+mn-lt"/>
                <a:cs typeface="Courier New" panose="02070309020205020404" pitchFamily="49" charset="0"/>
              </a:rPr>
              <a:t>or</a:t>
            </a:r>
            <a:r>
              <a:rPr lang="en-US" dirty="0">
                <a:solidFill>
                  <a:srgbClr val="FF0000"/>
                </a:solidFill>
                <a:latin typeface="Courier New" panose="02070309020205020404" pitchFamily="49" charset="0"/>
                <a:cs typeface="Courier New" panose="02070309020205020404" pitchFamily="49" charset="0"/>
              </a:rPr>
              <a:t>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highest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I</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for j from </a:t>
            </a:r>
            <a:r>
              <a:rPr lang="en-US" dirty="0">
                <a:solidFill>
                  <a:srgbClr val="FF0000"/>
                </a:solidFill>
                <a:latin typeface="Courier New" panose="02070309020205020404" pitchFamily="49" charset="0"/>
                <a:cs typeface="Courier New" panose="02070309020205020404" pitchFamily="49" charset="0"/>
              </a:rPr>
              <a:t>i+1</a:t>
            </a:r>
            <a:r>
              <a:rPr lang="en-US" dirty="0">
                <a:latin typeface="Courier New" panose="02070309020205020404" pitchFamily="49" charset="0"/>
                <a:cs typeface="Courier New" panose="02070309020205020404" pitchFamily="49" charset="0"/>
              </a:rPr>
              <a:t> to </a:t>
            </a:r>
            <a:r>
              <a:rPr lang="en-US" dirty="0">
                <a:solidFill>
                  <a:srgbClr val="FF0000"/>
                </a:solidFill>
                <a:latin typeface="Courier New" panose="02070309020205020404" pitchFamily="49" charset="0"/>
                <a:cs typeface="Courier New" panose="02070309020205020404" pitchFamily="49" charset="0"/>
              </a:rPr>
              <a:t>8</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if </a:t>
            </a:r>
            <a:r>
              <a:rPr lang="en-US" dirty="0">
                <a:solidFill>
                  <a:srgbClr val="FF0000"/>
                </a:solidFill>
                <a:latin typeface="Courier New" panose="02070309020205020404" pitchFamily="49" charset="0"/>
                <a:cs typeface="Courier New" panose="02070309020205020404" pitchFamily="49" charset="0"/>
              </a:rPr>
              <a:t>result[j] &gt; result[highest]</a:t>
            </a:r>
            <a:r>
              <a:rPr lang="en-US" dirty="0">
                <a:latin typeface="Courier New" panose="02070309020205020404" pitchFamily="49" charset="0"/>
                <a:cs typeface="Courier New" panose="02070309020205020404" pitchFamily="49" charset="0"/>
              </a:rPr>
              <a:t> 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highest </a:t>
            </a:r>
            <a:r>
              <a:rPr lang="en-US" dirty="0">
                <a:latin typeface="Courier New" panose="02070309020205020404" pitchFamily="49" charset="0"/>
                <a:cs typeface="Courier New" panose="02070309020205020404" pitchFamily="49" charset="0"/>
                <a:sym typeface="Wingdings" panose="05000000000000000000" pitchFamily="2" charset="2"/>
              </a:rPr>
              <a:t></a:t>
            </a:r>
            <a:r>
              <a:rPr lang="en-US" dirty="0">
                <a:latin typeface="Courier New" panose="02070309020205020404" pitchFamily="49" charset="0"/>
                <a:cs typeface="Courier New" panose="02070309020205020404" pitchFamily="49" charset="0"/>
              </a:rPr>
              <a:t> j</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Call sub-program swap( </a:t>
            </a:r>
            <a:r>
              <a:rPr lang="en-US" dirty="0" err="1">
                <a:solidFill>
                  <a:srgbClr val="FF0000"/>
                </a:solidFill>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a:t>
            </a:r>
            <a:r>
              <a:rPr lang="en-US" dirty="0">
                <a:solidFill>
                  <a:srgbClr val="FF0000"/>
                </a:solidFill>
                <a:latin typeface="Courier New" panose="02070309020205020404" pitchFamily="49" charset="0"/>
                <a:cs typeface="Courier New" panose="02070309020205020404" pitchFamily="49" charset="0"/>
              </a:rPr>
              <a:t>highest</a:t>
            </a:r>
            <a:r>
              <a:rPr lang="en-US" dirty="0">
                <a:latin typeface="Courier New" panose="02070309020205020404" pitchFamily="49" charset="0"/>
                <a:cs typeface="Courier New" panose="02070309020205020404" pitchFamily="49" charset="0"/>
              </a:rPr>
              <a:t> )</a:t>
            </a:r>
          </a:p>
        </p:txBody>
      </p:sp>
      <p:sp>
        <p:nvSpPr>
          <p:cNvPr id="3" name="Slide Number Placeholder 2"/>
          <p:cNvSpPr>
            <a:spLocks noGrp="1"/>
          </p:cNvSpPr>
          <p:nvPr>
            <p:ph type="sldNum" sz="quarter" idx="12"/>
          </p:nvPr>
        </p:nvSpPr>
        <p:spPr/>
        <p:txBody>
          <a:bodyPr/>
          <a:lstStyle/>
          <a:p>
            <a:fld id="{6D22F896-40B5-4ADD-8801-0D06FADFA095}" type="slidenum">
              <a:rPr lang="en-US" smtClean="0"/>
              <a:t>69</a:t>
            </a:fld>
            <a:endParaRPr lang="en-US" dirty="0"/>
          </a:p>
        </p:txBody>
      </p:sp>
      <p:sp>
        <p:nvSpPr>
          <p:cNvPr id="4" name="Text Placeholder 3"/>
          <p:cNvSpPr>
            <a:spLocks noGrp="1"/>
          </p:cNvSpPr>
          <p:nvPr>
            <p:ph type="body" sz="quarter" idx="13"/>
          </p:nvPr>
        </p:nvSpPr>
        <p:spPr/>
        <p:txBody>
          <a:bodyPr/>
          <a:lstStyle/>
          <a:p>
            <a:r>
              <a:rPr lang="en-US" dirty="0"/>
              <a:t>6.4</a:t>
            </a:r>
          </a:p>
        </p:txBody>
      </p:sp>
      <p:pic>
        <p:nvPicPr>
          <p:cNvPr id="5" name="Picture 4"/>
          <p:cNvPicPr>
            <a:picLocks noChangeAspect="1"/>
          </p:cNvPicPr>
          <p:nvPr/>
        </p:nvPicPr>
        <p:blipFill>
          <a:blip r:embed="rId2"/>
          <a:stretch>
            <a:fillRect/>
          </a:stretch>
        </p:blipFill>
        <p:spPr>
          <a:xfrm>
            <a:off x="1953644" y="1519582"/>
            <a:ext cx="7639243" cy="1670092"/>
          </a:xfrm>
          <a:prstGeom prst="rect">
            <a:avLst/>
          </a:prstGeom>
        </p:spPr>
      </p:pic>
    </p:spTree>
    <p:extLst>
      <p:ext uri="{BB962C8B-B14F-4D97-AF65-F5344CB8AC3E}">
        <p14:creationId xmlns:p14="http://schemas.microsoft.com/office/powerpoint/2010/main" val="87652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70</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b="1" dirty="0">
                <a:solidFill>
                  <a:srgbClr val="504FA0"/>
                </a:solidFill>
              </a:rPr>
              <a:t>Insertion sort</a:t>
            </a:r>
            <a:r>
              <a:rPr lang="en-US" dirty="0"/>
              <a:t> divides the list into the sorted and unsorted parts, then one of the list items in the unsorted part (key value) is inserted into the correct position in the sorted part of the list. </a:t>
            </a:r>
          </a:p>
          <a:p>
            <a:endParaRPr lang="en-US" dirty="0"/>
          </a:p>
          <a:p>
            <a:r>
              <a:rPr lang="en-US" dirty="0"/>
              <a:t>This process is repeated until all list items have been sorted.</a:t>
            </a:r>
          </a:p>
        </p:txBody>
      </p:sp>
    </p:spTree>
    <p:extLst>
      <p:ext uri="{BB962C8B-B14F-4D97-AF65-F5344CB8AC3E}">
        <p14:creationId xmlns:p14="http://schemas.microsoft.com/office/powerpoint/2010/main" val="38881739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71</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The following list mark stores the exam marks of seven students, as shown below:</a:t>
            </a:r>
          </a:p>
          <a:p>
            <a:endParaRPr lang="en-US" dirty="0"/>
          </a:p>
          <a:p>
            <a:endParaRPr lang="en-US" dirty="0"/>
          </a:p>
          <a:p>
            <a:endParaRPr lang="en-US" dirty="0"/>
          </a:p>
          <a:p>
            <a:endParaRPr lang="en-US" dirty="0"/>
          </a:p>
          <a:p>
            <a:r>
              <a:rPr lang="en-US" dirty="0"/>
              <a:t>Suppose that the list is to be sorted in descending order:</a:t>
            </a:r>
          </a:p>
        </p:txBody>
      </p:sp>
      <p:pic>
        <p:nvPicPr>
          <p:cNvPr id="6" name="Picture 5"/>
          <p:cNvPicPr>
            <a:picLocks noChangeAspect="1"/>
          </p:cNvPicPr>
          <p:nvPr/>
        </p:nvPicPr>
        <p:blipFill>
          <a:blip r:embed="rId2"/>
          <a:stretch>
            <a:fillRect/>
          </a:stretch>
        </p:blipFill>
        <p:spPr>
          <a:xfrm>
            <a:off x="1357012" y="2364636"/>
            <a:ext cx="9479176" cy="1009127"/>
          </a:xfrm>
          <a:prstGeom prst="rect">
            <a:avLst/>
          </a:prstGeom>
        </p:spPr>
      </p:pic>
    </p:spTree>
    <p:extLst>
      <p:ext uri="{BB962C8B-B14F-4D97-AF65-F5344CB8AC3E}">
        <p14:creationId xmlns:p14="http://schemas.microsoft.com/office/powerpoint/2010/main" val="31395454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72</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The following Python program uses insertion sort to sort list </a:t>
            </a:r>
            <a:r>
              <a:rPr lang="en-US" dirty="0">
                <a:latin typeface="Courier New" panose="02070309020205020404" pitchFamily="49" charset="0"/>
                <a:cs typeface="Courier New" panose="02070309020205020404" pitchFamily="49" charset="0"/>
              </a:rPr>
              <a:t>mark</a:t>
            </a:r>
            <a:r>
              <a:rPr lang="en-US" dirty="0"/>
              <a:t> in descending order:</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in</a:t>
            </a:r>
            <a:r>
              <a:rPr lang="en-US" sz="1800" dirty="0">
                <a:latin typeface="Courier New" panose="02070309020205020404" pitchFamily="49" charset="0"/>
                <a:cs typeface="Courier New" panose="02070309020205020404" pitchFamily="49" charset="0"/>
              </a:rPr>
              <a:t> </a:t>
            </a:r>
            <a:r>
              <a:rPr lang="en-US" sz="1800" dirty="0">
                <a:solidFill>
                  <a:srgbClr val="7C2573"/>
                </a:solidFill>
                <a:latin typeface="Courier New" panose="02070309020205020404" pitchFamily="49" charset="0"/>
                <a:cs typeface="Courier New" panose="02070309020205020404" pitchFamily="49" charset="0"/>
              </a:rPr>
              <a:t>range</a:t>
            </a:r>
            <a:r>
              <a:rPr lang="en-US" sz="1800" dirty="0">
                <a:latin typeface="Courier New" panose="02070309020205020404" pitchFamily="49" charset="0"/>
                <a:cs typeface="Courier New" panose="02070309020205020404" pitchFamily="49" charset="0"/>
              </a:rPr>
              <a:t>(</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 </a:t>
            </a:r>
            <a:r>
              <a:rPr lang="en-US" sz="1800" dirty="0" err="1">
                <a:solidFill>
                  <a:srgbClr val="7C2573"/>
                </a:solidFill>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(mark)):</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key = mark[</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j = i-</a:t>
            </a:r>
            <a:r>
              <a:rPr lang="en-US" sz="1800" dirty="0">
                <a:solidFill>
                  <a:srgbClr val="AB3D18"/>
                </a:solidFill>
                <a:latin typeface="Courier New" panose="02070309020205020404" pitchFamily="49" charset="0"/>
                <a:cs typeface="Courier New" panose="02070309020205020404" pitchFamily="49" charset="0"/>
              </a:rPr>
              <a:t>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while</a:t>
            </a:r>
            <a:r>
              <a:rPr lang="en-US" sz="1800" dirty="0">
                <a:latin typeface="Courier New" panose="02070309020205020404" pitchFamily="49" charset="0"/>
                <a:cs typeface="Courier New" panose="02070309020205020404" pitchFamily="49" charset="0"/>
              </a:rPr>
              <a:t> j &gt;= </a:t>
            </a:r>
            <a:r>
              <a:rPr lang="en-US" sz="1800" dirty="0">
                <a:solidFill>
                  <a:srgbClr val="AB3D18"/>
                </a:solidFill>
                <a:latin typeface="Courier New" panose="02070309020205020404" pitchFamily="49" charset="0"/>
                <a:cs typeface="Courier New" panose="02070309020205020404" pitchFamily="49" charset="0"/>
              </a:rPr>
              <a:t>0</a:t>
            </a: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and</a:t>
            </a:r>
            <a:r>
              <a:rPr lang="en-US" sz="1800" dirty="0">
                <a:latin typeface="Courier New" panose="02070309020205020404" pitchFamily="49" charset="0"/>
                <a:cs typeface="Courier New" panose="02070309020205020404" pitchFamily="49" charset="0"/>
              </a:rPr>
              <a:t> key &gt; mark[j]: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mark[j+</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 = mark[j]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j = j – </a:t>
            </a:r>
            <a:r>
              <a:rPr lang="en-US" sz="1800" dirty="0">
                <a:solidFill>
                  <a:srgbClr val="AB3D18"/>
                </a:solidFill>
                <a:latin typeface="Courier New" panose="02070309020205020404" pitchFamily="49" charset="0"/>
                <a:cs typeface="Courier New" panose="02070309020205020404" pitchFamily="49" charset="0"/>
              </a:rPr>
              <a:t>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mark[j+</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 = key</a:t>
            </a:r>
          </a:p>
        </p:txBody>
      </p:sp>
    </p:spTree>
    <p:extLst>
      <p:ext uri="{BB962C8B-B14F-4D97-AF65-F5344CB8AC3E}">
        <p14:creationId xmlns:p14="http://schemas.microsoft.com/office/powerpoint/2010/main" val="312572727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73</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1. Firstly, set apart the first item of the list as the sorted part. Then, take out the first item of the unsorted part (known as “key value”).</a:t>
            </a:r>
          </a:p>
        </p:txBody>
      </p:sp>
      <p:pic>
        <p:nvPicPr>
          <p:cNvPr id="6" name="Picture 5"/>
          <p:cNvPicPr>
            <a:picLocks noChangeAspect="1"/>
          </p:cNvPicPr>
          <p:nvPr/>
        </p:nvPicPr>
        <p:blipFill>
          <a:blip r:embed="rId2"/>
          <a:stretch>
            <a:fillRect/>
          </a:stretch>
        </p:blipFill>
        <p:spPr>
          <a:xfrm>
            <a:off x="1810800" y="2734887"/>
            <a:ext cx="3303599" cy="3271834"/>
          </a:xfrm>
          <a:prstGeom prst="rect">
            <a:avLst/>
          </a:prstGeom>
        </p:spPr>
      </p:pic>
      <p:pic>
        <p:nvPicPr>
          <p:cNvPr id="10" name="Picture 9"/>
          <p:cNvPicPr>
            <a:picLocks noChangeAspect="1"/>
          </p:cNvPicPr>
          <p:nvPr/>
        </p:nvPicPr>
        <p:blipFill>
          <a:blip r:embed="rId3"/>
          <a:stretch>
            <a:fillRect/>
          </a:stretch>
        </p:blipFill>
        <p:spPr>
          <a:xfrm>
            <a:off x="6809569" y="2869200"/>
            <a:ext cx="4544231" cy="2910230"/>
          </a:xfrm>
          <a:prstGeom prst="rect">
            <a:avLst/>
          </a:prstGeom>
        </p:spPr>
      </p:pic>
      <p:sp>
        <p:nvSpPr>
          <p:cNvPr id="11" name="Rectangle 10"/>
          <p:cNvSpPr/>
          <p:nvPr/>
        </p:nvSpPr>
        <p:spPr>
          <a:xfrm>
            <a:off x="6735360" y="2838720"/>
            <a:ext cx="4024080" cy="13093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1727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74</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2. To find the correct position for inserting the key value, compare the key value with each list item in the sorted part on the left. If that item is smaller than the key value, move it backwards</a:t>
            </a:r>
          </a:p>
        </p:txBody>
      </p:sp>
      <p:pic>
        <p:nvPicPr>
          <p:cNvPr id="7" name="Picture 6"/>
          <p:cNvPicPr>
            <a:picLocks noChangeAspect="1"/>
          </p:cNvPicPr>
          <p:nvPr/>
        </p:nvPicPr>
        <p:blipFill>
          <a:blip r:embed="rId2"/>
          <a:stretch>
            <a:fillRect/>
          </a:stretch>
        </p:blipFill>
        <p:spPr>
          <a:xfrm>
            <a:off x="6809569" y="2869200"/>
            <a:ext cx="4544231" cy="2910230"/>
          </a:xfrm>
          <a:prstGeom prst="rect">
            <a:avLst/>
          </a:prstGeom>
        </p:spPr>
      </p:pic>
      <p:sp>
        <p:nvSpPr>
          <p:cNvPr id="8" name="Rectangle 7"/>
          <p:cNvSpPr/>
          <p:nvPr/>
        </p:nvSpPr>
        <p:spPr>
          <a:xfrm>
            <a:off x="7257011" y="4106486"/>
            <a:ext cx="4206239" cy="11804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p:nvPicPr>
        <p:blipFill>
          <a:blip r:embed="rId3"/>
          <a:stretch>
            <a:fillRect/>
          </a:stretch>
        </p:blipFill>
        <p:spPr>
          <a:xfrm>
            <a:off x="1918800" y="2869200"/>
            <a:ext cx="3427696" cy="3417166"/>
          </a:xfrm>
          <a:prstGeom prst="rect">
            <a:avLst/>
          </a:prstGeom>
        </p:spPr>
      </p:pic>
    </p:spTree>
    <p:extLst>
      <p:ext uri="{BB962C8B-B14F-4D97-AF65-F5344CB8AC3E}">
        <p14:creationId xmlns:p14="http://schemas.microsoft.com/office/powerpoint/2010/main" val="20400545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75</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3. Since all the list items in the sorted part have been compared, the key value should eventually be inserted into the first position of the list.</a:t>
            </a:r>
          </a:p>
        </p:txBody>
      </p:sp>
      <p:pic>
        <p:nvPicPr>
          <p:cNvPr id="7" name="Picture 6"/>
          <p:cNvPicPr>
            <a:picLocks noChangeAspect="1"/>
          </p:cNvPicPr>
          <p:nvPr/>
        </p:nvPicPr>
        <p:blipFill>
          <a:blip r:embed="rId2"/>
          <a:stretch>
            <a:fillRect/>
          </a:stretch>
        </p:blipFill>
        <p:spPr>
          <a:xfrm>
            <a:off x="6809569" y="2869200"/>
            <a:ext cx="4544231" cy="2910230"/>
          </a:xfrm>
          <a:prstGeom prst="rect">
            <a:avLst/>
          </a:prstGeom>
        </p:spPr>
      </p:pic>
      <p:sp>
        <p:nvSpPr>
          <p:cNvPr id="8" name="Rectangle 7"/>
          <p:cNvSpPr/>
          <p:nvPr/>
        </p:nvSpPr>
        <p:spPr>
          <a:xfrm>
            <a:off x="7223760" y="5386647"/>
            <a:ext cx="2136371" cy="392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p:nvPicPr>
        <p:blipFill>
          <a:blip r:embed="rId3"/>
          <a:stretch>
            <a:fillRect/>
          </a:stretch>
        </p:blipFill>
        <p:spPr>
          <a:xfrm>
            <a:off x="1633378" y="2776451"/>
            <a:ext cx="3588858" cy="3512749"/>
          </a:xfrm>
          <a:prstGeom prst="rect">
            <a:avLst/>
          </a:prstGeom>
        </p:spPr>
      </p:pic>
    </p:spTree>
    <p:extLst>
      <p:ext uri="{BB962C8B-B14F-4D97-AF65-F5344CB8AC3E}">
        <p14:creationId xmlns:p14="http://schemas.microsoft.com/office/powerpoint/2010/main" val="22869585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76</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4. Now, an item is added to the sorted section. Similarly, take out the first item of the unsorted part. Compare it with each list item in the sorted part on the left. If that item is smaller than the key value, move it backwards. </a:t>
            </a:r>
          </a:p>
        </p:txBody>
      </p:sp>
      <p:pic>
        <p:nvPicPr>
          <p:cNvPr id="9" name="Picture 8"/>
          <p:cNvPicPr>
            <a:picLocks noChangeAspect="1"/>
          </p:cNvPicPr>
          <p:nvPr/>
        </p:nvPicPr>
        <p:blipFill>
          <a:blip r:embed="rId2"/>
          <a:stretch>
            <a:fillRect/>
          </a:stretch>
        </p:blipFill>
        <p:spPr>
          <a:xfrm>
            <a:off x="1706474" y="2939820"/>
            <a:ext cx="3759363" cy="3451218"/>
          </a:xfrm>
          <a:prstGeom prst="rect">
            <a:avLst/>
          </a:prstGeom>
        </p:spPr>
      </p:pic>
      <p:pic>
        <p:nvPicPr>
          <p:cNvPr id="10" name="Picture 9"/>
          <p:cNvPicPr>
            <a:picLocks noChangeAspect="1"/>
          </p:cNvPicPr>
          <p:nvPr/>
        </p:nvPicPr>
        <p:blipFill>
          <a:blip r:embed="rId3"/>
          <a:stretch>
            <a:fillRect/>
          </a:stretch>
        </p:blipFill>
        <p:spPr>
          <a:xfrm>
            <a:off x="6809569" y="2869200"/>
            <a:ext cx="4544231" cy="2910230"/>
          </a:xfrm>
          <a:prstGeom prst="rect">
            <a:avLst/>
          </a:prstGeom>
        </p:spPr>
      </p:pic>
      <p:sp>
        <p:nvSpPr>
          <p:cNvPr id="11" name="Rectangle 10"/>
          <p:cNvSpPr/>
          <p:nvPr/>
        </p:nvSpPr>
        <p:spPr>
          <a:xfrm>
            <a:off x="7223760" y="4156365"/>
            <a:ext cx="4130040" cy="119703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17861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77</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5. When a larger item is found, stop moving the items. Here is the position where the key value should be inserted into the list.</a:t>
            </a:r>
          </a:p>
        </p:txBody>
      </p:sp>
      <p:pic>
        <p:nvPicPr>
          <p:cNvPr id="6" name="Picture 5"/>
          <p:cNvPicPr>
            <a:picLocks noChangeAspect="1"/>
          </p:cNvPicPr>
          <p:nvPr/>
        </p:nvPicPr>
        <p:blipFill>
          <a:blip r:embed="rId2"/>
          <a:stretch>
            <a:fillRect/>
          </a:stretch>
        </p:blipFill>
        <p:spPr>
          <a:xfrm>
            <a:off x="1490254" y="2869200"/>
            <a:ext cx="3709667" cy="3294554"/>
          </a:xfrm>
          <a:prstGeom prst="rect">
            <a:avLst/>
          </a:prstGeom>
        </p:spPr>
      </p:pic>
      <p:pic>
        <p:nvPicPr>
          <p:cNvPr id="7" name="Picture 6"/>
          <p:cNvPicPr>
            <a:picLocks noChangeAspect="1"/>
          </p:cNvPicPr>
          <p:nvPr/>
        </p:nvPicPr>
        <p:blipFill>
          <a:blip r:embed="rId3"/>
          <a:stretch>
            <a:fillRect/>
          </a:stretch>
        </p:blipFill>
        <p:spPr>
          <a:xfrm>
            <a:off x="6809569" y="2869200"/>
            <a:ext cx="4544231" cy="2910230"/>
          </a:xfrm>
          <a:prstGeom prst="rect">
            <a:avLst/>
          </a:prstGeom>
        </p:spPr>
      </p:pic>
      <p:sp>
        <p:nvSpPr>
          <p:cNvPr id="8" name="Rectangle 7"/>
          <p:cNvSpPr/>
          <p:nvPr/>
        </p:nvSpPr>
        <p:spPr>
          <a:xfrm>
            <a:off x="7223760" y="5386647"/>
            <a:ext cx="2161309" cy="3927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2244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78</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6. Repeat the above operations.</a:t>
            </a:r>
          </a:p>
        </p:txBody>
      </p:sp>
      <p:pic>
        <p:nvPicPr>
          <p:cNvPr id="6" name="Picture 5"/>
          <p:cNvPicPr>
            <a:picLocks noChangeAspect="1"/>
          </p:cNvPicPr>
          <p:nvPr/>
        </p:nvPicPr>
        <p:blipFill>
          <a:blip r:embed="rId2"/>
          <a:stretch>
            <a:fillRect/>
          </a:stretch>
        </p:blipFill>
        <p:spPr>
          <a:xfrm>
            <a:off x="6809569" y="2869200"/>
            <a:ext cx="4544231" cy="2910230"/>
          </a:xfrm>
          <a:prstGeom prst="rect">
            <a:avLst/>
          </a:prstGeom>
        </p:spPr>
      </p:pic>
      <p:pic>
        <p:nvPicPr>
          <p:cNvPr id="8" name="Picture 7"/>
          <p:cNvPicPr>
            <a:picLocks noChangeAspect="1"/>
          </p:cNvPicPr>
          <p:nvPr/>
        </p:nvPicPr>
        <p:blipFill>
          <a:blip r:embed="rId3"/>
          <a:stretch>
            <a:fillRect/>
          </a:stretch>
        </p:blipFill>
        <p:spPr>
          <a:xfrm>
            <a:off x="1660793" y="2413682"/>
            <a:ext cx="3570581" cy="3977356"/>
          </a:xfrm>
          <a:prstGeom prst="rect">
            <a:avLst/>
          </a:prstGeom>
        </p:spPr>
      </p:pic>
    </p:spTree>
    <p:extLst>
      <p:ext uri="{BB962C8B-B14F-4D97-AF65-F5344CB8AC3E}">
        <p14:creationId xmlns:p14="http://schemas.microsoft.com/office/powerpoint/2010/main" val="16756434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79</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lstStyle/>
          <a:p>
            <a:r>
              <a:rPr lang="en-US" dirty="0"/>
              <a:t>7. Repeat until all list items have been sorted.</a:t>
            </a:r>
          </a:p>
        </p:txBody>
      </p:sp>
      <p:pic>
        <p:nvPicPr>
          <p:cNvPr id="6" name="Picture 5"/>
          <p:cNvPicPr>
            <a:picLocks noChangeAspect="1"/>
          </p:cNvPicPr>
          <p:nvPr/>
        </p:nvPicPr>
        <p:blipFill>
          <a:blip r:embed="rId2"/>
          <a:stretch>
            <a:fillRect/>
          </a:stretch>
        </p:blipFill>
        <p:spPr>
          <a:xfrm>
            <a:off x="3705346" y="2726393"/>
            <a:ext cx="4466625" cy="2622924"/>
          </a:xfrm>
          <a:prstGeom prst="rect">
            <a:avLst/>
          </a:prstGeom>
        </p:spPr>
      </p:pic>
    </p:spTree>
    <p:extLst>
      <p:ext uri="{BB962C8B-B14F-4D97-AF65-F5344CB8AC3E}">
        <p14:creationId xmlns:p14="http://schemas.microsoft.com/office/powerpoint/2010/main" val="15688234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Activity 6.4 on P. 244 of the textbook.</a:t>
            </a:r>
          </a:p>
          <a:p>
            <a:endParaRPr lang="en-US" dirty="0"/>
          </a:p>
          <a:p>
            <a:r>
              <a:rPr lang="en-US" dirty="0">
                <a:solidFill>
                  <a:srgbClr val="FF0000"/>
                </a:solidFill>
              </a:rPr>
              <a:t>1. 0</a:t>
            </a:r>
            <a:br>
              <a:rPr lang="en-US" dirty="0">
                <a:solidFill>
                  <a:srgbClr val="FF0000"/>
                </a:solidFill>
              </a:rPr>
            </a:br>
            <a:endParaRPr lang="en-US" dirty="0">
              <a:solidFill>
                <a:srgbClr val="FF0000"/>
              </a:solidFill>
            </a:endParaRPr>
          </a:p>
          <a:p>
            <a:r>
              <a:rPr lang="en-US" dirty="0">
                <a:solidFill>
                  <a:srgbClr val="FF0000"/>
                </a:solidFill>
              </a:rPr>
              <a:t>2. 9</a:t>
            </a:r>
          </a:p>
        </p:txBody>
      </p:sp>
      <p:sp>
        <p:nvSpPr>
          <p:cNvPr id="3" name="Slide Number Placeholder 2"/>
          <p:cNvSpPr>
            <a:spLocks noGrp="1"/>
          </p:cNvSpPr>
          <p:nvPr>
            <p:ph type="sldNum" sz="quarter" idx="12"/>
          </p:nvPr>
        </p:nvSpPr>
        <p:spPr/>
        <p:txBody>
          <a:bodyPr/>
          <a:lstStyle/>
          <a:p>
            <a:fld id="{6D22F896-40B5-4ADD-8801-0D06FADFA095}" type="slidenum">
              <a:rPr lang="en-US" smtClean="0"/>
              <a:t>80</a:t>
            </a:fld>
            <a:endParaRPr lang="en-US" dirty="0"/>
          </a:p>
        </p:txBody>
      </p:sp>
      <p:sp>
        <p:nvSpPr>
          <p:cNvPr id="4" name="Text Placeholder 3"/>
          <p:cNvSpPr>
            <a:spLocks noGrp="1"/>
          </p:cNvSpPr>
          <p:nvPr>
            <p:ph type="body" sz="quarter" idx="13"/>
          </p:nvPr>
        </p:nvSpPr>
        <p:spPr/>
        <p:txBody>
          <a:bodyPr/>
          <a:lstStyle/>
          <a:p>
            <a:r>
              <a:rPr lang="en-US" dirty="0"/>
              <a:t>6.4</a:t>
            </a:r>
          </a:p>
        </p:txBody>
      </p:sp>
    </p:spTree>
    <p:extLst>
      <p:ext uri="{BB962C8B-B14F-4D97-AF65-F5344CB8AC3E}">
        <p14:creationId xmlns:p14="http://schemas.microsoft.com/office/powerpoint/2010/main" val="2270628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81</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rmAutofit/>
          </a:bodyPr>
          <a:lstStyle/>
          <a:p>
            <a:r>
              <a:rPr lang="en-US" dirty="0"/>
              <a:t>Every time when the loop body of insertion sort is executed:</a:t>
            </a:r>
          </a:p>
          <a:p>
            <a:endParaRPr lang="en-US" dirty="0"/>
          </a:p>
          <a:p>
            <a:pPr marL="342900" indent="-342900">
              <a:buFont typeface="Arial" panose="020B0604020202020204" pitchFamily="34" charset="0"/>
              <a:buChar char="•"/>
            </a:pPr>
            <a:r>
              <a:rPr lang="en-US" dirty="0"/>
              <a:t>the best case is the key value is smaller than the item on the left.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worst case is the key value should be inserted into the first position of the list. If the index of the key value is K, it needs to perform (K – 1) comparisons and swapping.</a:t>
            </a:r>
          </a:p>
        </p:txBody>
      </p:sp>
    </p:spTree>
    <p:extLst>
      <p:ext uri="{BB962C8B-B14F-4D97-AF65-F5344CB8AC3E}">
        <p14:creationId xmlns:p14="http://schemas.microsoft.com/office/powerpoint/2010/main" val="34680505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82</a:t>
            </a:fld>
            <a:endParaRPr lang="en-US" dirty="0"/>
          </a:p>
        </p:txBody>
      </p:sp>
      <p:sp>
        <p:nvSpPr>
          <p:cNvPr id="4" name="Text Placeholder 3"/>
          <p:cNvSpPr>
            <a:spLocks noGrp="1"/>
          </p:cNvSpPr>
          <p:nvPr>
            <p:ph type="body" sz="quarter" idx="14"/>
          </p:nvPr>
        </p:nvSpPr>
        <p:spPr/>
        <p:txBody>
          <a:bodyPr/>
          <a:lstStyle/>
          <a:p>
            <a:r>
              <a:rPr lang="en-US" dirty="0"/>
              <a:t>B</a:t>
            </a:r>
          </a:p>
        </p:txBody>
      </p:sp>
      <p:sp>
        <p:nvSpPr>
          <p:cNvPr id="5" name="Content Placeholder 4"/>
          <p:cNvSpPr>
            <a:spLocks noGrp="1"/>
          </p:cNvSpPr>
          <p:nvPr>
            <p:ph sz="quarter" idx="15"/>
          </p:nvPr>
        </p:nvSpPr>
        <p:spPr/>
        <p:txBody>
          <a:bodyPr>
            <a:normAutofit/>
          </a:bodyPr>
          <a:lstStyle/>
          <a:p>
            <a:r>
              <a:rPr lang="en-US" dirty="0"/>
              <a:t>To conclude, suppose that a list with N items is to be sorted in descending order,</a:t>
            </a:r>
          </a:p>
          <a:p>
            <a:endParaRPr lang="en-US" dirty="0"/>
          </a:p>
          <a:p>
            <a:pPr marL="342900" indent="-342900">
              <a:buFont typeface="Arial" panose="020B0604020202020204" pitchFamily="34" charset="0"/>
              <a:buChar char="•"/>
            </a:pPr>
            <a:r>
              <a:rPr lang="en-US" dirty="0"/>
              <a:t>the best case is the list happens to be sorted in descending order</a:t>
            </a:r>
            <a:br>
              <a:rPr lang="en-US" dirty="0"/>
            </a:br>
            <a:endParaRPr lang="en-US" dirty="0"/>
          </a:p>
          <a:p>
            <a:pPr marL="342900" indent="-342900">
              <a:buFont typeface="Arial" panose="020B0604020202020204" pitchFamily="34" charset="0"/>
              <a:buChar char="•"/>
            </a:pPr>
            <a:r>
              <a:rPr lang="en-US" dirty="0"/>
              <a:t>the worst case is the list happens to be sorted in ascending order. </a:t>
            </a:r>
          </a:p>
          <a:p>
            <a:endParaRPr lang="en-US" dirty="0"/>
          </a:p>
          <a:p>
            <a:r>
              <a:rPr lang="en-US" dirty="0"/>
              <a:t>The number of comparisons and swapping for completing the whole insertion sort is:</a:t>
            </a:r>
          </a:p>
        </p:txBody>
      </p:sp>
      <p:pic>
        <p:nvPicPr>
          <p:cNvPr id="6" name="Picture 5"/>
          <p:cNvPicPr>
            <a:picLocks noChangeAspect="1"/>
          </p:cNvPicPr>
          <p:nvPr/>
        </p:nvPicPr>
        <p:blipFill>
          <a:blip r:embed="rId2"/>
          <a:stretch>
            <a:fillRect/>
          </a:stretch>
        </p:blipFill>
        <p:spPr>
          <a:xfrm>
            <a:off x="3265833" y="5212178"/>
            <a:ext cx="5662036" cy="770267"/>
          </a:xfrm>
          <a:prstGeom prst="rect">
            <a:avLst/>
          </a:prstGeom>
        </p:spPr>
      </p:pic>
    </p:spTree>
    <p:extLst>
      <p:ext uri="{BB962C8B-B14F-4D97-AF65-F5344CB8AC3E}">
        <p14:creationId xmlns:p14="http://schemas.microsoft.com/office/powerpoint/2010/main" val="6497592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1. Brian is writing a price comparison website. He records the price of goods at eight shops in array </a:t>
            </a:r>
            <a:r>
              <a:rPr lang="en-US" dirty="0">
                <a:latin typeface="Courier New" panose="02070309020205020404" pitchFamily="49" charset="0"/>
                <a:cs typeface="Courier New" panose="02070309020205020404" pitchFamily="49" charset="0"/>
              </a:rPr>
              <a:t>price</a:t>
            </a:r>
            <a:r>
              <a:rPr lang="en-US" dirty="0"/>
              <a:t> as follows:</a:t>
            </a:r>
          </a:p>
          <a:p>
            <a:endParaRPr lang="en-US" dirty="0"/>
          </a:p>
          <a:p>
            <a:endParaRPr lang="en-US" dirty="0"/>
          </a:p>
          <a:p>
            <a:r>
              <a:rPr lang="en-US" dirty="0"/>
              <a:t>He has written the following algorithm, which sorts the items in </a:t>
            </a:r>
            <a:r>
              <a:rPr lang="en-US" dirty="0">
                <a:latin typeface="Courier New" panose="02070309020205020404" pitchFamily="49" charset="0"/>
                <a:cs typeface="Courier New" panose="02070309020205020404" pitchFamily="49" charset="0"/>
              </a:rPr>
              <a:t>price</a:t>
            </a:r>
            <a:r>
              <a:rPr lang="en-US" dirty="0"/>
              <a:t> using insertion sort, as well as a sub-program </a:t>
            </a:r>
            <a:r>
              <a:rPr lang="en-US" dirty="0">
                <a:latin typeface="Courier New" panose="02070309020205020404" pitchFamily="49" charset="0"/>
                <a:cs typeface="Courier New" panose="02070309020205020404" pitchFamily="49" charset="0"/>
              </a:rPr>
              <a:t>swap(a, b)</a:t>
            </a:r>
            <a:r>
              <a:rPr lang="en-US" dirty="0"/>
              <a:t>, which swaps the values of items </a:t>
            </a:r>
            <a:r>
              <a:rPr lang="en-US" dirty="0">
                <a:latin typeface="Courier New" panose="02070309020205020404" pitchFamily="49" charset="0"/>
                <a:cs typeface="Courier New" panose="02070309020205020404" pitchFamily="49" charset="0"/>
              </a:rPr>
              <a:t>a</a:t>
            </a:r>
            <a:r>
              <a:rPr lang="en-US" dirty="0"/>
              <a:t> and </a:t>
            </a:r>
            <a:r>
              <a:rPr lang="en-US" dirty="0">
                <a:latin typeface="Courier New" panose="02070309020205020404" pitchFamily="49" charset="0"/>
                <a:cs typeface="Courier New" panose="02070309020205020404" pitchFamily="49" charset="0"/>
              </a:rPr>
              <a:t>b</a:t>
            </a:r>
            <a:r>
              <a:rPr lang="en-US" dirty="0"/>
              <a:t> in array.</a:t>
            </a:r>
          </a:p>
          <a:p>
            <a:r>
              <a:rPr lang="en-US" sz="1800" dirty="0">
                <a:latin typeface="Courier New" panose="02070309020205020404" pitchFamily="49" charset="0"/>
                <a:cs typeface="Courier New" panose="02070309020205020404" pitchFamily="49" charset="0"/>
              </a:rPr>
              <a:t>	</a:t>
            </a:r>
            <a:r>
              <a:rPr lang="en-US" sz="1800" b="1" u="sng" dirty="0">
                <a:latin typeface="Courier New" panose="02070309020205020404" pitchFamily="49" charset="0"/>
                <a:cs typeface="Courier New" panose="02070309020205020404" pitchFamily="49" charset="0"/>
              </a:rPr>
              <a:t>Line</a:t>
            </a:r>
            <a:r>
              <a:rPr lang="en-US" sz="1800" dirty="0">
                <a:latin typeface="Courier New" panose="02070309020205020404" pitchFamily="49" charset="0"/>
                <a:cs typeface="Courier New" panose="02070309020205020404" pitchFamily="49" charset="0"/>
              </a:rPr>
              <a:t> 	</a:t>
            </a:r>
            <a:r>
              <a:rPr lang="en-US" sz="1800" b="1" u="sng" dirty="0">
                <a:latin typeface="Courier New" panose="02070309020205020404" pitchFamily="49" charset="0"/>
                <a:cs typeface="Courier New" panose="02070309020205020404" pitchFamily="49" charset="0"/>
              </a:rPr>
              <a:t>Pseudocode</a:t>
            </a:r>
          </a:p>
          <a:p>
            <a:r>
              <a:rPr lang="en-US" sz="1800" dirty="0">
                <a:latin typeface="Courier New" panose="02070309020205020404" pitchFamily="49" charset="0"/>
                <a:cs typeface="Courier New" panose="02070309020205020404" pitchFamily="49" charset="0"/>
              </a:rPr>
              <a:t> 	 1 	for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from 1 to 7</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2 		while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&gt; 0 AND price[</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&lt; price[i-1]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3 			swap(price[</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price[i-1])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4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- 1</a:t>
            </a:r>
          </a:p>
        </p:txBody>
      </p:sp>
      <p:sp>
        <p:nvSpPr>
          <p:cNvPr id="3" name="Slide Number Placeholder 2"/>
          <p:cNvSpPr>
            <a:spLocks noGrp="1"/>
          </p:cNvSpPr>
          <p:nvPr>
            <p:ph type="sldNum" sz="quarter" idx="12"/>
          </p:nvPr>
        </p:nvSpPr>
        <p:spPr/>
        <p:txBody>
          <a:bodyPr/>
          <a:lstStyle/>
          <a:p>
            <a:fld id="{6D22F896-40B5-4ADD-8801-0D06FADFA095}" type="slidenum">
              <a:rPr lang="en-US" smtClean="0"/>
              <a:t>83</a:t>
            </a:fld>
            <a:endParaRPr lang="en-US" dirty="0"/>
          </a:p>
        </p:txBody>
      </p:sp>
      <p:sp>
        <p:nvSpPr>
          <p:cNvPr id="4" name="Text Placeholder 3"/>
          <p:cNvSpPr>
            <a:spLocks noGrp="1"/>
          </p:cNvSpPr>
          <p:nvPr>
            <p:ph type="body" sz="quarter" idx="13"/>
          </p:nvPr>
        </p:nvSpPr>
        <p:spPr/>
        <p:txBody>
          <a:bodyPr/>
          <a:lstStyle/>
          <a:p>
            <a:r>
              <a:rPr lang="en-US" dirty="0"/>
              <a:t>6.4</a:t>
            </a:r>
          </a:p>
        </p:txBody>
      </p:sp>
      <p:pic>
        <p:nvPicPr>
          <p:cNvPr id="5" name="Picture 4"/>
          <p:cNvPicPr>
            <a:picLocks noChangeAspect="1"/>
          </p:cNvPicPr>
          <p:nvPr/>
        </p:nvPicPr>
        <p:blipFill>
          <a:blip r:embed="rId2"/>
          <a:stretch>
            <a:fillRect/>
          </a:stretch>
        </p:blipFill>
        <p:spPr>
          <a:xfrm>
            <a:off x="1897081" y="2338950"/>
            <a:ext cx="8397837" cy="786400"/>
          </a:xfrm>
          <a:prstGeom prst="rect">
            <a:avLst/>
          </a:prstGeom>
        </p:spPr>
      </p:pic>
    </p:spTree>
    <p:extLst>
      <p:ext uri="{BB962C8B-B14F-4D97-AF65-F5344CB8AC3E}">
        <p14:creationId xmlns:p14="http://schemas.microsoft.com/office/powerpoint/2010/main" val="34638324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a:t>
            </a:r>
            <a:r>
              <a:rPr lang="en-US" dirty="0" err="1"/>
              <a:t>i</a:t>
            </a:r>
            <a:r>
              <a:rPr lang="en-US" dirty="0"/>
              <a:t>) Write down the content of price after the loop body of </a:t>
            </a:r>
            <a:r>
              <a:rPr lang="en-US" dirty="0" err="1"/>
              <a:t>i</a:t>
            </a:r>
            <a:r>
              <a:rPr lang="en-US" dirty="0"/>
              <a:t> = 1 has been executed.</a:t>
            </a:r>
          </a:p>
          <a:p>
            <a:endParaRPr lang="en-US" dirty="0"/>
          </a:p>
          <a:p>
            <a:br>
              <a:rPr lang="en-US" dirty="0"/>
            </a:br>
            <a:endParaRPr lang="en-US" dirty="0"/>
          </a:p>
          <a:p>
            <a:r>
              <a:rPr lang="en-US" dirty="0"/>
              <a:t>     (ii) Write down the content of price after the loop body of </a:t>
            </a:r>
            <a:r>
              <a:rPr lang="en-US" dirty="0" err="1"/>
              <a:t>i</a:t>
            </a:r>
            <a:r>
              <a:rPr lang="en-US" dirty="0"/>
              <a:t> = 3 has been executed.</a:t>
            </a:r>
            <a:br>
              <a:rPr lang="en-US" dirty="0"/>
            </a:br>
            <a:br>
              <a:rPr lang="en-US" dirty="0"/>
            </a:br>
            <a:br>
              <a:rPr lang="en-US" dirty="0"/>
            </a:br>
            <a:endParaRPr lang="en-US" dirty="0"/>
          </a:p>
          <a:p>
            <a:r>
              <a:rPr lang="en-US" dirty="0"/>
              <a:t>     (iii) Write down the final content of price after the above algorithm has been executed.</a:t>
            </a:r>
          </a:p>
        </p:txBody>
      </p:sp>
      <p:sp>
        <p:nvSpPr>
          <p:cNvPr id="3" name="Slide Number Placeholder 2"/>
          <p:cNvSpPr>
            <a:spLocks noGrp="1"/>
          </p:cNvSpPr>
          <p:nvPr>
            <p:ph type="sldNum" sz="quarter" idx="12"/>
          </p:nvPr>
        </p:nvSpPr>
        <p:spPr/>
        <p:txBody>
          <a:bodyPr/>
          <a:lstStyle/>
          <a:p>
            <a:fld id="{6D22F896-40B5-4ADD-8801-0D06FADFA095}" type="slidenum">
              <a:rPr lang="en-US" smtClean="0"/>
              <a:t>84</a:t>
            </a:fld>
            <a:endParaRPr lang="en-US" dirty="0"/>
          </a:p>
        </p:txBody>
      </p:sp>
      <p:sp>
        <p:nvSpPr>
          <p:cNvPr id="4" name="Text Placeholder 3"/>
          <p:cNvSpPr>
            <a:spLocks noGrp="1"/>
          </p:cNvSpPr>
          <p:nvPr>
            <p:ph type="body" sz="quarter" idx="13"/>
          </p:nvPr>
        </p:nvSpPr>
        <p:spPr/>
        <p:txBody>
          <a:bodyPr/>
          <a:lstStyle/>
          <a:p>
            <a:r>
              <a:rPr lang="en-US" dirty="0"/>
              <a:t>6.4</a:t>
            </a:r>
          </a:p>
        </p:txBody>
      </p:sp>
      <p:pic>
        <p:nvPicPr>
          <p:cNvPr id="5" name="Picture 4"/>
          <p:cNvPicPr>
            <a:picLocks noChangeAspect="1"/>
          </p:cNvPicPr>
          <p:nvPr/>
        </p:nvPicPr>
        <p:blipFill>
          <a:blip r:embed="rId2"/>
          <a:stretch>
            <a:fillRect/>
          </a:stretch>
        </p:blipFill>
        <p:spPr>
          <a:xfrm>
            <a:off x="1725682" y="2021860"/>
            <a:ext cx="8740635" cy="779057"/>
          </a:xfrm>
          <a:prstGeom prst="rect">
            <a:avLst/>
          </a:prstGeom>
        </p:spPr>
      </p:pic>
      <p:pic>
        <p:nvPicPr>
          <p:cNvPr id="6" name="Picture 5"/>
          <p:cNvPicPr>
            <a:picLocks noChangeAspect="1"/>
          </p:cNvPicPr>
          <p:nvPr/>
        </p:nvPicPr>
        <p:blipFill>
          <a:blip r:embed="rId3"/>
          <a:stretch>
            <a:fillRect/>
          </a:stretch>
        </p:blipFill>
        <p:spPr>
          <a:xfrm>
            <a:off x="1688669" y="3873600"/>
            <a:ext cx="8814660" cy="743558"/>
          </a:xfrm>
          <a:prstGeom prst="rect">
            <a:avLst/>
          </a:prstGeom>
        </p:spPr>
      </p:pic>
      <p:pic>
        <p:nvPicPr>
          <p:cNvPr id="7" name="Picture 6"/>
          <p:cNvPicPr>
            <a:picLocks noChangeAspect="1"/>
          </p:cNvPicPr>
          <p:nvPr/>
        </p:nvPicPr>
        <p:blipFill>
          <a:blip r:embed="rId4"/>
          <a:stretch>
            <a:fillRect/>
          </a:stretch>
        </p:blipFill>
        <p:spPr>
          <a:xfrm>
            <a:off x="1688669" y="5390393"/>
            <a:ext cx="8814660" cy="784518"/>
          </a:xfrm>
          <a:prstGeom prst="rect">
            <a:avLst/>
          </a:prstGeom>
        </p:spPr>
      </p:pic>
    </p:spTree>
    <p:extLst>
      <p:ext uri="{BB962C8B-B14F-4D97-AF65-F5344CB8AC3E}">
        <p14:creationId xmlns:p14="http://schemas.microsoft.com/office/powerpoint/2010/main" val="36805991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How many times has line 3 been executed?</a:t>
            </a:r>
          </a:p>
          <a:p>
            <a:endParaRPr lang="en-US" dirty="0"/>
          </a:p>
          <a:p>
            <a:r>
              <a:rPr lang="en-US" dirty="0"/>
              <a:t>      (ii) In what situation will line 3 be executed for the least number of times?</a:t>
            </a:r>
          </a:p>
          <a:p>
            <a:endParaRPr lang="en-US" dirty="0"/>
          </a:p>
          <a:p>
            <a:r>
              <a:rPr lang="en-US" dirty="0"/>
              <a:t>     (iii) In what situation will line 3 be executed for the greatest number of times?</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85</a:t>
            </a:fld>
            <a:endParaRPr lang="en-US" dirty="0"/>
          </a:p>
        </p:txBody>
      </p:sp>
      <p:sp>
        <p:nvSpPr>
          <p:cNvPr id="4" name="Text Placeholder 3"/>
          <p:cNvSpPr>
            <a:spLocks noGrp="1"/>
          </p:cNvSpPr>
          <p:nvPr>
            <p:ph type="body" sz="quarter" idx="13"/>
          </p:nvPr>
        </p:nvSpPr>
        <p:spPr/>
        <p:txBody>
          <a:bodyPr/>
          <a:lstStyle/>
          <a:p>
            <a:r>
              <a:rPr lang="en-US" dirty="0"/>
              <a:t>6.4</a:t>
            </a:r>
          </a:p>
        </p:txBody>
      </p:sp>
    </p:spTree>
    <p:extLst>
      <p:ext uri="{BB962C8B-B14F-4D97-AF65-F5344CB8AC3E}">
        <p14:creationId xmlns:p14="http://schemas.microsoft.com/office/powerpoint/2010/main" val="22446953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(c) Henry writes the following algorithm, which produces the same result as Brian’s algorithm.</a:t>
            </a:r>
            <a:br>
              <a:rPr lang="en-US" dirty="0"/>
            </a:br>
            <a:endParaRPr lang="en-US" dirty="0"/>
          </a:p>
          <a:p>
            <a:r>
              <a:rPr lang="en-US" sz="1800" b="1" dirty="0">
                <a:latin typeface="Courier New" panose="02070309020205020404" pitchFamily="49" charset="0"/>
                <a:cs typeface="Courier New" panose="02070309020205020404" pitchFamily="49" charset="0"/>
              </a:rPr>
              <a:t>	</a:t>
            </a:r>
            <a:r>
              <a:rPr lang="en-US" sz="1800" b="1" u="sng" dirty="0">
                <a:latin typeface="Courier New" panose="02070309020205020404" pitchFamily="49" charset="0"/>
                <a:cs typeface="Courier New" panose="02070309020205020404" pitchFamily="49" charset="0"/>
              </a:rPr>
              <a:t>Line</a:t>
            </a:r>
            <a:r>
              <a:rPr lang="en-US" sz="1800" dirty="0">
                <a:latin typeface="Courier New" panose="02070309020205020404" pitchFamily="49" charset="0"/>
                <a:cs typeface="Courier New" panose="02070309020205020404" pitchFamily="49" charset="0"/>
              </a:rPr>
              <a:t> 	</a:t>
            </a:r>
            <a:r>
              <a:rPr lang="en-US" sz="1800" b="1" u="sng" dirty="0">
                <a:latin typeface="Courier New" panose="02070309020205020404" pitchFamily="49" charset="0"/>
                <a:cs typeface="Courier New" panose="02070309020205020404" pitchFamily="49" charset="0"/>
              </a:rPr>
              <a:t>Pseudocode</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1 	for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from 0 to 7</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2 	key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price[</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3 	j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i-1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4 	while j &gt;= 0 AND key &lt; price[j]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5 	price[j+1]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price[j]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6 	j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j – 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7 	price[j+1]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key</a:t>
            </a:r>
          </a:p>
          <a:p>
            <a:endParaRPr lang="en-US" sz="1800" dirty="0">
              <a:latin typeface="Courier New" panose="02070309020205020404" pitchFamily="49" charset="0"/>
              <a:cs typeface="Courier New" panose="02070309020205020404" pitchFamily="49" charset="0"/>
            </a:endParaRPr>
          </a:p>
          <a:p>
            <a:r>
              <a:rPr lang="en-US" dirty="0"/>
              <a:t>Which algorithm do you think is more efficient? Explain briefly.</a:t>
            </a:r>
            <a:endParaRPr lang="en-US" dirty="0">
              <a:latin typeface="Courier New" panose="02070309020205020404" pitchFamily="49" charset="0"/>
              <a:cs typeface="Courier New" panose="02070309020205020404" pitchFamily="49" charset="0"/>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86</a:t>
            </a:fld>
            <a:endParaRPr lang="en-US" dirty="0"/>
          </a:p>
        </p:txBody>
      </p:sp>
      <p:sp>
        <p:nvSpPr>
          <p:cNvPr id="4" name="Text Placeholder 3"/>
          <p:cNvSpPr>
            <a:spLocks noGrp="1"/>
          </p:cNvSpPr>
          <p:nvPr>
            <p:ph type="body" sz="quarter" idx="13"/>
          </p:nvPr>
        </p:nvSpPr>
        <p:spPr/>
        <p:txBody>
          <a:bodyPr/>
          <a:lstStyle/>
          <a:p>
            <a:r>
              <a:rPr lang="en-US" dirty="0"/>
              <a:t>6.4</a:t>
            </a:r>
          </a:p>
        </p:txBody>
      </p:sp>
    </p:spTree>
    <p:extLst>
      <p:ext uri="{BB962C8B-B14F-4D97-AF65-F5344CB8AC3E}">
        <p14:creationId xmlns:p14="http://schemas.microsoft.com/office/powerpoint/2010/main" val="27619670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37A3D4"/>
                </a:solidFill>
              </a:rPr>
              <a:t>◣ Solution</a:t>
            </a:r>
          </a:p>
          <a:p>
            <a:r>
              <a:rPr lang="en-US" dirty="0"/>
              <a:t>(a) (</a:t>
            </a:r>
            <a:r>
              <a:rPr lang="en-US" dirty="0" err="1"/>
              <a:t>i</a:t>
            </a:r>
            <a:r>
              <a:rPr lang="en-US" dirty="0"/>
              <a:t>) The content of price:</a:t>
            </a:r>
          </a:p>
          <a:p>
            <a:endParaRPr lang="en-US" dirty="0"/>
          </a:p>
          <a:p>
            <a:endParaRPr lang="en-US" dirty="0"/>
          </a:p>
          <a:p>
            <a:r>
              <a:rPr lang="en-US" dirty="0"/>
              <a:t>      (ii) The content of price:</a:t>
            </a:r>
          </a:p>
          <a:p>
            <a:endParaRPr lang="en-US" dirty="0"/>
          </a:p>
          <a:p>
            <a:endParaRPr lang="en-US" dirty="0"/>
          </a:p>
          <a:p>
            <a:r>
              <a:rPr lang="en-US" dirty="0"/>
              <a:t>      (iii) The content of price:</a:t>
            </a:r>
            <a:endParaRPr lang="en-US" b="1" dirty="0">
              <a:solidFill>
                <a:srgbClr val="37A3D4"/>
              </a:solidFill>
            </a:endParaRPr>
          </a:p>
        </p:txBody>
      </p:sp>
      <p:sp>
        <p:nvSpPr>
          <p:cNvPr id="3" name="Slide Number Placeholder 2"/>
          <p:cNvSpPr>
            <a:spLocks noGrp="1"/>
          </p:cNvSpPr>
          <p:nvPr>
            <p:ph type="sldNum" sz="quarter" idx="12"/>
          </p:nvPr>
        </p:nvSpPr>
        <p:spPr/>
        <p:txBody>
          <a:bodyPr/>
          <a:lstStyle/>
          <a:p>
            <a:fld id="{6D22F896-40B5-4ADD-8801-0D06FADFA095}" type="slidenum">
              <a:rPr lang="en-US" smtClean="0"/>
              <a:t>87</a:t>
            </a:fld>
            <a:endParaRPr lang="en-US" dirty="0"/>
          </a:p>
        </p:txBody>
      </p:sp>
      <p:sp>
        <p:nvSpPr>
          <p:cNvPr id="4" name="Text Placeholder 3"/>
          <p:cNvSpPr>
            <a:spLocks noGrp="1"/>
          </p:cNvSpPr>
          <p:nvPr>
            <p:ph type="body" sz="quarter" idx="13"/>
          </p:nvPr>
        </p:nvSpPr>
        <p:spPr/>
        <p:txBody>
          <a:bodyPr/>
          <a:lstStyle/>
          <a:p>
            <a:r>
              <a:rPr lang="en-US" dirty="0"/>
              <a:t>6.4</a:t>
            </a:r>
          </a:p>
        </p:txBody>
      </p:sp>
      <p:pic>
        <p:nvPicPr>
          <p:cNvPr id="5" name="Picture 4"/>
          <p:cNvPicPr>
            <a:picLocks noChangeAspect="1"/>
          </p:cNvPicPr>
          <p:nvPr/>
        </p:nvPicPr>
        <p:blipFill>
          <a:blip r:embed="rId2"/>
          <a:stretch>
            <a:fillRect/>
          </a:stretch>
        </p:blipFill>
        <p:spPr>
          <a:xfrm>
            <a:off x="1879388" y="2480521"/>
            <a:ext cx="8433223" cy="720178"/>
          </a:xfrm>
          <a:prstGeom prst="rect">
            <a:avLst/>
          </a:prstGeom>
        </p:spPr>
      </p:pic>
      <p:pic>
        <p:nvPicPr>
          <p:cNvPr id="6" name="Picture 5"/>
          <p:cNvPicPr>
            <a:picLocks noChangeAspect="1"/>
          </p:cNvPicPr>
          <p:nvPr/>
        </p:nvPicPr>
        <p:blipFill>
          <a:blip r:embed="rId3"/>
          <a:stretch>
            <a:fillRect/>
          </a:stretch>
        </p:blipFill>
        <p:spPr>
          <a:xfrm>
            <a:off x="1941321" y="3912508"/>
            <a:ext cx="8359234" cy="650224"/>
          </a:xfrm>
          <a:prstGeom prst="rect">
            <a:avLst/>
          </a:prstGeom>
        </p:spPr>
      </p:pic>
      <p:pic>
        <p:nvPicPr>
          <p:cNvPr id="7" name="Picture 6"/>
          <p:cNvPicPr>
            <a:picLocks noChangeAspect="1"/>
          </p:cNvPicPr>
          <p:nvPr/>
        </p:nvPicPr>
        <p:blipFill>
          <a:blip r:embed="rId4"/>
          <a:stretch>
            <a:fillRect/>
          </a:stretch>
        </p:blipFill>
        <p:spPr>
          <a:xfrm>
            <a:off x="1896014" y="5379703"/>
            <a:ext cx="8371290" cy="672348"/>
          </a:xfrm>
          <a:prstGeom prst="rect">
            <a:avLst/>
          </a:prstGeom>
        </p:spPr>
      </p:pic>
    </p:spTree>
    <p:extLst>
      <p:ext uri="{BB962C8B-B14F-4D97-AF65-F5344CB8AC3E}">
        <p14:creationId xmlns:p14="http://schemas.microsoft.com/office/powerpoint/2010/main" val="9513350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14</a:t>
            </a:r>
            <a:br>
              <a:rPr lang="en-US" dirty="0"/>
            </a:br>
            <a:endParaRPr lang="en-US" dirty="0"/>
          </a:p>
          <a:p>
            <a:r>
              <a:rPr lang="en-US" dirty="0"/>
              <a:t>      (ii) The initial content of </a:t>
            </a:r>
            <a:r>
              <a:rPr lang="en-US" dirty="0">
                <a:latin typeface="Courier New" panose="02070309020205020404" pitchFamily="49" charset="0"/>
                <a:cs typeface="Courier New" panose="02070309020205020404" pitchFamily="49" charset="0"/>
              </a:rPr>
              <a:t>price</a:t>
            </a:r>
            <a:r>
              <a:rPr lang="en-US" dirty="0"/>
              <a:t> is sorted in ascending order.</a:t>
            </a:r>
            <a:br>
              <a:rPr lang="en-US" dirty="0"/>
            </a:br>
            <a:endParaRPr lang="en-US" dirty="0"/>
          </a:p>
          <a:p>
            <a:r>
              <a:rPr lang="en-US" dirty="0"/>
              <a:t>      (iii) The initial content of </a:t>
            </a:r>
            <a:r>
              <a:rPr lang="en-US" dirty="0">
                <a:latin typeface="Courier New" panose="02070309020205020404" pitchFamily="49" charset="0"/>
                <a:cs typeface="Courier New" panose="02070309020205020404" pitchFamily="49" charset="0"/>
              </a:rPr>
              <a:t>price</a:t>
            </a:r>
            <a:r>
              <a:rPr lang="en-US" dirty="0"/>
              <a:t> is sorted in descending order.</a:t>
            </a:r>
          </a:p>
          <a:p>
            <a:br>
              <a:rPr lang="en-US" dirty="0"/>
            </a:br>
            <a:r>
              <a:rPr lang="en-US" dirty="0"/>
              <a:t>(c) Henry’s algorithm is more efficient, because the items are moved for fewer times</a:t>
            </a:r>
          </a:p>
        </p:txBody>
      </p:sp>
      <p:sp>
        <p:nvSpPr>
          <p:cNvPr id="3" name="Slide Number Placeholder 2"/>
          <p:cNvSpPr>
            <a:spLocks noGrp="1"/>
          </p:cNvSpPr>
          <p:nvPr>
            <p:ph type="sldNum" sz="quarter" idx="12"/>
          </p:nvPr>
        </p:nvSpPr>
        <p:spPr/>
        <p:txBody>
          <a:bodyPr/>
          <a:lstStyle/>
          <a:p>
            <a:fld id="{6D22F896-40B5-4ADD-8801-0D06FADFA095}" type="slidenum">
              <a:rPr lang="en-US" smtClean="0"/>
              <a:t>88</a:t>
            </a:fld>
            <a:endParaRPr lang="en-US" dirty="0"/>
          </a:p>
        </p:txBody>
      </p:sp>
      <p:sp>
        <p:nvSpPr>
          <p:cNvPr id="4" name="Text Placeholder 3"/>
          <p:cNvSpPr>
            <a:spLocks noGrp="1"/>
          </p:cNvSpPr>
          <p:nvPr>
            <p:ph type="body" sz="quarter" idx="13"/>
          </p:nvPr>
        </p:nvSpPr>
        <p:spPr/>
        <p:txBody>
          <a:bodyPr/>
          <a:lstStyle/>
          <a:p>
            <a:r>
              <a:rPr lang="en-US" dirty="0"/>
              <a:t>6.4</a:t>
            </a:r>
          </a:p>
        </p:txBody>
      </p:sp>
    </p:spTree>
    <p:extLst>
      <p:ext uri="{BB962C8B-B14F-4D97-AF65-F5344CB8AC3E}">
        <p14:creationId xmlns:p14="http://schemas.microsoft.com/office/powerpoint/2010/main" val="18611866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Complete Checkpoint 6.5 on P. 248 of the textbook.</a:t>
            </a:r>
          </a:p>
          <a:p>
            <a:r>
              <a:rPr lang="en-US" dirty="0">
                <a:solidFill>
                  <a:srgbClr val="FF0000"/>
                </a:solidFill>
              </a:rPr>
              <a:t>1. (a) (</a:t>
            </a:r>
            <a:r>
              <a:rPr lang="en-US" dirty="0" err="1">
                <a:solidFill>
                  <a:srgbClr val="FF0000"/>
                </a:solidFill>
              </a:rPr>
              <a:t>i</a:t>
            </a:r>
            <a:r>
              <a:rPr lang="en-US" dirty="0">
                <a:solidFill>
                  <a:srgbClr val="FF0000"/>
                </a:solidFill>
              </a:rPr>
              <a:t>)</a:t>
            </a:r>
          </a:p>
          <a:p>
            <a:endParaRPr lang="en-US" dirty="0">
              <a:solidFill>
                <a:srgbClr val="FF0000"/>
              </a:solidFill>
            </a:endParaRPr>
          </a:p>
          <a:p>
            <a:r>
              <a:rPr lang="en-US" dirty="0">
                <a:solidFill>
                  <a:srgbClr val="FF0000"/>
                </a:solidFill>
              </a:rPr>
              <a:t>          (ii)</a:t>
            </a:r>
          </a:p>
          <a:p>
            <a:endParaRPr lang="en-US" dirty="0">
              <a:solidFill>
                <a:srgbClr val="FF0000"/>
              </a:solidFill>
            </a:endParaRPr>
          </a:p>
          <a:p>
            <a:r>
              <a:rPr lang="en-US" dirty="0">
                <a:solidFill>
                  <a:srgbClr val="FF0000"/>
                </a:solidFill>
              </a:rPr>
              <a:t>          (iii)</a:t>
            </a:r>
          </a:p>
          <a:p>
            <a:endParaRPr lang="en-US" dirty="0">
              <a:solidFill>
                <a:srgbClr val="FF0000"/>
              </a:solidFill>
            </a:endParaRPr>
          </a:p>
          <a:p>
            <a:r>
              <a:rPr lang="en-US" dirty="0">
                <a:solidFill>
                  <a:srgbClr val="FF0000"/>
                </a:solidFill>
              </a:rPr>
              <a:t>    (b) Sort the items in array score in descending order.</a:t>
            </a:r>
            <a:br>
              <a:rPr lang="en-US" dirty="0">
                <a:solidFill>
                  <a:srgbClr val="FF0000"/>
                </a:solidFill>
              </a:rPr>
            </a:br>
            <a:endParaRPr lang="en-US" dirty="0">
              <a:solidFill>
                <a:srgbClr val="FF0000"/>
              </a:solidFill>
            </a:endParaRPr>
          </a:p>
          <a:p>
            <a:r>
              <a:rPr lang="en-US" dirty="0">
                <a:solidFill>
                  <a:srgbClr val="FF0000"/>
                </a:solidFill>
              </a:rPr>
              <a:t>    (c) 15</a:t>
            </a:r>
          </a:p>
        </p:txBody>
      </p:sp>
      <p:sp>
        <p:nvSpPr>
          <p:cNvPr id="3" name="Slide Number Placeholder 2"/>
          <p:cNvSpPr>
            <a:spLocks noGrp="1"/>
          </p:cNvSpPr>
          <p:nvPr>
            <p:ph type="sldNum" sz="quarter" idx="12"/>
          </p:nvPr>
        </p:nvSpPr>
        <p:spPr/>
        <p:txBody>
          <a:bodyPr/>
          <a:lstStyle/>
          <a:p>
            <a:fld id="{6D22F896-40B5-4ADD-8801-0D06FADFA095}" type="slidenum">
              <a:rPr lang="en-US" smtClean="0"/>
              <a:t>89</a:t>
            </a:fld>
            <a:endParaRPr lang="en-US" dirty="0"/>
          </a:p>
        </p:txBody>
      </p:sp>
      <p:sp>
        <p:nvSpPr>
          <p:cNvPr id="4" name="Text Placeholder 3"/>
          <p:cNvSpPr>
            <a:spLocks noGrp="1"/>
          </p:cNvSpPr>
          <p:nvPr>
            <p:ph type="body" sz="quarter" idx="13"/>
          </p:nvPr>
        </p:nvSpPr>
        <p:spPr/>
        <p:txBody>
          <a:bodyPr/>
          <a:lstStyle/>
          <a:p>
            <a:r>
              <a:rPr lang="en-US" dirty="0"/>
              <a:t>6.5</a:t>
            </a:r>
          </a:p>
        </p:txBody>
      </p:sp>
      <p:pic>
        <p:nvPicPr>
          <p:cNvPr id="5" name="Picture 4"/>
          <p:cNvPicPr>
            <a:picLocks noChangeAspect="1"/>
          </p:cNvPicPr>
          <p:nvPr/>
        </p:nvPicPr>
        <p:blipFill>
          <a:blip r:embed="rId2"/>
          <a:stretch>
            <a:fillRect/>
          </a:stretch>
        </p:blipFill>
        <p:spPr>
          <a:xfrm>
            <a:off x="2006815" y="1957639"/>
            <a:ext cx="8961440" cy="723873"/>
          </a:xfrm>
          <a:prstGeom prst="rect">
            <a:avLst/>
          </a:prstGeom>
        </p:spPr>
      </p:pic>
      <p:pic>
        <p:nvPicPr>
          <p:cNvPr id="6" name="Picture 5"/>
          <p:cNvPicPr>
            <a:picLocks noChangeAspect="1"/>
          </p:cNvPicPr>
          <p:nvPr/>
        </p:nvPicPr>
        <p:blipFill>
          <a:blip r:embed="rId3"/>
          <a:stretch>
            <a:fillRect/>
          </a:stretch>
        </p:blipFill>
        <p:spPr>
          <a:xfrm>
            <a:off x="1953700" y="2870787"/>
            <a:ext cx="8970726" cy="692634"/>
          </a:xfrm>
          <a:prstGeom prst="rect">
            <a:avLst/>
          </a:prstGeom>
        </p:spPr>
      </p:pic>
      <p:pic>
        <p:nvPicPr>
          <p:cNvPr id="7" name="Picture 6"/>
          <p:cNvPicPr>
            <a:picLocks noChangeAspect="1"/>
          </p:cNvPicPr>
          <p:nvPr/>
        </p:nvPicPr>
        <p:blipFill>
          <a:blip r:embed="rId4"/>
          <a:stretch>
            <a:fillRect/>
          </a:stretch>
        </p:blipFill>
        <p:spPr>
          <a:xfrm>
            <a:off x="1953700" y="3873600"/>
            <a:ext cx="8970726" cy="729916"/>
          </a:xfrm>
          <a:prstGeom prst="rect">
            <a:avLst/>
          </a:prstGeom>
        </p:spPr>
      </p:pic>
    </p:spTree>
    <p:extLst>
      <p:ext uri="{BB962C8B-B14F-4D97-AF65-F5344CB8AC3E}">
        <p14:creationId xmlns:p14="http://schemas.microsoft.com/office/powerpoint/2010/main" val="734250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fade">
                                      <p:cBhvr>
                                        <p:cTn id="15" dur="500"/>
                                        <p:tgtEl>
                                          <p:spTgt spid="2">
                                            <p:txEl>
                                              <p:pRg st="3" end="3"/>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Effect transition="in" filter="fade">
                                      <p:cBhvr>
                                        <p:cTn id="23" dur="500"/>
                                        <p:tgtEl>
                                          <p:spTgt spid="2">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fade">
                                      <p:cBhvr>
                                        <p:cTn id="31" dur="500"/>
                                        <p:tgtEl>
                                          <p:spTgt spid="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fade">
                                      <p:cBhvr>
                                        <p:cTn id="3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90</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b="1" dirty="0">
                <a:solidFill>
                  <a:srgbClr val="504FA0"/>
                </a:solidFill>
              </a:rPr>
              <a:t>Bubble sort</a:t>
            </a:r>
            <a:r>
              <a:rPr lang="en-US" dirty="0"/>
              <a:t> starts from the first item of the list and compares an item with its adjacent item. If the two items are in the wrong positions, they will be swapped.</a:t>
            </a:r>
          </a:p>
        </p:txBody>
      </p:sp>
    </p:spTree>
    <p:extLst>
      <p:ext uri="{BB962C8B-B14F-4D97-AF65-F5344CB8AC3E}">
        <p14:creationId xmlns:p14="http://schemas.microsoft.com/office/powerpoint/2010/main" val="31455641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91</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The following list mark stores the exam marks of seven students, as shown below:</a:t>
            </a:r>
          </a:p>
          <a:p>
            <a:endParaRPr lang="en-US" dirty="0"/>
          </a:p>
          <a:p>
            <a:endParaRPr lang="en-US" dirty="0"/>
          </a:p>
          <a:p>
            <a:endParaRPr lang="en-US" dirty="0"/>
          </a:p>
          <a:p>
            <a:endParaRPr lang="en-US" dirty="0"/>
          </a:p>
          <a:p>
            <a:r>
              <a:rPr lang="en-US" dirty="0"/>
              <a:t>Suppose that the list is to be sorted in </a:t>
            </a:r>
            <a:r>
              <a:rPr lang="en-US" b="1" dirty="0"/>
              <a:t>descending</a:t>
            </a:r>
            <a:r>
              <a:rPr lang="en-US" dirty="0"/>
              <a:t> order.</a:t>
            </a:r>
          </a:p>
        </p:txBody>
      </p:sp>
      <p:pic>
        <p:nvPicPr>
          <p:cNvPr id="6" name="Picture 5"/>
          <p:cNvPicPr>
            <a:picLocks noChangeAspect="1"/>
          </p:cNvPicPr>
          <p:nvPr/>
        </p:nvPicPr>
        <p:blipFill>
          <a:blip r:embed="rId2"/>
          <a:stretch>
            <a:fillRect/>
          </a:stretch>
        </p:blipFill>
        <p:spPr>
          <a:xfrm>
            <a:off x="2060116" y="2593667"/>
            <a:ext cx="7330656" cy="733677"/>
          </a:xfrm>
          <a:prstGeom prst="rect">
            <a:avLst/>
          </a:prstGeom>
        </p:spPr>
      </p:pic>
    </p:spTree>
    <p:extLst>
      <p:ext uri="{BB962C8B-B14F-4D97-AF65-F5344CB8AC3E}">
        <p14:creationId xmlns:p14="http://schemas.microsoft.com/office/powerpoint/2010/main" val="3987814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92</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The following Python program writes the algorithm of bubble sort:</a:t>
            </a:r>
          </a:p>
          <a:p>
            <a:endParaRPr lang="en-US" dirty="0"/>
          </a:p>
          <a:p>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in</a:t>
            </a:r>
            <a:r>
              <a:rPr lang="en-US" sz="1800" dirty="0">
                <a:latin typeface="Courier New" panose="02070309020205020404" pitchFamily="49" charset="0"/>
                <a:cs typeface="Courier New" panose="02070309020205020404" pitchFamily="49" charset="0"/>
              </a:rPr>
              <a:t> </a:t>
            </a:r>
            <a:r>
              <a:rPr lang="en-US" sz="1800" dirty="0">
                <a:solidFill>
                  <a:srgbClr val="7C2573"/>
                </a:solidFill>
                <a:latin typeface="Courier New" panose="02070309020205020404" pitchFamily="49" charset="0"/>
                <a:cs typeface="Courier New" panose="02070309020205020404" pitchFamily="49" charset="0"/>
              </a:rPr>
              <a:t>range</a:t>
            </a:r>
            <a:r>
              <a:rPr lang="en-US" sz="1800" dirty="0">
                <a:latin typeface="Courier New" panose="02070309020205020404" pitchFamily="49" charset="0"/>
                <a:cs typeface="Courier New" panose="02070309020205020404" pitchFamily="49" charset="0"/>
              </a:rPr>
              <a:t>(</a:t>
            </a:r>
            <a:r>
              <a:rPr lang="en-US" sz="1800" dirty="0">
                <a:solidFill>
                  <a:srgbClr val="AB3D18"/>
                </a:solidFill>
                <a:latin typeface="Courier New" panose="02070309020205020404" pitchFamily="49" charset="0"/>
                <a:cs typeface="Courier New" panose="02070309020205020404" pitchFamily="49" charset="0"/>
              </a:rPr>
              <a:t>0</a:t>
            </a:r>
            <a:r>
              <a:rPr lang="en-US" sz="1800" dirty="0">
                <a:latin typeface="Courier New" panose="02070309020205020404" pitchFamily="49" charset="0"/>
                <a:cs typeface="Courier New" panose="02070309020205020404" pitchFamily="49" charset="0"/>
              </a:rPr>
              <a:t>, </a:t>
            </a:r>
            <a:r>
              <a:rPr lang="en-US" sz="1800" dirty="0" err="1">
                <a:solidFill>
                  <a:srgbClr val="7C2573"/>
                </a:solidFill>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(mark)-</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for</a:t>
            </a:r>
            <a:r>
              <a:rPr lang="en-US" sz="1800" dirty="0">
                <a:latin typeface="Courier New" panose="02070309020205020404" pitchFamily="49" charset="0"/>
                <a:cs typeface="Courier New" panose="02070309020205020404" pitchFamily="49" charset="0"/>
              </a:rPr>
              <a:t> j </a:t>
            </a:r>
            <a:r>
              <a:rPr lang="en-US" sz="1800" b="1" dirty="0">
                <a:solidFill>
                  <a:srgbClr val="7C2573"/>
                </a:solidFill>
                <a:latin typeface="Courier New" panose="02070309020205020404" pitchFamily="49" charset="0"/>
                <a:cs typeface="Courier New" panose="02070309020205020404" pitchFamily="49" charset="0"/>
              </a:rPr>
              <a:t>in</a:t>
            </a:r>
            <a:r>
              <a:rPr lang="en-US" sz="1800" dirty="0">
                <a:latin typeface="Courier New" panose="02070309020205020404" pitchFamily="49" charset="0"/>
                <a:cs typeface="Courier New" panose="02070309020205020404" pitchFamily="49" charset="0"/>
              </a:rPr>
              <a:t> </a:t>
            </a:r>
            <a:r>
              <a:rPr lang="en-US" sz="1800" dirty="0">
                <a:solidFill>
                  <a:srgbClr val="7C2573"/>
                </a:solidFill>
                <a:latin typeface="Courier New" panose="02070309020205020404" pitchFamily="49" charset="0"/>
                <a:cs typeface="Courier New" panose="02070309020205020404" pitchFamily="49" charset="0"/>
              </a:rPr>
              <a:t>range</a:t>
            </a:r>
            <a:r>
              <a:rPr lang="en-US" sz="1800" dirty="0">
                <a:latin typeface="Courier New" panose="02070309020205020404" pitchFamily="49" charset="0"/>
                <a:cs typeface="Courier New" panose="02070309020205020404" pitchFamily="49" charset="0"/>
              </a:rPr>
              <a:t>(</a:t>
            </a:r>
            <a:r>
              <a:rPr lang="en-US" sz="1800" dirty="0">
                <a:solidFill>
                  <a:srgbClr val="AB3D18"/>
                </a:solidFill>
                <a:latin typeface="Courier New" panose="02070309020205020404" pitchFamily="49" charset="0"/>
                <a:cs typeface="Courier New" panose="02070309020205020404" pitchFamily="49" charset="0"/>
              </a:rPr>
              <a:t>0</a:t>
            </a:r>
            <a:r>
              <a:rPr lang="en-US" sz="1800" dirty="0">
                <a:latin typeface="Courier New" panose="02070309020205020404" pitchFamily="49" charset="0"/>
                <a:cs typeface="Courier New" panose="02070309020205020404" pitchFamily="49" charset="0"/>
              </a:rPr>
              <a:t>, </a:t>
            </a:r>
            <a:r>
              <a:rPr lang="en-US" sz="1800" dirty="0" err="1">
                <a:solidFill>
                  <a:srgbClr val="7C2573"/>
                </a:solidFill>
                <a:latin typeface="Courier New" panose="02070309020205020404" pitchFamily="49" charset="0"/>
                <a:cs typeface="Courier New" panose="02070309020205020404" pitchFamily="49" charset="0"/>
              </a:rPr>
              <a:t>len</a:t>
            </a:r>
            <a:r>
              <a:rPr lang="en-US" sz="1800" dirty="0">
                <a:latin typeface="Courier New" panose="02070309020205020404" pitchFamily="49" charset="0"/>
                <a:cs typeface="Courier New" panose="02070309020205020404" pitchFamily="49" charset="0"/>
              </a:rPr>
              <a:t>(mark)-</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-i):</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b="1" dirty="0">
                <a:solidFill>
                  <a:srgbClr val="7C2573"/>
                </a:solidFill>
                <a:latin typeface="Courier New" panose="02070309020205020404" pitchFamily="49" charset="0"/>
                <a:cs typeface="Courier New" panose="02070309020205020404" pitchFamily="49" charset="0"/>
              </a:rPr>
              <a:t>if</a:t>
            </a:r>
            <a:r>
              <a:rPr lang="en-US" sz="1800" dirty="0">
                <a:latin typeface="Courier New" panose="02070309020205020404" pitchFamily="49" charset="0"/>
                <a:cs typeface="Courier New" panose="02070309020205020404" pitchFamily="49" charset="0"/>
              </a:rPr>
              <a:t> mark[j] &lt; mark[j+</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temp = mark[j]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mark[j] = mark[j+</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mark[j+</a:t>
            </a:r>
            <a:r>
              <a:rPr lang="en-US" sz="1800" dirty="0">
                <a:solidFill>
                  <a:srgbClr val="AB3D18"/>
                </a:solidFill>
                <a:latin typeface="Courier New" panose="02070309020205020404" pitchFamily="49" charset="0"/>
                <a:cs typeface="Courier New" panose="02070309020205020404" pitchFamily="49" charset="0"/>
              </a:rPr>
              <a:t>1</a:t>
            </a:r>
            <a:r>
              <a:rPr lang="en-US" sz="1800" dirty="0">
                <a:latin typeface="Courier New" panose="02070309020205020404" pitchFamily="49" charset="0"/>
                <a:cs typeface="Courier New" panose="02070309020205020404" pitchFamily="49" charset="0"/>
              </a:rPr>
              <a:t>] = temp</a:t>
            </a:r>
          </a:p>
        </p:txBody>
      </p:sp>
    </p:spTree>
    <p:extLst>
      <p:ext uri="{BB962C8B-B14F-4D97-AF65-F5344CB8AC3E}">
        <p14:creationId xmlns:p14="http://schemas.microsoft.com/office/powerpoint/2010/main" val="1557462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93</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1. Starting from the leftmost item of the list, compare two adjacent list items. </a:t>
            </a:r>
          </a:p>
        </p:txBody>
      </p:sp>
      <p:pic>
        <p:nvPicPr>
          <p:cNvPr id="6" name="Picture 5"/>
          <p:cNvPicPr>
            <a:picLocks noChangeAspect="1"/>
          </p:cNvPicPr>
          <p:nvPr/>
        </p:nvPicPr>
        <p:blipFill>
          <a:blip r:embed="rId2"/>
          <a:stretch>
            <a:fillRect/>
          </a:stretch>
        </p:blipFill>
        <p:spPr>
          <a:xfrm>
            <a:off x="6549547" y="2983461"/>
            <a:ext cx="4804253" cy="2187056"/>
          </a:xfrm>
          <a:prstGeom prst="rect">
            <a:avLst/>
          </a:prstGeom>
        </p:spPr>
      </p:pic>
      <p:pic>
        <p:nvPicPr>
          <p:cNvPr id="7" name="Picture 6"/>
          <p:cNvPicPr>
            <a:picLocks noChangeAspect="1"/>
          </p:cNvPicPr>
          <p:nvPr/>
        </p:nvPicPr>
        <p:blipFill>
          <a:blip r:embed="rId3"/>
          <a:stretch>
            <a:fillRect/>
          </a:stretch>
        </p:blipFill>
        <p:spPr>
          <a:xfrm>
            <a:off x="1414875" y="3174296"/>
            <a:ext cx="3930210" cy="2517902"/>
          </a:xfrm>
          <a:prstGeom prst="rect">
            <a:avLst/>
          </a:prstGeom>
        </p:spPr>
      </p:pic>
      <p:sp>
        <p:nvSpPr>
          <p:cNvPr id="8" name="Rectangle 7"/>
          <p:cNvSpPr/>
          <p:nvPr/>
        </p:nvSpPr>
        <p:spPr>
          <a:xfrm>
            <a:off x="6458989" y="2869200"/>
            <a:ext cx="5012575" cy="11874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73198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94</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1. If the value on the left is smaller, swap the two items.</a:t>
            </a:r>
          </a:p>
        </p:txBody>
      </p:sp>
      <p:pic>
        <p:nvPicPr>
          <p:cNvPr id="6" name="Picture 5"/>
          <p:cNvPicPr>
            <a:picLocks noChangeAspect="1"/>
          </p:cNvPicPr>
          <p:nvPr/>
        </p:nvPicPr>
        <p:blipFill>
          <a:blip r:embed="rId2"/>
          <a:stretch>
            <a:fillRect/>
          </a:stretch>
        </p:blipFill>
        <p:spPr>
          <a:xfrm>
            <a:off x="6549547" y="2983461"/>
            <a:ext cx="4804253" cy="2187056"/>
          </a:xfrm>
          <a:prstGeom prst="rect">
            <a:avLst/>
          </a:prstGeom>
        </p:spPr>
      </p:pic>
      <p:pic>
        <p:nvPicPr>
          <p:cNvPr id="7" name="Picture 6"/>
          <p:cNvPicPr>
            <a:picLocks noChangeAspect="1"/>
          </p:cNvPicPr>
          <p:nvPr/>
        </p:nvPicPr>
        <p:blipFill>
          <a:blip r:embed="rId3"/>
          <a:stretch>
            <a:fillRect/>
          </a:stretch>
        </p:blipFill>
        <p:spPr>
          <a:xfrm>
            <a:off x="1414875" y="3174296"/>
            <a:ext cx="3930210" cy="2517902"/>
          </a:xfrm>
          <a:prstGeom prst="rect">
            <a:avLst/>
          </a:prstGeom>
        </p:spPr>
      </p:pic>
      <p:sp>
        <p:nvSpPr>
          <p:cNvPr id="8" name="Rectangle 7"/>
          <p:cNvSpPr/>
          <p:nvPr/>
        </p:nvSpPr>
        <p:spPr>
          <a:xfrm>
            <a:off x="7481454" y="3699163"/>
            <a:ext cx="3101257" cy="15627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5295163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95</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2. After the above operation has been completed on the whole list, the smallest value will move (rise) to the last item. This divides the list into the sorted and unsorted parts.</a:t>
            </a:r>
          </a:p>
        </p:txBody>
      </p:sp>
      <p:pic>
        <p:nvPicPr>
          <p:cNvPr id="7" name="Picture 6"/>
          <p:cNvPicPr>
            <a:picLocks noChangeAspect="1"/>
          </p:cNvPicPr>
          <p:nvPr/>
        </p:nvPicPr>
        <p:blipFill>
          <a:blip r:embed="rId2"/>
          <a:stretch>
            <a:fillRect/>
          </a:stretch>
        </p:blipFill>
        <p:spPr>
          <a:xfrm>
            <a:off x="4097303" y="3233650"/>
            <a:ext cx="3998593" cy="2369245"/>
          </a:xfrm>
          <a:prstGeom prst="rect">
            <a:avLst/>
          </a:prstGeom>
        </p:spPr>
      </p:pic>
    </p:spTree>
    <p:extLst>
      <p:ext uri="{BB962C8B-B14F-4D97-AF65-F5344CB8AC3E}">
        <p14:creationId xmlns:p14="http://schemas.microsoft.com/office/powerpoint/2010/main" val="21566544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96</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3. Starting from the leftmost item in the unsorted part, compare two adjacent list items. </a:t>
            </a:r>
          </a:p>
        </p:txBody>
      </p:sp>
      <p:pic>
        <p:nvPicPr>
          <p:cNvPr id="6" name="Picture 5"/>
          <p:cNvPicPr>
            <a:picLocks noChangeAspect="1"/>
          </p:cNvPicPr>
          <p:nvPr/>
        </p:nvPicPr>
        <p:blipFill>
          <a:blip r:embed="rId2"/>
          <a:stretch>
            <a:fillRect/>
          </a:stretch>
        </p:blipFill>
        <p:spPr>
          <a:xfrm>
            <a:off x="6549547" y="2983461"/>
            <a:ext cx="4804253" cy="2187056"/>
          </a:xfrm>
          <a:prstGeom prst="rect">
            <a:avLst/>
          </a:prstGeom>
        </p:spPr>
      </p:pic>
      <p:pic>
        <p:nvPicPr>
          <p:cNvPr id="7" name="Picture 6"/>
          <p:cNvPicPr>
            <a:picLocks noChangeAspect="1"/>
          </p:cNvPicPr>
          <p:nvPr/>
        </p:nvPicPr>
        <p:blipFill>
          <a:blip r:embed="rId3"/>
          <a:stretch>
            <a:fillRect/>
          </a:stretch>
        </p:blipFill>
        <p:spPr>
          <a:xfrm>
            <a:off x="1674451" y="3382748"/>
            <a:ext cx="4003141" cy="2194493"/>
          </a:xfrm>
          <a:prstGeom prst="rect">
            <a:avLst/>
          </a:prstGeom>
        </p:spPr>
      </p:pic>
      <p:sp>
        <p:nvSpPr>
          <p:cNvPr id="8" name="Rectangle 7"/>
          <p:cNvSpPr/>
          <p:nvPr/>
        </p:nvSpPr>
        <p:spPr>
          <a:xfrm>
            <a:off x="6513243" y="2869200"/>
            <a:ext cx="4958321" cy="12123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6996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97</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3. If the value on the left is smaller, swap the two items.</a:t>
            </a:r>
          </a:p>
        </p:txBody>
      </p:sp>
      <p:pic>
        <p:nvPicPr>
          <p:cNvPr id="6" name="Picture 5"/>
          <p:cNvPicPr>
            <a:picLocks noChangeAspect="1"/>
          </p:cNvPicPr>
          <p:nvPr/>
        </p:nvPicPr>
        <p:blipFill>
          <a:blip r:embed="rId2"/>
          <a:stretch>
            <a:fillRect/>
          </a:stretch>
        </p:blipFill>
        <p:spPr>
          <a:xfrm>
            <a:off x="6549547" y="2983461"/>
            <a:ext cx="4804253" cy="2187056"/>
          </a:xfrm>
          <a:prstGeom prst="rect">
            <a:avLst/>
          </a:prstGeom>
        </p:spPr>
      </p:pic>
      <p:pic>
        <p:nvPicPr>
          <p:cNvPr id="7" name="Picture 6"/>
          <p:cNvPicPr>
            <a:picLocks noChangeAspect="1"/>
          </p:cNvPicPr>
          <p:nvPr/>
        </p:nvPicPr>
        <p:blipFill>
          <a:blip r:embed="rId3"/>
          <a:stretch>
            <a:fillRect/>
          </a:stretch>
        </p:blipFill>
        <p:spPr>
          <a:xfrm>
            <a:off x="1674451" y="3382748"/>
            <a:ext cx="4003141" cy="2194493"/>
          </a:xfrm>
          <a:prstGeom prst="rect">
            <a:avLst/>
          </a:prstGeom>
        </p:spPr>
      </p:pic>
      <p:sp>
        <p:nvSpPr>
          <p:cNvPr id="8" name="Rectangle 7"/>
          <p:cNvSpPr/>
          <p:nvPr/>
        </p:nvSpPr>
        <p:spPr>
          <a:xfrm>
            <a:off x="7506393" y="3632662"/>
            <a:ext cx="3217025" cy="162098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28509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98</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4. After the above operation has been completed once again, the second smallest value will move (rise) to the second last item. This adds one item to the sorted part.</a:t>
            </a:r>
          </a:p>
        </p:txBody>
      </p:sp>
      <p:pic>
        <p:nvPicPr>
          <p:cNvPr id="7" name="Picture 6"/>
          <p:cNvPicPr>
            <a:picLocks noChangeAspect="1"/>
          </p:cNvPicPr>
          <p:nvPr/>
        </p:nvPicPr>
        <p:blipFill>
          <a:blip r:embed="rId2"/>
          <a:stretch>
            <a:fillRect/>
          </a:stretch>
        </p:blipFill>
        <p:spPr>
          <a:xfrm>
            <a:off x="4101374" y="3050771"/>
            <a:ext cx="3990451" cy="2307886"/>
          </a:xfrm>
          <a:prstGeom prst="rect">
            <a:avLst/>
          </a:prstGeom>
        </p:spPr>
      </p:pic>
    </p:spTree>
    <p:extLst>
      <p:ext uri="{BB962C8B-B14F-4D97-AF65-F5344CB8AC3E}">
        <p14:creationId xmlns:p14="http://schemas.microsoft.com/office/powerpoint/2010/main" val="240150102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99</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5. Repeat until all list items have been sorted.</a:t>
            </a:r>
          </a:p>
        </p:txBody>
      </p:sp>
      <p:pic>
        <p:nvPicPr>
          <p:cNvPr id="7" name="Picture 6"/>
          <p:cNvPicPr>
            <a:picLocks noChangeAspect="1"/>
          </p:cNvPicPr>
          <p:nvPr/>
        </p:nvPicPr>
        <p:blipFill>
          <a:blip r:embed="rId2"/>
          <a:stretch>
            <a:fillRect/>
          </a:stretch>
        </p:blipFill>
        <p:spPr>
          <a:xfrm>
            <a:off x="4052532" y="2869200"/>
            <a:ext cx="4088135" cy="2447223"/>
          </a:xfrm>
          <a:prstGeom prst="rect">
            <a:avLst/>
          </a:prstGeom>
        </p:spPr>
      </p:pic>
    </p:spTree>
    <p:extLst>
      <p:ext uri="{BB962C8B-B14F-4D97-AF65-F5344CB8AC3E}">
        <p14:creationId xmlns:p14="http://schemas.microsoft.com/office/powerpoint/2010/main" val="19029289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100</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Suppose there are N items in the list:</a:t>
            </a:r>
          </a:p>
        </p:txBody>
      </p:sp>
      <p:pic>
        <p:nvPicPr>
          <p:cNvPr id="6" name="Picture 5"/>
          <p:cNvPicPr>
            <a:picLocks noChangeAspect="1"/>
          </p:cNvPicPr>
          <p:nvPr/>
        </p:nvPicPr>
        <p:blipFill>
          <a:blip r:embed="rId2"/>
          <a:stretch>
            <a:fillRect/>
          </a:stretch>
        </p:blipFill>
        <p:spPr>
          <a:xfrm>
            <a:off x="2668315" y="2195929"/>
            <a:ext cx="6856569" cy="3520941"/>
          </a:xfrm>
          <a:prstGeom prst="rect">
            <a:avLst/>
          </a:prstGeom>
        </p:spPr>
      </p:pic>
    </p:spTree>
    <p:extLst>
      <p:ext uri="{BB962C8B-B14F-4D97-AF65-F5344CB8AC3E}">
        <p14:creationId xmlns:p14="http://schemas.microsoft.com/office/powerpoint/2010/main" val="168955843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Bubble sort</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101</a:t>
            </a:fld>
            <a:endParaRPr lang="en-US" dirty="0"/>
          </a:p>
        </p:txBody>
      </p:sp>
      <p:sp>
        <p:nvSpPr>
          <p:cNvPr id="4" name="Text Placeholder 3"/>
          <p:cNvSpPr>
            <a:spLocks noGrp="1"/>
          </p:cNvSpPr>
          <p:nvPr>
            <p:ph type="body" sz="quarter" idx="14"/>
          </p:nvPr>
        </p:nvSpPr>
        <p:spPr/>
        <p:txBody>
          <a:bodyPr/>
          <a:lstStyle/>
          <a:p>
            <a:r>
              <a:rPr lang="en-US" dirty="0"/>
              <a:t>C</a:t>
            </a:r>
          </a:p>
        </p:txBody>
      </p:sp>
      <p:sp>
        <p:nvSpPr>
          <p:cNvPr id="5" name="Content Placeholder 4"/>
          <p:cNvSpPr>
            <a:spLocks noGrp="1"/>
          </p:cNvSpPr>
          <p:nvPr>
            <p:ph sz="quarter" idx="15"/>
          </p:nvPr>
        </p:nvSpPr>
        <p:spPr/>
        <p:txBody>
          <a:bodyPr/>
          <a:lstStyle/>
          <a:p>
            <a:r>
              <a:rPr lang="en-US" dirty="0"/>
              <a:t>Hence, the number of comparisons required for completing the whole bubble sort is:</a:t>
            </a:r>
          </a:p>
        </p:txBody>
      </p:sp>
      <p:pic>
        <p:nvPicPr>
          <p:cNvPr id="6" name="Picture 5"/>
          <p:cNvPicPr>
            <a:picLocks noChangeAspect="1"/>
          </p:cNvPicPr>
          <p:nvPr/>
        </p:nvPicPr>
        <p:blipFill>
          <a:blip r:embed="rId2"/>
          <a:stretch>
            <a:fillRect/>
          </a:stretch>
        </p:blipFill>
        <p:spPr>
          <a:xfrm>
            <a:off x="3149664" y="2790531"/>
            <a:ext cx="5893872" cy="712339"/>
          </a:xfrm>
          <a:prstGeom prst="rect">
            <a:avLst/>
          </a:prstGeom>
        </p:spPr>
      </p:pic>
    </p:spTree>
    <p:extLst>
      <p:ext uri="{BB962C8B-B14F-4D97-AF65-F5344CB8AC3E}">
        <p14:creationId xmlns:p14="http://schemas.microsoft.com/office/powerpoint/2010/main" val="110445569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Valerie is a judge at a photography competition. She stores the scores of five participants in array </a:t>
            </a:r>
            <a:r>
              <a:rPr lang="en-US" dirty="0">
                <a:latin typeface="Courier New" panose="02070309020205020404" pitchFamily="49" charset="0"/>
                <a:cs typeface="Courier New" panose="02070309020205020404" pitchFamily="49" charset="0"/>
              </a:rPr>
              <a:t>A</a:t>
            </a:r>
            <a:r>
              <a:rPr lang="en-US" dirty="0"/>
              <a:t>, as shown below:</a:t>
            </a:r>
          </a:p>
          <a:p>
            <a:endParaRPr lang="en-US" dirty="0"/>
          </a:p>
          <a:p>
            <a:br>
              <a:rPr lang="en-US" dirty="0"/>
            </a:br>
            <a:endParaRPr lang="en-US" dirty="0"/>
          </a:p>
          <a:p>
            <a:r>
              <a:rPr lang="en-US" dirty="0"/>
              <a:t>She has written the following algorithm to process array </a:t>
            </a:r>
            <a:r>
              <a:rPr lang="en-US" dirty="0">
                <a:latin typeface="Courier New" panose="02070309020205020404" pitchFamily="49" charset="0"/>
                <a:cs typeface="Courier New" panose="02070309020205020404" pitchFamily="49" charset="0"/>
              </a:rPr>
              <a:t>A</a:t>
            </a:r>
            <a:r>
              <a:rPr lang="en-US" dirty="0"/>
              <a:t>:</a:t>
            </a:r>
          </a:p>
          <a:p>
            <a:r>
              <a:rPr lang="en-US" dirty="0"/>
              <a:t>	</a:t>
            </a:r>
            <a:r>
              <a:rPr lang="en-US" b="1" u="sng" dirty="0">
                <a:latin typeface="Courier New" panose="02070309020205020404" pitchFamily="49" charset="0"/>
                <a:cs typeface="Courier New" panose="02070309020205020404" pitchFamily="49" charset="0"/>
              </a:rPr>
              <a:t>Line</a:t>
            </a:r>
            <a:r>
              <a:rPr lang="en-US" dirty="0">
                <a:latin typeface="Courier New" panose="02070309020205020404" pitchFamily="49" charset="0"/>
                <a:cs typeface="Courier New" panose="02070309020205020404" pitchFamily="49" charset="0"/>
              </a:rPr>
              <a:t> 	</a:t>
            </a:r>
            <a:r>
              <a:rPr lang="en-US" b="1" u="sng" dirty="0">
                <a:latin typeface="Courier New" panose="02070309020205020404" pitchFamily="49" charset="0"/>
                <a:cs typeface="Courier New" panose="02070309020205020404" pitchFamily="49" charset="0"/>
              </a:rPr>
              <a:t>Pseudocode</a:t>
            </a:r>
            <a:br>
              <a:rPr lang="en-US" b="1" u="sng"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1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0 to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2 		for j from 0 to 3</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3 			if A[j] &gt; A[j+1] then</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4 				Swap A[j] and A[j+1]</a:t>
            </a:r>
          </a:p>
        </p:txBody>
      </p:sp>
      <p:sp>
        <p:nvSpPr>
          <p:cNvPr id="3" name="Slide Number Placeholder 2"/>
          <p:cNvSpPr>
            <a:spLocks noGrp="1"/>
          </p:cNvSpPr>
          <p:nvPr>
            <p:ph type="sldNum" sz="quarter" idx="12"/>
          </p:nvPr>
        </p:nvSpPr>
        <p:spPr/>
        <p:txBody>
          <a:bodyPr/>
          <a:lstStyle/>
          <a:p>
            <a:fld id="{6D22F896-40B5-4ADD-8801-0D06FADFA095}" type="slidenum">
              <a:rPr lang="en-US" smtClean="0"/>
              <a:t>102</a:t>
            </a:fld>
            <a:endParaRPr lang="en-US" dirty="0"/>
          </a:p>
        </p:txBody>
      </p:sp>
      <p:sp>
        <p:nvSpPr>
          <p:cNvPr id="4" name="Text Placeholder 3"/>
          <p:cNvSpPr>
            <a:spLocks noGrp="1"/>
          </p:cNvSpPr>
          <p:nvPr>
            <p:ph type="body" sz="quarter" idx="13"/>
          </p:nvPr>
        </p:nvSpPr>
        <p:spPr/>
        <p:txBody>
          <a:bodyPr/>
          <a:lstStyle/>
          <a:p>
            <a:r>
              <a:rPr lang="en-US" dirty="0"/>
              <a:t>6.5</a:t>
            </a:r>
          </a:p>
        </p:txBody>
      </p:sp>
      <p:pic>
        <p:nvPicPr>
          <p:cNvPr id="5" name="Picture 4"/>
          <p:cNvPicPr>
            <a:picLocks noChangeAspect="1"/>
          </p:cNvPicPr>
          <p:nvPr/>
        </p:nvPicPr>
        <p:blipFill>
          <a:blip r:embed="rId2"/>
          <a:stretch>
            <a:fillRect/>
          </a:stretch>
        </p:blipFill>
        <p:spPr>
          <a:xfrm>
            <a:off x="2650191" y="2499334"/>
            <a:ext cx="6385744" cy="808989"/>
          </a:xfrm>
          <a:prstGeom prst="rect">
            <a:avLst/>
          </a:prstGeom>
        </p:spPr>
      </p:pic>
    </p:spTree>
    <p:extLst>
      <p:ext uri="{BB962C8B-B14F-4D97-AF65-F5344CB8AC3E}">
        <p14:creationId xmlns:p14="http://schemas.microsoft.com/office/powerpoint/2010/main" val="26331170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a:t>
            </a:r>
            <a:r>
              <a:rPr lang="en-US" dirty="0" err="1"/>
              <a:t>i</a:t>
            </a:r>
            <a:r>
              <a:rPr lang="en-US" dirty="0"/>
              <a:t>) Write down the content of </a:t>
            </a:r>
            <a:r>
              <a:rPr lang="en-US" dirty="0">
                <a:latin typeface="Courier New" panose="02070309020205020404" pitchFamily="49" charset="0"/>
                <a:cs typeface="Courier New" panose="02070309020205020404" pitchFamily="49" charset="0"/>
              </a:rPr>
              <a:t>A</a:t>
            </a:r>
            <a:r>
              <a:rPr lang="en-US" dirty="0"/>
              <a:t> after the loop body of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0</a:t>
            </a:r>
            <a:r>
              <a:rPr lang="en-US" dirty="0"/>
              <a:t> has been executed.</a:t>
            </a:r>
            <a:br>
              <a:rPr lang="en-US" dirty="0"/>
            </a:br>
            <a:br>
              <a:rPr lang="en-US" dirty="0"/>
            </a:br>
            <a:br>
              <a:rPr lang="en-US" dirty="0"/>
            </a:br>
            <a:endParaRPr lang="en-US" dirty="0"/>
          </a:p>
          <a:p>
            <a:r>
              <a:rPr lang="en-US" dirty="0"/>
              <a:t>(ii) Write down the content of </a:t>
            </a:r>
            <a:r>
              <a:rPr lang="en-US" dirty="0">
                <a:latin typeface="Courier New" panose="02070309020205020404" pitchFamily="49" charset="0"/>
                <a:cs typeface="Courier New" panose="02070309020205020404" pitchFamily="49" charset="0"/>
              </a:rPr>
              <a:t>A</a:t>
            </a:r>
            <a:r>
              <a:rPr lang="en-US" dirty="0"/>
              <a:t> after the loop body of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 1</a:t>
            </a:r>
            <a:r>
              <a:rPr lang="en-US" dirty="0"/>
              <a:t> has been executed.</a:t>
            </a:r>
            <a:br>
              <a:rPr lang="en-US" dirty="0"/>
            </a:br>
            <a:br>
              <a:rPr lang="en-US" dirty="0"/>
            </a:br>
            <a:endParaRPr lang="en-US" dirty="0"/>
          </a:p>
          <a:p>
            <a:endParaRPr lang="en-US" dirty="0"/>
          </a:p>
          <a:p>
            <a:r>
              <a:rPr lang="en-US" dirty="0"/>
              <a:t>(iii) Write down the content of </a:t>
            </a:r>
            <a:r>
              <a:rPr lang="en-US" dirty="0">
                <a:latin typeface="Courier New" panose="02070309020205020404" pitchFamily="49" charset="0"/>
                <a:cs typeface="Courier New" panose="02070309020205020404" pitchFamily="49" charset="0"/>
              </a:rPr>
              <a:t>A</a:t>
            </a:r>
            <a:r>
              <a:rPr lang="en-US" dirty="0"/>
              <a:t> after the above algorithm has been executed.</a:t>
            </a:r>
          </a:p>
        </p:txBody>
      </p:sp>
      <p:sp>
        <p:nvSpPr>
          <p:cNvPr id="3" name="Slide Number Placeholder 2"/>
          <p:cNvSpPr>
            <a:spLocks noGrp="1"/>
          </p:cNvSpPr>
          <p:nvPr>
            <p:ph type="sldNum" sz="quarter" idx="12"/>
          </p:nvPr>
        </p:nvSpPr>
        <p:spPr/>
        <p:txBody>
          <a:bodyPr/>
          <a:lstStyle/>
          <a:p>
            <a:fld id="{6D22F896-40B5-4ADD-8801-0D06FADFA095}" type="slidenum">
              <a:rPr lang="en-US" smtClean="0"/>
              <a:t>103</a:t>
            </a:fld>
            <a:endParaRPr lang="en-US" dirty="0"/>
          </a:p>
        </p:txBody>
      </p:sp>
      <p:sp>
        <p:nvSpPr>
          <p:cNvPr id="4" name="Text Placeholder 3"/>
          <p:cNvSpPr>
            <a:spLocks noGrp="1"/>
          </p:cNvSpPr>
          <p:nvPr>
            <p:ph type="body" sz="quarter" idx="13"/>
          </p:nvPr>
        </p:nvSpPr>
        <p:spPr/>
        <p:txBody>
          <a:bodyPr/>
          <a:lstStyle/>
          <a:p>
            <a:r>
              <a:rPr lang="en-US" dirty="0"/>
              <a:t>6.5</a:t>
            </a:r>
          </a:p>
        </p:txBody>
      </p:sp>
      <p:pic>
        <p:nvPicPr>
          <p:cNvPr id="5" name="Picture 4"/>
          <p:cNvPicPr>
            <a:picLocks noChangeAspect="1"/>
          </p:cNvPicPr>
          <p:nvPr/>
        </p:nvPicPr>
        <p:blipFill>
          <a:blip r:embed="rId2"/>
          <a:stretch>
            <a:fillRect/>
          </a:stretch>
        </p:blipFill>
        <p:spPr>
          <a:xfrm>
            <a:off x="2135008" y="2080513"/>
            <a:ext cx="5778707" cy="711538"/>
          </a:xfrm>
          <a:prstGeom prst="rect">
            <a:avLst/>
          </a:prstGeom>
        </p:spPr>
      </p:pic>
      <p:pic>
        <p:nvPicPr>
          <p:cNvPr id="6" name="Picture 5"/>
          <p:cNvPicPr>
            <a:picLocks noChangeAspect="1"/>
          </p:cNvPicPr>
          <p:nvPr/>
        </p:nvPicPr>
        <p:blipFill>
          <a:blip r:embed="rId3"/>
          <a:stretch>
            <a:fillRect/>
          </a:stretch>
        </p:blipFill>
        <p:spPr>
          <a:xfrm>
            <a:off x="2135008" y="3748066"/>
            <a:ext cx="5778707" cy="683448"/>
          </a:xfrm>
          <a:prstGeom prst="rect">
            <a:avLst/>
          </a:prstGeom>
        </p:spPr>
      </p:pic>
      <p:pic>
        <p:nvPicPr>
          <p:cNvPr id="7" name="Picture 6"/>
          <p:cNvPicPr>
            <a:picLocks noChangeAspect="1"/>
          </p:cNvPicPr>
          <p:nvPr/>
        </p:nvPicPr>
        <p:blipFill>
          <a:blip r:embed="rId4"/>
          <a:stretch>
            <a:fillRect/>
          </a:stretch>
        </p:blipFill>
        <p:spPr>
          <a:xfrm>
            <a:off x="2135008" y="5387530"/>
            <a:ext cx="5778707" cy="708400"/>
          </a:xfrm>
          <a:prstGeom prst="rect">
            <a:avLst/>
          </a:prstGeom>
        </p:spPr>
      </p:pic>
    </p:spTree>
    <p:extLst>
      <p:ext uri="{BB962C8B-B14F-4D97-AF65-F5344CB8AC3E}">
        <p14:creationId xmlns:p14="http://schemas.microsoft.com/office/powerpoint/2010/main" val="2485663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After the above algorithm has been executed, how many times has the conditional statement in line 3 been executed?</a:t>
            </a:r>
          </a:p>
          <a:p>
            <a:endParaRPr lang="en-US" dirty="0"/>
          </a:p>
          <a:p>
            <a:r>
              <a:rPr lang="en-US" dirty="0"/>
              <a:t>(ii) Vanessa suggests that Valerie should change the pseudocode in line 2 to “</a:t>
            </a:r>
            <a:r>
              <a:rPr lang="en-US" dirty="0">
                <a:latin typeface="Courier New" panose="02070309020205020404" pitchFamily="49" charset="0"/>
                <a:cs typeface="Courier New" panose="02070309020205020404" pitchFamily="49" charset="0"/>
              </a:rPr>
              <a:t>for j from 0 to 3-i</a:t>
            </a:r>
            <a:r>
              <a:rPr lang="en-US" dirty="0"/>
              <a:t>” in order to enhance the efficiency of this algorithm. Do you agree with Vanessa’s suggestion? Explain briefly.</a:t>
            </a:r>
          </a:p>
          <a:p>
            <a:endParaRPr lang="en-US" dirty="0"/>
          </a:p>
          <a:p>
            <a:r>
              <a:rPr lang="en-US" dirty="0"/>
              <a:t>(c) What is the purpose of this algorithm?</a:t>
            </a:r>
          </a:p>
        </p:txBody>
      </p:sp>
      <p:sp>
        <p:nvSpPr>
          <p:cNvPr id="3" name="Slide Number Placeholder 2"/>
          <p:cNvSpPr>
            <a:spLocks noGrp="1"/>
          </p:cNvSpPr>
          <p:nvPr>
            <p:ph type="sldNum" sz="quarter" idx="12"/>
          </p:nvPr>
        </p:nvSpPr>
        <p:spPr/>
        <p:txBody>
          <a:bodyPr/>
          <a:lstStyle/>
          <a:p>
            <a:fld id="{6D22F896-40B5-4ADD-8801-0D06FADFA095}" type="slidenum">
              <a:rPr lang="en-US" smtClean="0"/>
              <a:t>104</a:t>
            </a:fld>
            <a:endParaRPr lang="en-US" dirty="0"/>
          </a:p>
        </p:txBody>
      </p:sp>
      <p:sp>
        <p:nvSpPr>
          <p:cNvPr id="4" name="Text Placeholder 3"/>
          <p:cNvSpPr>
            <a:spLocks noGrp="1"/>
          </p:cNvSpPr>
          <p:nvPr>
            <p:ph type="body" sz="quarter" idx="13"/>
          </p:nvPr>
        </p:nvSpPr>
        <p:spPr/>
        <p:txBody>
          <a:bodyPr/>
          <a:lstStyle/>
          <a:p>
            <a:r>
              <a:rPr lang="en-US" dirty="0"/>
              <a:t>6.5</a:t>
            </a:r>
          </a:p>
        </p:txBody>
      </p:sp>
    </p:spTree>
    <p:extLst>
      <p:ext uri="{BB962C8B-B14F-4D97-AF65-F5344CB8AC3E}">
        <p14:creationId xmlns:p14="http://schemas.microsoft.com/office/powerpoint/2010/main" val="290523906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a:t>(d) Valerie only needs to calculate and print the scores of the champion, first runner-up and second runner-up. </a:t>
            </a:r>
            <a:br>
              <a:rPr lang="en-US" dirty="0"/>
            </a:br>
            <a:endParaRPr lang="en-US" dirty="0"/>
          </a:p>
          <a:p>
            <a:r>
              <a:rPr lang="en-US" dirty="0"/>
              <a:t>(</a:t>
            </a:r>
            <a:r>
              <a:rPr lang="en-US" dirty="0" err="1"/>
              <a:t>i</a:t>
            </a:r>
            <a:r>
              <a:rPr lang="en-US" dirty="0"/>
              <a:t>) After the above algorithm has been executed, which items store the scores of the champion, first runner-up and second runner-up?</a:t>
            </a:r>
          </a:p>
          <a:p>
            <a:br>
              <a:rPr lang="en-US" dirty="0"/>
            </a:br>
            <a:r>
              <a:rPr lang="en-US" dirty="0"/>
              <a:t>	Champion: 		</a:t>
            </a:r>
            <a:r>
              <a:rPr lang="en-US" sz="2200" dirty="0">
                <a:latin typeface="Courier New" panose="02070309020205020404" pitchFamily="49" charset="0"/>
                <a:cs typeface="Courier New" panose="02070309020205020404" pitchFamily="49" charset="0"/>
              </a:rPr>
              <a:t>A[_______]</a:t>
            </a:r>
          </a:p>
          <a:p>
            <a:r>
              <a:rPr lang="en-US" dirty="0"/>
              <a:t>	First runner-up: 		</a:t>
            </a:r>
            <a:r>
              <a:rPr lang="en-US" sz="2200" dirty="0">
                <a:latin typeface="Courier New" panose="02070309020205020404" pitchFamily="49" charset="0"/>
                <a:cs typeface="Courier New" panose="02070309020205020404" pitchFamily="49" charset="0"/>
              </a:rPr>
              <a:t>A[_______]</a:t>
            </a:r>
          </a:p>
          <a:p>
            <a:r>
              <a:rPr lang="en-US" dirty="0"/>
              <a:t>	Second runner-up:	</a:t>
            </a:r>
            <a:r>
              <a:rPr lang="en-US" sz="2200" dirty="0">
                <a:latin typeface="Courier New" panose="02070309020205020404" pitchFamily="49" charset="0"/>
                <a:cs typeface="Courier New" panose="02070309020205020404" pitchFamily="49" charset="0"/>
              </a:rPr>
              <a:t>A[_______]</a:t>
            </a:r>
            <a:br>
              <a:rPr lang="en-US" dirty="0"/>
            </a:br>
            <a:endParaRPr lang="en-US" dirty="0"/>
          </a:p>
          <a:p>
            <a:r>
              <a:rPr lang="en-US" dirty="0"/>
              <a:t>(ii) How should the pseudocode in line 1 be changed such that the algorithm has the fewest steps of operation?</a:t>
            </a:r>
          </a:p>
          <a:p>
            <a:r>
              <a:rPr lang="en-US" dirty="0">
                <a:latin typeface="Courier New" panose="02070309020205020404" pitchFamily="49" charset="0"/>
                <a:cs typeface="Courier New" panose="02070309020205020404" pitchFamily="49" charset="0"/>
              </a:rPr>
              <a:t>	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_______ to _______</a:t>
            </a:r>
          </a:p>
        </p:txBody>
      </p:sp>
      <p:sp>
        <p:nvSpPr>
          <p:cNvPr id="3" name="Slide Number Placeholder 2"/>
          <p:cNvSpPr>
            <a:spLocks noGrp="1"/>
          </p:cNvSpPr>
          <p:nvPr>
            <p:ph type="sldNum" sz="quarter" idx="12"/>
          </p:nvPr>
        </p:nvSpPr>
        <p:spPr/>
        <p:txBody>
          <a:bodyPr/>
          <a:lstStyle/>
          <a:p>
            <a:fld id="{6D22F896-40B5-4ADD-8801-0D06FADFA095}" type="slidenum">
              <a:rPr lang="en-US" smtClean="0"/>
              <a:t>105</a:t>
            </a:fld>
            <a:endParaRPr lang="en-US" dirty="0"/>
          </a:p>
        </p:txBody>
      </p:sp>
      <p:sp>
        <p:nvSpPr>
          <p:cNvPr id="4" name="Text Placeholder 3"/>
          <p:cNvSpPr>
            <a:spLocks noGrp="1"/>
          </p:cNvSpPr>
          <p:nvPr>
            <p:ph type="body" sz="quarter" idx="13"/>
          </p:nvPr>
        </p:nvSpPr>
        <p:spPr/>
        <p:txBody>
          <a:bodyPr/>
          <a:lstStyle/>
          <a:p>
            <a:r>
              <a:rPr lang="en-US" dirty="0"/>
              <a:t>6.5</a:t>
            </a:r>
          </a:p>
        </p:txBody>
      </p:sp>
    </p:spTree>
    <p:extLst>
      <p:ext uri="{BB962C8B-B14F-4D97-AF65-F5344CB8AC3E}">
        <p14:creationId xmlns:p14="http://schemas.microsoft.com/office/powerpoint/2010/main" val="180384280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solidFill>
                  <a:srgbClr val="37A3D4"/>
                </a:solidFill>
              </a:rPr>
              <a:t>◣ Solution</a:t>
            </a:r>
          </a:p>
          <a:p>
            <a:r>
              <a:rPr lang="en-US" dirty="0"/>
              <a:t>(a) (</a:t>
            </a:r>
            <a:r>
              <a:rPr lang="en-US" dirty="0" err="1"/>
              <a:t>i</a:t>
            </a:r>
            <a:r>
              <a:rPr lang="en-US" dirty="0"/>
              <a:t>) The content of A:</a:t>
            </a:r>
            <a:br>
              <a:rPr lang="en-US" dirty="0"/>
            </a:br>
            <a:endParaRPr lang="en-US" dirty="0"/>
          </a:p>
          <a:p>
            <a:endParaRPr lang="en-US" dirty="0"/>
          </a:p>
          <a:p>
            <a:r>
              <a:rPr lang="en-US" dirty="0"/>
              <a:t>(ii) The content of A:</a:t>
            </a:r>
            <a:br>
              <a:rPr lang="en-US" dirty="0"/>
            </a:br>
            <a:endParaRPr lang="en-US" dirty="0"/>
          </a:p>
          <a:p>
            <a:endParaRPr lang="en-US" dirty="0"/>
          </a:p>
          <a:p>
            <a:r>
              <a:rPr lang="en-US" dirty="0"/>
              <a:t>(iii) The content of A:</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106</a:t>
            </a:fld>
            <a:endParaRPr lang="en-US" dirty="0"/>
          </a:p>
        </p:txBody>
      </p:sp>
      <p:sp>
        <p:nvSpPr>
          <p:cNvPr id="4" name="Text Placeholder 3"/>
          <p:cNvSpPr>
            <a:spLocks noGrp="1"/>
          </p:cNvSpPr>
          <p:nvPr>
            <p:ph type="body" sz="quarter" idx="13"/>
          </p:nvPr>
        </p:nvSpPr>
        <p:spPr/>
        <p:txBody>
          <a:bodyPr/>
          <a:lstStyle/>
          <a:p>
            <a:r>
              <a:rPr lang="en-US" dirty="0"/>
              <a:t>6.5</a:t>
            </a:r>
          </a:p>
        </p:txBody>
      </p:sp>
      <p:pic>
        <p:nvPicPr>
          <p:cNvPr id="5" name="Picture 4"/>
          <p:cNvPicPr>
            <a:picLocks noChangeAspect="1"/>
          </p:cNvPicPr>
          <p:nvPr/>
        </p:nvPicPr>
        <p:blipFill>
          <a:blip r:embed="rId2"/>
          <a:stretch>
            <a:fillRect/>
          </a:stretch>
        </p:blipFill>
        <p:spPr>
          <a:xfrm>
            <a:off x="2089828" y="2488402"/>
            <a:ext cx="5607758" cy="676449"/>
          </a:xfrm>
          <a:prstGeom prst="rect">
            <a:avLst/>
          </a:prstGeom>
        </p:spPr>
      </p:pic>
      <p:pic>
        <p:nvPicPr>
          <p:cNvPr id="6" name="Picture 5"/>
          <p:cNvPicPr>
            <a:picLocks noChangeAspect="1"/>
          </p:cNvPicPr>
          <p:nvPr/>
        </p:nvPicPr>
        <p:blipFill>
          <a:blip r:embed="rId3"/>
          <a:stretch>
            <a:fillRect/>
          </a:stretch>
        </p:blipFill>
        <p:spPr>
          <a:xfrm>
            <a:off x="2089828" y="3847990"/>
            <a:ext cx="5647664" cy="767051"/>
          </a:xfrm>
          <a:prstGeom prst="rect">
            <a:avLst/>
          </a:prstGeom>
        </p:spPr>
      </p:pic>
      <p:pic>
        <p:nvPicPr>
          <p:cNvPr id="7" name="Picture 6"/>
          <p:cNvPicPr>
            <a:picLocks noChangeAspect="1"/>
          </p:cNvPicPr>
          <p:nvPr/>
        </p:nvPicPr>
        <p:blipFill>
          <a:blip r:embed="rId4"/>
          <a:stretch>
            <a:fillRect/>
          </a:stretch>
        </p:blipFill>
        <p:spPr>
          <a:xfrm>
            <a:off x="2101468" y="5169435"/>
            <a:ext cx="5624383" cy="799612"/>
          </a:xfrm>
          <a:prstGeom prst="rect">
            <a:avLst/>
          </a:prstGeom>
        </p:spPr>
      </p:pic>
    </p:spTree>
    <p:extLst>
      <p:ext uri="{BB962C8B-B14F-4D97-AF65-F5344CB8AC3E}">
        <p14:creationId xmlns:p14="http://schemas.microsoft.com/office/powerpoint/2010/main" val="35985973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(b) (</a:t>
            </a:r>
            <a:r>
              <a:rPr lang="en-US" dirty="0" err="1"/>
              <a:t>i</a:t>
            </a:r>
            <a:r>
              <a:rPr lang="en-US" dirty="0"/>
              <a:t>) 6</a:t>
            </a:r>
          </a:p>
          <a:p>
            <a:r>
              <a:rPr lang="en-US" dirty="0"/>
              <a:t>      (ii) Agree. Since the nested loop body is executed for fewer times while the sorting algorithm gives the same result, the algorithm becomes more efficient.</a:t>
            </a:r>
          </a:p>
          <a:p>
            <a:endParaRPr lang="en-US" dirty="0"/>
          </a:p>
          <a:p>
            <a:r>
              <a:rPr lang="en-US" dirty="0"/>
              <a:t>(c) Sorted the items in array </a:t>
            </a:r>
            <a:r>
              <a:rPr lang="en-US" dirty="0">
                <a:latin typeface="Courier New" panose="02070309020205020404" pitchFamily="49" charset="0"/>
                <a:cs typeface="Courier New" panose="02070309020205020404" pitchFamily="49" charset="0"/>
              </a:rPr>
              <a:t>A</a:t>
            </a:r>
            <a:r>
              <a:rPr lang="en-US" dirty="0"/>
              <a:t> in ascending order.</a:t>
            </a:r>
          </a:p>
          <a:p>
            <a:endParaRPr lang="en-US" dirty="0"/>
          </a:p>
          <a:p>
            <a:r>
              <a:rPr lang="en-US" dirty="0"/>
              <a:t>(d) (</a:t>
            </a:r>
            <a:r>
              <a:rPr lang="en-US" dirty="0" err="1"/>
              <a:t>i</a:t>
            </a:r>
            <a:r>
              <a:rPr lang="en-US" dirty="0"/>
              <a:t>) 	</a:t>
            </a:r>
            <a:r>
              <a:rPr lang="en-US" dirty="0">
                <a:latin typeface="Courier New" panose="02070309020205020404" pitchFamily="49" charset="0"/>
                <a:cs typeface="Courier New" panose="02070309020205020404" pitchFamily="49" charset="0"/>
              </a:rPr>
              <a:t>A[4]</a:t>
            </a:r>
          </a:p>
          <a:p>
            <a:r>
              <a:rPr lang="en-US" dirty="0">
                <a:latin typeface="Courier New" panose="02070309020205020404" pitchFamily="49" charset="0"/>
                <a:cs typeface="Courier New" panose="02070309020205020404" pitchFamily="49" charset="0"/>
              </a:rPr>
              <a:t>	A[3]</a:t>
            </a:r>
          </a:p>
          <a:p>
            <a:r>
              <a:rPr lang="en-US" dirty="0">
                <a:latin typeface="Courier New" panose="02070309020205020404" pitchFamily="49" charset="0"/>
                <a:cs typeface="Courier New" panose="02070309020205020404" pitchFamily="49" charset="0"/>
              </a:rPr>
              <a:t>	A[2]</a:t>
            </a:r>
          </a:p>
          <a:p>
            <a:r>
              <a:rPr lang="en-US" dirty="0"/>
              <a:t>      (ii) </a:t>
            </a:r>
            <a:r>
              <a:rPr lang="en-US" dirty="0">
                <a:latin typeface="Courier New" panose="02070309020205020404" pitchFamily="49" charset="0"/>
                <a:cs typeface="Courier New" panose="02070309020205020404" pitchFamily="49" charset="0"/>
              </a:rPr>
              <a:t>for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from 0 to 2</a:t>
            </a:r>
          </a:p>
        </p:txBody>
      </p:sp>
      <p:sp>
        <p:nvSpPr>
          <p:cNvPr id="3" name="Slide Number Placeholder 2"/>
          <p:cNvSpPr>
            <a:spLocks noGrp="1"/>
          </p:cNvSpPr>
          <p:nvPr>
            <p:ph type="sldNum" sz="quarter" idx="12"/>
          </p:nvPr>
        </p:nvSpPr>
        <p:spPr/>
        <p:txBody>
          <a:bodyPr/>
          <a:lstStyle/>
          <a:p>
            <a:fld id="{6D22F896-40B5-4ADD-8801-0D06FADFA095}" type="slidenum">
              <a:rPr lang="en-US" smtClean="0"/>
              <a:t>107</a:t>
            </a:fld>
            <a:endParaRPr lang="en-US" dirty="0"/>
          </a:p>
        </p:txBody>
      </p:sp>
      <p:sp>
        <p:nvSpPr>
          <p:cNvPr id="4" name="Text Placeholder 3"/>
          <p:cNvSpPr>
            <a:spLocks noGrp="1"/>
          </p:cNvSpPr>
          <p:nvPr>
            <p:ph type="body" sz="quarter" idx="13"/>
          </p:nvPr>
        </p:nvSpPr>
        <p:spPr/>
        <p:txBody>
          <a:bodyPr/>
          <a:lstStyle/>
          <a:p>
            <a:r>
              <a:rPr lang="en-US" dirty="0"/>
              <a:t>6.5</a:t>
            </a:r>
          </a:p>
        </p:txBody>
      </p:sp>
    </p:spTree>
    <p:extLst>
      <p:ext uri="{BB962C8B-B14F-4D97-AF65-F5344CB8AC3E}">
        <p14:creationId xmlns:p14="http://schemas.microsoft.com/office/powerpoint/2010/main" val="224681120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Checkpoint 6.6 on P. 255 of the textbook.</a:t>
            </a:r>
          </a:p>
          <a:p>
            <a:endParaRPr lang="en-US" dirty="0"/>
          </a:p>
          <a:p>
            <a:r>
              <a:rPr lang="en-US" dirty="0">
                <a:solidFill>
                  <a:srgbClr val="FF0000"/>
                </a:solidFill>
              </a:rPr>
              <a:t>(a) (</a:t>
            </a:r>
            <a:r>
              <a:rPr lang="en-US" dirty="0" err="1">
                <a:solidFill>
                  <a:srgbClr val="FF0000"/>
                </a:solidFill>
              </a:rPr>
              <a:t>i</a:t>
            </a:r>
            <a:r>
              <a:rPr lang="en-US" dirty="0">
                <a:solidFill>
                  <a:srgbClr val="FF0000"/>
                </a:solidFill>
              </a:rPr>
              <a:t>)</a:t>
            </a:r>
          </a:p>
          <a:p>
            <a:endParaRPr lang="en-US" dirty="0">
              <a:solidFill>
                <a:srgbClr val="FF0000"/>
              </a:solidFill>
            </a:endParaRPr>
          </a:p>
          <a:p>
            <a:r>
              <a:rPr lang="en-US" dirty="0">
                <a:solidFill>
                  <a:srgbClr val="FF0000"/>
                </a:solidFill>
              </a:rPr>
              <a:t>      (ii)</a:t>
            </a:r>
          </a:p>
          <a:p>
            <a:endParaRPr lang="en-US" dirty="0">
              <a:solidFill>
                <a:srgbClr val="FF0000"/>
              </a:solidFill>
            </a:endParaRPr>
          </a:p>
          <a:p>
            <a:r>
              <a:rPr lang="en-US" dirty="0">
                <a:solidFill>
                  <a:srgbClr val="FF0000"/>
                </a:solidFill>
              </a:rPr>
              <a:t>      (iii)</a:t>
            </a:r>
          </a:p>
        </p:txBody>
      </p:sp>
      <p:sp>
        <p:nvSpPr>
          <p:cNvPr id="3" name="Slide Number Placeholder 2"/>
          <p:cNvSpPr>
            <a:spLocks noGrp="1"/>
          </p:cNvSpPr>
          <p:nvPr>
            <p:ph type="sldNum" sz="quarter" idx="12"/>
          </p:nvPr>
        </p:nvSpPr>
        <p:spPr/>
        <p:txBody>
          <a:bodyPr/>
          <a:lstStyle/>
          <a:p>
            <a:fld id="{6D22F896-40B5-4ADD-8801-0D06FADFA095}" type="slidenum">
              <a:rPr lang="en-US" smtClean="0"/>
              <a:t>108</a:t>
            </a:fld>
            <a:endParaRPr lang="en-US" dirty="0"/>
          </a:p>
        </p:txBody>
      </p:sp>
      <p:sp>
        <p:nvSpPr>
          <p:cNvPr id="4" name="Text Placeholder 3"/>
          <p:cNvSpPr>
            <a:spLocks noGrp="1"/>
          </p:cNvSpPr>
          <p:nvPr>
            <p:ph type="body" sz="quarter" idx="13"/>
          </p:nvPr>
        </p:nvSpPr>
        <p:spPr/>
        <p:txBody>
          <a:bodyPr/>
          <a:lstStyle/>
          <a:p>
            <a:r>
              <a:rPr lang="en-US" dirty="0"/>
              <a:t>6.6</a:t>
            </a:r>
          </a:p>
        </p:txBody>
      </p:sp>
      <p:pic>
        <p:nvPicPr>
          <p:cNvPr id="5" name="Picture 4"/>
          <p:cNvPicPr>
            <a:picLocks noChangeAspect="1"/>
          </p:cNvPicPr>
          <p:nvPr/>
        </p:nvPicPr>
        <p:blipFill>
          <a:blip r:embed="rId2"/>
          <a:stretch>
            <a:fillRect/>
          </a:stretch>
        </p:blipFill>
        <p:spPr>
          <a:xfrm>
            <a:off x="1737147" y="2515749"/>
            <a:ext cx="8312845" cy="634774"/>
          </a:xfrm>
          <a:prstGeom prst="rect">
            <a:avLst/>
          </a:prstGeom>
        </p:spPr>
      </p:pic>
      <p:pic>
        <p:nvPicPr>
          <p:cNvPr id="6" name="Picture 5"/>
          <p:cNvPicPr>
            <a:picLocks noChangeAspect="1"/>
          </p:cNvPicPr>
          <p:nvPr/>
        </p:nvPicPr>
        <p:blipFill>
          <a:blip r:embed="rId3"/>
          <a:stretch>
            <a:fillRect/>
          </a:stretch>
        </p:blipFill>
        <p:spPr>
          <a:xfrm>
            <a:off x="1728834" y="3473652"/>
            <a:ext cx="8312845" cy="617526"/>
          </a:xfrm>
          <a:prstGeom prst="rect">
            <a:avLst/>
          </a:prstGeom>
        </p:spPr>
      </p:pic>
      <p:pic>
        <p:nvPicPr>
          <p:cNvPr id="7" name="Picture 6"/>
          <p:cNvPicPr>
            <a:picLocks noChangeAspect="1"/>
          </p:cNvPicPr>
          <p:nvPr/>
        </p:nvPicPr>
        <p:blipFill>
          <a:blip r:embed="rId4"/>
          <a:stretch>
            <a:fillRect/>
          </a:stretch>
        </p:blipFill>
        <p:spPr>
          <a:xfrm>
            <a:off x="1695581" y="4491686"/>
            <a:ext cx="8346097" cy="662818"/>
          </a:xfrm>
          <a:prstGeom prst="rect">
            <a:avLst/>
          </a:prstGeom>
        </p:spPr>
      </p:pic>
    </p:spTree>
    <p:extLst>
      <p:ext uri="{BB962C8B-B14F-4D97-AF65-F5344CB8AC3E}">
        <p14:creationId xmlns:p14="http://schemas.microsoft.com/office/powerpoint/2010/main" val="205896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fade">
                                      <p:cBhvr>
                                        <p:cTn id="15" dur="500"/>
                                        <p:tgtEl>
                                          <p:spTgt spid="2">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animEffect transition="in" filter="fade">
                                      <p:cBhvr>
                                        <p:cTn id="23" dur="500"/>
                                        <p:tgtEl>
                                          <p:spTgt spid="2">
                                            <p:txEl>
                                              <p:pRg st="6" end="6"/>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solidFill>
                  <a:srgbClr val="FF0000"/>
                </a:solidFill>
              </a:rPr>
              <a:t>(b)</a:t>
            </a:r>
            <a:r>
              <a:rPr lang="en-US" dirty="0"/>
              <a:t> </a:t>
            </a:r>
            <a:r>
              <a:rPr lang="en-US" dirty="0">
                <a:solidFill>
                  <a:srgbClr val="FF0000"/>
                </a:solidFill>
              </a:rPr>
              <a:t>Sort the dates in array B from earlier to later (or in ascending order).</a:t>
            </a:r>
          </a:p>
          <a:p>
            <a:endParaRPr lang="en-US" dirty="0"/>
          </a:p>
          <a:p>
            <a:r>
              <a:rPr lang="en-US" dirty="0">
                <a:solidFill>
                  <a:srgbClr val="FF0000"/>
                </a:solidFill>
              </a:rPr>
              <a:t>(c)</a:t>
            </a:r>
            <a:r>
              <a:rPr lang="en-US" dirty="0"/>
              <a:t> </a:t>
            </a:r>
            <a:r>
              <a:rPr lang="en-US" dirty="0">
                <a:latin typeface="Courier New" panose="02070309020205020404" pitchFamily="49" charset="0"/>
                <a:cs typeface="Courier New" panose="02070309020205020404" pitchFamily="49" charset="0"/>
              </a:rPr>
              <a:t>for j from </a:t>
            </a:r>
            <a:r>
              <a:rPr lang="en-US" dirty="0">
                <a:solidFill>
                  <a:srgbClr val="FF0000"/>
                </a:solidFill>
                <a:latin typeface="Courier New" panose="02070309020205020404" pitchFamily="49" charset="0"/>
                <a:cs typeface="Courier New" panose="02070309020205020404" pitchFamily="49" charset="0"/>
              </a:rPr>
              <a:t>8</a:t>
            </a:r>
            <a:r>
              <a:rPr lang="en-US" dirty="0">
                <a:latin typeface="Courier New" panose="02070309020205020404" pitchFamily="49" charset="0"/>
                <a:cs typeface="Courier New" panose="02070309020205020404" pitchFamily="49" charset="0"/>
              </a:rPr>
              <a:t> down to </a:t>
            </a:r>
            <a:r>
              <a:rPr lang="en-US" dirty="0">
                <a:solidFill>
                  <a:srgbClr val="FF0000"/>
                </a:solidFill>
                <a:latin typeface="Courier New" panose="02070309020205020404" pitchFamily="49" charset="0"/>
                <a:cs typeface="Courier New" panose="02070309020205020404" pitchFamily="49" charset="0"/>
              </a:rPr>
              <a:t>1+i</a:t>
            </a:r>
          </a:p>
        </p:txBody>
      </p:sp>
      <p:sp>
        <p:nvSpPr>
          <p:cNvPr id="3" name="Slide Number Placeholder 2"/>
          <p:cNvSpPr>
            <a:spLocks noGrp="1"/>
          </p:cNvSpPr>
          <p:nvPr>
            <p:ph type="sldNum" sz="quarter" idx="12"/>
          </p:nvPr>
        </p:nvSpPr>
        <p:spPr/>
        <p:txBody>
          <a:bodyPr/>
          <a:lstStyle/>
          <a:p>
            <a:fld id="{6D22F896-40B5-4ADD-8801-0D06FADFA095}" type="slidenum">
              <a:rPr lang="en-US" smtClean="0"/>
              <a:t>109</a:t>
            </a:fld>
            <a:endParaRPr lang="en-US" dirty="0"/>
          </a:p>
        </p:txBody>
      </p:sp>
      <p:sp>
        <p:nvSpPr>
          <p:cNvPr id="4" name="Text Placeholder 3"/>
          <p:cNvSpPr>
            <a:spLocks noGrp="1"/>
          </p:cNvSpPr>
          <p:nvPr>
            <p:ph type="body" sz="quarter" idx="13"/>
          </p:nvPr>
        </p:nvSpPr>
        <p:spPr/>
        <p:txBody>
          <a:bodyPr/>
          <a:lstStyle/>
          <a:p>
            <a:r>
              <a:rPr lang="en-US" dirty="0"/>
              <a:t>6.6</a:t>
            </a:r>
          </a:p>
        </p:txBody>
      </p:sp>
    </p:spTree>
    <p:extLst>
      <p:ext uri="{BB962C8B-B14F-4D97-AF65-F5344CB8AC3E}">
        <p14:creationId xmlns:p14="http://schemas.microsoft.com/office/powerpoint/2010/main" val="32293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Merging Two Sorted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110</a:t>
            </a:fld>
            <a:endParaRPr lang="en-US" dirty="0"/>
          </a:p>
        </p:txBody>
      </p:sp>
      <p:sp>
        <p:nvSpPr>
          <p:cNvPr id="4" name="Text Placeholder 3"/>
          <p:cNvSpPr>
            <a:spLocks noGrp="1"/>
          </p:cNvSpPr>
          <p:nvPr>
            <p:ph type="body" sz="quarter" idx="14"/>
          </p:nvPr>
        </p:nvSpPr>
        <p:spPr/>
        <p:txBody>
          <a:bodyPr/>
          <a:lstStyle/>
          <a:p>
            <a:r>
              <a:rPr lang="en-US" dirty="0"/>
              <a:t>6.4</a:t>
            </a:r>
          </a:p>
        </p:txBody>
      </p:sp>
      <p:sp>
        <p:nvSpPr>
          <p:cNvPr id="5" name="Content Placeholder 4"/>
          <p:cNvSpPr>
            <a:spLocks noGrp="1"/>
          </p:cNvSpPr>
          <p:nvPr>
            <p:ph sz="quarter" idx="15"/>
          </p:nvPr>
        </p:nvSpPr>
        <p:spPr/>
        <p:txBody>
          <a:bodyPr/>
          <a:lstStyle/>
          <a:p>
            <a:r>
              <a:rPr lang="en-US" dirty="0"/>
              <a:t>The following lists </a:t>
            </a:r>
            <a:r>
              <a:rPr lang="en-US" dirty="0">
                <a:latin typeface="Courier New" panose="02070309020205020404" pitchFamily="49" charset="0"/>
                <a:cs typeface="Courier New" panose="02070309020205020404" pitchFamily="49" charset="0"/>
              </a:rPr>
              <a:t>class4A</a:t>
            </a:r>
            <a:r>
              <a:rPr lang="en-US" dirty="0"/>
              <a:t> and </a:t>
            </a:r>
            <a:r>
              <a:rPr lang="en-US" dirty="0">
                <a:latin typeface="Courier New" panose="02070309020205020404" pitchFamily="49" charset="0"/>
                <a:cs typeface="Courier New" panose="02070309020205020404" pitchFamily="49" charset="0"/>
              </a:rPr>
              <a:t>class4B</a:t>
            </a:r>
            <a:r>
              <a:rPr lang="en-US" dirty="0"/>
              <a:t> store the exam scores of six and four students respectively, and they have been sorted in ascending order as follows:</a:t>
            </a:r>
          </a:p>
        </p:txBody>
      </p:sp>
      <p:pic>
        <p:nvPicPr>
          <p:cNvPr id="6" name="Picture 5"/>
          <p:cNvPicPr>
            <a:picLocks noChangeAspect="1"/>
          </p:cNvPicPr>
          <p:nvPr/>
        </p:nvPicPr>
        <p:blipFill>
          <a:blip r:embed="rId2"/>
          <a:stretch>
            <a:fillRect/>
          </a:stretch>
        </p:blipFill>
        <p:spPr>
          <a:xfrm>
            <a:off x="2605243" y="2929162"/>
            <a:ext cx="6982714" cy="1933783"/>
          </a:xfrm>
          <a:prstGeom prst="rect">
            <a:avLst/>
          </a:prstGeom>
        </p:spPr>
      </p:pic>
    </p:spTree>
    <p:extLst>
      <p:ext uri="{BB962C8B-B14F-4D97-AF65-F5344CB8AC3E}">
        <p14:creationId xmlns:p14="http://schemas.microsoft.com/office/powerpoint/2010/main" val="34845300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merging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111</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Suppose that we are going to merge the two lists into list form4, which is sorted in ascending order:</a:t>
            </a:r>
          </a:p>
        </p:txBody>
      </p:sp>
      <p:pic>
        <p:nvPicPr>
          <p:cNvPr id="6" name="Picture 5"/>
          <p:cNvPicPr>
            <a:picLocks noChangeAspect="1"/>
          </p:cNvPicPr>
          <p:nvPr/>
        </p:nvPicPr>
        <p:blipFill>
          <a:blip r:embed="rId2"/>
          <a:stretch>
            <a:fillRect/>
          </a:stretch>
        </p:blipFill>
        <p:spPr>
          <a:xfrm>
            <a:off x="1592640" y="2869200"/>
            <a:ext cx="9007920" cy="1388789"/>
          </a:xfrm>
          <a:prstGeom prst="rect">
            <a:avLst/>
          </a:prstGeom>
        </p:spPr>
      </p:pic>
    </p:spTree>
    <p:extLst>
      <p:ext uri="{BB962C8B-B14F-4D97-AF65-F5344CB8AC3E}">
        <p14:creationId xmlns:p14="http://schemas.microsoft.com/office/powerpoint/2010/main" val="61299302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merging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112</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normAutofit/>
          </a:bodyPr>
          <a:lstStyle/>
          <a:p>
            <a:r>
              <a:rPr lang="en-US" dirty="0"/>
              <a:t>The following Python program writes the algorithm for merging lists:</a:t>
            </a:r>
          </a:p>
          <a:p>
            <a:pPr lvl="1"/>
            <a:br>
              <a:rPr lang="en-US" dirty="0"/>
            </a:b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a:solidFill>
                  <a:srgbClr val="AB3D18"/>
                </a:solidFill>
                <a:latin typeface="Courier New" panose="02070309020205020404" pitchFamily="49" charset="0"/>
                <a:cs typeface="Courier New" panose="02070309020205020404" pitchFamily="49" charset="0"/>
              </a:rPr>
              <a:t>0</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j = </a:t>
            </a:r>
            <a:r>
              <a:rPr lang="en-US" sz="1600" dirty="0">
                <a:solidFill>
                  <a:srgbClr val="AB3D18"/>
                </a:solidFill>
                <a:latin typeface="Courier New" panose="02070309020205020404" pitchFamily="49" charset="0"/>
                <a:cs typeface="Courier New" panose="02070309020205020404" pitchFamily="49" charset="0"/>
              </a:rPr>
              <a:t>0</a:t>
            </a:r>
            <a:br>
              <a:rPr lang="en-US" sz="1600" dirty="0">
                <a:latin typeface="Courier New" panose="02070309020205020404" pitchFamily="49" charset="0"/>
                <a:cs typeface="Courier New" panose="02070309020205020404" pitchFamily="49" charset="0"/>
              </a:rPr>
            </a:br>
            <a:r>
              <a:rPr lang="en-US" sz="1600" b="1" dirty="0">
                <a:solidFill>
                  <a:srgbClr val="7C2573"/>
                </a:solidFill>
                <a:latin typeface="Courier New" panose="02070309020205020404" pitchFamily="49" charset="0"/>
                <a:cs typeface="Courier New" panose="02070309020205020404" pitchFamily="49" charset="0"/>
              </a:rPr>
              <a:t>for</a:t>
            </a:r>
            <a:r>
              <a:rPr lang="en-US" sz="1600" dirty="0">
                <a:latin typeface="Courier New" panose="02070309020205020404" pitchFamily="49" charset="0"/>
                <a:cs typeface="Courier New" panose="02070309020205020404" pitchFamily="49" charset="0"/>
              </a:rPr>
              <a:t> k </a:t>
            </a:r>
            <a:r>
              <a:rPr lang="en-US" sz="1600" b="1" dirty="0">
                <a:solidFill>
                  <a:srgbClr val="7C2573"/>
                </a:solidFill>
                <a:latin typeface="Courier New" panose="02070309020205020404" pitchFamily="49" charset="0"/>
                <a:cs typeface="Courier New" panose="02070309020205020404" pitchFamily="49" charset="0"/>
              </a:rPr>
              <a:t>in</a:t>
            </a:r>
            <a:r>
              <a:rPr lang="en-US" sz="1600" dirty="0">
                <a:latin typeface="Courier New" panose="02070309020205020404" pitchFamily="49" charset="0"/>
                <a:cs typeface="Courier New" panose="02070309020205020404" pitchFamily="49" charset="0"/>
              </a:rPr>
              <a:t> </a:t>
            </a:r>
            <a:r>
              <a:rPr lang="en-US" sz="1600" dirty="0">
                <a:solidFill>
                  <a:srgbClr val="7C2573"/>
                </a:solidFill>
                <a:latin typeface="Courier New" panose="02070309020205020404" pitchFamily="49" charset="0"/>
                <a:cs typeface="Courier New" panose="02070309020205020404" pitchFamily="49" charset="0"/>
              </a:rPr>
              <a:t>range</a:t>
            </a:r>
            <a:r>
              <a:rPr lang="en-US" sz="1600" dirty="0">
                <a:latin typeface="Courier New" panose="02070309020205020404" pitchFamily="49" charset="0"/>
                <a:cs typeface="Courier New" panose="02070309020205020404" pitchFamily="49" charset="0"/>
              </a:rPr>
              <a:t>(</a:t>
            </a:r>
            <a:r>
              <a:rPr lang="en-US" sz="1600" dirty="0">
                <a:solidFill>
                  <a:srgbClr val="AB3D18"/>
                </a:solidFill>
                <a:latin typeface="Courier New" panose="02070309020205020404" pitchFamily="49" charset="0"/>
                <a:cs typeface="Courier New" panose="02070309020205020404" pitchFamily="49" charset="0"/>
              </a:rPr>
              <a:t>0</a:t>
            </a:r>
            <a:r>
              <a:rPr lang="en-US" sz="1600" dirty="0">
                <a:latin typeface="Courier New" panose="02070309020205020404" pitchFamily="49" charset="0"/>
                <a:cs typeface="Courier New" panose="02070309020205020404" pitchFamily="49" charset="0"/>
              </a:rPr>
              <a:t>, </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(class4A)+</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(class4B)):</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if</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&lt; </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(class4A) </a:t>
            </a:r>
            <a:r>
              <a:rPr lang="en-US" sz="1600" b="1" dirty="0">
                <a:solidFill>
                  <a:srgbClr val="7C2573"/>
                </a:solidFill>
                <a:latin typeface="Courier New" panose="02070309020205020404" pitchFamily="49" charset="0"/>
                <a:cs typeface="Courier New" panose="02070309020205020404" pitchFamily="49" charset="0"/>
              </a:rPr>
              <a:t>and</a:t>
            </a:r>
            <a:r>
              <a:rPr lang="en-US" sz="1600" dirty="0">
                <a:latin typeface="Courier New" panose="02070309020205020404" pitchFamily="49" charset="0"/>
                <a:cs typeface="Courier New" panose="02070309020205020404" pitchFamily="49" charset="0"/>
              </a:rPr>
              <a:t> (j == </a:t>
            </a:r>
            <a:r>
              <a:rPr lang="en-US" sz="1600" dirty="0" err="1">
                <a:solidFill>
                  <a:srgbClr val="7C2573"/>
                </a:solidFill>
                <a:latin typeface="Courier New" panose="02070309020205020404" pitchFamily="49" charset="0"/>
                <a:cs typeface="Courier New" panose="02070309020205020404" pitchFamily="49" charset="0"/>
              </a:rPr>
              <a:t>len</a:t>
            </a:r>
            <a:r>
              <a:rPr lang="en-US" sz="1600" dirty="0">
                <a:latin typeface="Courier New" panose="02070309020205020404" pitchFamily="49" charset="0"/>
                <a:cs typeface="Courier New" panose="02070309020205020404" pitchFamily="49" charset="0"/>
              </a:rPr>
              <a:t>(class4B) </a:t>
            </a:r>
            <a:r>
              <a:rPr lang="en-US" sz="1600" b="1" dirty="0">
                <a:solidFill>
                  <a:srgbClr val="7C2573"/>
                </a:solidFill>
                <a:latin typeface="Courier New" panose="02070309020205020404" pitchFamily="49" charset="0"/>
                <a:cs typeface="Courier New" panose="02070309020205020404" pitchFamily="49" charset="0"/>
              </a:rPr>
              <a:t>or</a:t>
            </a:r>
            <a:r>
              <a:rPr lang="en-US" sz="1600" dirty="0">
                <a:latin typeface="Courier New" panose="02070309020205020404" pitchFamily="49" charset="0"/>
                <a:cs typeface="Courier New" panose="02070309020205020404" pitchFamily="49" charset="0"/>
              </a:rPr>
              <a:t> class4A[</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&lt; class4B[j]):</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form4[k] = class4A[</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a:t>
            </a:r>
            <a:r>
              <a:rPr lang="en-US" sz="1600" dirty="0">
                <a:solidFill>
                  <a:srgbClr val="AB3D18"/>
                </a:solidFill>
                <a:latin typeface="Courier New" panose="02070309020205020404" pitchFamily="49" charset="0"/>
                <a:cs typeface="Courier New" panose="02070309020205020404" pitchFamily="49" charset="0"/>
              </a:rPr>
              <a:t>1</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a:t>
            </a:r>
            <a:r>
              <a:rPr lang="en-US" sz="1600" b="1" dirty="0">
                <a:solidFill>
                  <a:srgbClr val="7C2573"/>
                </a:solidFill>
                <a:latin typeface="Courier New" panose="02070309020205020404" pitchFamily="49" charset="0"/>
                <a:cs typeface="Courier New" panose="02070309020205020404" pitchFamily="49" charset="0"/>
              </a:rPr>
              <a:t>else</a:t>
            </a:r>
            <a:r>
              <a:rPr lang="en-US" sz="1600" dirty="0">
                <a:latin typeface="Courier New" panose="02070309020205020404" pitchFamily="49" charset="0"/>
                <a:cs typeface="Courier New" panose="02070309020205020404" pitchFamily="49" charset="0"/>
              </a:rPr>
              <a:t>:</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form4[k] = class4B[j]</a:t>
            </a:r>
            <a:br>
              <a:rPr lang="en-US" sz="1600" dirty="0">
                <a:latin typeface="Courier New" panose="02070309020205020404" pitchFamily="49" charset="0"/>
                <a:cs typeface="Courier New" panose="02070309020205020404" pitchFamily="49" charset="0"/>
              </a:rPr>
            </a:br>
            <a:r>
              <a:rPr lang="en-US" sz="1600" dirty="0">
                <a:latin typeface="Courier New" panose="02070309020205020404" pitchFamily="49" charset="0"/>
                <a:cs typeface="Courier New" panose="02070309020205020404" pitchFamily="49" charset="0"/>
              </a:rPr>
              <a:t>		j = j + </a:t>
            </a:r>
            <a:r>
              <a:rPr lang="en-US" sz="1600" dirty="0">
                <a:solidFill>
                  <a:srgbClr val="AB3D18"/>
                </a:solidFill>
                <a:latin typeface="Courier New" panose="02070309020205020404" pitchFamily="49" charset="0"/>
                <a:cs typeface="Courier New" panose="02070309020205020404" pitchFamily="49" charset="0"/>
              </a:rPr>
              <a:t>1</a:t>
            </a:r>
          </a:p>
        </p:txBody>
      </p:sp>
    </p:spTree>
    <p:extLst>
      <p:ext uri="{BB962C8B-B14F-4D97-AF65-F5344CB8AC3E}">
        <p14:creationId xmlns:p14="http://schemas.microsoft.com/office/powerpoint/2010/main" val="8695893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merging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113</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1. Compare the first unmerged item of the two lists, and then copy the smaller item to the merged list.</a:t>
            </a:r>
          </a:p>
        </p:txBody>
      </p:sp>
      <p:pic>
        <p:nvPicPr>
          <p:cNvPr id="6" name="Picture 5"/>
          <p:cNvPicPr>
            <a:picLocks noChangeAspect="1"/>
          </p:cNvPicPr>
          <p:nvPr/>
        </p:nvPicPr>
        <p:blipFill>
          <a:blip r:embed="rId2"/>
          <a:stretch>
            <a:fillRect/>
          </a:stretch>
        </p:blipFill>
        <p:spPr>
          <a:xfrm>
            <a:off x="607504" y="2665539"/>
            <a:ext cx="3964496" cy="2725263"/>
          </a:xfrm>
          <a:prstGeom prst="rect">
            <a:avLst/>
          </a:prstGeom>
        </p:spPr>
      </p:pic>
      <p:pic>
        <p:nvPicPr>
          <p:cNvPr id="7" name="Picture 6"/>
          <p:cNvPicPr>
            <a:picLocks noChangeAspect="1"/>
          </p:cNvPicPr>
          <p:nvPr/>
        </p:nvPicPr>
        <p:blipFill>
          <a:blip r:embed="rId3"/>
          <a:stretch>
            <a:fillRect/>
          </a:stretch>
        </p:blipFill>
        <p:spPr>
          <a:xfrm>
            <a:off x="4803296" y="2752822"/>
            <a:ext cx="7153166" cy="2550698"/>
          </a:xfrm>
          <a:prstGeom prst="rect">
            <a:avLst/>
          </a:prstGeom>
        </p:spPr>
      </p:pic>
      <p:sp>
        <p:nvSpPr>
          <p:cNvPr id="8" name="Rectangle 7"/>
          <p:cNvSpPr/>
          <p:nvPr/>
        </p:nvSpPr>
        <p:spPr>
          <a:xfrm>
            <a:off x="4696691" y="3291840"/>
            <a:ext cx="7340138" cy="20116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82427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merging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114</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2. Repeat the above operations.</a:t>
            </a:r>
          </a:p>
        </p:txBody>
      </p:sp>
      <p:pic>
        <p:nvPicPr>
          <p:cNvPr id="6" name="Picture 5"/>
          <p:cNvPicPr>
            <a:picLocks noChangeAspect="1"/>
          </p:cNvPicPr>
          <p:nvPr/>
        </p:nvPicPr>
        <p:blipFill>
          <a:blip r:embed="rId2"/>
          <a:stretch>
            <a:fillRect/>
          </a:stretch>
        </p:blipFill>
        <p:spPr>
          <a:xfrm>
            <a:off x="3037883" y="2620947"/>
            <a:ext cx="6117434" cy="3080565"/>
          </a:xfrm>
          <a:prstGeom prst="rect">
            <a:avLst/>
          </a:prstGeom>
        </p:spPr>
      </p:pic>
    </p:spTree>
    <p:extLst>
      <p:ext uri="{BB962C8B-B14F-4D97-AF65-F5344CB8AC3E}">
        <p14:creationId xmlns:p14="http://schemas.microsoft.com/office/powerpoint/2010/main" val="16394559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concept of merging lists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115</a:t>
            </a:fld>
            <a:endParaRPr lang="en-US" dirty="0"/>
          </a:p>
        </p:txBody>
      </p:sp>
      <p:sp>
        <p:nvSpPr>
          <p:cNvPr id="4" name="Text Placeholder 3"/>
          <p:cNvSpPr>
            <a:spLocks noGrp="1"/>
          </p:cNvSpPr>
          <p:nvPr>
            <p:ph type="body" sz="quarter" idx="14"/>
          </p:nvPr>
        </p:nvSpPr>
        <p:spPr/>
        <p:txBody>
          <a:bodyPr/>
          <a:lstStyle/>
          <a:p>
            <a:r>
              <a:rPr lang="en-US" dirty="0"/>
              <a:t>A</a:t>
            </a:r>
          </a:p>
        </p:txBody>
      </p:sp>
      <p:sp>
        <p:nvSpPr>
          <p:cNvPr id="5" name="Content Placeholder 4"/>
          <p:cNvSpPr>
            <a:spLocks noGrp="1"/>
          </p:cNvSpPr>
          <p:nvPr>
            <p:ph sz="quarter" idx="15"/>
          </p:nvPr>
        </p:nvSpPr>
        <p:spPr/>
        <p:txBody>
          <a:bodyPr/>
          <a:lstStyle/>
          <a:p>
            <a:r>
              <a:rPr lang="en-US" dirty="0"/>
              <a:t>3. Repeat until all list items have been merged.</a:t>
            </a:r>
          </a:p>
        </p:txBody>
      </p:sp>
      <p:pic>
        <p:nvPicPr>
          <p:cNvPr id="6" name="Picture 5"/>
          <p:cNvPicPr>
            <a:picLocks noChangeAspect="1"/>
          </p:cNvPicPr>
          <p:nvPr/>
        </p:nvPicPr>
        <p:blipFill>
          <a:blip r:embed="rId2"/>
          <a:stretch>
            <a:fillRect/>
          </a:stretch>
        </p:blipFill>
        <p:spPr>
          <a:xfrm>
            <a:off x="1526381" y="2509772"/>
            <a:ext cx="9140438" cy="2893255"/>
          </a:xfrm>
          <a:prstGeom prst="rect">
            <a:avLst/>
          </a:prstGeom>
        </p:spPr>
      </p:pic>
    </p:spTree>
    <p:extLst>
      <p:ext uri="{BB962C8B-B14F-4D97-AF65-F5344CB8AC3E}">
        <p14:creationId xmlns:p14="http://schemas.microsoft.com/office/powerpoint/2010/main" val="414543397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1. Matthew and William are the markers of an examination, which has ten candidates in total. Each of them marks the papers of five candidates, and then stores the marks in descending order in array </a:t>
            </a:r>
            <a:r>
              <a:rPr lang="en-US" dirty="0">
                <a:latin typeface="Courier New" panose="02070309020205020404" pitchFamily="49" charset="0"/>
                <a:cs typeface="Courier New" panose="02070309020205020404" pitchFamily="49" charset="0"/>
              </a:rPr>
              <a:t>P</a:t>
            </a:r>
            <a:r>
              <a:rPr lang="en-US" dirty="0"/>
              <a:t> and array </a:t>
            </a:r>
            <a:r>
              <a:rPr lang="en-US" dirty="0">
                <a:latin typeface="Courier New" panose="02070309020205020404" pitchFamily="49" charset="0"/>
                <a:cs typeface="Courier New" panose="02070309020205020404" pitchFamily="49" charset="0"/>
              </a:rPr>
              <a:t>Q</a:t>
            </a:r>
            <a:r>
              <a:rPr lang="en-US" dirty="0"/>
              <a:t>, as shown below:</a:t>
            </a:r>
          </a:p>
          <a:p>
            <a:endParaRPr lang="en-US" dirty="0"/>
          </a:p>
          <a:p>
            <a:endParaRPr lang="en-US" dirty="0"/>
          </a:p>
          <a:p>
            <a:br>
              <a:rPr lang="en-US" dirty="0"/>
            </a:br>
            <a:endParaRPr lang="en-US" dirty="0"/>
          </a:p>
          <a:p>
            <a:endParaRPr lang="en-US" dirty="0"/>
          </a:p>
          <a:p>
            <a:r>
              <a:rPr lang="en-US" dirty="0"/>
              <a:t>Matthew writes a sub-program </a:t>
            </a:r>
            <a:r>
              <a:rPr lang="en-US" dirty="0">
                <a:latin typeface="Courier New" panose="02070309020205020404" pitchFamily="49" charset="0"/>
                <a:cs typeface="Courier New" panose="02070309020205020404" pitchFamily="49" charset="0"/>
              </a:rPr>
              <a:t>merge</a:t>
            </a:r>
            <a:r>
              <a:rPr lang="en-US" dirty="0"/>
              <a:t>. It uses the algorithm for merging lists to merge the marks in array </a:t>
            </a:r>
            <a:r>
              <a:rPr lang="en-US" dirty="0">
                <a:latin typeface="Courier New" panose="02070309020205020404" pitchFamily="49" charset="0"/>
                <a:cs typeface="Courier New" panose="02070309020205020404" pitchFamily="49" charset="0"/>
              </a:rPr>
              <a:t>P</a:t>
            </a:r>
            <a:r>
              <a:rPr lang="en-US" dirty="0"/>
              <a:t> and array </a:t>
            </a:r>
            <a:r>
              <a:rPr lang="en-US" dirty="0">
                <a:latin typeface="Courier New" panose="02070309020205020404" pitchFamily="49" charset="0"/>
                <a:cs typeface="Courier New" panose="02070309020205020404" pitchFamily="49" charset="0"/>
              </a:rPr>
              <a:t>Q</a:t>
            </a:r>
            <a:r>
              <a:rPr lang="en-US" dirty="0"/>
              <a:t>, and then store the marks in array </a:t>
            </a:r>
            <a:r>
              <a:rPr lang="en-US" dirty="0">
                <a:latin typeface="Courier New" panose="02070309020205020404" pitchFamily="49" charset="0"/>
                <a:cs typeface="Courier New" panose="02070309020205020404" pitchFamily="49" charset="0"/>
              </a:rPr>
              <a:t>score</a:t>
            </a:r>
            <a:r>
              <a:rPr lang="en-US" dirty="0"/>
              <a:t> in descending order, i.e. </a:t>
            </a:r>
            <a:r>
              <a:rPr lang="en-US" dirty="0">
                <a:latin typeface="Courier New" panose="02070309020205020404" pitchFamily="49" charset="0"/>
                <a:cs typeface="Courier New" panose="02070309020205020404" pitchFamily="49" charset="0"/>
              </a:rPr>
              <a:t>score[0]</a:t>
            </a:r>
            <a:r>
              <a:rPr lang="en-US" dirty="0"/>
              <a:t> will store the highest mark.</a:t>
            </a:r>
          </a:p>
        </p:txBody>
      </p:sp>
      <p:sp>
        <p:nvSpPr>
          <p:cNvPr id="3" name="Slide Number Placeholder 2"/>
          <p:cNvSpPr>
            <a:spLocks noGrp="1"/>
          </p:cNvSpPr>
          <p:nvPr>
            <p:ph type="sldNum" sz="quarter" idx="12"/>
          </p:nvPr>
        </p:nvSpPr>
        <p:spPr/>
        <p:txBody>
          <a:bodyPr/>
          <a:lstStyle/>
          <a:p>
            <a:fld id="{6D22F896-40B5-4ADD-8801-0D06FADFA095}" type="slidenum">
              <a:rPr lang="en-US" smtClean="0"/>
              <a:t>116</a:t>
            </a:fld>
            <a:endParaRPr lang="en-US" dirty="0"/>
          </a:p>
        </p:txBody>
      </p:sp>
      <p:sp>
        <p:nvSpPr>
          <p:cNvPr id="4" name="Text Placeholder 3"/>
          <p:cNvSpPr>
            <a:spLocks noGrp="1"/>
          </p:cNvSpPr>
          <p:nvPr>
            <p:ph type="body" sz="quarter" idx="13"/>
          </p:nvPr>
        </p:nvSpPr>
        <p:spPr/>
        <p:txBody>
          <a:bodyPr/>
          <a:lstStyle/>
          <a:p>
            <a:r>
              <a:rPr lang="en-US" dirty="0"/>
              <a:t>6.6</a:t>
            </a:r>
          </a:p>
        </p:txBody>
      </p:sp>
      <p:pic>
        <p:nvPicPr>
          <p:cNvPr id="5" name="Picture 4"/>
          <p:cNvPicPr>
            <a:picLocks noChangeAspect="1"/>
          </p:cNvPicPr>
          <p:nvPr/>
        </p:nvPicPr>
        <p:blipFill>
          <a:blip r:embed="rId2"/>
          <a:stretch>
            <a:fillRect/>
          </a:stretch>
        </p:blipFill>
        <p:spPr>
          <a:xfrm>
            <a:off x="2794725" y="2931623"/>
            <a:ext cx="6139875" cy="1748441"/>
          </a:xfrm>
          <a:prstGeom prst="rect">
            <a:avLst/>
          </a:prstGeom>
        </p:spPr>
      </p:pic>
    </p:spTree>
    <p:extLst>
      <p:ext uri="{BB962C8B-B14F-4D97-AF65-F5344CB8AC3E}">
        <p14:creationId xmlns:p14="http://schemas.microsoft.com/office/powerpoint/2010/main" val="10247369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 After the sub-program merge has been called, what will the content of array score become?</a:t>
            </a:r>
          </a:p>
          <a:p>
            <a:endParaRPr lang="en-US" dirty="0"/>
          </a:p>
          <a:p>
            <a:br>
              <a:rPr lang="en-US" dirty="0"/>
            </a:br>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117</a:t>
            </a:fld>
            <a:endParaRPr lang="en-US" dirty="0"/>
          </a:p>
        </p:txBody>
      </p:sp>
      <p:sp>
        <p:nvSpPr>
          <p:cNvPr id="4" name="Text Placeholder 3"/>
          <p:cNvSpPr>
            <a:spLocks noGrp="1"/>
          </p:cNvSpPr>
          <p:nvPr>
            <p:ph type="body" sz="quarter" idx="13"/>
          </p:nvPr>
        </p:nvSpPr>
        <p:spPr/>
        <p:txBody>
          <a:bodyPr/>
          <a:lstStyle/>
          <a:p>
            <a:r>
              <a:rPr lang="en-US" dirty="0"/>
              <a:t>6.6</a:t>
            </a:r>
          </a:p>
        </p:txBody>
      </p:sp>
      <p:pic>
        <p:nvPicPr>
          <p:cNvPr id="7" name="Picture 6"/>
          <p:cNvPicPr>
            <a:picLocks noChangeAspect="1"/>
          </p:cNvPicPr>
          <p:nvPr/>
        </p:nvPicPr>
        <p:blipFill>
          <a:blip r:embed="rId2"/>
          <a:stretch>
            <a:fillRect/>
          </a:stretch>
        </p:blipFill>
        <p:spPr>
          <a:xfrm>
            <a:off x="1459033" y="2116520"/>
            <a:ext cx="9273933" cy="746108"/>
          </a:xfrm>
          <a:prstGeom prst="rect">
            <a:avLst/>
          </a:prstGeom>
        </p:spPr>
      </p:pic>
    </p:spTree>
    <p:extLst>
      <p:ext uri="{BB962C8B-B14F-4D97-AF65-F5344CB8AC3E}">
        <p14:creationId xmlns:p14="http://schemas.microsoft.com/office/powerpoint/2010/main" val="40608096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a:t>(b) Complete the pseudocode for the sub-program </a:t>
            </a:r>
            <a:r>
              <a:rPr lang="en-US" dirty="0">
                <a:latin typeface="Courier New" panose="02070309020205020404" pitchFamily="49" charset="0"/>
                <a:cs typeface="Courier New" panose="02070309020205020404" pitchFamily="49" charset="0"/>
              </a:rPr>
              <a:t>merge</a:t>
            </a:r>
            <a:r>
              <a:rPr lang="en-US" dirty="0"/>
              <a:t>.</a:t>
            </a:r>
          </a:p>
          <a:p>
            <a:r>
              <a:rPr lang="en-US" sz="2400" dirty="0">
                <a:latin typeface="Courier New" panose="02070309020205020404" pitchFamily="49" charset="0"/>
                <a:cs typeface="Courier New" panose="02070309020205020404" pitchFamily="49" charset="0"/>
              </a:rPr>
              <a:t>	</a:t>
            </a:r>
            <a:r>
              <a:rPr lang="en-US" sz="2400" b="1" u="sng" dirty="0">
                <a:latin typeface="Courier New" panose="02070309020205020404" pitchFamily="49" charset="0"/>
                <a:cs typeface="Courier New" panose="02070309020205020404" pitchFamily="49" charset="0"/>
              </a:rPr>
              <a:t>Line</a:t>
            </a:r>
            <a:r>
              <a:rPr lang="en-US" sz="2400" dirty="0">
                <a:latin typeface="Courier New" panose="02070309020205020404" pitchFamily="49" charset="0"/>
                <a:cs typeface="Courier New" panose="02070309020205020404" pitchFamily="49" charset="0"/>
              </a:rPr>
              <a:t>	</a:t>
            </a:r>
            <a:r>
              <a:rPr lang="en-US" sz="2400" b="1" u="sng" dirty="0">
                <a:latin typeface="Courier New" panose="02070309020205020404" pitchFamily="49" charset="0"/>
                <a:cs typeface="Courier New" panose="02070309020205020404" pitchFamily="49" charset="0"/>
              </a:rPr>
              <a:t>Pseudocode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 	Sub-program merge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2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j, k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0</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3 		for k from 0 to _______</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4 			if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_______ then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5 				score[k]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Q[j]</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6 				j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j + 1</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7 			else if j = _______ then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8 				score[k]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P[</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9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10 			else if _______ then</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11 				score[k]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P[</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12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i</a:t>
            </a:r>
            <a:r>
              <a:rPr lang="en-US" sz="2400" dirty="0">
                <a:latin typeface="Courier New" panose="02070309020205020404" pitchFamily="49" charset="0"/>
                <a:cs typeface="Courier New" panose="02070309020205020404" pitchFamily="49" charset="0"/>
              </a:rPr>
              <a:t> + 1</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13 			else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14 				score[k]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Q[j]</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	 15 				j </a:t>
            </a:r>
            <a:r>
              <a:rPr lang="en-US" sz="2400" dirty="0">
                <a:latin typeface="Courier New" panose="02070309020205020404" pitchFamily="49" charset="0"/>
                <a:cs typeface="Courier New" panose="02070309020205020404" pitchFamily="49" charset="0"/>
                <a:sym typeface="Wingdings" panose="05000000000000000000" pitchFamily="2" charset="2"/>
              </a:rPr>
              <a:t></a:t>
            </a:r>
            <a:r>
              <a:rPr lang="en-US" sz="2400" dirty="0">
                <a:latin typeface="Courier New" panose="02070309020205020404" pitchFamily="49" charset="0"/>
                <a:cs typeface="Courier New" panose="02070309020205020404" pitchFamily="49" charset="0"/>
              </a:rPr>
              <a:t> j + 1</a:t>
            </a:r>
          </a:p>
          <a:p>
            <a:endParaRPr lang="en-US" dirty="0"/>
          </a:p>
        </p:txBody>
      </p:sp>
      <p:sp>
        <p:nvSpPr>
          <p:cNvPr id="3" name="Slide Number Placeholder 2"/>
          <p:cNvSpPr>
            <a:spLocks noGrp="1"/>
          </p:cNvSpPr>
          <p:nvPr>
            <p:ph type="sldNum" sz="quarter" idx="12"/>
          </p:nvPr>
        </p:nvSpPr>
        <p:spPr/>
        <p:txBody>
          <a:bodyPr/>
          <a:lstStyle/>
          <a:p>
            <a:fld id="{6D22F896-40B5-4ADD-8801-0D06FADFA095}" type="slidenum">
              <a:rPr lang="en-US" smtClean="0"/>
              <a:t>118</a:t>
            </a:fld>
            <a:endParaRPr lang="en-US" dirty="0"/>
          </a:p>
        </p:txBody>
      </p:sp>
      <p:sp>
        <p:nvSpPr>
          <p:cNvPr id="4" name="Text Placeholder 3"/>
          <p:cNvSpPr>
            <a:spLocks noGrp="1"/>
          </p:cNvSpPr>
          <p:nvPr>
            <p:ph type="body" sz="quarter" idx="13"/>
          </p:nvPr>
        </p:nvSpPr>
        <p:spPr/>
        <p:txBody>
          <a:bodyPr/>
          <a:lstStyle/>
          <a:p>
            <a:r>
              <a:rPr lang="en-US" dirty="0"/>
              <a:t>6.6</a:t>
            </a:r>
          </a:p>
        </p:txBody>
      </p:sp>
    </p:spTree>
    <p:extLst>
      <p:ext uri="{BB962C8B-B14F-4D97-AF65-F5344CB8AC3E}">
        <p14:creationId xmlns:p14="http://schemas.microsoft.com/office/powerpoint/2010/main" val="391377996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 Simplify lines 4 to 15 in the sub-program </a:t>
            </a:r>
            <a:r>
              <a:rPr lang="en-US" dirty="0">
                <a:latin typeface="Courier New" panose="02070309020205020404" pitchFamily="49" charset="0"/>
                <a:cs typeface="Courier New" panose="02070309020205020404" pitchFamily="49" charset="0"/>
              </a:rPr>
              <a:t>merge</a:t>
            </a:r>
            <a:r>
              <a:rPr lang="en-US" dirty="0"/>
              <a:t> using a single “if-then-else” conditional statement.</a:t>
            </a:r>
          </a:p>
          <a:p>
            <a:r>
              <a:rPr lang="en-US" sz="1800" dirty="0">
                <a:latin typeface="Courier New" panose="02070309020205020404" pitchFamily="49" charset="0"/>
                <a:cs typeface="Courier New" panose="02070309020205020404" pitchFamily="49" charset="0"/>
              </a:rPr>
              <a:t>	if ________________ then</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score[k]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P[</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i</a:t>
            </a:r>
            <a:r>
              <a:rPr lang="en-US" sz="1800" dirty="0">
                <a:latin typeface="Courier New" panose="02070309020205020404" pitchFamily="49" charset="0"/>
                <a:cs typeface="Courier New" panose="02070309020205020404" pitchFamily="49" charset="0"/>
              </a:rPr>
              <a:t> + 1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else</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score[k]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Q[j]</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		j </a:t>
            </a:r>
            <a:r>
              <a:rPr lang="en-US" sz="1800" dirty="0">
                <a:latin typeface="Courier New" panose="02070309020205020404" pitchFamily="49" charset="0"/>
                <a:cs typeface="Courier New" panose="02070309020205020404" pitchFamily="49" charset="0"/>
                <a:sym typeface="Wingdings" panose="05000000000000000000" pitchFamily="2" charset="2"/>
              </a:rPr>
              <a:t></a:t>
            </a:r>
            <a:r>
              <a:rPr lang="en-US" sz="1800" dirty="0">
                <a:latin typeface="Courier New" panose="02070309020205020404" pitchFamily="49" charset="0"/>
                <a:cs typeface="Courier New" panose="02070309020205020404" pitchFamily="49" charset="0"/>
              </a:rPr>
              <a:t> j + 1</a:t>
            </a:r>
          </a:p>
        </p:txBody>
      </p:sp>
      <p:sp>
        <p:nvSpPr>
          <p:cNvPr id="3" name="Slide Number Placeholder 2"/>
          <p:cNvSpPr>
            <a:spLocks noGrp="1"/>
          </p:cNvSpPr>
          <p:nvPr>
            <p:ph type="sldNum" sz="quarter" idx="12"/>
          </p:nvPr>
        </p:nvSpPr>
        <p:spPr/>
        <p:txBody>
          <a:bodyPr/>
          <a:lstStyle/>
          <a:p>
            <a:fld id="{6D22F896-40B5-4ADD-8801-0D06FADFA095}" type="slidenum">
              <a:rPr lang="en-US" smtClean="0"/>
              <a:t>119</a:t>
            </a:fld>
            <a:endParaRPr lang="en-US" dirty="0"/>
          </a:p>
        </p:txBody>
      </p:sp>
      <p:sp>
        <p:nvSpPr>
          <p:cNvPr id="4" name="Text Placeholder 3"/>
          <p:cNvSpPr>
            <a:spLocks noGrp="1"/>
          </p:cNvSpPr>
          <p:nvPr>
            <p:ph type="body" sz="quarter" idx="13"/>
          </p:nvPr>
        </p:nvSpPr>
        <p:spPr/>
        <p:txBody>
          <a:bodyPr/>
          <a:lstStyle/>
          <a:p>
            <a:r>
              <a:rPr lang="en-US" dirty="0"/>
              <a:t>6.6</a:t>
            </a:r>
          </a:p>
        </p:txBody>
      </p:sp>
    </p:spTree>
    <p:extLst>
      <p:ext uri="{BB962C8B-B14F-4D97-AF65-F5344CB8AC3E}">
        <p14:creationId xmlns:p14="http://schemas.microsoft.com/office/powerpoint/2010/main" val="137936819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b="1" dirty="0">
                <a:solidFill>
                  <a:srgbClr val="37A3D4"/>
                </a:solidFill>
              </a:rPr>
              <a:t>◣ Solution</a:t>
            </a:r>
          </a:p>
          <a:p>
            <a:r>
              <a:rPr lang="en-US" dirty="0"/>
              <a:t>(a) The content of array </a:t>
            </a:r>
            <a:r>
              <a:rPr lang="en-US" dirty="0">
                <a:latin typeface="Courier New" panose="02070309020205020404" pitchFamily="49" charset="0"/>
                <a:cs typeface="Courier New" panose="02070309020205020404" pitchFamily="49" charset="0"/>
              </a:rPr>
              <a:t>score</a:t>
            </a:r>
            <a:r>
              <a:rPr lang="en-US" dirty="0"/>
              <a:t>:</a:t>
            </a:r>
          </a:p>
          <a:p>
            <a:endParaRPr lang="en-US" dirty="0"/>
          </a:p>
          <a:p>
            <a:endParaRPr lang="en-US" dirty="0"/>
          </a:p>
          <a:p>
            <a:r>
              <a:rPr lang="en-US" dirty="0"/>
              <a:t>(b) 	</a:t>
            </a:r>
            <a:r>
              <a:rPr lang="en-US" dirty="0">
                <a:latin typeface="Courier New" panose="02070309020205020404" pitchFamily="49" charset="0"/>
                <a:cs typeface="Courier New" panose="02070309020205020404" pitchFamily="49" charset="0"/>
              </a:rPr>
              <a:t>9 </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5</a:t>
            </a:r>
            <a:br>
              <a:rPr lang="en-US" dirty="0">
                <a:latin typeface="Courier New" panose="02070309020205020404" pitchFamily="49" charset="0"/>
                <a:cs typeface="Courier New" panose="02070309020205020404" pitchFamily="49" charset="0"/>
              </a:rPr>
            </a:br>
            <a:r>
              <a:rPr lang="en-US" dirty="0">
                <a:latin typeface="Courier New" panose="02070309020205020404" pitchFamily="49" charset="0"/>
                <a:cs typeface="Courier New" panose="02070309020205020404" pitchFamily="49" charset="0"/>
              </a:rPr>
              <a:t> 	P[</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&gt; Q[j] </a:t>
            </a:r>
          </a:p>
          <a:p>
            <a:br>
              <a:rPr lang="en-US" dirty="0"/>
            </a:br>
            <a:r>
              <a:rPr lang="en-US" dirty="0"/>
              <a:t>(c) 	</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&lt; 5 and (j = 5 or P[</a:t>
            </a:r>
            <a:r>
              <a:rPr lang="en-US" dirty="0" err="1">
                <a:latin typeface="Courier New" panose="02070309020205020404" pitchFamily="49" charset="0"/>
                <a:cs typeface="Courier New" panose="02070309020205020404" pitchFamily="49" charset="0"/>
              </a:rPr>
              <a:t>i</a:t>
            </a:r>
            <a:r>
              <a:rPr lang="en-US" dirty="0">
                <a:latin typeface="Courier New" panose="02070309020205020404" pitchFamily="49" charset="0"/>
                <a:cs typeface="Courier New" panose="02070309020205020404" pitchFamily="49" charset="0"/>
              </a:rPr>
              <a:t>] &gt; Q[j])</a:t>
            </a:r>
          </a:p>
        </p:txBody>
      </p:sp>
      <p:sp>
        <p:nvSpPr>
          <p:cNvPr id="3" name="Slide Number Placeholder 2"/>
          <p:cNvSpPr>
            <a:spLocks noGrp="1"/>
          </p:cNvSpPr>
          <p:nvPr>
            <p:ph type="sldNum" sz="quarter" idx="12"/>
          </p:nvPr>
        </p:nvSpPr>
        <p:spPr/>
        <p:txBody>
          <a:bodyPr/>
          <a:lstStyle/>
          <a:p>
            <a:fld id="{6D22F896-40B5-4ADD-8801-0D06FADFA095}" type="slidenum">
              <a:rPr lang="en-US" smtClean="0"/>
              <a:t>120</a:t>
            </a:fld>
            <a:endParaRPr lang="en-US" dirty="0"/>
          </a:p>
        </p:txBody>
      </p:sp>
      <p:sp>
        <p:nvSpPr>
          <p:cNvPr id="4" name="Text Placeholder 3"/>
          <p:cNvSpPr>
            <a:spLocks noGrp="1"/>
          </p:cNvSpPr>
          <p:nvPr>
            <p:ph type="body" sz="quarter" idx="13"/>
          </p:nvPr>
        </p:nvSpPr>
        <p:spPr/>
        <p:txBody>
          <a:bodyPr/>
          <a:lstStyle/>
          <a:p>
            <a:r>
              <a:rPr lang="en-US" dirty="0"/>
              <a:t>6.6</a:t>
            </a:r>
          </a:p>
        </p:txBody>
      </p:sp>
      <p:pic>
        <p:nvPicPr>
          <p:cNvPr id="5" name="Picture 4"/>
          <p:cNvPicPr>
            <a:picLocks noChangeAspect="1"/>
          </p:cNvPicPr>
          <p:nvPr/>
        </p:nvPicPr>
        <p:blipFill>
          <a:blip r:embed="rId2"/>
          <a:stretch>
            <a:fillRect/>
          </a:stretch>
        </p:blipFill>
        <p:spPr>
          <a:xfrm>
            <a:off x="1586332" y="2502491"/>
            <a:ext cx="9594287" cy="791057"/>
          </a:xfrm>
          <a:prstGeom prst="rect">
            <a:avLst/>
          </a:prstGeom>
        </p:spPr>
      </p:pic>
    </p:spTree>
    <p:extLst>
      <p:ext uri="{BB962C8B-B14F-4D97-AF65-F5344CB8AC3E}">
        <p14:creationId xmlns:p14="http://schemas.microsoft.com/office/powerpoint/2010/main" val="277328884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Complete Checkpoint 6.7 on P. 261 of the textbook.</a:t>
            </a:r>
          </a:p>
          <a:p>
            <a:r>
              <a:rPr lang="en-US" dirty="0">
                <a:solidFill>
                  <a:srgbClr val="FF0000"/>
                </a:solidFill>
              </a:rPr>
              <a:t>(a)</a:t>
            </a:r>
          </a:p>
          <a:p>
            <a:endParaRPr lang="en-US" dirty="0">
              <a:solidFill>
                <a:srgbClr val="FF0000"/>
              </a:solidFill>
            </a:endParaRPr>
          </a:p>
          <a:p>
            <a:endParaRPr lang="en-US" dirty="0">
              <a:solidFill>
                <a:srgbClr val="FF0000"/>
              </a:solidFill>
            </a:endParaRPr>
          </a:p>
          <a:p>
            <a:endParaRPr lang="en-US" dirty="0">
              <a:solidFill>
                <a:srgbClr val="FF0000"/>
              </a:solidFill>
            </a:endParaRPr>
          </a:p>
          <a:p>
            <a:r>
              <a:rPr lang="en-US" dirty="0">
                <a:solidFill>
                  <a:srgbClr val="FF0000"/>
                </a:solidFill>
              </a:rPr>
              <a:t>(b) 14</a:t>
            </a:r>
          </a:p>
        </p:txBody>
      </p:sp>
      <p:sp>
        <p:nvSpPr>
          <p:cNvPr id="3" name="Slide Number Placeholder 2"/>
          <p:cNvSpPr>
            <a:spLocks noGrp="1"/>
          </p:cNvSpPr>
          <p:nvPr>
            <p:ph type="sldNum" sz="quarter" idx="12"/>
          </p:nvPr>
        </p:nvSpPr>
        <p:spPr/>
        <p:txBody>
          <a:bodyPr/>
          <a:lstStyle/>
          <a:p>
            <a:fld id="{6D22F896-40B5-4ADD-8801-0D06FADFA095}" type="slidenum">
              <a:rPr lang="en-US" smtClean="0"/>
              <a:t>121</a:t>
            </a:fld>
            <a:endParaRPr lang="en-US" dirty="0"/>
          </a:p>
        </p:txBody>
      </p:sp>
      <p:sp>
        <p:nvSpPr>
          <p:cNvPr id="4" name="Text Placeholder 3"/>
          <p:cNvSpPr>
            <a:spLocks noGrp="1"/>
          </p:cNvSpPr>
          <p:nvPr>
            <p:ph type="body" sz="quarter" idx="13"/>
          </p:nvPr>
        </p:nvSpPr>
        <p:spPr/>
        <p:txBody>
          <a:bodyPr/>
          <a:lstStyle/>
          <a:p>
            <a:r>
              <a:rPr lang="en-US" dirty="0"/>
              <a:t>6.7</a:t>
            </a:r>
          </a:p>
        </p:txBody>
      </p:sp>
      <p:pic>
        <p:nvPicPr>
          <p:cNvPr id="5" name="Picture 4"/>
          <p:cNvPicPr>
            <a:picLocks noChangeAspect="1"/>
          </p:cNvPicPr>
          <p:nvPr/>
        </p:nvPicPr>
        <p:blipFill>
          <a:blip r:embed="rId2"/>
          <a:stretch>
            <a:fillRect/>
          </a:stretch>
        </p:blipFill>
        <p:spPr>
          <a:xfrm>
            <a:off x="1446725" y="2003212"/>
            <a:ext cx="8181877" cy="1654507"/>
          </a:xfrm>
          <a:prstGeom prst="rect">
            <a:avLst/>
          </a:prstGeom>
        </p:spPr>
      </p:pic>
    </p:spTree>
    <p:extLst>
      <p:ext uri="{BB962C8B-B14F-4D97-AF65-F5344CB8AC3E}">
        <p14:creationId xmlns:p14="http://schemas.microsoft.com/office/powerpoint/2010/main" val="276341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500"/>
                                        <p:tgtEl>
                                          <p:spTgt spid="2">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fade">
                                      <p:cBhvr>
                                        <p:cTn id="1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Quicker Sorting Algorithms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122</a:t>
            </a:fld>
            <a:endParaRPr lang="en-US" dirty="0"/>
          </a:p>
        </p:txBody>
      </p:sp>
      <p:sp>
        <p:nvSpPr>
          <p:cNvPr id="4" name="Text Placeholder 3"/>
          <p:cNvSpPr>
            <a:spLocks noGrp="1"/>
          </p:cNvSpPr>
          <p:nvPr>
            <p:ph type="body" sz="quarter" idx="14"/>
          </p:nvPr>
        </p:nvSpPr>
        <p:spPr/>
        <p:txBody>
          <a:bodyPr/>
          <a:lstStyle/>
          <a:p>
            <a:r>
              <a:rPr lang="en-US" dirty="0"/>
              <a:t>6.5</a:t>
            </a:r>
          </a:p>
        </p:txBody>
      </p:sp>
      <p:sp>
        <p:nvSpPr>
          <p:cNvPr id="5" name="Content Placeholder 4"/>
          <p:cNvSpPr>
            <a:spLocks noGrp="1"/>
          </p:cNvSpPr>
          <p:nvPr>
            <p:ph sz="quarter" idx="15"/>
          </p:nvPr>
        </p:nvSpPr>
        <p:spPr/>
        <p:txBody>
          <a:bodyPr/>
          <a:lstStyle/>
          <a:p>
            <a:r>
              <a:rPr lang="en-US" dirty="0"/>
              <a:t>Apart from the above three sorting algorithms, there are faster alternatives, such as m</a:t>
            </a:r>
            <a:r>
              <a:rPr lang="en-US" b="1" dirty="0">
                <a:solidFill>
                  <a:srgbClr val="504FA0"/>
                </a:solidFill>
              </a:rPr>
              <a:t>erge sort</a:t>
            </a:r>
            <a:r>
              <a:rPr lang="en-US" dirty="0"/>
              <a:t> and </a:t>
            </a:r>
            <a:r>
              <a:rPr lang="en-US" b="1" dirty="0">
                <a:solidFill>
                  <a:srgbClr val="504FA0"/>
                </a:solidFill>
              </a:rPr>
              <a:t>quick sort</a:t>
            </a:r>
            <a:r>
              <a:rPr lang="en-US" dirty="0"/>
              <a:t>.</a:t>
            </a:r>
          </a:p>
        </p:txBody>
      </p:sp>
    </p:spTree>
    <p:extLst>
      <p:ext uri="{BB962C8B-B14F-4D97-AF65-F5344CB8AC3E}">
        <p14:creationId xmlns:p14="http://schemas.microsoft.com/office/powerpoint/2010/main" val="9284545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Efficiency of the Sorting Algorithms</a:t>
            </a:r>
          </a:p>
        </p:txBody>
      </p:sp>
      <p:sp>
        <p:nvSpPr>
          <p:cNvPr id="3" name="Slide Number Placeholder 2"/>
          <p:cNvSpPr>
            <a:spLocks noGrp="1"/>
          </p:cNvSpPr>
          <p:nvPr>
            <p:ph type="sldNum" sz="quarter" idx="12"/>
          </p:nvPr>
        </p:nvSpPr>
        <p:spPr/>
        <p:txBody>
          <a:bodyPr/>
          <a:lstStyle/>
          <a:p>
            <a:fld id="{6D22F896-40B5-4ADD-8801-0D06FADFA095}" type="slidenum">
              <a:rPr lang="en-US" smtClean="0"/>
              <a:pPr/>
              <a:t>123</a:t>
            </a:fld>
            <a:endParaRPr lang="en-US" dirty="0"/>
          </a:p>
        </p:txBody>
      </p:sp>
      <p:sp>
        <p:nvSpPr>
          <p:cNvPr id="4" name="Text Placeholder 3"/>
          <p:cNvSpPr>
            <a:spLocks noGrp="1"/>
          </p:cNvSpPr>
          <p:nvPr>
            <p:ph type="body" sz="quarter" idx="14"/>
          </p:nvPr>
        </p:nvSpPr>
        <p:spPr/>
        <p:txBody>
          <a:bodyPr/>
          <a:lstStyle/>
          <a:p>
            <a:r>
              <a:rPr lang="en-US" dirty="0"/>
              <a:t>6.6</a:t>
            </a:r>
          </a:p>
        </p:txBody>
      </p:sp>
      <p:sp>
        <p:nvSpPr>
          <p:cNvPr id="5" name="Content Placeholder 4"/>
          <p:cNvSpPr>
            <a:spLocks noGrp="1"/>
          </p:cNvSpPr>
          <p:nvPr>
            <p:ph sz="quarter" idx="15"/>
          </p:nvPr>
        </p:nvSpPr>
        <p:spPr/>
        <p:txBody>
          <a:bodyPr/>
          <a:lstStyle/>
          <a:p>
            <a:r>
              <a:rPr lang="en-US" dirty="0"/>
              <a:t>Comparison of the number of comparisons required by different sorting algorithms</a:t>
            </a:r>
          </a:p>
        </p:txBody>
      </p:sp>
      <p:pic>
        <p:nvPicPr>
          <p:cNvPr id="6" name="Picture 5"/>
          <p:cNvPicPr>
            <a:picLocks noChangeAspect="1"/>
          </p:cNvPicPr>
          <p:nvPr/>
        </p:nvPicPr>
        <p:blipFill>
          <a:blip r:embed="rId2"/>
          <a:stretch>
            <a:fillRect/>
          </a:stretch>
        </p:blipFill>
        <p:spPr>
          <a:xfrm>
            <a:off x="2596279" y="2288652"/>
            <a:ext cx="7000642" cy="4102386"/>
          </a:xfrm>
          <a:prstGeom prst="rect">
            <a:avLst/>
          </a:prstGeom>
        </p:spPr>
      </p:pic>
    </p:spTree>
    <p:extLst>
      <p:ext uri="{BB962C8B-B14F-4D97-AF65-F5344CB8AC3E}">
        <p14:creationId xmlns:p14="http://schemas.microsoft.com/office/powerpoint/2010/main" val="35651543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SEPPT_EN_Kelie_20230427">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Presentation5" id="{870A11EB-92D6-4F97-997A-48342F7B5A00}" vid="{0765A16F-C91A-4B03-A6B8-7E4395E092E3}"/>
    </a:ext>
  </a:extLst>
</a:theme>
</file>

<file path=docProps/app.xml><?xml version="1.0" encoding="utf-8"?>
<Properties xmlns="http://schemas.openxmlformats.org/officeDocument/2006/extended-properties" xmlns:vt="http://schemas.openxmlformats.org/officeDocument/2006/docPropsVTypes">
  <Template>DSEPPT_EN_Kelie_20230427</Template>
  <TotalTime>931</TotalTime>
  <Words>6908</Words>
  <Application>Microsoft Office PowerPoint</Application>
  <PresentationFormat>Widescreen</PresentationFormat>
  <Paragraphs>688</Paragraphs>
  <Slides>123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123</vt:i4>
      </vt:variant>
    </vt:vector>
  </HeadingPairs>
  <TitlesOfParts>
    <vt:vector size="128" baseType="lpstr">
      <vt:lpstr>Arial</vt:lpstr>
      <vt:lpstr>Courier New</vt:lpstr>
      <vt:lpstr>Myriad Pro</vt:lpstr>
      <vt:lpstr>Tw Cen MT</vt:lpstr>
      <vt:lpstr>DSEPPT_EN_Kelie_20230427</vt:lpstr>
      <vt:lpstr>Chapter 6 Searching and Sorting</vt:lpstr>
      <vt:lpstr>Searching Algorithms</vt:lpstr>
      <vt:lpstr>Linear search</vt:lpstr>
      <vt:lpstr>Linear search</vt:lpstr>
      <vt:lpstr>Linear search</vt:lpstr>
      <vt:lpstr>Linear search</vt:lpstr>
      <vt:lpstr>Linear search</vt:lpstr>
      <vt:lpstr>Linear search</vt:lpstr>
      <vt:lpstr>PowerPoint Presentation</vt:lpstr>
      <vt:lpstr>PowerPoint Presentation</vt:lpstr>
      <vt:lpstr>PowerPoint Presentation</vt:lpstr>
      <vt:lpstr>PowerPoint Presentation</vt:lpstr>
      <vt:lpstr>PowerPoint Presentation</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between linear search and binary search</vt:lpstr>
      <vt:lpstr>Comparison between linear search and binary search</vt:lpstr>
      <vt:lpstr>Swapping</vt:lpstr>
      <vt:lpstr>PowerPoint Presentation</vt:lpstr>
      <vt:lpstr>PowerPoint Presentation</vt:lpstr>
      <vt:lpstr>PowerPoint Presentation</vt:lpstr>
      <vt:lpstr>Sorting Algorithms</vt:lpstr>
      <vt:lpstr>Sorting Algorithms</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Selection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Insertion sort</vt:lpstr>
      <vt:lpstr>Insertion sort</vt:lpstr>
      <vt:lpstr>Insertion sort</vt:lpstr>
      <vt:lpstr>Insertion sort</vt:lpstr>
      <vt:lpstr>Insertion sort</vt:lpstr>
      <vt:lpstr>Insertion sort</vt:lpstr>
      <vt:lpstr>Insertion sort</vt:lpstr>
      <vt:lpstr>Insertion sort</vt:lpstr>
      <vt:lpstr>Insertion sort</vt:lpstr>
      <vt:lpstr>Insertion sort</vt:lpstr>
      <vt:lpstr>PowerPoint Presentation</vt:lpstr>
      <vt:lpstr>Insertion sort</vt:lpstr>
      <vt:lpstr>Insertion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Bubble sort</vt:lpstr>
      <vt:lpstr>Bubble sort</vt:lpstr>
      <vt:lpstr>Bubble sort</vt:lpstr>
      <vt:lpstr>Bubble sort</vt:lpstr>
      <vt:lpstr>Bubble sort</vt:lpstr>
      <vt:lpstr>Bubble sort</vt:lpstr>
      <vt:lpstr>Bubble sort</vt:lpstr>
      <vt:lpstr>Bubble sort</vt:lpstr>
      <vt:lpstr>Bubble sort</vt:lpstr>
      <vt:lpstr>Bubble sort</vt:lpstr>
      <vt:lpstr>Bubble sort</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Merging Two Sorted Lists</vt:lpstr>
      <vt:lpstr>The concept of merging lists</vt:lpstr>
      <vt:lpstr>The concept of merging lists</vt:lpstr>
      <vt:lpstr>The concept of merging lists</vt:lpstr>
      <vt:lpstr>The concept of merging lists</vt:lpstr>
      <vt:lpstr>The concept of merging lists</vt:lpstr>
      <vt:lpstr>PowerPoint Presentation</vt:lpstr>
      <vt:lpstr>PowerPoint Presentation</vt:lpstr>
      <vt:lpstr>PowerPoint Presentation</vt:lpstr>
      <vt:lpstr>PowerPoint Presentation</vt:lpstr>
      <vt:lpstr>PowerPoint Presentation</vt:lpstr>
      <vt:lpstr>PowerPoint Presentation</vt:lpstr>
      <vt:lpstr>Other Quicker Sorting Algorithms</vt:lpstr>
      <vt:lpstr>Efficiency of the Sorting Algorithms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Searching and Sorting</dc:title>
  <dc:creator>iClass</dc:creator>
  <cp:lastModifiedBy>Kelie Leung</cp:lastModifiedBy>
  <cp:revision>74</cp:revision>
  <dcterms:created xsi:type="dcterms:W3CDTF">2023-05-29T08:24:25Z</dcterms:created>
  <dcterms:modified xsi:type="dcterms:W3CDTF">2023-05-31T08:52:52Z</dcterms:modified>
</cp:coreProperties>
</file>