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3" r:id="rId47"/>
    <p:sldId id="304" r:id="rId48"/>
    <p:sldId id="305" r:id="rId49"/>
    <p:sldId id="306" r:id="rId50"/>
    <p:sldId id="308" r:id="rId51"/>
    <p:sldId id="307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FA1"/>
    <a:srgbClr val="5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TW" altLang="en-US" sz="5400" b="1" dirty="0">
                <a:solidFill>
                  <a:srgbClr val="00A0A9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明德資訊及通訊科技</a:t>
            </a:r>
            <a:endParaRPr lang="en-GB" altLang="zh-TW" sz="5400" b="1" dirty="0">
              <a:solidFill>
                <a:srgbClr val="00A0A9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47D0310-AA82-8F1E-85B7-9D84E0B5E5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113404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941542A-A967-C085-B406-0716C05FA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787011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D1A92E3-3244-CFBD-6601-65380FC61F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189260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9066DD1-D16A-E0C9-4F5E-5F3B3D94FE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93310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E0A19B2-6EE3-F634-8DE6-6BB0ACDC93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513027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959AFF4-B8A0-A3C7-7993-7FA71092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CEF8422-2834-DB27-5926-614C3330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3A5034A-907A-8C5B-D5CC-924E35AB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278B562-C8FA-FAB0-08D4-4DD48144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8F1F850-D926-8BC4-36C0-7FD5EFC4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xmlns="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EDC08FA-FC71-5479-9731-ACADDACDB1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934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378BB05-006A-84B6-7DC5-1C78180E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6379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E1F04E3-1448-35F1-6590-2963551E3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70901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6D7C970-CC55-F612-1833-02A18D885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4383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常見錯誤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試想想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84AD40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提示</a:t>
            </a:r>
            <a:endParaRPr lang="en-US" b="0" i="0" dirty="0">
              <a:solidFill>
                <a:srgbClr val="84AD40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類比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擴闊視野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古往今來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xmlns="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C6993D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網上資源</a:t>
            </a:r>
            <a:endParaRPr lang="en-US" b="0" i="0" dirty="0">
              <a:solidFill>
                <a:srgbClr val="C6993D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xmlns="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21" r:id="rId12"/>
    <p:sldLayoutId id="2147483722" r:id="rId13"/>
    <p:sldLayoutId id="2147483723" r:id="rId14"/>
    <p:sldLayoutId id="2147483724" r:id="rId15"/>
    <p:sldLayoutId id="2147483706" r:id="rId16"/>
    <p:sldLayoutId id="2147483707" r:id="rId17"/>
    <p:sldLayoutId id="2147483708" r:id="rId18"/>
    <p:sldLayoutId id="2147483709" r:id="rId19"/>
    <p:sldLayoutId id="2147483712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10" r:id="rId28"/>
    <p:sldLayoutId id="2147483711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none" baseline="0">
          <a:solidFill>
            <a:srgbClr val="606060"/>
          </a:solidFill>
          <a:latin typeface="Noto Sans CJK TC Bold" panose="020B0800000000000000" pitchFamily="34" charset="-128"/>
          <a:ea typeface="Noto Sans CJK TC Bold" panose="020B08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第六課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/>
              <a:t>程式測試和除錯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9203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測試程式</a:t>
            </a:r>
            <a:endParaRPr lang="en-GB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6.1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在設計算法或編寫程式後，我們可以使用一系列測試數據（</a:t>
            </a:r>
            <a:r>
              <a:rPr lang="en-US" altLang="zh-TW" dirty="0" smtClean="0"/>
              <a:t>test data</a:t>
            </a:r>
            <a:r>
              <a:rPr lang="zh-TW" altLang="en-US" dirty="0" smtClean="0"/>
              <a:t>）驗證程式的準確性。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試輸入測試數據並比對實際測試結果和預期結果。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測試數據包括：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正常數據值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錯誤數據值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>
                <a:solidFill>
                  <a:srgbClr val="504FA1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邊界數據值 </a:t>
            </a:r>
            <a:r>
              <a:rPr lang="en-US" altLang="zh-TW" dirty="0" smtClean="0">
                <a:solidFill>
                  <a:srgbClr val="504FA1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/ </a:t>
            </a:r>
            <a:r>
              <a:rPr lang="zh-TW" altLang="en-US" dirty="0" smtClean="0">
                <a:solidFill>
                  <a:srgbClr val="504FA1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邊際個案</a:t>
            </a:r>
            <a:endParaRPr lang="en-GB" dirty="0">
              <a:solidFill>
                <a:srgbClr val="504FA1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473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測試程式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6.1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邊際個案是：</a:t>
            </a:r>
            <a:endParaRPr lang="en-US" altLang="zh-TW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正常數據範圍與錯誤數據範圍的分界值，及分界值</a:t>
            </a:r>
            <a:r>
              <a:rPr lang="zh-TW" altLang="en-US" dirty="0" smtClean="0"/>
              <a:t>兩邊的數據。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影響條件判斷邏輯結果的分界值，及分界值兩邊的</a:t>
            </a:r>
            <a:r>
              <a:rPr lang="zh-TW" altLang="en-US" dirty="0" smtClean="0"/>
              <a:t>數據</a:t>
            </a:r>
            <a:r>
              <a:rPr lang="zh-TW" altLang="en-US" dirty="0"/>
              <a:t>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438" y="3435178"/>
            <a:ext cx="3926323" cy="251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Myriad Pro" panose="020B0503030403020204" pitchFamily="34" charset="0"/>
              </a:rPr>
              <a:t>小智設計了一個算法以輸出 </a:t>
            </a:r>
            <a:r>
              <a:rPr lang="en-US" altLang="zh-TW" dirty="0">
                <a:latin typeface="Myriad Pro" panose="020B0503030403020204" pitchFamily="34" charset="0"/>
              </a:rPr>
              <a:t>BMI </a:t>
            </a:r>
            <a:r>
              <a:rPr lang="zh-TW" altLang="en-US" dirty="0">
                <a:latin typeface="Myriad Pro" panose="020B0503030403020204" pitchFamily="34" charset="0"/>
              </a:rPr>
              <a:t>數值所代表的身體健康狀況，算法如下</a:t>
            </a:r>
            <a:r>
              <a:rPr lang="zh-TW" altLang="en-US" dirty="0" smtClean="0">
                <a:latin typeface="Myriad Pro" panose="020B0503030403020204" pitchFamily="34" charset="0"/>
              </a:rPr>
              <a:t>：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r>
              <a:rPr lang="en-US" sz="1800" dirty="0"/>
              <a:t>	</a:t>
            </a:r>
            <a:r>
              <a:rPr lang="zh-TW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輸入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TW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如果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&lt;= 0 then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zh-TW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輸出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“Error”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TW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否則如果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18.5 then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zh-TW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輸出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“Underweight”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TW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否則如果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 23 then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zh-TW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輸出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“Normal”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TW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否則如果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 25 then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zh-TW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輸出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“Overweight”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TW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否則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zh-TW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輸出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"Obese“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TW" altLang="en-US" dirty="0">
                <a:latin typeface="Myriad Pro" panose="020B0503030403020204" pitchFamily="34" charset="0"/>
              </a:rPr>
              <a:t>試為每個輸出建議一個輸入值來測試這個算法。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850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Black" panose="020B0A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US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/>
              <a:t>測試數據須足夠測試程式內所有選擇控制結構的分支：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6.1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726" y="3164192"/>
            <a:ext cx="9991938" cy="196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7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6.1</a:t>
            </a:r>
            <a:endParaRPr lang="en-GB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</p:spPr>
        <p:txBody>
          <a:bodyPr/>
          <a:lstStyle/>
          <a:p>
            <a:pPr marL="342900" indent="-342900">
              <a:buSzPct val="100000"/>
              <a:buFont typeface="Noto Sans CJK TC Black" panose="020B0A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Myriad Pro" panose="020B0503030403020204" pitchFamily="34" charset="0"/>
              </a:rPr>
              <a:t>答案</a:t>
            </a:r>
            <a:endParaRPr lang="en-US" b="1" dirty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endParaRPr lang="en-US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315356"/>
              </p:ext>
            </p:extLst>
          </p:nvPr>
        </p:nvGraphicFramePr>
        <p:xfrm>
          <a:off x="2477655" y="2181503"/>
          <a:ext cx="7236690" cy="36777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3172690"/>
              </a:tblGrid>
              <a:tr h="4773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6046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-5</a:t>
                      </a:r>
                    </a:p>
                    <a:p>
                      <a:pPr algn="ctr"/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（或任何小於或等於 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0 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的數值）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輸入錯誤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6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algn="ctr"/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（或任何 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0 &lt; </a:t>
                      </a:r>
                      <a:r>
                        <a:rPr lang="en-US" altLang="zh-TW" dirty="0" err="1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bmi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 &lt; 18.5 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的數值 ）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過輕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6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algn="ctr"/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（或任何 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18.5 &lt;= </a:t>
                      </a:r>
                      <a:r>
                        <a:rPr lang="en-US" altLang="zh-TW" dirty="0" err="1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bmi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 &lt; 23 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的數值 ）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正常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6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（或任何 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23 &lt;= </a:t>
                      </a:r>
                      <a:r>
                        <a:rPr lang="en-US" altLang="zh-TW" dirty="0" err="1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bmi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 &lt; 25 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的數值）</a:t>
                      </a:r>
                      <a:endParaRPr lang="en-US" dirty="0" smtClean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超重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649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30</a:t>
                      </a:r>
                    </a:p>
                    <a:p>
                      <a:pPr algn="ctr"/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（或任何大於或等於 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25 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的數值 ）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肥胖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22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167 </a:t>
            </a:r>
            <a:r>
              <a:rPr lang="zh-TW" altLang="en-US" dirty="0" smtClean="0">
                <a:latin typeface="Myriad Pro" panose="020B0503030403020204" pitchFamily="34" charset="0"/>
              </a:rPr>
              <a:t>頁的測試站 </a:t>
            </a:r>
            <a:r>
              <a:rPr lang="en-US" altLang="zh-TW" dirty="0" smtClean="0">
                <a:latin typeface="Myriad Pro" panose="020B0503030403020204" pitchFamily="34" charset="0"/>
              </a:rPr>
              <a:t>6.1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  <a:latin typeface="Myriad Pro" panose="020B0503030403020204" pitchFamily="34" charset="0"/>
              </a:rPr>
              <a:t>B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  <a:latin typeface="Myriad Pro" panose="020B0503030403020204" pitchFamily="34" charset="0"/>
              </a:rPr>
              <a:t>C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  <a:latin typeface="Myriad Pro" panose="020B0503030403020204" pitchFamily="34" charset="0"/>
              </a:rPr>
              <a:t>C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  <a:latin typeface="Myriad Pro" panose="020B0503030403020204" pitchFamily="34" charset="0"/>
              </a:rPr>
              <a:t>B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  <a:latin typeface="Myriad Pro" panose="020B0503030403020204" pitchFamily="34" charset="0"/>
              </a:rPr>
              <a:t>A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43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程式錯誤及除錯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6.2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編寫程式時，可能會出現各種各樣的錯誤。</a:t>
            </a:r>
            <a:endParaRPr lang="en-US" altLang="zh-TW" dirty="0"/>
          </a:p>
          <a:p>
            <a:r>
              <a:rPr lang="zh-TW" altLang="en-US" dirty="0" smtClean="0"/>
              <a:t>你曾在編</a:t>
            </a:r>
            <a:r>
              <a:rPr lang="zh-TW" altLang="en-US" dirty="0" smtClean="0"/>
              <a:t>程時遇到</a:t>
            </a:r>
            <a:r>
              <a:rPr lang="zh-TW" altLang="en-US" dirty="0" smtClean="0"/>
              <a:t>過什麼錯誤？試分享一些例子吧！</a:t>
            </a:r>
            <a:endParaRPr lang="en-GB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414" y="3209968"/>
            <a:ext cx="4654691" cy="288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4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當程式碼違反編程語言規則時，就會出現</a:t>
            </a:r>
            <a:r>
              <a:rPr lang="zh-TW" altLang="en-US" dirty="0" smtClean="0">
                <a:solidFill>
                  <a:srgbClr val="504FA1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語法錯誤</a:t>
            </a:r>
            <a:r>
              <a:rPr lang="zh-TW" altLang="en-US" dirty="0" smtClean="0"/>
              <a:t>。這種錯誤會令程式碼無法被編譯和執行。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語法錯誤的例子包括：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欠缺冒號（ </a:t>
            </a:r>
            <a:r>
              <a:rPr lang="en-US" altLang="zh-TW" dirty="0"/>
              <a:t>: </a:t>
            </a:r>
            <a:r>
              <a:rPr lang="zh-TW" altLang="en-US" dirty="0"/>
              <a:t>）；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關鍵字</a:t>
            </a:r>
            <a:r>
              <a:rPr lang="zh-TW" altLang="en-US" dirty="0"/>
              <a:t>拼寫錯誤；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字母</a:t>
            </a:r>
            <a:r>
              <a:rPr lang="zh-TW" altLang="en-US" dirty="0"/>
              <a:t>大小寫錯誤；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 </a:t>
            </a:r>
            <a:r>
              <a:rPr lang="zh-TW" altLang="en-US" dirty="0"/>
              <a:t>欠缺縮排或括號等。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471" y="2869200"/>
            <a:ext cx="5959176" cy="16196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04471" y="4488873"/>
            <a:ext cx="6088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IDE </a:t>
            </a:r>
            <a:r>
              <a:rPr lang="zh-TW" altLang="en-US" dirty="0" smtClean="0"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能夠檢測</a:t>
            </a:r>
            <a:r>
              <a:rPr lang="zh-TW" altLang="en-US" dirty="0"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到語法錯誤，並顯示錯誤信息。</a:t>
            </a:r>
            <a:endParaRPr lang="en-US" dirty="0">
              <a:latin typeface="Noto Sans CJK TC Light" panose="020B0300000000000000" pitchFamily="34" charset="-128"/>
              <a:ea typeface="Noto Sans CJK T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228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504FA1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邏輯錯誤</a:t>
            </a:r>
            <a:r>
              <a:rPr lang="zh-TW" altLang="en-US" dirty="0" smtClean="0"/>
              <a:t>會使程式的運作出錯，或產生錯誤結果。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邏輯錯誤的例子包括：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序列出錯；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條件</a:t>
            </a:r>
            <a:r>
              <a:rPr lang="zh-TW" altLang="en-US" dirty="0"/>
              <a:t>語句的控制結構出錯；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無限</a:t>
            </a:r>
            <a:r>
              <a:rPr lang="zh-TW" altLang="en-US" dirty="0"/>
              <a:t>循環等。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842" y="2324168"/>
            <a:ext cx="4689647" cy="32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28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運行時錯誤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運行時錯誤所指的是程式在執行時遇上問題，導程程式意外終結。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運行時錯誤的例子包括：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將</a:t>
            </a:r>
            <a:r>
              <a:rPr lang="zh-TW" altLang="en-US" dirty="0"/>
              <a:t>數字除以零；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計算</a:t>
            </a:r>
            <a:r>
              <a:rPr lang="zh-TW" altLang="en-US" dirty="0"/>
              <a:t>負數的平方根；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存取</a:t>
            </a:r>
            <a:r>
              <a:rPr lang="zh-TW" altLang="en-US" dirty="0"/>
              <a:t>超出陣列索引的項目等。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390" y="2728878"/>
            <a:ext cx="5027143" cy="174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3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除錯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除錯找出並糾正錯誤的過程。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517" y="2406984"/>
            <a:ext cx="4788165" cy="342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試解釋課本第 </a:t>
            </a:r>
            <a:r>
              <a:rPr lang="en-US" altLang="zh-TW" dirty="0" smtClean="0">
                <a:latin typeface="Myriad Pro" panose="020B0503030403020204" pitchFamily="34" charset="0"/>
              </a:rPr>
              <a:t>173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174 </a:t>
            </a:r>
            <a:r>
              <a:rPr lang="zh-TW" altLang="en-US" dirty="0" smtClean="0">
                <a:latin typeface="Myriad Pro" panose="020B0503030403020204" pitchFamily="34" charset="0"/>
              </a:rPr>
              <a:t>頁的</a:t>
            </a:r>
            <a:r>
              <a:rPr lang="en-US" altLang="zh-TW" dirty="0" smtClean="0">
                <a:latin typeface="Myriad Pro" panose="020B0503030403020204" pitchFamily="34" charset="0"/>
              </a:rPr>
              <a:t> Python </a:t>
            </a:r>
            <a:r>
              <a:rPr lang="zh-TW" altLang="en-US" dirty="0" smtClean="0">
                <a:latin typeface="Myriad Pro" panose="020B0503030403020204" pitchFamily="34" charset="0"/>
              </a:rPr>
              <a:t>程式為何無法運行。</a:t>
            </a:r>
            <a:endParaRPr lang="en-GB" dirty="0">
              <a:latin typeface="Myriad Pro" panose="020B0503030403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874857"/>
              </p:ext>
            </p:extLst>
          </p:nvPr>
        </p:nvGraphicFramePr>
        <p:xfrm>
          <a:off x="838800" y="2352501"/>
          <a:ext cx="10515000" cy="34165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print(Welcome Home)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print"I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Love ICT"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print("No error"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Print("something")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33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試解釋課本第 </a:t>
            </a:r>
            <a:r>
              <a:rPr lang="en-US" altLang="zh-TW" dirty="0" smtClean="0">
                <a:latin typeface="Myriad Pro" panose="020B0503030403020204" pitchFamily="34" charset="0"/>
              </a:rPr>
              <a:t>173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174 </a:t>
            </a:r>
            <a:r>
              <a:rPr lang="zh-TW" altLang="en-US" dirty="0" smtClean="0">
                <a:latin typeface="Myriad Pro" panose="020B0503030403020204" pitchFamily="34" charset="0"/>
              </a:rPr>
              <a:t>頁的</a:t>
            </a:r>
            <a:r>
              <a:rPr lang="en-US" altLang="zh-TW" dirty="0" smtClean="0">
                <a:latin typeface="Myriad Pro" panose="020B0503030403020204" pitchFamily="34" charset="0"/>
              </a:rPr>
              <a:t> Python </a:t>
            </a:r>
            <a:r>
              <a:rPr lang="zh-TW" altLang="en-US" dirty="0" smtClean="0">
                <a:latin typeface="Myriad Pro" panose="020B0503030403020204" pitchFamily="34" charset="0"/>
              </a:rPr>
              <a:t>程式為何無法運行。</a:t>
            </a:r>
            <a:endParaRPr lang="en-GB" dirty="0">
              <a:latin typeface="Myriad Pro" panose="020B0503030403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656031"/>
              </p:ext>
            </p:extLst>
          </p:nvPr>
        </p:nvGraphicFramePr>
        <p:xfrm>
          <a:off x="838800" y="2352501"/>
          <a:ext cx="10515000" cy="34165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print(Welcome Home)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缺少引號。</a:t>
                      </a:r>
                      <a:endParaRPr lang="en-US" dirty="0">
                        <a:solidFill>
                          <a:srgbClr val="FF0000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print"I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Love ICT"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缺少括號。</a:t>
                      </a:r>
                      <a:endParaRPr lang="en-US" dirty="0">
                        <a:solidFill>
                          <a:srgbClr val="FF0000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print("No error"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括號必須成對。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注意：引號也必須成對。</a:t>
                      </a:r>
                      <a:endParaRPr lang="en-US" dirty="0">
                        <a:solidFill>
                          <a:srgbClr val="FF0000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Print("something")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Python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區分大小寫（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case-sensitive），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所以「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Print」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和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「print」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並不相通。</a:t>
                      </a:r>
                      <a:endParaRPr lang="en-US" dirty="0">
                        <a:solidFill>
                          <a:srgbClr val="FF0000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24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095794"/>
              </p:ext>
            </p:extLst>
          </p:nvPr>
        </p:nvGraphicFramePr>
        <p:xfrm>
          <a:off x="838800" y="1562799"/>
          <a:ext cx="10515000" cy="4605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"score" = 98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print("score")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"Apple"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temp = A + 1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print(temp)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= "5**"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print(if)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12957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2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2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A × B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29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683297"/>
              </p:ext>
            </p:extLst>
          </p:nvPr>
        </p:nvGraphicFramePr>
        <p:xfrm>
          <a:off x="838800" y="1562799"/>
          <a:ext cx="10515000" cy="4605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"score" = 98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print("score")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變量名稱不包括雙引號。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"Apple"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Python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區分大小寫（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case-sensitive），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所以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NAME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和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name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是兩個不同的變量。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temp = A + 1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print(temp)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使用了未被宣告的變量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A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= "5**"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print(if)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if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」是關鍵字，不能作為變量的名稱。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12957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2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2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A × B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乘數的運算符是「*」，而非「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x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」。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86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465426"/>
              </p:ext>
            </p:extLst>
          </p:nvPr>
        </p:nvGraphicFramePr>
        <p:xfrm>
          <a:off x="838800" y="1490592"/>
          <a:ext cx="10515000" cy="4299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sv-S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fullname = "Chan Tai Man”</a:t>
                      </a:r>
                    </a:p>
                    <a:p>
                      <a:r>
                        <a:rPr lang="sv-S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surname = fullname – " Tai Man"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price1 = "10"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price2 = "15"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avg_price = (price1 + price2) / 2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avg_mark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random.uniform(1, 10)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print(y)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math.sqrt(25)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math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21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270967"/>
              </p:ext>
            </p:extLst>
          </p:nvPr>
        </p:nvGraphicFramePr>
        <p:xfrm>
          <a:off x="838800" y="1490592"/>
          <a:ext cx="10515000" cy="4299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sv-S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fullname = "Chan Tai Man”</a:t>
                      </a:r>
                    </a:p>
                    <a:p>
                      <a:r>
                        <a:rPr lang="sv-SE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surname = fullname – " Tai Man"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數學運算符不適用於字串數據類型。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price1 = "10"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price2 = "15"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avg_price = (price1 + price2) / 2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avg_mark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數學運算符不適用於字串數據類型。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random.uniform(1, 10)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print(y)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沒有匯入函數庫「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random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」。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math.sqrt(25)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math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使用了相關函數後才匯入函數庫。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53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417191"/>
              </p:ext>
            </p:extLst>
          </p:nvPr>
        </p:nvGraphicFramePr>
        <p:xfrm>
          <a:off x="838800" y="1679172"/>
          <a:ext cx="10515000" cy="4542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num &lt; 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print("It is a negative number")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num = 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print("It is a zero")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num &lt; 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print("It is a negative number")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print("It is a non-negative number")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05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38541"/>
              </p:ext>
            </p:extLst>
          </p:nvPr>
        </p:nvGraphicFramePr>
        <p:xfrm>
          <a:off x="838800" y="1679172"/>
          <a:ext cx="10515000" cy="4542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num &lt; 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print("It is a negative number")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條件後應有冒號「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: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」。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num = 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print("It is a zero")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條件應使用關係運算符「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==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」，而非賦值運算符「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=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」。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num &lt; 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print("It is a negative number")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print("It is a non-negative number")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「print("It is a non-negative number")」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前應加入縮排。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38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949421"/>
              </p:ext>
            </p:extLst>
          </p:nvPr>
        </p:nvGraphicFramePr>
        <p:xfrm>
          <a:off x="838800" y="1911926"/>
          <a:ext cx="10515000" cy="16164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print("Please input a number")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int(input())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num == 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print("It is a zero")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37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語法錯誤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295080"/>
              </p:ext>
            </p:extLst>
          </p:nvPr>
        </p:nvGraphicFramePr>
        <p:xfrm>
          <a:off x="838800" y="1911926"/>
          <a:ext cx="10515000" cy="16164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4277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Python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74719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print("Please input a number")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 = int(input())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num == 0: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print("It is a zero")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不能隨便加入縮排。</a:t>
                      </a:r>
                    </a:p>
                    <a:p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「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print("Please input a number")」</a:t>
                      </a:r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前應移除縮排。</a:t>
                      </a:r>
                      <a:endParaRPr lang="en-US" sz="1800" kern="1200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98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試找出以下程式中的邏輯錯誤，並作出修正。</a:t>
            </a:r>
            <a:endParaRPr lang="en-US" altLang="zh-TW" dirty="0" smtClean="0"/>
          </a:p>
          <a:p>
            <a:r>
              <a:rPr lang="zh-TW" altLang="en-US" dirty="0" smtClean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1 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814778"/>
              </p:ext>
            </p:extLst>
          </p:nvPr>
        </p:nvGraphicFramePr>
        <p:xfrm>
          <a:off x="1918800" y="2108106"/>
          <a:ext cx="8828118" cy="4181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28581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列印由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至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的整數</a:t>
                      </a:r>
                      <a:endParaRPr lang="en-US" b="0" dirty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82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while i &lt;= 10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Output i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182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182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6065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更正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5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試找出以下程式中的邏輯錯誤，並作出修正。</a:t>
            </a:r>
            <a:endParaRPr lang="en-US" altLang="zh-TW" dirty="0" smtClean="0"/>
          </a:p>
          <a:p>
            <a:r>
              <a:rPr lang="zh-TW" altLang="en-US" dirty="0" smtClean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1 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930736"/>
              </p:ext>
            </p:extLst>
          </p:nvPr>
        </p:nvGraphicFramePr>
        <p:xfrm>
          <a:off x="1918800" y="2108106"/>
          <a:ext cx="8828118" cy="4181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28581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列印由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至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的整數</a:t>
                      </a:r>
                      <a:endParaRPr lang="en-US" b="0" dirty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182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while i &lt;= 10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Output i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182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1 1 1 1 1 1 1 1 1 1 1 1 1 1 1 1 1 1 1 1 1 1 1 1 1 1 1 1 1 1 1 1 1</a:t>
                      </a:r>
                      <a:r>
                        <a:rPr lang="en-US" baseline="0" dirty="0" smtClean="0">
                          <a:solidFill>
                            <a:srgbClr val="FF0000"/>
                          </a:solidFill>
                        </a:rPr>
                        <a:t> …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182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在循環內並沒有更新變量 </a:t>
                      </a:r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的值，導致無限循環。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6065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更正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循環內應加入「</a:t>
                      </a:r>
                      <a:r>
                        <a:rPr lang="en-US" sz="18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 + 1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13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2 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122535"/>
              </p:ext>
            </p:extLst>
          </p:nvPr>
        </p:nvGraphicFramePr>
        <p:xfrm>
          <a:off x="2039312" y="1623600"/>
          <a:ext cx="8828118" cy="4708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36221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將兩個變量的值互換</a:t>
                      </a:r>
                      <a:endParaRPr lang="en-US" b="0" dirty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20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20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B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</a:t>
                      </a:r>
                    </a:p>
                    <a:p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輸出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</a:t>
                      </a:r>
                    </a:p>
                    <a:p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輸出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B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40000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1514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020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更正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139333"/>
              </p:ext>
            </p:extLst>
          </p:nvPr>
        </p:nvGraphicFramePr>
        <p:xfrm>
          <a:off x="5867471" y="3859652"/>
          <a:ext cx="3312476" cy="1150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238"/>
                <a:gridCol w="1656238"/>
              </a:tblGrid>
              <a:tr h="16979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預期結果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784938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20</a:t>
                      </a:r>
                    </a:p>
                    <a:p>
                      <a:pPr algn="ctr"/>
                      <a:r>
                        <a:rPr lang="en-HK" dirty="0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00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2 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915929"/>
              </p:ext>
            </p:extLst>
          </p:nvPr>
        </p:nvGraphicFramePr>
        <p:xfrm>
          <a:off x="2039312" y="1623600"/>
          <a:ext cx="8828118" cy="4708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36221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將兩個變量的值互換</a:t>
                      </a:r>
                      <a:endParaRPr lang="en-US" b="0" dirty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20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20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B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</a:t>
                      </a:r>
                    </a:p>
                    <a:p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輸出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</a:t>
                      </a:r>
                    </a:p>
                    <a:p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輸出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B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40000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1514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在更新變量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A 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的值前並沒有把它先儲存起來。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020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更正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新增一個暫儲變量去儲存其中一個變量的值。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29732"/>
              </p:ext>
            </p:extLst>
          </p:nvPr>
        </p:nvGraphicFramePr>
        <p:xfrm>
          <a:off x="5867471" y="3859652"/>
          <a:ext cx="3312476" cy="1150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238"/>
                <a:gridCol w="1656238"/>
              </a:tblGrid>
              <a:tr h="16979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預期結果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784938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20</a:t>
                      </a:r>
                    </a:p>
                    <a:p>
                      <a:pPr algn="ctr"/>
                      <a:r>
                        <a:rPr lang="en-HK" dirty="0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</a:p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72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3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385627"/>
              </p:ext>
            </p:extLst>
          </p:nvPr>
        </p:nvGraphicFramePr>
        <p:xfrm>
          <a:off x="2261061" y="1472378"/>
          <a:ext cx="8828118" cy="47621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36221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檢查用家輸入的數值是否在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</a:rPr>
                        <a:t>0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至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</a:rPr>
                        <a:t>100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的範圍內。若不在範圍</a:t>
                      </a:r>
                    </a:p>
                    <a:p>
                      <a:pPr algn="l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內，便會要求用家重新輸入。</a:t>
                      </a:r>
                      <a:endParaRPr lang="en-US" b="0" dirty="0">
                        <a:solidFill>
                          <a:schemeClr val="tx1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20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程式碼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Input num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while num &lt; 0 AND num &gt; 100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"Wrong input"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Input num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Output "Correct input"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0154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567597"/>
              </p:ext>
            </p:extLst>
          </p:nvPr>
        </p:nvGraphicFramePr>
        <p:xfrm>
          <a:off x="4750871" y="3922913"/>
          <a:ext cx="6130488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9746"/>
                <a:gridCol w="2597246"/>
                <a:gridCol w="2043496"/>
              </a:tblGrid>
              <a:tr h="25984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測試數據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預期結果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241763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Wrong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Correct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Correct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Correct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Wrong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96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3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61061" y="1472378"/>
          <a:ext cx="8828118" cy="47621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36221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檢查用家輸入的數值是否在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</a:rPr>
                        <a:t>0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至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</a:rPr>
                        <a:t>100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的範圍內。若不在範圍</a:t>
                      </a:r>
                    </a:p>
                    <a:p>
                      <a:pPr algn="l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內，便會要求用家重新輸入。</a:t>
                      </a:r>
                      <a:endParaRPr lang="en-US" b="0" dirty="0">
                        <a:solidFill>
                          <a:schemeClr val="tx1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20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程式碼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Input num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while num &lt; 0 AND num &gt; 100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"Wrong input"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Input num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Output "Correct input"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0154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762515"/>
              </p:ext>
            </p:extLst>
          </p:nvPr>
        </p:nvGraphicFramePr>
        <p:xfrm>
          <a:off x="4750871" y="3922913"/>
          <a:ext cx="6130488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9746"/>
                <a:gridCol w="2597246"/>
                <a:gridCol w="2043496"/>
              </a:tblGrid>
              <a:tr h="25984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測試數據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預期結果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241763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Wrong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輸入正確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Correct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輸入正確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Correct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輸入正確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Correct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輸入正確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Wrong input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輸入正確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64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>
                <a:latin typeface="+mn-lt"/>
              </a:rPr>
              <a:t>3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49454"/>
              </p:ext>
            </p:extLst>
          </p:nvPr>
        </p:nvGraphicFramePr>
        <p:xfrm>
          <a:off x="2140137" y="1711275"/>
          <a:ext cx="8828118" cy="24346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111288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72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更正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62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>
                <a:latin typeface="+mn-lt"/>
              </a:rPr>
              <a:t>3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080213"/>
              </p:ext>
            </p:extLst>
          </p:nvPr>
        </p:nvGraphicFramePr>
        <p:xfrm>
          <a:off x="2140137" y="1711275"/>
          <a:ext cx="8828118" cy="24346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111288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沒有一個數字符合這個算法的條件「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num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 &lt; 0 AND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num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 &gt; 100</a:t>
                      </a:r>
                      <a:r>
                        <a:rPr lang="zh-TW" altLang="en-US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」。不論輸入什麼數字，都會顯示「輸入正確」。</a:t>
                      </a:r>
                      <a:endParaRPr lang="en-US" b="0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72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更正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條件應改成「</a:t>
                      </a:r>
                      <a:r>
                        <a:rPr lang="en-US" sz="18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num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 &lt; 0 OR </a:t>
                      </a:r>
                      <a:r>
                        <a:rPr lang="en-US" sz="18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num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 &gt; 100」。</a:t>
                      </a:r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5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4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589216"/>
              </p:ext>
            </p:extLst>
          </p:nvPr>
        </p:nvGraphicFramePr>
        <p:xfrm>
          <a:off x="2140137" y="1623600"/>
          <a:ext cx="8828118" cy="41885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36221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在陣列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中的第一個位置加入一個項目「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170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」</a:t>
                      </a:r>
                      <a:endParaRPr lang="en-US" b="0" dirty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20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size of array A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L + 1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for i from 1 to L-1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A[i+1]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A[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A[1]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170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6394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33834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7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4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417901"/>
              </p:ext>
            </p:extLst>
          </p:nvPr>
        </p:nvGraphicFramePr>
        <p:xfrm>
          <a:off x="2140137" y="1623600"/>
          <a:ext cx="8828118" cy="41885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36221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在陣列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中的第一個位置加入一個項目「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170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」</a:t>
                      </a:r>
                      <a:endParaRPr lang="en-US" b="0" dirty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20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size of array A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L + 1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for i from 1 to L-1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A[i+1]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A[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A[1]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170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6394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序列出錯，循環後陣列的項目都全是同一數值。</a:t>
                      </a:r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33834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循環的範圍應是「設 </a:t>
                      </a:r>
                      <a:r>
                        <a:rPr lang="en-US" sz="1800" kern="1200" dirty="0" err="1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由 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L-1</a:t>
                      </a: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下至 </a:t>
                      </a:r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zh-TW" alt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」。</a:t>
                      </a:r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41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5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934142"/>
              </p:ext>
            </p:extLst>
          </p:nvPr>
        </p:nvGraphicFramePr>
        <p:xfrm>
          <a:off x="2261061" y="1472378"/>
          <a:ext cx="8828118" cy="48785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36221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根據成績判斷學生取得的等級</a:t>
                      </a:r>
                      <a:endParaRPr lang="en-US" b="0" dirty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20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if score &gt;= 50 then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"Pass"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else if score &gt;= 60 then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"Credit"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else if score &gt;= 80 then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"Distinction"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else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"Fail"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2678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432480"/>
              </p:ext>
            </p:extLst>
          </p:nvPr>
        </p:nvGraphicFramePr>
        <p:xfrm>
          <a:off x="4700994" y="4313612"/>
          <a:ext cx="61304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9746"/>
                <a:gridCol w="2597246"/>
                <a:gridCol w="2043496"/>
              </a:tblGrid>
              <a:tr h="25984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測試數據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預期結果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241763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Fail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Pass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Credit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Distinction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96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 smtClean="0">
                <a:latin typeface="+mn-lt"/>
              </a:rPr>
              <a:t>5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61061" y="1472378"/>
          <a:ext cx="8828118" cy="48785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36221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目的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根據成績判斷學生取得的等級</a:t>
                      </a:r>
                      <a:endParaRPr lang="en-US" b="0" dirty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20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if score &gt;= 50 then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"Pass"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else if score &gt;= 60 then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"Credit"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else if score &gt;= 80 then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"Distinction"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else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	Output "Fail"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2678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0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928920"/>
              </p:ext>
            </p:extLst>
          </p:nvPr>
        </p:nvGraphicFramePr>
        <p:xfrm>
          <a:off x="4700994" y="4313612"/>
          <a:ext cx="61304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9746"/>
                <a:gridCol w="2597246"/>
                <a:gridCol w="2043496"/>
              </a:tblGrid>
              <a:tr h="25984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測試數據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預期結果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測試結果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241763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Fail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Fail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Pass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Pass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Credit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Pass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35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Distinction</a:t>
                      </a:r>
                      <a:endParaRPr lang="en-US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Pass</a:t>
                      </a:r>
                      <a:endParaRPr 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09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>
                <a:latin typeface="+mn-lt"/>
              </a:rPr>
              <a:t>5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35386"/>
              </p:ext>
            </p:extLst>
          </p:nvPr>
        </p:nvGraphicFramePr>
        <p:xfrm>
          <a:off x="2261061" y="1472378"/>
          <a:ext cx="8828118" cy="4512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1752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5982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更正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02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問題 </a:t>
            </a:r>
            <a:r>
              <a:rPr lang="en-US" altLang="zh-TW" dirty="0">
                <a:latin typeface="+mn-lt"/>
              </a:rPr>
              <a:t>5 </a:t>
            </a:r>
            <a:endParaRPr lang="en-GB" dirty="0">
              <a:latin typeface="+mn-lt"/>
            </a:endParaRP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587761"/>
              </p:ext>
            </p:extLst>
          </p:nvPr>
        </p:nvGraphicFramePr>
        <p:xfrm>
          <a:off x="2261061" y="1472378"/>
          <a:ext cx="8828118" cy="4512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700"/>
                <a:gridCol w="6762418"/>
              </a:tblGrid>
              <a:tr h="1752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嵌套條件語句的條件判斷的邏輯順序出錯， 導致以上算法只能判斷出「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Pass</a:t>
                      </a:r>
                      <a:r>
                        <a:rPr lang="zh-TW" altLang="en-US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」或「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Fail</a:t>
                      </a:r>
                      <a:r>
                        <a:rPr lang="zh-TW" altLang="en-US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」。當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score </a:t>
                      </a:r>
                      <a:r>
                        <a:rPr lang="zh-TW" altLang="en-US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為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90</a:t>
                      </a:r>
                      <a:r>
                        <a:rPr lang="zh-TW" altLang="en-US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，即第一個條件判斷正確，於是算法在輸出 「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Pass</a:t>
                      </a:r>
                      <a:r>
                        <a:rPr lang="zh-TW" altLang="en-US" b="0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」後便離開條件語句。</a:t>
                      </a:r>
                      <a:endParaRPr lang="en-US" b="0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5982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更正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如果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score &gt;= 80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輸出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Distinction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否則如果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score &gt;= 60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Noto Sans CJK TC Light" panose="020B0300000000000000" pitchFamily="34" charset="-128"/>
                          <a:cs typeface="Courier New" panose="02070309020205020404" pitchFamily="49" charset="0"/>
                        </a:rPr>
                        <a:t>Credit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否則如果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score &gt;= 50</a:t>
                      </a:r>
                    </a:p>
                    <a:p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輸出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Pass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否則</a:t>
                      </a:r>
                    </a:p>
                    <a:p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輸出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Fail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endParaRPr 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65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運行時錯誤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試解讀以下錯誤訊息，並解釋程式終止的原因。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405592"/>
              </p:ext>
            </p:extLst>
          </p:nvPr>
        </p:nvGraphicFramePr>
        <p:xfrm>
          <a:off x="839100" y="2152993"/>
          <a:ext cx="10515000" cy="4256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3408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1854528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583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10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499" y="2572555"/>
            <a:ext cx="4243801" cy="1768251"/>
          </a:xfrm>
          <a:prstGeom prst="rect">
            <a:avLst/>
          </a:prstGeom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592" y="4398284"/>
            <a:ext cx="4367613" cy="199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4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運行時錯誤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試解讀以下錯誤訊息，並解釋程式終止的原因。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872998"/>
              </p:ext>
            </p:extLst>
          </p:nvPr>
        </p:nvGraphicFramePr>
        <p:xfrm>
          <a:off x="839100" y="2152993"/>
          <a:ext cx="10515000" cy="4256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472247"/>
                <a:gridCol w="4628804"/>
              </a:tblGrid>
              <a:tr h="3408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1854528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將數字除以零。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583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計算負數的平方根。</a:t>
                      </a:r>
                      <a:endParaRPr lang="en-US" dirty="0">
                        <a:solidFill>
                          <a:srgbClr val="FF0000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10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499" y="2572555"/>
            <a:ext cx="4243801" cy="1768251"/>
          </a:xfrm>
          <a:prstGeom prst="rect">
            <a:avLst/>
          </a:prstGeom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592" y="4398284"/>
            <a:ext cx="4367613" cy="199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4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運行時錯誤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37793"/>
              </p:ext>
            </p:extLst>
          </p:nvPr>
        </p:nvGraphicFramePr>
        <p:xfrm>
          <a:off x="839100" y="1496291"/>
          <a:ext cx="10515000" cy="49128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821082"/>
                <a:gridCol w="4279969"/>
              </a:tblGrid>
              <a:tr h="42219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2140674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49953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58" y="1975968"/>
            <a:ext cx="4281666" cy="20407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681" y="4307287"/>
            <a:ext cx="4774512" cy="201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運行時錯誤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801734"/>
              </p:ext>
            </p:extLst>
          </p:nvPr>
        </p:nvGraphicFramePr>
        <p:xfrm>
          <a:off x="839100" y="1496291"/>
          <a:ext cx="10515000" cy="49128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949"/>
                <a:gridCol w="4821082"/>
                <a:gridCol w="4279969"/>
              </a:tblGrid>
              <a:tr h="42219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題目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Python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程式碼及錯誤信息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錯誤原因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8B1F"/>
                    </a:solidFill>
                  </a:tcPr>
                </a:tc>
              </a:tr>
              <a:tr h="2140674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存取超出陣列索引的項目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(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AR[5])。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49953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輸入值錯誤，字串「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A</a:t>
                      </a:r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」不能轉換成</a:t>
                      </a:r>
                    </a:p>
                    <a:p>
                      <a:r>
                        <a:rPr lang="zh-TW" altLang="en-US" dirty="0" smtClean="0">
                          <a:solidFill>
                            <a:srgbClr val="FF0000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數字。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58" y="1975968"/>
            <a:ext cx="4281666" cy="20407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681" y="4307287"/>
            <a:ext cx="4774512" cy="201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4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試完成課本第 </a:t>
            </a:r>
            <a:r>
              <a:rPr lang="en-US" altLang="zh-TW" dirty="0" smtClean="0"/>
              <a:t>179 </a:t>
            </a:r>
            <a:r>
              <a:rPr lang="zh-TW" altLang="en-US" dirty="0" smtClean="0"/>
              <a:t>頁至第 </a:t>
            </a:r>
            <a:r>
              <a:rPr lang="en-US" altLang="zh-TW" dirty="0" smtClean="0"/>
              <a:t>180 </a:t>
            </a:r>
            <a:r>
              <a:rPr lang="zh-TW" altLang="en-US" dirty="0" smtClean="0"/>
              <a:t>頁的測試站 </a:t>
            </a:r>
            <a:r>
              <a:rPr lang="en-US" altLang="zh-TW" dirty="0" smtClean="0"/>
              <a:t>6.2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+mn-lt"/>
              </a:rPr>
              <a:t>C</a:t>
            </a:r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+mn-lt"/>
              </a:rPr>
              <a:t>D</a:t>
            </a:r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+mn-lt"/>
              </a:rPr>
              <a:t>A</a:t>
            </a:r>
          </a:p>
          <a:p>
            <a:pPr marL="457200" indent="-457200">
              <a:buAutoNum type="arabicPeriod"/>
            </a:pPr>
            <a:r>
              <a:rPr lang="zh-TW" altLang="en-US" dirty="0">
                <a:solidFill>
                  <a:srgbClr val="FF0000"/>
                </a:solidFill>
                <a:latin typeface="+mn-lt"/>
              </a:rPr>
              <a:t>計算負數的平方根導致運行時錯誤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。</a:t>
            </a:r>
            <a:endParaRPr lang="en-US" altLang="zh-TW" dirty="0" smtClean="0">
              <a:solidFill>
                <a:srgbClr val="FF0000"/>
              </a:solidFill>
              <a:latin typeface="+mn-lt"/>
            </a:endParaRPr>
          </a:p>
          <a:p>
            <a:pPr marL="457200" indent="-457200">
              <a:buAutoNum type="arabicPeriod"/>
            </a:pPr>
            <a:r>
              <a:rPr lang="zh-TW" altLang="en-US" dirty="0">
                <a:solidFill>
                  <a:srgbClr val="FF0000"/>
                </a:solidFill>
                <a:latin typeface="+mn-lt"/>
              </a:rPr>
              <a:t>由於條件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trial = 3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成立也能令循環結束，所以循環結束不代表用戶輸入的密碼正確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。如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刪除了第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6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行， 即使用戶未能正確輸入密碼，也會顯示「登入成功！」這訊息。</a:t>
            </a:r>
            <a:endParaRPr lang="en-US" dirty="0" smtClean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76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程式設計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6.3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程式設計可以分為兩大階段：</a:t>
            </a:r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47371"/>
              </p:ext>
            </p:extLst>
          </p:nvPr>
        </p:nvGraphicFramePr>
        <p:xfrm>
          <a:off x="1045882" y="2216769"/>
          <a:ext cx="9846236" cy="3466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23118"/>
                <a:gridCol w="4923118"/>
              </a:tblGrid>
              <a:tr h="51746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分析問題階段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實施階段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29493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259" y="2784389"/>
            <a:ext cx="1664654" cy="280910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378" y="2784389"/>
            <a:ext cx="1371857" cy="289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7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程式設計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6.3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除錯會在實施階段進行。</a:t>
            </a:r>
            <a:endParaRPr lang="en-GB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474" y="2110512"/>
            <a:ext cx="8476606" cy="369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9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算法比較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6.4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算法的優劣可從執行步數及資源運用的角度進行比較。</a:t>
            </a:r>
            <a:endParaRPr lang="en-US" altLang="zh-TW" dirty="0" smtClean="0"/>
          </a:p>
          <a:p>
            <a:endParaRPr lang="en-US" dirty="0"/>
          </a:p>
          <a:p>
            <a:endParaRPr lang="en-US" dirty="0"/>
          </a:p>
          <a:p>
            <a:r>
              <a:rPr lang="zh-TW" altLang="en-US" dirty="0" smtClean="0"/>
              <a:t>試參考以下例子</a:t>
            </a:r>
            <a:r>
              <a:rPr lang="zh-TW" altLang="en-US" dirty="0"/>
              <a:t>：</a:t>
            </a:r>
            <a:endParaRPr lang="en-GB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605" y="993600"/>
            <a:ext cx="2668586" cy="2081497"/>
          </a:xfrm>
          <a:prstGeom prst="rect">
            <a:avLst/>
          </a:prstGeom>
        </p:spPr>
      </p:pic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40195"/>
              </p:ext>
            </p:extLst>
          </p:nvPr>
        </p:nvGraphicFramePr>
        <p:xfrm>
          <a:off x="939441" y="3462628"/>
          <a:ext cx="10191750" cy="29284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3575"/>
                <a:gridCol w="4048125"/>
                <a:gridCol w="4210050"/>
              </a:tblGrid>
              <a:tr h="480484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16478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 50 then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“Pass”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&lt; 50 then</a:t>
                      </a:r>
                    </a:p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“Fail”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mark &gt;=</a:t>
                      </a:r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50 then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“Pass”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</a:p>
                    <a:p>
                      <a:r>
                        <a:rPr lang="en-HK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“Fail”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比較次數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31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算法比較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6.4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下列兩種算法能用以搜尋數據是否存在於陣列中：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862857"/>
              </p:ext>
            </p:extLst>
          </p:nvPr>
        </p:nvGraphicFramePr>
        <p:xfrm>
          <a:off x="962025" y="2186516"/>
          <a:ext cx="10191750" cy="37285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8970"/>
                <a:gridCol w="3904735"/>
                <a:gridCol w="4028045"/>
              </a:tblGrid>
              <a:tr h="480484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Bold" panose="020B0800000000000000" pitchFamily="34" charset="-128"/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164782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found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False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from 1 to 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if target = A[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found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True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found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found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from 1 to 10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if target = A[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	found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found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變量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found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的</a:t>
                      </a:r>
                      <a:endParaRPr lang="en-US" altLang="zh-TW" b="1" dirty="0" smtClean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數據類型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Boolean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Integer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變量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found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在</a:t>
                      </a:r>
                      <a:endParaRPr lang="en-US" altLang="zh-TW" b="1" dirty="0" smtClean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記憶體中佔用的大小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</a:t>
                      </a:r>
                      <a:r>
                        <a:rPr lang="en-HK" baseline="0" dirty="0" smtClean="0"/>
                        <a:t> bit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32</a:t>
                      </a:r>
                      <a:r>
                        <a:rPr lang="en-HK" baseline="0" dirty="0" smtClean="0"/>
                        <a:t> bits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75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189 </a:t>
            </a:r>
            <a:r>
              <a:rPr lang="zh-TW" altLang="en-US" dirty="0" smtClean="0">
                <a:latin typeface="+mn-lt"/>
              </a:rPr>
              <a:t>頁至第 </a:t>
            </a:r>
            <a:r>
              <a:rPr lang="en-US" altLang="zh-TW" dirty="0" smtClean="0">
                <a:latin typeface="+mn-lt"/>
              </a:rPr>
              <a:t>190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6.3</a:t>
            </a:r>
            <a:r>
              <a:rPr lang="zh-TW" altLang="en-US" dirty="0" smtClean="0">
                <a:latin typeface="+mn-lt"/>
              </a:rPr>
              <a:t>。</a:t>
            </a:r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46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697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1800" dirty="0">
                <a:latin typeface="Myriad Pro" panose="020B0503030403020204" pitchFamily="34" charset="0"/>
              </a:rPr>
              <a:t>下列兩個算法都是用作檢查陣列 </a:t>
            </a:r>
            <a:r>
              <a:rPr lang="en-US" altLang="zh-TW" sz="1800" dirty="0">
                <a:latin typeface="Myriad Pro" panose="020B0503030403020204" pitchFamily="34" charset="0"/>
              </a:rPr>
              <a:t>S </a:t>
            </a:r>
            <a:r>
              <a:rPr lang="zh-TW" altLang="en-US" sz="1800" dirty="0">
                <a:latin typeface="Myriad Pro" panose="020B0503030403020204" pitchFamily="34" charset="0"/>
              </a:rPr>
              <a:t>中的值是否由小至大順序排列</a:t>
            </a:r>
            <a:r>
              <a:rPr lang="zh-TW" altLang="en-US" sz="1800" dirty="0" smtClean="0">
                <a:latin typeface="Myriad Pro" panose="020B0503030403020204" pitchFamily="34" charset="0"/>
              </a:rPr>
              <a:t>：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 smtClean="0">
              <a:latin typeface="Myriad Pro" panose="020B0503030403020204" pitchFamily="34" charset="0"/>
            </a:endParaRPr>
          </a:p>
          <a:p>
            <a:endParaRPr lang="en-US" altLang="zh-TW" sz="1800" dirty="0">
              <a:latin typeface="Myriad Pro" panose="020B0503030403020204" pitchFamily="34" charset="0"/>
            </a:endParaRPr>
          </a:p>
          <a:p>
            <a:pPr>
              <a:lnSpc>
                <a:spcPct val="100000"/>
              </a:lnSpc>
            </a:pPr>
            <a:r>
              <a:rPr lang="zh-TW" altLang="en-US" sz="1800" dirty="0" smtClean="0">
                <a:latin typeface="Myriad Pro" panose="020B0503030403020204" pitchFamily="34" charset="0"/>
              </a:rPr>
              <a:t>比較</a:t>
            </a:r>
            <a:r>
              <a:rPr lang="zh-TW" altLang="en-US" sz="1800" dirty="0">
                <a:latin typeface="Myriad Pro" panose="020B0503030403020204" pitchFamily="34" charset="0"/>
              </a:rPr>
              <a:t>這兩個算法的執行時間，以下哪一句描述是正確的</a:t>
            </a:r>
            <a:r>
              <a:rPr lang="zh-TW" altLang="en-US" sz="1800" dirty="0" smtClean="0">
                <a:latin typeface="Myriad Pro" panose="020B0503030403020204" pitchFamily="34" charset="0"/>
              </a:rPr>
              <a:t>？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lphaUcPeriod"/>
            </a:pPr>
            <a:r>
              <a:rPr lang="zh-TW" altLang="en-US" sz="1800" dirty="0">
                <a:latin typeface="Myriad Pro" panose="020B0503030403020204" pitchFamily="34" charset="0"/>
              </a:rPr>
              <a:t>兩個算法的執行時間是差不多</a:t>
            </a:r>
            <a:r>
              <a:rPr lang="zh-TW" altLang="en-US" sz="1800" dirty="0" smtClean="0">
                <a:latin typeface="Myriad Pro" panose="020B0503030403020204" pitchFamily="34" charset="0"/>
              </a:rPr>
              <a:t>一樣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lphaUcPeriod"/>
            </a:pPr>
            <a:r>
              <a:rPr lang="zh-TW" altLang="en-US" sz="1800" dirty="0">
                <a:latin typeface="Myriad Pro" panose="020B0503030403020204" pitchFamily="34" charset="0"/>
              </a:rPr>
              <a:t>算法 </a:t>
            </a:r>
            <a:r>
              <a:rPr lang="en-US" altLang="zh-TW" sz="1800" dirty="0">
                <a:latin typeface="Myriad Pro" panose="020B0503030403020204" pitchFamily="34" charset="0"/>
              </a:rPr>
              <a:t>1 </a:t>
            </a:r>
            <a:r>
              <a:rPr lang="zh-TW" altLang="en-US" sz="1800" dirty="0">
                <a:latin typeface="Myriad Pro" panose="020B0503030403020204" pitchFamily="34" charset="0"/>
              </a:rPr>
              <a:t>一般較</a:t>
            </a:r>
            <a:r>
              <a:rPr lang="zh-TW" altLang="en-US" sz="1800" dirty="0" smtClean="0">
                <a:latin typeface="Myriad Pro" panose="020B0503030403020204" pitchFamily="34" charset="0"/>
              </a:rPr>
              <a:t>快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lphaUcPeriod"/>
            </a:pPr>
            <a:r>
              <a:rPr lang="zh-TW" altLang="en-US" sz="1800" dirty="0">
                <a:latin typeface="Myriad Pro" panose="020B0503030403020204" pitchFamily="34" charset="0"/>
              </a:rPr>
              <a:t>算法 </a:t>
            </a:r>
            <a:r>
              <a:rPr lang="en-US" altLang="zh-TW" sz="1800" dirty="0">
                <a:latin typeface="Myriad Pro" panose="020B0503030403020204" pitchFamily="34" charset="0"/>
              </a:rPr>
              <a:t>2 </a:t>
            </a:r>
            <a:r>
              <a:rPr lang="zh-TW" altLang="en-US" sz="1800" dirty="0">
                <a:latin typeface="Myriad Pro" panose="020B0503030403020204" pitchFamily="34" charset="0"/>
              </a:rPr>
              <a:t>一般較</a:t>
            </a:r>
            <a:r>
              <a:rPr lang="zh-TW" altLang="en-US" sz="1800" dirty="0" smtClean="0">
                <a:latin typeface="Myriad Pro" panose="020B0503030403020204" pitchFamily="34" charset="0"/>
              </a:rPr>
              <a:t>快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lphaUcPeriod"/>
            </a:pPr>
            <a:r>
              <a:rPr lang="zh-TW" altLang="en-US" sz="1800" dirty="0">
                <a:latin typeface="Myriad Pro" panose="020B0503030403020204" pitchFamily="34" charset="0"/>
              </a:rPr>
              <a:t>無法判斷</a:t>
            </a:r>
            <a:endParaRPr lang="en-GB" sz="1800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6.3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14608"/>
              </p:ext>
            </p:extLst>
          </p:nvPr>
        </p:nvGraphicFramePr>
        <p:xfrm>
          <a:off x="996949" y="1917240"/>
          <a:ext cx="10198102" cy="20178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1727"/>
                <a:gridCol w="5286375"/>
              </a:tblGrid>
              <a:tr h="43286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US" altLang="zh-TW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1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US" altLang="zh-TW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2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153088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 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True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from 1 to 100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if S[i] &gt; S[i+1]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	sorted_list 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False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sorted_list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sorted_list 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True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 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i &lt;= 100 AND sorted_list = True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if S[i] &gt; S[i+1]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	sorted_list 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False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i 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 + 1</a:t>
                      </a:r>
                    </a:p>
                    <a:p>
                      <a:r>
                        <a:rPr lang="en-US" sz="14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sorted_list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7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zh-TW" altLang="en-US" sz="1800" dirty="0">
                <a:latin typeface="Myriad Pro" panose="020B0503030403020204" pitchFamily="34" charset="0"/>
              </a:rPr>
              <a:t>下列兩個算法都是用作輸出 </a:t>
            </a:r>
            <a:r>
              <a:rPr lang="en-US" altLang="zh-TW" sz="1800" dirty="0">
                <a:latin typeface="Myriad Pro" panose="020B0503030403020204" pitchFamily="34" charset="0"/>
              </a:rPr>
              <a:t>BMI </a:t>
            </a:r>
            <a:r>
              <a:rPr lang="zh-TW" altLang="en-US" sz="1800" dirty="0">
                <a:latin typeface="Myriad Pro" panose="020B0503030403020204" pitchFamily="34" charset="0"/>
              </a:rPr>
              <a:t>數值所代表的意義</a:t>
            </a:r>
            <a:r>
              <a:rPr lang="zh-TW" altLang="en-US" sz="1800" dirty="0" smtClean="0">
                <a:latin typeface="Myriad Pro" panose="020B0503030403020204" pitchFamily="34" charset="0"/>
              </a:rPr>
              <a:t>：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1800" dirty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1800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1800" dirty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1800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1800" dirty="0">
              <a:latin typeface="Myriad Pro" panose="020B0503030403020204" pitchFamily="34" charset="0"/>
            </a:endParaRPr>
          </a:p>
          <a:p>
            <a:pPr>
              <a:lnSpc>
                <a:spcPct val="110000"/>
              </a:lnSpc>
            </a:pPr>
            <a:r>
              <a:rPr lang="zh-TW" altLang="en-US" sz="1800" dirty="0">
                <a:latin typeface="Myriad Pro" panose="020B0503030403020204" pitchFamily="34" charset="0"/>
              </a:rPr>
              <a:t>比較這兩個算法的執行時間， 以下哪一句描述是正確的</a:t>
            </a:r>
            <a:r>
              <a:rPr lang="zh-TW" altLang="en-US" sz="1800" dirty="0" smtClean="0">
                <a:latin typeface="Myriad Pro" panose="020B0503030403020204" pitchFamily="34" charset="0"/>
              </a:rPr>
              <a:t>？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lphaUcPeriod"/>
            </a:pPr>
            <a:r>
              <a:rPr lang="zh-TW" altLang="en-US" sz="1800" dirty="0">
                <a:latin typeface="Myriad Pro" panose="020B0503030403020204" pitchFamily="34" charset="0"/>
              </a:rPr>
              <a:t>兩個算法的執行時間是</a:t>
            </a:r>
            <a:r>
              <a:rPr lang="zh-TW" altLang="en-US" sz="1800" dirty="0" smtClean="0">
                <a:latin typeface="Myriad Pro" panose="020B0503030403020204" pitchFamily="34" charset="0"/>
              </a:rPr>
              <a:t>差不多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lphaUcPeriod"/>
            </a:pPr>
            <a:r>
              <a:rPr lang="zh-TW" altLang="en-US" sz="1800" dirty="0">
                <a:latin typeface="Myriad Pro" panose="020B0503030403020204" pitchFamily="34" charset="0"/>
              </a:rPr>
              <a:t>算法 </a:t>
            </a:r>
            <a:r>
              <a:rPr lang="en-US" altLang="zh-TW" sz="1800" dirty="0">
                <a:latin typeface="Myriad Pro" panose="020B0503030403020204" pitchFamily="34" charset="0"/>
              </a:rPr>
              <a:t>1 </a:t>
            </a:r>
            <a:r>
              <a:rPr lang="zh-TW" altLang="en-US" sz="1800" dirty="0">
                <a:latin typeface="Myriad Pro" panose="020B0503030403020204" pitchFamily="34" charset="0"/>
              </a:rPr>
              <a:t>一般較</a:t>
            </a:r>
            <a:r>
              <a:rPr lang="zh-TW" altLang="en-US" sz="1800" dirty="0" smtClean="0">
                <a:latin typeface="Myriad Pro" panose="020B0503030403020204" pitchFamily="34" charset="0"/>
              </a:rPr>
              <a:t>快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lphaUcPeriod"/>
            </a:pPr>
            <a:r>
              <a:rPr lang="zh-TW" altLang="en-US" sz="1800" dirty="0">
                <a:latin typeface="Myriad Pro" panose="020B0503030403020204" pitchFamily="34" charset="0"/>
              </a:rPr>
              <a:t>算法 </a:t>
            </a:r>
            <a:r>
              <a:rPr lang="en-US" altLang="zh-TW" sz="1800" dirty="0">
                <a:latin typeface="Myriad Pro" panose="020B0503030403020204" pitchFamily="34" charset="0"/>
              </a:rPr>
              <a:t>2 </a:t>
            </a:r>
            <a:r>
              <a:rPr lang="zh-TW" altLang="en-US" sz="1800" dirty="0">
                <a:latin typeface="Myriad Pro" panose="020B0503030403020204" pitchFamily="34" charset="0"/>
              </a:rPr>
              <a:t>一般較</a:t>
            </a:r>
            <a:r>
              <a:rPr lang="zh-TW" altLang="en-US" sz="1800" dirty="0" smtClean="0">
                <a:latin typeface="Myriad Pro" panose="020B0503030403020204" pitchFamily="34" charset="0"/>
              </a:rPr>
              <a:t>快</a:t>
            </a:r>
            <a:endParaRPr lang="en-US" altLang="zh-TW" sz="1800" dirty="0" smtClean="0">
              <a:latin typeface="Myriad Pro" panose="020B0503030403020204" pitchFamily="34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lphaUcPeriod"/>
            </a:pPr>
            <a:r>
              <a:rPr lang="zh-TW" altLang="en-US" sz="1800" dirty="0">
                <a:latin typeface="Myriad Pro" panose="020B0503030403020204" pitchFamily="34" charset="0"/>
              </a:rPr>
              <a:t>無法判斷</a:t>
            </a:r>
            <a:endParaRPr lang="en-US" sz="1800" dirty="0" smtClean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6.3</a:t>
            </a:r>
            <a:endParaRPr lang="en-GB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891651"/>
              </p:ext>
            </p:extLst>
          </p:nvPr>
        </p:nvGraphicFramePr>
        <p:xfrm>
          <a:off x="996949" y="1883518"/>
          <a:ext cx="10198102" cy="23131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5477"/>
                <a:gridCol w="5762625"/>
              </a:tblGrid>
              <a:tr h="3218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US" altLang="zh-TW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1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US" altLang="zh-TW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2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1977919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endParaRPr lang="en-US" sz="1200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18.5 then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"Underweight"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 if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23 then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"Normal"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 if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25 then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"Overweight"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"Obese"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endParaRPr lang="en-US" sz="1200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0 &lt;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18.5 then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"Underweight"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 if 18.5 &lt;=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23 then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"Normal"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 if 23 &lt;=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</a:t>
                      </a:r>
                      <a:r>
                        <a:rPr lang="en-US" sz="12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bmi</a:t>
                      </a:r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25 then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"overweight"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</a:p>
                    <a:p>
                      <a:r>
                        <a:rPr lang="en-US" sz="1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Output "Obese"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2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TW" altLang="en-US" dirty="0" smtClean="0">
                <a:latin typeface="Myriad Pro" panose="020B0503030403020204" pitchFamily="34" charset="0"/>
              </a:rPr>
              <a:t>（</a:t>
            </a:r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挑戰</a:t>
            </a:r>
            <a:r>
              <a:rPr lang="zh-TW" altLang="en-US" dirty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題</a:t>
            </a:r>
            <a:r>
              <a:rPr lang="zh-TW" altLang="en-US" dirty="0">
                <a:latin typeface="Myriad Pro" panose="020B0503030403020204" pitchFamily="34" charset="0"/>
              </a:rPr>
              <a:t>）下列兩個算法都是用作檢查兩個數字是否同時等於</a:t>
            </a:r>
            <a:r>
              <a:rPr lang="zh-TW" altLang="en-US" dirty="0" smtClean="0">
                <a:latin typeface="Myriad Pro" panose="020B0503030403020204" pitchFamily="34" charset="0"/>
              </a:rPr>
              <a:t>零：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endParaRPr lang="en-US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endParaRPr lang="en-US" dirty="0" smtClean="0">
              <a:latin typeface="Myriad Pro" panose="020B0503030403020204" pitchFamily="34" charset="0"/>
            </a:endParaRPr>
          </a:p>
          <a:p>
            <a:r>
              <a:rPr lang="zh-TW" altLang="en-US" dirty="0">
                <a:latin typeface="Myriad Pro" panose="020B0503030403020204" pitchFamily="34" charset="0"/>
              </a:rPr>
              <a:t>比較這兩個算法的執行步數，以下哪一句描述是正確的</a:t>
            </a:r>
            <a:r>
              <a:rPr lang="zh-TW" altLang="en-US" dirty="0" smtClean="0">
                <a:latin typeface="Myriad Pro" panose="020B0503030403020204" pitchFamily="34" charset="0"/>
              </a:rPr>
              <a:t>？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zh-TW" altLang="en-US" dirty="0">
                <a:latin typeface="Myriad Pro" panose="020B0503030403020204" pitchFamily="34" charset="0"/>
              </a:rPr>
              <a:t>兩個算法的執行步數大致</a:t>
            </a:r>
            <a:r>
              <a:rPr lang="zh-TW" altLang="en-US" dirty="0" smtClean="0">
                <a:latin typeface="Myriad Pro" panose="020B0503030403020204" pitchFamily="34" charset="0"/>
              </a:rPr>
              <a:t>相同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zh-TW" altLang="en-US" dirty="0">
                <a:latin typeface="Myriad Pro" panose="020B0503030403020204" pitchFamily="34" charset="0"/>
              </a:rPr>
              <a:t>算法 </a:t>
            </a:r>
            <a:r>
              <a:rPr lang="en-US" altLang="zh-TW" dirty="0">
                <a:latin typeface="Myriad Pro" panose="020B0503030403020204" pitchFamily="34" charset="0"/>
              </a:rPr>
              <a:t>1 </a:t>
            </a:r>
            <a:r>
              <a:rPr lang="zh-TW" altLang="en-US" dirty="0">
                <a:latin typeface="Myriad Pro" panose="020B0503030403020204" pitchFamily="34" charset="0"/>
              </a:rPr>
              <a:t>一般較</a:t>
            </a:r>
            <a:r>
              <a:rPr lang="zh-TW" altLang="en-US" dirty="0" smtClean="0">
                <a:latin typeface="Myriad Pro" panose="020B0503030403020204" pitchFamily="34" charset="0"/>
              </a:rPr>
              <a:t>少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zh-TW" altLang="en-US" dirty="0">
                <a:latin typeface="Myriad Pro" panose="020B0503030403020204" pitchFamily="34" charset="0"/>
              </a:rPr>
              <a:t>算法 </a:t>
            </a:r>
            <a:r>
              <a:rPr lang="en-US" altLang="zh-TW" dirty="0">
                <a:latin typeface="Myriad Pro" panose="020B0503030403020204" pitchFamily="34" charset="0"/>
              </a:rPr>
              <a:t>2 </a:t>
            </a:r>
            <a:r>
              <a:rPr lang="zh-TW" altLang="en-US" dirty="0">
                <a:latin typeface="Myriad Pro" panose="020B0503030403020204" pitchFamily="34" charset="0"/>
              </a:rPr>
              <a:t>一般較</a:t>
            </a:r>
            <a:r>
              <a:rPr lang="zh-TW" altLang="en-US" dirty="0" smtClean="0">
                <a:latin typeface="Myriad Pro" panose="020B0503030403020204" pitchFamily="34" charset="0"/>
              </a:rPr>
              <a:t>少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zh-TW" altLang="en-US" dirty="0">
                <a:latin typeface="Myriad Pro" panose="020B0503030403020204" pitchFamily="34" charset="0"/>
              </a:rPr>
              <a:t>無法判斷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6.3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678173"/>
              </p:ext>
            </p:extLst>
          </p:nvPr>
        </p:nvGraphicFramePr>
        <p:xfrm>
          <a:off x="996949" y="1852112"/>
          <a:ext cx="10198102" cy="1633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5477"/>
                <a:gridCol w="5762625"/>
              </a:tblGrid>
              <a:tr h="23998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US" altLang="zh-TW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1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算法 </a:t>
                      </a:r>
                      <a:r>
                        <a:rPr lang="en-US" altLang="zh-TW" sz="1600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2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1297773">
                <a:tc>
                  <a:txBody>
                    <a:bodyPr/>
                    <a:lstStyle/>
                    <a:p>
                      <a:r>
                        <a:rPr lang="en-HK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A == 0 and B</a:t>
                      </a:r>
                      <a:r>
                        <a:rPr lang="en-HK" sz="1600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0:</a:t>
                      </a:r>
                    </a:p>
                    <a:p>
                      <a:r>
                        <a:rPr lang="en-HK" sz="1600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print(“Both are zero”)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A == 0:</a:t>
                      </a:r>
                    </a:p>
                    <a:p>
                      <a:r>
                        <a:rPr lang="en-HK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if B == 0:</a:t>
                      </a:r>
                    </a:p>
                    <a:p>
                      <a:r>
                        <a:rPr lang="en-HK" sz="16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	print(“Both are zero”)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92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zh-TW" altLang="en-US" dirty="0"/>
              <a:t>（</a:t>
            </a:r>
            <a:r>
              <a:rPr lang="zh-TW" altLang="en-US" dirty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挑戰題</a:t>
            </a:r>
            <a:r>
              <a:rPr lang="zh-TW" altLang="en-US" dirty="0"/>
              <a:t>）以下哪些算法的效率是大致相同的</a:t>
            </a:r>
            <a:r>
              <a:rPr lang="zh-TW" altLang="en-US" dirty="0" smtClean="0"/>
              <a:t>？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算法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+mn-lt"/>
              </a:rPr>
              <a:t>1 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和算法 </a:t>
            </a:r>
            <a:r>
              <a:rPr lang="en-US" altLang="zh-TW" dirty="0" smtClean="0">
                <a:solidFill>
                  <a:srgbClr val="FF0000"/>
                </a:solidFill>
                <a:latin typeface="+mn-lt"/>
              </a:rPr>
              <a:t>3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。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6.3</a:t>
            </a:r>
            <a:endParaRPr lang="en-GB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738397"/>
              </p:ext>
            </p:extLst>
          </p:nvPr>
        </p:nvGraphicFramePr>
        <p:xfrm>
          <a:off x="1384300" y="1900766"/>
          <a:ext cx="8128000" cy="35250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0900"/>
                <a:gridCol w="6007100"/>
              </a:tblGrid>
              <a:tr h="114758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</a:rPr>
                        <a:t>算法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grade == "5**" or grade == "5*":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print("Get stars")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758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</a:rPr>
                        <a:t>算法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grade == "5**":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print("Get stars")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grade == "5*":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print("Get stars")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758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</a:rPr>
                        <a:t>算法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grade == "5**":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print("Get stars")</a:t>
                      </a:r>
                    </a:p>
                    <a:p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grade == "5*":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print("Get stars")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39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算法比較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HK" dirty="0" smtClean="0"/>
              <a:t>6.4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下列兩個算法都是用作計算用家輸入的 </a:t>
            </a:r>
            <a:r>
              <a:rPr lang="en-US" altLang="zh-TW" dirty="0"/>
              <a:t>5 </a:t>
            </a:r>
            <a:r>
              <a:rPr lang="zh-TW" altLang="en-US" dirty="0"/>
              <a:t>個數字的</a:t>
            </a:r>
            <a:r>
              <a:rPr lang="zh-TW" altLang="en-US" dirty="0" smtClean="0"/>
              <a:t>總和：</a:t>
            </a:r>
            <a:endParaRPr lang="en-US" altLang="zh-TW" dirty="0" smtClean="0"/>
          </a:p>
          <a:p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831677"/>
              </p:ext>
            </p:extLst>
          </p:nvPr>
        </p:nvGraphicFramePr>
        <p:xfrm>
          <a:off x="1143003" y="2048882"/>
          <a:ext cx="9963147" cy="41266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48"/>
                <a:gridCol w="4943474"/>
                <a:gridCol w="3476625"/>
              </a:tblGrid>
              <a:tr h="24976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算法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算法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</a:tr>
              <a:tr h="193399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num1</a:t>
                      </a:r>
                    </a:p>
                    <a:p>
                      <a:pPr algn="l"/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num2</a:t>
                      </a:r>
                    </a:p>
                    <a:p>
                      <a:pPr algn="l"/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num3</a:t>
                      </a:r>
                    </a:p>
                    <a:p>
                      <a:pPr algn="l"/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num4</a:t>
                      </a:r>
                    </a:p>
                    <a:p>
                      <a:pPr algn="l"/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 num5</a:t>
                      </a:r>
                    </a:p>
                    <a:p>
                      <a:pPr algn="l"/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 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num1+num2+num3+num4+num5</a:t>
                      </a:r>
                    </a:p>
                    <a:p>
                      <a:pPr algn="l"/>
                      <a:r>
                        <a:rPr lang="pt-BR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total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</a:t>
                      </a:r>
                    </a:p>
                    <a:p>
                      <a:pPr algn="l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from 1 to 5 do</a:t>
                      </a:r>
                    </a:p>
                    <a:p>
                      <a:pPr algn="l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Input num</a:t>
                      </a:r>
                    </a:p>
                    <a:p>
                      <a:pPr algn="l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total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total + num</a:t>
                      </a:r>
                    </a:p>
                    <a:p>
                      <a:pPr algn="l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 total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執行步數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變量數量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71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優勢之處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執行步數較少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資源運用較少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88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HK_Kelie_20220801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SEPPT_HK_Kelie_20220801" id="{65F25E0B-E9C0-46F1-AB3B-56C4AD4346BF}" vid="{AA16955C-DB03-4B43-BEEC-E0AA3A9353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DSEPPT_HK_Kelie_20220801</Template>
  <TotalTime>4292</TotalTime>
  <Words>2664</Words>
  <Application>Microsoft Office PowerPoint</Application>
  <PresentationFormat>寬螢幕</PresentationFormat>
  <Paragraphs>787</Paragraphs>
  <Slides>51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62" baseType="lpstr">
      <vt:lpstr>Noto Sans CJK TC Black</vt:lpstr>
      <vt:lpstr>Noto Sans CJK TC Bold</vt:lpstr>
      <vt:lpstr>Noto Sans CJK TC Light</vt:lpstr>
      <vt:lpstr>Noto Sans CJK TC Medium</vt:lpstr>
      <vt:lpstr>新細明體</vt:lpstr>
      <vt:lpstr>Arial</vt:lpstr>
      <vt:lpstr>Courier New</vt:lpstr>
      <vt:lpstr>Myriad Pro</vt:lpstr>
      <vt:lpstr>Tw Cen MT</vt:lpstr>
      <vt:lpstr>Wingdings</vt:lpstr>
      <vt:lpstr>DSEPPT_HK_Kelie_20220801</vt:lpstr>
      <vt:lpstr>第六課 程式測試和除錯</vt:lpstr>
      <vt:lpstr>測試程式</vt:lpstr>
      <vt:lpstr>測試程式</vt:lpstr>
      <vt:lpstr>PowerPoint 簡報</vt:lpstr>
      <vt:lpstr>PowerPoint 簡報</vt:lpstr>
      <vt:lpstr>PowerPoint 簡報</vt:lpstr>
      <vt:lpstr>PowerPoint 簡報</vt:lpstr>
      <vt:lpstr>程式錯誤及除錯</vt:lpstr>
      <vt:lpstr>語法錯誤</vt:lpstr>
      <vt:lpstr>邏輯錯誤</vt:lpstr>
      <vt:lpstr>運行時錯誤</vt:lpstr>
      <vt:lpstr>除錯</vt:lpstr>
      <vt:lpstr>語法錯誤</vt:lpstr>
      <vt:lpstr>語法錯誤</vt:lpstr>
      <vt:lpstr>語法錯誤</vt:lpstr>
      <vt:lpstr>語法錯誤</vt:lpstr>
      <vt:lpstr>語法錯誤</vt:lpstr>
      <vt:lpstr>語法錯誤</vt:lpstr>
      <vt:lpstr>語法錯誤</vt:lpstr>
      <vt:lpstr>語法錯誤</vt:lpstr>
      <vt:lpstr>語法錯誤</vt:lpstr>
      <vt:lpstr>語法錯誤</vt:lpstr>
      <vt:lpstr>邏輯錯誤</vt:lpstr>
      <vt:lpstr>邏輯錯誤</vt:lpstr>
      <vt:lpstr>邏輯錯誤</vt:lpstr>
      <vt:lpstr>邏輯錯誤</vt:lpstr>
      <vt:lpstr>邏輯錯誤</vt:lpstr>
      <vt:lpstr>邏輯錯誤</vt:lpstr>
      <vt:lpstr>邏輯錯誤</vt:lpstr>
      <vt:lpstr>邏輯錯誤</vt:lpstr>
      <vt:lpstr>邏輯錯誤</vt:lpstr>
      <vt:lpstr>邏輯錯誤</vt:lpstr>
      <vt:lpstr>邏輯錯誤</vt:lpstr>
      <vt:lpstr>邏輯錯誤</vt:lpstr>
      <vt:lpstr>邏輯錯誤</vt:lpstr>
      <vt:lpstr>邏輯錯誤</vt:lpstr>
      <vt:lpstr>運行時錯誤</vt:lpstr>
      <vt:lpstr>運行時錯誤</vt:lpstr>
      <vt:lpstr>運行時錯誤</vt:lpstr>
      <vt:lpstr>運行時錯誤</vt:lpstr>
      <vt:lpstr>PowerPoint 簡報</vt:lpstr>
      <vt:lpstr>程式設計</vt:lpstr>
      <vt:lpstr>程式設計</vt:lpstr>
      <vt:lpstr>算法比較</vt:lpstr>
      <vt:lpstr>算法比較</vt:lpstr>
      <vt:lpstr>PowerPoint 簡報</vt:lpstr>
      <vt:lpstr>PowerPoint 簡報</vt:lpstr>
      <vt:lpstr>PowerPoint 簡報</vt:lpstr>
      <vt:lpstr>PowerPoint 簡報</vt:lpstr>
      <vt:lpstr>PowerPoint 簡報</vt:lpstr>
      <vt:lpstr>算法比較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Cherry</dc:creator>
  <cp:lastModifiedBy>Cherry</cp:lastModifiedBy>
  <cp:revision>43</cp:revision>
  <dcterms:created xsi:type="dcterms:W3CDTF">2022-08-12T08:15:43Z</dcterms:created>
  <dcterms:modified xsi:type="dcterms:W3CDTF">2022-08-16T07:59:40Z</dcterms:modified>
</cp:coreProperties>
</file>