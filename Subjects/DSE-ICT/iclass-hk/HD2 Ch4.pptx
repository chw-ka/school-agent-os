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3" r:id="rId36"/>
    <p:sldId id="291" r:id="rId37"/>
    <p:sldId id="294" r:id="rId38"/>
    <p:sldId id="292" r:id="rId39"/>
    <p:sldId id="295" r:id="rId40"/>
    <p:sldId id="296" r:id="rId41"/>
    <p:sldId id="297" r:id="rId42"/>
    <p:sldId id="298" r:id="rId43"/>
    <p:sldId id="299" r:id="rId44"/>
    <p:sldId id="300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30" r:id="rId71"/>
    <p:sldId id="327" r:id="rId72"/>
    <p:sldId id="329" r:id="rId73"/>
    <p:sldId id="328" r:id="rId74"/>
    <p:sldId id="331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TW" altLang="en-US" sz="5400" b="1" dirty="0">
                <a:solidFill>
                  <a:srgbClr val="00A0A9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明德資訊及通訊科技</a:t>
            </a:r>
            <a:endParaRPr lang="en-GB" altLang="zh-TW" sz="5400" b="1" dirty="0">
              <a:solidFill>
                <a:srgbClr val="00A0A9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47D0310-AA82-8F1E-85B7-9D84E0B5E5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113404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941542A-A967-C085-B406-0716C05FA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787011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D1A92E3-3244-CFBD-6601-65380FC61F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189260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9066DD1-D16A-E0C9-4F5E-5F3B3D94F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9331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E0A19B2-6EE3-F634-8DE6-6BB0ACDC93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513027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959AFF4-B8A0-A3C7-7993-7FA71092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CEF8422-2834-DB27-5926-614C3330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3A5034A-907A-8C5B-D5CC-924E35AB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278B562-C8FA-FAB0-08D4-4DD48144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8F1F850-D926-8BC4-36C0-7FD5EFC4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=""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EDC08FA-FC71-5479-9731-ACADDACDB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934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378BB05-006A-84B6-7DC5-1C78180E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6379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E1F04E3-1448-35F1-6590-2963551E3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70901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6D7C970-CC55-F612-1833-02A18D88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4383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常見錯誤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試想想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84AD40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提示</a:t>
            </a:r>
            <a:endParaRPr lang="en-US" b="0" i="0" dirty="0">
              <a:solidFill>
                <a:srgbClr val="84AD40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類比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擴闊視野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古往今來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=""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C6993D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網上資源</a:t>
            </a:r>
            <a:endParaRPr lang="en-US" b="0" i="0" dirty="0">
              <a:solidFill>
                <a:srgbClr val="C6993D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=""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21" r:id="rId12"/>
    <p:sldLayoutId id="2147483722" r:id="rId13"/>
    <p:sldLayoutId id="2147483723" r:id="rId14"/>
    <p:sldLayoutId id="2147483724" r:id="rId15"/>
    <p:sldLayoutId id="2147483706" r:id="rId16"/>
    <p:sldLayoutId id="2147483707" r:id="rId17"/>
    <p:sldLayoutId id="2147483708" r:id="rId18"/>
    <p:sldLayoutId id="2147483709" r:id="rId19"/>
    <p:sldLayoutId id="2147483712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10" r:id="rId28"/>
    <p:sldLayoutId id="2147483711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rgbClr val="606060"/>
          </a:solidFill>
          <a:latin typeface="Noto Sans CJK TC Bold" panose="020B0800000000000000" pitchFamily="34" charset="-128"/>
          <a:ea typeface="Noto Sans CJK TC Bold" panose="020B08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第四課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Python </a:t>
            </a:r>
            <a:r>
              <a:rPr lang="zh-TW" altLang="en-US" dirty="0" smtClean="0"/>
              <a:t>編程入門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950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altLang="zh-TW" b="1" dirty="0">
                <a:latin typeface="+mn-lt"/>
                <a:ea typeface="Noto Sans CJK TC Bold" panose="020B0800000000000000" pitchFamily="34" charset="-128"/>
              </a:rPr>
              <a:t>Python</a:t>
            </a:r>
            <a:r>
              <a:rPr lang="en-US" altLang="zh-TW" dirty="0">
                <a:latin typeface="+mn-lt"/>
                <a:ea typeface="Noto Sans CJK TC Bold" panose="020B0800000000000000" pitchFamily="34" charset="-128"/>
              </a:rPr>
              <a:t> </a:t>
            </a:r>
            <a:r>
              <a:rPr lang="zh-TW" altLang="en-US" dirty="0">
                <a:latin typeface="+mn-lt"/>
                <a:ea typeface="Noto Sans CJK TC Bold" panose="020B0800000000000000" pitchFamily="34" charset="-128"/>
              </a:rPr>
              <a:t>與人工智能</a:t>
            </a:r>
            <a:r>
              <a:rPr lang="zh-TW" altLang="en-US" dirty="0" smtClean="0">
                <a:latin typeface="+mn-lt"/>
                <a:ea typeface="Noto Sans CJK TC Bold" panose="020B0800000000000000" pitchFamily="34" charset="-128"/>
              </a:rPr>
              <a:t>發展</a:t>
            </a:r>
            <a:endParaRPr lang="en-US" altLang="zh-TW" dirty="0" smtClean="0">
              <a:latin typeface="+mn-lt"/>
              <a:ea typeface="Noto Sans CJK TC Bold" panose="020B0800000000000000" pitchFamily="34" charset="-128"/>
            </a:endParaRPr>
          </a:p>
          <a:p>
            <a:pPr algn="ctr"/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由荷蘭電腦程式設計師 </a:t>
            </a:r>
            <a:r>
              <a:rPr lang="en-US" altLang="zh-TW" dirty="0">
                <a:latin typeface="+mn-lt"/>
              </a:rPr>
              <a:t>Guido van Rossum </a:t>
            </a:r>
            <a:r>
              <a:rPr lang="zh-TW" altLang="en-US" dirty="0">
                <a:latin typeface="+mn-lt"/>
              </a:rPr>
              <a:t>於 </a:t>
            </a:r>
            <a:r>
              <a:rPr lang="en-US" altLang="zh-TW" dirty="0">
                <a:latin typeface="+mn-lt"/>
              </a:rPr>
              <a:t>1980 </a:t>
            </a:r>
            <a:r>
              <a:rPr lang="zh-TW" altLang="en-US" dirty="0">
                <a:latin typeface="+mn-lt"/>
              </a:rPr>
              <a:t>年代</a:t>
            </a:r>
            <a:r>
              <a:rPr lang="zh-TW" altLang="en-US" dirty="0" smtClean="0">
                <a:latin typeface="+mn-lt"/>
              </a:rPr>
              <a:t>末所</a:t>
            </a:r>
            <a:r>
              <a:rPr lang="zh-TW" altLang="en-US" dirty="0">
                <a:latin typeface="+mn-lt"/>
              </a:rPr>
              <a:t>創造，設計重點強調要將程式碼變得簡潔易讀，便於學習和</a:t>
            </a:r>
            <a:r>
              <a:rPr lang="zh-TW" altLang="en-US" dirty="0" smtClean="0">
                <a:latin typeface="+mn-lt"/>
              </a:rPr>
              <a:t>理解 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亦擁有豐富的函數庫，如圖表化</a:t>
            </a:r>
            <a:r>
              <a:rPr lang="zh-TW" altLang="en-US" dirty="0" smtClean="0">
                <a:latin typeface="+mn-lt"/>
              </a:rPr>
              <a:t>工具。</a:t>
            </a:r>
            <a:endParaRPr lang="en-US" altLang="zh-TW" dirty="0" smtClean="0">
              <a:latin typeface="+mn-lt"/>
            </a:endParaRPr>
          </a:p>
          <a:p>
            <a:pPr algn="ctr"/>
            <a:r>
              <a:rPr lang="zh-TW" altLang="en-US" dirty="0">
                <a:latin typeface="+mn-lt"/>
              </a:rPr>
              <a:t>很多全球知名的公司例如 </a:t>
            </a:r>
            <a:r>
              <a:rPr lang="en-GB" dirty="0">
                <a:latin typeface="+mn-lt"/>
              </a:rPr>
              <a:t>Instagram </a:t>
            </a:r>
            <a:r>
              <a:rPr lang="zh-TW" altLang="en-US" dirty="0">
                <a:latin typeface="+mn-lt"/>
              </a:rPr>
              <a:t>及 </a:t>
            </a:r>
            <a:r>
              <a:rPr lang="en-GB" dirty="0">
                <a:latin typeface="+mn-lt"/>
              </a:rPr>
              <a:t>Spotify </a:t>
            </a:r>
            <a:r>
              <a:rPr lang="zh-TW" altLang="en-US" dirty="0">
                <a:latin typeface="+mn-lt"/>
              </a:rPr>
              <a:t>都有把 </a:t>
            </a:r>
            <a:r>
              <a:rPr lang="en-GB" dirty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應用於</a:t>
            </a:r>
            <a:r>
              <a:rPr lang="zh-TW" altLang="en-US" dirty="0">
                <a:latin typeface="+mn-lt"/>
              </a:rPr>
              <a:t>其</a:t>
            </a:r>
            <a:r>
              <a:rPr lang="zh-TW" altLang="en-US" dirty="0" smtClean="0">
                <a:latin typeface="+mn-lt"/>
              </a:rPr>
              <a:t>服務中。</a:t>
            </a:r>
            <a:endParaRPr lang="en-GB" dirty="0">
              <a:latin typeface="+mn-lt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3" r="639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3839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程式開發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在過去數</a:t>
            </a:r>
            <a:r>
              <a:rPr lang="zh-TW" altLang="en-US" dirty="0" smtClean="0">
                <a:latin typeface="+mn-lt"/>
              </a:rPr>
              <a:t>課，我們學習</a:t>
            </a:r>
            <a:r>
              <a:rPr lang="zh-TW" altLang="en-US" dirty="0">
                <a:latin typeface="+mn-lt"/>
              </a:rPr>
              <a:t>了運用偽代碼表達算法，但其實偽代碼並非</a:t>
            </a:r>
            <a:r>
              <a:rPr lang="zh-TW" altLang="en-US" dirty="0" smtClean="0">
                <a:latin typeface="+mn-lt"/>
              </a:rPr>
              <a:t>電腦</a:t>
            </a:r>
            <a:r>
              <a:rPr lang="zh-TW" altLang="en-US" dirty="0">
                <a:latin typeface="+mn-lt"/>
              </a:rPr>
              <a:t>能夠理解的</a:t>
            </a:r>
            <a:r>
              <a:rPr lang="zh-TW" altLang="en-US" dirty="0" smtClean="0">
                <a:latin typeface="+mn-lt"/>
              </a:rPr>
              <a:t>語言。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>
                <a:latin typeface="+mn-lt"/>
              </a:rPr>
              <a:t>從本課開始，我們將學習運用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編程</a:t>
            </a:r>
            <a:r>
              <a:rPr lang="zh-TW" altLang="en-US" dirty="0" smtClean="0">
                <a:latin typeface="+mn-lt"/>
              </a:rPr>
              <a:t>語言跟</a:t>
            </a:r>
            <a:r>
              <a:rPr lang="zh-TW" altLang="en-US" dirty="0">
                <a:latin typeface="+mn-lt"/>
              </a:rPr>
              <a:t>電腦溝通。</a:t>
            </a:r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5794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從偽代碼到編程語言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以下是計算正方形面積的算法，分別</a:t>
            </a:r>
            <a:r>
              <a:rPr lang="zh-TW" altLang="en-US" dirty="0" smtClean="0"/>
              <a:t>運用了不同編</a:t>
            </a:r>
            <a:r>
              <a:rPr lang="zh-TW" altLang="en-US" dirty="0"/>
              <a:t>程語言</a:t>
            </a:r>
            <a:r>
              <a:rPr lang="zh-TW" altLang="en-US" dirty="0" smtClean="0"/>
              <a:t>編寫。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619699"/>
              </p:ext>
            </p:extLst>
          </p:nvPr>
        </p:nvGraphicFramePr>
        <p:xfrm>
          <a:off x="838199" y="2618505"/>
          <a:ext cx="10583487" cy="3009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3190"/>
                <a:gridCol w="8620297"/>
              </a:tblGrid>
              <a:tr h="3009212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print("This is to find the area of a square!")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input("Please enter a side length for a square: 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float(length)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= length * length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print(area)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80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從偽代碼到編程語言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以下是計算正方形面積的算法，分別</a:t>
            </a:r>
            <a:r>
              <a:rPr lang="zh-TW" altLang="en-US" dirty="0" smtClean="0"/>
              <a:t>運用了不同編</a:t>
            </a:r>
            <a:r>
              <a:rPr lang="zh-TW" altLang="en-US" dirty="0"/>
              <a:t>程語言</a:t>
            </a:r>
            <a:r>
              <a:rPr lang="zh-TW" altLang="en-US" dirty="0" smtClean="0"/>
              <a:t>編寫。</a:t>
            </a:r>
            <a:endParaRPr lang="en-GB" dirty="0"/>
          </a:p>
        </p:txBody>
      </p:sp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516750"/>
              </p:ext>
            </p:extLst>
          </p:nvPr>
        </p:nvGraphicFramePr>
        <p:xfrm>
          <a:off x="838199" y="2510440"/>
          <a:ext cx="10583487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3190"/>
                <a:gridCol w="8620297"/>
              </a:tblGrid>
              <a:tr h="1845427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C++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/>
                      </a:r>
                      <a:b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#include &lt;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iostream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using namespace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std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b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main() {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float area, length;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"This is to find the area of a square!" &lt;&lt;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"Please enter a side length for a square: ";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cin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&gt;&gt; length;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area = length * length;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area;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3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整合開發環境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我們可以運用</a:t>
            </a:r>
            <a:r>
              <a:rPr lang="zh-TW" altLang="en-US" dirty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整合開發環境</a:t>
            </a:r>
            <a:r>
              <a:rPr lang="zh-TW" altLang="en-US" b="1" dirty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（</a:t>
            </a:r>
            <a:r>
              <a:rPr lang="en-GB" b="1" dirty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Integrated </a:t>
            </a:r>
            <a:r>
              <a:rPr lang="en-GB" b="1" dirty="0" err="1" smtClean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DevelopmentEnvironment</a:t>
            </a:r>
            <a:r>
              <a:rPr lang="zh-TW" altLang="en-US" b="1" dirty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，</a:t>
            </a:r>
            <a:r>
              <a:rPr lang="en-GB" b="1" dirty="0" smtClean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IDE）</a:t>
            </a:r>
            <a:r>
              <a:rPr lang="zh-TW" altLang="en-US" dirty="0" smtClean="0">
                <a:latin typeface="+mn-lt"/>
              </a:rPr>
              <a:t>開始編寫 </a:t>
            </a:r>
            <a:r>
              <a:rPr lang="en-GB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IDE </a:t>
            </a:r>
            <a:r>
              <a:rPr lang="zh-TW" altLang="en-US" dirty="0">
                <a:latin typeface="+mn-lt"/>
              </a:rPr>
              <a:t>是一種應用程式，</a:t>
            </a:r>
            <a:r>
              <a:rPr lang="zh-TW" altLang="en-US" dirty="0" smtClean="0">
                <a:latin typeface="+mn-lt"/>
              </a:rPr>
              <a:t>通常附有</a:t>
            </a:r>
            <a:r>
              <a:rPr lang="zh-TW" altLang="en-US" dirty="0">
                <a:latin typeface="+mn-lt"/>
              </a:rPr>
              <a:t>程式碼編輯器，並提供不少與編程相關的功能。</a:t>
            </a:r>
            <a:endParaRPr lang="en-GB" dirty="0">
              <a:latin typeface="+mn-lt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420" y="3679952"/>
            <a:ext cx="2891380" cy="271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8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 </a:t>
            </a:r>
            <a:r>
              <a:rPr lang="en-GB" dirty="0"/>
              <a:t>Hello World! </a:t>
            </a:r>
            <a:r>
              <a:rPr lang="zh-TW" altLang="en-US" dirty="0"/>
              <a:t>開始理解 </a:t>
            </a:r>
            <a:r>
              <a:rPr lang="en-GB" dirty="0"/>
              <a:t>Python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「Hello World」</a:t>
            </a:r>
            <a:r>
              <a:rPr lang="zh-TW" altLang="en-US" dirty="0">
                <a:latin typeface="+mn-lt"/>
              </a:rPr>
              <a:t>是一個最基本、最簡單的入門</a:t>
            </a:r>
            <a:r>
              <a:rPr lang="zh-TW" altLang="en-US" dirty="0" smtClean="0">
                <a:latin typeface="+mn-lt"/>
              </a:rPr>
              <a:t>程式。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>
                <a:latin typeface="+mn-lt"/>
              </a:rPr>
              <a:t>其唯一目的</a:t>
            </a:r>
            <a:r>
              <a:rPr lang="zh-TW" altLang="en-US" dirty="0" smtClean="0">
                <a:latin typeface="+mn-lt"/>
              </a:rPr>
              <a:t>是顯示</a:t>
            </a:r>
            <a:r>
              <a:rPr lang="zh-TW" altLang="en-US" dirty="0">
                <a:latin typeface="+mn-lt"/>
              </a:rPr>
              <a:t>文字「</a:t>
            </a:r>
            <a:r>
              <a:rPr lang="en-GB" dirty="0">
                <a:latin typeface="+mn-lt"/>
              </a:rPr>
              <a:t>Hello World!」。</a:t>
            </a: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07" y="3414630"/>
            <a:ext cx="5163064" cy="27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0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14361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9" y="2501465"/>
            <a:ext cx="6799216" cy="316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07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600031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Python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是區分大小寫的（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case sensitive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），所以「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Print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」和「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print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」於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Python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中並不相通。</a:t>
                      </a:r>
                    </a:p>
                    <a:p>
                      <a:pPr algn="l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注意：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print()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只會將引號中的文字列印出來，當中的內容是什麼並不影響程式運行。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9" y="2501465"/>
            <a:ext cx="6799216" cy="316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68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39096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53" y="2577418"/>
            <a:ext cx="6786510" cy="31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7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171704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缺少括號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53" y="2577418"/>
            <a:ext cx="6786510" cy="31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78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900688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79" y="2638971"/>
            <a:ext cx="6913403" cy="31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47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43437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缺少引號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79" y="2638971"/>
            <a:ext cx="6913403" cy="31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787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610590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79" y="2438471"/>
            <a:ext cx="6876524" cy="338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51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143737"/>
              </p:ext>
            </p:extLst>
          </p:nvPr>
        </p:nvGraphicFramePr>
        <p:xfrm>
          <a:off x="917979" y="1903615"/>
          <a:ext cx="10370704" cy="4015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3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括號必須成對。</a:t>
                      </a:r>
                    </a:p>
                    <a:p>
                      <a:pPr algn="ctr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注意：引號也必須成對。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79" y="2438471"/>
            <a:ext cx="6876524" cy="338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84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基礎編程概念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不同編程語言都擁有其獨特的「關鍵字」；但大部分編程語言都使用相近的概念。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3221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在大部分的編程語言裏，運用任何變量前，都必先</a:t>
            </a:r>
            <a:r>
              <a:rPr lang="zh-TW" altLang="en-US" dirty="0" smtClean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宣告</a:t>
            </a:r>
            <a:r>
              <a:rPr lang="zh-TW" altLang="en-US" dirty="0" smtClean="0">
                <a:latin typeface="+mn-lt"/>
              </a:rPr>
              <a:t>變</a:t>
            </a:r>
            <a:r>
              <a:rPr lang="zh-TW" altLang="en-US" dirty="0">
                <a:latin typeface="+mn-lt"/>
              </a:rPr>
              <a:t>量的名稱和</a:t>
            </a:r>
            <a:r>
              <a:rPr lang="zh-TW" altLang="en-US" dirty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數據類型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>
                <a:latin typeface="+mn-lt"/>
              </a:rPr>
              <a:t>宣告變量的名稱後，該名稱會成為它的</a:t>
            </a:r>
            <a:r>
              <a:rPr lang="zh-TW" altLang="en-US" dirty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識別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符</a:t>
            </a:r>
            <a:r>
              <a:rPr lang="zh-TW" altLang="en-US" dirty="0" smtClean="0">
                <a:latin typeface="+mn-lt"/>
              </a:rPr>
              <a:t>。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中的常見數據類型包括：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250773"/>
              </p:ext>
            </p:extLst>
          </p:nvPr>
        </p:nvGraphicFramePr>
        <p:xfrm>
          <a:off x="795849" y="3357063"/>
          <a:ext cx="10557951" cy="26334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0162"/>
                <a:gridCol w="4638472"/>
                <a:gridCol w="3519317"/>
              </a:tblGrid>
              <a:tr h="266007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數據類型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數據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例子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整數（</a:t>
                      </a:r>
                      <a:r>
                        <a:rPr lang="en-HK" dirty="0" err="1" smtClean="0">
                          <a:latin typeface="+mn-lt"/>
                          <a:ea typeface="Noto Sans CJK TC Light" panose="020B0300000000000000" pitchFamily="34" charset="-128"/>
                        </a:rPr>
                        <a:t>int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整數，包括正負數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288, -101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浮點數（</a:t>
                      </a:r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float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整數及小數，包括正負數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56.5, -30.0, -0.382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布爾（</a:t>
                      </a:r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bool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只可能是「</a:t>
                      </a:r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」或「</a:t>
                      </a:r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(True) 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(False)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字串（</a:t>
                      </a:r>
                      <a:r>
                        <a:rPr lang="en-HK" dirty="0" err="1" smtClean="0">
                          <a:latin typeface="+mn-lt"/>
                          <a:ea typeface="Noto Sans CJK TC Light" panose="020B0300000000000000" pitchFamily="34" charset="-128"/>
                        </a:rPr>
                        <a:t>str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一串字符，可以包括任何字母、數字和一些特別符號。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", "P%ssword123","1", "k"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63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運用「 </a:t>
            </a:r>
            <a:r>
              <a:rPr lang="en-US" altLang="zh-TW" dirty="0">
                <a:latin typeface="+mn-lt"/>
              </a:rPr>
              <a:t>= </a:t>
            </a:r>
            <a:r>
              <a:rPr lang="zh-TW" altLang="en-US" dirty="0">
                <a:latin typeface="+mn-lt"/>
              </a:rPr>
              <a:t>」作為</a:t>
            </a:r>
            <a:r>
              <a:rPr lang="zh-TW" altLang="en-US" dirty="0" smtClean="0">
                <a:latin typeface="+mn-lt"/>
              </a:rPr>
              <a:t>賦值</a:t>
            </a:r>
            <a:r>
              <a:rPr lang="zh-TW" altLang="en-US" dirty="0">
                <a:latin typeface="+mn-lt"/>
              </a:rPr>
              <a:t>運算符來將數據放入指定變</a:t>
            </a:r>
            <a:r>
              <a:rPr lang="zh-TW" altLang="en-US" dirty="0" smtClean="0">
                <a:latin typeface="+mn-lt"/>
              </a:rPr>
              <a:t>量。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932017"/>
              </p:ext>
            </p:extLst>
          </p:nvPr>
        </p:nvGraphicFramePr>
        <p:xfrm>
          <a:off x="838800" y="2202872"/>
          <a:ext cx="10557951" cy="214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0162"/>
                <a:gridCol w="4638472"/>
                <a:gridCol w="3519317"/>
              </a:tblGrid>
              <a:tr h="25769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length</a:t>
                      </a:r>
                      <a:r>
                        <a:rPr lang="en-HK" dirty="0" smtClean="0"/>
                        <a:t>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12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12 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print(type(length))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length</a:t>
                      </a:r>
                      <a:r>
                        <a:rPr lang="en-HK" dirty="0" smtClean="0"/>
                        <a:t>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12.0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12.0 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print(type(length))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‘float’&gt;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501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還</a:t>
            </a:r>
            <a:r>
              <a:rPr lang="zh-TW" altLang="en-US" dirty="0">
                <a:latin typeface="+mn-lt"/>
              </a:rPr>
              <a:t>容許變量隨時轉換成不同的數據類型。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228702"/>
              </p:ext>
            </p:extLst>
          </p:nvPr>
        </p:nvGraphicFramePr>
        <p:xfrm>
          <a:off x="963489" y="2294314"/>
          <a:ext cx="8546270" cy="39734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3135"/>
                <a:gridCol w="427313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360772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12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print(length)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 (type(length))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12.0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print(length)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 (type(length))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"The length is twelve"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print(length)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 (type(length))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algn="l" defTabSz="914400" rtl="0" eaLnBrk="1" latinLnBrk="0" hangingPunct="1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sz="1800" kern="1200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’&gt;</a:t>
                      </a:r>
                    </a:p>
                    <a:p>
                      <a:pPr marL="0" algn="l" defTabSz="914400" rtl="0" eaLnBrk="1" latinLnBrk="0" hangingPunct="1"/>
                      <a:endParaRPr lang="en-HK" sz="1800" kern="12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algn="l" defTabSz="914400" rtl="0" eaLnBrk="1" latinLnBrk="0" hangingPunct="1"/>
                      <a:endParaRPr lang="en-HK" sz="1800" kern="12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12.0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&lt;class ‘float’&gt;</a:t>
                      </a:r>
                    </a:p>
                    <a:p>
                      <a:pPr marL="0" algn="l" defTabSz="914400" rtl="0" eaLnBrk="1" latinLnBrk="0" hangingPunct="1"/>
                      <a:endParaRPr lang="en-HK" sz="1800" kern="12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algn="l" defTabSz="914400" rtl="0" eaLnBrk="1" latinLnBrk="0" hangingPunct="1"/>
                      <a:endParaRPr lang="en-HK" sz="1800" kern="12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The length is twelve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sz="1800" kern="1200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’&gt;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965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可以使用以下內置函數改變變量所儲存的</a:t>
            </a:r>
            <a:r>
              <a:rPr lang="zh-TW" altLang="en-US" dirty="0" smtClean="0">
                <a:latin typeface="+mn-lt"/>
              </a:rPr>
              <a:t>值之數據類型。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617739"/>
              </p:ext>
            </p:extLst>
          </p:nvPr>
        </p:nvGraphicFramePr>
        <p:xfrm>
          <a:off x="838799" y="2443942"/>
          <a:ext cx="10515000" cy="36825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7448"/>
                <a:gridCol w="3532909"/>
                <a:gridCol w="3005893"/>
                <a:gridCol w="2628750"/>
              </a:tblGrid>
              <a:tr h="3075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函數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3316777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將輸入參數轉換成整數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（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int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）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（若輸入參數是浮點數，會將浮點數向下捨入至整數）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"12" </a:t>
                      </a:r>
                      <a:b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print(length) print(type(length)) 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(length) print(length) print(type(length))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 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798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791771"/>
              </p:ext>
            </p:extLst>
          </p:nvPr>
        </p:nvGraphicFramePr>
        <p:xfrm>
          <a:off x="838800" y="1909370"/>
          <a:ext cx="10515000" cy="36825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7448"/>
                <a:gridCol w="3532909"/>
                <a:gridCol w="3258589"/>
                <a:gridCol w="2376054"/>
              </a:tblGrid>
              <a:tr h="3075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函數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3316777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float()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Convert the input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parameter to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12 </a:t>
                      </a:r>
                      <a:b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print(length) print(type(length)) 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float(length) print(length) print(type(length))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‘float’&gt; 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252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68512"/>
              </p:ext>
            </p:extLst>
          </p:nvPr>
        </p:nvGraphicFramePr>
        <p:xfrm>
          <a:off x="838800" y="1820548"/>
          <a:ext cx="10515000" cy="4098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7448"/>
                <a:gridCol w="3532909"/>
                <a:gridCol w="3258589"/>
                <a:gridCol w="2376054"/>
              </a:tblGrid>
              <a:tr h="40704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函數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3691132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Convert the input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parameter to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12.1 </a:t>
                      </a:r>
                      <a:b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print(length) print(type(length)) 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(length) print(length) print(type(length))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12.1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‘float’&gt;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12.1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 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795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86472"/>
              </p:ext>
            </p:extLst>
          </p:nvPr>
        </p:nvGraphicFramePr>
        <p:xfrm>
          <a:off x="917979" y="1903615"/>
          <a:ext cx="10370704" cy="4330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8483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10" y="2450308"/>
            <a:ext cx="5390583" cy="37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80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97463"/>
              </p:ext>
            </p:extLst>
          </p:nvPr>
        </p:nvGraphicFramePr>
        <p:xfrm>
          <a:off x="917979" y="1903615"/>
          <a:ext cx="10370704" cy="4330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8483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字串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length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是帶有小數的數字，不能直接轉換成整數。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若須要將字串「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"12.1"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」轉換成整數，可先轉換成浮點數，再轉換成整數：</a:t>
                      </a:r>
                      <a:endParaRPr lang="en-US" altLang="zh-TW" sz="1800" b="0" i="0" u="none" strike="noStrike" kern="1200" baseline="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TW" altLang="en-US" sz="1800" b="0" i="0" u="none" strike="noStrike" kern="1200" baseline="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length = "12.1"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length = float(length)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length =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(length)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print(length)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print(type(length))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10" y="2450308"/>
            <a:ext cx="5390583" cy="37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89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/>
          </p:nvPr>
        </p:nvGraphicFramePr>
        <p:xfrm>
          <a:off x="917979" y="1903615"/>
          <a:ext cx="10370704" cy="4330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8483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42" y="2591654"/>
            <a:ext cx="6813034" cy="322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54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+mn-lt"/>
              </a:rPr>
              <a:t>除錯（</a:t>
            </a:r>
            <a:r>
              <a:rPr lang="en-HK" b="1" dirty="0">
                <a:solidFill>
                  <a:srgbClr val="84AD40"/>
                </a:solidFill>
                <a:latin typeface="+mn-lt"/>
              </a:rPr>
              <a:t>Hello World!）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516676"/>
              </p:ext>
            </p:extLst>
          </p:nvPr>
        </p:nvGraphicFramePr>
        <p:xfrm>
          <a:off x="917979" y="1903615"/>
          <a:ext cx="10370704" cy="4330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0799"/>
                <a:gridCol w="3399905"/>
              </a:tblGrid>
              <a:tr h="482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8483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字串內的文字不能轉換成數字。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42" y="2591654"/>
            <a:ext cx="6813034" cy="322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57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雖然變量的數據是可被修改的，但某些值是固定的，</a:t>
            </a:r>
            <a:r>
              <a:rPr lang="zh-TW" altLang="en-US" dirty="0" smtClean="0">
                <a:latin typeface="+mn-lt"/>
              </a:rPr>
              <a:t>例如 </a:t>
            </a:r>
            <a:r>
              <a:rPr lang="en-US" altLang="zh-TW" dirty="0" smtClean="0">
                <a:latin typeface="+mn-lt"/>
              </a:rPr>
              <a:t>π </a:t>
            </a:r>
            <a:r>
              <a:rPr lang="en-US" altLang="zh-TW" dirty="0">
                <a:latin typeface="+mn-lt"/>
              </a:rPr>
              <a:t>= 3.14159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>
                <a:latin typeface="+mn-lt"/>
              </a:rPr>
              <a:t>這些擁有固定數據的變量稱為</a:t>
            </a:r>
            <a:r>
              <a:rPr lang="zh-TW" altLang="en-US" dirty="0" smtClean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常數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097" y="3781529"/>
            <a:ext cx="3439005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60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運算算式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除了將一個指定的值放入變量外</a:t>
            </a:r>
            <a:r>
              <a:rPr lang="zh-TW" altLang="en-US" dirty="0" smtClean="0"/>
              <a:t>，我們還</a:t>
            </a:r>
            <a:r>
              <a:rPr lang="zh-TW" altLang="en-US" dirty="0"/>
              <a:t>可以將運算算式的結果儲存</a:t>
            </a:r>
            <a:r>
              <a:rPr lang="zh-TW" altLang="en-US" dirty="0" smtClean="0"/>
              <a:t>於變量中。</a:t>
            </a:r>
            <a:endParaRPr lang="en-GB" dirty="0"/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28145"/>
              </p:ext>
            </p:extLst>
          </p:nvPr>
        </p:nvGraphicFramePr>
        <p:xfrm>
          <a:off x="2955366" y="2884516"/>
          <a:ext cx="5490366" cy="12302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5183"/>
                <a:gridCol w="2745183"/>
              </a:tblGrid>
              <a:tr h="32419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86452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變量</a:t>
                      </a:r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算式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變量</a:t>
                      </a:r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=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算式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193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運算算式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運算算式由數據（數字、變量或常數）及</a:t>
            </a:r>
            <a:r>
              <a:rPr lang="zh-TW" altLang="en-US" dirty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數學運算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符</a:t>
            </a:r>
            <a:r>
              <a:rPr lang="zh-TW" altLang="en-US" dirty="0" smtClean="0"/>
              <a:t>組成。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25" y="3068137"/>
            <a:ext cx="40195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0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運算算式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的數學運算符包括</a:t>
            </a:r>
            <a:r>
              <a:rPr lang="zh-TW" altLang="en-US" dirty="0">
                <a:latin typeface="+mn-lt"/>
              </a:rPr>
              <a:t>：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57799"/>
              </p:ext>
            </p:extLst>
          </p:nvPr>
        </p:nvGraphicFramePr>
        <p:xfrm>
          <a:off x="763985" y="2128711"/>
          <a:ext cx="10790705" cy="4231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8141"/>
                <a:gridCol w="2158141"/>
                <a:gridCol w="2158141"/>
                <a:gridCol w="2158141"/>
                <a:gridCol w="2158141"/>
              </a:tblGrid>
              <a:tr h="55821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算法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偽代碼中的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數學運算符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數學運算符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例句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變量 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y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51312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加法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+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1 + 2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12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減法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5 – 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12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乘法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HK" dirty="0" smtClean="0"/>
                        <a:t> </a:t>
                      </a:r>
                      <a:r>
                        <a:rPr lang="zh-TW" altLang="en-US" dirty="0" smtClean="0"/>
                        <a:t>或</a:t>
                      </a:r>
                      <a:r>
                        <a:rPr lang="en-HK" dirty="0" smtClean="0"/>
                        <a:t>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×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2 * 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12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除法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r>
                        <a:rPr lang="en-HK" dirty="0" smtClean="0"/>
                        <a:t>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÷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10 / 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3.33333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12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整數除法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10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// 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12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模數（</a:t>
                      </a:r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Modulus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10 % 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12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指數（</a:t>
                      </a:r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Exponent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^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**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2 ** 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983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 smtClean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除錯（變量）</a:t>
            </a:r>
            <a:endParaRPr lang="en-HK" b="1" dirty="0">
              <a:solidFill>
                <a:srgbClr val="84AD40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17 </a:t>
            </a:r>
            <a:r>
              <a:rPr lang="zh-TW" altLang="en-US" dirty="0" smtClean="0">
                <a:latin typeface="+mn-lt"/>
              </a:rPr>
              <a:t>頁的活動 </a:t>
            </a:r>
            <a:r>
              <a:rPr lang="en-US" altLang="zh-TW" dirty="0" smtClean="0">
                <a:latin typeface="+mn-lt"/>
              </a:rPr>
              <a:t>4.3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12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702647"/>
              </p:ext>
            </p:extLst>
          </p:nvPr>
        </p:nvGraphicFramePr>
        <p:xfrm>
          <a:off x="917979" y="2344189"/>
          <a:ext cx="10370704" cy="38571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9323"/>
                <a:gridCol w="4821381"/>
              </a:tblGrid>
              <a:tr h="384158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157650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“code” = 404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print(“code”)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650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SUBJECT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“ICT”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print(subject)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650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A + 1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print(B)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051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 smtClean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除錯（變量）</a:t>
            </a:r>
            <a:endParaRPr lang="en-HK" b="1" dirty="0">
              <a:solidFill>
                <a:srgbClr val="84AD40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17 </a:t>
            </a:r>
            <a:r>
              <a:rPr lang="zh-TW" altLang="en-US" dirty="0" smtClean="0">
                <a:latin typeface="+mn-lt"/>
              </a:rPr>
              <a:t>頁的活動 </a:t>
            </a:r>
            <a:r>
              <a:rPr lang="en-US" altLang="zh-TW" dirty="0" smtClean="0">
                <a:latin typeface="+mn-lt"/>
              </a:rPr>
              <a:t>4.3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12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154650"/>
              </p:ext>
            </p:extLst>
          </p:nvPr>
        </p:nvGraphicFramePr>
        <p:xfrm>
          <a:off x="917979" y="2344189"/>
          <a:ext cx="10370704" cy="38571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9323"/>
                <a:gridCol w="4821381"/>
              </a:tblGrid>
              <a:tr h="384158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157650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“code” = 404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print(“code”)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變量名稱不包括雙引號。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650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SUBJECT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“ICT”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print(subject)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Python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區分大小寫（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case-sensitive），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所以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SUBJECT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和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subject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是兩個不同的變量。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650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A + 1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print(B)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使用了未被宣告的變量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929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592383"/>
              </p:ext>
            </p:extLst>
          </p:nvPr>
        </p:nvGraphicFramePr>
        <p:xfrm>
          <a:off x="983096" y="1839030"/>
          <a:ext cx="10370704" cy="36454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9323"/>
                <a:gridCol w="4821381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9842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“5**”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print(import)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9842">
                <a:tc>
                  <a:txBody>
                    <a:bodyPr/>
                    <a:lstStyle/>
                    <a:p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fullname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“Peter Chan”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nickname = </a:t>
                      </a:r>
                      <a:r>
                        <a:rPr lang="en-HK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fullname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– “Chan”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81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164041"/>
              </p:ext>
            </p:extLst>
          </p:nvPr>
        </p:nvGraphicFramePr>
        <p:xfrm>
          <a:off x="983096" y="1839030"/>
          <a:ext cx="10370704" cy="36454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9323"/>
                <a:gridCol w="4821381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9842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“5**”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print(import)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」是關鍵字，不能作為變量的名稱。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9842">
                <a:tc>
                  <a:txBody>
                    <a:bodyPr/>
                    <a:lstStyle/>
                    <a:p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fullname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“Peter Chan”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nickname = </a:t>
                      </a:r>
                      <a:r>
                        <a:rPr lang="en-HK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fullname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– “Chan”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數學運算符不適用於字串數據類型。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341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試把以下偽代碼編寫成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程式碼，並寫下程式的輸出</a:t>
            </a:r>
            <a:r>
              <a:rPr lang="zh-TW" altLang="en-US" dirty="0" smtClean="0">
                <a:latin typeface="+mn-lt"/>
              </a:rPr>
              <a:t>：</a:t>
            </a:r>
            <a:endParaRPr lang="en-US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142669"/>
              </p:ext>
            </p:extLst>
          </p:nvPr>
        </p:nvGraphicFramePr>
        <p:xfrm>
          <a:off x="951345" y="2229088"/>
          <a:ext cx="10402455" cy="36710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9826"/>
                <a:gridCol w="2618509"/>
                <a:gridCol w="2484120"/>
              </a:tblGrid>
              <a:tr h="34559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52642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+ B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C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2642">
                <a:tc>
                  <a:txBody>
                    <a:bodyPr/>
                    <a:lstStyle/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HK" dirty="0" smtClean="0"/>
                        <a:t>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3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 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A + 6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C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 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A × B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Output C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969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試把以下偽代碼編寫成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程式碼，並寫下程式的輸出</a:t>
            </a:r>
            <a:r>
              <a:rPr lang="zh-TW" altLang="en-US" dirty="0" smtClean="0">
                <a:latin typeface="+mn-lt"/>
              </a:rPr>
              <a:t>：</a:t>
            </a:r>
            <a:endParaRPr lang="en-US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665271"/>
              </p:ext>
            </p:extLst>
          </p:nvPr>
        </p:nvGraphicFramePr>
        <p:xfrm>
          <a:off x="951345" y="2229088"/>
          <a:ext cx="10402455" cy="36710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9826"/>
                <a:gridCol w="2618509"/>
                <a:gridCol w="2484120"/>
              </a:tblGrid>
              <a:tr h="34559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52642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+ B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C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5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9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A + B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print(C)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2642">
                <a:tc>
                  <a:txBody>
                    <a:bodyPr/>
                    <a:lstStyle/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HK" dirty="0" smtClean="0"/>
                        <a:t>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3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 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A + 6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C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 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A × B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Output C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3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A + 6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A * B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 - B)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94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4.4</a:t>
            </a:r>
            <a:endParaRPr lang="en-GB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577408"/>
              </p:ext>
            </p:extLst>
          </p:nvPr>
        </p:nvGraphicFramePr>
        <p:xfrm>
          <a:off x="951345" y="1629294"/>
          <a:ext cx="10402455" cy="4354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9826"/>
                <a:gridCol w="2618509"/>
                <a:gridCol w="2484120"/>
              </a:tblGrid>
              <a:tr h="17456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994619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3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2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2 * (A + B)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C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cube</a:t>
                      </a:r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 of B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C - B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4619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9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 x 5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the remainder of (A ÷ B)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the integral part of(A ÷ B)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32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4.4</a:t>
            </a:r>
            <a:endParaRPr lang="en-GB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875903"/>
              </p:ext>
            </p:extLst>
          </p:nvPr>
        </p:nvGraphicFramePr>
        <p:xfrm>
          <a:off x="951345" y="1629294"/>
          <a:ext cx="10402455" cy="4354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9826"/>
                <a:gridCol w="2618509"/>
                <a:gridCol w="2484120"/>
              </a:tblGrid>
              <a:tr h="17456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994619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3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2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2 * (A + B)</a:t>
                      </a:r>
                    </a:p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C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cube</a:t>
                      </a:r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 of B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C - B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3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2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2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(A + B)</a:t>
                      </a:r>
                    </a:p>
                    <a:p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B ** 3</a:t>
                      </a:r>
                      <a:endParaRPr lang="en-HK" dirty="0" smtClean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 - B)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990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4619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9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 x 5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the remainder of (A ÷ B)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the integral part of(A ÷ B)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9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A *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</a:t>
                      </a:r>
                      <a:endParaRPr lang="en-HK" dirty="0" smtClean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 % B)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// B</a:t>
                      </a:r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617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zh-TW" altLang="en-US" dirty="0">
                <a:latin typeface="+mn-lt"/>
              </a:rPr>
              <a:t>試空運行以下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程式碼，並寫下程式的輸出：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4.4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93794"/>
              </p:ext>
            </p:extLst>
          </p:nvPr>
        </p:nvGraphicFramePr>
        <p:xfrm>
          <a:off x="951344" y="2327562"/>
          <a:ext cx="10295775" cy="30258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4641"/>
                <a:gridCol w="4921134"/>
              </a:tblGrid>
              <a:tr h="345593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660074">
                <a:tc>
                  <a:txBody>
                    <a:bodyPr/>
                    <a:lstStyle/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= 12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= a + 10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 = b % 10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= a**c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print(a//b)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print(type(a//b))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256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zh-TW" altLang="en-US" dirty="0">
                <a:latin typeface="+mn-lt"/>
              </a:rPr>
              <a:t>試空運行以下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程式碼，並寫下程式的輸出：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4.4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055832"/>
              </p:ext>
            </p:extLst>
          </p:nvPr>
        </p:nvGraphicFramePr>
        <p:xfrm>
          <a:off x="951344" y="2327562"/>
          <a:ext cx="10295775" cy="30258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4641"/>
                <a:gridCol w="4921134"/>
              </a:tblGrid>
              <a:tr h="345593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660074">
                <a:tc>
                  <a:txBody>
                    <a:bodyPr/>
                    <a:lstStyle/>
                    <a:p>
                      <a:r>
                        <a:rPr lang="en-HK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= 12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= a + 10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 = b % 10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= a**c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print(a//b)</a:t>
                      </a:r>
                    </a:p>
                    <a:p>
                      <a:r>
                        <a:rPr lang="en-HK" sz="1800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print(type(a//b))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algn="l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‘</a:t>
                      </a:r>
                      <a:r>
                        <a:rPr lang="en-HK" baseline="0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385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20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4.1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(a)</a:t>
            </a:r>
          </a:p>
          <a:p>
            <a:endParaRPr lang="en-HK" dirty="0">
              <a:latin typeface="+mn-lt"/>
            </a:endParaRPr>
          </a:p>
          <a:p>
            <a:endParaRPr lang="en-HK" dirty="0">
              <a:latin typeface="+mn-lt"/>
            </a:endParaRPr>
          </a:p>
          <a:p>
            <a:endParaRPr lang="en-HK" dirty="0">
              <a:latin typeface="+mn-lt"/>
            </a:endParaRPr>
          </a:p>
          <a:p>
            <a:pPr lvl="1"/>
            <a:r>
              <a:rPr lang="en-HK" dirty="0">
                <a:latin typeface="+mn-lt"/>
              </a:rPr>
              <a:t>(b)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67439"/>
              </p:ext>
            </p:extLst>
          </p:nvPr>
        </p:nvGraphicFramePr>
        <p:xfrm>
          <a:off x="1872349" y="1938371"/>
          <a:ext cx="7291048" cy="16280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92131"/>
                <a:gridCol w="3798917"/>
              </a:tblGrid>
              <a:tr h="33251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126224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* width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area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20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= 15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=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* width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print(area)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88527"/>
              </p:ext>
            </p:extLst>
          </p:nvPr>
        </p:nvGraphicFramePr>
        <p:xfrm>
          <a:off x="1872349" y="3918063"/>
          <a:ext cx="9383084" cy="20338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9644"/>
                <a:gridCol w="4663440"/>
              </a:tblGrid>
              <a:tr h="33251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166809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perimeter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(length + width) * 2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perimeter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35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=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perimeter =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(length + width) * 2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perimeter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02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20 </a:t>
            </a:r>
            <a:r>
              <a:rPr lang="zh-TW" altLang="en-US" dirty="0" smtClean="0">
                <a:latin typeface="+mn-lt"/>
              </a:rPr>
              <a:t>頁的測試站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4.1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c)</a:t>
            </a:r>
          </a:p>
          <a:p>
            <a:endParaRPr lang="en-HK" dirty="0">
              <a:latin typeface="+mn-lt"/>
            </a:endParaRPr>
          </a:p>
          <a:p>
            <a:endParaRPr lang="en-HK" dirty="0">
              <a:latin typeface="+mn-lt"/>
            </a:endParaRPr>
          </a:p>
          <a:p>
            <a:endParaRPr lang="en-HK" dirty="0">
              <a:latin typeface="+mn-lt"/>
            </a:endParaRPr>
          </a:p>
          <a:p>
            <a:pPr lvl="1"/>
            <a:r>
              <a:rPr lang="en-HK" dirty="0">
                <a:latin typeface="+mn-lt"/>
              </a:rPr>
              <a:t>(d)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GB" dirty="0"/>
          </a:p>
        </p:txBody>
      </p:sp>
      <p:graphicFrame>
        <p:nvGraphicFramePr>
          <p:cNvPr id="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205421"/>
              </p:ext>
            </p:extLst>
          </p:nvPr>
        </p:nvGraphicFramePr>
        <p:xfrm>
          <a:off x="1869578" y="1978428"/>
          <a:ext cx="7291048" cy="16280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92131"/>
                <a:gridCol w="3798917"/>
              </a:tblGrid>
              <a:tr h="33251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126224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3.14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PI * r * r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area</a:t>
                      </a:r>
                      <a:endParaRPr lang="en-US" sz="1800" kern="12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 = 3.14</a:t>
                      </a:r>
                    </a:p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 = </a:t>
                      </a:r>
                      <a:r>
                        <a:rPr lang="pt-BR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= </a:t>
                      </a:r>
                      <a:r>
                        <a:rPr lang="pt-BR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PI * r * r</a:t>
                      </a:r>
                    </a:p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 </a:t>
                      </a:r>
                      <a:r>
                        <a:rPr lang="pt-BR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705441"/>
              </p:ext>
            </p:extLst>
          </p:nvPr>
        </p:nvGraphicFramePr>
        <p:xfrm>
          <a:off x="1872348" y="3967941"/>
          <a:ext cx="9233455" cy="2108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2469"/>
                <a:gridCol w="4810986"/>
              </a:tblGrid>
              <a:tr h="33251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1742903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13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26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((a + b) * h) / 2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area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13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26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 = 5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= ((a + b) * h) / 2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print(area)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05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輸出及輸入語句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中，</a:t>
            </a:r>
            <a:r>
              <a:rPr lang="en-US" altLang="zh-TW" dirty="0">
                <a:latin typeface="+mn-lt"/>
              </a:rPr>
              <a:t>print() </a:t>
            </a:r>
            <a:r>
              <a:rPr lang="zh-TW" altLang="en-US" dirty="0">
                <a:latin typeface="+mn-lt"/>
              </a:rPr>
              <a:t>函數把</a:t>
            </a:r>
            <a:r>
              <a:rPr lang="zh-TW" altLang="en-US" dirty="0" smtClean="0">
                <a:latin typeface="+mn-lt"/>
              </a:rPr>
              <a:t>括號中的</a:t>
            </a:r>
            <a:r>
              <a:rPr lang="zh-TW" altLang="en-US" dirty="0">
                <a:latin typeface="+mn-lt"/>
              </a:rPr>
              <a:t>內容列印出來。列印的內容可以是字串、變量或表示式：</a:t>
            </a:r>
            <a:endParaRPr lang="en-GB" dirty="0">
              <a:latin typeface="+mn-lt"/>
            </a:endParaRPr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37143"/>
              </p:ext>
            </p:extLst>
          </p:nvPr>
        </p:nvGraphicFramePr>
        <p:xfrm>
          <a:off x="838800" y="2350935"/>
          <a:ext cx="10341820" cy="3663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6582"/>
                <a:gridCol w="3483033"/>
                <a:gridCol w="2576750"/>
                <a:gridCol w="2585455"/>
              </a:tblGrid>
              <a:tr h="40973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輸入參數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1032747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顯示引號內的所有字符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print(“Text”)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747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變量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將變量的值列印出來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print(length)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747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表示式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將輸入參數順序列印出來，以「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,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」分隔各種不同類型的數據或算式，在列印時會自動加入空白格。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"Sam"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print("Hi", name)</a:t>
                      </a:r>
                    </a:p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 Sam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07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22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23 </a:t>
            </a:r>
            <a:r>
              <a:rPr lang="zh-TW" altLang="en-US" dirty="0" smtClean="0">
                <a:latin typeface="+mn-lt"/>
              </a:rPr>
              <a:t>頁的實驗站 </a:t>
            </a:r>
            <a:r>
              <a:rPr lang="en-US" altLang="zh-TW" dirty="0" smtClean="0">
                <a:latin typeface="+mn-lt"/>
              </a:rPr>
              <a:t>4.2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714527"/>
              </p:ext>
            </p:extLst>
          </p:nvPr>
        </p:nvGraphicFramePr>
        <p:xfrm>
          <a:off x="957948" y="2105890"/>
          <a:ext cx="10322423" cy="3851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2234"/>
                <a:gridCol w="4630189"/>
              </a:tblGrid>
              <a:tr h="33251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742903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"David"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89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print("Hi", name)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print("Your mark is", mark)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2903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"David"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89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print("Hi", name, "your mark is", mark)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11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22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23 </a:t>
            </a:r>
            <a:r>
              <a:rPr lang="zh-TW" altLang="en-US" dirty="0" smtClean="0">
                <a:latin typeface="+mn-lt"/>
              </a:rPr>
              <a:t>頁的實驗站 </a:t>
            </a:r>
            <a:r>
              <a:rPr lang="en-US" altLang="zh-TW" dirty="0" smtClean="0">
                <a:latin typeface="+mn-lt"/>
              </a:rPr>
              <a:t>4.2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9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213483"/>
              </p:ext>
            </p:extLst>
          </p:nvPr>
        </p:nvGraphicFramePr>
        <p:xfrm>
          <a:off x="957948" y="2105890"/>
          <a:ext cx="10322423" cy="3851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2234"/>
                <a:gridCol w="4630189"/>
              </a:tblGrid>
              <a:tr h="33251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742903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"David"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89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print("Hi", name)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print("Your mark is", mark)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 David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Your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mark is 89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2903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"David"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89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print("Hi", name, "your mark is", mark)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 David your mark is 89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28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323773"/>
              </p:ext>
            </p:extLst>
          </p:nvPr>
        </p:nvGraphicFramePr>
        <p:xfrm>
          <a:off x="957948" y="1557251"/>
          <a:ext cx="10322423" cy="46595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8983"/>
                <a:gridCol w="4663440"/>
              </a:tblGrid>
              <a:tr h="300361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431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print("print something \"special\"")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1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"Sam"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print("Bye")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1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"Sam"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print("Hi", end="")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print(name, end="")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print("Bye")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92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366693"/>
              </p:ext>
            </p:extLst>
          </p:nvPr>
        </p:nvGraphicFramePr>
        <p:xfrm>
          <a:off x="957948" y="1557251"/>
          <a:ext cx="10322423" cy="46595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8983"/>
                <a:gridCol w="4663440"/>
              </a:tblGrid>
              <a:tr h="300361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431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print("print something \"special\"")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 something “special”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1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"Sam"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print("Bye")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Sam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Bye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1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"Sam"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print("Hi", end="")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print(name, end="")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print("Bye")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HiSamBye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62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輸出及輸入語句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48</a:t>
            </a:fld>
            <a:endParaRPr 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程式很多時候需要用家自行輸入變量的</a:t>
            </a:r>
            <a:r>
              <a:rPr lang="zh-TW" altLang="en-US" dirty="0" smtClean="0">
                <a:latin typeface="+mn-lt"/>
              </a:rPr>
              <a:t>值。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透過 </a:t>
            </a:r>
            <a:r>
              <a:rPr lang="en-US" altLang="zh-TW" dirty="0">
                <a:latin typeface="+mn-lt"/>
              </a:rPr>
              <a:t>input() </a:t>
            </a:r>
            <a:r>
              <a:rPr lang="zh-TW" altLang="en-US" dirty="0">
                <a:latin typeface="+mn-lt"/>
              </a:rPr>
              <a:t>函數所取得的輸入數據都會</a:t>
            </a:r>
            <a:r>
              <a:rPr lang="zh-TW" altLang="en-US" dirty="0">
                <a:latin typeface="+mn-lt"/>
                <a:ea typeface="Noto Sans CJK TC Bold" panose="020B0800000000000000" pitchFamily="34" charset="-128"/>
              </a:rPr>
              <a:t>以字串的數據類型</a:t>
            </a:r>
            <a:r>
              <a:rPr lang="zh-TW" altLang="en-US" dirty="0" smtClean="0">
                <a:latin typeface="+mn-lt"/>
                <a:ea typeface="Noto Sans CJK TC Bold" panose="020B0800000000000000" pitchFamily="34" charset="-128"/>
              </a:rPr>
              <a:t>儲存</a:t>
            </a:r>
            <a:r>
              <a:rPr lang="zh-TW" altLang="en-US" dirty="0">
                <a:latin typeface="+mn-lt"/>
                <a:ea typeface="Noto Sans CJK TC Bold" panose="020B0800000000000000" pitchFamily="34" charset="-128"/>
              </a:rPr>
              <a:t>於變量</a:t>
            </a:r>
            <a:r>
              <a:rPr lang="zh-TW" altLang="en-US" dirty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168461"/>
              </p:ext>
            </p:extLst>
          </p:nvPr>
        </p:nvGraphicFramePr>
        <p:xfrm>
          <a:off x="3490556" y="3483033"/>
          <a:ext cx="5138055" cy="9433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7177"/>
                <a:gridCol w="283087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577597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length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input()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0681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25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4.3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880379"/>
              </p:ext>
            </p:extLst>
          </p:nvPr>
        </p:nvGraphicFramePr>
        <p:xfrm>
          <a:off x="957948" y="1945178"/>
          <a:ext cx="10322423" cy="42716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8983"/>
                <a:gridCol w="4663440"/>
              </a:tblGrid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29151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input()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print(type(length))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HK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51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print(type(length))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51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= float(input())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print(type(width))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76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試完成課本第 </a:t>
            </a:r>
            <a:r>
              <a:rPr lang="en-US" altLang="zh-TW" dirty="0"/>
              <a:t>25 </a:t>
            </a:r>
            <a:r>
              <a:rPr lang="zh-TW" altLang="en-US" dirty="0"/>
              <a:t>頁的測試站 </a:t>
            </a:r>
            <a:r>
              <a:rPr lang="en-US" altLang="zh-TW" dirty="0"/>
              <a:t>4.3</a:t>
            </a:r>
            <a:r>
              <a:rPr lang="zh-TW" altLang="en-US" dirty="0"/>
              <a:t>。</a:t>
            </a:r>
            <a:endParaRPr lang="en-GB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97283"/>
              </p:ext>
            </p:extLst>
          </p:nvPr>
        </p:nvGraphicFramePr>
        <p:xfrm>
          <a:off x="957948" y="1945178"/>
          <a:ext cx="10322423" cy="42716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8983"/>
                <a:gridCol w="4663440"/>
              </a:tblGrid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29151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input()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print(type(length))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</a:t>
                      </a:r>
                      <a:r>
                        <a:rPr lang="en-HK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‘</a:t>
                      </a:r>
                      <a:r>
                        <a:rPr lang="en-HK" baseline="0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HK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  <a:endParaRPr lang="en-HK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51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print(type(length))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</a:t>
                      </a:r>
                      <a:r>
                        <a:rPr lang="en-HK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‘</a:t>
                      </a:r>
                      <a:r>
                        <a:rPr lang="en-HK" baseline="0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HK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151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= float(input())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print(type(width))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23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185749"/>
              </p:ext>
            </p:extLst>
          </p:nvPr>
        </p:nvGraphicFramePr>
        <p:xfrm>
          <a:off x="957948" y="1945178"/>
          <a:ext cx="10322423" cy="39069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8983"/>
                <a:gridCol w="4663440"/>
              </a:tblGrid>
              <a:tr h="466872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72005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= float(input())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= length * width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print(area)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print(type(area))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HK" dirty="0" smtClean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005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input()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input()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 = A + B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print(sum)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print(type(sum))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52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7418"/>
              </p:ext>
            </p:extLst>
          </p:nvPr>
        </p:nvGraphicFramePr>
        <p:xfrm>
          <a:off x="957948" y="1945178"/>
          <a:ext cx="10322423" cy="39069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8983"/>
                <a:gridCol w="4663440"/>
              </a:tblGrid>
              <a:tr h="466872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93D"/>
                    </a:solidFill>
                  </a:tcPr>
                </a:tc>
              </a:tr>
              <a:tr h="172005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 =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= float(input())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 = length * width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print(area)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print(type(area))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300.0</a:t>
                      </a:r>
                    </a:p>
                    <a:p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0055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input()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input()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 = A + B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print(sum)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print(type(sum))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HK" dirty="0" smtClean="0">
                          <a:solidFill>
                            <a:srgbClr val="1E56A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‘</a:t>
                      </a:r>
                      <a:r>
                        <a:rPr lang="en-HK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’&gt;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9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0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除錯（輸入</a:t>
            </a:r>
            <a:r>
              <a:rPr lang="zh-TW" altLang="en-US" b="1" dirty="0" smtClean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）</a:t>
            </a:r>
            <a:endParaRPr lang="en-HK" b="1" dirty="0">
              <a:solidFill>
                <a:srgbClr val="84AD40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/>
              <a:t>試指出導致以下程式無法運行的原因。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4.5</a:t>
            </a:r>
            <a:endParaRPr lang="en-GB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693998"/>
              </p:ext>
            </p:extLst>
          </p:nvPr>
        </p:nvGraphicFramePr>
        <p:xfrm>
          <a:off x="838798" y="2743201"/>
          <a:ext cx="10350132" cy="3291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5066"/>
                <a:gridCol w="517506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240637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HK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print(mark)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5442">
                <a:tc>
                  <a:txBody>
                    <a:bodyPr/>
                    <a:lstStyle/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mark1 = input()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mark2 = input()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avg_mark = (mark1 + mark2) / 2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print(avg_mark)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4132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除錯（輸入</a:t>
            </a:r>
            <a:r>
              <a:rPr lang="zh-TW" altLang="en-US" b="1" dirty="0" smtClean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）</a:t>
            </a:r>
            <a:endParaRPr lang="en-HK" b="1" dirty="0">
              <a:solidFill>
                <a:srgbClr val="84AD40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/>
              <a:t>試指出導致以下程式無法運行的原因。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54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4.5</a:t>
            </a:r>
            <a:endParaRPr lang="en-GB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619806"/>
              </p:ext>
            </p:extLst>
          </p:nvPr>
        </p:nvGraphicFramePr>
        <p:xfrm>
          <a:off x="838798" y="2743201"/>
          <a:ext cx="10350132" cy="3291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5066"/>
                <a:gridCol w="517506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240637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HK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print(mark)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括號必須成對。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5442">
                <a:tc>
                  <a:txBody>
                    <a:bodyPr/>
                    <a:lstStyle/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mark1 = input()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mark2 = input()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avg_mark = (mark1 + mark2) / 2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print(avg_mark)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數學運算符不適用於字串數據類型。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932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27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4.2</a:t>
            </a:r>
            <a:r>
              <a:rPr lang="zh-TW" altLang="en-US" dirty="0" smtClean="0">
                <a:latin typeface="+mn-lt"/>
              </a:rPr>
              <a:t>。</a:t>
            </a:r>
            <a:endParaRPr lang="en-HK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US" dirty="0" smtClean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float(input("Please enter the diameter of the cylinder: "))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float(input("Please enter the height of the cylinder: "))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PI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3.14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vol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 * ((d/2)**2) * h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area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* PI * (d/2) * h + 2 * PI * (d/2)**2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volume of the cylinder is:",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surface area of the cylinder is:", area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 smtClean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 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55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7358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606829" y="1443600"/>
            <a:ext cx="11064239" cy="48600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input("Please enter your name: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test1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float(input("Please enter the first test result: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test2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float(input("Please enter the second test result: "))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exam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float(input("Please enter the exam result: "))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TEST1_WEIGHT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TEST2_WEIGHT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EXAM_WEIGHT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overall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test1*TEST1_WEIGHT + test2*TEST2_WEIGHT + exam*EXAM_WEIGHT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end 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"")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(", your overall result of ICT is:",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01770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print("This is a BMI Calculator!")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 = float(input("Please enter your height in meters: "))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 = float(input("Please enter your weight in kg: "))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weight / (height**2)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print("Your BMI is",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(input("Input the number of seconds: "))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minutes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// 60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seconds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% 60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 record is", minutes, "minute(s) and", seconds, "second(s).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3847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有很多內置</a:t>
            </a:r>
            <a:r>
              <a:rPr lang="zh-TW" altLang="en-US" dirty="0" smtClean="0">
                <a:latin typeface="+mn-lt"/>
              </a:rPr>
              <a:t>函數</a:t>
            </a:r>
            <a:r>
              <a:rPr lang="en-GB" dirty="0" smtClean="0">
                <a:latin typeface="+mn-lt"/>
              </a:rPr>
              <a:t>，</a:t>
            </a:r>
            <a:r>
              <a:rPr lang="zh-TW" altLang="en-US" dirty="0">
                <a:latin typeface="+mn-lt"/>
              </a:rPr>
              <a:t>能夠為用家提供</a:t>
            </a:r>
            <a:r>
              <a:rPr lang="zh-TW" altLang="en-US" dirty="0" smtClean="0">
                <a:latin typeface="+mn-lt"/>
              </a:rPr>
              <a:t>經常使用</a:t>
            </a:r>
            <a:r>
              <a:rPr lang="zh-TW" altLang="en-US" dirty="0">
                <a:latin typeface="+mn-lt"/>
              </a:rPr>
              <a:t>的</a:t>
            </a:r>
            <a:r>
              <a:rPr lang="zh-TW" altLang="en-US" dirty="0" smtClean="0">
                <a:latin typeface="+mn-lt"/>
              </a:rPr>
              <a:t>功能。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print(), input(), type(),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TW" altLang="en-US" dirty="0">
                <a:latin typeface="+mn-lt"/>
              </a:rPr>
              <a:t>便是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內置函數的例子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>
                <a:latin typeface="+mn-lt"/>
              </a:rPr>
              <a:t>以下再介紹一些常用的內置</a:t>
            </a:r>
            <a:r>
              <a:rPr lang="zh-TW" altLang="en-US" dirty="0" smtClean="0">
                <a:latin typeface="+mn-lt"/>
              </a:rPr>
              <a:t>函數</a:t>
            </a:r>
            <a:r>
              <a:rPr lang="zh-TW" altLang="en-US" dirty="0">
                <a:latin typeface="+mn-lt"/>
              </a:rPr>
              <a:t>：</a:t>
            </a:r>
            <a:endParaRPr lang="en-GB" dirty="0">
              <a:latin typeface="+mn-lt"/>
            </a:endParaRPr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90124"/>
              </p:ext>
            </p:extLst>
          </p:nvPr>
        </p:nvGraphicFramePr>
        <p:xfrm>
          <a:off x="838798" y="4048299"/>
          <a:ext cx="10515004" cy="2357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751"/>
                <a:gridCol w="2628751"/>
                <a:gridCol w="2790005"/>
                <a:gridCol w="2467497"/>
              </a:tblGrid>
              <a:tr h="35202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內置函數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描述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變量 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848067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abs(x)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傳回數字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的絕對值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s-E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</a:t>
                      </a:r>
                      <a:r>
                        <a:rPr lang="es-E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(-10) </a:t>
                      </a:r>
                    </a:p>
                    <a:p>
                      <a:r>
                        <a:rPr lang="es-E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s-E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</a:t>
                      </a:r>
                      <a:r>
                        <a:rPr lang="es-E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(20)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092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round(x, y)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將數字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四捨五入到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位小數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round(10/3, 2) 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round(10/3, 5)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3.33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3.33333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958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如果需要使用額外的</a:t>
            </a:r>
            <a:r>
              <a:rPr lang="zh-TW" altLang="en-US" dirty="0" smtClean="0"/>
              <a:t>功能，我們需要匯入</a:t>
            </a:r>
            <a:r>
              <a:rPr lang="zh-TW" altLang="en-US" dirty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函數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庫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>
                <a:latin typeface="+mn-lt"/>
              </a:rPr>
              <a:t>將函數庫匯入到程式中便能使用那些額外的函數。以下介紹一些「</a:t>
            </a:r>
            <a:r>
              <a:rPr lang="en-US" altLang="zh-TW" dirty="0">
                <a:latin typeface="+mn-lt"/>
              </a:rPr>
              <a:t>math</a:t>
            </a:r>
            <a:r>
              <a:rPr lang="zh-TW" altLang="en-US" dirty="0">
                <a:latin typeface="+mn-lt"/>
              </a:rPr>
              <a:t>」函數</a:t>
            </a:r>
            <a:r>
              <a:rPr lang="zh-TW" altLang="en-US" dirty="0" smtClean="0">
                <a:latin typeface="+mn-lt"/>
              </a:rPr>
              <a:t>庫內</a:t>
            </a:r>
            <a:r>
              <a:rPr lang="zh-TW" altLang="en-US" dirty="0">
                <a:latin typeface="+mn-lt"/>
              </a:rPr>
              <a:t>的數學函數</a:t>
            </a:r>
            <a:r>
              <a:rPr lang="zh-TW" altLang="en-US" dirty="0" smtClean="0">
                <a:latin typeface="+mn-lt"/>
              </a:rPr>
              <a:t>：</a:t>
            </a:r>
            <a:endParaRPr lang="en-US" altLang="zh-TW" dirty="0" smtClean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44841"/>
              </p:ext>
            </p:extLst>
          </p:nvPr>
        </p:nvGraphicFramePr>
        <p:xfrm>
          <a:off x="838796" y="3499659"/>
          <a:ext cx="10515004" cy="2357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8600"/>
                <a:gridCol w="3028902"/>
                <a:gridCol w="2790005"/>
                <a:gridCol w="2467497"/>
              </a:tblGrid>
              <a:tr h="35202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數學函數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描述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變量 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848067">
                <a:tc>
                  <a:txBody>
                    <a:bodyPr/>
                    <a:lstStyle/>
                    <a:p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計算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x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的平方根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math.sqrt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(16)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092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sin(x) 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計算 </a:t>
                      </a:r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x radian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的正弦值（</a:t>
                      </a:r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sine）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math.sin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0.89399666360…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5144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31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4.3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endParaRPr lang="en-HK" dirty="0"/>
          </a:p>
          <a:p>
            <a:pPr marL="457200" indent="-457200">
              <a:buAutoNum type="arabicPeriod"/>
            </a:pPr>
            <a:r>
              <a:rPr lang="en-US" dirty="0">
                <a:latin typeface="+mn-lt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float(input("One side of right triangle: "))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= float(input("Another side of right triangle: "))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(a**2 + b**2)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print("The length of hypotenuse side is", c)</a:t>
            </a:r>
            <a:endParaRPr lang="en-HK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53882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以下介紹一些「</a:t>
            </a:r>
            <a:r>
              <a:rPr lang="en-US" altLang="zh-TW" dirty="0"/>
              <a:t>random</a:t>
            </a:r>
            <a:r>
              <a:rPr lang="zh-TW" altLang="en-US" dirty="0"/>
              <a:t>」函數庫內的隨機</a:t>
            </a:r>
            <a:r>
              <a:rPr lang="zh-TW" altLang="en-US" dirty="0" smtClean="0"/>
              <a:t>函數：</a:t>
            </a:r>
            <a:endParaRPr lang="en-US" altLang="zh-TW" dirty="0" smtClean="0"/>
          </a:p>
          <a:p>
            <a:endParaRPr lang="en-GB" dirty="0"/>
          </a:p>
        </p:txBody>
      </p:sp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831596"/>
              </p:ext>
            </p:extLst>
          </p:nvPr>
        </p:nvGraphicFramePr>
        <p:xfrm>
          <a:off x="448885" y="2236122"/>
          <a:ext cx="11346872" cy="38986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992"/>
                <a:gridCol w="3794091"/>
                <a:gridCol w="3662425"/>
                <a:gridCol w="1870364"/>
              </a:tblGrid>
              <a:tr h="44478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隨機函數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描述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變量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1031299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random()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傳回一個範圍由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至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（不包括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）的隨機浮點數。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random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random.random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&lt;= y &lt; 1</a:t>
                      </a:r>
                      <a:endParaRPr lang="en-US" u="non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2424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uniform(a, b)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傳回一個範圍由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至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（不包括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）的隨機浮點數。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fr-FR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</a:t>
                      </a:r>
                      <a:endParaRPr lang="fr-FR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fr-F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fr-FR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random.uniform</a:t>
                      </a:r>
                      <a:r>
                        <a:rPr lang="fr-F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&lt;= y &lt; 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rPr lang="en-HK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(a, b)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傳回一個範圍由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至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的隨機整數。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fr-FR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</a:t>
                      </a:r>
                      <a:endParaRPr lang="fr-FR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fr-F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fr-FR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random.randint</a:t>
                      </a:r>
                      <a:r>
                        <a:rPr lang="fr-F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&lt;= y &lt;= 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761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傑克運用偽代碼設計了一個「攪珠機」的算法，試將以下的偽代碼轉換成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程式碼</a:t>
            </a:r>
            <a:r>
              <a:rPr lang="zh-TW" altLang="en-US" dirty="0" smtClean="0">
                <a:latin typeface="+mn-lt"/>
              </a:rPr>
              <a:t>。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GB" dirty="0"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899" y="2276945"/>
            <a:ext cx="1690560" cy="1677035"/>
          </a:xfrm>
          <a:prstGeom prst="rect">
            <a:avLst/>
          </a:prstGeom>
        </p:spPr>
      </p:pic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719011"/>
              </p:ext>
            </p:extLst>
          </p:nvPr>
        </p:nvGraphicFramePr>
        <p:xfrm>
          <a:off x="1012767" y="4116491"/>
          <a:ext cx="10425546" cy="2093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436"/>
                <a:gridCol w="8175110"/>
              </a:tblGrid>
              <a:tr h="104655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DrawNumber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 random integer between 1 and 100 inclusive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DrawNumber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6558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1956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傑克運用偽代碼設計了一個「攪珠機」的算法，試將以下的偽代碼轉換成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程式碼</a:t>
            </a:r>
            <a:r>
              <a:rPr lang="zh-TW" altLang="en-US" dirty="0" smtClean="0">
                <a:latin typeface="+mn-lt"/>
              </a:rPr>
              <a:t>。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GB" dirty="0"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899" y="2276945"/>
            <a:ext cx="1690560" cy="1677035"/>
          </a:xfrm>
          <a:prstGeom prst="rect">
            <a:avLst/>
          </a:prstGeom>
        </p:spPr>
      </p:pic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41328"/>
              </p:ext>
            </p:extLst>
          </p:nvPr>
        </p:nvGraphicFramePr>
        <p:xfrm>
          <a:off x="1012767" y="4116491"/>
          <a:ext cx="10425546" cy="2093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436"/>
                <a:gridCol w="8175110"/>
              </a:tblGrid>
              <a:tr h="104655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DrawNumber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 random integer between 1 and 100 inclusive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DrawNumber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6558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random</a:t>
                      </a:r>
                    </a:p>
                    <a:p>
                      <a:r>
                        <a:rPr lang="en-US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DrawNumber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random.randint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(1, 100)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DrawNumber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0672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64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選擇控制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結構</a:t>
            </a:r>
            <a:r>
              <a:rPr lang="zh-TW" altLang="en-US" dirty="0" smtClean="0"/>
              <a:t>讓</a:t>
            </a:r>
            <a:r>
              <a:rPr lang="zh-TW" altLang="en-US" dirty="0"/>
              <a:t>程式根據指定</a:t>
            </a:r>
            <a:r>
              <a:rPr lang="zh-TW" altLang="en-US" dirty="0" smtClean="0"/>
              <a:t>的條件</a:t>
            </a:r>
            <a:r>
              <a:rPr lang="zh-TW" altLang="en-US" dirty="0"/>
              <a:t>，在</a:t>
            </a:r>
            <a:r>
              <a:rPr lang="zh-TW" altLang="en-US" dirty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對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</a:t>
            </a:r>
            <a:r>
              <a:rPr lang="zh-TW" altLang="en-US" dirty="0" smtClean="0"/>
              <a:t>或</a:t>
            </a:r>
            <a:r>
              <a:rPr lang="zh-TW" altLang="en-US" dirty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多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向</a:t>
            </a:r>
            <a:r>
              <a:rPr lang="zh-TW" altLang="en-US" dirty="0" smtClean="0"/>
              <a:t>選擇</a:t>
            </a:r>
            <a:r>
              <a:rPr lang="zh-TW" altLang="en-US" dirty="0"/>
              <a:t>中作出</a:t>
            </a:r>
            <a:r>
              <a:rPr lang="zh-TW" altLang="en-US" dirty="0" smtClean="0"/>
              <a:t>決定</a:t>
            </a:r>
            <a:r>
              <a:rPr lang="zh-TW" altLang="en-US" dirty="0"/>
              <a:t>。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22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布爾算式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以下是 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中的布爾算式。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480811"/>
              </p:ext>
            </p:extLst>
          </p:nvPr>
        </p:nvGraphicFramePr>
        <p:xfrm>
          <a:off x="913615" y="2148062"/>
          <a:ext cx="10649389" cy="4227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037"/>
                <a:gridCol w="2088037"/>
                <a:gridCol w="2088037"/>
                <a:gridCol w="2088037"/>
                <a:gridCol w="2297241"/>
              </a:tblGrid>
              <a:tr h="30419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偽代碼中的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關係運算符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關係運算符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意義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的布爾算式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輸入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mark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為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50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邏輯結果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597914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=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等於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==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914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&lt;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小於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9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≤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或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&lt;=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小於或等於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&lt;=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914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&gt;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大於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&gt; 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9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≥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或 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&gt;=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&gt;=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大於或等於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&gt;= 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9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≠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或 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!=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或 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&lt;&gt;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!=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不相等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!= 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4059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對分選擇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中的「</a:t>
            </a:r>
            <a:r>
              <a:rPr lang="zh-TW" altLang="en-US" dirty="0">
                <a:latin typeface="+mn-lt"/>
              </a:rPr>
              <a:t>如果</a:t>
            </a:r>
            <a:r>
              <a:rPr lang="en-US" altLang="zh-TW" dirty="0">
                <a:latin typeface="+mn-lt"/>
              </a:rPr>
              <a:t>…</a:t>
            </a:r>
            <a:r>
              <a:rPr lang="zh-TW" altLang="en-US" dirty="0">
                <a:latin typeface="+mn-lt"/>
              </a:rPr>
              <a:t>則</a:t>
            </a:r>
            <a:r>
              <a:rPr lang="zh-TW" altLang="en-US" dirty="0" smtClean="0">
                <a:latin typeface="+mn-lt"/>
              </a:rPr>
              <a:t>」條件語句：</a:t>
            </a:r>
            <a:endParaRPr lang="en-US" altLang="zh-TW" dirty="0" smtClean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03060"/>
              </p:ext>
            </p:extLst>
          </p:nvPr>
        </p:nvGraphicFramePr>
        <p:xfrm>
          <a:off x="971804" y="2103119"/>
          <a:ext cx="10167251" cy="4219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5665"/>
                <a:gridCol w="5411586"/>
              </a:tblGrid>
              <a:tr h="38312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1917962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如果 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條件（布爾算式）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}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則</a:t>
                      </a:r>
                    </a:p>
                    <a:p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「則」部分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}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條件（布爾算式）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「則」部分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796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mark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70</a:t>
                      </a:r>
                    </a:p>
                    <a:p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如果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mark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&gt;= 50 </a:t>
                      </a: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則</a:t>
                      </a:r>
                      <a:endParaRPr lang="en-US" b="1" dirty="0" smtClean="0">
                        <a:solidFill>
                          <a:srgbClr val="EF3E2E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grade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“</a:t>
                      </a: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及格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grade</a:t>
                      </a:r>
                      <a:endParaRPr lang="en-US" dirty="0">
                        <a:latin typeface="Courier New" panose="02070309020205020404" pitchFamily="49" charset="0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= "Pass"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print(grade)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0326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對分選擇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中的</a:t>
            </a:r>
            <a:r>
              <a:rPr lang="zh-TW" altLang="en-US" dirty="0" smtClean="0">
                <a:latin typeface="+mn-lt"/>
              </a:rPr>
              <a:t>「</a:t>
            </a:r>
            <a:r>
              <a:rPr lang="zh-TW" altLang="en-US" dirty="0">
                <a:latin typeface="+mn-lt"/>
              </a:rPr>
              <a:t>如果</a:t>
            </a:r>
            <a:r>
              <a:rPr lang="en-US" altLang="zh-TW" dirty="0">
                <a:latin typeface="+mn-lt"/>
              </a:rPr>
              <a:t>…</a:t>
            </a:r>
            <a:r>
              <a:rPr lang="zh-TW" altLang="en-US" dirty="0">
                <a:latin typeface="+mn-lt"/>
              </a:rPr>
              <a:t>則</a:t>
            </a:r>
            <a:r>
              <a:rPr lang="en-US" altLang="zh-TW" dirty="0">
                <a:latin typeface="+mn-lt"/>
              </a:rPr>
              <a:t>…</a:t>
            </a:r>
            <a:r>
              <a:rPr lang="zh-TW" altLang="en-US" dirty="0" smtClean="0">
                <a:latin typeface="+mn-lt"/>
              </a:rPr>
              <a:t>否則」條件語句</a:t>
            </a:r>
            <a:r>
              <a:rPr lang="zh-TW" altLang="en-US" dirty="0">
                <a:latin typeface="+mn-lt"/>
              </a:rPr>
              <a:t>：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36051"/>
              </p:ext>
            </p:extLst>
          </p:nvPr>
        </p:nvGraphicFramePr>
        <p:xfrm>
          <a:off x="971804" y="2103119"/>
          <a:ext cx="10167251" cy="4219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5665"/>
                <a:gridCol w="5411586"/>
              </a:tblGrid>
              <a:tr h="38312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1917962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如果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條件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}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則</a:t>
                      </a:r>
                    </a:p>
                    <a:p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「則」部分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}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否則</a:t>
                      </a:r>
                    </a:p>
                    <a:p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「否則」部分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}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{</a:t>
                      </a:r>
                      <a:r>
                        <a:rPr lang="zh-TW" alt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條件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{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「則」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body}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{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「否則」部分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796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70</a:t>
                      </a:r>
                    </a:p>
                    <a:p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如果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mark &gt;= 50 </a:t>
                      </a: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則</a:t>
                      </a:r>
                      <a:endParaRPr lang="en-US" b="1" dirty="0" smtClean="0">
                        <a:solidFill>
                          <a:srgbClr val="EF3E2E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"Pass"</a:t>
                      </a:r>
                    </a:p>
                    <a:p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否則</a:t>
                      </a:r>
                      <a:endParaRPr lang="en-US" b="1" dirty="0" smtClean="0">
                        <a:solidFill>
                          <a:srgbClr val="EF3E2E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"Fail"</a:t>
                      </a:r>
                    </a:p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grade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= "Pass"</a:t>
                      </a: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= "Fail"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print(grade)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2088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除錯（條件語句</a:t>
            </a:r>
            <a:r>
              <a:rPr lang="zh-TW" altLang="en-US" b="1" dirty="0" smtClean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）</a:t>
            </a:r>
            <a:endParaRPr lang="en-HK" b="1" dirty="0">
              <a:solidFill>
                <a:srgbClr val="84AD40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/>
              <a:t>試指出導致以下程式無法運行或出現錯誤結果的原因。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88786"/>
              </p:ext>
            </p:extLst>
          </p:nvPr>
        </p:nvGraphicFramePr>
        <p:xfrm>
          <a:off x="838798" y="2660071"/>
          <a:ext cx="10350132" cy="3291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5066"/>
                <a:gridCol w="517506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240637">
                <a:tc>
                  <a:txBody>
                    <a:bodyPr/>
                    <a:lstStyle/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print("Pass")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5442">
                <a:tc>
                  <a:txBody>
                    <a:bodyPr/>
                    <a:lstStyle/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100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= 100: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print("Congratulation!")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2885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除錯（條件語句</a:t>
            </a:r>
            <a:r>
              <a:rPr lang="zh-TW" altLang="en-US" b="1" dirty="0" smtClean="0">
                <a:solidFill>
                  <a:srgbClr val="84AD40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）</a:t>
            </a:r>
            <a:endParaRPr lang="en-HK" b="1" dirty="0">
              <a:solidFill>
                <a:srgbClr val="84AD40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/>
              <a:t>試指出導致以下程式無法運行或出現錯誤結果的原因。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218213"/>
              </p:ext>
            </p:extLst>
          </p:nvPr>
        </p:nvGraphicFramePr>
        <p:xfrm>
          <a:off x="838798" y="2660071"/>
          <a:ext cx="10350132" cy="3291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5066"/>
                <a:gridCol w="517506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240637">
                <a:tc>
                  <a:txBody>
                    <a:bodyPr/>
                    <a:lstStyle/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print("Pass")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條件後應有冒號「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: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」。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5442">
                <a:tc>
                  <a:txBody>
                    <a:bodyPr/>
                    <a:lstStyle/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100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= 100:</a:t>
                      </a:r>
                    </a:p>
                    <a:p>
                      <a:r>
                        <a:rPr lang="de-D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print("Congratulation!")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條件應使用關係運算符「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==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」而非賦值運算符「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=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」。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7889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115512"/>
              </p:ext>
            </p:extLst>
          </p:nvPr>
        </p:nvGraphicFramePr>
        <p:xfrm>
          <a:off x="838798" y="1687482"/>
          <a:ext cx="10350132" cy="29177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57102"/>
                <a:gridCol w="589303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55200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print("Pass")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print("Fail")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0397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279359"/>
              </p:ext>
            </p:extLst>
          </p:nvPr>
        </p:nvGraphicFramePr>
        <p:xfrm>
          <a:off x="838798" y="1687482"/>
          <a:ext cx="10350132" cy="29177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57102"/>
                <a:gridCol w="589303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55200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print("Pass")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print("Fail")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「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print("Pass")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前應加入縮排。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0358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624306"/>
              </p:ext>
            </p:extLst>
          </p:nvPr>
        </p:nvGraphicFramePr>
        <p:xfrm>
          <a:off x="838798" y="1539241"/>
          <a:ext cx="10575962" cy="4640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8122"/>
                <a:gridCol w="557784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14883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print("Pass")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print("Fail")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98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print("Pass")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print("Work hard next time")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print("Fail")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3416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365666"/>
              </p:ext>
            </p:extLst>
          </p:nvPr>
        </p:nvGraphicFramePr>
        <p:xfrm>
          <a:off x="838798" y="1539241"/>
          <a:ext cx="10575962" cy="4640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8122"/>
                <a:gridCol w="557784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14883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print("Pass")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print("Fail")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「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print("Fail")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」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前應加入縮排。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98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print("Pass")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print("Work hard next time")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print("Fail")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程式輸出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Pass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和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Fail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。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程式雖然能成功執行，但執行的結果不似預期。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「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print("Fail")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應屬於「否則部分」，所以前面應加入縮排。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4581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093843"/>
              </p:ext>
            </p:extLst>
          </p:nvPr>
        </p:nvGraphicFramePr>
        <p:xfrm>
          <a:off x="838798" y="1234441"/>
          <a:ext cx="10575962" cy="5074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7722"/>
                <a:gridCol w="496824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14883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"Jenny"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== 100: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message = "You got full marks!"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print(name, message)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98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"Jenny"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message = "You are passed"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message = "You are failed"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print("You got", mark, "mark(s)")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print(message)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289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166754"/>
              </p:ext>
            </p:extLst>
          </p:nvPr>
        </p:nvGraphicFramePr>
        <p:xfrm>
          <a:off x="838798" y="1234441"/>
          <a:ext cx="10575962" cy="5074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7722"/>
                <a:gridCol w="496824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14883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"Jenny"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== 100: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message = "You got full marks!"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print(name, message)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由於條件算式的判斷結果為「假」，「則」部分便會被忽略。當輸出變量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message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時，它是一個未被宣告的變量。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98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"Jenny"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message = "You are passed"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message = "You are failed"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print("You got", mark, "mark(s)")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print(message)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不能隨便加入縮排。</a:t>
                      </a:r>
                    </a:p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「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print("You got", mark, "mark(s)")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」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前應移除縮排。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203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一心經常到不同的商店比較貨品的價錢，她會抄下同一商品在三間不同商舖的價錢。試</a:t>
            </a:r>
            <a:r>
              <a:rPr lang="zh-TW" altLang="en-US" dirty="0" smtClean="0">
                <a:latin typeface="+mn-lt"/>
              </a:rPr>
              <a:t>以 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編寫程式，讓她輸入三個價錢後，協助她找出哪間商舖的價錢最低。以下是這個 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程式</a:t>
            </a:r>
            <a:r>
              <a:rPr lang="zh-TW" altLang="en-US" dirty="0">
                <a:latin typeface="+mn-lt"/>
              </a:rPr>
              <a:t>的輸出範例，粗體文字代表用家的</a:t>
            </a:r>
            <a:r>
              <a:rPr lang="zh-TW" altLang="en-US" dirty="0" smtClean="0">
                <a:latin typeface="+mn-lt"/>
              </a:rPr>
              <a:t>輸入：</a:t>
            </a:r>
            <a:endParaRPr lang="en-US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76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630254"/>
              </p:ext>
            </p:extLst>
          </p:nvPr>
        </p:nvGraphicFramePr>
        <p:xfrm>
          <a:off x="2032000" y="2887713"/>
          <a:ext cx="8128000" cy="3150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/>
              </a:tblGrid>
              <a:tr h="157526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of shop A: </a:t>
                      </a:r>
                      <a:r>
                        <a:rPr lang="en-US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of shop B: </a:t>
                      </a:r>
                      <a:r>
                        <a:rPr lang="en-US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8.9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of shop C: </a:t>
                      </a:r>
                      <a:r>
                        <a:rPr lang="en-US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9.9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lowest price is 8.9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526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of shop A: </a:t>
                      </a:r>
                      <a:r>
                        <a:rPr lang="en-US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89.9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of shop B: </a:t>
                      </a:r>
                      <a:r>
                        <a:rPr lang="en-US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99.9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 of shop C: </a:t>
                      </a:r>
                      <a:r>
                        <a:rPr lang="en-US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59.9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lowest price is 59.9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5700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>
                <a:latin typeface="+mn-lt"/>
              </a:rPr>
              <a:t>這個程式的目的是找出三個數字中最小的值。假設價錢 </a:t>
            </a:r>
            <a:r>
              <a:rPr lang="en-US" altLang="zh-TW" dirty="0">
                <a:latin typeface="+mn-lt"/>
              </a:rPr>
              <a:t>A </a:t>
            </a:r>
            <a:r>
              <a:rPr lang="zh-TW" altLang="en-US" dirty="0">
                <a:latin typeface="+mn-lt"/>
              </a:rPr>
              <a:t>是</a:t>
            </a:r>
            <a:r>
              <a:rPr lang="en-US" altLang="zh-TW" dirty="0">
                <a:latin typeface="+mn-lt"/>
              </a:rPr>
              <a:t>$10</a:t>
            </a:r>
            <a:r>
              <a:rPr lang="zh-TW" altLang="en-US" dirty="0">
                <a:latin typeface="+mn-lt"/>
              </a:rPr>
              <a:t>、價錢 </a:t>
            </a:r>
            <a:r>
              <a:rPr lang="en-US" altLang="zh-TW" dirty="0">
                <a:latin typeface="+mn-lt"/>
              </a:rPr>
              <a:t>B </a:t>
            </a:r>
            <a:r>
              <a:rPr lang="zh-TW" altLang="en-US" dirty="0">
                <a:latin typeface="+mn-lt"/>
              </a:rPr>
              <a:t>是</a:t>
            </a:r>
            <a:r>
              <a:rPr lang="en-US" altLang="zh-TW" dirty="0">
                <a:latin typeface="+mn-lt"/>
              </a:rPr>
              <a:t>$8.9</a:t>
            </a:r>
            <a:r>
              <a:rPr lang="zh-TW" altLang="en-US" dirty="0">
                <a:latin typeface="+mn-lt"/>
              </a:rPr>
              <a:t>和價錢 </a:t>
            </a:r>
            <a:r>
              <a:rPr lang="en-US" altLang="zh-TW" dirty="0">
                <a:latin typeface="+mn-lt"/>
              </a:rPr>
              <a:t>C </a:t>
            </a:r>
            <a:r>
              <a:rPr lang="zh-TW" altLang="en-US" dirty="0">
                <a:latin typeface="+mn-lt"/>
              </a:rPr>
              <a:t>是</a:t>
            </a:r>
            <a:r>
              <a:rPr lang="en-US" altLang="zh-TW" dirty="0">
                <a:latin typeface="+mn-lt"/>
              </a:rPr>
              <a:t>$9.9</a:t>
            </a:r>
            <a:r>
              <a:rPr lang="zh-TW" altLang="en-US" dirty="0">
                <a:latin typeface="+mn-lt"/>
              </a:rPr>
              <a:t>，</a:t>
            </a:r>
            <a:r>
              <a:rPr lang="zh-TW" altLang="en-US" dirty="0" smtClean="0">
                <a:latin typeface="+mn-lt"/>
              </a:rPr>
              <a:t>以下</a:t>
            </a:r>
            <a:r>
              <a:rPr lang="zh-TW" altLang="en-US" dirty="0">
                <a:latin typeface="+mn-lt"/>
              </a:rPr>
              <a:t>的圖像解釋算法如何將所有價錢逐一比較，然後找出最低價</a:t>
            </a:r>
            <a:r>
              <a:rPr lang="zh-TW" altLang="en-US" dirty="0" smtClean="0">
                <a:latin typeface="+mn-lt"/>
              </a:rPr>
              <a:t>：</a:t>
            </a: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假設第一個價錢是最低的，把它與第二個價錢比較。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366198"/>
              </p:ext>
            </p:extLst>
          </p:nvPr>
        </p:nvGraphicFramePr>
        <p:xfrm>
          <a:off x="1404851" y="3366654"/>
          <a:ext cx="9563403" cy="2668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4770"/>
                <a:gridCol w="2326211"/>
                <a:gridCol w="2326211"/>
                <a:gridCol w="2326211"/>
              </a:tblGrid>
              <a:tr h="179339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最低價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挑戰者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哪個價錢較低？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230262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$10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$8.9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$8.9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90" y="3740727"/>
            <a:ext cx="2530272" cy="20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94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把上一個步驟價錢較低的留下來，與第三個價錢比較，最後留下來的便是最低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53726"/>
              </p:ext>
            </p:extLst>
          </p:nvPr>
        </p:nvGraphicFramePr>
        <p:xfrm>
          <a:off x="1404851" y="2535384"/>
          <a:ext cx="9563403" cy="2668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4770"/>
                <a:gridCol w="2326211"/>
                <a:gridCol w="2326211"/>
                <a:gridCol w="2326211"/>
              </a:tblGrid>
              <a:tr h="179339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最低價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挑戰者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哪個價錢較低？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230262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$8.9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$9.9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$8.9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96" y="2799676"/>
            <a:ext cx="2482085" cy="223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2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endParaRPr lang="en-US" altLang="zh-TW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float(input("Price of shop A: "))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= float(input("Price of shop B: "))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 = float(input("Price of shop C: "))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a &lt; b: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min = a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min = b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c &lt; min: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min = c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lowest price is", min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10015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想像</a:t>
            </a:r>
            <a:endParaRPr lang="en-US" altLang="zh-TW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 marL="457200" indent="-457200">
              <a:buSzPct val="100000"/>
              <a:buAutoNum type="arabicPeriod"/>
            </a:pPr>
            <a:r>
              <a:rPr lang="zh-TW" altLang="en-US" dirty="0">
                <a:cs typeface="Courier New" panose="02070309020205020404" pitchFamily="49" charset="0"/>
              </a:rPr>
              <a:t>如何顯示最低價格是哪間商舖</a:t>
            </a:r>
            <a:r>
              <a:rPr lang="zh-TW" altLang="en-US" dirty="0" smtClean="0">
                <a:cs typeface="Courier New" panose="02070309020205020404" pitchFamily="49" charset="0"/>
              </a:rPr>
              <a:t>？</a:t>
            </a:r>
            <a:endParaRPr lang="en-HK" dirty="0">
              <a:cs typeface="Courier New" panose="02070309020205020404" pitchFamily="49" charset="0"/>
            </a:endParaRPr>
          </a:p>
          <a:p>
            <a:pPr lvl="1">
              <a:buSzPct val="100000"/>
            </a:pPr>
            <a:r>
              <a:rPr lang="zh-TW" altLang="en-US" sz="20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增加多一個變量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shop </a:t>
            </a:r>
            <a:r>
              <a:rPr lang="zh-TW" altLang="en-US" sz="20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以儲存商舖名稱</a:t>
            </a:r>
            <a:endParaRPr lang="en-HK" sz="2000" dirty="0" smtClean="0">
              <a:solidFill>
                <a:srgbClr val="FF0000"/>
              </a:solidFill>
              <a:latin typeface="+mn-lt"/>
              <a:cs typeface="Courier New" panose="02070309020205020404" pitchFamily="49" charset="0"/>
            </a:endParaRPr>
          </a:p>
          <a:p>
            <a:pPr marL="457200" indent="-457200">
              <a:buSzPct val="100000"/>
              <a:buAutoNum type="arabicPeriod"/>
            </a:pPr>
            <a:r>
              <a:rPr lang="zh-TW" altLang="en-US" dirty="0">
                <a:cs typeface="Courier New" panose="02070309020205020404" pitchFamily="49" charset="0"/>
              </a:rPr>
              <a:t>如何找出四個數字中最小的</a:t>
            </a:r>
            <a:r>
              <a:rPr lang="zh-TW" altLang="en-US" dirty="0" smtClean="0">
                <a:cs typeface="Courier New" panose="02070309020205020404" pitchFamily="49" charset="0"/>
              </a:rPr>
              <a:t>值？</a:t>
            </a:r>
            <a:endParaRPr lang="en-HK" dirty="0" smtClean="0">
              <a:cs typeface="Courier New" panose="02070309020205020404" pitchFamily="49" charset="0"/>
            </a:endParaRPr>
          </a:p>
          <a:p>
            <a:pPr lvl="1">
              <a:buSzPct val="100000"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&lt; b: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min = 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min = b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c &lt; min: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min = c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d &lt; min: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min = d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74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40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4.5</a:t>
            </a:r>
            <a:r>
              <a:rPr lang="zh-TW" altLang="en-US" dirty="0" smtClean="0">
                <a:latin typeface="+mn-lt"/>
              </a:rPr>
              <a:t>。</a:t>
            </a: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(a) </a:t>
            </a:r>
          </a:p>
          <a:p>
            <a:r>
              <a:rPr lang="en-HK" dirty="0">
                <a:latin typeface="+mn-lt"/>
              </a:rPr>
              <a:t/>
            </a:r>
            <a:br>
              <a:rPr lang="en-HK" dirty="0">
                <a:latin typeface="+mn-lt"/>
              </a:rPr>
            </a:br>
            <a:endParaRPr lang="en-HK" dirty="0">
              <a:latin typeface="+mn-lt"/>
            </a:endParaRPr>
          </a:p>
          <a:p>
            <a:pPr lvl="1"/>
            <a:r>
              <a:rPr lang="en-HK" dirty="0">
                <a:latin typeface="+mn-lt"/>
              </a:rPr>
              <a:t>(b) (</a:t>
            </a:r>
            <a:r>
              <a:rPr lang="en-HK" dirty="0" err="1">
                <a:latin typeface="+mn-lt"/>
              </a:rPr>
              <a:t>i</a:t>
            </a:r>
            <a:r>
              <a:rPr lang="en-HK" dirty="0">
                <a:latin typeface="+mn-lt"/>
              </a:rPr>
              <a:t>)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4.5</a:t>
            </a:r>
            <a:endParaRPr lang="en-GB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568487"/>
              </p:ext>
            </p:extLst>
          </p:nvPr>
        </p:nvGraphicFramePr>
        <p:xfrm>
          <a:off x="1865745" y="2016452"/>
          <a:ext cx="278938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0827"/>
                <a:gridCol w="2018554"/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b="1" u="sng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行號</a:t>
                      </a:r>
                      <a:endParaRPr lang="en-US" b="1" u="sng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u="sng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程式碼</a:t>
                      </a:r>
                      <a:endParaRPr lang="en-US" b="1" u="sng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temp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717970"/>
              </p:ext>
            </p:extLst>
          </p:nvPr>
        </p:nvGraphicFramePr>
        <p:xfrm>
          <a:off x="2002581" y="3275216"/>
          <a:ext cx="6742407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7469"/>
                <a:gridCol w="2247469"/>
                <a:gridCol w="2247469"/>
              </a:tblGrid>
              <a:tr h="176758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endParaRPr 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27913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13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13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13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13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13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28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HK" dirty="0">
                <a:latin typeface="+mn-lt"/>
              </a:rPr>
              <a:t>(b) (ii) 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找出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兩個數字之間的差</a:t>
            </a:r>
            <a:endParaRPr lang="en-US" dirty="0">
              <a:solidFill>
                <a:srgbClr val="FF0000"/>
              </a:solidFill>
              <a:latin typeface="+mn-lt"/>
            </a:endParaRPr>
          </a:p>
          <a:p>
            <a:pPr lvl="1"/>
            <a:endParaRPr lang="en-HK" dirty="0">
              <a:solidFill>
                <a:srgbClr val="FF0000"/>
              </a:solidFill>
              <a:latin typeface="+mn-lt"/>
            </a:endParaRPr>
          </a:p>
          <a:p>
            <a:pPr lvl="1"/>
            <a:r>
              <a:rPr lang="en-HK" dirty="0">
                <a:latin typeface="+mn-lt"/>
              </a:rPr>
              <a:t>(c) 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4.5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548413"/>
              </p:ext>
            </p:extLst>
          </p:nvPr>
        </p:nvGraphicFramePr>
        <p:xfrm>
          <a:off x="1799243" y="2265834"/>
          <a:ext cx="467637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1060"/>
                <a:gridCol w="337531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u="sng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行號</a:t>
                      </a:r>
                      <a:endParaRPr lang="en-US" b="1" u="sng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u="sng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程式碼</a:t>
                      </a:r>
                      <a:endParaRPr lang="en-US" b="1" u="sng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(input()):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(input())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Y &gt; X: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Y-X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X-Y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3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多向選擇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中的「</a:t>
            </a:r>
            <a:r>
              <a:rPr lang="zh-TW" altLang="en-US" dirty="0">
                <a:latin typeface="+mn-lt"/>
              </a:rPr>
              <a:t>如果</a:t>
            </a:r>
            <a:r>
              <a:rPr lang="en-US" altLang="zh-TW" dirty="0">
                <a:latin typeface="+mn-lt"/>
              </a:rPr>
              <a:t>…</a:t>
            </a:r>
            <a:r>
              <a:rPr lang="zh-TW" altLang="en-US" dirty="0">
                <a:latin typeface="+mn-lt"/>
              </a:rPr>
              <a:t>否則如果</a:t>
            </a:r>
            <a:r>
              <a:rPr lang="en-US" altLang="zh-TW" dirty="0">
                <a:latin typeface="+mn-lt"/>
              </a:rPr>
              <a:t>…</a:t>
            </a:r>
            <a:r>
              <a:rPr lang="zh-TW" altLang="en-US" dirty="0" smtClean="0">
                <a:latin typeface="+mn-lt"/>
              </a:rPr>
              <a:t>」條件語句：</a:t>
            </a:r>
            <a:endParaRPr lang="en-US" altLang="zh-TW" dirty="0" smtClean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85895"/>
              </p:ext>
            </p:extLst>
          </p:nvPr>
        </p:nvGraphicFramePr>
        <p:xfrm>
          <a:off x="971804" y="2103119"/>
          <a:ext cx="10167251" cy="4156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5665"/>
                <a:gridCol w="5411586"/>
              </a:tblGrid>
              <a:tr h="38312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3773243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如果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條件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1}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則</a:t>
                      </a:r>
                    </a:p>
                    <a:p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「則」部分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1}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否則如果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條件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2}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則</a:t>
                      </a:r>
                    </a:p>
                    <a:p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「則」部分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2}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否則如果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條件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3}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則</a:t>
                      </a:r>
                    </a:p>
                    <a:p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「則」部分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3}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否則</a:t>
                      </a:r>
                    </a:p>
                    <a:p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「否則」部分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}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條件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1} 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「則」部分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1}</a:t>
                      </a:r>
                    </a:p>
                    <a:p>
                      <a:r>
                        <a:rPr lang="en-GB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條件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2} 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「則」部分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2}</a:t>
                      </a:r>
                    </a:p>
                    <a:p>
                      <a:r>
                        <a:rPr lang="en-GB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條件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3} 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「則」部分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3}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「否則」部分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38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多向選擇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84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中的「</a:t>
            </a:r>
            <a:r>
              <a:rPr lang="zh-TW" altLang="en-US" dirty="0">
                <a:latin typeface="+mn-lt"/>
              </a:rPr>
              <a:t>如果</a:t>
            </a:r>
            <a:r>
              <a:rPr lang="en-US" altLang="zh-TW" dirty="0">
                <a:latin typeface="+mn-lt"/>
              </a:rPr>
              <a:t>…</a:t>
            </a:r>
            <a:r>
              <a:rPr lang="zh-TW" altLang="en-US" dirty="0">
                <a:latin typeface="+mn-lt"/>
              </a:rPr>
              <a:t>否則如果</a:t>
            </a:r>
            <a:r>
              <a:rPr lang="en-US" altLang="zh-TW" dirty="0">
                <a:latin typeface="+mn-lt"/>
              </a:rPr>
              <a:t>…</a:t>
            </a:r>
            <a:r>
              <a:rPr lang="zh-TW" altLang="en-US" dirty="0" smtClean="0">
                <a:latin typeface="+mn-lt"/>
              </a:rPr>
              <a:t>」條件語句：</a:t>
            </a:r>
            <a:endParaRPr lang="en-US" altLang="zh-TW" dirty="0" smtClean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171874"/>
              </p:ext>
            </p:extLst>
          </p:nvPr>
        </p:nvGraphicFramePr>
        <p:xfrm>
          <a:off x="971804" y="2103119"/>
          <a:ext cx="10167251" cy="4156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5665"/>
                <a:gridCol w="5411586"/>
              </a:tblGrid>
              <a:tr h="38312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377324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70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如果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&gt;= 85 </a:t>
                      </a: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則</a:t>
                      </a:r>
                      <a:endParaRPr lang="en-US" altLang="zh-TW" b="1" dirty="0" smtClean="0">
                        <a:solidFill>
                          <a:srgbClr val="EF3E2E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"A"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否則如果</a:t>
                      </a: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&gt;= 50 </a:t>
                      </a: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則</a:t>
                      </a:r>
                      <a:endParaRPr lang="en-US" altLang="zh-TW" b="1" dirty="0" smtClean="0">
                        <a:solidFill>
                          <a:srgbClr val="EF3E2E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"B"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b="1" dirty="0" smtClean="0">
                          <a:solidFill>
                            <a:srgbClr val="EF3E2E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否則</a:t>
                      </a:r>
                      <a:endParaRPr lang="en-US" altLang="zh-TW" b="1" dirty="0" smtClean="0">
                        <a:solidFill>
                          <a:srgbClr val="EF3E2E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"F"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grade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 = 70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85: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= "A"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err="1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mark &gt;= 50: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= "B"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 smtClean="0">
                          <a:solidFill>
                            <a:srgbClr val="EF3E2E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grade = "F"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print(grade)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04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大學學士學位的榮譽等級是根據畢業平均分數 </a:t>
            </a:r>
            <a:r>
              <a:rPr lang="en-US" altLang="zh-TW" dirty="0">
                <a:latin typeface="+mn-lt"/>
              </a:rPr>
              <a:t>/ </a:t>
            </a:r>
            <a:r>
              <a:rPr lang="zh-TW" altLang="en-US" dirty="0">
                <a:latin typeface="+mn-lt"/>
              </a:rPr>
              <a:t>績點（</a:t>
            </a:r>
            <a:r>
              <a:rPr lang="en-US" altLang="zh-TW" dirty="0">
                <a:latin typeface="+mn-lt"/>
              </a:rPr>
              <a:t>GGPA</a:t>
            </a:r>
            <a:r>
              <a:rPr lang="zh-TW" altLang="en-US" dirty="0">
                <a:latin typeface="+mn-lt"/>
              </a:rPr>
              <a:t>）分類的：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zh-TW" altLang="en-US" dirty="0">
                <a:latin typeface="+mn-lt"/>
              </a:rPr>
              <a:t>何小姐是大學某學院的文員，試協助她編寫程式，用以尋找輸入的分數對應之榮譽等級。</a:t>
            </a:r>
            <a:r>
              <a:rPr lang="zh-TW" altLang="en-US" dirty="0" smtClean="0">
                <a:latin typeface="+mn-lt"/>
              </a:rPr>
              <a:t>以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編寫程式，假設輸入之分數必定在 </a:t>
            </a:r>
            <a:r>
              <a:rPr lang="en-US" altLang="zh-TW" dirty="0">
                <a:latin typeface="+mn-lt"/>
              </a:rPr>
              <a:t>1.00 </a:t>
            </a:r>
            <a:r>
              <a:rPr lang="zh-TW" altLang="en-US" dirty="0">
                <a:latin typeface="+mn-lt"/>
              </a:rPr>
              <a:t>至 </a:t>
            </a:r>
            <a:r>
              <a:rPr lang="en-US" altLang="zh-TW" dirty="0">
                <a:latin typeface="+mn-lt"/>
              </a:rPr>
              <a:t>4.30 </a:t>
            </a:r>
            <a:r>
              <a:rPr lang="zh-TW" altLang="en-US" dirty="0">
                <a:latin typeface="+mn-lt"/>
              </a:rPr>
              <a:t>的範圍內。</a:t>
            </a:r>
            <a:endParaRPr lang="en-US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426603"/>
              </p:ext>
            </p:extLst>
          </p:nvPr>
        </p:nvGraphicFramePr>
        <p:xfrm>
          <a:off x="1435547" y="2024764"/>
          <a:ext cx="610154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7476"/>
                <a:gridCol w="239406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榮譽等級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畢業平均分數範圍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一級榮譽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3.60 – 4.30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二級榮譽（甲等）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3.00 – 3.59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二級榮譽（乙等）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2.40 – 2.99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三級榮譽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1.70 – 2.39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合格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1.00 – 1.69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3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zh-TW" altLang="en-US" dirty="0" smtClean="0"/>
              <a:t>試辨認</a:t>
            </a:r>
            <a:r>
              <a:rPr lang="zh-TW" altLang="en-US" dirty="0"/>
              <a:t>所有條件和條件判斷的順序：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216205"/>
              </p:ext>
            </p:extLst>
          </p:nvPr>
        </p:nvGraphicFramePr>
        <p:xfrm>
          <a:off x="1205347" y="2385749"/>
          <a:ext cx="9592885" cy="3740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5053"/>
                <a:gridCol w="2535382"/>
                <a:gridCol w="5062450"/>
              </a:tblGrid>
              <a:tr h="7474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條件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0" dirty="0" smtClean="0">
                          <a:solidFill>
                            <a:schemeClr val="tx1"/>
                          </a:solidFill>
                        </a:rPr>
                        <a:t>GGPA &gt;= 3.60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74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條件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2</a:t>
                      </a:r>
                      <a:endParaRPr lang="en-US" b="1" dirty="0" smtClean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GGPA &gt;= 3.00</a:t>
                      </a:r>
                      <a:endParaRPr lang="en-US" dirty="0" smtClean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1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條件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3</a:t>
                      </a:r>
                      <a:endParaRPr lang="en-US" b="1" dirty="0" smtClean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GGPA &gt;= 2.40</a:t>
                      </a:r>
                      <a:endParaRPr lang="en-US" dirty="0" smtClean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1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條件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4</a:t>
                      </a:r>
                      <a:endParaRPr lang="en-US" b="1" dirty="0" smtClean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GGPA &gt;= 1.70</a:t>
                      </a:r>
                      <a:endParaRPr lang="en-US" dirty="0" smtClean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49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否則</a:t>
                      </a:r>
                      <a:endParaRPr lang="en-US" b="1" dirty="0" smtClean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757" y="2422887"/>
            <a:ext cx="3837708" cy="69296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009" y="3172712"/>
            <a:ext cx="3604105" cy="68729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009" y="3916303"/>
            <a:ext cx="3604105" cy="68842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009" y="4641621"/>
            <a:ext cx="3677688" cy="72722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757" y="5416078"/>
            <a:ext cx="3710940" cy="68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0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r>
              <a:rPr lang="en-HK" b="1" dirty="0">
                <a:solidFill>
                  <a:srgbClr val="37A3D4"/>
                </a:solidFill>
              </a:rPr>
              <a:t/>
            </a:r>
            <a:br>
              <a:rPr lang="en-HK" b="1" dirty="0">
                <a:solidFill>
                  <a:srgbClr val="37A3D4"/>
                </a:solidFill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float(input())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3.60: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result = "First 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Honours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3.00: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result = "Second 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Honours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(Division One)“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2.40: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result = "Second 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Honours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(Division Two)“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1.70: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result = "Third 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Honours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result = "Pass“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print(result)</a:t>
            </a:r>
            <a:endParaRPr lang="en-HK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275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46</a:t>
            </a:r>
            <a:r>
              <a:rPr lang="zh-TW" altLang="en-US" dirty="0">
                <a:latin typeface="+mn-lt"/>
              </a:rPr>
              <a:t>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4.6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HK" dirty="0"/>
          </a:p>
          <a:p>
            <a:pPr marL="457200" indent="-457200">
              <a:buAutoNum type="arabicPeriod"/>
            </a:pPr>
            <a:r>
              <a:rPr lang="en-HK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&lt; 18.5: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print( 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"Underweight"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22.9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print( 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"Normal weight"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24.9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print( 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"Overweight"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print("Obesity")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464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(input("Please input your class number: "))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group == 1: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print("You are in group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")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== 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print("You are in group ORANGE")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group == 3: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print("You are in group GREEN")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print("You are in group BLUE")</a:t>
            </a:r>
            <a:endParaRPr lang="en-HK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AutoNum type="arabicPeriod" startAt="2"/>
            </a:pPr>
            <a:endParaRPr lang="en-US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76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布爾邏輯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90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中的布爾</a:t>
            </a:r>
            <a:r>
              <a:rPr lang="zh-TW" altLang="en-US" dirty="0" smtClean="0">
                <a:latin typeface="+mn-lt"/>
              </a:rPr>
              <a:t>邏輯：</a:t>
            </a:r>
            <a:endParaRPr lang="en-GB" dirty="0">
              <a:latin typeface="+mn-lt"/>
            </a:endParaRPr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210694"/>
              </p:ext>
            </p:extLst>
          </p:nvPr>
        </p:nvGraphicFramePr>
        <p:xfrm>
          <a:off x="2335090" y="2557283"/>
          <a:ext cx="7881708" cy="1970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7118"/>
                <a:gridCol w="1833928"/>
                <a:gridCol w="3710662"/>
              </a:tblGrid>
              <a:tr h="49252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Python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="1" baseline="0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的布爾運算符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意義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例子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492529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及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 == 1) and (B &gt; 2)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529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或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 == 1) or (B &gt; 2)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529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不成立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 (A == 1)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70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迭代</a:t>
            </a:r>
            <a:r>
              <a:rPr lang="zh-TW" altLang="en-US" dirty="0" smtClean="0"/>
              <a:t>控制</a:t>
            </a:r>
            <a:r>
              <a:rPr lang="zh-TW" altLang="en-US" dirty="0"/>
              <a:t>結構，又</a:t>
            </a:r>
            <a:r>
              <a:rPr lang="zh-TW" altLang="en-US" dirty="0" smtClean="0"/>
              <a:t>稱為循環控制結構。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6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for </a:t>
            </a:r>
            <a:r>
              <a:rPr lang="zh-TW" altLang="en-US" b="1" dirty="0"/>
              <a:t>循環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中的 </a:t>
            </a:r>
            <a:r>
              <a:rPr lang="en-US" altLang="zh-TW" dirty="0" smtClean="0">
                <a:latin typeface="+mn-lt"/>
              </a:rPr>
              <a:t>for </a:t>
            </a:r>
            <a:r>
              <a:rPr lang="zh-TW" altLang="en-US" dirty="0" smtClean="0">
                <a:latin typeface="+mn-lt"/>
              </a:rPr>
              <a:t>循環：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6868675"/>
              </p:ext>
            </p:extLst>
          </p:nvPr>
        </p:nvGraphicFramePr>
        <p:xfrm>
          <a:off x="838200" y="2086494"/>
          <a:ext cx="10450484" cy="4039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9240"/>
                <a:gridCol w="8911244"/>
              </a:tblGrid>
              <a:tr h="198674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設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變量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}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由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起始值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}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至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最終值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循環體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}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3244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變量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}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in range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( 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起始值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}, 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最終值</a:t>
                      </a:r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+1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} ):</a:t>
                      </a:r>
                    </a:p>
                    <a:p>
                      <a:r>
                        <a:rPr lang="en-US" dirty="0" smtClean="0"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循環體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}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75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zh-TW" altLang="en-US" dirty="0" smtClean="0"/>
              <a:t>循環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/>
              <a:t>range() </a:t>
            </a:r>
            <a:r>
              <a:rPr lang="zh-TW" altLang="en-US" dirty="0"/>
              <a:t>函數傳回一系列的數字作為循環變量的值。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210201"/>
              </p:ext>
            </p:extLst>
          </p:nvPr>
        </p:nvGraphicFramePr>
        <p:xfrm>
          <a:off x="930237" y="2360817"/>
          <a:ext cx="10275319" cy="32020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2618"/>
                <a:gridCol w="3193367"/>
                <a:gridCol w="2250830"/>
                <a:gridCol w="2258504"/>
              </a:tblGrid>
              <a:tr h="478749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Noto Sans CJK TC Bold" panose="020B0800000000000000" pitchFamily="34" charset="-128"/>
                          <a:cs typeface="Courier New" panose="02070309020205020404" pitchFamily="49" charset="0"/>
                        </a:rPr>
                        <a:t>range()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函數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解釋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包含數列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90444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range(end)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從 </a:t>
                      </a:r>
                      <a:r>
                        <a:rPr lang="en-US" altLang="zh-TW" dirty="0" smtClean="0"/>
                        <a:t>0 </a:t>
                      </a:r>
                      <a:r>
                        <a:rPr lang="zh-TW" altLang="en-US" dirty="0" smtClean="0"/>
                        <a:t>開始每次遞增 </a:t>
                      </a:r>
                      <a:r>
                        <a:rPr lang="en-US" altLang="zh-TW" dirty="0" smtClean="0"/>
                        <a:t>1</a:t>
                      </a:r>
                      <a:r>
                        <a:rPr lang="zh-TW" altLang="en-US" dirty="0" smtClean="0"/>
                        <a:t>，</a:t>
                      </a:r>
                    </a:p>
                    <a:p>
                      <a:r>
                        <a:rPr lang="zh-TW" altLang="en-US" dirty="0" smtClean="0"/>
                        <a:t>直至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zh-TW" altLang="en-US" dirty="0" smtClean="0"/>
                        <a:t>（但不包括 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zh-TW" altLang="en-US" dirty="0" smtClean="0"/>
                        <a:t>）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range(4)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0, 1, 2, 3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444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range(start, end)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從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US" dirty="0" smtClean="0"/>
                        <a:t> </a:t>
                      </a:r>
                      <a:r>
                        <a:rPr lang="zh-TW" altLang="en-US" dirty="0" smtClean="0"/>
                        <a:t>開始每次遞增 </a:t>
                      </a:r>
                      <a:r>
                        <a:rPr lang="en-US" altLang="zh-TW" dirty="0" smtClean="0"/>
                        <a:t>1</a:t>
                      </a:r>
                      <a:r>
                        <a:rPr lang="zh-TW" altLang="en-US" dirty="0" smtClean="0"/>
                        <a:t>，</a:t>
                      </a:r>
                    </a:p>
                    <a:p>
                      <a:r>
                        <a:rPr lang="zh-TW" altLang="en-US" dirty="0" smtClean="0"/>
                        <a:t>直至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en-US" dirty="0" smtClean="0"/>
                        <a:t>（</a:t>
                      </a:r>
                      <a:r>
                        <a:rPr lang="zh-TW" altLang="en-US" dirty="0" smtClean="0"/>
                        <a:t>但不包括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en-US" dirty="0" smtClean="0"/>
                        <a:t>）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range(2, 5)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2, 3, 4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range(start, end, increment)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從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開始每次遞增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increment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直至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end</a:t>
                      </a:r>
                      <a:b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但不包括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range(2, 10, 3)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2, 5, 8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range(8, 2,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-3</a:t>
                      </a:r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8, 5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19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331127"/>
              </p:ext>
            </p:extLst>
          </p:nvPr>
        </p:nvGraphicFramePr>
        <p:xfrm>
          <a:off x="918803" y="2019994"/>
          <a:ext cx="10434996" cy="3919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8332"/>
                <a:gridCol w="3478332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760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range(1, 4):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</a:p>
                    <a:p>
                      <a:pPr algn="ctr"/>
                      <a:r>
                        <a:rPr lang="en-HK" dirty="0" smtClean="0"/>
                        <a:t>2</a:t>
                      </a:r>
                    </a:p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k in range(0, 7): 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06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491468"/>
              </p:ext>
            </p:extLst>
          </p:nvPr>
        </p:nvGraphicFramePr>
        <p:xfrm>
          <a:off x="918803" y="2019994"/>
          <a:ext cx="10434996" cy="4015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8332"/>
                <a:gridCol w="3478332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760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range(1, 4):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</a:p>
                    <a:p>
                      <a:pPr algn="ctr"/>
                      <a:r>
                        <a:rPr lang="en-HK" dirty="0" smtClean="0"/>
                        <a:t>2</a:t>
                      </a:r>
                    </a:p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k in range(0, 7): 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25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488499"/>
              </p:ext>
            </p:extLst>
          </p:nvPr>
        </p:nvGraphicFramePr>
        <p:xfrm>
          <a:off x="918803" y="2019994"/>
          <a:ext cx="10434996" cy="3919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8332"/>
                <a:gridCol w="3478332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760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range(3, 6): 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range(5): 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2)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86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620777"/>
              </p:ext>
            </p:extLst>
          </p:nvPr>
        </p:nvGraphicFramePr>
        <p:xfrm>
          <a:off x="918803" y="2019994"/>
          <a:ext cx="10434996" cy="3919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8332"/>
                <a:gridCol w="3478332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760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range(3, 6): 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range(5): 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2)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91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93038"/>
              </p:ext>
            </p:extLst>
          </p:nvPr>
        </p:nvGraphicFramePr>
        <p:xfrm>
          <a:off x="918803" y="2019994"/>
          <a:ext cx="10434996" cy="3919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6415"/>
                <a:gridCol w="3050249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760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k in range(5, 0, -1):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range(5, -1, -1):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38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185174"/>
              </p:ext>
            </p:extLst>
          </p:nvPr>
        </p:nvGraphicFramePr>
        <p:xfrm>
          <a:off x="918803" y="2019994"/>
          <a:ext cx="10434996" cy="3919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6415"/>
                <a:gridCol w="3050249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760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k in range(5, 0, -1):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print(k)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range(5, -1, -1):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47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9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464906"/>
              </p:ext>
            </p:extLst>
          </p:nvPr>
        </p:nvGraphicFramePr>
        <p:xfrm>
          <a:off x="918804" y="2484228"/>
          <a:ext cx="10434996" cy="2281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3772"/>
                <a:gridCol w="2862892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 = 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 (0, 6):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total = total +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print(total)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print(total/5)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HK" dirty="0" smtClean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33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54 </a:t>
            </a:r>
            <a:r>
              <a:rPr lang="zh-TW" altLang="en-US" dirty="0" smtClean="0">
                <a:latin typeface="+mn-lt"/>
              </a:rPr>
              <a:t>頁的活動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  <p:graphicFrame>
        <p:nvGraphicFramePr>
          <p:cNvPr id="9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17966"/>
              </p:ext>
            </p:extLst>
          </p:nvPr>
        </p:nvGraphicFramePr>
        <p:xfrm>
          <a:off x="918804" y="2484228"/>
          <a:ext cx="10434996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3772"/>
                <a:gridCol w="2862892"/>
                <a:gridCol w="347833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9162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 = 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 (0, 6):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total = total +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print(total)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print(total/5)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94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55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4.7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amount = float(input("Please input an amount: "))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amount // 10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print("*", end = "")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/>
            </a:r>
            <a:br>
              <a:rPr lang="en-US" dirty="0">
                <a:latin typeface="+mn-lt"/>
                <a:cs typeface="Courier New" panose="02070309020205020404" pitchFamily="49" charset="0"/>
              </a:rPr>
            </a:br>
            <a:endParaRPr lang="en-US" dirty="0">
              <a:latin typeface="+mn-lt"/>
              <a:cs typeface="Courier New" panose="02070309020205020404" pitchFamily="49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(input("X: "))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(input("Y: "))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result is: ", end = "")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 X+1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*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"", end = "")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559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latin typeface="+mn-lt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summation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n in range(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 k+1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summation = summation + 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print(summation)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HK" dirty="0">
              <a:latin typeface="+mn-lt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HK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(input())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factorial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 n+1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factorial = factorial *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print(factorial)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4.7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58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 </a:t>
            </a:r>
            <a:r>
              <a:rPr lang="zh-TW" altLang="en-US" dirty="0"/>
              <a:t>循環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104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HK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HK" dirty="0" smtClean="0"/>
              <a:t>Python </a:t>
            </a:r>
            <a:r>
              <a:rPr lang="zh-TW" altLang="en-US" dirty="0" smtClean="0"/>
              <a:t>中的 </a:t>
            </a:r>
            <a:r>
              <a:rPr lang="en-US" altLang="zh-TW" dirty="0" smtClean="0"/>
              <a:t>while </a:t>
            </a:r>
            <a:r>
              <a:rPr lang="zh-TW" altLang="en-US" dirty="0" smtClean="0"/>
              <a:t>循環：</a:t>
            </a:r>
            <a:endParaRPr lang="en-US" altLang="zh-TW" dirty="0" smtClean="0"/>
          </a:p>
          <a:p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0793"/>
              </p:ext>
            </p:extLst>
          </p:nvPr>
        </p:nvGraphicFramePr>
        <p:xfrm>
          <a:off x="971804" y="2103119"/>
          <a:ext cx="10167251" cy="4219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5665"/>
                <a:gridCol w="5411586"/>
              </a:tblGrid>
              <a:tr h="38312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1917962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當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條件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循環體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{</a:t>
                      </a:r>
                      <a:r>
                        <a:rPr lang="zh-TW" alt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條件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{</a:t>
                      </a:r>
                      <a:r>
                        <a:rPr lang="zh-TW" alt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循環體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7962">
                <a:tc>
                  <a:txBody>
                    <a:bodyPr/>
                    <a:lstStyle/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17</a:t>
                      </a:r>
                    </a:p>
                    <a:p>
                      <a:r>
                        <a:rPr lang="zh-TW" alt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當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num &lt; 100</a:t>
                      </a:r>
                    </a:p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zh-TW" alt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num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num + 17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17</a:t>
                      </a:r>
                    </a:p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num &lt; 100:</a:t>
                      </a:r>
                    </a:p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print(num)</a:t>
                      </a:r>
                    </a:p>
                    <a:p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num = num + 17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9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試完成課本第 </a:t>
            </a:r>
            <a:r>
              <a:rPr lang="en-US" altLang="zh-TW" dirty="0" smtClean="0"/>
              <a:t>58 </a:t>
            </a:r>
            <a:r>
              <a:rPr lang="zh-TW" altLang="en-US" dirty="0" smtClean="0"/>
              <a:t>頁的測試站</a:t>
            </a:r>
            <a:r>
              <a:rPr lang="en-US" altLang="zh-TW" dirty="0" smtClean="0"/>
              <a:t> 4.8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457200" indent="-457200">
              <a:buAutoNum type="arabicPeriod"/>
            </a:pPr>
            <a:r>
              <a:rPr lang="pt-BR" dirty="0">
                <a:latin typeface="+mn-lt"/>
                <a:cs typeface="Courier New" panose="02070309020205020404" pitchFamily="49" charset="0"/>
              </a:rPr>
              <a:t>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X = int(input())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Y = int(input())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num = Y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pt-B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 &lt;= X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	print(num)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 = num + Y</a:t>
            </a:r>
          </a:p>
          <a:p>
            <a:pPr marL="457200" indent="-457200">
              <a:buAutoNum type="arabicPeriod"/>
            </a:pPr>
            <a:r>
              <a:rPr lang="pt-BR" dirty="0">
                <a:latin typeface="+mn-lt"/>
                <a:cs typeface="Courier New" panose="02070309020205020404" pitchFamily="49" charset="0"/>
              </a:rPr>
              <a:t>(a) (i) </a:t>
            </a:r>
            <a:r>
              <a:rPr lang="pt-B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91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HK" dirty="0">
                <a:latin typeface="+mn-lt"/>
              </a:rPr>
              <a:t>(a) (ii)</a:t>
            </a:r>
          </a:p>
          <a:p>
            <a:r>
              <a:rPr lang="en-HK" dirty="0">
                <a:latin typeface="+mn-lt"/>
              </a:rPr>
              <a:t/>
            </a:r>
            <a:br>
              <a:rPr lang="en-HK" dirty="0">
                <a:latin typeface="+mn-lt"/>
              </a:rPr>
            </a:br>
            <a:r>
              <a:rPr lang="en-HK" dirty="0">
                <a:latin typeface="+mn-lt"/>
              </a:rPr>
              <a:t/>
            </a:r>
            <a:br>
              <a:rPr lang="en-HK" dirty="0">
                <a:latin typeface="+mn-lt"/>
              </a:rPr>
            </a:br>
            <a:r>
              <a:rPr lang="en-HK" dirty="0">
                <a:latin typeface="+mn-lt"/>
              </a:rPr>
              <a:t/>
            </a:r>
            <a:br>
              <a:rPr lang="en-HK" dirty="0">
                <a:latin typeface="+mn-lt"/>
              </a:rPr>
            </a:br>
            <a:r>
              <a:rPr lang="en-HK" dirty="0">
                <a:latin typeface="+mn-lt"/>
              </a:rPr>
              <a:t/>
            </a:r>
            <a:br>
              <a:rPr lang="en-HK" dirty="0">
                <a:latin typeface="+mn-lt"/>
              </a:rPr>
            </a:br>
            <a:endParaRPr lang="en-HK" dirty="0">
              <a:latin typeface="+mn-lt"/>
            </a:endParaRPr>
          </a:p>
          <a:p>
            <a:pPr lvl="1"/>
            <a:r>
              <a:rPr lang="en-HK" dirty="0">
                <a:latin typeface="+mn-lt"/>
              </a:rPr>
              <a:t>(b)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找出「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t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除以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d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」的餘數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4.8</a:t>
            </a:r>
            <a:endParaRPr lang="en-GB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97130"/>
              </p:ext>
            </p:extLst>
          </p:nvPr>
        </p:nvGraphicFramePr>
        <p:xfrm>
          <a:off x="2210402" y="1546167"/>
          <a:ext cx="5728256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2064"/>
                <a:gridCol w="1432064"/>
                <a:gridCol w="1432064"/>
                <a:gridCol w="1432064"/>
              </a:tblGrid>
              <a:tr h="31843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測試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t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53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後測循環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並沒有後測循環的</a:t>
            </a:r>
            <a:r>
              <a:rPr lang="zh-TW" altLang="en-US" dirty="0" smtClean="0">
                <a:latin typeface="+mn-lt"/>
              </a:rPr>
              <a:t>語句。要達致相同效果</a:t>
            </a:r>
            <a:r>
              <a:rPr lang="zh-TW" altLang="en-US" dirty="0">
                <a:latin typeface="+mn-lt"/>
              </a:rPr>
              <a:t>，</a:t>
            </a:r>
            <a:r>
              <a:rPr lang="zh-TW" altLang="en-US" dirty="0" smtClean="0">
                <a:latin typeface="+mn-lt"/>
              </a:rPr>
              <a:t>我們</a:t>
            </a:r>
            <a:r>
              <a:rPr lang="zh-TW" altLang="en-US" dirty="0">
                <a:latin typeface="+mn-lt"/>
              </a:rPr>
              <a:t>需要利用 </a:t>
            </a:r>
            <a:r>
              <a:rPr lang="en-US" altLang="zh-TW" dirty="0">
                <a:latin typeface="+mn-lt"/>
              </a:rPr>
              <a:t>while </a:t>
            </a:r>
            <a:r>
              <a:rPr lang="zh-TW" altLang="en-US" dirty="0" smtClean="0">
                <a:latin typeface="+mn-lt"/>
              </a:rPr>
              <a:t>循環。</a:t>
            </a:r>
            <a:endParaRPr lang="en-GB" dirty="0">
              <a:latin typeface="+mn-lt"/>
            </a:endParaRPr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214506"/>
              </p:ext>
            </p:extLst>
          </p:nvPr>
        </p:nvGraphicFramePr>
        <p:xfrm>
          <a:off x="1462253" y="2984270"/>
          <a:ext cx="761524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7622"/>
                <a:gridCol w="380762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E2E"/>
                    </a:solidFill>
                  </a:tcPr>
                </a:tc>
              </a:tr>
              <a:tr h="577597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執行</a:t>
                      </a:r>
                      <a:endParaRPr lang="en-HK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dirty="0" smtClean="0"/>
                        <a:t>	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輸入</a:t>
                      </a:r>
                      <a:r>
                        <a:rPr lang="en-HK" baseline="0" dirty="0" smtClean="0"/>
                        <a:t> X</a:t>
                      </a:r>
                    </a:p>
                    <a:p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當</a:t>
                      </a:r>
                      <a:r>
                        <a:rPr lang="en-HK" baseline="0" dirty="0" smtClean="0"/>
                        <a:t> X &lt;= 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HK" dirty="0" smtClean="0"/>
                    </a:p>
                    <a:p>
                      <a:r>
                        <a:rPr lang="en-HK" dirty="0" smtClean="0"/>
                        <a:t>X</a:t>
                      </a:r>
                      <a:r>
                        <a:rPr lang="en-HK" baseline="0" dirty="0" smtClean="0"/>
                        <a:t> = input()</a:t>
                      </a:r>
                    </a:p>
                    <a:p>
                      <a:r>
                        <a:rPr lang="en-HK" baseline="0" dirty="0" smtClean="0"/>
                        <a:t>while X &lt;= 0: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baseline="0" dirty="0" smtClean="0"/>
                        <a:t>	</a:t>
                      </a:r>
                      <a:r>
                        <a:rPr lang="en-HK" dirty="0" smtClean="0"/>
                        <a:t>X</a:t>
                      </a:r>
                      <a:r>
                        <a:rPr lang="en-HK" baseline="0" dirty="0" smtClean="0"/>
                        <a:t> = input()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baseline="0" dirty="0" smtClean="0"/>
                    </a:p>
                  </a:txBody>
                  <a:tcPr anchor="ctr">
                    <a:lnL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3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37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HK_Kelie_20220801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EPPT_HK_Kelie_20220801" id="{65F25E0B-E9C0-46F1-AB3B-56C4AD4346BF}" vid="{AA16955C-DB03-4B43-BEEC-E0AA3A935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DSEPPT_HK_Kelie_20220801</Template>
  <TotalTime>320</TotalTime>
  <Words>4999</Words>
  <Application>Microsoft Office PowerPoint</Application>
  <PresentationFormat>寬螢幕</PresentationFormat>
  <Paragraphs>1438</Paragraphs>
  <Slides>107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107</vt:i4>
      </vt:variant>
    </vt:vector>
  </HeadingPairs>
  <TitlesOfParts>
    <vt:vector size="119" baseType="lpstr">
      <vt:lpstr>Noto Sans CJK TC Bold</vt:lpstr>
      <vt:lpstr>Noto Sans CJK TC Light</vt:lpstr>
      <vt:lpstr>Noto Sans CJK TC Medium</vt:lpstr>
      <vt:lpstr>Noto Sans CJK TC Regular</vt:lpstr>
      <vt:lpstr>NotoSansCJKtc-Bold</vt:lpstr>
      <vt:lpstr>新細明體</vt:lpstr>
      <vt:lpstr>Arial</vt:lpstr>
      <vt:lpstr>Courier New</vt:lpstr>
      <vt:lpstr>Myriad Pro</vt:lpstr>
      <vt:lpstr>Tw Cen MT</vt:lpstr>
      <vt:lpstr>Wingdings</vt:lpstr>
      <vt:lpstr>DSEPPT_HK_Kelie_20220801</vt:lpstr>
      <vt:lpstr>第四課 Python 編程入門</vt:lpstr>
      <vt:lpstr>PowerPoint 簡報</vt:lpstr>
      <vt:lpstr>程式開發</vt:lpstr>
      <vt:lpstr>從偽代碼到編程語言</vt:lpstr>
      <vt:lpstr>從偽代碼到編程語言</vt:lpstr>
      <vt:lpstr>Python 整合開發環境</vt:lpstr>
      <vt:lpstr>從 Hello World! 開始理解 Python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基礎編程概念</vt:lpstr>
      <vt:lpstr>變量</vt:lpstr>
      <vt:lpstr>變量</vt:lpstr>
      <vt:lpstr>變量</vt:lpstr>
      <vt:lpstr>變量</vt:lpstr>
      <vt:lpstr>變量</vt:lpstr>
      <vt:lpstr>變量</vt:lpstr>
      <vt:lpstr>PowerPoint 簡報</vt:lpstr>
      <vt:lpstr>PowerPoint 簡報</vt:lpstr>
      <vt:lpstr>PowerPoint 簡報</vt:lpstr>
      <vt:lpstr>PowerPoint 簡報</vt:lpstr>
      <vt:lpstr>變量</vt:lpstr>
      <vt:lpstr>運算算式</vt:lpstr>
      <vt:lpstr>運算算式</vt:lpstr>
      <vt:lpstr>運算算式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輸出及輸入語句</vt:lpstr>
      <vt:lpstr>PowerPoint 簡報</vt:lpstr>
      <vt:lpstr>PowerPoint 簡報</vt:lpstr>
      <vt:lpstr>PowerPoint 簡報</vt:lpstr>
      <vt:lpstr>PowerPoint 簡報</vt:lpstr>
      <vt:lpstr>輸出及輸入語句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函數</vt:lpstr>
      <vt:lpstr>函數</vt:lpstr>
      <vt:lpstr>PowerPoint 簡報</vt:lpstr>
      <vt:lpstr>函數</vt:lpstr>
      <vt:lpstr>PowerPoint 簡報</vt:lpstr>
      <vt:lpstr>PowerPoint 簡報</vt:lpstr>
      <vt:lpstr>選擇</vt:lpstr>
      <vt:lpstr>布爾算式</vt:lpstr>
      <vt:lpstr>對分選擇</vt:lpstr>
      <vt:lpstr>對分選擇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多向選擇</vt:lpstr>
      <vt:lpstr>多向選擇</vt:lpstr>
      <vt:lpstr>PowerPoint 簡報</vt:lpstr>
      <vt:lpstr>PowerPoint 簡報</vt:lpstr>
      <vt:lpstr>PowerPoint 簡報</vt:lpstr>
      <vt:lpstr>PowerPoint 簡報</vt:lpstr>
      <vt:lpstr>PowerPoint 簡報</vt:lpstr>
      <vt:lpstr>布爾邏輯</vt:lpstr>
      <vt:lpstr>迭代</vt:lpstr>
      <vt:lpstr>for 循環</vt:lpstr>
      <vt:lpstr>for 循環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while 循環</vt:lpstr>
      <vt:lpstr>PowerPoint 簡報</vt:lpstr>
      <vt:lpstr>PowerPoint 簡報</vt:lpstr>
      <vt:lpstr>後測循環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Cherry</dc:creator>
  <cp:lastModifiedBy>Cherry</cp:lastModifiedBy>
  <cp:revision>44</cp:revision>
  <dcterms:created xsi:type="dcterms:W3CDTF">2022-08-17T05:28:11Z</dcterms:created>
  <dcterms:modified xsi:type="dcterms:W3CDTF">2022-08-19T07:13:33Z</dcterms:modified>
</cp:coreProperties>
</file>