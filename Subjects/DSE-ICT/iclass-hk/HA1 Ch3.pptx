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2" r:id="rId16"/>
    <p:sldId id="271" r:id="rId17"/>
    <p:sldId id="274"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8"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3" r:id="rId46"/>
    <p:sldId id="302"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1" r:id="rId94"/>
    <p:sldId id="350" r:id="rId95"/>
    <p:sldId id="354" r:id="rId96"/>
    <p:sldId id="352"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2" r:id="rId135"/>
    <p:sldId id="393" r:id="rId136"/>
    <p:sldId id="394" r:id="rId137"/>
    <p:sldId id="395" r:id="rId138"/>
    <p:sldId id="396" r:id="rId139"/>
    <p:sldId id="397" r:id="rId140"/>
    <p:sldId id="398" r:id="rId141"/>
    <p:sldId id="399" r:id="rId142"/>
    <p:sldId id="400" r:id="rId143"/>
    <p:sldId id="401" r:id="rId144"/>
    <p:sldId id="402" r:id="rId145"/>
    <p:sldId id="403" r:id="rId146"/>
    <p:sldId id="404" r:id="rId147"/>
    <p:sldId id="405" r:id="rId148"/>
    <p:sldId id="406" r:id="rId149"/>
    <p:sldId id="407" r:id="rId150"/>
    <p:sldId id="408" r:id="rId151"/>
    <p:sldId id="409" r:id="rId152"/>
    <p:sldId id="410" r:id="rId153"/>
    <p:sldId id="411" r:id="rId154"/>
    <p:sldId id="412" r:id="rId1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A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HK">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lnSpc>
                <a:spcPct val="100000"/>
              </a:lnSpc>
              <a:defRPr b="0">
                <a:solidFill>
                  <a:srgbClr val="007078"/>
                </a:solidFill>
                <a:latin typeface="Noto Sans CJK TC Bold" panose="020B0800000000000000" pitchFamily="34" charset="-128"/>
                <a:ea typeface="Noto Sans CJK TC Bold" panose="020B0800000000000000" pitchFamily="34" charset="-128"/>
              </a:defRPr>
            </a:lvl1pPr>
          </a:lstStyle>
          <a:p>
            <a:r>
              <a:rPr lang="zh-TW" altLang="en-US"/>
              <a:t>按一下以編輯母片標題樣式</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zh-TW" altLang="en-US" sz="5400" b="1" dirty="0">
                <a:solidFill>
                  <a:srgbClr val="00A0A9"/>
                </a:solidFill>
                <a:latin typeface="Noto Sans CJK TC Medium" panose="020B0600000000000000" pitchFamily="34" charset="-128"/>
                <a:ea typeface="Noto Sans CJK TC Medium" panose="020B0600000000000000" pitchFamily="34" charset="-128"/>
              </a:rPr>
              <a:t>明德資訊及通訊科技</a:t>
            </a:r>
            <a:endParaRPr lang="en-GB" altLang="zh-TW" sz="5400" b="1" dirty="0">
              <a:solidFill>
                <a:srgbClr val="00A0A9"/>
              </a:solidFill>
              <a:latin typeface="Noto Sans CJK TC Medium" panose="020B0600000000000000" pitchFamily="34" charset="-128"/>
              <a:ea typeface="Noto Sans CJK TC Medium" panose="020B0600000000000000" pitchFamily="34" charset="-128"/>
            </a:endParaRPr>
          </a:p>
        </p:txBody>
      </p:sp>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3"/>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B47D0310-AA82-8F1E-85B7-9D84E0B5E566}"/>
              </a:ext>
            </a:extLst>
          </p:cNvPr>
          <p:cNvPicPr>
            <a:picLocks noGrp="1" noRot="1" noChangeAspect="1" noMove="1" noResize="1" noEditPoints="1" noAdjustHandles="1" noChangeArrowheads="1" noChangeShapeType="1" noCrop="1"/>
          </p:cNvPicPr>
          <p:nvPr/>
        </p:nvPicPr>
        <p:blipFill>
          <a:blip r:embed="rId4"/>
          <a:stretch>
            <a:fillRect/>
          </a:stretch>
        </p:blipFill>
        <p:spPr>
          <a:xfrm>
            <a:off x="4880448" y="2853016"/>
            <a:ext cx="2113404" cy="5076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HK">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lnSpc>
                <a:spcPct val="100000"/>
              </a:lnSpc>
              <a:defRPr b="0">
                <a:solidFill>
                  <a:srgbClr val="007078"/>
                </a:solidFill>
                <a:latin typeface="Noto Sans CJK TC Bold" panose="020B0800000000000000" pitchFamily="34" charset="-128"/>
                <a:ea typeface="Noto Sans CJK TC Bold" panose="020B0800000000000000" pitchFamily="34" charset="-128"/>
              </a:defRPr>
            </a:lvl1pPr>
          </a:lstStyle>
          <a:p>
            <a:r>
              <a:rPr lang="zh-TW" altLang="en-US"/>
              <a:t>按一下以編輯母片標題樣式</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rPr>
              <a:t>明德資訊及通訊科技</a:t>
            </a:r>
            <a:endParaRPr kumimoji="0" lang="en-GB" altLang="zh-TW"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endParaRPr>
          </a:p>
        </p:txBody>
      </p:sp>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3"/>
          <a:stretch>
            <a:fillRect/>
          </a:stretch>
        </p:blipFill>
        <p:spPr>
          <a:xfrm>
            <a:off x="3199169" y="724908"/>
            <a:ext cx="5712455" cy="784800"/>
          </a:xfrm>
          <a:prstGeom prst="rect">
            <a:avLst/>
          </a:prstGeom>
        </p:spPr>
      </p:pic>
      <p:pic>
        <p:nvPicPr>
          <p:cNvPr id="3" name="Picture 2">
            <a:extLst>
              <a:ext uri="{FF2B5EF4-FFF2-40B4-BE49-F238E27FC236}">
                <a16:creationId xmlns:a16="http://schemas.microsoft.com/office/drawing/2014/main" id="{A941542A-A967-C085-B406-0716C05FAE44}"/>
              </a:ext>
            </a:extLst>
          </p:cNvPr>
          <p:cNvPicPr>
            <a:picLocks noGrp="1" noRot="1" noChangeAspect="1" noMove="1" noResize="1" noEditPoints="1" noAdjustHandles="1" noChangeArrowheads="1" noChangeShapeType="1" noCrop="1"/>
          </p:cNvPicPr>
          <p:nvPr/>
        </p:nvPicPr>
        <p:blipFill>
          <a:blip r:embed="rId4"/>
          <a:stretch>
            <a:fillRect/>
          </a:stretch>
        </p:blipFill>
        <p:spPr>
          <a:xfrm>
            <a:off x="4880448" y="2853016"/>
            <a:ext cx="2787011" cy="5076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HK">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lnSpc>
                <a:spcPct val="100000"/>
              </a:lnSpc>
              <a:defRPr b="0">
                <a:solidFill>
                  <a:srgbClr val="007078"/>
                </a:solidFill>
                <a:latin typeface="Noto Sans CJK TC Bold" panose="020B0800000000000000" pitchFamily="34" charset="-128"/>
                <a:ea typeface="Noto Sans CJK TC Bold" panose="020B0800000000000000" pitchFamily="34" charset="-128"/>
              </a:defRPr>
            </a:lvl1pPr>
          </a:lstStyle>
          <a:p>
            <a:r>
              <a:rPr lang="zh-TW" altLang="en-US"/>
              <a:t>按一下以編輯母片標題樣式</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rPr>
              <a:t>明德資訊及通訊科技</a:t>
            </a:r>
            <a:endParaRPr kumimoji="0" lang="en-GB" altLang="zh-TW"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endParaRP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3"/>
          <a:stretch>
            <a:fillRect/>
          </a:stretch>
        </p:blipFill>
        <p:spPr>
          <a:xfrm>
            <a:off x="3199169" y="724908"/>
            <a:ext cx="5712455" cy="784800"/>
          </a:xfrm>
          <a:prstGeom prst="rect">
            <a:avLst/>
          </a:prstGeom>
        </p:spPr>
      </p:pic>
      <p:pic>
        <p:nvPicPr>
          <p:cNvPr id="3" name="Picture 2">
            <a:extLst>
              <a:ext uri="{FF2B5EF4-FFF2-40B4-BE49-F238E27FC236}">
                <a16:creationId xmlns:a16="http://schemas.microsoft.com/office/drawing/2014/main" id="{BD1A92E3-3244-CFBD-6601-65380FC61F35}"/>
              </a:ext>
            </a:extLst>
          </p:cNvPr>
          <p:cNvPicPr>
            <a:picLocks noGrp="1" noRot="1" noChangeAspect="1" noMove="1" noResize="1" noEditPoints="1" noAdjustHandles="1" noChangeArrowheads="1" noChangeShapeType="1" noCrop="1"/>
          </p:cNvPicPr>
          <p:nvPr/>
        </p:nvPicPr>
        <p:blipFill>
          <a:blip r:embed="rId4"/>
          <a:stretch>
            <a:fillRect/>
          </a:stretch>
        </p:blipFill>
        <p:spPr>
          <a:xfrm>
            <a:off x="4880448" y="2853016"/>
            <a:ext cx="3189260" cy="5076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HK">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lnSpc>
                <a:spcPct val="100000"/>
              </a:lnSpc>
              <a:defRPr b="0">
                <a:solidFill>
                  <a:srgbClr val="007078"/>
                </a:solidFill>
                <a:latin typeface="Noto Sans CJK TC Bold" panose="020B0800000000000000" pitchFamily="34" charset="-128"/>
                <a:ea typeface="Noto Sans CJK TC Bold" panose="020B0800000000000000" pitchFamily="34" charset="-128"/>
              </a:defRPr>
            </a:lvl1pPr>
          </a:lstStyle>
          <a:p>
            <a:r>
              <a:rPr lang="zh-TW" altLang="en-US"/>
              <a:t>按一下以編輯母片標題樣式</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rPr>
              <a:t>明德資訊及通訊科技</a:t>
            </a:r>
            <a:endParaRPr kumimoji="0" lang="en-GB" altLang="zh-TW"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endParaRPr>
          </a:p>
        </p:txBody>
      </p:sp>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3"/>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29066DD1-D16A-E0C9-4F5E-5F3B3D94FE4B}"/>
              </a:ext>
            </a:extLst>
          </p:cNvPr>
          <p:cNvPicPr>
            <a:picLocks noGrp="1" noRot="1" noChangeAspect="1" noMove="1" noResize="1" noEditPoints="1" noAdjustHandles="1" noChangeArrowheads="1" noChangeShapeType="1" noCrop="1"/>
          </p:cNvPicPr>
          <p:nvPr/>
        </p:nvPicPr>
        <p:blipFill>
          <a:blip r:embed="rId4"/>
          <a:stretch>
            <a:fillRect/>
          </a:stretch>
        </p:blipFill>
        <p:spPr>
          <a:xfrm>
            <a:off x="4880448" y="2853016"/>
            <a:ext cx="3933102" cy="5076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HK">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lnSpc>
                <a:spcPct val="100000"/>
              </a:lnSpc>
              <a:defRPr b="0">
                <a:solidFill>
                  <a:srgbClr val="007078"/>
                </a:solidFill>
                <a:latin typeface="Noto Sans CJK TC Bold" panose="020B0800000000000000" pitchFamily="34" charset="-128"/>
                <a:ea typeface="Noto Sans CJK TC Bold" panose="020B0800000000000000" pitchFamily="34" charset="-128"/>
              </a:defRPr>
            </a:lvl1pPr>
          </a:lstStyle>
          <a:p>
            <a:r>
              <a:rPr lang="zh-TW" altLang="en-US"/>
              <a:t>按一下以編輯母片標題樣式</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rPr>
              <a:t>明德資訊及通訊科技</a:t>
            </a:r>
            <a:endParaRPr kumimoji="0" lang="en-GB" altLang="zh-TW" sz="5400" b="1" i="0" u="none" strike="noStrike" kern="1200" cap="none" spc="0" normalizeH="0" baseline="0" noProof="0" dirty="0">
              <a:ln>
                <a:noFill/>
              </a:ln>
              <a:solidFill>
                <a:srgbClr val="00A0A9"/>
              </a:solidFill>
              <a:effectLst/>
              <a:uLnTx/>
              <a:uFillTx/>
              <a:latin typeface="Noto Sans CJK TC Medium" panose="020B0600000000000000" pitchFamily="34" charset="-128"/>
              <a:ea typeface="Noto Sans CJK TC Medium" panose="020B0600000000000000" pitchFamily="34" charset="-128"/>
              <a:cs typeface="+mn-cs"/>
            </a:endParaRPr>
          </a:p>
        </p:txBody>
      </p:sp>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3"/>
          <a:stretch>
            <a:fillRect/>
          </a:stretch>
        </p:blipFill>
        <p:spPr>
          <a:xfrm>
            <a:off x="3199169" y="724908"/>
            <a:ext cx="5712455" cy="784800"/>
          </a:xfrm>
          <a:prstGeom prst="rect">
            <a:avLst/>
          </a:prstGeom>
        </p:spPr>
      </p:pic>
      <p:pic>
        <p:nvPicPr>
          <p:cNvPr id="3" name="Picture 2">
            <a:extLst>
              <a:ext uri="{FF2B5EF4-FFF2-40B4-BE49-F238E27FC236}">
                <a16:creationId xmlns:a16="http://schemas.microsoft.com/office/drawing/2014/main" id="{3E0A19B2-6EE3-F634-8DE6-6BB0ACDC932A}"/>
              </a:ext>
            </a:extLst>
          </p:cNvPr>
          <p:cNvPicPr>
            <a:picLocks noGrp="1" noRot="1" noChangeAspect="1" noMove="1" noResize="1" noEditPoints="1" noAdjustHandles="1" noChangeArrowheads="1" noChangeShapeType="1" noCrop="1"/>
          </p:cNvPicPr>
          <p:nvPr/>
        </p:nvPicPr>
        <p:blipFill>
          <a:blip r:embed="rId4"/>
          <a:stretch>
            <a:fillRect/>
          </a:stretch>
        </p:blipFill>
        <p:spPr>
          <a:xfrm>
            <a:off x="4880448" y="2853016"/>
            <a:ext cx="5130272" cy="5076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H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959AFF4-B8A0-A3C7-7993-7FA710926B64}"/>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zh-TW" altLang="en-US"/>
              <a:t>按一下圖示以新增圖片</a:t>
            </a:r>
            <a:endParaRPr lang="en-GB" dirty="0"/>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H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EF8422-2834-DB27-5926-614C3330A127}"/>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Noto Sans CJK TC Light" panose="020B0300000000000000" pitchFamily="34" charset="-128"/>
                <a:ea typeface="Noto Sans CJK TC Light" panose="020B0300000000000000" pitchFamily="34" charset="-128"/>
              </a:defRPr>
            </a:lvl1pPr>
            <a:lvl2pPr>
              <a:defRPr>
                <a:latin typeface="Noto Sans CJK TC Light" panose="020B0300000000000000" pitchFamily="34" charset="-128"/>
                <a:ea typeface="Noto Sans CJK TC Light" panose="020B0300000000000000" pitchFamily="34" charset="-128"/>
              </a:defRPr>
            </a:lvl2pPr>
            <a:lvl3pPr>
              <a:defRPr>
                <a:latin typeface="Noto Sans CJK TC Light" panose="020B0300000000000000" pitchFamily="34" charset="-128"/>
                <a:ea typeface="Noto Sans CJK TC Light" panose="020B0300000000000000" pitchFamily="34" charset="-128"/>
              </a:defRPr>
            </a:lvl3pPr>
            <a:lvl4pPr>
              <a:defRPr>
                <a:latin typeface="Noto Sans CJK TC Light" panose="020B0300000000000000" pitchFamily="34" charset="-128"/>
                <a:ea typeface="Noto Sans CJK TC Light" panose="020B0300000000000000" pitchFamily="34" charset="-128"/>
              </a:defRPr>
            </a:lvl4pPr>
            <a:lvl5pPr>
              <a:defRPr>
                <a:latin typeface="Noto Sans CJK TC Light" panose="020B0300000000000000" pitchFamily="34" charset="-128"/>
                <a:ea typeface="Noto Sans CJK TC Light" panose="020B0300000000000000" pitchFamily="34" charset="-128"/>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zh-TW" altLang="en-US"/>
              <a:t>按一下圖示以新增圖片</a:t>
            </a:r>
            <a:endParaRPr lang="en-GB" dirty="0"/>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H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A5034A-907A-8C5B-D5CC-924E35AB3B3C}"/>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zh-TW" altLang="en-US"/>
              <a:t>按一下圖示以新增圖片</a:t>
            </a:r>
            <a:endParaRPr lang="en-GB" dirty="0"/>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H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78B562-C8FA-FAB0-08D4-4DD48144311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zh-TW" altLang="en-US"/>
              <a:t>按一下圖示以新增圖片</a:t>
            </a:r>
            <a:endParaRPr lang="en-GB" dirty="0"/>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H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8F1F850-D926-8BC4-36C0-7FD5EFC486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Noto Sans CJK TC Light" panose="020B0300000000000000" pitchFamily="34" charset="-128"/>
                <a:ea typeface="Noto Sans CJK TC Light" panose="020B0300000000000000" pitchFamily="34" charset="-128"/>
              </a:defRPr>
            </a:lvl1pPr>
            <a:lvl2pPr>
              <a:defRPr>
                <a:latin typeface="Noto Sans CJK TC Light" panose="020B0300000000000000" pitchFamily="34" charset="-128"/>
                <a:ea typeface="Noto Sans CJK TC Light" panose="020B0300000000000000" pitchFamily="34" charset="-128"/>
              </a:defRPr>
            </a:lvl2pPr>
            <a:lvl3pPr>
              <a:defRPr>
                <a:latin typeface="Noto Sans CJK TC Light" panose="020B0300000000000000" pitchFamily="34" charset="-128"/>
                <a:ea typeface="Noto Sans CJK TC Light" panose="020B0300000000000000" pitchFamily="34" charset="-128"/>
              </a:defRPr>
            </a:lvl3pPr>
            <a:lvl4pPr>
              <a:defRPr>
                <a:latin typeface="Noto Sans CJK TC Light" panose="020B0300000000000000" pitchFamily="34" charset="-128"/>
                <a:ea typeface="Noto Sans CJK TC Light" panose="020B0300000000000000" pitchFamily="34" charset="-128"/>
              </a:defRPr>
            </a:lvl4pPr>
            <a:lvl5pPr>
              <a:defRPr>
                <a:latin typeface="Noto Sans CJK TC Light" panose="020B0300000000000000" pitchFamily="34" charset="-128"/>
                <a:ea typeface="Noto Sans CJK TC Light" panose="020B0300000000000000" pitchFamily="34" charset="-128"/>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zh-TW" altLang="en-US"/>
              <a:t>按一下圖示以新增圖片</a:t>
            </a:r>
            <a:endParaRPr lang="en-GB" dirty="0"/>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zh-TW" altLang="en-US"/>
              <a:t>按一下以編輯母片標題樣式</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zh-TW" altLang="en-US"/>
              <a:t>按一下以編輯母片標題樣式</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zh-TW" altLang="en-US"/>
              <a:t>按一下以編輯母片標題樣式</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zh-TW" altLang="en-US"/>
              <a:t>按一下以編輯母片標題樣式</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zh-TW" altLang="en-US"/>
              <a:t>按一下以編輯母片標題樣式</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xample-H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DC08FA-FC71-5479-9731-ACADDACDB122}"/>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2469345"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eckpoint-HK">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78BB05-006A-84B6-7DC5-1C78180EC9C8}"/>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763795"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ctivity-H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1F04E3-1448-35F1-6590-2963551E3984}"/>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70901"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ab-H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D7C970-CC55-F612-1833-02A18D885992}"/>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74383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latin typeface="Noto Sans CJK TC Medium" panose="020B0600000000000000" pitchFamily="34" charset="-128"/>
                <a:ea typeface="Noto Sans CJK TC Medium" panose="020B0600000000000000" pitchFamily="34" charset="-128"/>
              </a:rPr>
              <a:t>常見錯誤</a:t>
            </a:r>
            <a:endParaRPr lang="en-US" b="0" i="0" dirty="0">
              <a:latin typeface="Noto Sans CJK TC Medium" panose="020B0600000000000000" pitchFamily="34" charset="-128"/>
              <a:ea typeface="Noto Sans CJK TC Medium" panose="020B0600000000000000" pitchFamily="34" charset="-128"/>
            </a:endParaRPr>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latin typeface="Noto Sans CJK TC Medium" panose="020B0600000000000000" pitchFamily="34" charset="-128"/>
                <a:ea typeface="Noto Sans CJK TC Medium" panose="020B0600000000000000" pitchFamily="34" charset="-128"/>
              </a:rPr>
              <a:t>試想想</a:t>
            </a:r>
            <a:endParaRPr lang="en-US" b="0" i="0" dirty="0">
              <a:latin typeface="Noto Sans CJK TC Medium" panose="020B0600000000000000" pitchFamily="34" charset="-128"/>
              <a:ea typeface="Noto Sans CJK TC Medium" panose="020B0600000000000000" pitchFamily="34" charset="-128"/>
            </a:endParaRP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dirty="0"/>
          </a:p>
        </p:txBody>
      </p:sp>
    </p:spTree>
    <p:extLst>
      <p:ext uri="{BB962C8B-B14F-4D97-AF65-F5344CB8AC3E}">
        <p14:creationId xmlns:p14="http://schemas.microsoft.com/office/powerpoint/2010/main" val="348102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solidFill>
                  <a:srgbClr val="84AD40"/>
                </a:solidFill>
                <a:latin typeface="Noto Sans CJK TC Medium" panose="020B0600000000000000" pitchFamily="34" charset="-128"/>
                <a:ea typeface="Noto Sans CJK TC Medium" panose="020B0600000000000000" pitchFamily="34" charset="-128"/>
              </a:rPr>
              <a:t>提示</a:t>
            </a:r>
            <a:endParaRPr lang="en-US" b="0" i="0" dirty="0">
              <a:solidFill>
                <a:srgbClr val="84AD40"/>
              </a:solidFill>
              <a:latin typeface="Noto Sans CJK TC Medium" panose="020B0600000000000000" pitchFamily="34" charset="-128"/>
              <a:ea typeface="Noto Sans CJK TC Medium" panose="020B0600000000000000" pitchFamily="34" charset="-128"/>
            </a:endParaRP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solidFill>
                  <a:srgbClr val="7570B3"/>
                </a:solidFill>
                <a:latin typeface="Noto Sans CJK TC Medium" panose="020B0600000000000000" pitchFamily="34" charset="-128"/>
                <a:ea typeface="Noto Sans CJK TC Medium" panose="020B0600000000000000" pitchFamily="34" charset="-128"/>
              </a:rPr>
              <a:t>類比</a:t>
            </a:r>
            <a:endParaRPr lang="en-US" b="0" i="0" dirty="0">
              <a:solidFill>
                <a:srgbClr val="7570B3"/>
              </a:solidFill>
              <a:latin typeface="Noto Sans CJK TC Medium" panose="020B0600000000000000" pitchFamily="34" charset="-128"/>
              <a:ea typeface="Noto Sans CJK TC Medium" panose="020B0600000000000000" pitchFamily="34" charset="-128"/>
            </a:endParaRP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solidFill>
                  <a:srgbClr val="7570B3"/>
                </a:solidFill>
                <a:latin typeface="Noto Sans CJK TC Medium" panose="020B0600000000000000" pitchFamily="34" charset="-128"/>
                <a:ea typeface="Noto Sans CJK TC Medium" panose="020B0600000000000000" pitchFamily="34" charset="-128"/>
              </a:rPr>
              <a:t>擴闊視野</a:t>
            </a:r>
            <a:endParaRPr lang="en-US" b="0" i="0" dirty="0">
              <a:solidFill>
                <a:srgbClr val="7570B3"/>
              </a:solidFill>
              <a:latin typeface="Noto Sans CJK TC Medium" panose="020B0600000000000000" pitchFamily="34" charset="-128"/>
              <a:ea typeface="Noto Sans CJK TC Medium" panose="020B0600000000000000" pitchFamily="34" charset="-128"/>
            </a:endParaRP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solidFill>
                  <a:srgbClr val="7570B3"/>
                </a:solidFill>
                <a:latin typeface="Noto Sans CJK TC Medium" panose="020B0600000000000000" pitchFamily="34" charset="-128"/>
                <a:ea typeface="Noto Sans CJK TC Medium" panose="020B0600000000000000" pitchFamily="34" charset="-128"/>
              </a:rPr>
              <a:t>古往今來</a:t>
            </a:r>
            <a:endParaRPr lang="en-US" b="0" i="0" dirty="0">
              <a:solidFill>
                <a:srgbClr val="7570B3"/>
              </a:solidFill>
              <a:latin typeface="Noto Sans CJK TC Medium" panose="020B0600000000000000" pitchFamily="34" charset="-128"/>
              <a:ea typeface="Noto Sans CJK TC Medium" panose="020B0600000000000000" pitchFamily="34" charset="-128"/>
            </a:endParaRP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ja-JP" altLang="en-US" b="0" i="0" dirty="0">
                <a:solidFill>
                  <a:srgbClr val="C6993D"/>
                </a:solidFill>
                <a:latin typeface="Noto Sans CJK TC Medium" panose="020B0600000000000000" pitchFamily="34" charset="-128"/>
                <a:ea typeface="Noto Sans CJK TC Medium" panose="020B0600000000000000" pitchFamily="34" charset="-128"/>
              </a:rPr>
              <a:t>網上資源</a:t>
            </a:r>
            <a:endParaRPr lang="en-US" b="0" i="0" dirty="0">
              <a:solidFill>
                <a:srgbClr val="C6993D"/>
              </a:solidFill>
              <a:latin typeface="Noto Sans CJK TC Medium" panose="020B0600000000000000" pitchFamily="34" charset="-128"/>
              <a:ea typeface="Noto Sans CJK TC Medium" panose="020B0600000000000000" pitchFamily="34" charset="-128"/>
            </a:endParaRP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zh-TW" altLang="en-US"/>
              <a:t>按一下圖示以新增圖片</a:t>
            </a:r>
            <a:endParaRPr lang="en-GB" dirty="0"/>
          </a:p>
        </p:txBody>
      </p:sp>
    </p:spTree>
    <p:extLst>
      <p:ext uri="{BB962C8B-B14F-4D97-AF65-F5344CB8AC3E}">
        <p14:creationId xmlns:p14="http://schemas.microsoft.com/office/powerpoint/2010/main" val="912131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1"/>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1/5/2024</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GB" dirty="0"/>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21" r:id="rId12"/>
    <p:sldLayoutId id="2147483722" r:id="rId13"/>
    <p:sldLayoutId id="2147483723" r:id="rId14"/>
    <p:sldLayoutId id="2147483724" r:id="rId15"/>
    <p:sldLayoutId id="2147483706" r:id="rId16"/>
    <p:sldLayoutId id="2147483707" r:id="rId17"/>
    <p:sldLayoutId id="2147483708" r:id="rId18"/>
    <p:sldLayoutId id="2147483709" r:id="rId19"/>
    <p:sldLayoutId id="2147483712" r:id="rId20"/>
    <p:sldLayoutId id="2147483714" r:id="rId21"/>
    <p:sldLayoutId id="2147483715" r:id="rId22"/>
    <p:sldLayoutId id="2147483716" r:id="rId23"/>
    <p:sldLayoutId id="2147483717" r:id="rId24"/>
    <p:sldLayoutId id="2147483718" r:id="rId25"/>
    <p:sldLayoutId id="2147483719" r:id="rId26"/>
    <p:sldLayoutId id="2147483720" r:id="rId27"/>
    <p:sldLayoutId id="2147483710" r:id="rId28"/>
    <p:sldLayoutId id="2147483711" r:id="rId29"/>
  </p:sldLayoutIdLst>
  <p:hf hdr="0" ftr="0" dt="0"/>
  <p:txStyles>
    <p:titleStyle>
      <a:lvl1pPr algn="l" defTabSz="914400" rtl="0" eaLnBrk="1" latinLnBrk="0" hangingPunct="1">
        <a:lnSpc>
          <a:spcPct val="90000"/>
        </a:lnSpc>
        <a:spcBef>
          <a:spcPct val="0"/>
        </a:spcBef>
        <a:buNone/>
        <a:defRPr sz="3200" b="0" kern="1200" cap="none" baseline="0">
          <a:solidFill>
            <a:srgbClr val="606060"/>
          </a:solidFill>
          <a:latin typeface="Noto Sans CJK TC Bold" panose="020B0800000000000000" pitchFamily="34" charset="-128"/>
          <a:ea typeface="Noto Sans CJK TC Bold" panose="020B0800000000000000" pitchFamily="34" charset="-128"/>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Noto Sans CJK TC Light" panose="020B0300000000000000" pitchFamily="34" charset="-128"/>
          <a:ea typeface="Noto Sans CJK TC Light" panose="020B0300000000000000" pitchFamily="34" charset="-128"/>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Noto Sans CJK TC Light" panose="020B0300000000000000" pitchFamily="34" charset="-128"/>
          <a:ea typeface="Noto Sans CJK TC Light" panose="020B0300000000000000" pitchFamily="34" charset="-128"/>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Noto Sans CJK TC Light" panose="020B0300000000000000" pitchFamily="34" charset="-128"/>
          <a:ea typeface="Noto Sans CJK TC Light" panose="020B0300000000000000" pitchFamily="34" charset="-128"/>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Noto Sans CJK TC Light" panose="020B0300000000000000" pitchFamily="34" charset="-128"/>
          <a:ea typeface="Noto Sans CJK TC Light" panose="020B0300000000000000" pitchFamily="34" charset="-128"/>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Noto Sans CJK TC Light" panose="020B0300000000000000" pitchFamily="34" charset="-128"/>
          <a:ea typeface="Noto Sans CJK TC Light" panose="020B0300000000000000" pitchFamily="34" charset="-128"/>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8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3.xml"/><Relationship Id="rId5" Type="http://schemas.openxmlformats.org/officeDocument/2006/relationships/image" Target="../media/image80.png"/><Relationship Id="rId4" Type="http://schemas.openxmlformats.org/officeDocument/2006/relationships/image" Target="../media/image7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8.xml"/><Relationship Id="rId4" Type="http://schemas.openxmlformats.org/officeDocument/2006/relationships/image" Target="../media/image9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8.xml"/><Relationship Id="rId4" Type="http://schemas.openxmlformats.org/officeDocument/2006/relationships/image" Target="../media/image9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3.xml"/><Relationship Id="rId5" Type="http://schemas.openxmlformats.org/officeDocument/2006/relationships/image" Target="../media/image107.png"/><Relationship Id="rId4" Type="http://schemas.openxmlformats.org/officeDocument/2006/relationships/image" Target="../media/image106.png"/></Relationships>
</file>

<file path=ppt/slides/_rels/slide12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3.xml"/><Relationship Id="rId4" Type="http://schemas.openxmlformats.org/officeDocument/2006/relationships/image" Target="../media/image112.png"/></Relationships>
</file>

<file path=ppt/slides/_rels/slide12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第三課</a:t>
            </a:r>
            <a:r>
              <a:rPr lang="en-US" altLang="zh-TW" dirty="0"/>
              <a:t/>
            </a:r>
            <a:br>
              <a:rPr lang="en-US" altLang="zh-TW" dirty="0"/>
            </a:br>
            <a:r>
              <a:rPr lang="zh-TW" altLang="en-US" dirty="0"/>
              <a:t>數據表示</a:t>
            </a:r>
            <a:endParaRPr lang="en-GB" dirty="0"/>
          </a:p>
        </p:txBody>
      </p:sp>
    </p:spTree>
    <p:extLst>
      <p:ext uri="{BB962C8B-B14F-4D97-AF65-F5344CB8AC3E}">
        <p14:creationId xmlns:p14="http://schemas.microsoft.com/office/powerpoint/2010/main" val="1190181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chor="ctr"/>
          <a:lstStyle/>
          <a:p>
            <a:pPr algn="ctr"/>
            <a:r>
              <a:rPr lang="zh-TW" altLang="en-US" dirty="0">
                <a:latin typeface="Noto Sans CJK TC Bold" panose="020B0800000000000000" pitchFamily="34" charset="-128"/>
                <a:ea typeface="Noto Sans CJK TC Bold" panose="020B0800000000000000" pitchFamily="34" charset="-128"/>
              </a:rPr>
              <a:t>我喜歡的女生是個大叔？</a:t>
            </a:r>
            <a:endParaRPr lang="en-US" altLang="zh-TW" dirty="0">
              <a:latin typeface="Noto Sans CJK TC Bold" panose="020B0800000000000000" pitchFamily="34" charset="-128"/>
              <a:ea typeface="Noto Sans CJK TC Bold" panose="020B0800000000000000" pitchFamily="34" charset="-128"/>
            </a:endParaRPr>
          </a:p>
          <a:p>
            <a:r>
              <a:rPr lang="zh-TW" altLang="en-US" dirty="0"/>
              <a:t>你能夠想像聲音可愛甜美的女孩子，實際上居然是個中年大叔嗎？</a:t>
            </a:r>
            <a:endParaRPr lang="en-US" altLang="zh-TW" dirty="0"/>
          </a:p>
          <a:p>
            <a:r>
              <a:rPr lang="zh-TW" altLang="en-US" dirty="0"/>
              <a:t>變聲器功能已在各大聊天平台廣泛流行。你知道這項技術背後其實運用了數據轉化及數據處理的原理嗎？</a:t>
            </a:r>
            <a:endParaRPr lang="en-US" altLang="zh-TW" dirty="0"/>
          </a:p>
          <a:p>
            <a:endParaRPr lang="en-US" altLang="zh-TW" dirty="0"/>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327" r="6327"/>
          <a:stretch>
            <a:fillRect/>
          </a:stretch>
        </p:blipFill>
        <p:spPr/>
      </p:pic>
    </p:spTree>
    <p:extLst>
      <p:ext uri="{BB962C8B-B14F-4D97-AF65-F5344CB8AC3E}">
        <p14:creationId xmlns:p14="http://schemas.microsoft.com/office/powerpoint/2010/main" val="1719378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數字系統與表示法</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a:t>
            </a:fld>
            <a:endParaRPr lang="en-US" dirty="0"/>
          </a:p>
        </p:txBody>
      </p:sp>
      <p:sp>
        <p:nvSpPr>
          <p:cNvPr id="6" name="文字版面配置區 5"/>
          <p:cNvSpPr>
            <a:spLocks noGrp="1"/>
          </p:cNvSpPr>
          <p:nvPr>
            <p:ph type="body" sz="quarter" idx="14"/>
          </p:nvPr>
        </p:nvSpPr>
        <p:spPr/>
        <p:txBody>
          <a:bodyPr/>
          <a:lstStyle/>
          <a:p>
            <a:r>
              <a:rPr lang="en-US" dirty="0"/>
              <a:t>3.1</a:t>
            </a:r>
            <a:endParaRPr lang="en-GB" dirty="0"/>
          </a:p>
        </p:txBody>
      </p:sp>
      <p:sp>
        <p:nvSpPr>
          <p:cNvPr id="7" name="內容版面配置區 6"/>
          <p:cNvSpPr>
            <a:spLocks noGrp="1"/>
          </p:cNvSpPr>
          <p:nvPr>
            <p:ph sz="quarter" idx="15"/>
          </p:nvPr>
        </p:nvSpPr>
        <p:spPr/>
        <p:txBody>
          <a:bodyPr/>
          <a:lstStyle/>
          <a:p>
            <a:r>
              <a:rPr lang="zh-TW" altLang="en-US" dirty="0"/>
              <a:t>我們通常使用</a:t>
            </a:r>
            <a:r>
              <a:rPr lang="zh-TW" altLang="en-US" dirty="0">
                <a:solidFill>
                  <a:srgbClr val="595A96"/>
                </a:solidFill>
                <a:latin typeface="Noto Sans CJK TC Bold" panose="020B0800000000000000" pitchFamily="34" charset="-128"/>
                <a:ea typeface="Noto Sans CJK TC Bold" panose="020B0800000000000000" pitchFamily="34" charset="-128"/>
              </a:rPr>
              <a:t>十進制</a:t>
            </a:r>
            <a:r>
              <a:rPr lang="zh-TW" altLang="en-US" dirty="0"/>
              <a:t>作計算。</a:t>
            </a:r>
            <a:endParaRPr lang="en-US" altLang="zh-TW" dirty="0"/>
          </a:p>
          <a:p>
            <a:endParaRPr lang="en-US" dirty="0"/>
          </a:p>
          <a:p>
            <a:r>
              <a:rPr lang="zh-TW" altLang="en-US" dirty="0"/>
              <a:t>相反，數碼設備使用的則是</a:t>
            </a:r>
            <a:r>
              <a:rPr lang="zh-TW" altLang="en-US" dirty="0">
                <a:solidFill>
                  <a:srgbClr val="595A96"/>
                </a:solidFill>
                <a:latin typeface="Noto Sans CJK TC Bold" panose="020B0800000000000000" pitchFamily="34" charset="-128"/>
                <a:ea typeface="Noto Sans CJK TC Bold" panose="020B0800000000000000" pitchFamily="34" charset="-128"/>
              </a:rPr>
              <a:t>二進制</a:t>
            </a:r>
            <a:r>
              <a:rPr lang="zh-TW" altLang="en-US" dirty="0"/>
              <a:t>。</a:t>
            </a:r>
            <a:endParaRPr lang="en-GB" dirty="0"/>
          </a:p>
        </p:txBody>
      </p:sp>
    </p:spTree>
    <p:extLst>
      <p:ext uri="{BB962C8B-B14F-4D97-AF65-F5344CB8AC3E}">
        <p14:creationId xmlns:p14="http://schemas.microsoft.com/office/powerpoint/2010/main" val="3614937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數據單位</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在數碼設備中，數據通常以下列單位量度。</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1430625953"/>
              </p:ext>
            </p:extLst>
          </p:nvPr>
        </p:nvGraphicFramePr>
        <p:xfrm>
          <a:off x="838800" y="2274148"/>
          <a:ext cx="10573791" cy="3195120"/>
        </p:xfrm>
        <a:graphic>
          <a:graphicData uri="http://schemas.openxmlformats.org/drawingml/2006/table">
            <a:tbl>
              <a:tblPr firstRow="1" bandRow="1">
                <a:tableStyleId>{5940675A-B579-460E-94D1-54222C63F5DA}</a:tableStyleId>
              </a:tblPr>
              <a:tblGrid>
                <a:gridCol w="3524597">
                  <a:extLst>
                    <a:ext uri="{9D8B030D-6E8A-4147-A177-3AD203B41FA5}">
                      <a16:colId xmlns:a16="http://schemas.microsoft.com/office/drawing/2014/main" val="20000"/>
                    </a:ext>
                  </a:extLst>
                </a:gridCol>
                <a:gridCol w="2710734">
                  <a:extLst>
                    <a:ext uri="{9D8B030D-6E8A-4147-A177-3AD203B41FA5}">
                      <a16:colId xmlns:a16="http://schemas.microsoft.com/office/drawing/2014/main" val="20001"/>
                    </a:ext>
                  </a:extLst>
                </a:gridCol>
                <a:gridCol w="4338460">
                  <a:extLst>
                    <a:ext uri="{9D8B030D-6E8A-4147-A177-3AD203B41FA5}">
                      <a16:colId xmlns:a16="http://schemas.microsoft.com/office/drawing/2014/main" val="20002"/>
                    </a:ext>
                  </a:extLst>
                </a:gridCol>
              </a:tblGrid>
              <a:tr h="53252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單位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記號</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532520">
                <a:tc>
                  <a:txBody>
                    <a:bodyPr/>
                    <a:lstStyle/>
                    <a:p>
                      <a:r>
                        <a:rPr lang="zh-TW" altLang="en-US" dirty="0">
                          <a:latin typeface="+mn-lt"/>
                          <a:ea typeface="Noto Sans CJK TC Light" panose="020B0300000000000000" pitchFamily="34" charset="-128"/>
                        </a:rPr>
                        <a:t>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latin typeface="+mn-lt"/>
                          <a:ea typeface="Noto Sans CJK TC Light" panose="020B0300000000000000" pitchFamily="34" charset="-128"/>
                        </a:rPr>
                        <a:t>bit,</a:t>
                      </a:r>
                      <a:r>
                        <a:rPr lang="en-HK" baseline="0" dirty="0">
                          <a:latin typeface="+mn-lt"/>
                          <a:ea typeface="Noto Sans CJK TC Light" panose="020B0300000000000000" pitchFamily="34" charset="-128"/>
                        </a:rPr>
                        <a:t> b</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數據的基本單位。它可以是 </a:t>
                      </a:r>
                      <a:r>
                        <a:rPr lang="en-US" altLang="zh-TW" sz="1800" b="0" i="0" u="none" strike="noStrike" kern="1200" baseline="0" dirty="0">
                          <a:solidFill>
                            <a:schemeClr val="tx1"/>
                          </a:solidFill>
                          <a:latin typeface="+mn-lt"/>
                          <a:ea typeface="Noto Sans CJK TC Light" panose="020B0300000000000000" pitchFamily="34" charset="-128"/>
                          <a:cs typeface="+mn-cs"/>
                        </a:rPr>
                        <a:t>0 </a:t>
                      </a:r>
                      <a:r>
                        <a:rPr lang="zh-TW" altLang="en-US" sz="1800" b="0" i="0" u="none" strike="noStrike" kern="1200" baseline="0" dirty="0">
                          <a:solidFill>
                            <a:schemeClr val="tx1"/>
                          </a:solidFill>
                          <a:latin typeface="+mn-lt"/>
                          <a:ea typeface="Noto Sans CJK TC Light" panose="020B0300000000000000" pitchFamily="34" charset="-128"/>
                          <a:cs typeface="+mn-cs"/>
                        </a:rPr>
                        <a:t>或 </a:t>
                      </a:r>
                      <a:r>
                        <a:rPr lang="en-US" altLang="zh-TW" sz="1800" b="0" i="0" u="none" strike="noStrike" kern="1200" baseline="0" dirty="0">
                          <a:solidFill>
                            <a:schemeClr val="tx1"/>
                          </a:solidFill>
                          <a:latin typeface="+mn-lt"/>
                          <a:ea typeface="Noto Sans CJK TC Light" panose="020B0300000000000000" pitchFamily="34" charset="-128"/>
                          <a:cs typeface="+mn-cs"/>
                        </a:rPr>
                        <a:t>1</a:t>
                      </a:r>
                      <a:r>
                        <a:rPr lang="zh-TW" altLang="en-US" sz="1800" b="0" i="0" u="none" strike="noStrike" kern="1200" baseline="0" dirty="0">
                          <a:solidFill>
                            <a:schemeClr val="tx1"/>
                          </a:solidFill>
                          <a:latin typeface="+mn-lt"/>
                          <a:ea typeface="Noto Sans CJK TC Light" panose="020B0300000000000000" pitchFamily="34" charset="-128"/>
                          <a:cs typeface="+mn-cs"/>
                        </a:rPr>
                        <a:t>。</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532520">
                <a:tc>
                  <a:txBody>
                    <a:bodyPr/>
                    <a:lstStyle/>
                    <a:p>
                      <a:r>
                        <a:rPr lang="zh-TW" altLang="en-US" dirty="0">
                          <a:latin typeface="+mn-lt"/>
                          <a:ea typeface="Noto Sans CJK TC Light" panose="020B0300000000000000" pitchFamily="34" charset="-128"/>
                        </a:rPr>
                        <a:t>字節 </a:t>
                      </a:r>
                      <a:r>
                        <a:rPr lang="en-US" altLang="zh-TW" dirty="0">
                          <a:latin typeface="+mn-lt"/>
                          <a:ea typeface="Noto Sans CJK TC Light" panose="020B0300000000000000" pitchFamily="34" charset="-128"/>
                        </a:rPr>
                        <a:t>/ </a:t>
                      </a:r>
                      <a:r>
                        <a:rPr lang="zh-TW" altLang="en-US" dirty="0">
                          <a:latin typeface="+mn-lt"/>
                          <a:ea typeface="Noto Sans CJK TC Light" panose="020B0300000000000000" pitchFamily="34" charset="-128"/>
                        </a:rPr>
                        <a:t>位元組</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latin typeface="+mn-lt"/>
                          <a:ea typeface="Noto Sans CJK TC Light" panose="020B0300000000000000" pitchFamily="34" charset="-128"/>
                        </a:rPr>
                        <a:t>B</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B = 8 bits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532520">
                <a:tc>
                  <a:txBody>
                    <a:bodyPr/>
                    <a:lstStyle/>
                    <a:p>
                      <a:r>
                        <a:rPr lang="zh-TW" altLang="en-US" dirty="0">
                          <a:latin typeface="+mn-lt"/>
                          <a:ea typeface="Noto Sans CJK TC Light" panose="020B0300000000000000" pitchFamily="34" charset="-128"/>
                        </a:rPr>
                        <a:t>千字節</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latin typeface="+mn-lt"/>
                          <a:ea typeface="Noto Sans CJK TC Light" panose="020B0300000000000000" pitchFamily="34" charset="-128"/>
                        </a:rPr>
                        <a:t>KB</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KB = 2</a:t>
                      </a:r>
                      <a:r>
                        <a:rPr lang="en-US" baseline="30000" dirty="0">
                          <a:latin typeface="+mn-lt"/>
                          <a:ea typeface="Noto Sans CJK TC Light" panose="020B0300000000000000" pitchFamily="34" charset="-128"/>
                        </a:rPr>
                        <a:t>10</a:t>
                      </a:r>
                      <a:r>
                        <a:rPr lang="en-US" dirty="0">
                          <a:latin typeface="+mn-lt"/>
                          <a:ea typeface="Noto Sans CJK TC Light" panose="020B0300000000000000" pitchFamily="34" charset="-128"/>
                        </a:rPr>
                        <a:t> B = 1024 B = 2</a:t>
                      </a:r>
                      <a:r>
                        <a:rPr lang="en-US" baseline="30000" dirty="0">
                          <a:latin typeface="+mn-lt"/>
                          <a:ea typeface="Noto Sans CJK TC Light" panose="020B0300000000000000" pitchFamily="34" charset="-128"/>
                        </a:rPr>
                        <a:t>10</a:t>
                      </a:r>
                      <a:r>
                        <a:rPr lang="en-US" dirty="0">
                          <a:latin typeface="+mn-lt"/>
                          <a:ea typeface="Noto Sans CJK TC Light" panose="020B0300000000000000" pitchFamily="34" charset="-128"/>
                        </a:rPr>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532520">
                <a:tc>
                  <a:txBody>
                    <a:bodyPr/>
                    <a:lstStyle/>
                    <a:p>
                      <a:r>
                        <a:rPr lang="zh-TW" altLang="en-US" dirty="0">
                          <a:latin typeface="+mn-lt"/>
                          <a:ea typeface="Noto Sans CJK TC Light" panose="020B0300000000000000" pitchFamily="34" charset="-128"/>
                        </a:rPr>
                        <a:t>百萬字節</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latin typeface="+mn-lt"/>
                          <a:ea typeface="Noto Sans CJK TC Light" panose="020B0300000000000000" pitchFamily="34" charset="-128"/>
                        </a:rPr>
                        <a:t>MB</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MB = 2</a:t>
                      </a:r>
                      <a:r>
                        <a:rPr lang="en-US" baseline="30000" dirty="0">
                          <a:latin typeface="+mn-lt"/>
                          <a:ea typeface="Noto Sans CJK TC Light" panose="020B0300000000000000" pitchFamily="34" charset="-128"/>
                        </a:rPr>
                        <a:t>10</a:t>
                      </a:r>
                      <a:r>
                        <a:rPr lang="en-US" dirty="0">
                          <a:latin typeface="+mn-lt"/>
                          <a:ea typeface="Noto Sans CJK TC Light" panose="020B0300000000000000" pitchFamily="34" charset="-128"/>
                        </a:rPr>
                        <a:t> KB = 1024 KB = 2</a:t>
                      </a:r>
                      <a:r>
                        <a:rPr lang="en-US" baseline="30000" dirty="0">
                          <a:latin typeface="+mn-lt"/>
                          <a:ea typeface="Noto Sans CJK TC Light" panose="020B0300000000000000" pitchFamily="34" charset="-128"/>
                        </a:rPr>
                        <a:t>20</a:t>
                      </a:r>
                      <a:r>
                        <a:rPr lang="en-US" dirty="0">
                          <a:latin typeface="+mn-lt"/>
                          <a:ea typeface="Noto Sans CJK TC Light" panose="020B0300000000000000" pitchFamily="34" charset="-128"/>
                        </a:rPr>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532520">
                <a:tc>
                  <a:txBody>
                    <a:bodyPr/>
                    <a:lstStyle/>
                    <a:p>
                      <a:r>
                        <a:rPr lang="zh-TW" altLang="en-US" dirty="0">
                          <a:latin typeface="+mn-lt"/>
                          <a:ea typeface="Noto Sans CJK TC Light" panose="020B0300000000000000" pitchFamily="34" charset="-128"/>
                        </a:rPr>
                        <a:t>十億字節</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latin typeface="+mn-lt"/>
                          <a:ea typeface="Noto Sans CJK TC Light" panose="020B0300000000000000" pitchFamily="34" charset="-128"/>
                        </a:rPr>
                        <a:t>GB</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GB </a:t>
                      </a:r>
                      <a:r>
                        <a:rPr lang="en-US">
                          <a:latin typeface="+mn-lt"/>
                          <a:ea typeface="Noto Sans CJK TC Light" panose="020B0300000000000000" pitchFamily="34" charset="-128"/>
                        </a:rPr>
                        <a:t>= 2</a:t>
                      </a:r>
                      <a:r>
                        <a:rPr lang="en-US" baseline="30000">
                          <a:latin typeface="+mn-lt"/>
                          <a:ea typeface="Noto Sans CJK TC Light" panose="020B0300000000000000" pitchFamily="34" charset="-128"/>
                        </a:rPr>
                        <a:t>10</a:t>
                      </a:r>
                      <a:r>
                        <a:rPr lang="en-US">
                          <a:latin typeface="+mn-lt"/>
                          <a:ea typeface="Noto Sans CJK TC Light" panose="020B0300000000000000" pitchFamily="34" charset="-128"/>
                        </a:rPr>
                        <a:t> </a:t>
                      </a:r>
                      <a:r>
                        <a:rPr lang="en-US" dirty="0">
                          <a:latin typeface="+mn-lt"/>
                          <a:ea typeface="Noto Sans CJK TC Light" panose="020B0300000000000000" pitchFamily="34" charset="-128"/>
                        </a:rPr>
                        <a:t>MB = 1024 MB = 2</a:t>
                      </a:r>
                      <a:r>
                        <a:rPr lang="en-US" baseline="30000" dirty="0">
                          <a:latin typeface="+mn-lt"/>
                          <a:ea typeface="Noto Sans CJK TC Light" panose="020B0300000000000000" pitchFamily="34" charset="-128"/>
                        </a:rPr>
                        <a:t>30</a:t>
                      </a:r>
                      <a:r>
                        <a:rPr lang="en-US" dirty="0">
                          <a:latin typeface="+mn-lt"/>
                          <a:ea typeface="Noto Sans CJK TC Light" panose="020B0300000000000000" pitchFamily="34" charset="-128"/>
                        </a:rPr>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307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數據單位</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在數據傳輸系統中，每單位時間傳輸的數據量稱為位元速率或數據傳輸率：</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834631314"/>
              </p:ext>
            </p:extLst>
          </p:nvPr>
        </p:nvGraphicFramePr>
        <p:xfrm>
          <a:off x="838800" y="2556780"/>
          <a:ext cx="10573791" cy="3195120"/>
        </p:xfrm>
        <a:graphic>
          <a:graphicData uri="http://schemas.openxmlformats.org/drawingml/2006/table">
            <a:tbl>
              <a:tblPr firstRow="1" bandRow="1">
                <a:tableStyleId>{5940675A-B579-460E-94D1-54222C63F5DA}</a:tableStyleId>
              </a:tblPr>
              <a:tblGrid>
                <a:gridCol w="3524597">
                  <a:extLst>
                    <a:ext uri="{9D8B030D-6E8A-4147-A177-3AD203B41FA5}">
                      <a16:colId xmlns:a16="http://schemas.microsoft.com/office/drawing/2014/main" val="20000"/>
                    </a:ext>
                  </a:extLst>
                </a:gridCol>
                <a:gridCol w="2428101">
                  <a:extLst>
                    <a:ext uri="{9D8B030D-6E8A-4147-A177-3AD203B41FA5}">
                      <a16:colId xmlns:a16="http://schemas.microsoft.com/office/drawing/2014/main" val="20001"/>
                    </a:ext>
                  </a:extLst>
                </a:gridCol>
                <a:gridCol w="4621093">
                  <a:extLst>
                    <a:ext uri="{9D8B030D-6E8A-4147-A177-3AD203B41FA5}">
                      <a16:colId xmlns:a16="http://schemas.microsoft.com/office/drawing/2014/main" val="20002"/>
                    </a:ext>
                  </a:extLst>
                </a:gridCol>
              </a:tblGrid>
              <a:tr h="53252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單位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記號</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532520">
                <a:tc>
                  <a:txBody>
                    <a:bodyPr/>
                    <a:lstStyle/>
                    <a:p>
                      <a:r>
                        <a:rPr lang="zh-TW" altLang="en-US" dirty="0">
                          <a:latin typeface="+mn-lt"/>
                          <a:ea typeface="Noto Sans CJK TC Light" panose="020B0300000000000000" pitchFamily="34" charset="-128"/>
                        </a:rPr>
                        <a:t>每秒位元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bps, bit/s, 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每秒鐘傳輸 </a:t>
                      </a:r>
                      <a:r>
                        <a:rPr lang="en-US" altLang="zh-TW" sz="1800" b="0" i="0" u="none" strike="noStrike" kern="1200" baseline="0" dirty="0">
                          <a:solidFill>
                            <a:schemeClr val="tx1"/>
                          </a:solidFill>
                          <a:latin typeface="+mn-lt"/>
                          <a:ea typeface="Noto Sans CJK TC Light" panose="020B0300000000000000" pitchFamily="34" charset="-128"/>
                          <a:cs typeface="+mn-cs"/>
                        </a:rPr>
                        <a:t>1 </a:t>
                      </a:r>
                      <a:r>
                        <a:rPr lang="zh-TW" altLang="en-US" sz="1800" b="0" i="0" u="none" strike="noStrike" kern="1200" baseline="0" dirty="0">
                          <a:solidFill>
                            <a:schemeClr val="tx1"/>
                          </a:solidFill>
                          <a:latin typeface="+mn-lt"/>
                          <a:ea typeface="Noto Sans CJK TC Light" panose="020B0300000000000000" pitchFamily="34" charset="-128"/>
                          <a:cs typeface="+mn-cs"/>
                        </a:rPr>
                        <a:t>位元的數據。</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532520">
                <a:tc>
                  <a:txBody>
                    <a:bodyPr/>
                    <a:lstStyle/>
                    <a:p>
                      <a:r>
                        <a:rPr lang="zh-TW" altLang="en-US" dirty="0">
                          <a:latin typeface="+mn-lt"/>
                          <a:ea typeface="Noto Sans CJK TC Light" panose="020B0300000000000000" pitchFamily="34" charset="-128"/>
                        </a:rPr>
                        <a:t>每秒千位元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kbps, </a:t>
                      </a:r>
                      <a:r>
                        <a:rPr lang="en-US" dirty="0" err="1">
                          <a:latin typeface="+mn-lt"/>
                          <a:ea typeface="Noto Sans CJK TC Light" panose="020B0300000000000000" pitchFamily="34" charset="-128"/>
                        </a:rPr>
                        <a:t>kbit</a:t>
                      </a:r>
                      <a:r>
                        <a:rPr lang="en-US" dirty="0">
                          <a:latin typeface="+mn-lt"/>
                          <a:ea typeface="Noto Sans CJK TC Light" panose="020B0300000000000000" pitchFamily="34" charset="-128"/>
                        </a:rPr>
                        <a:t>/s, kb/s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kbps = 10</a:t>
                      </a:r>
                      <a:r>
                        <a:rPr lang="en-US" baseline="30000" dirty="0">
                          <a:latin typeface="+mn-lt"/>
                          <a:ea typeface="Noto Sans CJK TC Light" panose="020B0300000000000000" pitchFamily="34" charset="-128"/>
                        </a:rPr>
                        <a:t>3</a:t>
                      </a:r>
                      <a:r>
                        <a:rPr lang="en-US" dirty="0">
                          <a:latin typeface="+mn-lt"/>
                          <a:ea typeface="Noto Sans CJK TC Light" panose="020B0300000000000000" pitchFamily="34" charset="-128"/>
                        </a:rPr>
                        <a:t> bps = 1000 bps = 10</a:t>
                      </a:r>
                      <a:r>
                        <a:rPr lang="en-US" baseline="30000" dirty="0">
                          <a:latin typeface="+mn-lt"/>
                          <a:ea typeface="Noto Sans CJK TC Light" panose="020B0300000000000000" pitchFamily="34" charset="-128"/>
                        </a:rPr>
                        <a:t>3</a:t>
                      </a:r>
                      <a:r>
                        <a:rPr lang="en-US" dirty="0">
                          <a:latin typeface="+mn-lt"/>
                          <a:ea typeface="Noto Sans CJK TC Light" panose="020B0300000000000000" pitchFamily="34" charset="-128"/>
                        </a:rPr>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532520">
                <a:tc>
                  <a:txBody>
                    <a:bodyPr/>
                    <a:lstStyle/>
                    <a:p>
                      <a:r>
                        <a:rPr lang="zh-TW" altLang="en-US" dirty="0">
                          <a:latin typeface="+mn-lt"/>
                          <a:ea typeface="Noto Sans CJK TC Light" panose="020B0300000000000000" pitchFamily="34" charset="-128"/>
                        </a:rPr>
                        <a:t>每秒百萬位元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Mbps, Mbit/s, Mb/s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Mbps = 10</a:t>
                      </a:r>
                      <a:r>
                        <a:rPr lang="en-US" baseline="30000" dirty="0">
                          <a:latin typeface="+mn-lt"/>
                          <a:ea typeface="Noto Sans CJK TC Light" panose="020B0300000000000000" pitchFamily="34" charset="-128"/>
                        </a:rPr>
                        <a:t>3</a:t>
                      </a:r>
                      <a:r>
                        <a:rPr lang="en-US" dirty="0">
                          <a:latin typeface="+mn-lt"/>
                          <a:ea typeface="Noto Sans CJK TC Light" panose="020B0300000000000000" pitchFamily="34" charset="-128"/>
                        </a:rPr>
                        <a:t> kbps = 1000 kbps = 10</a:t>
                      </a:r>
                      <a:r>
                        <a:rPr lang="en-US" baseline="30000" dirty="0">
                          <a:latin typeface="+mn-lt"/>
                          <a:ea typeface="Noto Sans CJK TC Light" panose="020B0300000000000000" pitchFamily="34" charset="-128"/>
                        </a:rPr>
                        <a:t>6</a:t>
                      </a:r>
                      <a:r>
                        <a:rPr lang="en-US" dirty="0">
                          <a:latin typeface="+mn-lt"/>
                          <a:ea typeface="Noto Sans CJK TC Light" panose="020B0300000000000000" pitchFamily="34" charset="-128"/>
                        </a:rPr>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532520">
                <a:tc>
                  <a:txBody>
                    <a:bodyPr/>
                    <a:lstStyle/>
                    <a:p>
                      <a:r>
                        <a:rPr lang="zh-TW" altLang="en-US" dirty="0">
                          <a:latin typeface="+mn-lt"/>
                          <a:ea typeface="Noto Sans CJK TC Light" panose="020B0300000000000000" pitchFamily="34" charset="-128"/>
                        </a:rPr>
                        <a:t>每秒十億位元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err="1">
                          <a:latin typeface="+mn-lt"/>
                          <a:ea typeface="Noto Sans CJK TC Light" panose="020B0300000000000000" pitchFamily="34" charset="-128"/>
                        </a:rPr>
                        <a:t>Gbps</a:t>
                      </a:r>
                      <a:r>
                        <a:rPr lang="en-US" dirty="0">
                          <a:latin typeface="+mn-lt"/>
                          <a:ea typeface="Noto Sans CJK TC Light" panose="020B0300000000000000" pitchFamily="34" charset="-128"/>
                        </a:rPr>
                        <a:t>, </a:t>
                      </a:r>
                      <a:r>
                        <a:rPr lang="en-US" dirty="0" err="1">
                          <a:latin typeface="+mn-lt"/>
                          <a:ea typeface="Noto Sans CJK TC Light" panose="020B0300000000000000" pitchFamily="34" charset="-128"/>
                        </a:rPr>
                        <a:t>Gbit</a:t>
                      </a:r>
                      <a:r>
                        <a:rPr lang="en-US" dirty="0">
                          <a:latin typeface="+mn-lt"/>
                          <a:ea typeface="Noto Sans CJK TC Light" panose="020B0300000000000000" pitchFamily="34" charset="-128"/>
                        </a:rPr>
                        <a:t>/s, Gb/s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Gbps = 10</a:t>
                      </a:r>
                      <a:r>
                        <a:rPr lang="en-US" baseline="30000" dirty="0">
                          <a:latin typeface="+mn-lt"/>
                          <a:ea typeface="Noto Sans CJK TC Light" panose="020B0300000000000000" pitchFamily="34" charset="-128"/>
                        </a:rPr>
                        <a:t>3</a:t>
                      </a:r>
                      <a:r>
                        <a:rPr lang="en-US" dirty="0">
                          <a:latin typeface="+mn-lt"/>
                          <a:ea typeface="Noto Sans CJK TC Light" panose="020B0300000000000000" pitchFamily="34" charset="-128"/>
                        </a:rPr>
                        <a:t> Mbps = 1000 Mbps = 10</a:t>
                      </a:r>
                      <a:r>
                        <a:rPr lang="en-US" baseline="30000" dirty="0">
                          <a:latin typeface="+mn-lt"/>
                          <a:ea typeface="Noto Sans CJK TC Light" panose="020B0300000000000000" pitchFamily="34" charset="-128"/>
                        </a:rPr>
                        <a:t>9</a:t>
                      </a:r>
                      <a:r>
                        <a:rPr lang="en-US" dirty="0">
                          <a:latin typeface="+mn-lt"/>
                          <a:ea typeface="Noto Sans CJK TC Light" panose="020B0300000000000000" pitchFamily="34" charset="-128"/>
                        </a:rPr>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532520">
                <a:tc>
                  <a:txBody>
                    <a:bodyPr/>
                    <a:lstStyle/>
                    <a:p>
                      <a:r>
                        <a:rPr lang="zh-TW" altLang="en-US" dirty="0">
                          <a:latin typeface="+mn-lt"/>
                          <a:ea typeface="Noto Sans CJK TC Light" panose="020B0300000000000000" pitchFamily="34" charset="-128"/>
                        </a:rPr>
                        <a:t>每秒萬億位元</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err="1">
                          <a:latin typeface="+mn-lt"/>
                          <a:ea typeface="Noto Sans CJK TC Light" panose="020B0300000000000000" pitchFamily="34" charset="-128"/>
                        </a:rPr>
                        <a:t>Tbps</a:t>
                      </a:r>
                      <a:r>
                        <a:rPr lang="en-US" dirty="0">
                          <a:latin typeface="+mn-lt"/>
                          <a:ea typeface="Noto Sans CJK TC Light" panose="020B0300000000000000" pitchFamily="34" charset="-128"/>
                        </a:rPr>
                        <a:t>, </a:t>
                      </a:r>
                      <a:r>
                        <a:rPr lang="en-US" dirty="0" err="1">
                          <a:latin typeface="+mn-lt"/>
                          <a:ea typeface="Noto Sans CJK TC Light" panose="020B0300000000000000" pitchFamily="34" charset="-128"/>
                        </a:rPr>
                        <a:t>Tbit</a:t>
                      </a:r>
                      <a:r>
                        <a:rPr lang="en-US" dirty="0">
                          <a:latin typeface="+mn-lt"/>
                          <a:ea typeface="Noto Sans CJK TC Light" panose="020B0300000000000000" pitchFamily="34" charset="-128"/>
                        </a:rPr>
                        <a:t>/s, Tb/s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mn-lt"/>
                          <a:ea typeface="Noto Sans CJK TC Light" panose="020B0300000000000000" pitchFamily="34" charset="-128"/>
                        </a:rPr>
                        <a:t>1 </a:t>
                      </a:r>
                      <a:r>
                        <a:rPr lang="en-US" dirty="0" err="1">
                          <a:latin typeface="+mn-lt"/>
                          <a:ea typeface="Noto Sans CJK TC Light" panose="020B0300000000000000" pitchFamily="34" charset="-128"/>
                        </a:rPr>
                        <a:t>Tbps</a:t>
                      </a:r>
                      <a:r>
                        <a:rPr lang="en-US" dirty="0">
                          <a:latin typeface="+mn-lt"/>
                          <a:ea typeface="Noto Sans CJK TC Light" panose="020B0300000000000000" pitchFamily="34" charset="-128"/>
                        </a:rPr>
                        <a:t> </a:t>
                      </a:r>
                      <a:r>
                        <a:rPr lang="en-US">
                          <a:latin typeface="+mn-lt"/>
                          <a:ea typeface="Noto Sans CJK TC Light" panose="020B0300000000000000" pitchFamily="34" charset="-128"/>
                        </a:rPr>
                        <a:t>= 10</a:t>
                      </a:r>
                      <a:r>
                        <a:rPr lang="en-US" baseline="30000">
                          <a:latin typeface="+mn-lt"/>
                          <a:ea typeface="Noto Sans CJK TC Light" panose="020B0300000000000000" pitchFamily="34" charset="-128"/>
                        </a:rPr>
                        <a:t>3</a:t>
                      </a:r>
                      <a:r>
                        <a:rPr lang="en-US">
                          <a:latin typeface="+mn-lt"/>
                          <a:ea typeface="Noto Sans CJK TC Light" panose="020B0300000000000000" pitchFamily="34" charset="-128"/>
                        </a:rPr>
                        <a:t> </a:t>
                      </a:r>
                      <a:r>
                        <a:rPr lang="en-US" dirty="0" err="1">
                          <a:latin typeface="+mn-lt"/>
                          <a:ea typeface="Noto Sans CJK TC Light" panose="020B0300000000000000" pitchFamily="34" charset="-128"/>
                        </a:rPr>
                        <a:t>Gbps</a:t>
                      </a:r>
                      <a:r>
                        <a:rPr lang="en-US" dirty="0">
                          <a:latin typeface="+mn-lt"/>
                          <a:ea typeface="Noto Sans CJK TC Light" panose="020B0300000000000000" pitchFamily="34" charset="-128"/>
                        </a:rPr>
                        <a:t> = 1000 </a:t>
                      </a:r>
                      <a:r>
                        <a:rPr lang="en-US" dirty="0" err="1">
                          <a:latin typeface="+mn-lt"/>
                          <a:ea typeface="Noto Sans CJK TC Light" panose="020B0300000000000000" pitchFamily="34" charset="-128"/>
                        </a:rPr>
                        <a:t>Gbps</a:t>
                      </a:r>
                      <a:r>
                        <a:rPr lang="en-US" dirty="0">
                          <a:latin typeface="+mn-lt"/>
                          <a:ea typeface="Noto Sans CJK TC Light" panose="020B0300000000000000" pitchFamily="34" charset="-128"/>
                        </a:rPr>
                        <a:t> = 10</a:t>
                      </a:r>
                      <a:r>
                        <a:rPr lang="en-US" baseline="30000" dirty="0">
                          <a:latin typeface="+mn-lt"/>
                          <a:ea typeface="Noto Sans CJK TC Light" panose="020B0300000000000000" pitchFamily="34" charset="-128"/>
                        </a:rPr>
                        <a:t>12 </a:t>
                      </a:r>
                      <a:r>
                        <a:rPr lang="en-US" dirty="0">
                          <a:latin typeface="+mn-lt"/>
                          <a:ea typeface="Noto Sans CJK TC Light" panose="020B0300000000000000" pitchFamily="34" charset="-128"/>
                        </a:rPr>
                        <a:t>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42051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二進制數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文字版面配置區 3"/>
          <p:cNvSpPr>
            <a:spLocks noGrp="1"/>
          </p:cNvSpPr>
          <p:nvPr>
            <p:ph type="body" sz="quarter" idx="14"/>
          </p:nvPr>
        </p:nvSpPr>
        <p:spPr/>
        <p:txBody>
          <a:bodyPr/>
          <a:lstStyle/>
          <a:p>
            <a:r>
              <a:rPr lang="en-US" altLang="zh-TW" dirty="0"/>
              <a:t>B</a:t>
            </a:r>
            <a:endParaRPr lang="en-GB" dirty="0"/>
          </a:p>
        </p:txBody>
      </p:sp>
      <p:sp>
        <p:nvSpPr>
          <p:cNvPr id="5" name="內容版面配置區 4"/>
          <p:cNvSpPr>
            <a:spLocks noGrp="1"/>
          </p:cNvSpPr>
          <p:nvPr>
            <p:ph sz="quarter" idx="15"/>
          </p:nvPr>
        </p:nvSpPr>
        <p:spPr/>
        <p:txBody>
          <a:bodyPr/>
          <a:lstStyle/>
          <a:p>
            <a:r>
              <a:rPr lang="zh-TW" altLang="en-US" dirty="0"/>
              <a:t>由於每個二進制數字的數位可以表示一位元的數碼數據，電腦會以二進制數字表示數據。</a:t>
            </a:r>
            <a:endParaRPr lang="en-US" altLang="zh-TW" dirty="0"/>
          </a:p>
          <a:p>
            <a:endParaRPr lang="en-US" dirty="0"/>
          </a:p>
          <a:p>
            <a:r>
              <a:rPr lang="zh-TW" altLang="en-US" dirty="0">
                <a:latin typeface="+mn-lt"/>
              </a:rPr>
              <a:t>二進制數字的僅由「</a:t>
            </a:r>
            <a:r>
              <a:rPr lang="en-US" altLang="zh-TW" dirty="0">
                <a:latin typeface="+mn-lt"/>
              </a:rPr>
              <a:t>0</a:t>
            </a:r>
            <a:r>
              <a:rPr lang="zh-TW" altLang="en-US" dirty="0">
                <a:latin typeface="+mn-lt"/>
              </a:rPr>
              <a:t>」和「</a:t>
            </a:r>
            <a:r>
              <a:rPr lang="en-US" altLang="zh-TW" dirty="0">
                <a:latin typeface="+mn-lt"/>
              </a:rPr>
              <a:t>1</a:t>
            </a:r>
            <a:r>
              <a:rPr lang="zh-TW" altLang="en-US" dirty="0">
                <a:latin typeface="+mn-lt"/>
              </a:rPr>
              <a:t>」表示。</a:t>
            </a:r>
            <a:endParaRPr lang="en-GB"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245999576"/>
              </p:ext>
            </p:extLst>
          </p:nvPr>
        </p:nvGraphicFramePr>
        <p:xfrm>
          <a:off x="1529543" y="3703935"/>
          <a:ext cx="9127378" cy="741680"/>
        </p:xfrm>
        <a:graphic>
          <a:graphicData uri="http://schemas.openxmlformats.org/drawingml/2006/table">
            <a:tbl>
              <a:tblPr firstRow="1" bandRow="1">
                <a:tableStyleId>{5940675A-B579-460E-94D1-54222C63F5DA}</a:tableStyleId>
              </a:tblPr>
              <a:tblGrid>
                <a:gridCol w="1839546">
                  <a:extLst>
                    <a:ext uri="{9D8B030D-6E8A-4147-A177-3AD203B41FA5}">
                      <a16:colId xmlns:a16="http://schemas.microsoft.com/office/drawing/2014/main" val="20000"/>
                    </a:ext>
                  </a:extLst>
                </a:gridCol>
                <a:gridCol w="910979">
                  <a:extLst>
                    <a:ext uri="{9D8B030D-6E8A-4147-A177-3AD203B41FA5}">
                      <a16:colId xmlns:a16="http://schemas.microsoft.com/office/drawing/2014/main" val="20001"/>
                    </a:ext>
                  </a:extLst>
                </a:gridCol>
                <a:gridCol w="910979">
                  <a:extLst>
                    <a:ext uri="{9D8B030D-6E8A-4147-A177-3AD203B41FA5}">
                      <a16:colId xmlns:a16="http://schemas.microsoft.com/office/drawing/2014/main" val="20002"/>
                    </a:ext>
                  </a:extLst>
                </a:gridCol>
                <a:gridCol w="910979">
                  <a:extLst>
                    <a:ext uri="{9D8B030D-6E8A-4147-A177-3AD203B41FA5}">
                      <a16:colId xmlns:a16="http://schemas.microsoft.com/office/drawing/2014/main" val="20003"/>
                    </a:ext>
                  </a:extLst>
                </a:gridCol>
                <a:gridCol w="910979">
                  <a:extLst>
                    <a:ext uri="{9D8B030D-6E8A-4147-A177-3AD203B41FA5}">
                      <a16:colId xmlns:a16="http://schemas.microsoft.com/office/drawing/2014/main" val="20004"/>
                    </a:ext>
                  </a:extLst>
                </a:gridCol>
                <a:gridCol w="910979">
                  <a:extLst>
                    <a:ext uri="{9D8B030D-6E8A-4147-A177-3AD203B41FA5}">
                      <a16:colId xmlns:a16="http://schemas.microsoft.com/office/drawing/2014/main" val="20005"/>
                    </a:ext>
                  </a:extLst>
                </a:gridCol>
                <a:gridCol w="910979">
                  <a:extLst>
                    <a:ext uri="{9D8B030D-6E8A-4147-A177-3AD203B41FA5}">
                      <a16:colId xmlns:a16="http://schemas.microsoft.com/office/drawing/2014/main" val="20006"/>
                    </a:ext>
                  </a:extLst>
                </a:gridCol>
                <a:gridCol w="910979">
                  <a:extLst>
                    <a:ext uri="{9D8B030D-6E8A-4147-A177-3AD203B41FA5}">
                      <a16:colId xmlns:a16="http://schemas.microsoft.com/office/drawing/2014/main" val="20007"/>
                    </a:ext>
                  </a:extLst>
                </a:gridCol>
                <a:gridCol w="910979">
                  <a:extLst>
                    <a:ext uri="{9D8B030D-6E8A-4147-A177-3AD203B41FA5}">
                      <a16:colId xmlns:a16="http://schemas.microsoft.com/office/drawing/2014/main" val="20008"/>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十進制數字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5</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6</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7</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二進制數字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53989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b="1" dirty="0">
                <a:solidFill>
                  <a:srgbClr val="C6993D"/>
                </a:solidFill>
                <a:latin typeface="+mn-lt"/>
                <a:ea typeface="Noto Sans CJK TC Bold" panose="020B0800000000000000" pitchFamily="34" charset="-128"/>
              </a:rPr>
              <a:t>二進制和十進制之間的轉換</a:t>
            </a:r>
            <a:endParaRPr lang="en-US" b="1" dirty="0">
              <a:solidFill>
                <a:srgbClr val="C6993D"/>
              </a:solidFill>
              <a:latin typeface="+mn-lt"/>
              <a:ea typeface="Noto Sans CJK TC Bold" panose="020B0800000000000000" pitchFamily="34" charset="-128"/>
            </a:endParaRPr>
          </a:p>
          <a:p>
            <a:r>
              <a:rPr lang="zh-TW" altLang="en-US" dirty="0">
                <a:latin typeface="+mn-lt"/>
              </a:rPr>
              <a:t>以二進制數字 </a:t>
            </a:r>
            <a:r>
              <a:rPr lang="en-US" dirty="0">
                <a:latin typeface="Courier New" panose="02070309020205020404" pitchFamily="49" charset="0"/>
                <a:cs typeface="Courier New" panose="02070309020205020404" pitchFamily="49" charset="0"/>
              </a:rPr>
              <a:t>1101</a:t>
            </a:r>
            <a:r>
              <a:rPr lang="en-US" baseline="-25000" dirty="0">
                <a:latin typeface="Courier New" panose="02070309020205020404" pitchFamily="49" charset="0"/>
                <a:cs typeface="Courier New" panose="02070309020205020404" pitchFamily="49" charset="0"/>
              </a:rPr>
              <a:t>2</a:t>
            </a:r>
            <a:r>
              <a:rPr lang="en-US" dirty="0">
                <a:latin typeface="+mn-lt"/>
              </a:rPr>
              <a:t> </a:t>
            </a:r>
            <a:r>
              <a:rPr lang="zh-TW" altLang="en-US" dirty="0">
                <a:latin typeface="+mn-lt"/>
              </a:rPr>
              <a:t>為例，我們可以通過以下步驟將其展開並轉換為十進制數字。</a:t>
            </a: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zh-TW" altLang="en-US" dirty="0">
                <a:latin typeface="+mn-lt"/>
              </a:rPr>
              <a:t>因此，</a:t>
            </a:r>
            <a:r>
              <a:rPr lang="en-US" dirty="0">
                <a:latin typeface="Courier New" panose="02070309020205020404" pitchFamily="49" charset="0"/>
                <a:cs typeface="Courier New" panose="02070309020205020404" pitchFamily="49" charset="0"/>
              </a:rPr>
              <a:t>1101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8 + 4 + 0 + 1 = 13</a:t>
            </a:r>
            <a:r>
              <a:rPr lang="en-US" baseline="-25000" dirty="0">
                <a:latin typeface="Courier New" panose="02070309020205020404" pitchFamily="49" charset="0"/>
                <a:cs typeface="Courier New" panose="02070309020205020404" pitchFamily="49" charset="0"/>
              </a:rPr>
              <a:t>10</a:t>
            </a:r>
            <a:r>
              <a:rPr lang="zh-TW" altLang="en-US" dirty="0">
                <a:latin typeface="+mn-lt"/>
              </a:rPr>
              <a:t>。</a:t>
            </a:r>
            <a:endParaRPr lang="en-HK"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7" name="文字版面配置區 6"/>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543503435"/>
              </p:ext>
            </p:extLst>
          </p:nvPr>
        </p:nvGraphicFramePr>
        <p:xfrm>
          <a:off x="1794162" y="2491840"/>
          <a:ext cx="8603675" cy="1112520"/>
        </p:xfrm>
        <a:graphic>
          <a:graphicData uri="http://schemas.openxmlformats.org/drawingml/2006/table">
            <a:tbl>
              <a:tblPr firstRow="1" bandRow="1">
                <a:tableStyleId>{5940675A-B579-460E-94D1-54222C63F5DA}</a:tableStyleId>
              </a:tblPr>
              <a:tblGrid>
                <a:gridCol w="1388228">
                  <a:extLst>
                    <a:ext uri="{9D8B030D-6E8A-4147-A177-3AD203B41FA5}">
                      <a16:colId xmlns:a16="http://schemas.microsoft.com/office/drawing/2014/main" val="20000"/>
                    </a:ext>
                  </a:extLst>
                </a:gridCol>
                <a:gridCol w="1753985">
                  <a:extLst>
                    <a:ext uri="{9D8B030D-6E8A-4147-A177-3AD203B41FA5}">
                      <a16:colId xmlns:a16="http://schemas.microsoft.com/office/drawing/2014/main" val="20001"/>
                    </a:ext>
                  </a:extLst>
                </a:gridCol>
                <a:gridCol w="1856661">
                  <a:extLst>
                    <a:ext uri="{9D8B030D-6E8A-4147-A177-3AD203B41FA5}">
                      <a16:colId xmlns:a16="http://schemas.microsoft.com/office/drawing/2014/main" val="20002"/>
                    </a:ext>
                  </a:extLst>
                </a:gridCol>
                <a:gridCol w="1792626">
                  <a:extLst>
                    <a:ext uri="{9D8B030D-6E8A-4147-A177-3AD203B41FA5}">
                      <a16:colId xmlns:a16="http://schemas.microsoft.com/office/drawing/2014/main" val="20003"/>
                    </a:ext>
                  </a:extLst>
                </a:gridCol>
                <a:gridCol w="1812175">
                  <a:extLst>
                    <a:ext uri="{9D8B030D-6E8A-4147-A177-3AD203B41FA5}">
                      <a16:colId xmlns:a16="http://schemas.microsoft.com/office/drawing/2014/main" val="20004"/>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a:t>
                      </a:r>
                      <a:r>
                        <a:rPr lang="en-HK" strike="noStrike"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0</a:t>
                      </a:r>
                      <a:r>
                        <a:rPr lang="en-HK"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8 × 1 = 8</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4 × 1 = 4</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2 × 0 = 0</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1 × 1 = 1</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61464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AutoNum type="arabicPeriod"/>
            </a:pPr>
            <a:r>
              <a:rPr lang="zh-TW" altLang="en-US" dirty="0">
                <a:latin typeface="+mn-lt"/>
              </a:rPr>
              <a:t>將</a:t>
            </a:r>
            <a:r>
              <a:rPr lang="zh-TW" altLang="en-US" dirty="0">
                <a:latin typeface="+mn-lt"/>
                <a:cs typeface="Courier New" panose="02070309020205020404" pitchFamily="49" charset="0"/>
              </a:rPr>
              <a:t> </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baseline="-25000" dirty="0">
                <a:latin typeface="+mn-lt"/>
                <a:cs typeface="Courier New" panose="02070309020205020404" pitchFamily="49" charset="0"/>
              </a:rPr>
              <a:t> </a:t>
            </a:r>
            <a:r>
              <a:rPr lang="zh-TW" altLang="en-US" dirty="0">
                <a:latin typeface="+mn-lt"/>
              </a:rPr>
              <a:t>轉換為十進制數字 。</a:t>
            </a:r>
            <a:r>
              <a:rPr lang="en-HK" dirty="0"/>
              <a:t/>
            </a:r>
            <a:br>
              <a:rPr lang="en-HK" dirty="0"/>
            </a:br>
            <a:r>
              <a:rPr lang="en-HK" dirty="0"/>
              <a:t/>
            </a:r>
            <a:br>
              <a:rPr lang="en-HK" dirty="0"/>
            </a:br>
            <a:r>
              <a:rPr lang="en-HK" dirty="0"/>
              <a:t/>
            </a:r>
            <a:br>
              <a:rPr lang="en-HK" dirty="0"/>
            </a:br>
            <a:r>
              <a:rPr lang="en-HK" dirty="0"/>
              <a:t/>
            </a:r>
            <a:br>
              <a:rPr lang="en-HK" dirty="0"/>
            </a:br>
            <a:endParaRPr lang="en-HK" dirty="0"/>
          </a:p>
          <a:p>
            <a:endParaRPr lang="en-US" altLang="zh-TW" dirty="0"/>
          </a:p>
          <a:p>
            <a:r>
              <a:rPr lang="zh-TW" altLang="en-US" dirty="0"/>
              <a:t>因此，</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a:t>
            </a:r>
            <a:r>
              <a:rPr lang="en-HK" dirty="0"/>
              <a:t>=</a:t>
            </a:r>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8</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754517249"/>
              </p:ext>
            </p:extLst>
          </p:nvPr>
        </p:nvGraphicFramePr>
        <p:xfrm>
          <a:off x="565263" y="2182709"/>
          <a:ext cx="11097493" cy="1112520"/>
        </p:xfrm>
        <a:graphic>
          <a:graphicData uri="http://schemas.openxmlformats.org/drawingml/2006/table">
            <a:tbl>
              <a:tblPr firstRow="1" bandRow="1">
                <a:tableStyleId>{5940675A-B579-460E-94D1-54222C63F5DA}</a:tableStyleId>
              </a:tblPr>
              <a:tblGrid>
                <a:gridCol w="1324172">
                  <a:extLst>
                    <a:ext uri="{9D8B030D-6E8A-4147-A177-3AD203B41FA5}">
                      <a16:colId xmlns:a16="http://schemas.microsoft.com/office/drawing/2014/main" val="20000"/>
                    </a:ext>
                  </a:extLst>
                </a:gridCol>
                <a:gridCol w="1468907">
                  <a:extLst>
                    <a:ext uri="{9D8B030D-6E8A-4147-A177-3AD203B41FA5}">
                      <a16:colId xmlns:a16="http://schemas.microsoft.com/office/drawing/2014/main" val="20001"/>
                    </a:ext>
                  </a:extLst>
                </a:gridCol>
                <a:gridCol w="1172094">
                  <a:extLst>
                    <a:ext uri="{9D8B030D-6E8A-4147-A177-3AD203B41FA5}">
                      <a16:colId xmlns:a16="http://schemas.microsoft.com/office/drawing/2014/main" val="20002"/>
                    </a:ext>
                  </a:extLst>
                </a:gridCol>
                <a:gridCol w="1238597">
                  <a:extLst>
                    <a:ext uri="{9D8B030D-6E8A-4147-A177-3AD203B41FA5}">
                      <a16:colId xmlns:a16="http://schemas.microsoft.com/office/drawing/2014/main" val="20003"/>
                    </a:ext>
                  </a:extLst>
                </a:gridCol>
                <a:gridCol w="1288472">
                  <a:extLst>
                    <a:ext uri="{9D8B030D-6E8A-4147-A177-3AD203B41FA5}">
                      <a16:colId xmlns:a16="http://schemas.microsoft.com/office/drawing/2014/main" val="20004"/>
                    </a:ext>
                  </a:extLst>
                </a:gridCol>
                <a:gridCol w="1072342">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gridCol w="1064029">
                  <a:extLst>
                    <a:ext uri="{9D8B030D-6E8A-4147-A177-3AD203B41FA5}">
                      <a16:colId xmlns:a16="http://schemas.microsoft.com/office/drawing/2014/main" val="20008"/>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27 = 128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26 = 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 = 32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24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23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22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21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20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402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AutoNum type="arabicPeriod"/>
            </a:pPr>
            <a:r>
              <a:rPr lang="zh-TW" altLang="en-US" dirty="0">
                <a:latin typeface="+mn-lt"/>
              </a:rPr>
              <a:t>將</a:t>
            </a:r>
            <a:r>
              <a:rPr lang="zh-TW" altLang="en-US" dirty="0">
                <a:latin typeface="+mn-lt"/>
                <a:cs typeface="Courier New" panose="02070309020205020404" pitchFamily="49" charset="0"/>
              </a:rPr>
              <a:t> </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baseline="-25000" dirty="0">
                <a:latin typeface="+mn-lt"/>
                <a:cs typeface="Courier New" panose="02070309020205020404" pitchFamily="49" charset="0"/>
              </a:rPr>
              <a:t> </a:t>
            </a:r>
            <a:r>
              <a:rPr lang="zh-TW" altLang="en-US" dirty="0">
                <a:latin typeface="+mn-lt"/>
              </a:rPr>
              <a:t>轉換為十進制數字 。</a:t>
            </a:r>
            <a:r>
              <a:rPr lang="en-HK" dirty="0"/>
              <a:t/>
            </a:r>
            <a:br>
              <a:rPr lang="en-HK" dirty="0"/>
            </a:br>
            <a:r>
              <a:rPr lang="en-HK" dirty="0"/>
              <a:t/>
            </a:r>
            <a:br>
              <a:rPr lang="en-HK" dirty="0"/>
            </a:br>
            <a:r>
              <a:rPr lang="en-HK" dirty="0"/>
              <a:t/>
            </a:r>
            <a:br>
              <a:rPr lang="en-HK" dirty="0"/>
            </a:br>
            <a:r>
              <a:rPr lang="en-HK" dirty="0"/>
              <a:t/>
            </a:r>
            <a:br>
              <a:rPr lang="en-HK" dirty="0"/>
            </a:br>
            <a:endParaRPr lang="en-HK" dirty="0"/>
          </a:p>
          <a:p>
            <a:endParaRPr lang="en-US" altLang="zh-TW" dirty="0"/>
          </a:p>
          <a:p>
            <a:r>
              <a:rPr lang="zh-TW" altLang="en-US" dirty="0"/>
              <a:t>因此，</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a:t>
            </a:r>
            <a:r>
              <a:rPr lang="en-HK" dirty="0"/>
              <a:t>=  </a:t>
            </a:r>
            <a:r>
              <a:rPr lang="en-HK" dirty="0">
                <a:solidFill>
                  <a:srgbClr val="FF0000"/>
                </a:solidFill>
                <a:latin typeface="+mn-lt"/>
              </a:rPr>
              <a:t>128 + 0 + 32 + 16 + 0 + 4 + 0 + 1 = 181</a:t>
            </a:r>
            <a:r>
              <a:rPr lang="en-HK" baseline="-25000" dirty="0">
                <a:solidFill>
                  <a:srgbClr val="FF0000"/>
                </a:solidFill>
                <a:latin typeface="+mn-lt"/>
              </a:rPr>
              <a:t>10</a:t>
            </a:r>
          </a:p>
          <a:p>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9</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731865397"/>
              </p:ext>
            </p:extLst>
          </p:nvPr>
        </p:nvGraphicFramePr>
        <p:xfrm>
          <a:off x="565263" y="2182709"/>
          <a:ext cx="11097493" cy="1112520"/>
        </p:xfrm>
        <a:graphic>
          <a:graphicData uri="http://schemas.openxmlformats.org/drawingml/2006/table">
            <a:tbl>
              <a:tblPr firstRow="1" bandRow="1">
                <a:tableStyleId>{5940675A-B579-460E-94D1-54222C63F5DA}</a:tableStyleId>
              </a:tblPr>
              <a:tblGrid>
                <a:gridCol w="1324172">
                  <a:extLst>
                    <a:ext uri="{9D8B030D-6E8A-4147-A177-3AD203B41FA5}">
                      <a16:colId xmlns:a16="http://schemas.microsoft.com/office/drawing/2014/main" val="20000"/>
                    </a:ext>
                  </a:extLst>
                </a:gridCol>
                <a:gridCol w="1468907">
                  <a:extLst>
                    <a:ext uri="{9D8B030D-6E8A-4147-A177-3AD203B41FA5}">
                      <a16:colId xmlns:a16="http://schemas.microsoft.com/office/drawing/2014/main" val="20001"/>
                    </a:ext>
                  </a:extLst>
                </a:gridCol>
                <a:gridCol w="1172094">
                  <a:extLst>
                    <a:ext uri="{9D8B030D-6E8A-4147-A177-3AD203B41FA5}">
                      <a16:colId xmlns:a16="http://schemas.microsoft.com/office/drawing/2014/main" val="20002"/>
                    </a:ext>
                  </a:extLst>
                </a:gridCol>
                <a:gridCol w="1238597">
                  <a:extLst>
                    <a:ext uri="{9D8B030D-6E8A-4147-A177-3AD203B41FA5}">
                      <a16:colId xmlns:a16="http://schemas.microsoft.com/office/drawing/2014/main" val="20003"/>
                    </a:ext>
                  </a:extLst>
                </a:gridCol>
                <a:gridCol w="1288472">
                  <a:extLst>
                    <a:ext uri="{9D8B030D-6E8A-4147-A177-3AD203B41FA5}">
                      <a16:colId xmlns:a16="http://schemas.microsoft.com/office/drawing/2014/main" val="20004"/>
                    </a:ext>
                  </a:extLst>
                </a:gridCol>
                <a:gridCol w="1072342">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gridCol w="1064029">
                  <a:extLst>
                    <a:ext uri="{9D8B030D-6E8A-4147-A177-3AD203B41FA5}">
                      <a16:colId xmlns:a16="http://schemas.microsoft.com/office/drawing/2014/main" val="20008"/>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27 = 128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26 = 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 = 32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24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23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22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21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20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sz="1600" dirty="0">
                          <a:solidFill>
                            <a:srgbClr val="FF0000"/>
                          </a:solidFill>
                        </a:rPr>
                        <a:t>128 × 1 = 128</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64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32 × 1 = 32</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16 × 1 = 16</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8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4 × 1 =</a:t>
                      </a:r>
                      <a:r>
                        <a:rPr lang="en-HK" sz="1600" baseline="0" dirty="0">
                          <a:solidFill>
                            <a:srgbClr val="FF0000"/>
                          </a:solidFill>
                        </a:rPr>
                        <a:t> 4</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2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1 × 1 = 1</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57875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latin typeface="+mn-lt"/>
              </a:rPr>
              <a:t>若要轉換 </a:t>
            </a:r>
            <a:r>
              <a:rPr lang="en-US" dirty="0">
                <a:latin typeface="Courier New" panose="02070309020205020404" pitchFamily="49" charset="0"/>
                <a:cs typeface="Courier New" panose="02070309020205020404" pitchFamily="49" charset="0"/>
              </a:rPr>
              <a:t>118</a:t>
            </a:r>
            <a:r>
              <a:rPr lang="en-US" baseline="-25000" dirty="0">
                <a:latin typeface="Courier New" panose="02070309020205020404" pitchFamily="49" charset="0"/>
                <a:cs typeface="Courier New" panose="02070309020205020404" pitchFamily="49" charset="0"/>
              </a:rPr>
              <a:t>10</a:t>
            </a:r>
            <a:r>
              <a:rPr lang="en-US" altLang="zh-TW" dirty="0">
                <a:latin typeface="+mn-lt"/>
              </a:rPr>
              <a:t> </a:t>
            </a:r>
            <a:r>
              <a:rPr lang="zh-TW" altLang="en-US" dirty="0">
                <a:latin typeface="+mn-lt"/>
              </a:rPr>
              <a:t>這個十進制數字為二進制數字，我們可以將其重複除以二，直至其商數小於二，然後將商數及所有餘數從最後一位排列到第一位。</a:t>
            </a:r>
            <a:endParaRPr lang="en-US" altLang="zh-TW"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r>
              <a:rPr lang="zh-TW" altLang="en-US" dirty="0">
                <a:latin typeface="+mn-lt"/>
              </a:rPr>
              <a:t>因此，</a:t>
            </a:r>
            <a:r>
              <a:rPr lang="en-US" dirty="0">
                <a:latin typeface="+mn-lt"/>
              </a:rPr>
              <a:t> </a:t>
            </a:r>
            <a:r>
              <a:rPr lang="en-US" dirty="0">
                <a:latin typeface="Courier New" panose="02070309020205020404" pitchFamily="49" charset="0"/>
                <a:cs typeface="Courier New" panose="02070309020205020404" pitchFamily="49" charset="0"/>
              </a:rPr>
              <a:t>118</a:t>
            </a:r>
            <a:r>
              <a:rPr lang="en-US" baseline="-25000" dirty="0">
                <a:latin typeface="Courier New" panose="02070309020205020404" pitchFamily="49" charset="0"/>
                <a:cs typeface="Courier New" panose="02070309020205020404" pitchFamily="49" charset="0"/>
              </a:rPr>
              <a:t>10</a:t>
            </a:r>
            <a:r>
              <a:rPr lang="en-US" dirty="0">
                <a:latin typeface="+mn-lt"/>
              </a:rPr>
              <a:t> = </a:t>
            </a:r>
            <a:r>
              <a:rPr lang="en-US" dirty="0">
                <a:latin typeface="Courier New" panose="02070309020205020404" pitchFamily="49" charset="0"/>
                <a:cs typeface="Courier New" panose="02070309020205020404" pitchFamily="49" charset="0"/>
              </a:rPr>
              <a:t>1110110</a:t>
            </a:r>
            <a:r>
              <a:rPr lang="en-US" baseline="-25000" dirty="0">
                <a:latin typeface="Courier New" panose="02070309020205020404" pitchFamily="49" charset="0"/>
                <a:cs typeface="Courier New" panose="02070309020205020404" pitchFamily="49" charset="0"/>
              </a:rPr>
              <a:t>2</a:t>
            </a:r>
            <a:r>
              <a:rPr lang="en-US" dirty="0">
                <a:latin typeface="+mn-lt"/>
              </a:rPr>
              <a:t> </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10</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pic>
        <p:nvPicPr>
          <p:cNvPr id="5" name="Picture 4"/>
          <p:cNvPicPr>
            <a:picLocks noChangeAspect="1"/>
          </p:cNvPicPr>
          <p:nvPr/>
        </p:nvPicPr>
        <p:blipFill>
          <a:blip r:embed="rId2"/>
          <a:stretch>
            <a:fillRect/>
          </a:stretch>
        </p:blipFill>
        <p:spPr>
          <a:xfrm>
            <a:off x="4843171" y="2501582"/>
            <a:ext cx="1899979" cy="2744035"/>
          </a:xfrm>
          <a:prstGeom prst="rect">
            <a:avLst/>
          </a:prstGeom>
        </p:spPr>
      </p:pic>
    </p:spTree>
    <p:extLst>
      <p:ext uri="{BB962C8B-B14F-4D97-AF65-F5344CB8AC3E}">
        <p14:creationId xmlns:p14="http://schemas.microsoft.com/office/powerpoint/2010/main" val="3954048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將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baseline="-25000" dirty="0">
                <a:latin typeface="+mn-lt"/>
              </a:rPr>
              <a:t>  </a:t>
            </a:r>
            <a:r>
              <a:rPr lang="zh-TW" altLang="en-US" dirty="0">
                <a:latin typeface="+mn-lt"/>
              </a:rPr>
              <a:t>轉換為二進制數字。</a:t>
            </a: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zh-TW" altLang="en-US" dirty="0">
                <a:latin typeface="+mn-lt"/>
              </a:rPr>
              <a:t>因此，</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latin typeface="+mn-lt"/>
              </a:rPr>
              <a:t> =</a:t>
            </a:r>
            <a:endParaRPr lang="en-US" baseline="-25000"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11</a:t>
            </a:fld>
            <a:endParaRPr lang="en-US" dirty="0"/>
          </a:p>
        </p:txBody>
      </p:sp>
      <p:sp>
        <p:nvSpPr>
          <p:cNvPr id="4" name="文字版面配置區 3"/>
          <p:cNvSpPr>
            <a:spLocks noGrp="1"/>
          </p:cNvSpPr>
          <p:nvPr>
            <p:ph type="body" sz="quarter" idx="13"/>
          </p:nvPr>
        </p:nvSpPr>
        <p:spPr/>
        <p:txBody>
          <a:bodyPr/>
          <a:lstStyle/>
          <a:p>
            <a:r>
              <a:rPr lang="en-US" altLang="zh-TW"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811955343"/>
              </p:ext>
            </p:extLst>
          </p:nvPr>
        </p:nvGraphicFramePr>
        <p:xfrm>
          <a:off x="1055716" y="2033074"/>
          <a:ext cx="10158153" cy="3777522"/>
        </p:xfrm>
        <a:graphic>
          <a:graphicData uri="http://schemas.openxmlformats.org/drawingml/2006/table">
            <a:tbl>
              <a:tblPr firstRow="1" bandRow="1">
                <a:tableStyleId>{5940675A-B579-460E-94D1-54222C63F5DA}</a:tableStyleId>
              </a:tblPr>
              <a:tblGrid>
                <a:gridCol w="10158153">
                  <a:extLst>
                    <a:ext uri="{9D8B030D-6E8A-4147-A177-3AD203B41FA5}">
                      <a16:colId xmlns:a16="http://schemas.microsoft.com/office/drawing/2014/main" val="20000"/>
                    </a:ext>
                  </a:extLst>
                </a:gridCol>
              </a:tblGrid>
              <a:tr h="3777522">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77809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將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baseline="-25000" dirty="0">
                <a:latin typeface="+mn-lt"/>
              </a:rPr>
              <a:t> </a:t>
            </a:r>
            <a:r>
              <a:rPr lang="zh-TW" altLang="en-US" dirty="0">
                <a:latin typeface="+mn-lt"/>
              </a:rPr>
              <a:t>轉換為二進制數字。</a:t>
            </a: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en-US" dirty="0">
                <a:latin typeface="+mn-lt"/>
              </a:rPr>
              <a:t/>
            </a:r>
            <a:br>
              <a:rPr lang="en-US" dirty="0">
                <a:latin typeface="+mn-lt"/>
              </a:rPr>
            </a:br>
            <a:r>
              <a:rPr lang="zh-TW" altLang="en-US" dirty="0">
                <a:latin typeface="+mn-lt"/>
              </a:rPr>
              <a:t>因此，</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a:t>
            </a:r>
            <a:r>
              <a:rPr lang="en-US" dirty="0">
                <a:solidFill>
                  <a:srgbClr val="FF0000"/>
                </a:solidFill>
                <a:latin typeface="Courier New" panose="02070309020205020404" pitchFamily="49" charset="0"/>
                <a:cs typeface="Courier New" panose="02070309020205020404" pitchFamily="49" charset="0"/>
              </a:rPr>
              <a:t>10010101</a:t>
            </a:r>
            <a:r>
              <a:rPr lang="en-US" baseline="-25000" dirty="0">
                <a:solidFill>
                  <a:srgbClr val="FF0000"/>
                </a:solidFill>
                <a:latin typeface="Courier New" panose="02070309020205020404" pitchFamily="49" charset="0"/>
                <a:cs typeface="Courier New" panose="02070309020205020404" pitchFamily="49" charset="0"/>
              </a:rPr>
              <a:t>2</a:t>
            </a:r>
          </a:p>
          <a:p>
            <a:pPr marL="457200" indent="-457200">
              <a:buFont typeface="+mj-lt"/>
              <a:buAutoNum type="arabicPeriod" startAt="2"/>
            </a:pPr>
            <a:endParaRPr lang="en-US" baseline="-25000"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12</a:t>
            </a:fld>
            <a:endParaRPr lang="en-US" dirty="0"/>
          </a:p>
        </p:txBody>
      </p:sp>
      <p:sp>
        <p:nvSpPr>
          <p:cNvPr id="4" name="文字版面配置區 3"/>
          <p:cNvSpPr>
            <a:spLocks noGrp="1"/>
          </p:cNvSpPr>
          <p:nvPr>
            <p:ph type="body" sz="quarter" idx="13"/>
          </p:nvPr>
        </p:nvSpPr>
        <p:spPr/>
        <p:txBody>
          <a:bodyPr/>
          <a:lstStyle/>
          <a:p>
            <a:r>
              <a:rPr lang="en-US" altLang="zh-TW" dirty="0"/>
              <a:t>3.1</a:t>
            </a:r>
            <a:endParaRPr lang="en-GB" dirty="0"/>
          </a:p>
        </p:txBody>
      </p:sp>
      <p:graphicFrame>
        <p:nvGraphicFramePr>
          <p:cNvPr id="5" name="Table 4"/>
          <p:cNvGraphicFramePr>
            <a:graphicFrameLocks noGrp="1"/>
          </p:cNvGraphicFramePr>
          <p:nvPr/>
        </p:nvGraphicFramePr>
        <p:xfrm>
          <a:off x="1055716" y="2033074"/>
          <a:ext cx="10158153" cy="3777522"/>
        </p:xfrm>
        <a:graphic>
          <a:graphicData uri="http://schemas.openxmlformats.org/drawingml/2006/table">
            <a:tbl>
              <a:tblPr firstRow="1" bandRow="1">
                <a:tableStyleId>{5940675A-B579-460E-94D1-54222C63F5DA}</a:tableStyleId>
              </a:tblPr>
              <a:tblGrid>
                <a:gridCol w="10158153">
                  <a:extLst>
                    <a:ext uri="{9D8B030D-6E8A-4147-A177-3AD203B41FA5}">
                      <a16:colId xmlns:a16="http://schemas.microsoft.com/office/drawing/2014/main" val="20000"/>
                    </a:ext>
                  </a:extLst>
                </a:gridCol>
              </a:tblGrid>
              <a:tr h="3777522">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4955688" y="2073925"/>
            <a:ext cx="2226508" cy="3674315"/>
          </a:xfrm>
          <a:prstGeom prst="rect">
            <a:avLst/>
          </a:prstGeom>
        </p:spPr>
      </p:pic>
    </p:spTree>
    <p:extLst>
      <p:ext uri="{BB962C8B-B14F-4D97-AF65-F5344CB8AC3E}">
        <p14:creationId xmlns:p14="http://schemas.microsoft.com/office/powerpoint/2010/main" val="2802458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solidFill>
                  <a:srgbClr val="C6993D"/>
                </a:solidFill>
                <a:latin typeface="Noto Sans CJK TC Bold" panose="020B0800000000000000" pitchFamily="34" charset="-128"/>
                <a:ea typeface="Noto Sans CJK TC Bold" panose="020B0800000000000000" pitchFamily="34" charset="-128"/>
              </a:rPr>
              <a:t>二進制數字的計算</a:t>
            </a:r>
            <a:endParaRPr lang="en-US" altLang="zh-TW" b="1" dirty="0">
              <a:solidFill>
                <a:srgbClr val="C6993D"/>
              </a:solidFill>
              <a:latin typeface="Noto Sans CJK TC Bold" panose="020B0800000000000000" pitchFamily="34" charset="-128"/>
              <a:ea typeface="Noto Sans CJK TC Bold" panose="020B0800000000000000" pitchFamily="34" charset="-128"/>
            </a:endParaRPr>
          </a:p>
          <a:p>
            <a:r>
              <a:rPr lang="zh-TW" altLang="en-US" dirty="0"/>
              <a:t>二進制數字與十進制數字的計算沒有太大區別。某些計算機（包括手提電話的內置計算機）可以計算二進制數字。</a:t>
            </a:r>
            <a:endParaRPr lang="en-US" altLang="zh-TW" dirty="0"/>
          </a:p>
          <a:p>
            <a:r>
              <a:rPr lang="zh-TW" altLang="en-US" dirty="0"/>
              <a:t>以下是計算 </a:t>
            </a:r>
            <a:r>
              <a:rPr lang="en-US" dirty="0">
                <a:latin typeface="Courier New" panose="02070309020205020404" pitchFamily="49" charset="0"/>
                <a:cs typeface="Courier New" panose="02070309020205020404" pitchFamily="49" charset="0"/>
              </a:rPr>
              <a:t>101101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+ 111110</a:t>
            </a:r>
            <a:r>
              <a:rPr lang="en-US" baseline="-25000" dirty="0">
                <a:latin typeface="Courier New" panose="02070309020205020404" pitchFamily="49" charset="0"/>
                <a:cs typeface="Courier New" panose="02070309020205020404" pitchFamily="49" charset="0"/>
              </a:rPr>
              <a:t>2</a:t>
            </a:r>
            <a:r>
              <a:rPr lang="en-US" dirty="0"/>
              <a:t> </a:t>
            </a:r>
            <a:r>
              <a:rPr lang="zh-TW" altLang="en-US" dirty="0"/>
              <a:t>的例子。</a:t>
            </a:r>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pic>
        <p:nvPicPr>
          <p:cNvPr id="5" name="Picture 4"/>
          <p:cNvPicPr>
            <a:picLocks noChangeAspect="1"/>
          </p:cNvPicPr>
          <p:nvPr/>
        </p:nvPicPr>
        <p:blipFill>
          <a:blip r:embed="rId2"/>
          <a:stretch>
            <a:fillRect/>
          </a:stretch>
        </p:blipFill>
        <p:spPr>
          <a:xfrm>
            <a:off x="2353312" y="3771211"/>
            <a:ext cx="7297168" cy="2419688"/>
          </a:xfrm>
          <a:prstGeom prst="rect">
            <a:avLst/>
          </a:prstGeom>
        </p:spPr>
      </p:pic>
    </p:spTree>
    <p:extLst>
      <p:ext uri="{BB962C8B-B14F-4D97-AF65-F5344CB8AC3E}">
        <p14:creationId xmlns:p14="http://schemas.microsoft.com/office/powerpoint/2010/main" val="1989661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試計算 </a:t>
            </a:r>
            <a:r>
              <a:rPr lang="en-US" dirty="0">
                <a:latin typeface="Courier New" panose="02070309020205020404" pitchFamily="49" charset="0"/>
                <a:cs typeface="Courier New" panose="02070309020205020404" pitchFamily="49" charset="0"/>
              </a:rPr>
              <a:t>111011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14</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684766358"/>
              </p:ext>
            </p:extLst>
          </p:nvPr>
        </p:nvGraphicFramePr>
        <p:xfrm>
          <a:off x="838200" y="2138890"/>
          <a:ext cx="10515600" cy="210925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09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30871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試計算 </a:t>
            </a:r>
            <a:r>
              <a:rPr lang="en-US" dirty="0">
                <a:latin typeface="Courier New" panose="02070309020205020404" pitchFamily="49" charset="0"/>
                <a:cs typeface="Courier New" panose="02070309020205020404" pitchFamily="49" charset="0"/>
              </a:rPr>
              <a:t>111011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15</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nvGraphicFramePr>
        <p:xfrm>
          <a:off x="838200" y="2138890"/>
          <a:ext cx="10515600" cy="210925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09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2600189" y="2220061"/>
            <a:ext cx="6482347" cy="1946916"/>
          </a:xfrm>
          <a:prstGeom prst="rect">
            <a:avLst/>
          </a:prstGeom>
        </p:spPr>
      </p:pic>
    </p:spTree>
    <p:extLst>
      <p:ext uri="{BB962C8B-B14F-4D97-AF65-F5344CB8AC3E}">
        <p14:creationId xmlns:p14="http://schemas.microsoft.com/office/powerpoint/2010/main" val="3256677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latin typeface="+mn-lt"/>
              </a:rPr>
              <a:t>以下是計算 </a:t>
            </a:r>
            <a:r>
              <a:rPr lang="en-US" dirty="0">
                <a:latin typeface="Courier New" panose="02070309020205020404" pitchFamily="49" charset="0"/>
                <a:cs typeface="Courier New" panose="02070309020205020404" pitchFamily="49" charset="0"/>
              </a:rPr>
              <a:t>111110</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− 101101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zh-TW" altLang="en-US" dirty="0">
                <a:latin typeface="+mn-lt"/>
              </a:rPr>
              <a:t>的例子。</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16</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pic>
        <p:nvPicPr>
          <p:cNvPr id="5" name="Picture 4"/>
          <p:cNvPicPr>
            <a:picLocks noChangeAspect="1"/>
          </p:cNvPicPr>
          <p:nvPr/>
        </p:nvPicPr>
        <p:blipFill>
          <a:blip r:embed="rId2"/>
          <a:stretch>
            <a:fillRect/>
          </a:stretch>
        </p:blipFill>
        <p:spPr>
          <a:xfrm>
            <a:off x="3266680" y="2071498"/>
            <a:ext cx="5658640" cy="2715004"/>
          </a:xfrm>
          <a:prstGeom prst="rect">
            <a:avLst/>
          </a:prstGeom>
        </p:spPr>
      </p:pic>
    </p:spTree>
    <p:extLst>
      <p:ext uri="{BB962C8B-B14F-4D97-AF65-F5344CB8AC3E}">
        <p14:creationId xmlns:p14="http://schemas.microsoft.com/office/powerpoint/2010/main" val="3397067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4"/>
            </a:pPr>
            <a:r>
              <a:rPr lang="zh-TW" altLang="en-US" dirty="0">
                <a:latin typeface="+mn-lt"/>
              </a:rPr>
              <a:t>試計算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− 111011</a:t>
            </a:r>
            <a:r>
              <a:rPr lang="en-US" baseline="-25000" dirty="0">
                <a:latin typeface="Courier New" panose="02070309020205020404" pitchFamily="49" charset="0"/>
                <a:cs typeface="Courier New" panose="02070309020205020404" pitchFamily="49" charset="0"/>
              </a:rPr>
              <a:t>2</a:t>
            </a:r>
            <a:r>
              <a:rPr lang="en-US" dirty="0">
                <a:latin typeface="+mn-lt"/>
                <a:cs typeface="Courier New" panose="02070309020205020404" pitchFamily="49" charset="0"/>
              </a:rPr>
              <a:t> </a:t>
            </a:r>
            <a:r>
              <a:rPr lang="zh-TW" altLang="en-US" dirty="0">
                <a:latin typeface="Courier New" panose="02070309020205020404" pitchFamily="49" charset="0"/>
                <a:cs typeface="Courier New" panose="02070309020205020404" pitchFamily="49" charset="0"/>
              </a:rPr>
              <a:t>。</a:t>
            </a:r>
            <a:endParaRPr lang="en-GB"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17</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nvGraphicFramePr>
        <p:xfrm>
          <a:off x="771525" y="2157940"/>
          <a:ext cx="10648950" cy="2737909"/>
        </p:xfrm>
        <a:graphic>
          <a:graphicData uri="http://schemas.openxmlformats.org/drawingml/2006/table">
            <a:tbl>
              <a:tblPr firstRow="1" bandRow="1">
                <a:tableStyleId>{5C22544A-7EE6-4342-B048-85BDC9FD1C3A}</a:tableStyleId>
              </a:tblPr>
              <a:tblGrid>
                <a:gridCol w="10648950">
                  <a:extLst>
                    <a:ext uri="{9D8B030D-6E8A-4147-A177-3AD203B41FA5}">
                      <a16:colId xmlns:a16="http://schemas.microsoft.com/office/drawing/2014/main" val="20000"/>
                    </a:ext>
                  </a:extLst>
                </a:gridCol>
              </a:tblGrid>
              <a:tr h="273790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4125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4"/>
            </a:pPr>
            <a:r>
              <a:rPr lang="zh-TW" altLang="en-US" dirty="0">
                <a:latin typeface="+mn-lt"/>
              </a:rPr>
              <a:t>試計算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− 111011</a:t>
            </a:r>
            <a:r>
              <a:rPr lang="en-US" baseline="-25000" dirty="0">
                <a:latin typeface="Courier New" panose="02070309020205020404" pitchFamily="49" charset="0"/>
                <a:cs typeface="Courier New" panose="02070309020205020404" pitchFamily="49" charset="0"/>
              </a:rPr>
              <a:t>2</a:t>
            </a:r>
            <a:r>
              <a:rPr lang="en-US" dirty="0">
                <a:latin typeface="+mn-lt"/>
                <a:cs typeface="Courier New" panose="02070309020205020404" pitchFamily="49" charset="0"/>
              </a:rPr>
              <a:t> </a:t>
            </a:r>
            <a:r>
              <a:rPr lang="zh-TW" altLang="en-US" dirty="0">
                <a:latin typeface="Courier New" panose="02070309020205020404" pitchFamily="49" charset="0"/>
                <a:cs typeface="Courier New" panose="02070309020205020404" pitchFamily="49" charset="0"/>
              </a:rPr>
              <a:t>。</a:t>
            </a:r>
            <a:endParaRPr lang="en-GB"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18</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407603942"/>
              </p:ext>
            </p:extLst>
          </p:nvPr>
        </p:nvGraphicFramePr>
        <p:xfrm>
          <a:off x="771525" y="2157940"/>
          <a:ext cx="10648950" cy="2737909"/>
        </p:xfrm>
        <a:graphic>
          <a:graphicData uri="http://schemas.openxmlformats.org/drawingml/2006/table">
            <a:tbl>
              <a:tblPr firstRow="1" bandRow="1">
                <a:tableStyleId>{5C22544A-7EE6-4342-B048-85BDC9FD1C3A}</a:tableStyleId>
              </a:tblPr>
              <a:tblGrid>
                <a:gridCol w="10648950">
                  <a:extLst>
                    <a:ext uri="{9D8B030D-6E8A-4147-A177-3AD203B41FA5}">
                      <a16:colId xmlns:a16="http://schemas.microsoft.com/office/drawing/2014/main" val="20000"/>
                    </a:ext>
                  </a:extLst>
                </a:gridCol>
              </a:tblGrid>
              <a:tr h="273790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2832937" y="2261125"/>
            <a:ext cx="6368213" cy="2563476"/>
          </a:xfrm>
          <a:prstGeom prst="rect">
            <a:avLst/>
          </a:prstGeom>
        </p:spPr>
      </p:pic>
    </p:spTree>
    <p:extLst>
      <p:ext uri="{BB962C8B-B14F-4D97-AF65-F5344CB8AC3E}">
        <p14:creationId xmlns:p14="http://schemas.microsoft.com/office/powerpoint/2010/main" val="344352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二進制數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19</a:t>
            </a:fld>
            <a:endParaRPr lang="en-US" dirty="0"/>
          </a:p>
        </p:txBody>
      </p:sp>
      <p:sp>
        <p:nvSpPr>
          <p:cNvPr id="6" name="文字版面配置區 5"/>
          <p:cNvSpPr>
            <a:spLocks noGrp="1"/>
          </p:cNvSpPr>
          <p:nvPr>
            <p:ph type="body" sz="quarter" idx="14"/>
          </p:nvPr>
        </p:nvSpPr>
        <p:spPr/>
        <p:txBody>
          <a:bodyPr/>
          <a:lstStyle/>
          <a:p>
            <a:r>
              <a:rPr lang="en-US" dirty="0"/>
              <a:t>B</a:t>
            </a:r>
            <a:endParaRPr lang="en-GB" dirty="0"/>
          </a:p>
        </p:txBody>
      </p:sp>
      <p:sp>
        <p:nvSpPr>
          <p:cNvPr id="7" name="內容版面配置區 6"/>
          <p:cNvSpPr>
            <a:spLocks noGrp="1"/>
          </p:cNvSpPr>
          <p:nvPr>
            <p:ph sz="quarter" idx="15"/>
          </p:nvPr>
        </p:nvSpPr>
        <p:spPr/>
        <p:txBody>
          <a:bodyPr>
            <a:normAutofit/>
          </a:bodyPr>
          <a:lstStyle/>
          <a:p>
            <a:r>
              <a:rPr lang="zh-TW" altLang="en-US" dirty="0">
                <a:solidFill>
                  <a:srgbClr val="595A96"/>
                </a:solidFill>
                <a:latin typeface="+mn-lt"/>
                <a:ea typeface="Noto Sans CJK TC Bold" panose="020B0800000000000000" pitchFamily="34" charset="-128"/>
              </a:rPr>
              <a:t>樣式</a:t>
            </a:r>
            <a:r>
              <a:rPr lang="zh-TW" altLang="en-US" dirty="0">
                <a:latin typeface="+mn-lt"/>
              </a:rPr>
              <a:t>（組合）的數量決定了可以表示多少數據。</a:t>
            </a:r>
            <a:endParaRPr lang="en-US" altLang="zh-TW" dirty="0">
              <a:latin typeface="+mn-lt"/>
            </a:endParaRPr>
          </a:p>
          <a:p>
            <a:endParaRPr lang="en-US" dirty="0">
              <a:latin typeface="+mn-lt"/>
            </a:endParaRPr>
          </a:p>
          <a:p>
            <a:r>
              <a:rPr lang="zh-TW" altLang="en-US" dirty="0">
                <a:latin typeface="+mn-lt"/>
              </a:rPr>
              <a:t>例如，一位的二進制數字可以是「</a:t>
            </a:r>
            <a:r>
              <a:rPr lang="en-US" altLang="zh-TW" dirty="0">
                <a:latin typeface="+mn-lt"/>
              </a:rPr>
              <a:t>0</a:t>
            </a:r>
            <a:r>
              <a:rPr lang="zh-TW" altLang="en-US" dirty="0">
                <a:latin typeface="+mn-lt"/>
              </a:rPr>
              <a:t>」或者「</a:t>
            </a:r>
            <a:r>
              <a:rPr lang="en-US" altLang="zh-TW" dirty="0">
                <a:latin typeface="+mn-lt"/>
              </a:rPr>
              <a:t>1</a:t>
            </a:r>
            <a:r>
              <a:rPr lang="zh-TW" altLang="en-US" dirty="0">
                <a:latin typeface="+mn-lt"/>
              </a:rPr>
              <a:t>」，意即有兩個獨特的樣式。</a:t>
            </a:r>
            <a:endParaRPr lang="en-US" altLang="zh-TW" dirty="0">
              <a:latin typeface="+mn-lt"/>
            </a:endParaRPr>
          </a:p>
          <a:p>
            <a:endParaRPr lang="en-US" altLang="zh-TW" dirty="0">
              <a:latin typeface="+mn-lt"/>
            </a:endParaRPr>
          </a:p>
          <a:p>
            <a:endParaRPr lang="en-US" altLang="zh-TW" dirty="0">
              <a:latin typeface="+mn-lt"/>
            </a:endParaRPr>
          </a:p>
          <a:p>
            <a:endParaRPr lang="en-US" altLang="zh-TW" dirty="0">
              <a:latin typeface="+mn-lt"/>
            </a:endParaRPr>
          </a:p>
          <a:p>
            <a:r>
              <a:rPr lang="zh-TW" altLang="en-US" dirty="0">
                <a:latin typeface="+mn-lt"/>
              </a:rPr>
              <a:t>三位的二進制數字的數值範圍為 </a:t>
            </a:r>
            <a:r>
              <a:rPr lang="en-US" altLang="zh-TW" dirty="0">
                <a:latin typeface="+mn-lt"/>
              </a:rPr>
              <a:t>0 </a:t>
            </a:r>
            <a:r>
              <a:rPr lang="zh-TW" altLang="en-US" dirty="0">
                <a:latin typeface="+mn-lt"/>
              </a:rPr>
              <a:t>至 </a:t>
            </a:r>
            <a:r>
              <a:rPr lang="en-US" altLang="zh-TW" dirty="0">
                <a:latin typeface="+mn-lt"/>
              </a:rPr>
              <a:t>7</a:t>
            </a:r>
            <a:r>
              <a:rPr lang="zh-TW" altLang="en-US" dirty="0">
                <a:latin typeface="+mn-lt"/>
              </a:rPr>
              <a:t>，意即有八個獨特的樣式。</a:t>
            </a:r>
          </a:p>
          <a:p>
            <a:endParaRPr lang="zh-TW" altLang="en-US" dirty="0">
              <a:latin typeface="+mn-lt"/>
            </a:endParaRPr>
          </a:p>
        </p:txBody>
      </p:sp>
      <p:graphicFrame>
        <p:nvGraphicFramePr>
          <p:cNvPr id="8" name="Table 5"/>
          <p:cNvGraphicFramePr>
            <a:graphicFrameLocks noGrp="1"/>
          </p:cNvGraphicFramePr>
          <p:nvPr>
            <p:extLst>
              <p:ext uri="{D42A27DB-BD31-4B8C-83A1-F6EECF244321}">
                <p14:modId xmlns:p14="http://schemas.microsoft.com/office/powerpoint/2010/main" val="1280443653"/>
              </p:ext>
            </p:extLst>
          </p:nvPr>
        </p:nvGraphicFramePr>
        <p:xfrm>
          <a:off x="908050" y="3177116"/>
          <a:ext cx="3435350" cy="741680"/>
        </p:xfrm>
        <a:graphic>
          <a:graphicData uri="http://schemas.openxmlformats.org/drawingml/2006/table">
            <a:tbl>
              <a:tblPr firstRow="1" bandRow="1">
                <a:tableStyleId>{5940675A-B579-460E-94D1-54222C63F5DA}</a:tableStyleId>
              </a:tblPr>
              <a:tblGrid>
                <a:gridCol w="1717675">
                  <a:extLst>
                    <a:ext uri="{9D8B030D-6E8A-4147-A177-3AD203B41FA5}">
                      <a16:colId xmlns:a16="http://schemas.microsoft.com/office/drawing/2014/main" val="20000"/>
                    </a:ext>
                  </a:extLst>
                </a:gridCol>
                <a:gridCol w="1717675">
                  <a:extLst>
                    <a:ext uri="{9D8B030D-6E8A-4147-A177-3AD203B41FA5}">
                      <a16:colId xmlns:a16="http://schemas.microsoft.com/office/drawing/2014/main" val="20001"/>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第一個樣式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第二個樣式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Table 6"/>
          <p:cNvGraphicFramePr>
            <a:graphicFrameLocks noGrp="1"/>
          </p:cNvGraphicFramePr>
          <p:nvPr>
            <p:extLst>
              <p:ext uri="{D42A27DB-BD31-4B8C-83A1-F6EECF244321}">
                <p14:modId xmlns:p14="http://schemas.microsoft.com/office/powerpoint/2010/main" val="3351106169"/>
              </p:ext>
            </p:extLst>
          </p:nvPr>
        </p:nvGraphicFramePr>
        <p:xfrm>
          <a:off x="917575" y="5063066"/>
          <a:ext cx="10436224" cy="741680"/>
        </p:xfrm>
        <a:graphic>
          <a:graphicData uri="http://schemas.openxmlformats.org/drawingml/2006/table">
            <a:tbl>
              <a:tblPr firstRow="1" bandRow="1">
                <a:tableStyleId>{5940675A-B579-460E-94D1-54222C63F5DA}</a:tableStyleId>
              </a:tblPr>
              <a:tblGrid>
                <a:gridCol w="1304528">
                  <a:extLst>
                    <a:ext uri="{9D8B030D-6E8A-4147-A177-3AD203B41FA5}">
                      <a16:colId xmlns:a16="http://schemas.microsoft.com/office/drawing/2014/main" val="20000"/>
                    </a:ext>
                  </a:extLst>
                </a:gridCol>
                <a:gridCol w="1304528">
                  <a:extLst>
                    <a:ext uri="{9D8B030D-6E8A-4147-A177-3AD203B41FA5}">
                      <a16:colId xmlns:a16="http://schemas.microsoft.com/office/drawing/2014/main" val="20001"/>
                    </a:ext>
                  </a:extLst>
                </a:gridCol>
                <a:gridCol w="1304528">
                  <a:extLst>
                    <a:ext uri="{9D8B030D-6E8A-4147-A177-3AD203B41FA5}">
                      <a16:colId xmlns:a16="http://schemas.microsoft.com/office/drawing/2014/main" val="20002"/>
                    </a:ext>
                  </a:extLst>
                </a:gridCol>
                <a:gridCol w="1304528">
                  <a:extLst>
                    <a:ext uri="{9D8B030D-6E8A-4147-A177-3AD203B41FA5}">
                      <a16:colId xmlns:a16="http://schemas.microsoft.com/office/drawing/2014/main" val="20003"/>
                    </a:ext>
                  </a:extLst>
                </a:gridCol>
                <a:gridCol w="1304528">
                  <a:extLst>
                    <a:ext uri="{9D8B030D-6E8A-4147-A177-3AD203B41FA5}">
                      <a16:colId xmlns:a16="http://schemas.microsoft.com/office/drawing/2014/main" val="20004"/>
                    </a:ext>
                  </a:extLst>
                </a:gridCol>
                <a:gridCol w="1304528">
                  <a:extLst>
                    <a:ext uri="{9D8B030D-6E8A-4147-A177-3AD203B41FA5}">
                      <a16:colId xmlns:a16="http://schemas.microsoft.com/office/drawing/2014/main" val="20005"/>
                    </a:ext>
                  </a:extLst>
                </a:gridCol>
                <a:gridCol w="1304528">
                  <a:extLst>
                    <a:ext uri="{9D8B030D-6E8A-4147-A177-3AD203B41FA5}">
                      <a16:colId xmlns:a16="http://schemas.microsoft.com/office/drawing/2014/main" val="20006"/>
                    </a:ext>
                  </a:extLst>
                </a:gridCol>
                <a:gridCol w="1304528">
                  <a:extLst>
                    <a:ext uri="{9D8B030D-6E8A-4147-A177-3AD203B41FA5}">
                      <a16:colId xmlns:a16="http://schemas.microsoft.com/office/drawing/2014/main" val="20007"/>
                    </a:ext>
                  </a:extLst>
                </a:gridCol>
              </a:tblGrid>
              <a:tr h="370840">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第一個樣式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第二個樣式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第三個樣式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第四個樣式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第五個樣式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第六個樣式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第七個樣式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600" b="1" dirty="0">
                          <a:solidFill>
                            <a:schemeClr val="bg1"/>
                          </a:solidFill>
                          <a:latin typeface="Noto Sans CJK TC Bold" panose="020B0800000000000000" pitchFamily="34" charset="-128"/>
                          <a:ea typeface="Noto Sans CJK TC Bold" panose="020B0800000000000000" pitchFamily="34" charset="-128"/>
                        </a:rPr>
                        <a:t>第八個樣式</a:t>
                      </a:r>
                      <a:endParaRPr lang="en-US" sz="1600"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9818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十六進制數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文字版面配置區 3"/>
          <p:cNvSpPr>
            <a:spLocks noGrp="1"/>
          </p:cNvSpPr>
          <p:nvPr>
            <p:ph type="body" sz="quarter" idx="14"/>
          </p:nvPr>
        </p:nvSpPr>
        <p:spPr/>
        <p:txBody>
          <a:bodyPr/>
          <a:lstStyle/>
          <a:p>
            <a:r>
              <a:rPr lang="en-US" altLang="zh-TW" dirty="0"/>
              <a:t>C</a:t>
            </a:r>
            <a:endParaRPr lang="en-GB" dirty="0"/>
          </a:p>
        </p:txBody>
      </p:sp>
      <p:sp>
        <p:nvSpPr>
          <p:cNvPr id="5" name="內容版面配置區 4"/>
          <p:cNvSpPr>
            <a:spLocks noGrp="1"/>
          </p:cNvSpPr>
          <p:nvPr>
            <p:ph sz="quarter" idx="15"/>
          </p:nvPr>
        </p:nvSpPr>
        <p:spPr/>
        <p:txBody>
          <a:bodyPr/>
          <a:lstStyle/>
          <a:p>
            <a:r>
              <a:rPr lang="zh-TW" altLang="en-US" dirty="0">
                <a:latin typeface="+mn-lt"/>
              </a:rPr>
              <a:t>十六進制數字是以 </a:t>
            </a:r>
            <a:r>
              <a:rPr lang="en-US" altLang="zh-TW" dirty="0">
                <a:latin typeface="+mn-lt"/>
              </a:rPr>
              <a:t>16 </a:t>
            </a:r>
            <a:r>
              <a:rPr lang="zh-TW" altLang="en-US" dirty="0">
                <a:latin typeface="+mn-lt"/>
              </a:rPr>
              <a:t>為基數的數字。由於 </a:t>
            </a:r>
            <a:r>
              <a:rPr lang="en-US" dirty="0">
                <a:latin typeface="+mn-lt"/>
              </a:rPr>
              <a:t>2</a:t>
            </a:r>
            <a:r>
              <a:rPr lang="en-US" baseline="30000" dirty="0">
                <a:latin typeface="+mn-lt"/>
              </a:rPr>
              <a:t>4</a:t>
            </a:r>
            <a:r>
              <a:rPr lang="en-US" dirty="0">
                <a:latin typeface="+mn-lt"/>
              </a:rPr>
              <a:t> = 16 </a:t>
            </a:r>
            <a:r>
              <a:rPr lang="zh-TW" altLang="en-US" dirty="0">
                <a:latin typeface="+mn-lt"/>
              </a:rPr>
              <a:t>，每個數字可以代表 </a:t>
            </a:r>
            <a:r>
              <a:rPr lang="en-US" altLang="zh-TW" dirty="0">
                <a:latin typeface="+mn-lt"/>
              </a:rPr>
              <a:t>4 </a:t>
            </a:r>
            <a:r>
              <a:rPr lang="zh-TW" altLang="en-US" dirty="0">
                <a:latin typeface="+mn-lt"/>
              </a:rPr>
              <a:t>位元的數碼數據。</a:t>
            </a:r>
            <a:endParaRPr lang="en-US" altLang="zh-TW" dirty="0">
              <a:latin typeface="+mn-lt"/>
            </a:endParaRPr>
          </a:p>
          <a:p>
            <a:endParaRPr lang="en-US" dirty="0">
              <a:latin typeface="+mn-lt"/>
            </a:endParaRPr>
          </a:p>
          <a:p>
            <a:r>
              <a:rPr lang="zh-TW" altLang="en-US" dirty="0">
                <a:latin typeface="+mn-lt"/>
              </a:rPr>
              <a:t>十六進制分別使用字母 </a:t>
            </a:r>
            <a:r>
              <a:rPr lang="en-US" altLang="zh-TW" dirty="0">
                <a:latin typeface="+mn-lt"/>
              </a:rPr>
              <a:t>A </a:t>
            </a:r>
            <a:r>
              <a:rPr lang="zh-TW" altLang="en-US" dirty="0">
                <a:latin typeface="+mn-lt"/>
              </a:rPr>
              <a:t>到 </a:t>
            </a:r>
            <a:r>
              <a:rPr lang="en-US" altLang="zh-TW" dirty="0">
                <a:latin typeface="+mn-lt"/>
              </a:rPr>
              <a:t>F </a:t>
            </a:r>
            <a:r>
              <a:rPr lang="zh-TW" altLang="en-US" dirty="0">
                <a:latin typeface="+mn-lt"/>
              </a:rPr>
              <a:t>在單一數位中表示 </a:t>
            </a:r>
            <a:r>
              <a:rPr lang="en-US" altLang="zh-TW" dirty="0">
                <a:latin typeface="+mn-lt"/>
              </a:rPr>
              <a:t>10 </a:t>
            </a:r>
            <a:r>
              <a:rPr lang="zh-TW" altLang="en-US" dirty="0">
                <a:latin typeface="+mn-lt"/>
              </a:rPr>
              <a:t>到 </a:t>
            </a:r>
            <a:r>
              <a:rPr lang="en-US" altLang="zh-TW" dirty="0">
                <a:latin typeface="+mn-lt"/>
              </a:rPr>
              <a:t>15</a:t>
            </a:r>
            <a:r>
              <a:rPr lang="zh-TW" altLang="en-US" dirty="0">
                <a:latin typeface="+mn-lt"/>
              </a:rPr>
              <a:t>。</a:t>
            </a:r>
            <a:endParaRPr lang="en-GB"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2372201117"/>
              </p:ext>
            </p:extLst>
          </p:nvPr>
        </p:nvGraphicFramePr>
        <p:xfrm>
          <a:off x="953100" y="3065906"/>
          <a:ext cx="4495200" cy="1483360"/>
        </p:xfrm>
        <a:graphic>
          <a:graphicData uri="http://schemas.openxmlformats.org/drawingml/2006/table">
            <a:tbl>
              <a:tblPr firstRow="1" bandRow="1">
                <a:tableStyleId>{5940675A-B579-460E-94D1-54222C63F5DA}</a:tableStyleId>
              </a:tblPr>
              <a:tblGrid>
                <a:gridCol w="2247600">
                  <a:extLst>
                    <a:ext uri="{9D8B030D-6E8A-4147-A177-3AD203B41FA5}">
                      <a16:colId xmlns:a16="http://schemas.microsoft.com/office/drawing/2014/main" val="20000"/>
                    </a:ext>
                  </a:extLst>
                </a:gridCol>
                <a:gridCol w="2247600">
                  <a:extLst>
                    <a:ext uri="{9D8B030D-6E8A-4147-A177-3AD203B41FA5}">
                      <a16:colId xmlns:a16="http://schemas.microsoft.com/office/drawing/2014/main" val="20001"/>
                    </a:ext>
                  </a:extLst>
                </a:gridCol>
              </a:tblGrid>
              <a:tr h="370840">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數位的數字範圍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二進制數字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mn-lt"/>
                          <a:ea typeface="Noto Sans CJK TC Light" panose="020B0300000000000000" pitchFamily="34" charset="-128"/>
                        </a:rPr>
                        <a:t>0 </a:t>
                      </a:r>
                      <a:r>
                        <a:rPr lang="zh-TW" altLang="en-US" dirty="0">
                          <a:latin typeface="+mn-lt"/>
                          <a:ea typeface="Noto Sans CJK TC Light" panose="020B0300000000000000" pitchFamily="34" charset="-128"/>
                        </a:rPr>
                        <a:t>到</a:t>
                      </a:r>
                      <a:r>
                        <a:rPr lang="en-HK" dirty="0">
                          <a:latin typeface="+mn-lt"/>
                          <a:ea typeface="Noto Sans CJK TC Light" panose="020B0300000000000000" pitchFamily="34" charset="-128"/>
                        </a:rPr>
                        <a:t> 1</a:t>
                      </a:r>
                      <a:endParaRPr lang="en-US"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b="1" dirty="0">
                          <a:solidFill>
                            <a:schemeClr val="bg1"/>
                          </a:solidFill>
                          <a:latin typeface="Noto Sans CJK TC Bold" panose="020B0800000000000000" pitchFamily="34" charset="-128"/>
                          <a:ea typeface="Noto Sans CJK TC Bold" panose="020B0800000000000000" pitchFamily="34" charset="-128"/>
                        </a:rPr>
                        <a:t>十進制數字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mn-lt"/>
                          <a:ea typeface="Noto Sans CJK TC Light" panose="020B0300000000000000" pitchFamily="34" charset="-128"/>
                        </a:rPr>
                        <a:t>0 </a:t>
                      </a:r>
                      <a:r>
                        <a:rPr lang="zh-TW" altLang="en-US" dirty="0">
                          <a:latin typeface="+mn-lt"/>
                          <a:ea typeface="Noto Sans CJK TC Light" panose="020B0300000000000000" pitchFamily="34" charset="-128"/>
                        </a:rPr>
                        <a:t>到</a:t>
                      </a:r>
                      <a:r>
                        <a:rPr lang="en-HK" dirty="0">
                          <a:latin typeface="+mn-lt"/>
                          <a:ea typeface="Noto Sans CJK TC Light" panose="020B0300000000000000" pitchFamily="34" charset="-128"/>
                        </a:rPr>
                        <a:t> 9</a:t>
                      </a:r>
                      <a:endParaRPr lang="en-US"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b="1" dirty="0">
                          <a:solidFill>
                            <a:schemeClr val="bg1"/>
                          </a:solidFill>
                          <a:latin typeface="Noto Sans CJK TC Bold" panose="020B0800000000000000" pitchFamily="34" charset="-128"/>
                          <a:ea typeface="Noto Sans CJK TC Bold" panose="020B0800000000000000" pitchFamily="34" charset="-128"/>
                        </a:rPr>
                        <a:t>十六進制數字</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latin typeface="+mn-lt"/>
                          <a:ea typeface="Noto Sans CJK TC Light" panose="020B0300000000000000" pitchFamily="34" charset="-128"/>
                        </a:rPr>
                        <a:t>0 </a:t>
                      </a:r>
                      <a:r>
                        <a:rPr lang="zh-TW" altLang="en-US" dirty="0">
                          <a:latin typeface="+mn-lt"/>
                          <a:ea typeface="Noto Sans CJK TC Light" panose="020B0300000000000000" pitchFamily="34" charset="-128"/>
                        </a:rPr>
                        <a:t>到 </a:t>
                      </a:r>
                      <a:r>
                        <a:rPr lang="en-HK" dirty="0">
                          <a:latin typeface="+mn-lt"/>
                          <a:ea typeface="Noto Sans CJK TC Light" panose="020B0300000000000000" pitchFamily="34" charset="-128"/>
                        </a:rPr>
                        <a:t>9</a:t>
                      </a:r>
                      <a:r>
                        <a:rPr lang="zh-TW" altLang="en-US" dirty="0">
                          <a:latin typeface="+mn-lt"/>
                          <a:ea typeface="Noto Sans CJK TC Light" panose="020B0300000000000000" pitchFamily="34" charset="-128"/>
                        </a:rPr>
                        <a:t>，</a:t>
                      </a:r>
                      <a:r>
                        <a:rPr lang="en-HK" dirty="0">
                          <a:latin typeface="+mn-lt"/>
                          <a:ea typeface="Noto Sans CJK TC Light" panose="020B0300000000000000" pitchFamily="34" charset="-128"/>
                        </a:rPr>
                        <a:t>A </a:t>
                      </a:r>
                      <a:r>
                        <a:rPr lang="zh-TW" altLang="en-US" dirty="0">
                          <a:latin typeface="+mn-lt"/>
                          <a:ea typeface="Noto Sans CJK TC Light" panose="020B0300000000000000" pitchFamily="34" charset="-128"/>
                        </a:rPr>
                        <a:t>到</a:t>
                      </a:r>
                      <a:r>
                        <a:rPr lang="en-HK" dirty="0">
                          <a:latin typeface="+mn-lt"/>
                          <a:ea typeface="Noto Sans CJK TC Light" panose="020B0300000000000000" pitchFamily="34" charset="-128"/>
                        </a:rPr>
                        <a:t> F</a:t>
                      </a:r>
                      <a:endParaRPr lang="en-US"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48962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b="1" dirty="0">
                <a:solidFill>
                  <a:srgbClr val="C6993D"/>
                </a:solidFill>
                <a:latin typeface="Noto Sans CJK TC Bold" panose="020B0800000000000000" pitchFamily="34" charset="-128"/>
                <a:ea typeface="Noto Sans CJK TC Bold" panose="020B0800000000000000" pitchFamily="34" charset="-128"/>
              </a:rPr>
              <a:t>十六進制和十進制之間的轉換</a:t>
            </a:r>
            <a:endParaRPr lang="en-US" altLang="zh-TW" b="1" dirty="0">
              <a:solidFill>
                <a:srgbClr val="C6993D"/>
              </a:solidFill>
              <a:latin typeface="Noto Sans CJK TC Bold" panose="020B0800000000000000" pitchFamily="34" charset="-128"/>
              <a:ea typeface="Noto Sans CJK TC Bold" panose="020B0800000000000000" pitchFamily="34" charset="-128"/>
            </a:endParaRPr>
          </a:p>
          <a:p>
            <a:r>
              <a:rPr lang="zh-TW" altLang="en-US" dirty="0"/>
              <a:t>我們可以通過以下步驟將十六進制數字 </a:t>
            </a:r>
            <a:r>
              <a:rPr lang="en-US" dirty="0">
                <a:latin typeface="Courier New" panose="02070309020205020404" pitchFamily="49" charset="0"/>
                <a:cs typeface="Courier New" panose="02070309020205020404" pitchFamily="49" charset="0"/>
              </a:rPr>
              <a:t>B4AF</a:t>
            </a:r>
            <a:r>
              <a:rPr lang="en-US" baseline="-25000" dirty="0">
                <a:latin typeface="Courier New" panose="02070309020205020404" pitchFamily="49" charset="0"/>
                <a:cs typeface="Courier New" panose="02070309020205020404" pitchFamily="49" charset="0"/>
              </a:rPr>
              <a:t>16</a:t>
            </a:r>
            <a:r>
              <a:rPr lang="en-US" baseline="-25000" dirty="0"/>
              <a:t> </a:t>
            </a:r>
            <a:r>
              <a:rPr lang="zh-TW" altLang="en-US" dirty="0"/>
              <a:t>展開，並轉換為十進制數字。</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zh-TW" altLang="en-US" dirty="0"/>
              <a:t>因此，</a:t>
            </a:r>
            <a:r>
              <a:rPr lang="da-DK" dirty="0">
                <a:latin typeface="Courier New" panose="02070309020205020404" pitchFamily="49" charset="0"/>
                <a:cs typeface="Courier New" panose="02070309020205020404" pitchFamily="49" charset="0"/>
              </a:rPr>
              <a:t>B4AF</a:t>
            </a:r>
            <a:r>
              <a:rPr lang="da-DK" baseline="-25000" dirty="0">
                <a:latin typeface="Courier New" panose="02070309020205020404" pitchFamily="49" charset="0"/>
                <a:cs typeface="Courier New" panose="02070309020205020404" pitchFamily="49" charset="0"/>
              </a:rPr>
              <a:t>16 </a:t>
            </a:r>
            <a:r>
              <a:rPr lang="da-DK" dirty="0">
                <a:latin typeface="Courier New" panose="02070309020205020404" pitchFamily="49" charset="0"/>
                <a:cs typeface="Courier New" panose="02070309020205020404" pitchFamily="49" charset="0"/>
              </a:rPr>
              <a:t>= 45056 + 1024 + 160 + 15 = 46255</a:t>
            </a:r>
            <a:r>
              <a:rPr lang="da-DK" baseline="-25000" dirty="0">
                <a:latin typeface="Courier New" panose="02070309020205020404" pitchFamily="49" charset="0"/>
                <a:cs typeface="Courier New" panose="02070309020205020404" pitchFamily="49" charset="0"/>
              </a:rPr>
              <a:t>10</a:t>
            </a:r>
            <a:r>
              <a:rPr lang="da-DK" dirty="0">
                <a:latin typeface="Courier New" panose="02070309020205020404" pitchFamily="49" charset="0"/>
                <a:cs typeface="Courier New" panose="02070309020205020404" pitchFamily="49" charset="0"/>
              </a:rPr>
              <a:t> </a:t>
            </a:r>
            <a:r>
              <a:rPr lang="zh-TW" altLang="en-US" dirty="0"/>
              <a:t>。</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7" name="文字版面配置區 6"/>
          <p:cNvSpPr>
            <a:spLocks noGrp="1"/>
          </p:cNvSpPr>
          <p:nvPr>
            <p:ph type="body" sz="quarter" idx="13"/>
          </p:nvPr>
        </p:nvSpPr>
        <p:spPr/>
        <p:txBody>
          <a:bodyPr/>
          <a:lstStyle/>
          <a:p>
            <a:r>
              <a:rPr lang="en-US" dirty="0"/>
              <a:t>3.2</a:t>
            </a:r>
            <a:endParaRPr lang="en-GB" dirty="0"/>
          </a:p>
        </p:txBody>
      </p:sp>
      <p:graphicFrame>
        <p:nvGraphicFramePr>
          <p:cNvPr id="8" name="Table 4"/>
          <p:cNvGraphicFramePr>
            <a:graphicFrameLocks noGrp="1"/>
          </p:cNvGraphicFramePr>
          <p:nvPr>
            <p:extLst>
              <p:ext uri="{D42A27DB-BD31-4B8C-83A1-F6EECF244321}">
                <p14:modId xmlns:p14="http://schemas.microsoft.com/office/powerpoint/2010/main" val="3216669592"/>
              </p:ext>
            </p:extLst>
          </p:nvPr>
        </p:nvGraphicFramePr>
        <p:xfrm>
          <a:off x="676274" y="2629157"/>
          <a:ext cx="10677526" cy="1981199"/>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gridCol w="2362201">
                  <a:extLst>
                    <a:ext uri="{9D8B030D-6E8A-4147-A177-3AD203B41FA5}">
                      <a16:colId xmlns:a16="http://schemas.microsoft.com/office/drawing/2014/main" val="20004"/>
                    </a:ext>
                  </a:extLst>
                </a:gridCol>
              </a:tblGrid>
              <a:tr h="486127">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B (11)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4</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A (10)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F (15)</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7475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4096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256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0</a:t>
                      </a:r>
                      <a:r>
                        <a:rPr lang="en-HK" baseline="0"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7475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4096 × 11</a:t>
                      </a:r>
                      <a:r>
                        <a:rPr lang="en-HK" baseline="0" dirty="0">
                          <a:latin typeface="Courier New" panose="02070309020205020404" pitchFamily="49" charset="0"/>
                          <a:cs typeface="Courier New" panose="02070309020205020404" pitchFamily="49" charset="0"/>
                        </a:rPr>
                        <a:t> = 45056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256 × 4 = 1024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 × 10 = 160 </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 × 15 = 15</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1503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AutoNum type="arabicPeriod"/>
            </a:pPr>
            <a:r>
              <a:rPr lang="zh-TW" altLang="en-US" dirty="0">
                <a:latin typeface="+mn-lt"/>
              </a:rPr>
              <a:t>試將</a:t>
            </a:r>
            <a:r>
              <a:rPr lang="en-US" dirty="0">
                <a:latin typeface="+mn-lt"/>
              </a:rPr>
              <a:t> </a:t>
            </a:r>
            <a:r>
              <a:rPr lang="en-US" dirty="0">
                <a:latin typeface="Courier New" panose="02070309020205020404" pitchFamily="49" charset="0"/>
                <a:cs typeface="Courier New" panose="02070309020205020404" pitchFamily="49" charset="0"/>
              </a:rPr>
              <a:t>9C7E</a:t>
            </a:r>
            <a:r>
              <a:rPr lang="en-US" baseline="-25000" dirty="0">
                <a:latin typeface="Courier New" panose="02070309020205020404" pitchFamily="49" charset="0"/>
                <a:cs typeface="Courier New" panose="02070309020205020404" pitchFamily="49" charset="0"/>
              </a:rPr>
              <a:t>16</a:t>
            </a:r>
            <a:r>
              <a:rPr lang="en-US" baseline="-25000" dirty="0">
                <a:latin typeface="+mn-lt"/>
              </a:rPr>
              <a:t> </a:t>
            </a:r>
            <a:r>
              <a:rPr lang="zh-TW" altLang="en-US" dirty="0"/>
              <a:t>轉換為十進制數字。</a:t>
            </a:r>
            <a:endParaRPr lang="en-US" altLang="zh-TW" dirty="0"/>
          </a:p>
          <a:p>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r>
              <a:rPr lang="en-HK" dirty="0">
                <a:latin typeface="+mn-lt"/>
              </a:rPr>
              <a:t/>
            </a:r>
            <a:br>
              <a:rPr lang="en-HK" dirty="0">
                <a:latin typeface="+mn-lt"/>
              </a:rPr>
            </a:br>
            <a:endParaRPr lang="en-HK" dirty="0">
              <a:latin typeface="+mn-lt"/>
            </a:endParaRPr>
          </a:p>
          <a:p>
            <a:r>
              <a:rPr lang="zh-TW" altLang="en-US" dirty="0">
                <a:latin typeface="+mn-lt"/>
              </a:rPr>
              <a:t>因此，</a:t>
            </a:r>
            <a:r>
              <a:rPr lang="en-HK" dirty="0">
                <a:latin typeface="Courier New" panose="02070309020205020404" pitchFamily="49" charset="0"/>
                <a:cs typeface="Courier New" panose="02070309020205020404" pitchFamily="49" charset="0"/>
              </a:rPr>
              <a:t>9C7E</a:t>
            </a:r>
            <a:r>
              <a:rPr lang="en-HK" baseline="-25000" dirty="0">
                <a:latin typeface="Courier New" panose="02070309020205020404" pitchFamily="49" charset="0"/>
                <a:cs typeface="Courier New" panose="02070309020205020404" pitchFamily="49" charset="0"/>
              </a:rPr>
              <a:t>16</a:t>
            </a:r>
            <a:r>
              <a:rPr lang="en-HK" dirty="0">
                <a:latin typeface="+mn-lt"/>
              </a:rPr>
              <a:t> = </a:t>
            </a:r>
            <a:r>
              <a:rPr lang="en-US" dirty="0">
                <a:solidFill>
                  <a:srgbClr val="FF0000"/>
                </a:solidFill>
                <a:latin typeface="Courier New" panose="02070309020205020404" pitchFamily="49" charset="0"/>
                <a:cs typeface="Courier New" panose="02070309020205020404" pitchFamily="49" charset="0"/>
              </a:rPr>
              <a:t>36864 + 3072 + 112 + 14 = </a:t>
            </a:r>
            <a:r>
              <a:rPr lang="en-US" dirty="0" smtClean="0">
                <a:solidFill>
                  <a:srgbClr val="FF0000"/>
                </a:solidFill>
                <a:latin typeface="Courier New" panose="02070309020205020404" pitchFamily="49" charset="0"/>
                <a:cs typeface="Courier New" panose="02070309020205020404" pitchFamily="49" charset="0"/>
              </a:rPr>
              <a:t>40062</a:t>
            </a:r>
            <a:r>
              <a:rPr lang="en-US" baseline="-25000" dirty="0" smtClean="0">
                <a:solidFill>
                  <a:srgbClr val="FF0000"/>
                </a:solidFill>
                <a:latin typeface="Courier New" panose="02070309020205020404" pitchFamily="49" charset="0"/>
                <a:cs typeface="Courier New" panose="02070309020205020404" pitchFamily="49" charset="0"/>
              </a:rPr>
              <a:t>10</a:t>
            </a:r>
            <a:r>
              <a:rPr lang="zh-TW" altLang="en-US" baseline="-25000" dirty="0">
                <a:solidFill>
                  <a:srgbClr val="FF0000"/>
                </a:solidFill>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22</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617410179"/>
              </p:ext>
            </p:extLst>
          </p:nvPr>
        </p:nvGraphicFramePr>
        <p:xfrm>
          <a:off x="828675" y="2190751"/>
          <a:ext cx="10677526" cy="1752600"/>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gridCol w="2362201">
                  <a:extLst>
                    <a:ext uri="{9D8B030D-6E8A-4147-A177-3AD203B41FA5}">
                      <a16:colId xmlns:a16="http://schemas.microsoft.com/office/drawing/2014/main" val="20004"/>
                    </a:ext>
                  </a:extLst>
                </a:gridCol>
              </a:tblGrid>
              <a:tr h="4300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9</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C (12)</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7</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E (14)</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661282">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4096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256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0</a:t>
                      </a:r>
                      <a:r>
                        <a:rPr lang="en-HK" baseline="0"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661282">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4096 × 9 = 36864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256 × 12 = 3072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 × 7 = 112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 × 14 = 14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2785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latin typeface="+mn-lt"/>
              </a:rPr>
              <a:t>若要轉換 </a:t>
            </a:r>
            <a:r>
              <a:rPr lang="en-US" dirty="0">
                <a:latin typeface="Courier New" panose="02070309020205020404" pitchFamily="49" charset="0"/>
                <a:cs typeface="Courier New" panose="02070309020205020404" pitchFamily="49" charset="0"/>
              </a:rPr>
              <a:t>54625</a:t>
            </a:r>
            <a:r>
              <a:rPr lang="en-US" baseline="-25000" dirty="0">
                <a:latin typeface="Courier New" panose="02070309020205020404" pitchFamily="49" charset="0"/>
                <a:cs typeface="Courier New" panose="02070309020205020404" pitchFamily="49" charset="0"/>
              </a:rPr>
              <a:t>10</a:t>
            </a:r>
            <a:r>
              <a:rPr lang="en-US" altLang="zh-TW" dirty="0">
                <a:latin typeface="+mn-lt"/>
              </a:rPr>
              <a:t> </a:t>
            </a:r>
            <a:r>
              <a:rPr lang="zh-TW" altLang="en-US" dirty="0">
                <a:latin typeface="+mn-lt"/>
              </a:rPr>
              <a:t>這個十進制數字為十六進制數字，我們可以將其重複除以 </a:t>
            </a:r>
            <a:r>
              <a:rPr lang="en-US" altLang="zh-TW" dirty="0">
                <a:latin typeface="+mn-lt"/>
              </a:rPr>
              <a:t>16 </a:t>
            </a:r>
            <a:r>
              <a:rPr lang="zh-TW" altLang="en-US" dirty="0">
                <a:latin typeface="+mn-lt"/>
              </a:rPr>
              <a:t>直至其商數小於 </a:t>
            </a:r>
            <a:r>
              <a:rPr lang="en-US" altLang="zh-TW" dirty="0">
                <a:latin typeface="+mn-lt"/>
              </a:rPr>
              <a:t>16</a:t>
            </a:r>
            <a:r>
              <a:rPr lang="zh-TW" altLang="en-US" dirty="0">
                <a:latin typeface="+mn-lt"/>
              </a:rPr>
              <a:t>，然後將商數及所有餘數從最後一位排列到第一位。</a:t>
            </a:r>
            <a:endParaRPr lang="en-US" altLang="zh-TW"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r>
              <a:rPr lang="zh-TW" altLang="en-US" dirty="0">
                <a:latin typeface="+mn-lt"/>
              </a:rPr>
              <a:t>因此，</a:t>
            </a:r>
            <a:r>
              <a:rPr lang="en-US" dirty="0">
                <a:latin typeface="Courier New" panose="02070309020205020404" pitchFamily="49" charset="0"/>
                <a:cs typeface="Courier New" panose="02070309020205020404" pitchFamily="49" charset="0"/>
              </a:rPr>
              <a:t>54625</a:t>
            </a:r>
            <a:r>
              <a:rPr lang="en-US" baseline="-25000" dirty="0">
                <a:latin typeface="Courier New" panose="02070309020205020404" pitchFamily="49" charset="0"/>
                <a:cs typeface="Courier New" panose="02070309020205020404" pitchFamily="49" charset="0"/>
              </a:rPr>
              <a:t>10</a:t>
            </a:r>
            <a:r>
              <a:rPr lang="en-US" dirty="0">
                <a:latin typeface="+mn-lt"/>
              </a:rPr>
              <a:t> = </a:t>
            </a:r>
            <a:r>
              <a:rPr lang="en-US" dirty="0">
                <a:latin typeface="Courier New" panose="02070309020205020404" pitchFamily="49" charset="0"/>
                <a:cs typeface="Courier New" panose="02070309020205020404" pitchFamily="49" charset="0"/>
              </a:rPr>
              <a:t>D561</a:t>
            </a:r>
            <a:r>
              <a:rPr lang="en-US" baseline="-25000" dirty="0">
                <a:latin typeface="Courier New" panose="02070309020205020404" pitchFamily="49" charset="0"/>
                <a:cs typeface="Courier New" panose="02070309020205020404" pitchFamily="49" charset="0"/>
              </a:rPr>
              <a:t>16</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23</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pic>
        <p:nvPicPr>
          <p:cNvPr id="5" name="Picture 4"/>
          <p:cNvPicPr>
            <a:picLocks noChangeAspect="1"/>
          </p:cNvPicPr>
          <p:nvPr/>
        </p:nvPicPr>
        <p:blipFill>
          <a:blip r:embed="rId2"/>
          <a:stretch>
            <a:fillRect/>
          </a:stretch>
        </p:blipFill>
        <p:spPr>
          <a:xfrm>
            <a:off x="4529183" y="2525812"/>
            <a:ext cx="3322604" cy="2695575"/>
          </a:xfrm>
          <a:prstGeom prst="rect">
            <a:avLst/>
          </a:prstGeom>
        </p:spPr>
      </p:pic>
    </p:spTree>
    <p:extLst>
      <p:ext uri="{BB962C8B-B14F-4D97-AF65-F5344CB8AC3E}">
        <p14:creationId xmlns:p14="http://schemas.microsoft.com/office/powerpoint/2010/main" val="769978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試將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altLang="zh-TW" dirty="0">
                <a:latin typeface="+mn-lt"/>
              </a:rPr>
              <a:t> </a:t>
            </a:r>
            <a:r>
              <a:rPr lang="zh-TW" altLang="en-US" dirty="0">
                <a:latin typeface="+mn-lt"/>
              </a:rPr>
              <a:t>轉換為十六進制數字。</a:t>
            </a:r>
            <a:endParaRPr lang="en-US" altLang="zh-TW"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endParaRPr lang="en-US" dirty="0">
              <a:latin typeface="+mn-lt"/>
            </a:endParaRPr>
          </a:p>
          <a:p>
            <a:r>
              <a:rPr lang="zh-TW" altLang="en-US" dirty="0">
                <a:latin typeface="+mn-lt"/>
              </a:rPr>
              <a:t>因此，</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dirty="0">
                <a:latin typeface="+mn-lt"/>
              </a:rPr>
              <a:t> = </a:t>
            </a:r>
          </a:p>
          <a:p>
            <a:pPr marL="457200" indent="-457200">
              <a:buFont typeface="+mj-lt"/>
              <a:buAutoNum type="arabicPeriod" startAt="2"/>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24</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105768992"/>
              </p:ext>
            </p:extLst>
          </p:nvPr>
        </p:nvGraphicFramePr>
        <p:xfrm>
          <a:off x="904875" y="1986490"/>
          <a:ext cx="10382250" cy="2490259"/>
        </p:xfrm>
        <a:graphic>
          <a:graphicData uri="http://schemas.openxmlformats.org/drawingml/2006/table">
            <a:tbl>
              <a:tblPr firstRow="1" bandRow="1">
                <a:tableStyleId>{5C22544A-7EE6-4342-B048-85BDC9FD1C3A}</a:tableStyleId>
              </a:tblPr>
              <a:tblGrid>
                <a:gridCol w="10382250">
                  <a:extLst>
                    <a:ext uri="{9D8B030D-6E8A-4147-A177-3AD203B41FA5}">
                      <a16:colId xmlns:a16="http://schemas.microsoft.com/office/drawing/2014/main" val="20000"/>
                    </a:ext>
                  </a:extLst>
                </a:gridCol>
              </a:tblGrid>
              <a:tr h="2490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26159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試將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altLang="zh-TW" dirty="0">
                <a:latin typeface="+mn-lt"/>
              </a:rPr>
              <a:t> </a:t>
            </a:r>
            <a:r>
              <a:rPr lang="zh-TW" altLang="en-US" dirty="0">
                <a:latin typeface="+mn-lt"/>
              </a:rPr>
              <a:t>轉換為十六進制數字。</a:t>
            </a:r>
            <a:endParaRPr lang="en-US" altLang="zh-TW"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pPr marL="457200" indent="-457200">
              <a:buFont typeface="+mj-lt"/>
              <a:buAutoNum type="arabicPeriod" startAt="2"/>
            </a:pPr>
            <a:endParaRPr lang="en-US" dirty="0">
              <a:latin typeface="+mn-lt"/>
            </a:endParaRPr>
          </a:p>
          <a:p>
            <a:endParaRPr lang="en-US" dirty="0">
              <a:latin typeface="+mn-lt"/>
            </a:endParaRPr>
          </a:p>
          <a:p>
            <a:r>
              <a:rPr lang="zh-TW" altLang="en-US" dirty="0">
                <a:latin typeface="+mn-lt"/>
              </a:rPr>
              <a:t>因此，</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dirty="0">
                <a:latin typeface="+mn-lt"/>
              </a:rPr>
              <a:t> = </a:t>
            </a:r>
            <a:r>
              <a:rPr lang="en-US" dirty="0">
                <a:solidFill>
                  <a:srgbClr val="FF0000"/>
                </a:solidFill>
                <a:latin typeface="Courier New" panose="02070309020205020404" pitchFamily="49" charset="0"/>
                <a:cs typeface="Courier New" panose="02070309020205020404" pitchFamily="49" charset="0"/>
              </a:rPr>
              <a:t>872C</a:t>
            </a:r>
            <a:r>
              <a:rPr lang="en-US" baseline="-25000" dirty="0">
                <a:solidFill>
                  <a:srgbClr val="FF0000"/>
                </a:solidFill>
                <a:latin typeface="Courier New" panose="02070309020205020404" pitchFamily="49" charset="0"/>
                <a:cs typeface="Courier New" panose="02070309020205020404" pitchFamily="49" charset="0"/>
              </a:rPr>
              <a:t>16</a:t>
            </a:r>
            <a:r>
              <a:rPr lang="zh-TW" altLang="en-US" baseline="-25000" dirty="0">
                <a:solidFill>
                  <a:srgbClr val="FF0000"/>
                </a:solidFill>
                <a:latin typeface="Courier New" panose="02070309020205020404" pitchFamily="49" charset="0"/>
                <a:cs typeface="Courier New" panose="02070309020205020404" pitchFamily="49" charset="0"/>
              </a:rPr>
              <a:t>。</a:t>
            </a:r>
            <a:endParaRPr lang="en-US" baseline="-25000" dirty="0">
              <a:solidFill>
                <a:srgbClr val="FF0000"/>
              </a:solidFill>
              <a:latin typeface="Courier New" panose="02070309020205020404" pitchFamily="49" charset="0"/>
              <a:cs typeface="Courier New" panose="02070309020205020404" pitchFamily="49" charset="0"/>
            </a:endParaRPr>
          </a:p>
          <a:p>
            <a:endParaRPr lang="en-US" dirty="0">
              <a:latin typeface="+mn-lt"/>
            </a:endParaRPr>
          </a:p>
          <a:p>
            <a:pPr marL="457200" indent="-457200">
              <a:buFont typeface="+mj-lt"/>
              <a:buAutoNum type="arabicPeriod" startAt="2"/>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25</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nvGraphicFramePr>
        <p:xfrm>
          <a:off x="904875" y="1986490"/>
          <a:ext cx="10382250" cy="2490259"/>
        </p:xfrm>
        <a:graphic>
          <a:graphicData uri="http://schemas.openxmlformats.org/drawingml/2006/table">
            <a:tbl>
              <a:tblPr firstRow="1" bandRow="1">
                <a:tableStyleId>{5C22544A-7EE6-4342-B048-85BDC9FD1C3A}</a:tableStyleId>
              </a:tblPr>
              <a:tblGrid>
                <a:gridCol w="10382250">
                  <a:extLst>
                    <a:ext uri="{9D8B030D-6E8A-4147-A177-3AD203B41FA5}">
                      <a16:colId xmlns:a16="http://schemas.microsoft.com/office/drawing/2014/main" val="20000"/>
                    </a:ext>
                  </a:extLst>
                </a:gridCol>
              </a:tblGrid>
              <a:tr h="2490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4423944" y="2027644"/>
            <a:ext cx="3337346" cy="2430055"/>
          </a:xfrm>
          <a:prstGeom prst="rect">
            <a:avLst/>
          </a:prstGeom>
        </p:spPr>
      </p:pic>
    </p:spTree>
    <p:extLst>
      <p:ext uri="{BB962C8B-B14F-4D97-AF65-F5344CB8AC3E}">
        <p14:creationId xmlns:p14="http://schemas.microsoft.com/office/powerpoint/2010/main" val="3543873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solidFill>
                  <a:srgbClr val="C6993D"/>
                </a:solidFill>
                <a:latin typeface="Noto Sans CJK TC Bold" panose="020B0800000000000000" pitchFamily="34" charset="-128"/>
                <a:ea typeface="Noto Sans CJK TC Bold" panose="020B0800000000000000" pitchFamily="34" charset="-128"/>
              </a:rPr>
              <a:t>十六進制數字的計算</a:t>
            </a:r>
            <a:endParaRPr lang="en-US" altLang="zh-TW" b="1" dirty="0">
              <a:solidFill>
                <a:srgbClr val="C6993D"/>
              </a:solidFill>
              <a:latin typeface="Noto Sans CJK TC Bold" panose="020B0800000000000000" pitchFamily="34" charset="-128"/>
              <a:ea typeface="Noto Sans CJK TC Bold" panose="020B0800000000000000" pitchFamily="34" charset="-128"/>
            </a:endParaRPr>
          </a:p>
          <a:p>
            <a:r>
              <a:rPr lang="zh-TW" altLang="en-US" dirty="0"/>
              <a:t>同樣地，部分計算機也可以計算十六進制數字，但手動計算十六進制數字也並不困難。</a:t>
            </a:r>
            <a:endParaRPr lang="en-US" altLang="zh-TW" dirty="0"/>
          </a:p>
          <a:p>
            <a:r>
              <a:rPr lang="zh-TW" altLang="en-US" dirty="0" smtClean="0"/>
              <a:t>下面是計算 </a:t>
            </a:r>
            <a:r>
              <a:rPr lang="en-US" dirty="0" smtClean="0">
                <a:latin typeface="Courier New" panose="02070309020205020404" pitchFamily="49" charset="0"/>
                <a:cs typeface="Courier New" panose="02070309020205020404" pitchFamily="49" charset="0"/>
              </a:rPr>
              <a:t>B4AF</a:t>
            </a:r>
            <a:r>
              <a:rPr lang="en-HK" baseline="-25000" dirty="0" smtClean="0">
                <a:latin typeface="Courier New" panose="02070309020205020404" pitchFamily="49" charset="0"/>
                <a:cs typeface="Courier New" panose="02070309020205020404" pitchFamily="49" charset="0"/>
              </a:rPr>
              <a:t>16</a:t>
            </a:r>
            <a:r>
              <a:rPr lang="en-US" dirty="0" smtClean="0">
                <a:latin typeface="Courier New" panose="02070309020205020404" pitchFamily="49" charset="0"/>
                <a:cs typeface="Courier New" panose="02070309020205020404" pitchFamily="49" charset="0"/>
              </a:rPr>
              <a:t> + 9C7E</a:t>
            </a:r>
            <a:r>
              <a:rPr lang="en-HK" baseline="-25000" dirty="0" smtClean="0">
                <a:latin typeface="Courier New" panose="02070309020205020404" pitchFamily="49" charset="0"/>
                <a:cs typeface="Courier New" panose="02070309020205020404" pitchFamily="49" charset="0"/>
              </a:rPr>
              <a:t>16</a:t>
            </a:r>
            <a:r>
              <a:rPr lang="en-US" dirty="0" smtClean="0"/>
              <a:t> </a:t>
            </a:r>
            <a:r>
              <a:rPr lang="zh-TW" altLang="en-US" dirty="0" smtClean="0"/>
              <a:t>的例子。</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26</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pic>
        <p:nvPicPr>
          <p:cNvPr id="5" name="Picture 4"/>
          <p:cNvPicPr>
            <a:picLocks noChangeAspect="1"/>
          </p:cNvPicPr>
          <p:nvPr/>
        </p:nvPicPr>
        <p:blipFill>
          <a:blip r:embed="rId2"/>
          <a:stretch>
            <a:fillRect/>
          </a:stretch>
        </p:blipFill>
        <p:spPr>
          <a:xfrm>
            <a:off x="3204907" y="3662322"/>
            <a:ext cx="5510468" cy="2288853"/>
          </a:xfrm>
          <a:prstGeom prst="rect">
            <a:avLst/>
          </a:prstGeom>
        </p:spPr>
      </p:pic>
    </p:spTree>
    <p:extLst>
      <p:ext uri="{BB962C8B-B14F-4D97-AF65-F5344CB8AC3E}">
        <p14:creationId xmlns:p14="http://schemas.microsoft.com/office/powerpoint/2010/main" val="1445260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試計算</a:t>
            </a:r>
            <a:r>
              <a:rPr lang="en-HK" dirty="0">
                <a:latin typeface="+mn-lt"/>
              </a:rPr>
              <a:t> </a:t>
            </a:r>
            <a:r>
              <a:rPr lang="en-HK" dirty="0">
                <a:latin typeface="Courier New" panose="02070309020205020404" pitchFamily="49" charset="0"/>
                <a:cs typeface="Courier New" panose="02070309020205020404" pitchFamily="49" charset="0"/>
              </a:rPr>
              <a:t>6D61</a:t>
            </a:r>
            <a:r>
              <a:rPr lang="en-HK" baseline="-25000" dirty="0">
                <a:latin typeface="Courier New" panose="02070309020205020404" pitchFamily="49" charset="0"/>
                <a:cs typeface="Courier New" panose="02070309020205020404" pitchFamily="49" charset="0"/>
              </a:rPr>
              <a:t>16</a:t>
            </a:r>
            <a:r>
              <a:rPr lang="en-HK" dirty="0">
                <a:latin typeface="Courier New" panose="02070309020205020404" pitchFamily="49" charset="0"/>
                <a:cs typeface="Courier New" panose="02070309020205020404" pitchFamily="49" charset="0"/>
              </a:rPr>
              <a:t> + 972C</a:t>
            </a:r>
            <a:r>
              <a:rPr lang="en-HK" baseline="-25000" dirty="0">
                <a:latin typeface="Courier New" panose="02070309020205020404" pitchFamily="49" charset="0"/>
                <a:cs typeface="Courier New" panose="02070309020205020404" pitchFamily="49" charset="0"/>
              </a:rPr>
              <a:t>16</a:t>
            </a:r>
            <a:r>
              <a:rPr lang="zh-TW" altLang="en-US" dirty="0"/>
              <a:t>。</a:t>
            </a:r>
            <a:endParaRPr lang="en-HK"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27</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549536537"/>
              </p:ext>
            </p:extLst>
          </p:nvPr>
        </p:nvGraphicFramePr>
        <p:xfrm>
          <a:off x="838200" y="2110316"/>
          <a:ext cx="10515600" cy="2137834"/>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37834">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34764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試計算</a:t>
            </a:r>
            <a:r>
              <a:rPr lang="en-HK" dirty="0">
                <a:latin typeface="+mn-lt"/>
              </a:rPr>
              <a:t> </a:t>
            </a:r>
            <a:r>
              <a:rPr lang="en-HK" dirty="0">
                <a:latin typeface="Courier New" panose="02070309020205020404" pitchFamily="49" charset="0"/>
                <a:cs typeface="Courier New" panose="02070309020205020404" pitchFamily="49" charset="0"/>
              </a:rPr>
              <a:t>6D61</a:t>
            </a:r>
            <a:r>
              <a:rPr lang="en-HK" baseline="-25000" dirty="0">
                <a:latin typeface="Courier New" panose="02070309020205020404" pitchFamily="49" charset="0"/>
                <a:cs typeface="Courier New" panose="02070309020205020404" pitchFamily="49" charset="0"/>
              </a:rPr>
              <a:t>16</a:t>
            </a:r>
            <a:r>
              <a:rPr lang="en-HK" dirty="0">
                <a:latin typeface="Courier New" panose="02070309020205020404" pitchFamily="49" charset="0"/>
                <a:cs typeface="Courier New" panose="02070309020205020404" pitchFamily="49" charset="0"/>
              </a:rPr>
              <a:t> + 972C</a:t>
            </a:r>
            <a:r>
              <a:rPr lang="en-HK" baseline="-25000" dirty="0">
                <a:latin typeface="Courier New" panose="02070309020205020404" pitchFamily="49" charset="0"/>
                <a:cs typeface="Courier New" panose="02070309020205020404" pitchFamily="49" charset="0"/>
              </a:rPr>
              <a:t>16</a:t>
            </a:r>
            <a:r>
              <a:rPr lang="zh-TW" altLang="en-US" dirty="0"/>
              <a:t>。</a:t>
            </a:r>
            <a:endParaRPr lang="en-HK"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28</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nvGraphicFramePr>
        <p:xfrm>
          <a:off x="838200" y="2110316"/>
          <a:ext cx="10515600" cy="2137834"/>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37834">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3874011" y="2243244"/>
            <a:ext cx="4443978" cy="1895610"/>
          </a:xfrm>
          <a:prstGeom prst="rect">
            <a:avLst/>
          </a:prstGeom>
        </p:spPr>
      </p:pic>
    </p:spTree>
    <p:extLst>
      <p:ext uri="{BB962C8B-B14F-4D97-AF65-F5344CB8AC3E}">
        <p14:creationId xmlns:p14="http://schemas.microsoft.com/office/powerpoint/2010/main" val="322015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4"/>
            </a:pPr>
            <a:r>
              <a:rPr lang="zh-TW" altLang="en-US" dirty="0">
                <a:latin typeface="+mn-lt"/>
              </a:rPr>
              <a:t>試計算</a:t>
            </a:r>
            <a:r>
              <a:rPr lang="en-HK" dirty="0">
                <a:latin typeface="+mn-lt"/>
              </a:rPr>
              <a:t> </a:t>
            </a:r>
            <a:r>
              <a:rPr lang="en-US" dirty="0">
                <a:latin typeface="Courier New" panose="02070309020205020404" pitchFamily="49" charset="0"/>
                <a:cs typeface="Courier New" panose="02070309020205020404" pitchFamily="49" charset="0"/>
              </a:rPr>
              <a:t>972C</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− 6D61</a:t>
            </a:r>
            <a:r>
              <a:rPr lang="en-US" baseline="-25000" dirty="0">
                <a:latin typeface="Courier New" panose="02070309020205020404" pitchFamily="49" charset="0"/>
                <a:cs typeface="Courier New" panose="02070309020205020404" pitchFamily="49" charset="0"/>
              </a:rPr>
              <a:t>16</a:t>
            </a:r>
            <a:r>
              <a:rPr lang="en-US" dirty="0">
                <a:latin typeface="+mn-lt"/>
                <a:cs typeface="Courier New" panose="02070309020205020404" pitchFamily="49" charset="0"/>
              </a:rPr>
              <a:t> </a:t>
            </a:r>
            <a:r>
              <a:rPr lang="zh-TW" altLang="en-US" dirty="0"/>
              <a:t>。</a:t>
            </a:r>
            <a:endParaRPr lang="en-HK"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29</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818312483"/>
              </p:ext>
            </p:extLst>
          </p:nvPr>
        </p:nvGraphicFramePr>
        <p:xfrm>
          <a:off x="838200" y="2110315"/>
          <a:ext cx="10515600" cy="2684107"/>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684107">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07207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4"/>
            </a:pPr>
            <a:r>
              <a:rPr lang="zh-TW" altLang="en-US" dirty="0">
                <a:latin typeface="+mn-lt"/>
              </a:rPr>
              <a:t>試計算</a:t>
            </a:r>
            <a:r>
              <a:rPr lang="en-HK" dirty="0">
                <a:latin typeface="+mn-lt"/>
              </a:rPr>
              <a:t> </a:t>
            </a:r>
            <a:r>
              <a:rPr lang="en-US" dirty="0">
                <a:latin typeface="Courier New" panose="02070309020205020404" pitchFamily="49" charset="0"/>
                <a:cs typeface="Courier New" panose="02070309020205020404" pitchFamily="49" charset="0"/>
              </a:rPr>
              <a:t>972C</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− 6D61</a:t>
            </a:r>
            <a:r>
              <a:rPr lang="en-US" baseline="-25000" dirty="0">
                <a:latin typeface="Courier New" panose="02070309020205020404" pitchFamily="49" charset="0"/>
                <a:cs typeface="Courier New" panose="02070309020205020404" pitchFamily="49" charset="0"/>
              </a:rPr>
              <a:t>16</a:t>
            </a:r>
            <a:r>
              <a:rPr lang="en-US" dirty="0">
                <a:latin typeface="+mn-lt"/>
                <a:cs typeface="Courier New" panose="02070309020205020404" pitchFamily="49" charset="0"/>
              </a:rPr>
              <a:t> </a:t>
            </a:r>
            <a:r>
              <a:rPr lang="zh-TW" altLang="en-US" dirty="0"/>
              <a:t>。</a:t>
            </a:r>
            <a:endParaRPr lang="en-HK"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30</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4"/>
          <p:cNvGraphicFramePr>
            <a:graphicFrameLocks noGrp="1"/>
          </p:cNvGraphicFramePr>
          <p:nvPr/>
        </p:nvGraphicFramePr>
        <p:xfrm>
          <a:off x="838200" y="2110315"/>
          <a:ext cx="10515600" cy="2684107"/>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684107">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3909639" y="2232452"/>
            <a:ext cx="4167562" cy="2309555"/>
          </a:xfrm>
          <a:prstGeom prst="rect">
            <a:avLst/>
          </a:prstGeom>
        </p:spPr>
      </p:pic>
    </p:spTree>
    <p:extLst>
      <p:ext uri="{BB962C8B-B14F-4D97-AF65-F5344CB8AC3E}">
        <p14:creationId xmlns:p14="http://schemas.microsoft.com/office/powerpoint/2010/main" val="1586763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normAutofit/>
          </a:bodyPr>
          <a:lstStyle/>
          <a:p>
            <a:pPr marL="457200" indent="-457200">
              <a:buFont typeface="+mj-lt"/>
              <a:buAutoNum type="arabicPeriod"/>
            </a:pPr>
            <a:r>
              <a:rPr lang="zh-TW" altLang="en-US" dirty="0"/>
              <a:t>這是一個三位數的密碼鎖。</a:t>
            </a:r>
            <a:r>
              <a:rPr lang="zh-TW" altLang="en-US" dirty="0">
                <a:latin typeface="+mn-lt"/>
              </a:rPr>
              <a:t>每個數位可以是 </a:t>
            </a:r>
            <a:r>
              <a:rPr lang="en-US" altLang="zh-TW" dirty="0">
                <a:latin typeface="+mn-lt"/>
              </a:rPr>
              <a:t>1 </a:t>
            </a:r>
            <a:r>
              <a:rPr lang="zh-TW" altLang="en-US" dirty="0">
                <a:latin typeface="+mn-lt"/>
              </a:rPr>
              <a:t>到 </a:t>
            </a:r>
            <a:r>
              <a:rPr lang="en-US" altLang="zh-TW" dirty="0">
                <a:latin typeface="+mn-lt"/>
              </a:rPr>
              <a:t>9 </a:t>
            </a:r>
            <a:r>
              <a:rPr lang="zh-TW" altLang="en-US" dirty="0">
                <a:latin typeface="+mn-lt"/>
              </a:rPr>
              <a:t>或 </a:t>
            </a:r>
            <a:r>
              <a:rPr lang="en-US" altLang="zh-TW" dirty="0">
                <a:latin typeface="+mn-lt"/>
              </a:rPr>
              <a:t>A </a:t>
            </a:r>
            <a:r>
              <a:rPr lang="zh-TW" altLang="en-US" dirty="0">
                <a:latin typeface="+mn-lt"/>
              </a:rPr>
              <a:t>到 </a:t>
            </a:r>
            <a:r>
              <a:rPr lang="en-US" altLang="zh-TW" dirty="0">
                <a:latin typeface="+mn-lt"/>
              </a:rPr>
              <a:t>F</a:t>
            </a:r>
            <a:r>
              <a:rPr lang="zh-TW" altLang="en-US" dirty="0">
                <a:latin typeface="+mn-lt"/>
              </a:rPr>
              <a:t>。</a:t>
            </a:r>
            <a:r>
              <a:rPr lang="zh-TW" altLang="en-US" dirty="0"/>
              <a:t>下圖顯示此鎖的密碼組合設為「</a:t>
            </a:r>
            <a:r>
              <a:rPr lang="en-US" altLang="zh-TW" dirty="0">
                <a:latin typeface="Courier New" panose="02070309020205020404" pitchFamily="49" charset="0"/>
                <a:cs typeface="Courier New" panose="02070309020205020404" pitchFamily="49" charset="0"/>
              </a:rPr>
              <a:t>15A</a:t>
            </a:r>
            <a:r>
              <a:rPr lang="zh-TW" altLang="en-US" dirty="0"/>
              <a:t>」。</a:t>
            </a:r>
            <a:endParaRPr lang="en-US" altLang="zh-TW" dirty="0"/>
          </a:p>
          <a:p>
            <a:r>
              <a:rPr lang="en-US" dirty="0"/>
              <a:t/>
            </a:r>
            <a:br>
              <a:rPr lang="en-US" dirty="0"/>
            </a:br>
            <a:r>
              <a:rPr lang="en-US" dirty="0"/>
              <a:t/>
            </a:r>
            <a:br>
              <a:rPr lang="en-US" dirty="0"/>
            </a:br>
            <a:r>
              <a:rPr lang="en-US" dirty="0"/>
              <a:t/>
            </a:r>
            <a:br>
              <a:rPr lang="en-US" dirty="0"/>
            </a:br>
            <a:r>
              <a:rPr lang="en-US" dirty="0"/>
              <a:t/>
            </a:r>
            <a:br>
              <a:rPr lang="en-US" dirty="0"/>
            </a:br>
            <a:r>
              <a:rPr lang="en-US" dirty="0">
                <a:latin typeface="+mn-lt"/>
              </a:rPr>
              <a:t/>
            </a:r>
            <a:br>
              <a:rPr lang="en-US" dirty="0">
                <a:latin typeface="+mn-lt"/>
              </a:rPr>
            </a:br>
            <a:r>
              <a:rPr lang="zh-TW" altLang="en-US" dirty="0">
                <a:latin typeface="+mn-lt"/>
                <a:ea typeface="NotoSansCJKtc-Light" panose="020B0300000000000000" pitchFamily="34" charset="-128"/>
              </a:rPr>
              <a:t>這個鎖的密碼共有多少種不同的組合？</a:t>
            </a:r>
            <a:endParaRPr lang="en-US" dirty="0">
              <a:latin typeface="+mn-lt"/>
            </a:endParaRPr>
          </a:p>
          <a:p>
            <a:pPr marL="800100" lvl="1" indent="-342900">
              <a:buAutoNum type="alphaUcPeriod"/>
            </a:pPr>
            <a:r>
              <a:rPr lang="en-HK" dirty="0">
                <a:latin typeface="+mn-lt"/>
              </a:rPr>
              <a:t>3374</a:t>
            </a:r>
          </a:p>
          <a:p>
            <a:pPr marL="800100" lvl="1" indent="-342900">
              <a:buAutoNum type="alphaUcPeriod"/>
            </a:pPr>
            <a:r>
              <a:rPr lang="en-HK" dirty="0">
                <a:latin typeface="+mn-lt"/>
              </a:rPr>
              <a:t>3375</a:t>
            </a:r>
          </a:p>
          <a:p>
            <a:pPr marL="800100" lvl="1" indent="-342900">
              <a:buAutoNum type="alphaUcPeriod"/>
            </a:pPr>
            <a:r>
              <a:rPr lang="en-HK" dirty="0">
                <a:latin typeface="+mn-lt"/>
              </a:rPr>
              <a:t>4095</a:t>
            </a:r>
          </a:p>
          <a:p>
            <a:pPr marL="800100" lvl="1" indent="-342900">
              <a:buAutoNum type="alphaUcPeriod"/>
            </a:pPr>
            <a:r>
              <a:rPr lang="en-HK" dirty="0">
                <a:latin typeface="+mn-lt"/>
              </a:rPr>
              <a:t>4096</a:t>
            </a:r>
            <a:endParaRPr lang="en-US" dirty="0">
              <a:latin typeface="+mn-lt"/>
            </a:endParaRP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31</a:t>
            </a:fld>
            <a:endParaRPr lang="en-US" dirty="0"/>
          </a:p>
        </p:txBody>
      </p:sp>
      <p:sp>
        <p:nvSpPr>
          <p:cNvPr id="6" name="文字版面配置區 5"/>
          <p:cNvSpPr>
            <a:spLocks noGrp="1"/>
          </p:cNvSpPr>
          <p:nvPr>
            <p:ph type="body" sz="quarter" idx="13"/>
          </p:nvPr>
        </p:nvSpPr>
        <p:spPr/>
        <p:txBody>
          <a:bodyPr/>
          <a:lstStyle/>
          <a:p>
            <a:r>
              <a:rPr lang="en-US" dirty="0"/>
              <a:t>3.1</a:t>
            </a:r>
            <a:endParaRPr lang="en-GB" dirty="0"/>
          </a:p>
        </p:txBody>
      </p:sp>
      <p:pic>
        <p:nvPicPr>
          <p:cNvPr id="7" name="Picture 4"/>
          <p:cNvPicPr>
            <a:picLocks noChangeAspect="1"/>
          </p:cNvPicPr>
          <p:nvPr/>
        </p:nvPicPr>
        <p:blipFill>
          <a:blip r:embed="rId2"/>
          <a:stretch>
            <a:fillRect/>
          </a:stretch>
        </p:blipFill>
        <p:spPr>
          <a:xfrm>
            <a:off x="4392500" y="2280209"/>
            <a:ext cx="3407000" cy="1770779"/>
          </a:xfrm>
          <a:prstGeom prst="rect">
            <a:avLst/>
          </a:prstGeom>
        </p:spPr>
      </p:pic>
    </p:spTree>
    <p:extLst>
      <p:ext uri="{BB962C8B-B14F-4D97-AF65-F5344CB8AC3E}">
        <p14:creationId xmlns:p14="http://schemas.microsoft.com/office/powerpoint/2010/main" val="2649601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由於 </a:t>
            </a:r>
            <a:r>
              <a:rPr lang="en-US" altLang="zh-TW" dirty="0">
                <a:latin typeface="+mn-lt"/>
              </a:rPr>
              <a:t>0 </a:t>
            </a:r>
            <a:r>
              <a:rPr lang="zh-TW" altLang="en-US" dirty="0">
                <a:latin typeface="+mn-lt"/>
              </a:rPr>
              <a:t>被排除在外，每個數位均有 </a:t>
            </a:r>
            <a:r>
              <a:rPr lang="en-US" altLang="zh-TW" dirty="0">
                <a:latin typeface="+mn-lt"/>
              </a:rPr>
              <a:t>15 </a:t>
            </a:r>
            <a:r>
              <a:rPr lang="zh-TW" altLang="en-US" dirty="0">
                <a:latin typeface="+mn-lt"/>
              </a:rPr>
              <a:t>個可能的符號。組合數 </a:t>
            </a:r>
            <a:r>
              <a:rPr lang="en-US" altLang="zh-TW" dirty="0">
                <a:latin typeface="+mn-lt"/>
              </a:rPr>
              <a:t>= 15 × 15 × 15 = 3375</a:t>
            </a:r>
            <a:r>
              <a:rPr lang="zh-TW" altLang="en-US" dirty="0">
                <a:latin typeface="+mn-lt"/>
              </a:rPr>
              <a:t>。</a:t>
            </a:r>
            <a:endParaRPr lang="en-HK" dirty="0">
              <a:latin typeface="+mn-lt"/>
            </a:endParaRPr>
          </a:p>
          <a:p>
            <a:pPr>
              <a:buSzPct val="100000"/>
            </a:pPr>
            <a:endParaRPr lang="en-HK" b="1" dirty="0">
              <a:solidFill>
                <a:srgbClr val="37A3D4"/>
              </a:solidFill>
              <a:latin typeface="+mn-lt"/>
            </a:endParaRPr>
          </a:p>
          <a:p>
            <a:pPr>
              <a:buSzPct val="100000"/>
            </a:pPr>
            <a:endParaRPr lang="en-HK" b="1" dirty="0">
              <a:solidFill>
                <a:srgbClr val="37A3D4"/>
              </a:solidFill>
              <a:latin typeface="+mn-lt"/>
            </a:endParaRPr>
          </a:p>
          <a:p>
            <a:pPr>
              <a:buSzPct val="100000"/>
            </a:pPr>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B</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32</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2744556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湯先生是一家商店的老闆。他想分發 </a:t>
            </a:r>
            <a:r>
              <a:rPr lang="en-US" altLang="zh-TW" dirty="0">
                <a:latin typeface="+mn-lt"/>
              </a:rPr>
              <a:t>50,000 </a:t>
            </a:r>
            <a:r>
              <a:rPr lang="zh-TW" altLang="en-US" dirty="0">
                <a:latin typeface="+mn-lt"/>
              </a:rPr>
              <a:t>個兌換代碼作促銷之用，每個兌換碼分別佔用 </a:t>
            </a:r>
            <a:r>
              <a:rPr lang="en-US" altLang="zh-TW" dirty="0">
                <a:latin typeface="+mn-lt"/>
              </a:rPr>
              <a:t>8 KB</a:t>
            </a:r>
            <a:r>
              <a:rPr lang="zh-TW" altLang="en-US" dirty="0">
                <a:latin typeface="+mn-lt"/>
              </a:rPr>
              <a:t>並儲存在電腦系統中。他應為所有兌換代碼分配多少 </a:t>
            </a:r>
            <a:r>
              <a:rPr lang="en-US" altLang="zh-TW" dirty="0">
                <a:latin typeface="+mn-lt"/>
              </a:rPr>
              <a:t>MB </a:t>
            </a:r>
            <a:r>
              <a:rPr lang="zh-TW" altLang="en-US" dirty="0">
                <a:latin typeface="+mn-lt"/>
              </a:rPr>
              <a:t>的儲存空間？</a:t>
            </a:r>
            <a:endParaRPr lang="en-US" altLang="zh-TW" dirty="0">
              <a:latin typeface="+mn-lt"/>
            </a:endParaRPr>
          </a:p>
          <a:p>
            <a:pPr marL="457200" indent="-457200">
              <a:buFont typeface="+mj-lt"/>
              <a:buAutoNum type="arabicPeriod" startAt="2"/>
            </a:pPr>
            <a:endParaRPr lang="en-US" altLang="zh-TW" dirty="0">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湯先生應分配的儲存空間 </a:t>
            </a:r>
            <a:r>
              <a:rPr lang="en-US" altLang="zh-TW" dirty="0">
                <a:latin typeface="+mn-lt"/>
              </a:rPr>
              <a:t>= 8 KB × 50,000 = 400,000 KB = (400,000 ÷ 1024) MB = 390.625 MB</a:t>
            </a:r>
          </a:p>
          <a:p>
            <a:r>
              <a:rPr lang="zh-TW" altLang="en-US" dirty="0">
                <a:latin typeface="+mn-lt"/>
              </a:rPr>
              <a:t>注意，我們應將 </a:t>
            </a:r>
            <a:r>
              <a:rPr lang="en-US" altLang="zh-TW" dirty="0">
                <a:latin typeface="+mn-lt"/>
              </a:rPr>
              <a:t>1024 KB</a:t>
            </a:r>
            <a:r>
              <a:rPr lang="zh-TW" altLang="en-US" dirty="0">
                <a:latin typeface="+mn-lt"/>
              </a:rPr>
              <a:t>（而不是 </a:t>
            </a:r>
            <a:r>
              <a:rPr lang="en-US" altLang="zh-TW" dirty="0">
                <a:latin typeface="+mn-lt"/>
              </a:rPr>
              <a:t>1000 KB</a:t>
            </a:r>
            <a:r>
              <a:rPr lang="zh-TW" altLang="en-US" dirty="0">
                <a:latin typeface="+mn-lt"/>
              </a:rPr>
              <a:t>）轉換為 </a:t>
            </a:r>
            <a:r>
              <a:rPr lang="en-US" altLang="zh-TW" dirty="0">
                <a:latin typeface="+mn-lt"/>
              </a:rPr>
              <a:t>1 MB</a:t>
            </a:r>
            <a:r>
              <a:rPr lang="zh-TW" altLang="en-US" dirty="0">
                <a:latin typeface="+mn-lt"/>
              </a:rPr>
              <a:t>。</a:t>
            </a:r>
            <a:endParaRPr lang="en-US" altLang="zh-TW" dirty="0">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390.625 MB</a:t>
            </a:r>
            <a:r>
              <a:rPr lang="zh-TW" altLang="en-US" dirty="0">
                <a:latin typeface="+mn-lt"/>
              </a:rPr>
              <a:t>。我們也可將結果四捨五入至最接近的整數。</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33</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4265725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學校使用的電腦系統為每個學生編號分配了 </a:t>
            </a:r>
            <a:r>
              <a:rPr lang="en-US" altLang="zh-TW" dirty="0">
                <a:latin typeface="+mn-lt"/>
              </a:rPr>
              <a:t>8 </a:t>
            </a:r>
            <a:r>
              <a:rPr lang="zh-TW" altLang="en-US" dirty="0">
                <a:latin typeface="+mn-lt"/>
              </a:rPr>
              <a:t>位元，另外又為學生的性別分配了 </a:t>
            </a:r>
            <a:r>
              <a:rPr lang="en-US" altLang="zh-TW" dirty="0">
                <a:latin typeface="+mn-lt"/>
              </a:rPr>
              <a:t>1 </a:t>
            </a:r>
            <a:r>
              <a:rPr lang="zh-TW" altLang="en-US" dirty="0">
                <a:latin typeface="+mn-lt"/>
              </a:rPr>
              <a:t>位元。系統中最多可以有多少個學生帳户？</a:t>
            </a:r>
            <a:endParaRPr lang="en-US" altLang="zh-TW" dirty="0">
              <a:latin typeface="+mn-lt"/>
            </a:endParaRPr>
          </a:p>
          <a:p>
            <a:pPr marL="457200" indent="-457200">
              <a:buFont typeface="+mj-lt"/>
              <a:buAutoNum type="arabicPeriod" startAt="3"/>
            </a:pPr>
            <a:endParaRPr lang="en-US" altLang="zh-TW" dirty="0">
              <a:latin typeface="+mn-lt"/>
            </a:endParaRPr>
          </a:p>
          <a:p>
            <a:pPr marL="800100" lvl="1" indent="-342900">
              <a:buSzPct val="100000"/>
              <a:buAutoNum type="alphaUcPeriod"/>
            </a:pPr>
            <a:r>
              <a:rPr lang="en-US" dirty="0">
                <a:latin typeface="+mn-lt"/>
              </a:rPr>
              <a:t>64</a:t>
            </a:r>
          </a:p>
          <a:p>
            <a:pPr marL="800100" lvl="1" indent="-342900">
              <a:buSzPct val="100000"/>
              <a:buAutoNum type="alphaUcPeriod"/>
            </a:pPr>
            <a:r>
              <a:rPr lang="en-HK" dirty="0">
                <a:latin typeface="+mn-lt"/>
              </a:rPr>
              <a:t>128</a:t>
            </a:r>
          </a:p>
          <a:p>
            <a:pPr marL="800100" lvl="1" indent="-342900">
              <a:buSzPct val="100000"/>
              <a:buAutoNum type="alphaUcPeriod"/>
            </a:pPr>
            <a:r>
              <a:rPr lang="en-HK" dirty="0">
                <a:latin typeface="+mn-lt"/>
              </a:rPr>
              <a:t>256</a:t>
            </a:r>
          </a:p>
          <a:p>
            <a:pPr marL="800100" lvl="1" indent="-342900">
              <a:buSzPct val="100000"/>
              <a:buAutoNum type="alphaUcPeriod"/>
            </a:pPr>
            <a:r>
              <a:rPr lang="en-HK" dirty="0">
                <a:latin typeface="+mn-lt"/>
              </a:rPr>
              <a:t>512</a:t>
            </a:r>
            <a:endParaRPr lang="en-US"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34</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2436273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系統中學生帳户的最大數量取決於學生編號的最大數量，因為每個學生都應該有獨特的編號。</a:t>
            </a:r>
          </a:p>
          <a:p>
            <a:r>
              <a:rPr lang="zh-TW" altLang="en-US" dirty="0">
                <a:latin typeface="+mn-lt"/>
              </a:rPr>
              <a:t>而學生的性別則不重要，因為兩個不同性別的學生不能共享同一個學生編號。</a:t>
            </a:r>
          </a:p>
          <a:p>
            <a:r>
              <a:rPr lang="zh-TW" altLang="en-US" dirty="0">
                <a:latin typeface="+mn-lt"/>
              </a:rPr>
              <a:t>由於為學生編號分配了 </a:t>
            </a:r>
            <a:r>
              <a:rPr lang="en-US" altLang="zh-TW" dirty="0">
                <a:latin typeface="+mn-lt"/>
              </a:rPr>
              <a:t>8 </a:t>
            </a:r>
            <a:r>
              <a:rPr lang="zh-TW" altLang="en-US" dirty="0">
                <a:latin typeface="+mn-lt"/>
              </a:rPr>
              <a:t>位元，因此學生帳户的最大數量等於 </a:t>
            </a:r>
            <a:r>
              <a:rPr lang="en-US" altLang="zh-TW" dirty="0">
                <a:latin typeface="+mn-lt"/>
              </a:rPr>
              <a:t>8 </a:t>
            </a:r>
            <a:r>
              <a:rPr lang="zh-TW" altLang="en-US" dirty="0">
                <a:latin typeface="+mn-lt"/>
              </a:rPr>
              <a:t>位元可表示的樣式數量，</a:t>
            </a:r>
          </a:p>
          <a:p>
            <a:r>
              <a:rPr lang="zh-TW" altLang="en-US" dirty="0">
                <a:latin typeface="+mn-lt"/>
              </a:rPr>
              <a:t>即 </a:t>
            </a:r>
            <a:r>
              <a:rPr lang="en-US" dirty="0">
                <a:latin typeface="+mn-lt"/>
              </a:rPr>
              <a:t>2</a:t>
            </a:r>
            <a:r>
              <a:rPr lang="en-US" baseline="30000" dirty="0">
                <a:latin typeface="+mn-lt"/>
              </a:rPr>
              <a:t>8</a:t>
            </a:r>
            <a:r>
              <a:rPr lang="en-US" dirty="0">
                <a:latin typeface="+mn-lt"/>
              </a:rPr>
              <a:t> = 256</a:t>
            </a:r>
            <a:r>
              <a:rPr lang="zh-TW" altLang="en-US" dirty="0">
                <a:latin typeface="+mn-lt"/>
              </a:rPr>
              <a:t>。</a:t>
            </a:r>
            <a:endParaRPr lang="en-US" altLang="zh-TW" dirty="0">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C</a:t>
            </a:r>
            <a:r>
              <a:rPr lang="zh-TW" altLang="en-US" dirty="0">
                <a:latin typeface="+mn-lt"/>
              </a:rPr>
              <a:t>。 </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35</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1891618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67 </a:t>
            </a:r>
            <a:r>
              <a:rPr lang="zh-TW" altLang="en-US" dirty="0">
                <a:latin typeface="+mn-lt"/>
              </a:rPr>
              <a:t>頁的測試站 </a:t>
            </a:r>
            <a:r>
              <a:rPr lang="en-US" altLang="zh-TW" dirty="0">
                <a:latin typeface="+mn-lt"/>
              </a:rPr>
              <a:t>3.1</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en-US" dirty="0">
                <a:solidFill>
                  <a:srgbClr val="FF0000"/>
                </a:solidFill>
                <a:latin typeface="+mn-lt"/>
              </a:rPr>
              <a:t>40 × 1024 × 1024 ÷ 500 ÷ 60 = </a:t>
            </a:r>
            <a:r>
              <a:rPr lang="en-US" dirty="0" smtClean="0">
                <a:solidFill>
                  <a:srgbClr val="FF0000"/>
                </a:solidFill>
                <a:latin typeface="+mn-lt"/>
              </a:rPr>
              <a:t>1398.1 </a:t>
            </a:r>
            <a:r>
              <a:rPr lang="zh-TW" altLang="en-US" dirty="0">
                <a:solidFill>
                  <a:srgbClr val="FF0000"/>
                </a:solidFill>
                <a:latin typeface="+mn-lt"/>
              </a:rPr>
              <a:t>小時</a:t>
            </a:r>
            <a:r>
              <a:rPr lang="zh-TW" altLang="en-US" dirty="0" smtClean="0">
                <a:solidFill>
                  <a:srgbClr val="FF0000"/>
                </a:solidFill>
                <a:latin typeface="+mn-lt"/>
              </a:rPr>
              <a:t>。可</a:t>
            </a:r>
            <a:r>
              <a:rPr lang="zh-TW" altLang="en-US" dirty="0">
                <a:solidFill>
                  <a:srgbClr val="FF0000"/>
                </a:solidFill>
                <a:latin typeface="+mn-lt"/>
              </a:rPr>
              <a:t>將結果四捨五入至最接近的小時數。</a:t>
            </a:r>
            <a:endParaRPr lang="en-US" dirty="0" smtClean="0">
              <a:solidFill>
                <a:srgbClr val="FF0000"/>
              </a:solidFill>
              <a:latin typeface="+mn-lt"/>
            </a:endParaRPr>
          </a:p>
          <a:p>
            <a:pPr marL="457200" indent="-457200">
              <a:buAutoNum type="arabicPeriod"/>
            </a:pPr>
            <a:r>
              <a:rPr lang="en-HK" dirty="0" smtClean="0">
                <a:solidFill>
                  <a:srgbClr val="FF0000"/>
                </a:solidFill>
                <a:latin typeface="+mn-lt"/>
              </a:rPr>
              <a:t>C</a:t>
            </a:r>
          </a:p>
          <a:p>
            <a:pPr marL="457200" indent="-457200">
              <a:buAutoNum type="arabicPeriod"/>
            </a:pPr>
            <a:r>
              <a:rPr lang="en-HK" dirty="0" smtClean="0">
                <a:solidFill>
                  <a:srgbClr val="FF0000"/>
                </a:solidFill>
                <a:latin typeface="+mn-lt"/>
              </a:rPr>
              <a:t>B</a:t>
            </a:r>
            <a:endParaRPr lang="en-US" dirty="0">
              <a:solidFill>
                <a:srgbClr val="FF0000"/>
              </a:solidFill>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36</a:t>
            </a:fld>
            <a:endParaRPr lang="en-US" dirty="0"/>
          </a:p>
        </p:txBody>
      </p:sp>
      <p:sp>
        <p:nvSpPr>
          <p:cNvPr id="6" name="文字版面配置區 5"/>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1370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表示無符號整數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37</a:t>
            </a:fld>
            <a:endParaRPr lang="en-US" dirty="0"/>
          </a:p>
        </p:txBody>
      </p:sp>
      <p:sp>
        <p:nvSpPr>
          <p:cNvPr id="6" name="文字版面配置區 5"/>
          <p:cNvSpPr>
            <a:spLocks noGrp="1"/>
          </p:cNvSpPr>
          <p:nvPr>
            <p:ph type="body" sz="quarter" idx="14"/>
          </p:nvPr>
        </p:nvSpPr>
        <p:spPr/>
        <p:txBody>
          <a:bodyPr/>
          <a:lstStyle/>
          <a:p>
            <a:r>
              <a:rPr lang="en-US" dirty="0"/>
              <a:t>D</a:t>
            </a:r>
            <a:endParaRPr lang="en-GB" dirty="0"/>
          </a:p>
        </p:txBody>
      </p:sp>
      <p:sp>
        <p:nvSpPr>
          <p:cNvPr id="7" name="內容版面配置區 6"/>
          <p:cNvSpPr>
            <a:spLocks noGrp="1"/>
          </p:cNvSpPr>
          <p:nvPr>
            <p:ph sz="quarter" idx="15"/>
          </p:nvPr>
        </p:nvSpPr>
        <p:spPr/>
        <p:txBody>
          <a:bodyPr/>
          <a:lstStyle/>
          <a:p>
            <a:r>
              <a:rPr lang="zh-TW" altLang="en-US" dirty="0"/>
              <a:t>數碼設備中的整數可以儲存為無符號整數或有符號整數。</a:t>
            </a:r>
            <a:endParaRPr lang="en-US" altLang="zh-TW" dirty="0"/>
          </a:p>
          <a:p>
            <a:r>
              <a:rPr lang="zh-TW" altLang="en-US" dirty="0">
                <a:solidFill>
                  <a:srgbClr val="595A96"/>
                </a:solidFill>
                <a:latin typeface="Noto Sans CJK TC Bold" panose="020B0800000000000000" pitchFamily="34" charset="-128"/>
                <a:ea typeface="Noto Sans CJK TC Bold" panose="020B0800000000000000" pitchFamily="34" charset="-128"/>
              </a:rPr>
              <a:t>無符號整數</a:t>
            </a:r>
            <a:r>
              <a:rPr lang="zh-TW" altLang="en-US" dirty="0"/>
              <a:t>是指沒有負號的整數，即正數和零。</a:t>
            </a:r>
            <a:endParaRPr lang="en-GB" dirty="0"/>
          </a:p>
        </p:txBody>
      </p:sp>
      <p:pic>
        <p:nvPicPr>
          <p:cNvPr id="8" name="圖片 7"/>
          <p:cNvPicPr>
            <a:picLocks noChangeAspect="1"/>
          </p:cNvPicPr>
          <p:nvPr/>
        </p:nvPicPr>
        <p:blipFill>
          <a:blip r:embed="rId2"/>
          <a:stretch>
            <a:fillRect/>
          </a:stretch>
        </p:blipFill>
        <p:spPr>
          <a:xfrm>
            <a:off x="2000850" y="2939234"/>
            <a:ext cx="8191500" cy="2676525"/>
          </a:xfrm>
          <a:prstGeom prst="rect">
            <a:avLst/>
          </a:prstGeom>
        </p:spPr>
      </p:pic>
    </p:spTree>
    <p:extLst>
      <p:ext uri="{BB962C8B-B14F-4D97-AF65-F5344CB8AC3E}">
        <p14:creationId xmlns:p14="http://schemas.microsoft.com/office/powerpoint/2010/main" val="3672473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表示有符號整數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38</a:t>
            </a:fld>
            <a:endParaRPr lang="en-US" dirty="0"/>
          </a:p>
        </p:txBody>
      </p:sp>
      <p:sp>
        <p:nvSpPr>
          <p:cNvPr id="4" name="文字版面配置區 3"/>
          <p:cNvSpPr>
            <a:spLocks noGrp="1"/>
          </p:cNvSpPr>
          <p:nvPr>
            <p:ph type="body" sz="quarter" idx="14"/>
          </p:nvPr>
        </p:nvSpPr>
        <p:spPr/>
        <p:txBody>
          <a:bodyPr/>
          <a:lstStyle/>
          <a:p>
            <a:r>
              <a:rPr lang="en-US" dirty="0"/>
              <a:t>E</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有符號整數</a:t>
            </a:r>
            <a:r>
              <a:rPr lang="zh-TW" altLang="en-US" dirty="0"/>
              <a:t>可以是帶有負號的整數，即正數、負數和零。有約一半的樣式用於表示負整數。</a:t>
            </a:r>
            <a:endParaRPr lang="en-GB" dirty="0"/>
          </a:p>
        </p:txBody>
      </p:sp>
      <p:pic>
        <p:nvPicPr>
          <p:cNvPr id="6" name="圖片 5"/>
          <p:cNvPicPr>
            <a:picLocks noChangeAspect="1"/>
          </p:cNvPicPr>
          <p:nvPr/>
        </p:nvPicPr>
        <p:blipFill>
          <a:blip r:embed="rId2"/>
          <a:stretch>
            <a:fillRect/>
          </a:stretch>
        </p:blipFill>
        <p:spPr>
          <a:xfrm>
            <a:off x="2058000" y="2869200"/>
            <a:ext cx="8077200" cy="2562225"/>
          </a:xfrm>
          <a:prstGeom prst="rect">
            <a:avLst/>
          </a:prstGeom>
        </p:spPr>
      </p:pic>
    </p:spTree>
    <p:extLst>
      <p:ext uri="{BB962C8B-B14F-4D97-AF65-F5344CB8AC3E}">
        <p14:creationId xmlns:p14="http://schemas.microsoft.com/office/powerpoint/2010/main" val="2907932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表示有符號整數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39</a:t>
            </a:fld>
            <a:endParaRPr lang="en-US" dirty="0"/>
          </a:p>
        </p:txBody>
      </p:sp>
      <p:sp>
        <p:nvSpPr>
          <p:cNvPr id="4" name="文字版面配置區 3"/>
          <p:cNvSpPr>
            <a:spLocks noGrp="1"/>
          </p:cNvSpPr>
          <p:nvPr>
            <p:ph type="body" sz="quarter" idx="14"/>
          </p:nvPr>
        </p:nvSpPr>
        <p:spPr/>
        <p:txBody>
          <a:bodyPr/>
          <a:lstStyle/>
          <a:p>
            <a:r>
              <a:rPr lang="en-US" dirty="0"/>
              <a:t>E</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mn-lt"/>
                <a:ea typeface="Noto Sans CJK TC Bold" panose="020B0800000000000000" pitchFamily="34" charset="-128"/>
              </a:rPr>
              <a:t>二進制補碼</a:t>
            </a:r>
            <a:r>
              <a:rPr lang="zh-TW" altLang="en-US" dirty="0">
                <a:latin typeface="+mn-lt"/>
              </a:rPr>
              <a:t>（二補碼）數字是一種以位元樣式表示有符號整數的方法。</a:t>
            </a:r>
            <a:endParaRPr lang="en-US" altLang="zh-TW" dirty="0">
              <a:latin typeface="+mn-lt"/>
            </a:endParaRPr>
          </a:p>
          <a:p>
            <a:endParaRPr lang="en-US" dirty="0">
              <a:latin typeface="+mn-lt"/>
            </a:endParaRPr>
          </a:p>
          <a:p>
            <a:r>
              <a:rPr lang="zh-TW" altLang="en-US" dirty="0">
                <a:latin typeface="+mn-lt"/>
              </a:rPr>
              <a:t>一個數的二進制補碼（二補碼）則是來自該數的二進制數字取反。亦即是說，整數 −</a:t>
            </a:r>
            <a:r>
              <a:rPr lang="en-US" altLang="zh-TW" dirty="0">
                <a:latin typeface="+mn-lt"/>
              </a:rPr>
              <a:t>X </a:t>
            </a:r>
            <a:r>
              <a:rPr lang="zh-TW" altLang="en-US" dirty="0">
                <a:latin typeface="+mn-lt"/>
              </a:rPr>
              <a:t>可以由 </a:t>
            </a:r>
            <a:r>
              <a:rPr lang="en-US" altLang="zh-TW" dirty="0">
                <a:latin typeface="+mn-lt"/>
              </a:rPr>
              <a:t>X </a:t>
            </a:r>
            <a:r>
              <a:rPr lang="zh-TW" altLang="en-US" dirty="0">
                <a:latin typeface="+mn-lt"/>
              </a:rPr>
              <a:t>的二進制補碼表示。</a:t>
            </a:r>
            <a:endParaRPr lang="en-US" altLang="zh-TW" dirty="0">
              <a:latin typeface="+mn-lt"/>
            </a:endParaRPr>
          </a:p>
          <a:p>
            <a:endParaRPr lang="en-US" dirty="0">
              <a:latin typeface="+mn-lt"/>
            </a:endParaRPr>
          </a:p>
          <a:p>
            <a:r>
              <a:rPr lang="zh-TW" altLang="en-US" dirty="0">
                <a:latin typeface="+mn-lt"/>
              </a:rPr>
              <a:t>以下列出了所有 </a:t>
            </a:r>
            <a:r>
              <a:rPr lang="en-US" altLang="zh-TW" dirty="0">
                <a:latin typeface="+mn-lt"/>
              </a:rPr>
              <a:t>3 </a:t>
            </a:r>
            <a:r>
              <a:rPr lang="zh-TW" altLang="en-US" dirty="0">
                <a:latin typeface="+mn-lt"/>
              </a:rPr>
              <a:t>位元二進制補碼數字。</a:t>
            </a:r>
            <a:endParaRPr lang="en-GB"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568036991"/>
              </p:ext>
            </p:extLst>
          </p:nvPr>
        </p:nvGraphicFramePr>
        <p:xfrm>
          <a:off x="838800" y="4574524"/>
          <a:ext cx="10390911" cy="741680"/>
        </p:xfrm>
        <a:graphic>
          <a:graphicData uri="http://schemas.openxmlformats.org/drawingml/2006/table">
            <a:tbl>
              <a:tblPr firstRow="1" bandRow="1">
                <a:tableStyleId>{5940675A-B579-460E-94D1-54222C63F5DA}</a:tableStyleId>
              </a:tblPr>
              <a:tblGrid>
                <a:gridCol w="1948463">
                  <a:extLst>
                    <a:ext uri="{9D8B030D-6E8A-4147-A177-3AD203B41FA5}">
                      <a16:colId xmlns:a16="http://schemas.microsoft.com/office/drawing/2014/main" val="20000"/>
                    </a:ext>
                  </a:extLst>
                </a:gridCol>
                <a:gridCol w="1055306">
                  <a:extLst>
                    <a:ext uri="{9D8B030D-6E8A-4147-A177-3AD203B41FA5}">
                      <a16:colId xmlns:a16="http://schemas.microsoft.com/office/drawing/2014/main" val="20001"/>
                    </a:ext>
                  </a:extLst>
                </a:gridCol>
                <a:gridCol w="1055306">
                  <a:extLst>
                    <a:ext uri="{9D8B030D-6E8A-4147-A177-3AD203B41FA5}">
                      <a16:colId xmlns:a16="http://schemas.microsoft.com/office/drawing/2014/main" val="20002"/>
                    </a:ext>
                  </a:extLst>
                </a:gridCol>
                <a:gridCol w="1055306">
                  <a:extLst>
                    <a:ext uri="{9D8B030D-6E8A-4147-A177-3AD203B41FA5}">
                      <a16:colId xmlns:a16="http://schemas.microsoft.com/office/drawing/2014/main" val="20003"/>
                    </a:ext>
                  </a:extLst>
                </a:gridCol>
                <a:gridCol w="1055306">
                  <a:extLst>
                    <a:ext uri="{9D8B030D-6E8A-4147-A177-3AD203B41FA5}">
                      <a16:colId xmlns:a16="http://schemas.microsoft.com/office/drawing/2014/main" val="20004"/>
                    </a:ext>
                  </a:extLst>
                </a:gridCol>
                <a:gridCol w="1055306">
                  <a:extLst>
                    <a:ext uri="{9D8B030D-6E8A-4147-A177-3AD203B41FA5}">
                      <a16:colId xmlns:a16="http://schemas.microsoft.com/office/drawing/2014/main" val="20005"/>
                    </a:ext>
                  </a:extLst>
                </a:gridCol>
                <a:gridCol w="1055306">
                  <a:extLst>
                    <a:ext uri="{9D8B030D-6E8A-4147-A177-3AD203B41FA5}">
                      <a16:colId xmlns:a16="http://schemas.microsoft.com/office/drawing/2014/main" val="20006"/>
                    </a:ext>
                  </a:extLst>
                </a:gridCol>
                <a:gridCol w="1055306">
                  <a:extLst>
                    <a:ext uri="{9D8B030D-6E8A-4147-A177-3AD203B41FA5}">
                      <a16:colId xmlns:a16="http://schemas.microsoft.com/office/drawing/2014/main" val="20007"/>
                    </a:ext>
                  </a:extLst>
                </a:gridCol>
                <a:gridCol w="1055306">
                  <a:extLst>
                    <a:ext uri="{9D8B030D-6E8A-4147-A177-3AD203B41FA5}">
                      <a16:colId xmlns:a16="http://schemas.microsoft.com/office/drawing/2014/main" val="20008"/>
                    </a:ext>
                  </a:extLst>
                </a:gridCol>
              </a:tblGrid>
              <a:tr h="370840">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十進制數字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-4</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-3</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-2</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2</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3</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二進制補碼數字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100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101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110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111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000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001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010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011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45551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b="1" dirty="0">
                <a:solidFill>
                  <a:srgbClr val="C6993D"/>
                </a:solidFill>
                <a:latin typeface="Noto Sans CJK TC Bold" panose="020B0800000000000000" pitchFamily="34" charset="-128"/>
                <a:ea typeface="Noto Sans CJK TC Bold" panose="020B0800000000000000" pitchFamily="34" charset="-128"/>
              </a:rPr>
              <a:t>將二進制補碼數字轉換至十進制數字</a:t>
            </a:r>
            <a:endParaRPr lang="en-US" b="1" dirty="0">
              <a:solidFill>
                <a:srgbClr val="C6993D"/>
              </a:solidFill>
              <a:latin typeface="Noto Sans CJK TC Bold" panose="020B0800000000000000" pitchFamily="34" charset="-128"/>
              <a:ea typeface="Noto Sans CJK TC Bold" panose="020B0800000000000000" pitchFamily="34" charset="-128"/>
            </a:endParaRPr>
          </a:p>
          <a:p>
            <a:r>
              <a:rPr lang="zh-TW" altLang="en-US" dirty="0">
                <a:latin typeface="+mn-lt"/>
              </a:rPr>
              <a:t>我們可以通過以下步驟將 </a:t>
            </a:r>
            <a:r>
              <a:rPr lang="en-US" altLang="zh-TW" dirty="0">
                <a:latin typeface="+mn-lt"/>
              </a:rPr>
              <a:t>3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101</a:t>
            </a:r>
            <a:r>
              <a:rPr lang="en-US" altLang="zh-TW" dirty="0">
                <a:latin typeface="+mn-lt"/>
              </a:rPr>
              <a:t> </a:t>
            </a:r>
            <a:r>
              <a:rPr lang="zh-TW" altLang="en-US" dirty="0">
                <a:latin typeface="+mn-lt"/>
              </a:rPr>
              <a:t>展開，並轉換為十進制數字。</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zh-TW" altLang="en-US" dirty="0"/>
              <a:t>因此，</a:t>
            </a:r>
            <a:r>
              <a:rPr lang="en-US" dirty="0">
                <a:latin typeface="Courier New" panose="02070309020205020404" pitchFamily="49" charset="0"/>
                <a:cs typeface="Courier New" panose="02070309020205020404" pitchFamily="49" charset="0"/>
              </a:rPr>
              <a:t>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 + 0 + 1 = </a:t>
            </a:r>
            <a:r>
              <a:rPr lang="en-US" dirty="0" smtClean="0">
                <a:latin typeface="Courier New" panose="02070309020205020404" pitchFamily="49" charset="0"/>
                <a:cs typeface="Courier New" panose="02070309020205020404" pitchFamily="49" charset="0"/>
              </a:rPr>
              <a:t>-3</a:t>
            </a:r>
            <a:r>
              <a:rPr lang="en-US" baseline="-25000" dirty="0" smtClean="0">
                <a:latin typeface="Courier New" panose="02070309020205020404" pitchFamily="49" charset="0"/>
                <a:cs typeface="Courier New" panose="02070309020205020404" pitchFamily="49" charset="0"/>
              </a:rPr>
              <a:t>10</a:t>
            </a:r>
            <a:r>
              <a:rPr lang="zh-TW" altLang="en-US" dirty="0"/>
              <a:t>。</a:t>
            </a:r>
            <a:endParaRPr lang="en-US" b="1" dirty="0">
              <a:solidFill>
                <a:srgbClr val="C6993D"/>
              </a:solidFill>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40</a:t>
            </a:fld>
            <a:endParaRPr lang="en-US" dirty="0"/>
          </a:p>
        </p:txBody>
      </p:sp>
      <p:sp>
        <p:nvSpPr>
          <p:cNvPr id="7" name="文字版面配置區 6"/>
          <p:cNvSpPr>
            <a:spLocks noGrp="1"/>
          </p:cNvSpPr>
          <p:nvPr>
            <p:ph type="body" sz="quarter" idx="13"/>
          </p:nvPr>
        </p:nvSpPr>
        <p:spPr/>
        <p:txBody>
          <a:bodyPr/>
          <a:lstStyle/>
          <a:p>
            <a:r>
              <a:rPr lang="en-US" dirty="0"/>
              <a:t>3.3</a:t>
            </a:r>
            <a:endParaRPr lang="en-GB" dirty="0"/>
          </a:p>
        </p:txBody>
      </p:sp>
      <p:graphicFrame>
        <p:nvGraphicFramePr>
          <p:cNvPr id="8" name="Table 4"/>
          <p:cNvGraphicFramePr>
            <a:graphicFrameLocks noGrp="1"/>
          </p:cNvGraphicFramePr>
          <p:nvPr>
            <p:extLst>
              <p:ext uri="{D42A27DB-BD31-4B8C-83A1-F6EECF244321}">
                <p14:modId xmlns:p14="http://schemas.microsoft.com/office/powerpoint/2010/main" val="2140730449"/>
              </p:ext>
            </p:extLst>
          </p:nvPr>
        </p:nvGraphicFramePr>
        <p:xfrm>
          <a:off x="992235" y="2559398"/>
          <a:ext cx="7161876" cy="1258764"/>
        </p:xfrm>
        <a:graphic>
          <a:graphicData uri="http://schemas.openxmlformats.org/drawingml/2006/table">
            <a:tbl>
              <a:tblPr firstRow="1" bandRow="1">
                <a:tableStyleId>{5940675A-B579-460E-94D1-54222C63F5DA}</a:tableStyleId>
              </a:tblPr>
              <a:tblGrid>
                <a:gridCol w="1434408">
                  <a:extLst>
                    <a:ext uri="{9D8B030D-6E8A-4147-A177-3AD203B41FA5}">
                      <a16:colId xmlns:a16="http://schemas.microsoft.com/office/drawing/2014/main" val="20000"/>
                    </a:ext>
                  </a:extLst>
                </a:gridCol>
                <a:gridCol w="2146530">
                  <a:extLst>
                    <a:ext uri="{9D8B030D-6E8A-4147-A177-3AD203B41FA5}">
                      <a16:colId xmlns:a16="http://schemas.microsoft.com/office/drawing/2014/main" val="20001"/>
                    </a:ext>
                  </a:extLst>
                </a:gridCol>
                <a:gridCol w="1790469">
                  <a:extLst>
                    <a:ext uri="{9D8B030D-6E8A-4147-A177-3AD203B41FA5}">
                      <a16:colId xmlns:a16="http://schemas.microsoft.com/office/drawing/2014/main" val="20002"/>
                    </a:ext>
                  </a:extLst>
                </a:gridCol>
                <a:gridCol w="1790469">
                  <a:extLst>
                    <a:ext uri="{9D8B030D-6E8A-4147-A177-3AD203B41FA5}">
                      <a16:colId xmlns:a16="http://schemas.microsoft.com/office/drawing/2014/main" val="20003"/>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US" dirty="0">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20257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latin typeface="+mn-lt"/>
              </a:rPr>
              <a:t>我們可以通過以下步驟將 </a:t>
            </a:r>
            <a:r>
              <a:rPr lang="en-US" altLang="zh-TW" dirty="0">
                <a:latin typeface="+mn-lt"/>
              </a:rPr>
              <a:t>4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0101</a:t>
            </a:r>
            <a:r>
              <a:rPr lang="en-US" altLang="zh-TW" dirty="0">
                <a:latin typeface="+mn-lt"/>
              </a:rPr>
              <a:t> </a:t>
            </a:r>
            <a:r>
              <a:rPr lang="zh-TW" altLang="en-US" dirty="0">
                <a:latin typeface="+mn-lt"/>
              </a:rPr>
              <a:t>展開，並轉換為十進制數字。</a:t>
            </a:r>
            <a:endParaRPr lang="en-US" altLang="zh-TW" dirty="0">
              <a:latin typeface="+mn-lt"/>
            </a:endParaRPr>
          </a:p>
          <a:p>
            <a:endParaRPr lang="en-US" dirty="0"/>
          </a:p>
          <a:p>
            <a:endParaRPr lang="en-US" dirty="0"/>
          </a:p>
          <a:p>
            <a:endParaRPr lang="en-US" dirty="0"/>
          </a:p>
          <a:p>
            <a:r>
              <a:rPr lang="zh-TW" altLang="en-US" dirty="0"/>
              <a:t>因此，</a:t>
            </a:r>
            <a:r>
              <a:rPr lang="en-US" dirty="0"/>
              <a:t> </a:t>
            </a:r>
            <a:r>
              <a:rPr lang="en-US" dirty="0">
                <a:latin typeface="Courier New" panose="02070309020205020404" pitchFamily="49" charset="0"/>
                <a:cs typeface="Courier New" panose="02070309020205020404" pitchFamily="49" charset="0"/>
              </a:rPr>
              <a:t>0101 = 4 + 0 + 1 = 5</a:t>
            </a:r>
            <a:r>
              <a:rPr lang="en-US" baseline="-25000" dirty="0">
                <a:latin typeface="Courier New" panose="02070309020205020404" pitchFamily="49" charset="0"/>
                <a:cs typeface="Courier New" panose="02070309020205020404" pitchFamily="49" charset="0"/>
              </a:rPr>
              <a:t>10</a:t>
            </a:r>
            <a:r>
              <a:rPr lang="zh-TW" altLang="en-US" dirty="0"/>
              <a:t>。</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41</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graphicFrame>
        <p:nvGraphicFramePr>
          <p:cNvPr id="6" name="Table 4"/>
          <p:cNvGraphicFramePr>
            <a:graphicFrameLocks noGrp="1"/>
          </p:cNvGraphicFramePr>
          <p:nvPr>
            <p:extLst>
              <p:ext uri="{D42A27DB-BD31-4B8C-83A1-F6EECF244321}">
                <p14:modId xmlns:p14="http://schemas.microsoft.com/office/powerpoint/2010/main" val="2367021088"/>
              </p:ext>
            </p:extLst>
          </p:nvPr>
        </p:nvGraphicFramePr>
        <p:xfrm>
          <a:off x="909856" y="2078760"/>
          <a:ext cx="8425411" cy="1258764"/>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-8 </a:t>
                      </a:r>
                      <a:r>
                        <a:rPr lang="en-US" dirty="0">
                          <a:latin typeface="Courier New" panose="02070309020205020404" pitchFamily="49" charset="0"/>
                          <a:cs typeface="Courier New" panose="02070309020205020404" pitchFamily="49" charset="0"/>
                        </a:rPr>
                        <a:t>×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64625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a:pPr>
            <a:r>
              <a:rPr lang="zh-TW" altLang="en-US" dirty="0">
                <a:latin typeface="+mn-lt"/>
              </a:rPr>
              <a:t>試將 </a:t>
            </a:r>
            <a:r>
              <a:rPr lang="en-US" altLang="zh-TW" dirty="0">
                <a:latin typeface="+mn-lt"/>
              </a:rPr>
              <a:t>4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1010</a:t>
            </a:r>
            <a:r>
              <a:rPr lang="en-US" altLang="zh-TW" dirty="0">
                <a:latin typeface="+mn-lt"/>
              </a:rPr>
              <a:t> </a:t>
            </a:r>
            <a:r>
              <a:rPr lang="zh-TW" altLang="en-US" dirty="0">
                <a:latin typeface="+mn-lt"/>
              </a:rPr>
              <a:t>轉換為十進制數字。</a:t>
            </a:r>
            <a:endParaRPr lang="en-US" altLang="zh-TW"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r>
              <a:rPr lang="zh-TW" altLang="en-US" dirty="0"/>
              <a:t>因此，</a:t>
            </a:r>
            <a:r>
              <a:rPr lang="en-US" dirty="0">
                <a:latin typeface="Courier New" panose="02070309020205020404" pitchFamily="49" charset="0"/>
                <a:cs typeface="Courier New" panose="02070309020205020404" pitchFamily="49" charset="0"/>
              </a:rPr>
              <a:t>1010</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a:t>
            </a:r>
            <a:endParaRPr lang="en-US" dirty="0"/>
          </a:p>
          <a:p>
            <a:pPr marL="457200" indent="-457200">
              <a:buFont typeface="+mj-lt"/>
              <a:buAutoNum type="arabicPeriod"/>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42</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033061736"/>
              </p:ext>
            </p:extLst>
          </p:nvPr>
        </p:nvGraphicFramePr>
        <p:xfrm>
          <a:off x="918094" y="2132828"/>
          <a:ext cx="8425411" cy="1258764"/>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47724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a:pPr>
            <a:r>
              <a:rPr lang="zh-TW" altLang="en-US" dirty="0">
                <a:latin typeface="+mn-lt"/>
              </a:rPr>
              <a:t>試將 </a:t>
            </a:r>
            <a:r>
              <a:rPr lang="en-US" altLang="zh-TW" dirty="0">
                <a:latin typeface="+mn-lt"/>
              </a:rPr>
              <a:t>4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1010</a:t>
            </a:r>
            <a:r>
              <a:rPr lang="en-US" altLang="zh-TW" dirty="0">
                <a:latin typeface="+mn-lt"/>
              </a:rPr>
              <a:t> </a:t>
            </a:r>
            <a:r>
              <a:rPr lang="zh-TW" altLang="en-US" dirty="0">
                <a:latin typeface="+mn-lt"/>
              </a:rPr>
              <a:t>轉換為十進制數字。</a:t>
            </a:r>
            <a:endParaRPr lang="en-US" altLang="zh-TW"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r>
              <a:rPr lang="zh-TW" altLang="en-US" dirty="0"/>
              <a:t>因此，</a:t>
            </a:r>
            <a:r>
              <a:rPr lang="en-US" dirty="0">
                <a:latin typeface="Courier New" panose="02070309020205020404" pitchFamily="49" charset="0"/>
                <a:cs typeface="Courier New" panose="02070309020205020404" pitchFamily="49" charset="0"/>
              </a:rPr>
              <a:t>1010</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-8 + 0 + 2 + 0 = -6</a:t>
            </a:r>
            <a:r>
              <a:rPr lang="en-US" baseline="-25000" dirty="0">
                <a:solidFill>
                  <a:srgbClr val="FF0000"/>
                </a:solidFill>
                <a:latin typeface="Courier New" panose="02070309020205020404" pitchFamily="49" charset="0"/>
                <a:cs typeface="Courier New" panose="02070309020205020404" pitchFamily="49" charset="0"/>
              </a:rPr>
              <a:t>10</a:t>
            </a:r>
          </a:p>
          <a:p>
            <a:endParaRPr lang="en-US" dirty="0"/>
          </a:p>
          <a:p>
            <a:pPr marL="457200" indent="-457200">
              <a:buFont typeface="+mj-lt"/>
              <a:buAutoNum type="arabicPeriod"/>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43</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540266031"/>
              </p:ext>
            </p:extLst>
          </p:nvPr>
        </p:nvGraphicFramePr>
        <p:xfrm>
          <a:off x="918094" y="2132828"/>
          <a:ext cx="8425411" cy="1258764"/>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-8 </a:t>
                      </a:r>
                      <a:r>
                        <a:rPr lang="en-US" dirty="0">
                          <a:solidFill>
                            <a:srgbClr val="FF0000"/>
                          </a:solidFill>
                          <a:latin typeface="Courier New" panose="02070309020205020404" pitchFamily="49" charset="0"/>
                          <a:cs typeface="Courier New" panose="02070309020205020404" pitchFamily="49" charset="0"/>
                        </a:rPr>
                        <a:t>× 1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4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2 × 1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1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32780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試將 </a:t>
            </a:r>
            <a:r>
              <a:rPr lang="en-US" altLang="zh-TW" dirty="0">
                <a:latin typeface="+mn-lt"/>
              </a:rPr>
              <a:t>5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10101</a:t>
            </a:r>
            <a:r>
              <a:rPr lang="en-US" altLang="zh-TW" dirty="0">
                <a:latin typeface="+mn-lt"/>
              </a:rPr>
              <a:t> </a:t>
            </a:r>
            <a:r>
              <a:rPr lang="zh-TW" altLang="en-US" dirty="0">
                <a:latin typeface="+mn-lt"/>
              </a:rPr>
              <a:t>轉換為十進制數字。</a:t>
            </a:r>
            <a:endParaRPr lang="en-US" altLang="zh-TW" dirty="0">
              <a:latin typeface="+mn-lt"/>
            </a:endParaRPr>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r>
              <a:rPr lang="zh-TW" altLang="en-US" dirty="0"/>
              <a:t>因此，</a:t>
            </a:r>
            <a:r>
              <a:rPr lang="en-US" dirty="0">
                <a:latin typeface="Courier New" panose="02070309020205020404" pitchFamily="49" charset="0"/>
                <a:cs typeface="Courier New" panose="02070309020205020404" pitchFamily="49" charset="0"/>
              </a:rPr>
              <a:t>10101 =</a:t>
            </a:r>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44</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745670477"/>
              </p:ext>
            </p:extLst>
          </p:nvPr>
        </p:nvGraphicFramePr>
        <p:xfrm>
          <a:off x="918094" y="2132828"/>
          <a:ext cx="9871826" cy="1258764"/>
        </p:xfrm>
        <a:graphic>
          <a:graphicData uri="http://schemas.openxmlformats.org/drawingml/2006/table">
            <a:tbl>
              <a:tblPr firstRow="1" bandRow="1">
                <a:tableStyleId>{5940675A-B579-460E-94D1-54222C63F5DA}</a:tableStyleId>
              </a:tblPr>
              <a:tblGrid>
                <a:gridCol w="1297370">
                  <a:extLst>
                    <a:ext uri="{9D8B030D-6E8A-4147-A177-3AD203B41FA5}">
                      <a16:colId xmlns:a16="http://schemas.microsoft.com/office/drawing/2014/main" val="20000"/>
                    </a:ext>
                  </a:extLst>
                </a:gridCol>
                <a:gridCol w="1965838">
                  <a:extLst>
                    <a:ext uri="{9D8B030D-6E8A-4147-A177-3AD203B41FA5}">
                      <a16:colId xmlns:a16="http://schemas.microsoft.com/office/drawing/2014/main" val="20001"/>
                    </a:ext>
                  </a:extLst>
                </a:gridCol>
                <a:gridCol w="1654233">
                  <a:extLst>
                    <a:ext uri="{9D8B030D-6E8A-4147-A177-3AD203B41FA5}">
                      <a16:colId xmlns:a16="http://schemas.microsoft.com/office/drawing/2014/main" val="20002"/>
                    </a:ext>
                  </a:extLst>
                </a:gridCol>
                <a:gridCol w="1715559">
                  <a:extLst>
                    <a:ext uri="{9D8B030D-6E8A-4147-A177-3AD203B41FA5}">
                      <a16:colId xmlns:a16="http://schemas.microsoft.com/office/drawing/2014/main" val="20003"/>
                    </a:ext>
                  </a:extLst>
                </a:gridCol>
                <a:gridCol w="1619413">
                  <a:extLst>
                    <a:ext uri="{9D8B030D-6E8A-4147-A177-3AD203B41FA5}">
                      <a16:colId xmlns:a16="http://schemas.microsoft.com/office/drawing/2014/main" val="20004"/>
                    </a:ext>
                  </a:extLst>
                </a:gridCol>
                <a:gridCol w="1619413">
                  <a:extLst>
                    <a:ext uri="{9D8B030D-6E8A-4147-A177-3AD203B41FA5}">
                      <a16:colId xmlns:a16="http://schemas.microsoft.com/office/drawing/2014/main" val="20005"/>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395190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試將 </a:t>
            </a:r>
            <a:r>
              <a:rPr lang="en-US" altLang="zh-TW" dirty="0">
                <a:latin typeface="+mn-lt"/>
              </a:rPr>
              <a:t>5 </a:t>
            </a:r>
            <a:r>
              <a:rPr lang="zh-TW" altLang="en-US" dirty="0">
                <a:latin typeface="+mn-lt"/>
              </a:rPr>
              <a:t>位元二進制補碼數字 </a:t>
            </a:r>
            <a:r>
              <a:rPr lang="en-US" altLang="zh-TW" dirty="0">
                <a:latin typeface="Courier New" panose="02070309020205020404" pitchFamily="49" charset="0"/>
                <a:cs typeface="Courier New" panose="02070309020205020404" pitchFamily="49" charset="0"/>
              </a:rPr>
              <a:t>10101</a:t>
            </a:r>
            <a:r>
              <a:rPr lang="en-US" altLang="zh-TW" dirty="0">
                <a:latin typeface="+mn-lt"/>
              </a:rPr>
              <a:t> </a:t>
            </a:r>
            <a:r>
              <a:rPr lang="zh-TW" altLang="en-US" dirty="0">
                <a:latin typeface="+mn-lt"/>
              </a:rPr>
              <a:t>轉換為十進制數字。</a:t>
            </a:r>
            <a:endParaRPr lang="en-US" altLang="zh-TW" dirty="0">
              <a:latin typeface="+mn-lt"/>
            </a:endParaRPr>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endParaRPr lang="en-US" dirty="0"/>
          </a:p>
          <a:p>
            <a:r>
              <a:rPr lang="zh-TW" altLang="en-US" dirty="0"/>
              <a:t>因此，</a:t>
            </a:r>
            <a:r>
              <a:rPr lang="en-US" dirty="0">
                <a:latin typeface="Courier New" panose="02070309020205020404" pitchFamily="49" charset="0"/>
                <a:cs typeface="Courier New" panose="02070309020205020404" pitchFamily="49" charset="0"/>
              </a:rPr>
              <a:t>10101 =</a:t>
            </a:r>
            <a:r>
              <a:rPr lang="en-US" dirty="0">
                <a:solidFill>
                  <a:srgbClr val="FF0000"/>
                </a:solidFill>
                <a:latin typeface="Courier New" panose="02070309020205020404" pitchFamily="49" charset="0"/>
                <a:cs typeface="Courier New" panose="02070309020205020404" pitchFamily="49" charset="0"/>
              </a:rPr>
              <a:t> −16 + 0 + 4 + 0 + 1 = −11</a:t>
            </a:r>
            <a:r>
              <a:rPr lang="en-US" baseline="-25000" dirty="0">
                <a:solidFill>
                  <a:srgbClr val="FF0000"/>
                </a:solidFill>
                <a:latin typeface="Courier New" panose="02070309020205020404" pitchFamily="49" charset="0"/>
                <a:cs typeface="Courier New" panose="02070309020205020404" pitchFamily="49" charset="0"/>
              </a:rPr>
              <a:t>10</a:t>
            </a:r>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45</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083982983"/>
              </p:ext>
            </p:extLst>
          </p:nvPr>
        </p:nvGraphicFramePr>
        <p:xfrm>
          <a:off x="918094" y="2132828"/>
          <a:ext cx="9871826" cy="1258764"/>
        </p:xfrm>
        <a:graphic>
          <a:graphicData uri="http://schemas.openxmlformats.org/drawingml/2006/table">
            <a:tbl>
              <a:tblPr firstRow="1" bandRow="1">
                <a:tableStyleId>{5940675A-B579-460E-94D1-54222C63F5DA}</a:tableStyleId>
              </a:tblPr>
              <a:tblGrid>
                <a:gridCol w="1297370">
                  <a:extLst>
                    <a:ext uri="{9D8B030D-6E8A-4147-A177-3AD203B41FA5}">
                      <a16:colId xmlns:a16="http://schemas.microsoft.com/office/drawing/2014/main" val="20000"/>
                    </a:ext>
                  </a:extLst>
                </a:gridCol>
                <a:gridCol w="1965838">
                  <a:extLst>
                    <a:ext uri="{9D8B030D-6E8A-4147-A177-3AD203B41FA5}">
                      <a16:colId xmlns:a16="http://schemas.microsoft.com/office/drawing/2014/main" val="20001"/>
                    </a:ext>
                  </a:extLst>
                </a:gridCol>
                <a:gridCol w="1654233">
                  <a:extLst>
                    <a:ext uri="{9D8B030D-6E8A-4147-A177-3AD203B41FA5}">
                      <a16:colId xmlns:a16="http://schemas.microsoft.com/office/drawing/2014/main" val="20002"/>
                    </a:ext>
                  </a:extLst>
                </a:gridCol>
                <a:gridCol w="1715559">
                  <a:extLst>
                    <a:ext uri="{9D8B030D-6E8A-4147-A177-3AD203B41FA5}">
                      <a16:colId xmlns:a16="http://schemas.microsoft.com/office/drawing/2014/main" val="20003"/>
                    </a:ext>
                  </a:extLst>
                </a:gridCol>
                <a:gridCol w="1619413">
                  <a:extLst>
                    <a:ext uri="{9D8B030D-6E8A-4147-A177-3AD203B41FA5}">
                      <a16:colId xmlns:a16="http://schemas.microsoft.com/office/drawing/2014/main" val="20004"/>
                    </a:ext>
                  </a:extLst>
                </a:gridCol>
                <a:gridCol w="1619413">
                  <a:extLst>
                    <a:ext uri="{9D8B030D-6E8A-4147-A177-3AD203B41FA5}">
                      <a16:colId xmlns:a16="http://schemas.microsoft.com/office/drawing/2014/main" val="20005"/>
                    </a:ext>
                  </a:extLst>
                </a:gridCol>
              </a:tblGrid>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位值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數位的值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-16 </a:t>
                      </a:r>
                      <a:r>
                        <a:rPr lang="en-US" dirty="0">
                          <a:solidFill>
                            <a:srgbClr val="FF0000"/>
                          </a:solidFill>
                          <a:latin typeface="Courier New" panose="02070309020205020404" pitchFamily="49" charset="0"/>
                          <a:cs typeface="Courier New" panose="02070309020205020404" pitchFamily="49" charset="0"/>
                        </a:rPr>
                        <a:t>× 1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8 </a:t>
                      </a:r>
                      <a:r>
                        <a:rPr lang="en-US" dirty="0">
                          <a:solidFill>
                            <a:srgbClr val="FF0000"/>
                          </a:solidFill>
                          <a:latin typeface="Courier New" panose="02070309020205020404" pitchFamily="49" charset="0"/>
                          <a:cs typeface="Courier New" panose="02070309020205020404" pitchFamily="49" charset="0"/>
                        </a:rPr>
                        <a:t>×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764274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6D22F896-40B5-4ADD-8801-0D06FADFA095}" type="slidenum">
              <a:rPr lang="en-US" smtClean="0"/>
              <a:t>46</a:t>
            </a:fld>
            <a:endParaRPr lang="en-US" dirty="0"/>
          </a:p>
        </p:txBody>
      </p:sp>
      <p:sp>
        <p:nvSpPr>
          <p:cNvPr id="14" name="Content Placeholder 2"/>
          <p:cNvSpPr>
            <a:spLocks noGrp="1"/>
          </p:cNvSpPr>
          <p:nvPr>
            <p:ph sz="quarter" idx="15"/>
          </p:nvPr>
        </p:nvSpPr>
        <p:spPr>
          <a:xfrm>
            <a:off x="1693716" y="1609199"/>
            <a:ext cx="9660083" cy="2159000"/>
          </a:xfrm>
        </p:spPr>
        <p:txBody>
          <a:bodyPr anchor="ctr"/>
          <a:lstStyle/>
          <a:p>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en-US" altLang="zh-TW" dirty="0"/>
              <a:t> </a:t>
            </a:r>
            <a:r>
              <a:rPr lang="zh-TW" altLang="en-US" dirty="0"/>
              <a:t>的二進制補碼是 </a:t>
            </a:r>
            <a:r>
              <a:rPr lang="en-US" altLang="zh-TW" dirty="0">
                <a:latin typeface="+mn-lt"/>
              </a:rPr>
              <a:t>011</a:t>
            </a:r>
            <a:r>
              <a:rPr lang="zh-TW" altLang="en-US" dirty="0"/>
              <a:t>，這也是 </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en-US" altLang="zh-TW" dirty="0"/>
              <a:t> </a:t>
            </a:r>
            <a:r>
              <a:rPr lang="zh-TW" altLang="en-US" dirty="0"/>
              <a:t>的二進制補碼數字。</a:t>
            </a:r>
            <a:endParaRPr lang="en-US" dirty="0"/>
          </a:p>
        </p:txBody>
      </p:sp>
      <p:sp>
        <p:nvSpPr>
          <p:cNvPr id="15" name="Content Placeholder 3"/>
          <p:cNvSpPr>
            <a:spLocks noGrp="1"/>
          </p:cNvSpPr>
          <p:nvPr>
            <p:ph sz="quarter" idx="14"/>
          </p:nvPr>
        </p:nvSpPr>
        <p:spPr>
          <a:xfrm>
            <a:off x="1693716" y="4024188"/>
            <a:ext cx="9658800" cy="2160000"/>
          </a:xfrm>
        </p:spPr>
        <p:txBody>
          <a:bodyPr/>
          <a:lstStyle/>
          <a:p>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en-US" altLang="zh-TW" dirty="0"/>
              <a:t> </a:t>
            </a:r>
            <a:r>
              <a:rPr lang="zh-TW" altLang="en-US" dirty="0"/>
              <a:t>的二進制補碼</a:t>
            </a:r>
            <a:r>
              <a:rPr lang="zh-TW" altLang="en-US" dirty="0">
                <a:latin typeface="+mn-lt"/>
              </a:rPr>
              <a:t>是 </a:t>
            </a:r>
            <a:r>
              <a:rPr lang="en-US" altLang="zh-TW" dirty="0">
                <a:latin typeface="+mn-lt"/>
              </a:rPr>
              <a:t>101</a:t>
            </a:r>
            <a:r>
              <a:rPr lang="zh-TW" altLang="en-US" dirty="0"/>
              <a:t>，這也是 </a:t>
            </a:r>
            <a:r>
              <a:rPr lang="en-US" altLang="zh-TW" dirty="0"/>
              <a:t>-</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zh-TW" altLang="en-US" dirty="0"/>
              <a:t>的二進制補碼數字。簡而言之，整數 </a:t>
            </a:r>
            <a:r>
              <a:rPr lang="en-US" altLang="zh-TW" dirty="0">
                <a:latin typeface="+mn-lt"/>
              </a:rPr>
              <a:t>X</a:t>
            </a:r>
          </a:p>
          <a:p>
            <a:r>
              <a:rPr lang="zh-TW" altLang="en-US" dirty="0">
                <a:latin typeface="+mn-lt"/>
              </a:rPr>
              <a:t>的二進制補碼是 −</a:t>
            </a:r>
            <a:r>
              <a:rPr lang="en-US" altLang="zh-TW" dirty="0">
                <a:latin typeface="+mn-lt"/>
              </a:rPr>
              <a:t>X </a:t>
            </a:r>
            <a:r>
              <a:rPr lang="zh-TW" altLang="en-US" dirty="0">
                <a:latin typeface="+mn-lt"/>
              </a:rPr>
              <a:t>的</a:t>
            </a:r>
            <a:r>
              <a:rPr lang="zh-TW" altLang="en-US" dirty="0"/>
              <a:t>二進制補碼數字。注意「數字」二字。</a:t>
            </a:r>
            <a:endParaRPr lang="en-US" dirty="0"/>
          </a:p>
        </p:txBody>
      </p:sp>
      <p:pic>
        <p:nvPicPr>
          <p:cNvPr id="16" name="Picture 4"/>
          <p:cNvPicPr>
            <a:picLocks noChangeAspect="1"/>
          </p:cNvPicPr>
          <p:nvPr/>
        </p:nvPicPr>
        <p:blipFill>
          <a:blip r:embed="rId2"/>
          <a:stretch>
            <a:fillRect/>
          </a:stretch>
        </p:blipFill>
        <p:spPr>
          <a:xfrm>
            <a:off x="963616" y="2237849"/>
            <a:ext cx="575721" cy="518859"/>
          </a:xfrm>
          <a:prstGeom prst="rect">
            <a:avLst/>
          </a:prstGeom>
        </p:spPr>
      </p:pic>
      <p:pic>
        <p:nvPicPr>
          <p:cNvPr id="17" name="Picture 5"/>
          <p:cNvPicPr>
            <a:picLocks noChangeAspect="1"/>
          </p:cNvPicPr>
          <p:nvPr/>
        </p:nvPicPr>
        <p:blipFill>
          <a:blip r:embed="rId3"/>
          <a:stretch>
            <a:fillRect/>
          </a:stretch>
        </p:blipFill>
        <p:spPr>
          <a:xfrm>
            <a:off x="997607" y="4018548"/>
            <a:ext cx="523622" cy="509658"/>
          </a:xfrm>
          <a:prstGeom prst="rect">
            <a:avLst/>
          </a:prstGeom>
        </p:spPr>
      </p:pic>
    </p:spTree>
    <p:extLst>
      <p:ext uri="{BB962C8B-B14F-4D97-AF65-F5344CB8AC3E}">
        <p14:creationId xmlns:p14="http://schemas.microsoft.com/office/powerpoint/2010/main" val="2798673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表示有符號整數</a:t>
            </a:r>
            <a:endParaRPr lang="en-GB" dirty="0"/>
          </a:p>
        </p:txBody>
      </p:sp>
      <p:sp>
        <p:nvSpPr>
          <p:cNvPr id="2" name="投影片編號版面配置區 1"/>
          <p:cNvSpPr>
            <a:spLocks noGrp="1"/>
          </p:cNvSpPr>
          <p:nvPr>
            <p:ph type="sldNum" sz="quarter" idx="12"/>
          </p:nvPr>
        </p:nvSpPr>
        <p:spPr/>
        <p:txBody>
          <a:bodyPr/>
          <a:lstStyle/>
          <a:p>
            <a:fld id="{6D22F896-40B5-4ADD-8801-0D06FADFA095}" type="slidenum">
              <a:rPr lang="en-US" smtClean="0"/>
              <a:pPr/>
              <a:t>47</a:t>
            </a:fld>
            <a:endParaRPr lang="en-US" dirty="0"/>
          </a:p>
        </p:txBody>
      </p:sp>
      <p:sp>
        <p:nvSpPr>
          <p:cNvPr id="6" name="文字版面配置區 5"/>
          <p:cNvSpPr>
            <a:spLocks noGrp="1"/>
          </p:cNvSpPr>
          <p:nvPr>
            <p:ph type="body" sz="quarter" idx="14"/>
          </p:nvPr>
        </p:nvSpPr>
        <p:spPr/>
        <p:txBody>
          <a:bodyPr/>
          <a:lstStyle/>
          <a:p>
            <a:r>
              <a:rPr lang="en-US" dirty="0"/>
              <a:t>E</a:t>
            </a:r>
            <a:endParaRPr lang="en-GB" dirty="0"/>
          </a:p>
        </p:txBody>
      </p:sp>
      <p:sp>
        <p:nvSpPr>
          <p:cNvPr id="7" name="內容版面配置區 6"/>
          <p:cNvSpPr>
            <a:spLocks noGrp="1"/>
          </p:cNvSpPr>
          <p:nvPr>
            <p:ph sz="quarter" idx="15"/>
          </p:nvPr>
        </p:nvSpPr>
        <p:spPr/>
        <p:txBody>
          <a:bodyPr/>
          <a:lstStyle/>
          <a:p>
            <a:endParaRPr lang="en-US" dirty="0"/>
          </a:p>
          <a:p>
            <a:endParaRPr lang="en-US" dirty="0"/>
          </a:p>
          <a:p>
            <a:endParaRPr lang="en-US" dirty="0"/>
          </a:p>
          <a:p>
            <a:endParaRPr lang="en-US" dirty="0"/>
          </a:p>
          <a:p>
            <a:endParaRPr lang="en-US" dirty="0"/>
          </a:p>
          <a:p>
            <a:r>
              <a:rPr lang="zh-TW" altLang="en-US" dirty="0"/>
              <a:t>從上表可見，</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1</a:t>
            </a:r>
            <a:r>
              <a:rPr lang="en-US" baseline="-25000" dirty="0">
                <a:latin typeface="Courier New" panose="02070309020205020404" pitchFamily="49" charset="0"/>
                <a:cs typeface="Courier New" panose="02070309020205020404" pitchFamily="49" charset="0"/>
              </a:rPr>
              <a:t>10 </a:t>
            </a:r>
            <a:r>
              <a:rPr lang="zh-TW" altLang="en-US" dirty="0"/>
              <a:t>的二進制補碼是 </a:t>
            </a:r>
            <a:r>
              <a:rPr lang="en-HK" dirty="0">
                <a:solidFill>
                  <a:srgbClr val="C26924"/>
                </a:solidFill>
                <a:latin typeface="Courier New" panose="02070309020205020404" pitchFamily="49" charset="0"/>
                <a:cs typeface="Courier New" panose="02070309020205020404" pitchFamily="49" charset="0"/>
              </a:rPr>
              <a:t>111</a:t>
            </a:r>
            <a:r>
              <a:rPr lang="zh-TW" altLang="en-US" dirty="0"/>
              <a:t>，即 </a:t>
            </a:r>
            <a:r>
              <a:rPr lang="en-US" dirty="0">
                <a:latin typeface="Courier New" panose="02070309020205020404" pitchFamily="49" charset="0"/>
                <a:cs typeface="Courier New" panose="02070309020205020404" pitchFamily="49" charset="0"/>
              </a:rPr>
              <a:t>−1</a:t>
            </a:r>
            <a:r>
              <a:rPr lang="en-US" baseline="-25000" dirty="0">
                <a:latin typeface="Courier New" panose="02070309020205020404" pitchFamily="49" charset="0"/>
                <a:cs typeface="Courier New" panose="02070309020205020404" pitchFamily="49" charset="0"/>
              </a:rPr>
              <a:t>10</a:t>
            </a:r>
            <a:r>
              <a:rPr lang="en-US" baseline="-25000" dirty="0">
                <a:latin typeface="+mn-lt"/>
                <a:cs typeface="Courier New" panose="02070309020205020404" pitchFamily="49" charset="0"/>
              </a:rPr>
              <a:t> </a:t>
            </a:r>
            <a:r>
              <a:rPr lang="zh-TW" altLang="en-US" dirty="0"/>
              <a:t>的二進制補碼數字。有兩種方法可以找到二進制整數的二進制補碼。</a:t>
            </a:r>
            <a:endParaRPr lang="en-GB" dirty="0"/>
          </a:p>
        </p:txBody>
      </p:sp>
      <p:graphicFrame>
        <p:nvGraphicFramePr>
          <p:cNvPr id="8" name="Table 5"/>
          <p:cNvGraphicFramePr>
            <a:graphicFrameLocks noGrp="1"/>
          </p:cNvGraphicFramePr>
          <p:nvPr>
            <p:extLst>
              <p:ext uri="{D42A27DB-BD31-4B8C-83A1-F6EECF244321}">
                <p14:modId xmlns:p14="http://schemas.microsoft.com/office/powerpoint/2010/main" val="2523977719"/>
              </p:ext>
            </p:extLst>
          </p:nvPr>
        </p:nvGraphicFramePr>
        <p:xfrm>
          <a:off x="634184" y="2068324"/>
          <a:ext cx="10924832" cy="1442508"/>
        </p:xfrm>
        <a:graphic>
          <a:graphicData uri="http://schemas.openxmlformats.org/drawingml/2006/table">
            <a:tbl>
              <a:tblPr firstRow="1" bandRow="1">
                <a:tableStyleId>{5940675A-B579-460E-94D1-54222C63F5DA}</a:tableStyleId>
              </a:tblPr>
              <a:tblGrid>
                <a:gridCol w="2283452">
                  <a:extLst>
                    <a:ext uri="{9D8B030D-6E8A-4147-A177-3AD203B41FA5}">
                      <a16:colId xmlns:a16="http://schemas.microsoft.com/office/drawing/2014/main" val="20000"/>
                    </a:ext>
                  </a:extLst>
                </a:gridCol>
                <a:gridCol w="1178861">
                  <a:extLst>
                    <a:ext uri="{9D8B030D-6E8A-4147-A177-3AD203B41FA5}">
                      <a16:colId xmlns:a16="http://schemas.microsoft.com/office/drawing/2014/main" val="20001"/>
                    </a:ext>
                  </a:extLst>
                </a:gridCol>
                <a:gridCol w="932815">
                  <a:extLst>
                    <a:ext uri="{9D8B030D-6E8A-4147-A177-3AD203B41FA5}">
                      <a16:colId xmlns:a16="http://schemas.microsoft.com/office/drawing/2014/main" val="20002"/>
                    </a:ext>
                  </a:extLst>
                </a:gridCol>
                <a:gridCol w="932815">
                  <a:extLst>
                    <a:ext uri="{9D8B030D-6E8A-4147-A177-3AD203B41FA5}">
                      <a16:colId xmlns:a16="http://schemas.microsoft.com/office/drawing/2014/main" val="20003"/>
                    </a:ext>
                  </a:extLst>
                </a:gridCol>
                <a:gridCol w="932815">
                  <a:extLst>
                    <a:ext uri="{9D8B030D-6E8A-4147-A177-3AD203B41FA5}">
                      <a16:colId xmlns:a16="http://schemas.microsoft.com/office/drawing/2014/main" val="20004"/>
                    </a:ext>
                  </a:extLst>
                </a:gridCol>
                <a:gridCol w="932815">
                  <a:extLst>
                    <a:ext uri="{9D8B030D-6E8A-4147-A177-3AD203B41FA5}">
                      <a16:colId xmlns:a16="http://schemas.microsoft.com/office/drawing/2014/main" val="20005"/>
                    </a:ext>
                  </a:extLst>
                </a:gridCol>
                <a:gridCol w="932815">
                  <a:extLst>
                    <a:ext uri="{9D8B030D-6E8A-4147-A177-3AD203B41FA5}">
                      <a16:colId xmlns:a16="http://schemas.microsoft.com/office/drawing/2014/main" val="20006"/>
                    </a:ext>
                  </a:extLst>
                </a:gridCol>
                <a:gridCol w="932815">
                  <a:extLst>
                    <a:ext uri="{9D8B030D-6E8A-4147-A177-3AD203B41FA5}">
                      <a16:colId xmlns:a16="http://schemas.microsoft.com/office/drawing/2014/main" val="20007"/>
                    </a:ext>
                  </a:extLst>
                </a:gridCol>
                <a:gridCol w="687620">
                  <a:extLst>
                    <a:ext uri="{9D8B030D-6E8A-4147-A177-3AD203B41FA5}">
                      <a16:colId xmlns:a16="http://schemas.microsoft.com/office/drawing/2014/main" val="20008"/>
                    </a:ext>
                  </a:extLst>
                </a:gridCol>
                <a:gridCol w="1178009">
                  <a:extLst>
                    <a:ext uri="{9D8B030D-6E8A-4147-A177-3AD203B41FA5}">
                      <a16:colId xmlns:a16="http://schemas.microsoft.com/office/drawing/2014/main" val="20009"/>
                    </a:ext>
                  </a:extLst>
                </a:gridCol>
              </a:tblGrid>
              <a:tr h="4808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十進制數字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4808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二進制補碼數字</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solidFill>
                            <a:srgbClr val="565758"/>
                          </a:solidFill>
                          <a:latin typeface="Courier New" panose="02070309020205020404" pitchFamily="49" charset="0"/>
                          <a:ea typeface="Noto Sans CJK TC Light" panose="020B0300000000000000" pitchFamily="34" charset="-128"/>
                          <a:cs typeface="Courier New" panose="02070309020205020404" pitchFamily="49" charset="0"/>
                        </a:rPr>
                        <a:t>100</a:t>
                      </a:r>
                      <a:endParaRPr lang="en-US" dirty="0">
                        <a:solidFill>
                          <a:srgbClr val="565758"/>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6993D"/>
                          </a:solidFill>
                          <a:latin typeface="Courier New" panose="02070309020205020404" pitchFamily="49" charset="0"/>
                          <a:ea typeface="Noto Sans CJK TC Light" panose="020B0300000000000000" pitchFamily="34" charset="-128"/>
                          <a:cs typeface="Courier New" panose="02070309020205020404" pitchFamily="49" charset="0"/>
                        </a:rPr>
                        <a:t>110</a:t>
                      </a:r>
                      <a:endParaRPr lang="en-US" dirty="0">
                        <a:solidFill>
                          <a:srgbClr val="C6993D"/>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4B4DA0"/>
                          </a:solidFill>
                          <a:latin typeface="Courier New" panose="02070309020205020404" pitchFamily="49" charset="0"/>
                          <a:ea typeface="Noto Sans CJK TC Light" panose="020B0300000000000000" pitchFamily="34" charset="-128"/>
                          <a:cs typeface="Courier New" panose="02070309020205020404" pitchFamily="49" charset="0"/>
                        </a:rPr>
                        <a:t>110</a:t>
                      </a:r>
                      <a:endParaRPr lang="en-US" dirty="0">
                        <a:solidFill>
                          <a:srgbClr val="4B4DA0"/>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26924"/>
                          </a:solidFill>
                          <a:latin typeface="Courier New" panose="02070309020205020404" pitchFamily="49" charset="0"/>
                          <a:ea typeface="Noto Sans CJK TC Light" panose="020B0300000000000000" pitchFamily="34" charset="-128"/>
                          <a:cs typeface="Courier New" panose="02070309020205020404" pitchFamily="49" charset="0"/>
                        </a:rPr>
                        <a:t>111</a:t>
                      </a:r>
                      <a:endParaRPr lang="en-US" dirty="0">
                        <a:solidFill>
                          <a:srgbClr val="C2692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ea typeface="Noto Sans CJK TC Light" panose="020B0300000000000000" pitchFamily="34" charset="-128"/>
                          <a:cs typeface="Courier New" panose="02070309020205020404" pitchFamily="49" charset="0"/>
                        </a:rPr>
                        <a:t>000</a:t>
                      </a:r>
                      <a:endParaRPr lang="en-US" dirty="0">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37A3D4"/>
                          </a:solidFill>
                          <a:latin typeface="Courier New" panose="02070309020205020404" pitchFamily="49" charset="0"/>
                          <a:ea typeface="Noto Sans CJK TC Light" panose="020B0300000000000000" pitchFamily="34" charset="-128"/>
                          <a:cs typeface="Courier New" panose="02070309020205020404" pitchFamily="49" charset="0"/>
                        </a:rPr>
                        <a:t>001</a:t>
                      </a:r>
                      <a:endParaRPr lang="en-US" dirty="0">
                        <a:solidFill>
                          <a:srgbClr val="37A3D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AF1F50"/>
                          </a:solidFill>
                          <a:latin typeface="Courier New" panose="02070309020205020404" pitchFamily="49" charset="0"/>
                          <a:ea typeface="Noto Sans CJK TC Light" panose="020B0300000000000000" pitchFamily="34" charset="-128"/>
                          <a:cs typeface="Courier New" panose="02070309020205020404" pitchFamily="49" charset="0"/>
                        </a:rPr>
                        <a:t>010</a:t>
                      </a:r>
                      <a:endParaRPr lang="en-US" dirty="0">
                        <a:solidFill>
                          <a:srgbClr val="AF1F50"/>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7A044"/>
                          </a:solidFill>
                          <a:latin typeface="Courier New" panose="02070309020205020404" pitchFamily="49" charset="0"/>
                          <a:ea typeface="Noto Sans CJK TC Light" panose="020B0300000000000000" pitchFamily="34" charset="-128"/>
                          <a:cs typeface="Courier New" panose="02070309020205020404" pitchFamily="49" charset="0"/>
                        </a:rPr>
                        <a:t>011</a:t>
                      </a:r>
                      <a:endParaRPr lang="en-US" dirty="0">
                        <a:solidFill>
                          <a:srgbClr val="57A04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dirty="0">
                          <a:latin typeface="Courier New" panose="02070309020205020404" pitchFamily="49" charset="0"/>
                          <a:ea typeface="Noto Sans CJK TC Light" panose="020B0300000000000000" pitchFamily="34" charset="-128"/>
                          <a:cs typeface="Courier New" panose="02070309020205020404" pitchFamily="49" charset="0"/>
                        </a:rPr>
                        <a:t>超出範圍</a:t>
                      </a:r>
                      <a:endParaRPr lang="en-US" dirty="0">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48083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二進制補碼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dirty="0">
                          <a:latin typeface="Courier New" panose="02070309020205020404" pitchFamily="49" charset="0"/>
                          <a:ea typeface="Noto Sans CJK TC Light" panose="020B0300000000000000" pitchFamily="34" charset="-128"/>
                          <a:cs typeface="Courier New" panose="02070309020205020404" pitchFamily="49" charset="0"/>
                        </a:rPr>
                        <a:t>超出範圍</a:t>
                      </a:r>
                      <a:endParaRPr lang="en-US" dirty="0">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7A044"/>
                          </a:solidFill>
                          <a:latin typeface="Courier New" panose="02070309020205020404" pitchFamily="49" charset="0"/>
                          <a:ea typeface="Noto Sans CJK TC Light" panose="020B0300000000000000" pitchFamily="34" charset="-128"/>
                          <a:cs typeface="Courier New" panose="02070309020205020404" pitchFamily="49" charset="0"/>
                        </a:rPr>
                        <a:t>011</a:t>
                      </a:r>
                      <a:endParaRPr lang="en-US" dirty="0">
                        <a:solidFill>
                          <a:srgbClr val="57A04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AF1F50"/>
                          </a:solidFill>
                          <a:latin typeface="Courier New" panose="02070309020205020404" pitchFamily="49" charset="0"/>
                          <a:ea typeface="Noto Sans CJK TC Light" panose="020B0300000000000000" pitchFamily="34" charset="-128"/>
                          <a:cs typeface="Courier New" panose="02070309020205020404" pitchFamily="49" charset="0"/>
                        </a:rPr>
                        <a:t>010</a:t>
                      </a:r>
                      <a:endParaRPr lang="en-US" dirty="0">
                        <a:solidFill>
                          <a:srgbClr val="AF1F50"/>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37A3D4"/>
                          </a:solidFill>
                          <a:latin typeface="Courier New" panose="02070309020205020404" pitchFamily="49" charset="0"/>
                          <a:ea typeface="Noto Sans CJK TC Light" panose="020B0300000000000000" pitchFamily="34" charset="-128"/>
                          <a:cs typeface="Courier New" panose="02070309020205020404" pitchFamily="49" charset="0"/>
                        </a:rPr>
                        <a:t>001</a:t>
                      </a:r>
                      <a:endParaRPr lang="en-US" dirty="0">
                        <a:solidFill>
                          <a:srgbClr val="37A3D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ea typeface="Noto Sans CJK TC Light" panose="020B0300000000000000" pitchFamily="34" charset="-128"/>
                          <a:cs typeface="Courier New" panose="02070309020205020404" pitchFamily="49" charset="0"/>
                        </a:rPr>
                        <a:t>000</a:t>
                      </a:r>
                      <a:endParaRPr lang="en-US" dirty="0">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26924"/>
                          </a:solidFill>
                          <a:latin typeface="Courier New" panose="02070309020205020404" pitchFamily="49" charset="0"/>
                          <a:ea typeface="Noto Sans CJK TC Light" panose="020B0300000000000000" pitchFamily="34" charset="-128"/>
                          <a:cs typeface="Courier New" panose="02070309020205020404" pitchFamily="49" charset="0"/>
                        </a:rPr>
                        <a:t>111</a:t>
                      </a:r>
                      <a:endParaRPr lang="en-US" dirty="0">
                        <a:solidFill>
                          <a:srgbClr val="C26924"/>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4B4DA0"/>
                          </a:solidFill>
                          <a:latin typeface="Courier New" panose="02070309020205020404" pitchFamily="49" charset="0"/>
                          <a:ea typeface="Noto Sans CJK TC Light" panose="020B0300000000000000" pitchFamily="34" charset="-128"/>
                          <a:cs typeface="Courier New" panose="02070309020205020404" pitchFamily="49" charset="0"/>
                        </a:rPr>
                        <a:t>110</a:t>
                      </a:r>
                      <a:endParaRPr lang="en-US" dirty="0">
                        <a:solidFill>
                          <a:srgbClr val="4B4DA0"/>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6993D"/>
                          </a:solidFill>
                          <a:latin typeface="Courier New" panose="02070309020205020404" pitchFamily="49" charset="0"/>
                          <a:ea typeface="Noto Sans CJK TC Light" panose="020B0300000000000000" pitchFamily="34" charset="-128"/>
                          <a:cs typeface="Courier New" panose="02070309020205020404" pitchFamily="49" charset="0"/>
                        </a:rPr>
                        <a:t>101</a:t>
                      </a:r>
                      <a:endParaRPr lang="en-US" dirty="0">
                        <a:solidFill>
                          <a:srgbClr val="C6993D"/>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65758"/>
                          </a:solidFill>
                          <a:latin typeface="Courier New" panose="02070309020205020404" pitchFamily="49" charset="0"/>
                          <a:ea typeface="Noto Sans CJK TC Light" panose="020B0300000000000000" pitchFamily="34" charset="-128"/>
                          <a:cs typeface="Courier New" panose="02070309020205020404" pitchFamily="49" charset="0"/>
                        </a:rPr>
                        <a:t>100</a:t>
                      </a:r>
                      <a:endParaRPr lang="en-US" dirty="0">
                        <a:solidFill>
                          <a:srgbClr val="565758"/>
                        </a:solidFill>
                        <a:latin typeface="Courier New" panose="02070309020205020404" pitchFamily="49" charset="0"/>
                        <a:ea typeface="Noto Sans CJK TC Light" panose="020B0300000000000000" pitchFamily="34" charset="-128"/>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19358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表示有符號整數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48</a:t>
            </a:fld>
            <a:endParaRPr lang="en-US" dirty="0"/>
          </a:p>
        </p:txBody>
      </p:sp>
      <p:sp>
        <p:nvSpPr>
          <p:cNvPr id="4" name="文字版面配置區 3"/>
          <p:cNvSpPr>
            <a:spLocks noGrp="1"/>
          </p:cNvSpPr>
          <p:nvPr>
            <p:ph type="body" sz="quarter" idx="14"/>
          </p:nvPr>
        </p:nvSpPr>
        <p:spPr/>
        <p:txBody>
          <a:bodyPr/>
          <a:lstStyle/>
          <a:p>
            <a:r>
              <a:rPr lang="en-US" dirty="0"/>
              <a:t>E</a:t>
            </a:r>
            <a:endParaRPr lang="en-GB" dirty="0"/>
          </a:p>
        </p:txBody>
      </p:sp>
      <p:sp>
        <p:nvSpPr>
          <p:cNvPr id="5" name="內容版面配置區 4"/>
          <p:cNvSpPr>
            <a:spLocks noGrp="1"/>
          </p:cNvSpPr>
          <p:nvPr>
            <p:ph sz="quarter" idx="15"/>
          </p:nvPr>
        </p:nvSpPr>
        <p:spPr/>
        <p:txBody>
          <a:bodyPr>
            <a:normAutofit/>
          </a:bodyPr>
          <a:lstStyle/>
          <a:p>
            <a:r>
              <a:rPr lang="zh-TW" altLang="en-US" dirty="0"/>
              <a:t>要找到一個整數</a:t>
            </a:r>
            <a:r>
              <a:rPr lang="zh-TW" altLang="en-US" dirty="0">
                <a:latin typeface="+mn-lt"/>
              </a:rPr>
              <a:t>的 </a:t>
            </a:r>
            <a:r>
              <a:rPr lang="en-US" altLang="zh-TW" dirty="0">
                <a:latin typeface="+mn-lt"/>
              </a:rPr>
              <a:t>N</a:t>
            </a:r>
            <a:r>
              <a:rPr lang="en-US" altLang="zh-TW" dirty="0"/>
              <a:t> </a:t>
            </a:r>
            <a:r>
              <a:rPr lang="zh-TW" altLang="en-US" dirty="0"/>
              <a:t>位元二進制補碼，我們可以從 </a:t>
            </a:r>
            <a:r>
              <a:rPr lang="en-HK" dirty="0">
                <a:latin typeface="+mn-lt"/>
              </a:rPr>
              <a:t>2</a:t>
            </a:r>
            <a:r>
              <a:rPr lang="en-HK" baseline="30000" dirty="0">
                <a:latin typeface="+mn-lt"/>
              </a:rPr>
              <a:t>N</a:t>
            </a:r>
            <a:r>
              <a:rPr lang="en-HK" dirty="0">
                <a:latin typeface="+mn-lt"/>
              </a:rPr>
              <a:t> </a:t>
            </a:r>
            <a:r>
              <a:rPr lang="zh-TW" altLang="en-US" dirty="0"/>
              <a:t>中減去</a:t>
            </a:r>
            <a:r>
              <a:rPr lang="zh-TW" altLang="en-US" dirty="0">
                <a:latin typeface="+mn-lt"/>
              </a:rPr>
              <a:t>其 </a:t>
            </a:r>
            <a:r>
              <a:rPr lang="en-US" altLang="zh-TW" dirty="0">
                <a:latin typeface="+mn-lt"/>
              </a:rPr>
              <a:t>N </a:t>
            </a:r>
            <a:r>
              <a:rPr lang="zh-TW" altLang="en-US" dirty="0">
                <a:latin typeface="+mn-lt"/>
              </a:rPr>
              <a:t>位元</a:t>
            </a:r>
            <a:r>
              <a:rPr lang="zh-TW" altLang="en-US" dirty="0"/>
              <a:t>二進制數字。例如，要找到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latin typeface="+mn-lt"/>
              </a:rPr>
              <a:t>的 </a:t>
            </a:r>
            <a:r>
              <a:rPr lang="en-US" altLang="zh-TW" dirty="0">
                <a:latin typeface="+mn-lt"/>
              </a:rPr>
              <a:t>8 </a:t>
            </a:r>
            <a:r>
              <a:rPr lang="zh-TW" altLang="en-US" dirty="0">
                <a:latin typeface="+mn-lt"/>
              </a:rPr>
              <a:t>位元二進制補碼，我們可以：</a:t>
            </a:r>
            <a:endParaRPr lang="en-US" altLang="zh-TW" dirty="0">
              <a:latin typeface="+mn-lt"/>
            </a:endParaRPr>
          </a:p>
          <a:p>
            <a:pPr marL="457200" indent="-457200">
              <a:buFont typeface="+mj-lt"/>
              <a:buAutoNum type="arabicPeriod"/>
            </a:pPr>
            <a:r>
              <a:rPr lang="zh-TW" altLang="en-US" dirty="0"/>
              <a:t>將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t>轉換為二進制數，即 </a:t>
            </a:r>
            <a:r>
              <a:rPr lang="en-US" dirty="0">
                <a:latin typeface="Courier New" panose="02070309020205020404" pitchFamily="49" charset="0"/>
                <a:cs typeface="Courier New" panose="02070309020205020404" pitchFamily="49" charset="0"/>
              </a:rPr>
              <a:t>11011 </a:t>
            </a:r>
            <a:r>
              <a:rPr lang="zh-TW" altLang="en-US" dirty="0"/>
              <a:t>。</a:t>
            </a:r>
            <a:r>
              <a:rPr lang="zh-TW" altLang="en-US" dirty="0">
                <a:latin typeface="+mn-lt"/>
              </a:rPr>
              <a:t>新增</a:t>
            </a:r>
            <a:r>
              <a:rPr lang="zh-TW" altLang="en-US" dirty="0">
                <a:latin typeface="+mn-lt"/>
                <a:ea typeface="+mj-ea"/>
              </a:rPr>
              <a:t>前置 </a:t>
            </a:r>
            <a:r>
              <a:rPr lang="en-US" altLang="zh-TW" dirty="0">
                <a:latin typeface="+mn-lt"/>
                <a:ea typeface="+mj-ea"/>
              </a:rPr>
              <a:t>0 </a:t>
            </a:r>
            <a:r>
              <a:rPr lang="zh-TW" altLang="en-US" dirty="0">
                <a:latin typeface="+mn-lt"/>
                <a:ea typeface="+mj-ea"/>
              </a:rPr>
              <a:t>將其變為 </a:t>
            </a:r>
            <a:r>
              <a:rPr lang="en-US" altLang="zh-TW" dirty="0">
                <a:latin typeface="+mn-lt"/>
                <a:ea typeface="+mj-ea"/>
              </a:rPr>
              <a:t>8 </a:t>
            </a:r>
            <a:r>
              <a:rPr lang="zh-TW" altLang="en-US" dirty="0">
                <a:latin typeface="+mn-lt"/>
              </a:rPr>
              <a:t>位元的二進制數字</a:t>
            </a:r>
            <a:r>
              <a:rPr lang="zh-TW" altLang="en-US" dirty="0"/>
              <a:t>，即 </a:t>
            </a:r>
            <a:r>
              <a:rPr lang="en-US" dirty="0">
                <a:latin typeface="Courier New" panose="02070309020205020404" pitchFamily="49" charset="0"/>
                <a:cs typeface="Courier New" panose="02070309020205020404" pitchFamily="49" charset="0"/>
              </a:rPr>
              <a:t>0001 1011</a:t>
            </a:r>
            <a:r>
              <a:rPr lang="en-US" baseline="-25000" dirty="0">
                <a:latin typeface="Courier New" panose="02070309020205020404" pitchFamily="49" charset="0"/>
                <a:cs typeface="Courier New" panose="02070309020205020404" pitchFamily="49" charset="0"/>
              </a:rPr>
              <a:t>2</a:t>
            </a:r>
            <a:r>
              <a:rPr lang="en-US" dirty="0">
                <a:latin typeface="+mn-lt"/>
                <a:cs typeface="Courier New" panose="02070309020205020404" pitchFamily="49" charset="0"/>
              </a:rPr>
              <a:t> </a:t>
            </a:r>
            <a:r>
              <a:rPr lang="zh-TW" altLang="en-US" dirty="0">
                <a:latin typeface="Courier New" panose="02070309020205020404" pitchFamily="49" charset="0"/>
                <a:cs typeface="Courier New" panose="02070309020205020404" pitchFamily="49" charset="0"/>
              </a:rPr>
              <a:t>。</a:t>
            </a:r>
            <a:r>
              <a:rPr lang="en-US" dirty="0"/>
              <a:t/>
            </a:r>
            <a:br>
              <a:rPr lang="en-US" dirty="0"/>
            </a:br>
            <a:endParaRPr lang="en-US" dirty="0"/>
          </a:p>
          <a:p>
            <a:pPr marL="457200" indent="-457200">
              <a:buFont typeface="+mj-lt"/>
              <a:buAutoNum type="arabicPeriod"/>
            </a:pPr>
            <a:r>
              <a:rPr lang="zh-TW" altLang="en-US" dirty="0"/>
              <a:t>將它從 </a:t>
            </a: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8 </a:t>
            </a:r>
            <a:r>
              <a:rPr lang="zh-TW" altLang="en-US" dirty="0"/>
              <a:t>中減去，即 </a:t>
            </a:r>
            <a:r>
              <a:rPr lang="en-US" dirty="0">
                <a:latin typeface="Courier New" panose="02070309020205020404" pitchFamily="49" charset="0"/>
                <a:cs typeface="Courier New" panose="02070309020205020404" pitchFamily="49" charset="0"/>
              </a:rPr>
              <a:t>1</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0000</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0000</a:t>
            </a:r>
            <a:r>
              <a:rPr lang="zh-TW" altLang="en-US" dirty="0"/>
              <a:t>。</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t>的 </a:t>
            </a:r>
            <a:r>
              <a:rPr lang="en-US" altLang="zh-TW" dirty="0">
                <a:latin typeface="+mn-lt"/>
              </a:rPr>
              <a:t>8</a:t>
            </a:r>
            <a:r>
              <a:rPr lang="en-US" altLang="zh-TW" dirty="0"/>
              <a:t> </a:t>
            </a:r>
            <a:r>
              <a:rPr lang="zh-TW" altLang="en-US" dirty="0"/>
              <a:t>位元二進制補碼是 </a:t>
            </a:r>
            <a:r>
              <a:rPr lang="en-US" dirty="0">
                <a:latin typeface="Courier New" panose="02070309020205020404" pitchFamily="49" charset="0"/>
                <a:cs typeface="Courier New" panose="02070309020205020404" pitchFamily="49" charset="0"/>
              </a:rPr>
              <a:t>1110</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0101 </a:t>
            </a:r>
            <a:r>
              <a:rPr lang="zh-TW" altLang="en-US" dirty="0"/>
              <a:t>，它是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baseline="-25000" dirty="0">
                <a:latin typeface="+mn-lt"/>
                <a:cs typeface="Courier New" panose="02070309020205020404" pitchFamily="49" charset="0"/>
              </a:rPr>
              <a:t> </a:t>
            </a:r>
            <a:r>
              <a:rPr lang="zh-TW" altLang="en-US" dirty="0"/>
              <a:t>的 </a:t>
            </a:r>
            <a:r>
              <a:rPr lang="en-US" altLang="zh-TW" dirty="0">
                <a:latin typeface="+mn-lt"/>
              </a:rPr>
              <a:t>8 </a:t>
            </a:r>
            <a:r>
              <a:rPr lang="zh-TW" altLang="en-US" dirty="0"/>
              <a:t>位元二進制補碼數字。</a:t>
            </a:r>
            <a:endParaRPr lang="en-US" dirty="0"/>
          </a:p>
          <a:p>
            <a:endParaRPr lang="en-GB" dirty="0"/>
          </a:p>
        </p:txBody>
      </p:sp>
      <p:pic>
        <p:nvPicPr>
          <p:cNvPr id="6" name="Picture 5"/>
          <p:cNvPicPr>
            <a:picLocks noChangeAspect="1"/>
          </p:cNvPicPr>
          <p:nvPr/>
        </p:nvPicPr>
        <p:blipFill>
          <a:blip r:embed="rId2"/>
          <a:stretch>
            <a:fillRect/>
          </a:stretch>
        </p:blipFill>
        <p:spPr>
          <a:xfrm>
            <a:off x="5561589" y="3450069"/>
            <a:ext cx="5286522" cy="1653354"/>
          </a:xfrm>
          <a:prstGeom prst="rect">
            <a:avLst/>
          </a:prstGeom>
        </p:spPr>
      </p:pic>
    </p:spTree>
    <p:extLst>
      <p:ext uri="{BB962C8B-B14F-4D97-AF65-F5344CB8AC3E}">
        <p14:creationId xmlns:p14="http://schemas.microsoft.com/office/powerpoint/2010/main" val="311655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表示有符號整數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49</a:t>
            </a:fld>
            <a:endParaRPr lang="en-US" dirty="0"/>
          </a:p>
        </p:txBody>
      </p:sp>
      <p:sp>
        <p:nvSpPr>
          <p:cNvPr id="4" name="文字版面配置區 3"/>
          <p:cNvSpPr>
            <a:spLocks noGrp="1"/>
          </p:cNvSpPr>
          <p:nvPr>
            <p:ph type="body" sz="quarter" idx="14"/>
          </p:nvPr>
        </p:nvSpPr>
        <p:spPr/>
        <p:txBody>
          <a:bodyPr/>
          <a:lstStyle/>
          <a:p>
            <a:r>
              <a:rPr lang="en-US" dirty="0"/>
              <a:t>E</a:t>
            </a:r>
            <a:endParaRPr lang="en-GB" dirty="0"/>
          </a:p>
        </p:txBody>
      </p:sp>
      <p:sp>
        <p:nvSpPr>
          <p:cNvPr id="5" name="內容版面配置區 4"/>
          <p:cNvSpPr>
            <a:spLocks noGrp="1"/>
          </p:cNvSpPr>
          <p:nvPr>
            <p:ph sz="quarter" idx="15"/>
          </p:nvPr>
        </p:nvSpPr>
        <p:spPr/>
        <p:txBody>
          <a:bodyPr/>
          <a:lstStyle/>
          <a:p>
            <a:r>
              <a:rPr lang="zh-TW" altLang="en-US" dirty="0">
                <a:latin typeface="+mn-lt"/>
              </a:rPr>
              <a:t>二進制數字的二進制反碼亦可以通過在二進制反碼上加 </a:t>
            </a:r>
            <a:r>
              <a:rPr lang="en-US" altLang="zh-TW" dirty="0">
                <a:latin typeface="+mn-lt"/>
              </a:rPr>
              <a:t>1 </a:t>
            </a:r>
            <a:r>
              <a:rPr lang="zh-TW" altLang="en-US" dirty="0">
                <a:latin typeface="+mn-lt"/>
              </a:rPr>
              <a:t>來找到。</a:t>
            </a:r>
            <a:endParaRPr lang="en-US" altLang="zh-TW" dirty="0">
              <a:latin typeface="+mn-lt"/>
            </a:endParaRPr>
          </a:p>
          <a:p>
            <a:endParaRPr lang="en-US" dirty="0"/>
          </a:p>
          <a:p>
            <a:r>
              <a:rPr lang="zh-TW" altLang="en-US" dirty="0">
                <a:latin typeface="+mn-lt"/>
              </a:rPr>
              <a:t>二進制數字的</a:t>
            </a:r>
            <a:r>
              <a:rPr lang="zh-TW" altLang="en-US" dirty="0">
                <a:solidFill>
                  <a:srgbClr val="595A96"/>
                </a:solidFill>
                <a:latin typeface="Noto Sans CJK TC Bold" panose="020B0800000000000000" pitchFamily="34" charset="-128"/>
                <a:ea typeface="Noto Sans CJK TC Bold" panose="020B0800000000000000" pitchFamily="34" charset="-128"/>
              </a:rPr>
              <a:t>二進制反碼（一補碼）</a:t>
            </a:r>
            <a:r>
              <a:rPr lang="zh-TW" altLang="en-US" dirty="0">
                <a:latin typeface="+mn-lt"/>
              </a:rPr>
              <a:t>是通過反轉其所有位元來產生的，即從 </a:t>
            </a:r>
            <a:r>
              <a:rPr lang="en-US" altLang="zh-TW" dirty="0">
                <a:latin typeface="+mn-lt"/>
              </a:rPr>
              <a:t>0 </a:t>
            </a:r>
            <a:r>
              <a:rPr lang="zh-TW" altLang="en-US" dirty="0">
                <a:latin typeface="+mn-lt"/>
              </a:rPr>
              <a:t>變為 </a:t>
            </a:r>
            <a:r>
              <a:rPr lang="en-US" altLang="zh-TW" dirty="0">
                <a:latin typeface="+mn-lt"/>
              </a:rPr>
              <a:t>1</a:t>
            </a:r>
            <a:r>
              <a:rPr lang="zh-TW" altLang="en-US" dirty="0">
                <a:latin typeface="+mn-lt"/>
              </a:rPr>
              <a:t>，將 </a:t>
            </a:r>
            <a:r>
              <a:rPr lang="en-US" altLang="zh-TW" dirty="0">
                <a:latin typeface="+mn-lt"/>
              </a:rPr>
              <a:t>1 </a:t>
            </a:r>
            <a:r>
              <a:rPr lang="zh-TW" altLang="en-US" dirty="0">
                <a:latin typeface="+mn-lt"/>
              </a:rPr>
              <a:t>變為 </a:t>
            </a:r>
            <a:r>
              <a:rPr lang="en-US" altLang="zh-TW" dirty="0">
                <a:latin typeface="+mn-lt"/>
              </a:rPr>
              <a:t>0</a:t>
            </a:r>
            <a:r>
              <a:rPr lang="zh-TW" altLang="en-US" dirty="0">
                <a:latin typeface="+mn-lt"/>
              </a:rPr>
              <a:t>。</a:t>
            </a:r>
            <a:endParaRPr lang="en-GB" dirty="0">
              <a:latin typeface="+mn-lt"/>
            </a:endParaRPr>
          </a:p>
        </p:txBody>
      </p:sp>
    </p:spTree>
    <p:extLst>
      <p:ext uri="{BB962C8B-B14F-4D97-AF65-F5344CB8AC3E}">
        <p14:creationId xmlns:p14="http://schemas.microsoft.com/office/powerpoint/2010/main" val="11820503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表示有符號整數</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50</a:t>
            </a:fld>
            <a:endParaRPr lang="en-US" dirty="0"/>
          </a:p>
        </p:txBody>
      </p:sp>
      <p:sp>
        <p:nvSpPr>
          <p:cNvPr id="4" name="文字版面配置區 3"/>
          <p:cNvSpPr>
            <a:spLocks noGrp="1"/>
          </p:cNvSpPr>
          <p:nvPr>
            <p:ph type="body" sz="quarter" idx="14"/>
          </p:nvPr>
        </p:nvSpPr>
        <p:spPr/>
        <p:txBody>
          <a:bodyPr/>
          <a:lstStyle/>
          <a:p>
            <a:r>
              <a:rPr lang="en-US" dirty="0"/>
              <a:t>E</a:t>
            </a:r>
            <a:endParaRPr lang="en-GB" dirty="0"/>
          </a:p>
        </p:txBody>
      </p:sp>
      <p:sp>
        <p:nvSpPr>
          <p:cNvPr id="5" name="內容版面配置區 4"/>
          <p:cNvSpPr>
            <a:spLocks noGrp="1"/>
          </p:cNvSpPr>
          <p:nvPr>
            <p:ph sz="quarter" idx="15"/>
          </p:nvPr>
        </p:nvSpPr>
        <p:spPr/>
        <p:txBody>
          <a:bodyPr>
            <a:normAutofit/>
          </a:bodyPr>
          <a:lstStyle/>
          <a:p>
            <a:r>
              <a:rPr lang="zh-TW" altLang="en-US" dirty="0"/>
              <a:t>例如，要找到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t>的</a:t>
            </a:r>
            <a:r>
              <a:rPr lang="zh-TW" altLang="en-US" dirty="0">
                <a:latin typeface="+mn-lt"/>
              </a:rPr>
              <a:t> </a:t>
            </a:r>
            <a:r>
              <a:rPr lang="en-US" altLang="zh-TW" dirty="0">
                <a:latin typeface="+mn-lt"/>
              </a:rPr>
              <a:t>8 </a:t>
            </a:r>
            <a:r>
              <a:rPr lang="zh-TW" altLang="en-US" dirty="0"/>
              <a:t>位元二進制補碼，我們可以：</a:t>
            </a:r>
            <a:endParaRPr lang="en-US" altLang="zh-TW" dirty="0"/>
          </a:p>
          <a:p>
            <a:endParaRPr lang="en-US" dirty="0"/>
          </a:p>
          <a:p>
            <a:pPr marL="457200" indent="-457200">
              <a:buFont typeface="+mj-lt"/>
              <a:buAutoNum type="arabicPeriod"/>
            </a:pPr>
            <a:r>
              <a:rPr lang="zh-TW" altLang="en-US" dirty="0"/>
              <a:t>將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t>轉換為二進制數字，即 </a:t>
            </a:r>
            <a:r>
              <a:rPr lang="en-US" dirty="0">
                <a:latin typeface="Courier New" panose="02070309020205020404" pitchFamily="49" charset="0"/>
                <a:cs typeface="Courier New" panose="02070309020205020404" pitchFamily="49" charset="0"/>
              </a:rPr>
              <a:t>101101 </a:t>
            </a:r>
            <a:r>
              <a:rPr lang="zh-TW" altLang="en-US" dirty="0"/>
              <a:t>。新增前</a:t>
            </a:r>
            <a:r>
              <a:rPr lang="zh-TW" altLang="en-US" dirty="0">
                <a:latin typeface="+mn-lt"/>
              </a:rPr>
              <a:t>置 </a:t>
            </a:r>
            <a:r>
              <a:rPr lang="en-US" altLang="zh-TW" dirty="0">
                <a:latin typeface="+mn-lt"/>
              </a:rPr>
              <a:t>0 </a:t>
            </a:r>
            <a:r>
              <a:rPr lang="zh-TW" altLang="en-US" dirty="0">
                <a:latin typeface="+mn-lt"/>
              </a:rPr>
              <a:t>將其變為 </a:t>
            </a:r>
            <a:r>
              <a:rPr lang="en-US" altLang="zh-TW" dirty="0">
                <a:latin typeface="+mn-lt"/>
              </a:rPr>
              <a:t>8 </a:t>
            </a:r>
            <a:r>
              <a:rPr lang="zh-TW" altLang="en-US" dirty="0">
                <a:latin typeface="+mn-lt"/>
              </a:rPr>
              <a:t>位元</a:t>
            </a:r>
            <a:r>
              <a:rPr lang="zh-TW" altLang="en-US" dirty="0"/>
              <a:t>二進制數字，即 </a:t>
            </a:r>
            <a:r>
              <a:rPr lang="en-US" dirty="0">
                <a:latin typeface="Courier New" panose="02070309020205020404" pitchFamily="49" charset="0"/>
                <a:cs typeface="Courier New" panose="02070309020205020404" pitchFamily="49" charset="0"/>
              </a:rPr>
              <a:t>0010</a:t>
            </a: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1101 </a:t>
            </a:r>
            <a:r>
              <a:rPr lang="zh-TW" altLang="en-US" dirty="0"/>
              <a:t>。</a:t>
            </a:r>
            <a:r>
              <a:rPr lang="en-US" dirty="0"/>
              <a:t/>
            </a:r>
            <a:br>
              <a:rPr lang="en-US" dirty="0"/>
            </a:br>
            <a:endParaRPr lang="en-US" dirty="0"/>
          </a:p>
          <a:p>
            <a:pPr marL="457200" indent="-457200">
              <a:buFont typeface="+mj-lt"/>
              <a:buAutoNum type="arabicPeriod"/>
            </a:pPr>
            <a:r>
              <a:rPr lang="zh-TW" altLang="en-US" dirty="0"/>
              <a:t>反轉 </a:t>
            </a:r>
            <a:r>
              <a:rPr lang="en-US" altLang="zh-TW" dirty="0">
                <a:latin typeface="+mn-lt"/>
              </a:rPr>
              <a:t>8</a:t>
            </a:r>
            <a:r>
              <a:rPr lang="en-US" altLang="zh-TW" dirty="0"/>
              <a:t> </a:t>
            </a:r>
            <a:r>
              <a:rPr lang="zh-TW" altLang="en-US" dirty="0"/>
              <a:t>位元數字的所有數位。</a:t>
            </a:r>
            <a:r>
              <a:rPr lang="en-US" dirty="0"/>
              <a:t/>
            </a:r>
            <a:br>
              <a:rPr lang="en-US" dirty="0"/>
            </a:br>
            <a:endParaRPr lang="en-US" dirty="0"/>
          </a:p>
          <a:p>
            <a:pPr marL="457200" indent="-457200">
              <a:buFont typeface="+mj-lt"/>
              <a:buAutoNum type="arabicPeriod"/>
            </a:pPr>
            <a:r>
              <a:rPr lang="zh-TW" altLang="en-US" dirty="0"/>
              <a:t>將其</a:t>
            </a:r>
            <a:r>
              <a:rPr lang="zh-TW" altLang="en-US" dirty="0">
                <a:latin typeface="+mn-lt"/>
              </a:rPr>
              <a:t>加 </a:t>
            </a:r>
            <a:r>
              <a:rPr lang="en-US" altLang="zh-TW" dirty="0">
                <a:latin typeface="+mn-lt"/>
              </a:rPr>
              <a:t>1</a:t>
            </a:r>
            <a:r>
              <a:rPr lang="zh-TW" altLang="en-US" dirty="0"/>
              <a:t>，便可得到 </a:t>
            </a:r>
            <a:r>
              <a:rPr lang="en-US" dirty="0">
                <a:latin typeface="Courier New" panose="02070309020205020404" pitchFamily="49" charset="0"/>
                <a:cs typeface="Courier New" panose="02070309020205020404" pitchFamily="49" charset="0"/>
              </a:rPr>
              <a:t>1101 0011</a:t>
            </a:r>
            <a:r>
              <a:rPr lang="zh-TW" altLang="en-US" dirty="0">
                <a:latin typeface="Courier New" panose="02070309020205020404" pitchFamily="49" charset="0"/>
                <a:cs typeface="Courier New" panose="02070309020205020404" pitchFamily="49" charset="0"/>
              </a:rPr>
              <a:t>。</a:t>
            </a:r>
            <a:r>
              <a:rPr lang="en-US" dirty="0"/>
              <a:t> </a:t>
            </a:r>
            <a:br>
              <a:rPr lang="en-US" dirty="0"/>
            </a:b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latin typeface="+mn-lt"/>
              </a:rPr>
              <a:t>的 </a:t>
            </a:r>
            <a:r>
              <a:rPr lang="en-US" altLang="zh-TW" dirty="0">
                <a:latin typeface="+mn-lt"/>
              </a:rPr>
              <a:t>8 </a:t>
            </a:r>
            <a:r>
              <a:rPr lang="zh-TW" altLang="en-US" dirty="0">
                <a:latin typeface="+mn-lt"/>
              </a:rPr>
              <a:t>位元</a:t>
            </a:r>
            <a:r>
              <a:rPr lang="zh-TW" altLang="en-US" dirty="0"/>
              <a:t>二進制補碼是 </a:t>
            </a:r>
            <a:r>
              <a:rPr lang="en-US" dirty="0">
                <a:latin typeface="Courier New" panose="02070309020205020404" pitchFamily="49" charset="0"/>
                <a:cs typeface="Courier New" panose="02070309020205020404" pitchFamily="49" charset="0"/>
              </a:rPr>
              <a:t>1101 0011</a:t>
            </a:r>
            <a:r>
              <a:rPr lang="zh-TW" altLang="en-US" dirty="0"/>
              <a:t>，它是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altLang="zh-TW" dirty="0"/>
              <a:t> </a:t>
            </a:r>
            <a:r>
              <a:rPr lang="zh-TW" altLang="en-US" dirty="0">
                <a:latin typeface="+mn-lt"/>
              </a:rPr>
              <a:t>的 </a:t>
            </a:r>
            <a:r>
              <a:rPr lang="en-US" altLang="zh-TW" dirty="0">
                <a:latin typeface="+mn-lt"/>
              </a:rPr>
              <a:t>8 </a:t>
            </a:r>
            <a:r>
              <a:rPr lang="zh-TW" altLang="en-US" dirty="0">
                <a:latin typeface="+mn-lt"/>
              </a:rPr>
              <a:t>位元二進</a:t>
            </a:r>
            <a:r>
              <a:rPr lang="zh-TW" altLang="en-US" dirty="0"/>
              <a:t>制補碼數字。</a:t>
            </a:r>
            <a:endParaRPr lang="en-US" dirty="0"/>
          </a:p>
          <a:p>
            <a:endParaRPr lang="en-GB" dirty="0"/>
          </a:p>
        </p:txBody>
      </p:sp>
      <p:pic>
        <p:nvPicPr>
          <p:cNvPr id="6" name="Picture 5"/>
          <p:cNvPicPr>
            <a:picLocks noChangeAspect="1"/>
          </p:cNvPicPr>
          <p:nvPr/>
        </p:nvPicPr>
        <p:blipFill>
          <a:blip r:embed="rId2"/>
          <a:stretch>
            <a:fillRect/>
          </a:stretch>
        </p:blipFill>
        <p:spPr>
          <a:xfrm>
            <a:off x="6651391" y="3302906"/>
            <a:ext cx="3864210" cy="1237129"/>
          </a:xfrm>
          <a:prstGeom prst="rect">
            <a:avLst/>
          </a:prstGeom>
        </p:spPr>
      </p:pic>
    </p:spTree>
    <p:extLst>
      <p:ext uri="{BB962C8B-B14F-4D97-AF65-F5344CB8AC3E}">
        <p14:creationId xmlns:p14="http://schemas.microsoft.com/office/powerpoint/2010/main" val="24312372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pPr marL="457200" indent="-457200">
              <a:buFont typeface="+mj-lt"/>
              <a:buAutoNum type="arabicPeriod"/>
            </a:pPr>
            <a:r>
              <a:rPr lang="en-US" altLang="zh-TW" dirty="0">
                <a:latin typeface="Courier New" panose="02070309020205020404" pitchFamily="49" charset="0"/>
                <a:cs typeface="Courier New" panose="02070309020205020404" pitchFamily="49" charset="0"/>
              </a:rPr>
              <a:t>1000 0000 </a:t>
            </a:r>
            <a:r>
              <a:rPr lang="zh-TW" altLang="en-US" dirty="0"/>
              <a:t>這一個 </a:t>
            </a:r>
            <a:r>
              <a:rPr lang="en-US" altLang="zh-TW" dirty="0">
                <a:latin typeface="+mn-lt"/>
              </a:rPr>
              <a:t>8 </a:t>
            </a:r>
            <a:r>
              <a:rPr lang="zh-TW" altLang="en-US" dirty="0"/>
              <a:t>位元二進制補碼數字的十進制數值是多少？</a:t>
            </a:r>
            <a:endParaRPr lang="en-US" altLang="zh-TW" dirty="0"/>
          </a:p>
          <a:p>
            <a:pPr marL="457200" indent="-457200">
              <a:buFont typeface="+mj-lt"/>
              <a:buAutoNum type="arabicPeriod"/>
            </a:pPr>
            <a:endParaRPr lang="en-US" dirty="0"/>
          </a:p>
          <a:p>
            <a:pPr marL="800100" lvl="1" indent="-342900">
              <a:buSzPct val="100000"/>
              <a:buAutoNum type="alphaUcPeriod"/>
            </a:pPr>
            <a:r>
              <a:rPr lang="en-HK" sz="2000" dirty="0">
                <a:latin typeface="+mn-lt"/>
              </a:rPr>
              <a:t>0</a:t>
            </a:r>
          </a:p>
          <a:p>
            <a:pPr marL="800100" lvl="1" indent="-342900">
              <a:buSzPct val="100000"/>
              <a:buAutoNum type="alphaUcPeriod"/>
            </a:pPr>
            <a:r>
              <a:rPr lang="en-HK" sz="2000" dirty="0">
                <a:latin typeface="+mn-lt"/>
              </a:rPr>
              <a:t>128</a:t>
            </a:r>
          </a:p>
          <a:p>
            <a:pPr marL="800100" lvl="1" indent="-342900">
              <a:buSzPct val="100000"/>
              <a:buAutoNum type="alphaUcPeriod"/>
            </a:pPr>
            <a:r>
              <a:rPr lang="en-HK" sz="2000" dirty="0">
                <a:latin typeface="+mn-lt"/>
              </a:rPr>
              <a:t>-127</a:t>
            </a:r>
          </a:p>
          <a:p>
            <a:pPr marL="800100" lvl="1" indent="-342900">
              <a:buSzPct val="100000"/>
              <a:buAutoNum type="alphaUcPeriod"/>
            </a:pPr>
            <a:r>
              <a:rPr lang="en-HK" sz="2000" dirty="0">
                <a:latin typeface="+mn-lt"/>
              </a:rPr>
              <a:t>-1</a:t>
            </a:r>
            <a:r>
              <a:rPr lang="en-US" sz="2000" dirty="0">
                <a:latin typeface="+mn-lt"/>
              </a:rPr>
              <a:t>28</a:t>
            </a:r>
          </a:p>
          <a:p>
            <a:pPr marL="457200" indent="-457200">
              <a:buFont typeface="+mj-lt"/>
              <a:buAutoNum type="arabicPeriod"/>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51</a:t>
            </a:fld>
            <a:endParaRPr lang="en-US" dirty="0"/>
          </a:p>
        </p:txBody>
      </p:sp>
      <p:sp>
        <p:nvSpPr>
          <p:cNvPr id="7" name="文字版面配置區 6"/>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201025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6">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十進制數值 </a:t>
            </a:r>
            <a:r>
              <a:rPr lang="en-US" altLang="zh-TW" dirty="0">
                <a:latin typeface="+mn-lt"/>
              </a:rPr>
              <a:t>17 </a:t>
            </a:r>
            <a:r>
              <a:rPr lang="zh-TW" altLang="en-US" dirty="0">
                <a:latin typeface="+mn-lt"/>
              </a:rPr>
              <a:t>的 </a:t>
            </a:r>
            <a:r>
              <a:rPr lang="en-US" altLang="zh-TW" dirty="0">
                <a:latin typeface="+mn-lt"/>
              </a:rPr>
              <a:t>7 </a:t>
            </a:r>
            <a:r>
              <a:rPr lang="zh-TW" altLang="en-US" dirty="0">
                <a:latin typeface="+mn-lt"/>
              </a:rPr>
              <a:t>位元二進制補碼是什麼？</a:t>
            </a:r>
            <a:endParaRPr lang="en-US" altLang="zh-TW" dirty="0">
              <a:latin typeface="+mn-lt"/>
            </a:endParaRPr>
          </a:p>
          <a:p>
            <a:pPr marL="457200" indent="-457200">
              <a:buFont typeface="+mj-lt"/>
              <a:buAutoNum type="arabicPeriod" startAt="2"/>
            </a:pPr>
            <a:endParaRPr lang="en-US" altLang="zh-TW" dirty="0"/>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001 0001</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001 0010</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110 1110</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110 1111</a:t>
            </a:r>
            <a:endParaRPr lang="en-US" sz="2000" dirty="0">
              <a:latin typeface="Courier New" panose="02070309020205020404" pitchFamily="49" charset="0"/>
              <a:cs typeface="Courier New" panose="02070309020205020404" pitchFamily="49" charset="0"/>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52</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305237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2">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十進制數值 −</a:t>
            </a:r>
            <a:r>
              <a:rPr lang="en-US" altLang="zh-TW" dirty="0">
                <a:latin typeface="+mn-lt"/>
              </a:rPr>
              <a:t>1 </a:t>
            </a:r>
            <a:r>
              <a:rPr lang="zh-TW" altLang="en-US" dirty="0">
                <a:latin typeface="+mn-lt"/>
              </a:rPr>
              <a:t>的 </a:t>
            </a:r>
            <a:r>
              <a:rPr lang="en-US" altLang="zh-TW" dirty="0">
                <a:latin typeface="+mn-lt"/>
              </a:rPr>
              <a:t>8 </a:t>
            </a:r>
            <a:r>
              <a:rPr lang="zh-TW" altLang="en-US" dirty="0">
                <a:latin typeface="+mn-lt"/>
              </a:rPr>
              <a:t>位元二進制補碼數字是什麼？</a:t>
            </a:r>
            <a:endParaRPr lang="en-US" altLang="zh-TW" dirty="0">
              <a:latin typeface="+mn-lt"/>
            </a:endParaRPr>
          </a:p>
          <a:p>
            <a:pPr marL="457200" indent="-457200">
              <a:buFont typeface="+mj-lt"/>
              <a:buAutoNum type="arabicPeriod" startAt="3"/>
            </a:pPr>
            <a:endParaRPr lang="en-US" dirty="0"/>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0000 0001</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1000 0001</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1111 1110</a:t>
            </a:r>
          </a:p>
          <a:p>
            <a:pPr marL="800100" lvl="1" indent="-342900">
              <a:buSzPct val="100000"/>
              <a:buAutoNum type="alphaUcPeriod"/>
            </a:pPr>
            <a:r>
              <a:rPr lang="en-HK" sz="2000" dirty="0">
                <a:latin typeface="+mn-lt"/>
              </a:rPr>
              <a:t> </a:t>
            </a:r>
            <a:r>
              <a:rPr lang="en-HK" sz="2000" dirty="0">
                <a:latin typeface="Courier New" panose="02070309020205020404" pitchFamily="49" charset="0"/>
                <a:cs typeface="Courier New" panose="02070309020205020404" pitchFamily="49" charset="0"/>
              </a:rPr>
              <a:t>1111 1111</a:t>
            </a:r>
            <a:endParaRPr lang="en-US" sz="2000" dirty="0">
              <a:latin typeface="Courier New" panose="02070309020205020404" pitchFamily="49" charset="0"/>
              <a:cs typeface="Courier New" panose="02070309020205020404" pitchFamily="49" charset="0"/>
            </a:endParaRPr>
          </a:p>
          <a:p>
            <a:pPr marL="457200" indent="-457200">
              <a:buFont typeface="+mj-lt"/>
              <a:buAutoNum type="arabicPeriod" startAt="3"/>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53</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69200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2">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4"/>
            </a:pPr>
            <a:r>
              <a:rPr lang="zh-TW" altLang="en-US" dirty="0">
                <a:latin typeface="+mn-lt"/>
              </a:rPr>
              <a:t>以下哪項可以是十進制數值 −</a:t>
            </a:r>
            <a:r>
              <a:rPr lang="en-US" altLang="zh-TW" dirty="0">
                <a:latin typeface="+mn-lt"/>
              </a:rPr>
              <a:t>9 </a:t>
            </a:r>
            <a:r>
              <a:rPr lang="zh-TW" altLang="en-US" dirty="0">
                <a:latin typeface="+mn-lt"/>
              </a:rPr>
              <a:t>的二進制補碼數字？</a:t>
            </a:r>
            <a:endParaRPr lang="en-US" altLang="zh-TW" dirty="0">
              <a:latin typeface="+mn-lt"/>
            </a:endParaRPr>
          </a:p>
          <a:p>
            <a:endParaRPr lang="en-US" dirty="0"/>
          </a:p>
          <a:p>
            <a:pPr marL="1257300" lvl="2" indent="-342900">
              <a:buSzPct val="100000"/>
              <a:buAutoNum type="arabicParenBoth"/>
            </a:pPr>
            <a:r>
              <a:rPr lang="en-US" sz="2000" dirty="0">
                <a:latin typeface="+mn-lt"/>
                <a:cs typeface="Courier New" panose="02070309020205020404" pitchFamily="49" charset="0"/>
              </a:rPr>
              <a:t>            </a:t>
            </a:r>
            <a:r>
              <a:rPr lang="en-US" sz="2000" dirty="0">
                <a:latin typeface="Courier New" panose="02070309020205020404" pitchFamily="49" charset="0"/>
                <a:cs typeface="Courier New" panose="02070309020205020404" pitchFamily="49" charset="0"/>
              </a:rPr>
              <a:t>1001</a:t>
            </a:r>
          </a:p>
          <a:p>
            <a:pPr marL="1257300" lvl="2" indent="-342900">
              <a:buSzPct val="100000"/>
              <a:buAutoNum type="arabicParenBoth"/>
            </a:pPr>
            <a:r>
              <a:rPr lang="en-US" sz="2000" dirty="0">
                <a:latin typeface="+mn-lt"/>
              </a:rPr>
              <a:t>     </a:t>
            </a:r>
            <a:r>
              <a:rPr lang="en-US" sz="2000" dirty="0">
                <a:latin typeface="Courier New" panose="02070309020205020404" pitchFamily="49" charset="0"/>
                <a:cs typeface="Courier New" panose="02070309020205020404" pitchFamily="49" charset="0"/>
              </a:rPr>
              <a:t>11 0111</a:t>
            </a:r>
          </a:p>
          <a:p>
            <a:pPr marL="1257300" lvl="2" indent="-342900">
              <a:buSzPct val="100000"/>
              <a:buAutoNum type="arabicParenBoth"/>
            </a:pPr>
            <a:r>
              <a:rPr lang="en-US" sz="2000" dirty="0">
                <a:latin typeface="+mn-lt"/>
              </a:rPr>
              <a:t> </a:t>
            </a:r>
            <a:r>
              <a:rPr lang="en-US" sz="2000" dirty="0">
                <a:latin typeface="Courier New" panose="02070309020205020404" pitchFamily="49" charset="0"/>
                <a:cs typeface="Courier New" panose="02070309020205020404" pitchFamily="49" charset="0"/>
              </a:rPr>
              <a:t>0001 0111</a:t>
            </a:r>
            <a:r>
              <a:rPr lang="en-US" dirty="0"/>
              <a:t/>
            </a:r>
            <a:br>
              <a:rPr lang="en-US" dirty="0"/>
            </a:br>
            <a:endParaRPr lang="en-US" dirty="0"/>
          </a:p>
          <a:p>
            <a:pPr marL="800100" lvl="1" indent="-342900">
              <a:buSzPct val="100000"/>
              <a:buAutoNum type="alphaUcPeriod"/>
            </a:pPr>
            <a:r>
              <a:rPr lang="zh-TW" altLang="en-US" sz="2000" dirty="0">
                <a:latin typeface="+mn-lt"/>
              </a:rPr>
              <a:t>只有 </a:t>
            </a:r>
            <a:r>
              <a:rPr lang="en-HK" sz="2000" dirty="0">
                <a:latin typeface="+mn-lt"/>
              </a:rPr>
              <a:t>(1)</a:t>
            </a:r>
          </a:p>
          <a:p>
            <a:pPr marL="800100" lvl="1" indent="-342900">
              <a:buSzPct val="100000"/>
              <a:buAutoNum type="alphaUcPeriod"/>
            </a:pPr>
            <a:r>
              <a:rPr lang="zh-TW" altLang="en-US" sz="2000" dirty="0">
                <a:latin typeface="+mn-lt"/>
              </a:rPr>
              <a:t>只有</a:t>
            </a:r>
            <a:r>
              <a:rPr lang="en-HK" sz="2000" dirty="0">
                <a:latin typeface="+mn-lt"/>
              </a:rPr>
              <a:t> (2) </a:t>
            </a:r>
          </a:p>
          <a:p>
            <a:pPr marL="800100" lvl="1" indent="-342900">
              <a:buSzPct val="100000"/>
              <a:buAutoNum type="alphaUcPeriod"/>
            </a:pPr>
            <a:r>
              <a:rPr lang="zh-TW" altLang="en-US" sz="2000" dirty="0">
                <a:latin typeface="+mn-lt"/>
              </a:rPr>
              <a:t>只有 </a:t>
            </a:r>
            <a:r>
              <a:rPr lang="en-HK" sz="2000" dirty="0">
                <a:latin typeface="+mn-lt"/>
              </a:rPr>
              <a:t>(1) </a:t>
            </a:r>
            <a:r>
              <a:rPr lang="zh-TW" altLang="en-US" sz="2000" dirty="0">
                <a:latin typeface="+mn-lt"/>
              </a:rPr>
              <a:t>和</a:t>
            </a:r>
            <a:r>
              <a:rPr lang="en-HK" sz="2000" dirty="0">
                <a:latin typeface="+mn-lt"/>
              </a:rPr>
              <a:t> (3)</a:t>
            </a:r>
          </a:p>
          <a:p>
            <a:pPr marL="800100" lvl="1" indent="-342900">
              <a:buSzPct val="100000"/>
              <a:buAutoNum type="alphaUcPeriod"/>
            </a:pPr>
            <a:r>
              <a:rPr lang="zh-TW" altLang="en-US" sz="2000" dirty="0">
                <a:latin typeface="+mn-lt"/>
              </a:rPr>
              <a:t>只有 </a:t>
            </a:r>
            <a:r>
              <a:rPr lang="en-HK" sz="2000" dirty="0">
                <a:latin typeface="+mn-lt"/>
              </a:rPr>
              <a:t>(2) </a:t>
            </a:r>
            <a:r>
              <a:rPr lang="zh-TW" altLang="en-US" sz="2000" dirty="0">
                <a:latin typeface="+mn-lt"/>
              </a:rPr>
              <a:t>和</a:t>
            </a:r>
            <a:r>
              <a:rPr lang="en-HK" sz="2000" dirty="0">
                <a:latin typeface="+mn-lt"/>
              </a:rPr>
              <a:t> (3) </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54</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174077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2">
                                            <p:txEl>
                                              <p:pRg st="6" end="6"/>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5"/>
            </a:pPr>
            <a:r>
              <a:rPr lang="zh-TW" altLang="en-US" dirty="0">
                <a:latin typeface="+mn-lt"/>
              </a:rPr>
              <a:t>將 </a:t>
            </a:r>
            <a:r>
              <a:rPr lang="en-US" altLang="zh-TW" dirty="0">
                <a:latin typeface="Courier New" panose="02070309020205020404" pitchFamily="49" charset="0"/>
                <a:cs typeface="Courier New" panose="02070309020205020404" pitchFamily="49" charset="0"/>
              </a:rPr>
              <a:t>0110</a:t>
            </a:r>
            <a:r>
              <a:rPr lang="en-US" altLang="zh-TW" dirty="0">
                <a:latin typeface="+mn-lt"/>
              </a:rPr>
              <a:t> </a:t>
            </a:r>
            <a:r>
              <a:rPr lang="zh-TW" altLang="en-US" dirty="0">
                <a:latin typeface="+mn-lt"/>
              </a:rPr>
              <a:t>和 </a:t>
            </a:r>
            <a:r>
              <a:rPr lang="en-US" altLang="zh-TW" dirty="0">
                <a:latin typeface="Courier New" panose="02070309020205020404" pitchFamily="49" charset="0"/>
                <a:cs typeface="Courier New" panose="02070309020205020404" pitchFamily="49" charset="0"/>
              </a:rPr>
              <a:t>1011</a:t>
            </a:r>
            <a:r>
              <a:rPr lang="en-US" altLang="zh-TW" dirty="0">
                <a:latin typeface="+mn-lt"/>
              </a:rPr>
              <a:t> </a:t>
            </a:r>
            <a:r>
              <a:rPr lang="zh-TW" altLang="en-US" dirty="0">
                <a:latin typeface="+mn-lt"/>
              </a:rPr>
              <a:t>這兩個二進制補碼數字相加後，會得出以下哪個十進制數值？</a:t>
            </a:r>
            <a:endParaRPr lang="en-US" altLang="zh-TW" dirty="0">
              <a:latin typeface="+mn-lt"/>
            </a:endParaRPr>
          </a:p>
          <a:p>
            <a:pPr marL="457200" indent="-457200">
              <a:buFont typeface="+mj-lt"/>
              <a:buAutoNum type="arabicPeriod" startAt="5"/>
            </a:pPr>
            <a:endParaRPr lang="en-US" dirty="0">
              <a:latin typeface="+mn-lt"/>
            </a:endParaRPr>
          </a:p>
          <a:p>
            <a:pPr marL="800100" lvl="1" indent="-342900">
              <a:buSzPct val="100000"/>
              <a:buAutoNum type="alphaUcPeriod"/>
            </a:pPr>
            <a:r>
              <a:rPr lang="en-HK" sz="2000" dirty="0">
                <a:latin typeface="+mn-lt"/>
              </a:rPr>
              <a:t>-15</a:t>
            </a:r>
          </a:p>
          <a:p>
            <a:pPr marL="800100" lvl="1" indent="-342900">
              <a:buSzPct val="100000"/>
              <a:buAutoNum type="alphaUcPeriod"/>
            </a:pPr>
            <a:r>
              <a:rPr lang="en-HK" sz="2000" dirty="0">
                <a:latin typeface="+mn-lt"/>
              </a:rPr>
              <a:t>-1</a:t>
            </a:r>
          </a:p>
          <a:p>
            <a:pPr marL="800100" lvl="1" indent="-342900">
              <a:buSzPct val="100000"/>
              <a:buAutoNum type="alphaUcPeriod"/>
            </a:pPr>
            <a:r>
              <a:rPr lang="en-HK" sz="2000" dirty="0">
                <a:latin typeface="+mn-lt"/>
              </a:rPr>
              <a:t>1</a:t>
            </a:r>
          </a:p>
          <a:p>
            <a:pPr marL="800100" lvl="1" indent="-342900">
              <a:buSzPct val="100000"/>
              <a:buAutoNum type="alphaUcPeriod"/>
            </a:pPr>
            <a:r>
              <a:rPr lang="en-HK" sz="2000" dirty="0">
                <a:latin typeface="+mn-lt"/>
              </a:rPr>
              <a:t>17</a:t>
            </a:r>
            <a:endParaRPr lang="en-US" sz="2000"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55</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3041060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溢出誤差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56</a:t>
            </a:fld>
            <a:endParaRPr lang="en-US" dirty="0"/>
          </a:p>
        </p:txBody>
      </p:sp>
      <p:sp>
        <p:nvSpPr>
          <p:cNvPr id="6" name="文字版面配置區 5"/>
          <p:cNvSpPr>
            <a:spLocks noGrp="1"/>
          </p:cNvSpPr>
          <p:nvPr>
            <p:ph type="body" sz="quarter" idx="14"/>
          </p:nvPr>
        </p:nvSpPr>
        <p:spPr/>
        <p:txBody>
          <a:bodyPr/>
          <a:lstStyle/>
          <a:p>
            <a:r>
              <a:rPr lang="en-US" dirty="0"/>
              <a:t>F</a:t>
            </a:r>
            <a:endParaRPr lang="en-GB" dirty="0"/>
          </a:p>
        </p:txBody>
      </p:sp>
      <p:sp>
        <p:nvSpPr>
          <p:cNvPr id="7" name="內容版面配置區 6"/>
          <p:cNvSpPr>
            <a:spLocks noGrp="1"/>
          </p:cNvSpPr>
          <p:nvPr>
            <p:ph sz="quarter" idx="15"/>
          </p:nvPr>
        </p:nvSpPr>
        <p:spPr/>
        <p:txBody>
          <a:bodyPr/>
          <a:lstStyle/>
          <a:p>
            <a:r>
              <a:rPr lang="zh-TW" altLang="en-US" dirty="0"/>
              <a:t>當計算結果超出位元數可以表示的範圍時，就會發生</a:t>
            </a:r>
            <a:r>
              <a:rPr lang="zh-TW" altLang="en-US" dirty="0">
                <a:solidFill>
                  <a:srgbClr val="595A96"/>
                </a:solidFill>
                <a:latin typeface="Noto Sans CJK TC Bold" panose="020B0800000000000000" pitchFamily="34" charset="-128"/>
                <a:ea typeface="Noto Sans CJK TC Bold" panose="020B0800000000000000" pitchFamily="34" charset="-128"/>
              </a:rPr>
              <a:t>溢出誤差</a:t>
            </a:r>
            <a:r>
              <a:rPr lang="zh-TW" altLang="en-US" dirty="0"/>
              <a:t>。這些情況下，計算結果便會出錯。</a:t>
            </a:r>
            <a:endParaRPr lang="en-GB" dirty="0"/>
          </a:p>
        </p:txBody>
      </p:sp>
    </p:spTree>
    <p:extLst>
      <p:ext uri="{BB962C8B-B14F-4D97-AF65-F5344CB8AC3E}">
        <p14:creationId xmlns:p14="http://schemas.microsoft.com/office/powerpoint/2010/main" val="1302233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溢出誤差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57</a:t>
            </a:fld>
            <a:endParaRPr lang="en-US" dirty="0"/>
          </a:p>
        </p:txBody>
      </p:sp>
      <p:sp>
        <p:nvSpPr>
          <p:cNvPr id="4" name="文字版面配置區 3"/>
          <p:cNvSpPr>
            <a:spLocks noGrp="1"/>
          </p:cNvSpPr>
          <p:nvPr>
            <p:ph type="body" sz="quarter" idx="14"/>
          </p:nvPr>
        </p:nvSpPr>
        <p:spPr/>
        <p:txBody>
          <a:bodyPr/>
          <a:lstStyle/>
          <a:p>
            <a:r>
              <a:rPr lang="en-US" dirty="0"/>
              <a:t>F</a:t>
            </a:r>
            <a:endParaRPr lang="en-GB" dirty="0"/>
          </a:p>
        </p:txBody>
      </p:sp>
      <p:sp>
        <p:nvSpPr>
          <p:cNvPr id="5" name="內容版面配置區 4"/>
          <p:cNvSpPr>
            <a:spLocks noGrp="1"/>
          </p:cNvSpPr>
          <p:nvPr>
            <p:ph sz="quarter" idx="15"/>
          </p:nvPr>
        </p:nvSpPr>
        <p:spPr/>
        <p:txBody>
          <a:bodyPr/>
          <a:lstStyle/>
          <a:p>
            <a:r>
              <a:rPr lang="zh-TW" altLang="en-US" dirty="0"/>
              <a:t>以無符號整數來說，溢出誤差會在以下情況中發生：</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245980127"/>
              </p:ext>
            </p:extLst>
          </p:nvPr>
        </p:nvGraphicFramePr>
        <p:xfrm>
          <a:off x="611796" y="2224960"/>
          <a:ext cx="10926268" cy="3918145"/>
        </p:xfrm>
        <a:graphic>
          <a:graphicData uri="http://schemas.openxmlformats.org/drawingml/2006/table">
            <a:tbl>
              <a:tblPr firstRow="1" bandRow="1">
                <a:tableStyleId>{5940675A-B579-460E-94D1-54222C63F5DA}</a:tableStyleId>
              </a:tblPr>
              <a:tblGrid>
                <a:gridCol w="5463134">
                  <a:extLst>
                    <a:ext uri="{9D8B030D-6E8A-4147-A177-3AD203B41FA5}">
                      <a16:colId xmlns:a16="http://schemas.microsoft.com/office/drawing/2014/main" val="20000"/>
                    </a:ext>
                  </a:extLst>
                </a:gridCol>
                <a:gridCol w="5463134">
                  <a:extLst>
                    <a:ext uri="{9D8B030D-6E8A-4147-A177-3AD203B41FA5}">
                      <a16:colId xmlns:a16="http://schemas.microsoft.com/office/drawing/2014/main" val="20001"/>
                    </a:ext>
                  </a:extLst>
                </a:gridCol>
              </a:tblGrid>
              <a:tr h="509927">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加法</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減法</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08218">
                <a:tc>
                  <a:txBody>
                    <a:bodyPr/>
                    <a:lstStyle/>
                    <a:p>
                      <a:r>
                        <a:rPr lang="en-US" dirty="0">
                          <a:latin typeface="Courier New" panose="02070309020205020404" pitchFamily="49" charset="0"/>
                          <a:cs typeface="Courier New" panose="02070309020205020404" pitchFamily="49" charset="0"/>
                        </a:rPr>
                        <a:t>9</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+ 9</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1001 + 1001</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Courier New" panose="02070309020205020404" pitchFamily="49" charset="0"/>
                          <a:cs typeface="Courier New" panose="02070309020205020404" pitchFamily="49" charset="0"/>
                        </a:rPr>
                        <a:t>10</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− 12</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− 12</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1010 − 1100</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7"/>
          <p:cNvPicPr>
            <a:picLocks noChangeAspect="1"/>
          </p:cNvPicPr>
          <p:nvPr/>
        </p:nvPicPr>
        <p:blipFill>
          <a:blip r:embed="rId2"/>
          <a:stretch>
            <a:fillRect/>
          </a:stretch>
        </p:blipFill>
        <p:spPr>
          <a:xfrm>
            <a:off x="1645136" y="3972551"/>
            <a:ext cx="4049084" cy="1784997"/>
          </a:xfrm>
          <a:prstGeom prst="rect">
            <a:avLst/>
          </a:prstGeom>
        </p:spPr>
      </p:pic>
      <p:pic>
        <p:nvPicPr>
          <p:cNvPr id="8" name="Picture 9"/>
          <p:cNvPicPr>
            <a:picLocks noChangeAspect="1"/>
          </p:cNvPicPr>
          <p:nvPr/>
        </p:nvPicPr>
        <p:blipFill>
          <a:blip r:embed="rId3"/>
          <a:stretch>
            <a:fillRect/>
          </a:stretch>
        </p:blipFill>
        <p:spPr>
          <a:xfrm>
            <a:off x="6821746" y="3537931"/>
            <a:ext cx="4512615" cy="2226716"/>
          </a:xfrm>
          <a:prstGeom prst="rect">
            <a:avLst/>
          </a:prstGeom>
        </p:spPr>
      </p:pic>
    </p:spTree>
    <p:extLst>
      <p:ext uri="{BB962C8B-B14F-4D97-AF65-F5344CB8AC3E}">
        <p14:creationId xmlns:p14="http://schemas.microsoft.com/office/powerpoint/2010/main" val="2892819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溢出誤差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文字版面配置區 3"/>
          <p:cNvSpPr>
            <a:spLocks noGrp="1"/>
          </p:cNvSpPr>
          <p:nvPr>
            <p:ph type="body" sz="quarter" idx="14"/>
          </p:nvPr>
        </p:nvSpPr>
        <p:spPr/>
        <p:txBody>
          <a:bodyPr/>
          <a:lstStyle/>
          <a:p>
            <a:r>
              <a:rPr lang="en-US" altLang="zh-TW" dirty="0"/>
              <a:t>F</a:t>
            </a:r>
            <a:endParaRPr lang="en-GB" dirty="0"/>
          </a:p>
        </p:txBody>
      </p:sp>
      <p:sp>
        <p:nvSpPr>
          <p:cNvPr id="5" name="內容版面配置區 4"/>
          <p:cNvSpPr>
            <a:spLocks noGrp="1"/>
          </p:cNvSpPr>
          <p:nvPr>
            <p:ph sz="quarter" idx="15"/>
          </p:nvPr>
        </p:nvSpPr>
        <p:spPr/>
        <p:txBody>
          <a:bodyPr/>
          <a:lstStyle/>
          <a:p>
            <a:r>
              <a:rPr lang="zh-TW" altLang="en-US" dirty="0"/>
              <a:t>以有符號整數來說，溢出誤差會在以下情況中發生：</a:t>
            </a:r>
            <a:endParaRPr lang="en-GB" dirty="0"/>
          </a:p>
          <a:p>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3157119241"/>
              </p:ext>
            </p:extLst>
          </p:nvPr>
        </p:nvGraphicFramePr>
        <p:xfrm>
          <a:off x="611796" y="2224960"/>
          <a:ext cx="10926268" cy="3918145"/>
        </p:xfrm>
        <a:graphic>
          <a:graphicData uri="http://schemas.openxmlformats.org/drawingml/2006/table">
            <a:tbl>
              <a:tblPr firstRow="1" bandRow="1">
                <a:tableStyleId>{5940675A-B579-460E-94D1-54222C63F5DA}</a:tableStyleId>
              </a:tblPr>
              <a:tblGrid>
                <a:gridCol w="5463134">
                  <a:extLst>
                    <a:ext uri="{9D8B030D-6E8A-4147-A177-3AD203B41FA5}">
                      <a16:colId xmlns:a16="http://schemas.microsoft.com/office/drawing/2014/main" val="20000"/>
                    </a:ext>
                  </a:extLst>
                </a:gridCol>
                <a:gridCol w="5463134">
                  <a:extLst>
                    <a:ext uri="{9D8B030D-6E8A-4147-A177-3AD203B41FA5}">
                      <a16:colId xmlns:a16="http://schemas.microsoft.com/office/drawing/2014/main" val="20001"/>
                    </a:ext>
                  </a:extLst>
                </a:gridCol>
              </a:tblGrid>
              <a:tr h="509927">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加法</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減法</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08218">
                <a:tc>
                  <a:txBody>
                    <a:bodyPr/>
                    <a:lstStyle/>
                    <a:p>
                      <a:r>
                        <a:rPr lang="en-US"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+ 5</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0011 + 0101</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Courier New" panose="02070309020205020404" pitchFamily="49" charset="0"/>
                          <a:cs typeface="Courier New" panose="02070309020205020404" pitchFamily="49" charset="0"/>
                        </a:rPr>
                        <a:t>−4</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− 6</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−4</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(−6</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1100 + 1010</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364347" y="3323927"/>
            <a:ext cx="4344006" cy="2248214"/>
          </a:xfrm>
          <a:prstGeom prst="rect">
            <a:avLst/>
          </a:prstGeom>
        </p:spPr>
      </p:pic>
      <p:pic>
        <p:nvPicPr>
          <p:cNvPr id="8" name="Picture 8"/>
          <p:cNvPicPr>
            <a:picLocks noChangeAspect="1"/>
          </p:cNvPicPr>
          <p:nvPr/>
        </p:nvPicPr>
        <p:blipFill>
          <a:blip r:embed="rId3"/>
          <a:stretch>
            <a:fillRect/>
          </a:stretch>
        </p:blipFill>
        <p:spPr>
          <a:xfrm>
            <a:off x="6226819" y="3415659"/>
            <a:ext cx="4925112" cy="1924319"/>
          </a:xfrm>
          <a:prstGeom prst="rect">
            <a:avLst/>
          </a:prstGeom>
        </p:spPr>
      </p:pic>
    </p:spTree>
    <p:extLst>
      <p:ext uri="{BB962C8B-B14F-4D97-AF65-F5344CB8AC3E}">
        <p14:creationId xmlns:p14="http://schemas.microsoft.com/office/powerpoint/2010/main" val="12248504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6D22F896-40B5-4ADD-8801-0D06FADFA095}" type="slidenum">
              <a:rPr lang="en-US" smtClean="0"/>
              <a:pPr/>
              <a:t>59</a:t>
            </a:fld>
            <a:endParaRPr lang="en-US" dirty="0"/>
          </a:p>
        </p:txBody>
      </p:sp>
      <p:sp>
        <p:nvSpPr>
          <p:cNvPr id="7" name="內容版面配置區 6"/>
          <p:cNvSpPr>
            <a:spLocks noGrp="1"/>
          </p:cNvSpPr>
          <p:nvPr>
            <p:ph sz="quarter" idx="15"/>
          </p:nvPr>
        </p:nvSpPr>
        <p:spPr>
          <a:xfrm>
            <a:off x="1693717" y="1362064"/>
            <a:ext cx="9660083" cy="2159000"/>
          </a:xfrm>
        </p:spPr>
        <p:txBody>
          <a:bodyPr anchor="ctr"/>
          <a:lstStyle/>
          <a:p>
            <a:r>
              <a:rPr lang="zh-TW" altLang="en-US" dirty="0"/>
              <a:t>在計算二進制補碼數字後，如有多出的位元，溢出誤差就會發生。</a:t>
            </a:r>
            <a:endParaRPr lang="en-GB" dirty="0"/>
          </a:p>
        </p:txBody>
      </p:sp>
      <p:sp>
        <p:nvSpPr>
          <p:cNvPr id="6" name="內容版面配置區 5"/>
          <p:cNvSpPr>
            <a:spLocks noGrp="1"/>
          </p:cNvSpPr>
          <p:nvPr>
            <p:ph sz="quarter" idx="14"/>
          </p:nvPr>
        </p:nvSpPr>
        <p:spPr>
          <a:xfrm>
            <a:off x="1693717" y="3777053"/>
            <a:ext cx="9658800" cy="2160000"/>
          </a:xfrm>
        </p:spPr>
        <p:txBody>
          <a:bodyPr anchor="ctr"/>
          <a:lstStyle/>
          <a:p>
            <a:r>
              <a:rPr lang="zh-TW" altLang="en-US" dirty="0"/>
              <a:t>在計算二進制補碼數字後，即使有多出的位元，也不代表發生了溢出誤差。</a:t>
            </a:r>
          </a:p>
          <a:p>
            <a:r>
              <a:rPr lang="zh-TW" altLang="en-US" dirty="0"/>
              <a:t>只有當計算的是無符號整數，多出的位元才會表示發生溢出誤差。而發生溢</a:t>
            </a:r>
          </a:p>
          <a:p>
            <a:r>
              <a:rPr lang="zh-TW" altLang="en-US" dirty="0"/>
              <a:t>出誤差的根本原因是計算結果超出範圍。</a:t>
            </a:r>
            <a:endParaRPr lang="en-GB" dirty="0"/>
          </a:p>
        </p:txBody>
      </p:sp>
      <p:pic>
        <p:nvPicPr>
          <p:cNvPr id="8" name="Picture 4"/>
          <p:cNvPicPr>
            <a:picLocks noChangeAspect="1"/>
          </p:cNvPicPr>
          <p:nvPr/>
        </p:nvPicPr>
        <p:blipFill>
          <a:blip r:embed="rId2"/>
          <a:stretch>
            <a:fillRect/>
          </a:stretch>
        </p:blipFill>
        <p:spPr>
          <a:xfrm>
            <a:off x="997608" y="2182134"/>
            <a:ext cx="575721" cy="518859"/>
          </a:xfrm>
          <a:prstGeom prst="rect">
            <a:avLst/>
          </a:prstGeom>
        </p:spPr>
      </p:pic>
      <p:pic>
        <p:nvPicPr>
          <p:cNvPr id="9" name="Picture 5"/>
          <p:cNvPicPr>
            <a:picLocks noChangeAspect="1"/>
          </p:cNvPicPr>
          <p:nvPr/>
        </p:nvPicPr>
        <p:blipFill>
          <a:blip r:embed="rId3"/>
          <a:stretch>
            <a:fillRect/>
          </a:stretch>
        </p:blipFill>
        <p:spPr>
          <a:xfrm>
            <a:off x="997608" y="4602224"/>
            <a:ext cx="523622" cy="509658"/>
          </a:xfrm>
          <a:prstGeom prst="rect">
            <a:avLst/>
          </a:prstGeom>
        </p:spPr>
      </p:pic>
    </p:spTree>
    <p:extLst>
      <p:ext uri="{BB962C8B-B14F-4D97-AF65-F5344CB8AC3E}">
        <p14:creationId xmlns:p14="http://schemas.microsoft.com/office/powerpoint/2010/main" val="3939511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pPr marL="457200" indent="-457200">
              <a:buFont typeface="+mj-lt"/>
              <a:buAutoNum type="arabicPeriod"/>
            </a:pPr>
            <a:r>
              <a:rPr lang="zh-TW" altLang="en-US" dirty="0">
                <a:latin typeface="+mn-lt"/>
              </a:rPr>
              <a:t>一部電腦使用 </a:t>
            </a:r>
            <a:r>
              <a:rPr lang="en-US" altLang="zh-TW" dirty="0">
                <a:latin typeface="+mn-lt"/>
              </a:rPr>
              <a:t>4 </a:t>
            </a:r>
            <a:r>
              <a:rPr lang="zh-TW" altLang="en-US" dirty="0">
                <a:latin typeface="+mn-lt"/>
              </a:rPr>
              <a:t>位元二進制補碼數字來儲存整數。以下哪項計算涉及溢出誤差？</a:t>
            </a:r>
            <a:endParaRPr lang="en-US" altLang="zh-TW" dirty="0">
              <a:latin typeface="+mn-lt"/>
            </a:endParaRPr>
          </a:p>
          <a:p>
            <a:pPr marL="457200" indent="-457200">
              <a:buFont typeface="+mj-lt"/>
              <a:buAutoNum type="arabicPeriod"/>
            </a:pPr>
            <a:endParaRPr lang="en-US" dirty="0">
              <a:latin typeface="+mn-lt"/>
            </a:endParaRPr>
          </a:p>
          <a:p>
            <a:pPr marL="800100" lvl="1" indent="-342900">
              <a:buSzPct val="100000"/>
              <a:buAutoNum type="alphaUcPeriod"/>
            </a:pPr>
            <a:r>
              <a:rPr lang="en-US" sz="2000" dirty="0">
                <a:latin typeface="+mn-lt"/>
              </a:rPr>
              <a:t>2 − 3 + 4 − 2</a:t>
            </a:r>
          </a:p>
          <a:p>
            <a:pPr marL="800100" lvl="1" indent="-342900">
              <a:buSzPct val="100000"/>
              <a:buAutoNum type="alphaUcPeriod"/>
            </a:pPr>
            <a:r>
              <a:rPr lang="en-US" sz="2000" dirty="0">
                <a:latin typeface="+mn-lt"/>
              </a:rPr>
              <a:t>3 + 4 + 2 − 2</a:t>
            </a:r>
          </a:p>
          <a:p>
            <a:pPr marL="800100" lvl="1" indent="-342900">
              <a:buSzPct val="100000"/>
              <a:buAutoNum type="alphaUcPeriod"/>
            </a:pPr>
            <a:r>
              <a:rPr lang="en-US" sz="2000" dirty="0">
                <a:latin typeface="+mn-lt"/>
              </a:rPr>
              <a:t>2 + 3 − 4 − 2</a:t>
            </a:r>
          </a:p>
          <a:p>
            <a:pPr marL="800100" lvl="1" indent="-342900">
              <a:buSzPct val="100000"/>
              <a:buAutoNum type="alphaUcPeriod"/>
            </a:pPr>
            <a:r>
              <a:rPr lang="en-US" sz="2000" dirty="0">
                <a:latin typeface="+mn-lt"/>
              </a:rPr>
              <a:t>−2 − 3 – 3</a:t>
            </a:r>
          </a:p>
          <a:p>
            <a:pPr marL="457200" indent="-457200">
              <a:buFont typeface="+mj-lt"/>
              <a:buAutoNum type="arabicPeriod"/>
            </a:pPr>
            <a:endParaRPr lang="en-GB" dirty="0"/>
          </a:p>
        </p:txBody>
      </p:sp>
      <p:sp>
        <p:nvSpPr>
          <p:cNvPr id="2" name="投影片編號版面配置區 1"/>
          <p:cNvSpPr>
            <a:spLocks noGrp="1"/>
          </p:cNvSpPr>
          <p:nvPr>
            <p:ph type="sldNum" sz="quarter" idx="12"/>
          </p:nvPr>
        </p:nvSpPr>
        <p:spPr/>
        <p:txBody>
          <a:bodyPr/>
          <a:lstStyle/>
          <a:p>
            <a:fld id="{6D22F896-40B5-4ADD-8801-0D06FADFA095}" type="slidenum">
              <a:rPr lang="en-US" smtClean="0"/>
              <a:pPr/>
              <a:t>60</a:t>
            </a:fld>
            <a:endParaRPr lang="en-US" dirty="0"/>
          </a:p>
        </p:txBody>
      </p:sp>
      <p:sp>
        <p:nvSpPr>
          <p:cNvPr id="6" name="文字版面配置區 5"/>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2587726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838200" y="1443599"/>
            <a:ext cx="10515600" cy="5049275"/>
          </a:xfrm>
        </p:spPr>
        <p:txBody>
          <a:bodyPr>
            <a:normAutofit lnSpcReduction="10000"/>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位元二進制補碼數字表示的範圍涵蓋 −</a:t>
            </a:r>
            <a:r>
              <a:rPr lang="en-US" altLang="zh-TW" dirty="0">
                <a:latin typeface="+mn-lt"/>
              </a:rPr>
              <a:t>24−1 </a:t>
            </a:r>
            <a:r>
              <a:rPr lang="zh-TW" altLang="en-US" dirty="0">
                <a:latin typeface="+mn-lt"/>
              </a:rPr>
              <a:t>至 </a:t>
            </a:r>
            <a:r>
              <a:rPr lang="en-US" altLang="zh-TW" dirty="0">
                <a:latin typeface="+mn-lt"/>
              </a:rPr>
              <a:t>24−1−1</a:t>
            </a:r>
            <a:r>
              <a:rPr lang="zh-TW" altLang="en-US" dirty="0">
                <a:latin typeface="+mn-lt"/>
              </a:rPr>
              <a:t>，即從−</a:t>
            </a:r>
            <a:r>
              <a:rPr lang="en-US" altLang="zh-TW" dirty="0">
                <a:latin typeface="+mn-lt"/>
              </a:rPr>
              <a:t>8 </a:t>
            </a:r>
            <a:r>
              <a:rPr lang="zh-TW" altLang="en-US" dirty="0">
                <a:latin typeface="+mn-lt"/>
              </a:rPr>
              <a:t>至 </a:t>
            </a:r>
            <a:r>
              <a:rPr lang="en-US" altLang="zh-TW" dirty="0">
                <a:latin typeface="+mn-lt"/>
              </a:rPr>
              <a:t>7</a:t>
            </a:r>
            <a:r>
              <a:rPr lang="zh-TW" altLang="en-US" dirty="0">
                <a:latin typeface="+mn-lt"/>
              </a:rPr>
              <a:t>。</a:t>
            </a:r>
          </a:p>
          <a:p>
            <a:r>
              <a:rPr lang="zh-TW" altLang="en-US" dirty="0">
                <a:latin typeface="+mn-lt"/>
              </a:rPr>
              <a:t>就選項 </a:t>
            </a:r>
            <a:r>
              <a:rPr lang="en-US" altLang="zh-TW" dirty="0">
                <a:latin typeface="+mn-lt"/>
              </a:rPr>
              <a:t>A </a:t>
            </a:r>
            <a:r>
              <a:rPr lang="zh-TW" altLang="en-US" dirty="0">
                <a:latin typeface="+mn-lt"/>
              </a:rPr>
              <a:t>而言，</a:t>
            </a:r>
            <a:r>
              <a:rPr lang="en-US" altLang="zh-TW" dirty="0">
                <a:latin typeface="+mn-lt"/>
              </a:rPr>
              <a:t>2 − 3 + 4 − 2 = −1 + 4 − 2 = 3 − 2 = 1</a:t>
            </a:r>
            <a:r>
              <a:rPr lang="zh-TW" altLang="en-US" dirty="0">
                <a:latin typeface="+mn-lt"/>
              </a:rPr>
              <a:t>，沒有結果超出範圍。</a:t>
            </a:r>
          </a:p>
          <a:p>
            <a:r>
              <a:rPr lang="zh-TW" altLang="en-US" dirty="0">
                <a:latin typeface="+mn-lt"/>
              </a:rPr>
              <a:t>就選項 </a:t>
            </a:r>
            <a:r>
              <a:rPr lang="en-US" altLang="zh-TW" dirty="0">
                <a:latin typeface="+mn-lt"/>
              </a:rPr>
              <a:t>B </a:t>
            </a:r>
            <a:r>
              <a:rPr lang="zh-TW" altLang="en-US" dirty="0">
                <a:latin typeface="+mn-lt"/>
              </a:rPr>
              <a:t>而言，</a:t>
            </a:r>
            <a:r>
              <a:rPr lang="en-US" altLang="zh-TW" dirty="0">
                <a:latin typeface="+mn-lt"/>
              </a:rPr>
              <a:t>3 + 4 + 2 − 2 = 7 + 2 − 2 = 9 − 2 = 7</a:t>
            </a:r>
            <a:r>
              <a:rPr lang="zh-TW" altLang="en-US" dirty="0">
                <a:latin typeface="+mn-lt"/>
              </a:rPr>
              <a:t>。雖然最終結果沒有超出範圍，但計算中出現了超出範圍的數字，這代表計算過程中出現了溢出誤差。</a:t>
            </a:r>
          </a:p>
          <a:p>
            <a:r>
              <a:rPr lang="zh-TW" altLang="en-US" dirty="0">
                <a:latin typeface="+mn-lt"/>
              </a:rPr>
              <a:t>就選項 </a:t>
            </a:r>
            <a:r>
              <a:rPr lang="en-US" altLang="zh-TW" dirty="0">
                <a:latin typeface="+mn-lt"/>
              </a:rPr>
              <a:t>C </a:t>
            </a:r>
            <a:r>
              <a:rPr lang="zh-TW" altLang="en-US" dirty="0">
                <a:latin typeface="+mn-lt"/>
              </a:rPr>
              <a:t>而言，</a:t>
            </a:r>
            <a:r>
              <a:rPr lang="en-US" altLang="zh-TW" dirty="0">
                <a:latin typeface="+mn-lt"/>
              </a:rPr>
              <a:t>2 + 3 − 4 − 2 = 5 − 4 − 2 = 1 − 2 = −1</a:t>
            </a:r>
            <a:r>
              <a:rPr lang="zh-TW" altLang="en-US" dirty="0">
                <a:latin typeface="+mn-lt"/>
              </a:rPr>
              <a:t>，沒有結果超出範圍。</a:t>
            </a:r>
          </a:p>
          <a:p>
            <a:r>
              <a:rPr lang="zh-TW" altLang="en-US" dirty="0">
                <a:latin typeface="+mn-lt"/>
              </a:rPr>
              <a:t>就選項 </a:t>
            </a:r>
            <a:r>
              <a:rPr lang="en-US" altLang="zh-TW" dirty="0">
                <a:latin typeface="+mn-lt"/>
              </a:rPr>
              <a:t>D </a:t>
            </a:r>
            <a:r>
              <a:rPr lang="zh-TW" altLang="en-US" dirty="0">
                <a:latin typeface="+mn-lt"/>
              </a:rPr>
              <a:t>而言，−</a:t>
            </a:r>
            <a:r>
              <a:rPr lang="en-US" altLang="zh-TW" dirty="0">
                <a:latin typeface="+mn-lt"/>
              </a:rPr>
              <a:t>2 − 3 − 3 = −5 − 3 = −8</a:t>
            </a:r>
            <a:r>
              <a:rPr lang="zh-TW" altLang="en-US" dirty="0">
                <a:latin typeface="+mn-lt"/>
              </a:rPr>
              <a:t>，沒有結果超出範圍。</a:t>
            </a:r>
          </a:p>
          <a:p>
            <a:r>
              <a:rPr lang="zh-TW" altLang="en-US" dirty="0">
                <a:latin typeface="+mn-lt"/>
              </a:rPr>
              <a:t>只有選項 </a:t>
            </a:r>
            <a:r>
              <a:rPr lang="en-US" altLang="zh-TW" dirty="0">
                <a:latin typeface="+mn-lt"/>
              </a:rPr>
              <a:t>B </a:t>
            </a:r>
            <a:r>
              <a:rPr lang="zh-TW" altLang="en-US" dirty="0">
                <a:latin typeface="+mn-lt"/>
              </a:rPr>
              <a:t>涉及溢出誤差。</a:t>
            </a:r>
            <a:endParaRPr lang="en-US" altLang="zh-TW" dirty="0">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B</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61</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42511448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欣欣的電腦使用 </a:t>
            </a:r>
            <a:r>
              <a:rPr lang="en-US" altLang="zh-TW" dirty="0">
                <a:latin typeface="+mn-lt"/>
              </a:rPr>
              <a:t>8 </a:t>
            </a:r>
            <a:r>
              <a:rPr lang="zh-TW" altLang="en-US" dirty="0">
                <a:latin typeface="+mn-lt"/>
              </a:rPr>
              <a:t>位元二進制補碼數字來儲存數字。她將數字 </a:t>
            </a:r>
            <a:r>
              <a:rPr lang="en-US" altLang="zh-TW" dirty="0">
                <a:latin typeface="+mn-lt"/>
              </a:rPr>
              <a:t>X </a:t>
            </a:r>
            <a:r>
              <a:rPr lang="zh-TW" altLang="en-US" dirty="0">
                <a:latin typeface="+mn-lt"/>
              </a:rPr>
              <a:t>增加 </a:t>
            </a:r>
            <a:r>
              <a:rPr lang="en-US" altLang="zh-TW" dirty="0">
                <a:latin typeface="+mn-lt"/>
              </a:rPr>
              <a:t>3</a:t>
            </a:r>
            <a:r>
              <a:rPr lang="zh-TW" altLang="en-US" dirty="0">
                <a:latin typeface="+mn-lt"/>
              </a:rPr>
              <a:t>，然後溢出誤差便發生了。數字 </a:t>
            </a:r>
            <a:r>
              <a:rPr lang="en-US" altLang="zh-TW" dirty="0">
                <a:latin typeface="+mn-lt"/>
              </a:rPr>
              <a:t>X </a:t>
            </a:r>
            <a:r>
              <a:rPr lang="zh-TW" altLang="en-US" dirty="0">
                <a:latin typeface="+mn-lt"/>
              </a:rPr>
              <a:t>是多少？</a:t>
            </a:r>
            <a:endParaRPr lang="en-US" altLang="zh-TW" dirty="0">
              <a:latin typeface="+mn-lt"/>
            </a:endParaRPr>
          </a:p>
          <a:p>
            <a:pPr marL="457200" indent="-457200">
              <a:buFont typeface="+mj-lt"/>
              <a:buAutoNum type="arabicPeriod" startAt="2"/>
            </a:pPr>
            <a:endParaRPr lang="en-US" dirty="0">
              <a:latin typeface="+mn-lt"/>
            </a:endParaRPr>
          </a:p>
          <a:p>
            <a:pPr marL="800100" lvl="1" indent="-342900">
              <a:buSzPct val="100000"/>
              <a:buAutoNum type="alphaUcPeriod"/>
            </a:pPr>
            <a:r>
              <a:rPr lang="en-HK" sz="2000" dirty="0">
                <a:latin typeface="+mn-lt"/>
              </a:rPr>
              <a:t>0111 1110</a:t>
            </a:r>
          </a:p>
          <a:p>
            <a:pPr marL="800100" lvl="1" indent="-342900">
              <a:buSzPct val="100000"/>
              <a:buAutoNum type="alphaUcPeriod"/>
            </a:pPr>
            <a:r>
              <a:rPr lang="en-HK" sz="2000" dirty="0">
                <a:latin typeface="+mn-lt"/>
              </a:rPr>
              <a:t>1111 1110</a:t>
            </a:r>
          </a:p>
          <a:p>
            <a:pPr marL="800100" lvl="1" indent="-342900">
              <a:buSzPct val="100000"/>
              <a:buAutoNum type="alphaUcPeriod"/>
            </a:pPr>
            <a:r>
              <a:rPr lang="en-HK" sz="2000" dirty="0">
                <a:latin typeface="+mn-lt"/>
              </a:rPr>
              <a:t>0000 1101</a:t>
            </a:r>
          </a:p>
          <a:p>
            <a:pPr marL="800100" lvl="1" indent="-342900">
              <a:buSzPct val="100000"/>
              <a:buAutoNum type="alphaUcPeriod"/>
            </a:pPr>
            <a:r>
              <a:rPr lang="en-HK" sz="2000" dirty="0">
                <a:latin typeface="+mn-lt"/>
              </a:rPr>
              <a:t>1000 0000</a:t>
            </a:r>
            <a:endParaRPr lang="en-US" sz="2000" dirty="0">
              <a:latin typeface="+mn-lt"/>
            </a:endParaRPr>
          </a:p>
          <a:p>
            <a:pPr marL="457200" indent="-457200">
              <a:buFont typeface="+mj-lt"/>
              <a:buAutoNum type="arabicPeriod" startAt="2"/>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62</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1801443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838200" y="1443599"/>
            <a:ext cx="10515600" cy="5049275"/>
          </a:xfrm>
        </p:spPr>
        <p:txBody>
          <a:bodyPr>
            <a:normAutofit/>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en-US" altLang="zh-TW" dirty="0">
                <a:latin typeface="+mn-lt"/>
              </a:rPr>
              <a:t>3 </a:t>
            </a:r>
            <a:r>
              <a:rPr lang="zh-TW" altLang="en-US" dirty="0">
                <a:latin typeface="+mn-lt"/>
              </a:rPr>
              <a:t>是一個正數。只有當兩個符號相同的數字相加時，溢出誤差才會發生。如果正數加 </a:t>
            </a:r>
            <a:r>
              <a:rPr lang="en-US" altLang="zh-TW" dirty="0">
                <a:latin typeface="+mn-lt"/>
              </a:rPr>
              <a:t>3 </a:t>
            </a:r>
            <a:r>
              <a:rPr lang="zh-TW" altLang="en-US" dirty="0">
                <a:latin typeface="+mn-lt"/>
              </a:rPr>
              <a:t>後得到負數，則表示發生溢出誤差。</a:t>
            </a:r>
          </a:p>
          <a:p>
            <a:r>
              <a:rPr lang="zh-TW" altLang="en-US" dirty="0">
                <a:latin typeface="+mn-lt"/>
              </a:rPr>
              <a:t>選項 </a:t>
            </a:r>
            <a:r>
              <a:rPr lang="en-US" altLang="zh-TW" dirty="0">
                <a:latin typeface="+mn-lt"/>
              </a:rPr>
              <a:t>B </a:t>
            </a:r>
            <a:r>
              <a:rPr lang="zh-TW" altLang="en-US" dirty="0">
                <a:latin typeface="+mn-lt"/>
              </a:rPr>
              <a:t>和 </a:t>
            </a:r>
            <a:r>
              <a:rPr lang="en-US" altLang="zh-TW" dirty="0">
                <a:latin typeface="+mn-lt"/>
              </a:rPr>
              <a:t>D </a:t>
            </a:r>
            <a:r>
              <a:rPr lang="zh-TW" altLang="en-US" dirty="0">
                <a:latin typeface="+mn-lt"/>
              </a:rPr>
              <a:t>均表示負數。因此，選項 </a:t>
            </a:r>
            <a:r>
              <a:rPr lang="en-US" altLang="zh-TW" dirty="0">
                <a:latin typeface="+mn-lt"/>
              </a:rPr>
              <a:t>B </a:t>
            </a:r>
            <a:r>
              <a:rPr lang="zh-TW" altLang="en-US" dirty="0">
                <a:latin typeface="+mn-lt"/>
              </a:rPr>
              <a:t>和 </a:t>
            </a:r>
            <a:r>
              <a:rPr lang="en-US" altLang="zh-TW" dirty="0">
                <a:latin typeface="+mn-lt"/>
              </a:rPr>
              <a:t>D </a:t>
            </a:r>
            <a:r>
              <a:rPr lang="zh-TW" altLang="en-US" dirty="0">
                <a:latin typeface="+mn-lt"/>
              </a:rPr>
              <a:t>都不是答案。</a:t>
            </a:r>
          </a:p>
          <a:p>
            <a:r>
              <a:rPr lang="en-US" altLang="zh-TW" dirty="0">
                <a:latin typeface="+mn-lt"/>
              </a:rPr>
              <a:t>3 </a:t>
            </a:r>
            <a:r>
              <a:rPr lang="zh-TW" altLang="en-US" dirty="0">
                <a:latin typeface="+mn-lt"/>
              </a:rPr>
              <a:t>的 </a:t>
            </a:r>
            <a:r>
              <a:rPr lang="en-US" altLang="zh-TW" dirty="0">
                <a:latin typeface="+mn-lt"/>
              </a:rPr>
              <a:t>8 </a:t>
            </a:r>
            <a:r>
              <a:rPr lang="zh-TW" altLang="en-US" dirty="0">
                <a:latin typeface="+mn-lt"/>
              </a:rPr>
              <a:t>位元二進制補碼數字是 </a:t>
            </a:r>
            <a:r>
              <a:rPr lang="en-US" altLang="zh-TW" dirty="0">
                <a:latin typeface="+mn-lt"/>
              </a:rPr>
              <a:t>0000 0011</a:t>
            </a:r>
            <a:r>
              <a:rPr lang="zh-TW" altLang="en-US" dirty="0">
                <a:latin typeface="+mn-lt"/>
              </a:rPr>
              <a:t>。</a:t>
            </a:r>
          </a:p>
          <a:p>
            <a:r>
              <a:rPr lang="zh-TW" altLang="en-US" dirty="0">
                <a:latin typeface="+mn-lt"/>
              </a:rPr>
              <a:t>選項 </a:t>
            </a:r>
            <a:r>
              <a:rPr lang="en-US" altLang="zh-TW" dirty="0">
                <a:latin typeface="+mn-lt"/>
              </a:rPr>
              <a:t>A </a:t>
            </a:r>
            <a:r>
              <a:rPr lang="zh-TW" altLang="en-US" dirty="0">
                <a:latin typeface="+mn-lt"/>
              </a:rPr>
              <a:t>的 </a:t>
            </a:r>
            <a:r>
              <a:rPr lang="en-US" altLang="zh-TW" dirty="0">
                <a:latin typeface="+mn-lt"/>
              </a:rPr>
              <a:t>0111 1110 </a:t>
            </a:r>
            <a:r>
              <a:rPr lang="zh-TW" altLang="en-US" dirty="0">
                <a:latin typeface="+mn-lt"/>
              </a:rPr>
              <a:t>表示正數。</a:t>
            </a:r>
            <a:r>
              <a:rPr lang="en-US" altLang="zh-TW" dirty="0">
                <a:latin typeface="+mn-lt"/>
              </a:rPr>
              <a:t>0111 1110 + 0000 0011 = 1000 0001</a:t>
            </a:r>
            <a:r>
              <a:rPr lang="zh-TW" altLang="en-US" dirty="0">
                <a:latin typeface="+mn-lt"/>
              </a:rPr>
              <a:t>，表示負數。</a:t>
            </a:r>
          </a:p>
          <a:p>
            <a:r>
              <a:rPr lang="zh-TW" altLang="en-US" dirty="0">
                <a:latin typeface="+mn-lt"/>
              </a:rPr>
              <a:t>選項 </a:t>
            </a:r>
            <a:r>
              <a:rPr lang="en-US" altLang="zh-TW" dirty="0">
                <a:latin typeface="+mn-lt"/>
              </a:rPr>
              <a:t>C </a:t>
            </a:r>
            <a:r>
              <a:rPr lang="zh-TW" altLang="en-US" dirty="0">
                <a:latin typeface="+mn-lt"/>
              </a:rPr>
              <a:t>的 </a:t>
            </a:r>
            <a:r>
              <a:rPr lang="en-US" altLang="zh-TW" dirty="0">
                <a:latin typeface="+mn-lt"/>
              </a:rPr>
              <a:t>0000 1101 </a:t>
            </a:r>
            <a:r>
              <a:rPr lang="zh-TW" altLang="en-US" dirty="0">
                <a:latin typeface="+mn-lt"/>
              </a:rPr>
              <a:t>表示正數。</a:t>
            </a:r>
            <a:r>
              <a:rPr lang="en-US" altLang="zh-TW" dirty="0">
                <a:latin typeface="+mn-lt"/>
              </a:rPr>
              <a:t>0000 1101 + 0000 0011 = 0001 0000</a:t>
            </a:r>
            <a:r>
              <a:rPr lang="zh-TW" altLang="en-US" dirty="0">
                <a:latin typeface="+mn-lt"/>
              </a:rPr>
              <a:t>，表示正數。</a:t>
            </a:r>
            <a:endParaRPr lang="en-US" altLang="zh-TW" dirty="0">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A</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63</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27584071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一部電腦在計算 </a:t>
            </a:r>
            <a:r>
              <a:rPr lang="en-US" altLang="zh-TW" dirty="0">
                <a:latin typeface="+mn-lt"/>
              </a:rPr>
              <a:t>P + Q </a:t>
            </a:r>
            <a:r>
              <a:rPr lang="zh-TW" altLang="en-US" dirty="0">
                <a:latin typeface="+mn-lt"/>
              </a:rPr>
              <a:t>後，傳回 </a:t>
            </a:r>
            <a:r>
              <a:rPr lang="en-US" altLang="zh-TW" dirty="0">
                <a:latin typeface="+mn-lt"/>
              </a:rPr>
              <a:t>R </a:t>
            </a:r>
            <a:r>
              <a:rPr lang="zh-TW" altLang="en-US" dirty="0">
                <a:latin typeface="+mn-lt"/>
              </a:rPr>
              <a:t>作為答案。假設 </a:t>
            </a:r>
            <a:r>
              <a:rPr lang="en-US" altLang="zh-TW" dirty="0">
                <a:latin typeface="+mn-lt"/>
              </a:rPr>
              <a:t>P</a:t>
            </a:r>
            <a:r>
              <a:rPr lang="zh-TW" altLang="en-US" dirty="0">
                <a:latin typeface="+mn-lt"/>
              </a:rPr>
              <a:t>、</a:t>
            </a:r>
            <a:r>
              <a:rPr lang="en-US" altLang="zh-TW" dirty="0">
                <a:latin typeface="+mn-lt"/>
              </a:rPr>
              <a:t>Q</a:t>
            </a:r>
            <a:r>
              <a:rPr lang="zh-TW" altLang="en-US" dirty="0">
                <a:latin typeface="+mn-lt"/>
              </a:rPr>
              <a:t>、</a:t>
            </a:r>
            <a:r>
              <a:rPr lang="en-US" altLang="zh-TW" dirty="0">
                <a:latin typeface="+mn-lt"/>
              </a:rPr>
              <a:t>R </a:t>
            </a:r>
            <a:r>
              <a:rPr lang="zh-TW" altLang="en-US" dirty="0">
                <a:latin typeface="+mn-lt"/>
              </a:rPr>
              <a:t>均為 </a:t>
            </a:r>
            <a:r>
              <a:rPr lang="en-US" altLang="zh-TW" dirty="0">
                <a:latin typeface="+mn-lt"/>
              </a:rPr>
              <a:t>3 </a:t>
            </a:r>
            <a:r>
              <a:rPr lang="zh-TW" altLang="en-US" dirty="0">
                <a:latin typeface="+mn-lt"/>
              </a:rPr>
              <a:t>位元無符號整數，在哪種情況下，計算時會出現溢出錯誤？</a:t>
            </a:r>
            <a:endParaRPr lang="en-US" altLang="zh-TW" dirty="0">
              <a:latin typeface="+mn-lt"/>
            </a:endParaRPr>
          </a:p>
          <a:p>
            <a:pPr marL="1257300" lvl="2" indent="-342900">
              <a:buSzPct val="100000"/>
              <a:buAutoNum type="arabicParenBoth"/>
            </a:pPr>
            <a:r>
              <a:rPr lang="en-HK" sz="2000" dirty="0">
                <a:latin typeface="+mn-lt"/>
              </a:rPr>
              <a:t>P = 7</a:t>
            </a:r>
          </a:p>
          <a:p>
            <a:pPr marL="1257300" lvl="2" indent="-342900">
              <a:buSzPct val="100000"/>
              <a:buAutoNum type="arabicParenBoth"/>
            </a:pPr>
            <a:r>
              <a:rPr lang="en-HK" sz="2000" dirty="0">
                <a:latin typeface="+mn-lt"/>
              </a:rPr>
              <a:t>P &gt; R</a:t>
            </a:r>
          </a:p>
          <a:p>
            <a:pPr marL="1257300" lvl="2" indent="-342900">
              <a:buSzPct val="100000"/>
              <a:buAutoNum type="arabicParenBoth"/>
            </a:pPr>
            <a:r>
              <a:rPr lang="en-HK" sz="2000" dirty="0">
                <a:latin typeface="+mn-lt"/>
              </a:rPr>
              <a:t>P &gt; 3 </a:t>
            </a:r>
            <a:r>
              <a:rPr lang="zh-TW" altLang="en-US" sz="2000" dirty="0">
                <a:latin typeface="+mn-lt"/>
              </a:rPr>
              <a:t>和</a:t>
            </a:r>
            <a:r>
              <a:rPr lang="en-HK" sz="2000" dirty="0">
                <a:latin typeface="+mn-lt"/>
              </a:rPr>
              <a:t> Q &gt; 4</a:t>
            </a:r>
          </a:p>
          <a:p>
            <a:pPr marL="1257300" lvl="2" indent="-342900">
              <a:buSzPct val="100000"/>
              <a:buAutoNum type="arabicParenBoth"/>
            </a:pPr>
            <a:endParaRPr lang="en-HK" sz="2000" dirty="0">
              <a:latin typeface="+mn-lt"/>
            </a:endParaRPr>
          </a:p>
          <a:p>
            <a:pPr marL="914400" lvl="1" indent="-457200">
              <a:buSzPct val="100000"/>
              <a:buAutoNum type="alphaUcPeriod"/>
            </a:pPr>
            <a:r>
              <a:rPr lang="zh-TW" altLang="en-US" sz="2200" dirty="0">
                <a:latin typeface="+mn-lt"/>
              </a:rPr>
              <a:t>只有 </a:t>
            </a:r>
            <a:r>
              <a:rPr lang="en-HK" sz="2200" dirty="0">
                <a:latin typeface="+mn-lt"/>
              </a:rPr>
              <a:t>(1) </a:t>
            </a:r>
            <a:r>
              <a:rPr lang="zh-TW" altLang="en-US" sz="2200" dirty="0">
                <a:latin typeface="+mn-lt"/>
              </a:rPr>
              <a:t>和</a:t>
            </a:r>
            <a:r>
              <a:rPr lang="en-HK" sz="2200" dirty="0">
                <a:latin typeface="+mn-lt"/>
              </a:rPr>
              <a:t> (2) </a:t>
            </a:r>
          </a:p>
          <a:p>
            <a:pPr marL="914400" lvl="1" indent="-457200">
              <a:buSzPct val="100000"/>
              <a:buAutoNum type="alphaUcPeriod"/>
            </a:pPr>
            <a:r>
              <a:rPr lang="zh-TW" altLang="en-US" sz="2200" dirty="0">
                <a:latin typeface="+mn-lt"/>
              </a:rPr>
              <a:t>只有 </a:t>
            </a:r>
            <a:r>
              <a:rPr lang="en-HK" sz="2200" dirty="0">
                <a:latin typeface="+mn-lt"/>
              </a:rPr>
              <a:t>(1) </a:t>
            </a:r>
            <a:r>
              <a:rPr lang="zh-TW" altLang="en-US" sz="2200" dirty="0">
                <a:latin typeface="+mn-lt"/>
              </a:rPr>
              <a:t>和</a:t>
            </a:r>
            <a:r>
              <a:rPr lang="en-HK" sz="2200" dirty="0">
                <a:latin typeface="+mn-lt"/>
              </a:rPr>
              <a:t> (3) </a:t>
            </a:r>
          </a:p>
          <a:p>
            <a:pPr marL="914400" lvl="1" indent="-457200">
              <a:buSzPct val="100000"/>
              <a:buAutoNum type="alphaUcPeriod"/>
            </a:pPr>
            <a:r>
              <a:rPr lang="zh-TW" altLang="en-US" sz="2200" dirty="0">
                <a:latin typeface="+mn-lt"/>
              </a:rPr>
              <a:t>只有 </a:t>
            </a:r>
            <a:r>
              <a:rPr lang="en-HK" sz="2200" dirty="0">
                <a:latin typeface="+mn-lt"/>
              </a:rPr>
              <a:t>(2) </a:t>
            </a:r>
            <a:r>
              <a:rPr lang="zh-TW" altLang="en-US" sz="2200" dirty="0">
                <a:latin typeface="+mn-lt"/>
              </a:rPr>
              <a:t>和</a:t>
            </a:r>
            <a:r>
              <a:rPr lang="en-HK" sz="2200" dirty="0">
                <a:latin typeface="+mn-lt"/>
              </a:rPr>
              <a:t> (3) </a:t>
            </a:r>
          </a:p>
          <a:p>
            <a:pPr marL="914400" lvl="1" indent="-457200">
              <a:buSzPct val="100000"/>
              <a:buAutoNum type="alphaUcPeriod"/>
            </a:pPr>
            <a:r>
              <a:rPr lang="en-HK" sz="2200" dirty="0">
                <a:latin typeface="+mn-lt"/>
              </a:rPr>
              <a:t>(1)</a:t>
            </a:r>
            <a:r>
              <a:rPr lang="zh-TW" altLang="en-US" sz="2200" dirty="0">
                <a:latin typeface="+mn-lt"/>
              </a:rPr>
              <a:t>、</a:t>
            </a:r>
            <a:r>
              <a:rPr lang="en-US" altLang="zh-TW" sz="2200" dirty="0">
                <a:latin typeface="+mn-lt"/>
              </a:rPr>
              <a:t>(2) </a:t>
            </a:r>
            <a:r>
              <a:rPr lang="zh-TW" altLang="en-US" sz="2200" dirty="0">
                <a:latin typeface="+mn-lt"/>
              </a:rPr>
              <a:t>和 </a:t>
            </a:r>
            <a:r>
              <a:rPr lang="en-US" altLang="zh-TW" sz="2200" dirty="0">
                <a:latin typeface="+mn-lt"/>
              </a:rPr>
              <a:t>(3)</a:t>
            </a:r>
            <a:endParaRPr lang="en-HK" sz="2200" dirty="0">
              <a:latin typeface="+mn-lt"/>
            </a:endParaRPr>
          </a:p>
          <a:p>
            <a:pPr marL="457200" indent="-457200">
              <a:buFont typeface="+mj-lt"/>
              <a:buAutoNum type="arabicPeriod" startAt="3"/>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64</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38170825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838200" y="1443599"/>
            <a:ext cx="10515600" cy="5049275"/>
          </a:xfrm>
        </p:spPr>
        <p:txBody>
          <a:bodyPr>
            <a:normAutofit/>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情況 </a:t>
            </a:r>
            <a:r>
              <a:rPr lang="en-US" altLang="zh-TW" dirty="0">
                <a:latin typeface="+mn-lt"/>
              </a:rPr>
              <a:t>(1)</a:t>
            </a:r>
            <a:r>
              <a:rPr lang="zh-TW" altLang="en-US" dirty="0">
                <a:latin typeface="+mn-lt"/>
              </a:rPr>
              <a:t>，如果 </a:t>
            </a:r>
            <a:r>
              <a:rPr lang="en-US" altLang="zh-TW" dirty="0">
                <a:latin typeface="+mn-lt"/>
              </a:rPr>
              <a:t>Q = 0</a:t>
            </a:r>
            <a:r>
              <a:rPr lang="zh-TW" altLang="en-US" dirty="0">
                <a:latin typeface="+mn-lt"/>
              </a:rPr>
              <a:t>，則 </a:t>
            </a:r>
            <a:r>
              <a:rPr lang="en-US" altLang="zh-TW" dirty="0">
                <a:latin typeface="+mn-lt"/>
              </a:rPr>
              <a:t>P + Q = 7</a:t>
            </a:r>
            <a:r>
              <a:rPr lang="zh-TW" altLang="en-US" dirty="0">
                <a:latin typeface="+mn-lt"/>
              </a:rPr>
              <a:t>，不會超出無符號整數的範圍。</a:t>
            </a:r>
          </a:p>
          <a:p>
            <a:r>
              <a:rPr lang="zh-TW" altLang="en-US" dirty="0">
                <a:latin typeface="+mn-lt"/>
              </a:rPr>
              <a:t>情況 </a:t>
            </a:r>
            <a:r>
              <a:rPr lang="en-US" altLang="zh-TW" dirty="0">
                <a:latin typeface="+mn-lt"/>
              </a:rPr>
              <a:t>(2)</a:t>
            </a:r>
            <a:r>
              <a:rPr lang="zh-TW" altLang="en-US" dirty="0">
                <a:latin typeface="+mn-lt"/>
              </a:rPr>
              <a:t>，由於 </a:t>
            </a:r>
            <a:r>
              <a:rPr lang="en-US" altLang="zh-TW" dirty="0">
                <a:latin typeface="+mn-lt"/>
              </a:rPr>
              <a:t>P</a:t>
            </a:r>
            <a:r>
              <a:rPr lang="zh-TW" altLang="en-US" dirty="0">
                <a:latin typeface="+mn-lt"/>
              </a:rPr>
              <a:t>、</a:t>
            </a:r>
            <a:r>
              <a:rPr lang="en-US" altLang="zh-TW" dirty="0">
                <a:latin typeface="+mn-lt"/>
              </a:rPr>
              <a:t>Q</a:t>
            </a:r>
            <a:r>
              <a:rPr lang="zh-TW" altLang="en-US" dirty="0">
                <a:latin typeface="+mn-lt"/>
              </a:rPr>
              <a:t>、</a:t>
            </a:r>
            <a:r>
              <a:rPr lang="en-US" altLang="zh-TW" dirty="0">
                <a:latin typeface="+mn-lt"/>
              </a:rPr>
              <a:t>R </a:t>
            </a:r>
            <a:r>
              <a:rPr lang="zh-TW" altLang="en-US" dirty="0">
                <a:latin typeface="+mn-lt"/>
              </a:rPr>
              <a:t>均為無符號整數，它們只能是零或正數。將零或正數加至 </a:t>
            </a:r>
            <a:r>
              <a:rPr lang="en-US" altLang="zh-TW" dirty="0">
                <a:latin typeface="+mn-lt"/>
              </a:rPr>
              <a:t>P </a:t>
            </a:r>
            <a:r>
              <a:rPr lang="zh-TW" altLang="en-US" dirty="0">
                <a:latin typeface="+mn-lt"/>
              </a:rPr>
              <a:t>的話，應會得出比 </a:t>
            </a:r>
            <a:r>
              <a:rPr lang="en-US" altLang="zh-TW" dirty="0">
                <a:latin typeface="+mn-lt"/>
              </a:rPr>
              <a:t>P </a:t>
            </a:r>
            <a:r>
              <a:rPr lang="zh-TW" altLang="en-US" dirty="0">
                <a:latin typeface="+mn-lt"/>
              </a:rPr>
              <a:t>更大的整數。</a:t>
            </a:r>
          </a:p>
          <a:p>
            <a:r>
              <a:rPr lang="zh-TW" altLang="en-US" dirty="0">
                <a:latin typeface="+mn-lt"/>
              </a:rPr>
              <a:t>情況 </a:t>
            </a:r>
            <a:r>
              <a:rPr lang="en-US" altLang="zh-TW" dirty="0">
                <a:latin typeface="+mn-lt"/>
              </a:rPr>
              <a:t>(3)</a:t>
            </a:r>
            <a:r>
              <a:rPr lang="zh-TW" altLang="en-US" dirty="0">
                <a:latin typeface="+mn-lt"/>
              </a:rPr>
              <a:t>，如果 </a:t>
            </a:r>
            <a:r>
              <a:rPr lang="en-US" altLang="zh-TW" dirty="0">
                <a:latin typeface="+mn-lt"/>
              </a:rPr>
              <a:t>P &gt; 3 </a:t>
            </a:r>
            <a:r>
              <a:rPr lang="zh-TW" altLang="en-US" dirty="0">
                <a:latin typeface="+mn-lt"/>
              </a:rPr>
              <a:t>和 </a:t>
            </a:r>
            <a:r>
              <a:rPr lang="en-US" altLang="zh-TW" dirty="0">
                <a:latin typeface="+mn-lt"/>
              </a:rPr>
              <a:t>Q &gt; 4</a:t>
            </a:r>
            <a:r>
              <a:rPr lang="zh-TW" altLang="en-US" dirty="0">
                <a:latin typeface="+mn-lt"/>
              </a:rPr>
              <a:t>，則 </a:t>
            </a:r>
            <a:r>
              <a:rPr lang="en-US" altLang="zh-TW" dirty="0">
                <a:latin typeface="+mn-lt"/>
              </a:rPr>
              <a:t>P + Q &gt; 7</a:t>
            </a:r>
            <a:r>
              <a:rPr lang="zh-TW" altLang="en-US" dirty="0">
                <a:latin typeface="+mn-lt"/>
              </a:rPr>
              <a:t>。一個 </a:t>
            </a:r>
            <a:r>
              <a:rPr lang="en-US" altLang="zh-TW" dirty="0">
                <a:latin typeface="+mn-lt"/>
              </a:rPr>
              <a:t>3 </a:t>
            </a:r>
            <a:r>
              <a:rPr lang="zh-TW" altLang="en-US" dirty="0">
                <a:latin typeface="+mn-lt"/>
              </a:rPr>
              <a:t>位元的無符號整數不可大於 </a:t>
            </a:r>
            <a:r>
              <a:rPr lang="en-US" altLang="zh-TW" dirty="0">
                <a:latin typeface="+mn-lt"/>
              </a:rPr>
              <a:t>7</a:t>
            </a:r>
            <a:r>
              <a:rPr lang="zh-TW" altLang="en-US" dirty="0">
                <a:latin typeface="+mn-lt"/>
              </a:rPr>
              <a:t>。</a:t>
            </a:r>
            <a:endParaRPr lang="en-US" altLang="zh-TW" dirty="0">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C</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65</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31262565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81 </a:t>
            </a:r>
            <a:r>
              <a:rPr lang="zh-TW" altLang="en-US" dirty="0">
                <a:latin typeface="+mn-lt"/>
              </a:rPr>
              <a:t>頁的測試站 </a:t>
            </a:r>
            <a:r>
              <a:rPr lang="en-US" altLang="zh-TW" dirty="0">
                <a:latin typeface="+mn-lt"/>
              </a:rPr>
              <a:t>3.3</a:t>
            </a:r>
            <a:r>
              <a:rPr lang="zh-TW" altLang="en-US" dirty="0">
                <a:latin typeface="+mn-lt"/>
              </a:rPr>
              <a:t>。</a:t>
            </a:r>
            <a:endParaRPr lang="en-US" altLang="zh-TW" dirty="0">
              <a:latin typeface="+mn-lt"/>
            </a:endParaRPr>
          </a:p>
          <a:p>
            <a:endParaRPr lang="en-US" dirty="0"/>
          </a:p>
          <a:p>
            <a:pPr marL="457200" indent="-457200">
              <a:buAutoNum type="arabicPeriod"/>
            </a:pPr>
            <a:r>
              <a:rPr lang="en-HK" dirty="0">
                <a:solidFill>
                  <a:srgbClr val="FF0000"/>
                </a:solidFill>
                <a:latin typeface="+mn-lt"/>
              </a:rPr>
              <a:t>A</a:t>
            </a:r>
          </a:p>
          <a:p>
            <a:pPr marL="457200" indent="-457200">
              <a:buAutoNum type="arabicPeriod"/>
            </a:pPr>
            <a:r>
              <a:rPr lang="en-HK" dirty="0">
                <a:solidFill>
                  <a:srgbClr val="FF0000"/>
                </a:solidFill>
                <a:latin typeface="+mn-lt"/>
              </a:rPr>
              <a:t>B</a:t>
            </a:r>
          </a:p>
          <a:p>
            <a:pPr marL="457200" indent="-457200">
              <a:buAutoNum type="arabicPeriod"/>
            </a:pPr>
            <a:r>
              <a:rPr lang="en-HK" dirty="0" smtClean="0">
                <a:solidFill>
                  <a:srgbClr val="FF0000"/>
                </a:solidFill>
                <a:latin typeface="+mn-lt"/>
              </a:rPr>
              <a:t>D</a:t>
            </a:r>
            <a:endParaRPr lang="en-HK" dirty="0">
              <a:solidFill>
                <a:srgbClr val="FF0000"/>
              </a:solidFill>
              <a:latin typeface="+mn-lt"/>
            </a:endParaRPr>
          </a:p>
          <a:p>
            <a:pPr marL="457200" indent="-457200">
              <a:buAutoNum type="arabicPeriod"/>
            </a:pPr>
            <a:r>
              <a:rPr lang="en-HK" dirty="0">
                <a:solidFill>
                  <a:srgbClr val="FF0000"/>
                </a:solidFill>
                <a:latin typeface="+mn-lt"/>
              </a:rPr>
              <a:t>C</a:t>
            </a:r>
            <a:endParaRPr lang="en-US" dirty="0">
              <a:solidFill>
                <a:srgbClr val="FF0000"/>
              </a:solidFill>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66</a:t>
            </a:fld>
            <a:endParaRPr lang="en-US" dirty="0"/>
          </a:p>
        </p:txBody>
      </p:sp>
      <p:sp>
        <p:nvSpPr>
          <p:cNvPr id="6" name="文字版面配置區 5"/>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213177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字符編碼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67</a:t>
            </a:fld>
            <a:endParaRPr lang="en-US" dirty="0"/>
          </a:p>
        </p:txBody>
      </p:sp>
      <p:sp>
        <p:nvSpPr>
          <p:cNvPr id="6" name="文字版面配置區 5"/>
          <p:cNvSpPr>
            <a:spLocks noGrp="1"/>
          </p:cNvSpPr>
          <p:nvPr>
            <p:ph type="body" sz="quarter" idx="14"/>
          </p:nvPr>
        </p:nvSpPr>
        <p:spPr/>
        <p:txBody>
          <a:bodyPr/>
          <a:lstStyle/>
          <a:p>
            <a:r>
              <a:rPr lang="en-US" dirty="0"/>
              <a:t>3.2</a:t>
            </a:r>
            <a:endParaRPr lang="en-GB" dirty="0"/>
          </a:p>
        </p:txBody>
      </p:sp>
      <p:sp>
        <p:nvSpPr>
          <p:cNvPr id="7" name="內容版面配置區 6"/>
          <p:cNvSpPr>
            <a:spLocks noGrp="1"/>
          </p:cNvSpPr>
          <p:nvPr>
            <p:ph sz="quarter" idx="15"/>
          </p:nvPr>
        </p:nvSpPr>
        <p:spPr/>
        <p:txBody>
          <a:bodyPr/>
          <a:lstStyle/>
          <a:p>
            <a:r>
              <a:rPr lang="zh-TW" altLang="en-US" dirty="0"/>
              <a:t>除了數字，字符也有其表示方法。</a:t>
            </a:r>
            <a:endParaRPr lang="en-US" altLang="zh-TW" dirty="0"/>
          </a:p>
          <a:p>
            <a:endParaRPr lang="en-US" dirty="0"/>
          </a:p>
          <a:p>
            <a:r>
              <a:rPr lang="zh-TW" altLang="en-US" dirty="0"/>
              <a:t>這些表示方法名為</a:t>
            </a:r>
            <a:r>
              <a:rPr lang="zh-TW" altLang="en-US" dirty="0">
                <a:solidFill>
                  <a:srgbClr val="595A96"/>
                </a:solidFill>
                <a:latin typeface="Noto Sans CJK TC Bold" panose="020B0800000000000000" pitchFamily="34" charset="-128"/>
                <a:ea typeface="Noto Sans CJK TC Bold" panose="020B0800000000000000" pitchFamily="34" charset="-128"/>
              </a:rPr>
              <a:t>字符編碼系統</a:t>
            </a:r>
            <a:r>
              <a:rPr lang="zh-TW" altLang="en-US" dirty="0"/>
              <a:t>。不同語言可能會使用不同的編碼系統。</a:t>
            </a:r>
            <a:endParaRPr lang="en-GB" dirty="0"/>
          </a:p>
        </p:txBody>
      </p:sp>
    </p:spTree>
    <p:extLst>
      <p:ext uri="{BB962C8B-B14F-4D97-AF65-F5344CB8AC3E}">
        <p14:creationId xmlns:p14="http://schemas.microsoft.com/office/powerpoint/2010/main" val="24188065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t>英文</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68</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a:xfrm>
            <a:off x="838800" y="1609200"/>
            <a:ext cx="7138137" cy="4680000"/>
          </a:xfrm>
        </p:spPr>
        <p:txBody>
          <a:bodyPr/>
          <a:lstStyle/>
          <a:p>
            <a:r>
              <a:rPr lang="zh-TW" altLang="en-US" b="1" dirty="0">
                <a:solidFill>
                  <a:srgbClr val="595A96"/>
                </a:solidFill>
                <a:latin typeface="Noto Sans CJK TC Bold" panose="020B0800000000000000" pitchFamily="34" charset="-128"/>
                <a:ea typeface="Noto Sans CJK TC Bold" panose="020B0800000000000000" pitchFamily="34" charset="-128"/>
              </a:rPr>
              <a:t>美國信息交換標準碼</a:t>
            </a:r>
            <a:r>
              <a:rPr lang="zh-TW" altLang="en-US" dirty="0">
                <a:latin typeface="+mn-lt"/>
              </a:rPr>
              <a:t>是英語常用的字符編碼系統之一。</a:t>
            </a:r>
            <a:endParaRPr lang="en-US" altLang="zh-TW" dirty="0">
              <a:latin typeface="+mn-lt"/>
            </a:endParaRPr>
          </a:p>
          <a:p>
            <a:endParaRPr lang="en-US" dirty="0">
              <a:latin typeface="+mn-lt"/>
            </a:endParaRPr>
          </a:p>
          <a:p>
            <a:r>
              <a:rPr lang="en-GB" dirty="0">
                <a:latin typeface="+mn-lt"/>
              </a:rPr>
              <a:t>ASCII </a:t>
            </a:r>
            <a:r>
              <a:rPr lang="zh-TW" altLang="en-US" dirty="0">
                <a:latin typeface="+mn-lt"/>
              </a:rPr>
              <a:t>通常使用 </a:t>
            </a:r>
            <a:r>
              <a:rPr lang="en-US" altLang="zh-TW" dirty="0">
                <a:latin typeface="+mn-lt"/>
              </a:rPr>
              <a:t>7 </a:t>
            </a:r>
            <a:r>
              <a:rPr lang="zh-TW" altLang="en-US" dirty="0">
                <a:latin typeface="+mn-lt"/>
              </a:rPr>
              <a:t>位元來表示一個字符。因此，它可以表示 </a:t>
            </a:r>
            <a:r>
              <a:rPr lang="en-US" sz="2400" dirty="0">
                <a:latin typeface="+mn-lt"/>
              </a:rPr>
              <a:t>2</a:t>
            </a:r>
            <a:r>
              <a:rPr lang="en-US" sz="2400" baseline="30000" dirty="0">
                <a:latin typeface="+mn-lt"/>
              </a:rPr>
              <a:t>7</a:t>
            </a:r>
            <a:r>
              <a:rPr lang="en-US" sz="2400" dirty="0">
                <a:latin typeface="+mn-lt"/>
              </a:rPr>
              <a:t> </a:t>
            </a:r>
            <a:r>
              <a:rPr lang="en-US" altLang="zh-TW" dirty="0">
                <a:latin typeface="+mn-lt"/>
              </a:rPr>
              <a:t> = 128 </a:t>
            </a:r>
            <a:r>
              <a:rPr lang="zh-TW" altLang="en-US" dirty="0">
                <a:latin typeface="+mn-lt"/>
              </a:rPr>
              <a:t>個字符。</a:t>
            </a:r>
            <a:endParaRPr lang="en-US" altLang="zh-TW" dirty="0">
              <a:latin typeface="+mn-lt"/>
            </a:endParaRPr>
          </a:p>
          <a:p>
            <a:endParaRPr lang="en-US" dirty="0">
              <a:latin typeface="+mn-lt"/>
            </a:endParaRPr>
          </a:p>
          <a:p>
            <a:r>
              <a:rPr lang="zh-TW" altLang="en-US" dirty="0">
                <a:latin typeface="+mn-lt"/>
              </a:rPr>
              <a:t>試閱讀課本第 </a:t>
            </a:r>
            <a:r>
              <a:rPr lang="en-US" altLang="zh-TW" dirty="0">
                <a:latin typeface="+mn-lt"/>
              </a:rPr>
              <a:t>83 </a:t>
            </a:r>
            <a:r>
              <a:rPr lang="zh-TW" altLang="en-US" dirty="0">
                <a:latin typeface="+mn-lt"/>
              </a:rPr>
              <a:t>頁的 </a:t>
            </a:r>
            <a:r>
              <a:rPr lang="en-US" altLang="zh-TW" dirty="0">
                <a:latin typeface="+mn-lt"/>
              </a:rPr>
              <a:t>ASCII</a:t>
            </a:r>
            <a:r>
              <a:rPr lang="zh-TW" altLang="en-US" dirty="0">
                <a:latin typeface="+mn-lt"/>
              </a:rPr>
              <a:t> 表格。</a:t>
            </a:r>
            <a:endParaRPr lang="en-GB" dirty="0">
              <a:latin typeface="+mn-lt"/>
            </a:endParaRPr>
          </a:p>
        </p:txBody>
      </p:sp>
      <p:pic>
        <p:nvPicPr>
          <p:cNvPr id="6" name="Picture 5"/>
          <p:cNvPicPr>
            <a:picLocks noChangeAspect="1"/>
          </p:cNvPicPr>
          <p:nvPr/>
        </p:nvPicPr>
        <p:blipFill>
          <a:blip r:embed="rId2"/>
          <a:stretch>
            <a:fillRect/>
          </a:stretch>
        </p:blipFill>
        <p:spPr>
          <a:xfrm>
            <a:off x="8382000" y="1984650"/>
            <a:ext cx="3287899" cy="3177167"/>
          </a:xfrm>
          <a:prstGeom prst="rect">
            <a:avLst/>
          </a:prstGeom>
        </p:spPr>
      </p:pic>
    </p:spTree>
    <p:extLst>
      <p:ext uri="{BB962C8B-B14F-4D97-AF65-F5344CB8AC3E}">
        <p14:creationId xmlns:p14="http://schemas.microsoft.com/office/powerpoint/2010/main" val="41448689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中文</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69</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t>中文字符分為兩套：</a:t>
            </a:r>
            <a:endParaRPr lang="en-US" altLang="zh-TW" dirty="0"/>
          </a:p>
          <a:p>
            <a:endParaRPr lang="zh-TW" altLang="en-US" dirty="0"/>
          </a:p>
          <a:p>
            <a:pPr marL="342900" indent="-342900">
              <a:buFont typeface="Arial" panose="020B0604020202020204" pitchFamily="34" charset="0"/>
              <a:buChar char="•"/>
            </a:pPr>
            <a:r>
              <a:rPr lang="zh-TW" altLang="en-US" dirty="0"/>
              <a:t>繁體中文通常由</a:t>
            </a:r>
            <a:r>
              <a:rPr lang="zh-TW" altLang="en-US" dirty="0">
                <a:solidFill>
                  <a:srgbClr val="595A96"/>
                </a:solidFill>
                <a:latin typeface="Noto Sans CJK TC Bold" panose="020B0800000000000000" pitchFamily="34" charset="-128"/>
                <a:ea typeface="Noto Sans CJK TC Bold" panose="020B0800000000000000" pitchFamily="34" charset="-128"/>
              </a:rPr>
              <a:t>大五碼作編碼</a:t>
            </a:r>
            <a:r>
              <a:rPr lang="zh-TW" altLang="en-US" dirty="0"/>
              <a:t>，而</a:t>
            </a:r>
            <a:endParaRPr lang="en-US" altLang="zh-TW" dirty="0"/>
          </a:p>
          <a:p>
            <a:pPr marL="342900" indent="-342900">
              <a:buFont typeface="Arial" panose="020B0604020202020204" pitchFamily="34" charset="0"/>
              <a:buChar char="•"/>
            </a:pPr>
            <a:r>
              <a:rPr lang="zh-TW" altLang="en-US" dirty="0"/>
              <a:t>簡體中文通常由</a:t>
            </a:r>
            <a:r>
              <a:rPr lang="zh-TW" altLang="en-US" dirty="0">
                <a:solidFill>
                  <a:srgbClr val="595A96"/>
                </a:solidFill>
                <a:latin typeface="Noto Sans CJK TC Bold" panose="020B0800000000000000" pitchFamily="34" charset="-128"/>
                <a:ea typeface="Noto Sans CJK TC Bold" panose="020B0800000000000000" pitchFamily="34" charset="-128"/>
              </a:rPr>
              <a:t>國標碼</a:t>
            </a:r>
            <a:r>
              <a:rPr lang="zh-TW" altLang="en-US" dirty="0"/>
              <a:t>作編碼。</a:t>
            </a:r>
            <a:endParaRPr lang="en-GB" dirty="0"/>
          </a:p>
        </p:txBody>
      </p:sp>
    </p:spTree>
    <p:extLst>
      <p:ext uri="{BB962C8B-B14F-4D97-AF65-F5344CB8AC3E}">
        <p14:creationId xmlns:p14="http://schemas.microsoft.com/office/powerpoint/2010/main" val="22801760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中文</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t>雖然兩種編碼系統都可用來表示中文字，但它們不能互換。</a:t>
            </a:r>
            <a:endParaRPr lang="en-US" altLang="zh-TW" dirty="0"/>
          </a:p>
          <a:p>
            <a:endParaRPr lang="en-US" dirty="0"/>
          </a:p>
          <a:p>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099533560"/>
              </p:ext>
            </p:extLst>
          </p:nvPr>
        </p:nvGraphicFramePr>
        <p:xfrm>
          <a:off x="600076" y="2348441"/>
          <a:ext cx="10925175" cy="1112520"/>
        </p:xfrm>
        <a:graphic>
          <a:graphicData uri="http://schemas.openxmlformats.org/drawingml/2006/table">
            <a:tbl>
              <a:tblPr firstRow="1" bandRow="1">
                <a:tableStyleId>{5940675A-B579-460E-94D1-54222C63F5DA}</a:tableStyleId>
              </a:tblPr>
              <a:tblGrid>
                <a:gridCol w="3215600">
                  <a:extLst>
                    <a:ext uri="{9D8B030D-6E8A-4147-A177-3AD203B41FA5}">
                      <a16:colId xmlns:a16="http://schemas.microsoft.com/office/drawing/2014/main" val="20000"/>
                    </a:ext>
                  </a:extLst>
                </a:gridCol>
                <a:gridCol w="973530">
                  <a:extLst>
                    <a:ext uri="{9D8B030D-6E8A-4147-A177-3AD203B41FA5}">
                      <a16:colId xmlns:a16="http://schemas.microsoft.com/office/drawing/2014/main" val="20001"/>
                    </a:ext>
                  </a:extLst>
                </a:gridCol>
                <a:gridCol w="983365">
                  <a:extLst>
                    <a:ext uri="{9D8B030D-6E8A-4147-A177-3AD203B41FA5}">
                      <a16:colId xmlns:a16="http://schemas.microsoft.com/office/drawing/2014/main" val="20002"/>
                    </a:ext>
                  </a:extLst>
                </a:gridCol>
                <a:gridCol w="958865">
                  <a:extLst>
                    <a:ext uri="{9D8B030D-6E8A-4147-A177-3AD203B41FA5}">
                      <a16:colId xmlns:a16="http://schemas.microsoft.com/office/drawing/2014/main" val="20003"/>
                    </a:ext>
                  </a:extLst>
                </a:gridCol>
                <a:gridCol w="968529">
                  <a:extLst>
                    <a:ext uri="{9D8B030D-6E8A-4147-A177-3AD203B41FA5}">
                      <a16:colId xmlns:a16="http://schemas.microsoft.com/office/drawing/2014/main" val="20004"/>
                    </a:ext>
                  </a:extLst>
                </a:gridCol>
                <a:gridCol w="924362">
                  <a:extLst>
                    <a:ext uri="{9D8B030D-6E8A-4147-A177-3AD203B41FA5}">
                      <a16:colId xmlns:a16="http://schemas.microsoft.com/office/drawing/2014/main" val="20005"/>
                    </a:ext>
                  </a:extLst>
                </a:gridCol>
                <a:gridCol w="963697">
                  <a:extLst>
                    <a:ext uri="{9D8B030D-6E8A-4147-A177-3AD203B41FA5}">
                      <a16:colId xmlns:a16="http://schemas.microsoft.com/office/drawing/2014/main" val="20006"/>
                    </a:ext>
                  </a:extLst>
                </a:gridCol>
                <a:gridCol w="963697">
                  <a:extLst>
                    <a:ext uri="{9D8B030D-6E8A-4147-A177-3AD203B41FA5}">
                      <a16:colId xmlns:a16="http://schemas.microsoft.com/office/drawing/2014/main" val="20007"/>
                    </a:ext>
                  </a:extLst>
                </a:gridCol>
                <a:gridCol w="973530">
                  <a:extLst>
                    <a:ext uri="{9D8B030D-6E8A-4147-A177-3AD203B41FA5}">
                      <a16:colId xmlns:a16="http://schemas.microsoft.com/office/drawing/2014/main" val="20008"/>
                    </a:ext>
                  </a:extLst>
                </a:gridCol>
              </a:tblGrid>
              <a:tr h="370840">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代碼（以十六進制表示）</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BD73</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BD58</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A874</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B2CE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B1E0</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C2EB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CFB5</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CDB3</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大五碼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CN" altLang="en-US" dirty="0"/>
                        <a:t>編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碼</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統</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晤</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鎢</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炵</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苀</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國標碼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zh-CN" altLang="en-US" dirty="0"/>
                        <a:t>絪</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絏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参</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编</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码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统</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547329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中文</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71</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latin typeface="+mn-lt"/>
              </a:rPr>
              <a:t>如果一個文本檔案或網站由大五碼編碼，卻由國標碼解碼，該文本將顯示為亂碼（</a:t>
            </a:r>
            <a:r>
              <a:rPr lang="en-US" altLang="zh-TW" dirty="0">
                <a:latin typeface="+mn-lt"/>
              </a:rPr>
              <a:t>garbled text</a:t>
            </a:r>
            <a:r>
              <a:rPr lang="zh-TW" altLang="en-US" dirty="0">
                <a:latin typeface="+mn-lt"/>
              </a:rPr>
              <a:t>）而不會被翻譯成簡體中文。</a:t>
            </a:r>
            <a:endParaRPr lang="en-GB" dirty="0">
              <a:latin typeface="+mn-lt"/>
            </a:endParaRPr>
          </a:p>
        </p:txBody>
      </p:sp>
      <p:pic>
        <p:nvPicPr>
          <p:cNvPr id="6" name="Picture 5"/>
          <p:cNvPicPr>
            <a:picLocks noChangeAspect="1"/>
          </p:cNvPicPr>
          <p:nvPr/>
        </p:nvPicPr>
        <p:blipFill>
          <a:blip r:embed="rId2"/>
          <a:stretch>
            <a:fillRect/>
          </a:stretch>
        </p:blipFill>
        <p:spPr>
          <a:xfrm>
            <a:off x="2659274" y="2981325"/>
            <a:ext cx="6874651" cy="2624424"/>
          </a:xfrm>
          <a:prstGeom prst="rect">
            <a:avLst/>
          </a:prstGeom>
        </p:spPr>
      </p:pic>
    </p:spTree>
    <p:extLst>
      <p:ext uri="{BB962C8B-B14F-4D97-AF65-F5344CB8AC3E}">
        <p14:creationId xmlns:p14="http://schemas.microsoft.com/office/powerpoint/2010/main" val="4887821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多種語言</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72</a:t>
            </a:fld>
            <a:endParaRPr lang="en-US" dirty="0"/>
          </a:p>
        </p:txBody>
      </p:sp>
      <p:sp>
        <p:nvSpPr>
          <p:cNvPr id="4" name="文字版面配置區 3"/>
          <p:cNvSpPr>
            <a:spLocks noGrp="1"/>
          </p:cNvSpPr>
          <p:nvPr>
            <p:ph type="body" sz="quarter" idx="14"/>
          </p:nvPr>
        </p:nvSpPr>
        <p:spPr/>
        <p:txBody>
          <a:bodyPr/>
          <a:lstStyle/>
          <a:p>
            <a:r>
              <a:rPr lang="en-US" dirty="0"/>
              <a:t>C</a:t>
            </a:r>
            <a:endParaRPr lang="en-GB" dirty="0"/>
          </a:p>
        </p:txBody>
      </p:sp>
      <p:sp>
        <p:nvSpPr>
          <p:cNvPr id="5" name="內容版面配置區 4"/>
          <p:cNvSpPr>
            <a:spLocks noGrp="1"/>
          </p:cNvSpPr>
          <p:nvPr>
            <p:ph sz="quarter" idx="15"/>
          </p:nvPr>
        </p:nvSpPr>
        <p:spPr/>
        <p:txBody>
          <a:bodyPr/>
          <a:lstStyle/>
          <a:p>
            <a:r>
              <a:rPr lang="zh-TW" altLang="en-US" dirty="0"/>
              <a:t>我們便可使用名為統一碼（萬國碼）的字符編碼系統以顯示多種語言。</a:t>
            </a:r>
            <a:endParaRPr lang="en-US" altLang="zh-TW" dirty="0"/>
          </a:p>
          <a:p>
            <a:endParaRPr lang="en-US" dirty="0"/>
          </a:p>
          <a:p>
            <a:r>
              <a:rPr lang="zh-TW" altLang="en-US" dirty="0"/>
              <a:t>統一碼為表示現存所有語言而創，如日文、阿拉伯文、泰文、俄文等。</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660460853"/>
              </p:ext>
            </p:extLst>
          </p:nvPr>
        </p:nvGraphicFramePr>
        <p:xfrm>
          <a:off x="600076" y="3348566"/>
          <a:ext cx="10925175" cy="741680"/>
        </p:xfrm>
        <a:graphic>
          <a:graphicData uri="http://schemas.openxmlformats.org/drawingml/2006/table">
            <a:tbl>
              <a:tblPr firstRow="1" bandRow="1">
                <a:tableStyleId>{5940675A-B579-460E-94D1-54222C63F5DA}</a:tableStyleId>
              </a:tblPr>
              <a:tblGrid>
                <a:gridCol w="3215600">
                  <a:extLst>
                    <a:ext uri="{9D8B030D-6E8A-4147-A177-3AD203B41FA5}">
                      <a16:colId xmlns:a16="http://schemas.microsoft.com/office/drawing/2014/main" val="20000"/>
                    </a:ext>
                  </a:extLst>
                </a:gridCol>
                <a:gridCol w="973530">
                  <a:extLst>
                    <a:ext uri="{9D8B030D-6E8A-4147-A177-3AD203B41FA5}">
                      <a16:colId xmlns:a16="http://schemas.microsoft.com/office/drawing/2014/main" val="20001"/>
                    </a:ext>
                  </a:extLst>
                </a:gridCol>
                <a:gridCol w="983365">
                  <a:extLst>
                    <a:ext uri="{9D8B030D-6E8A-4147-A177-3AD203B41FA5}">
                      <a16:colId xmlns:a16="http://schemas.microsoft.com/office/drawing/2014/main" val="20002"/>
                    </a:ext>
                  </a:extLst>
                </a:gridCol>
                <a:gridCol w="958865">
                  <a:extLst>
                    <a:ext uri="{9D8B030D-6E8A-4147-A177-3AD203B41FA5}">
                      <a16:colId xmlns:a16="http://schemas.microsoft.com/office/drawing/2014/main" val="20003"/>
                    </a:ext>
                  </a:extLst>
                </a:gridCol>
                <a:gridCol w="968529">
                  <a:extLst>
                    <a:ext uri="{9D8B030D-6E8A-4147-A177-3AD203B41FA5}">
                      <a16:colId xmlns:a16="http://schemas.microsoft.com/office/drawing/2014/main" val="20004"/>
                    </a:ext>
                  </a:extLst>
                </a:gridCol>
                <a:gridCol w="924362">
                  <a:extLst>
                    <a:ext uri="{9D8B030D-6E8A-4147-A177-3AD203B41FA5}">
                      <a16:colId xmlns:a16="http://schemas.microsoft.com/office/drawing/2014/main" val="20005"/>
                    </a:ext>
                  </a:extLst>
                </a:gridCol>
                <a:gridCol w="963697">
                  <a:extLst>
                    <a:ext uri="{9D8B030D-6E8A-4147-A177-3AD203B41FA5}">
                      <a16:colId xmlns:a16="http://schemas.microsoft.com/office/drawing/2014/main" val="20006"/>
                    </a:ext>
                  </a:extLst>
                </a:gridCol>
                <a:gridCol w="963697">
                  <a:extLst>
                    <a:ext uri="{9D8B030D-6E8A-4147-A177-3AD203B41FA5}">
                      <a16:colId xmlns:a16="http://schemas.microsoft.com/office/drawing/2014/main" val="20007"/>
                    </a:ext>
                  </a:extLst>
                </a:gridCol>
                <a:gridCol w="973530">
                  <a:extLst>
                    <a:ext uri="{9D8B030D-6E8A-4147-A177-3AD203B41FA5}">
                      <a16:colId xmlns:a16="http://schemas.microsoft.com/office/drawing/2014/main" val="20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b="1" dirty="0">
                          <a:solidFill>
                            <a:schemeClr val="bg1"/>
                          </a:solidFill>
                          <a:latin typeface="Noto Sans CJK TC Bold" panose="020B0800000000000000" pitchFamily="34" charset="-128"/>
                          <a:ea typeface="Noto Sans CJK TC Bold" panose="020B0800000000000000" pitchFamily="34" charset="-128"/>
                        </a:rPr>
                        <a:t>代碼</a:t>
                      </a: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（以十六進制表示）</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7DE8</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78DC</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7CFB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7D71</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7F16</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7801</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7CFB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7EDF</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US" b="1" dirty="0">
                          <a:solidFill>
                            <a:schemeClr val="bg1"/>
                          </a:solidFill>
                          <a:latin typeface="Noto Sans CJK TC Bold" panose="020B0800000000000000" pitchFamily="34" charset="-128"/>
                          <a:ea typeface="Noto Sans CJK TC Bold" panose="020B0800000000000000" pitchFamily="34" charset="-128"/>
                        </a:rPr>
                        <a:t>Unicode</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CN" altLang="en-US" dirty="0"/>
                        <a:t>編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碼</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統</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编</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码</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a:t>统</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174296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多種語言</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73</a:t>
            </a:fld>
            <a:endParaRPr lang="en-US" dirty="0"/>
          </a:p>
        </p:txBody>
      </p:sp>
      <p:sp>
        <p:nvSpPr>
          <p:cNvPr id="4" name="文字版面配置區 3"/>
          <p:cNvSpPr>
            <a:spLocks noGrp="1"/>
          </p:cNvSpPr>
          <p:nvPr>
            <p:ph type="body" sz="quarter" idx="14"/>
          </p:nvPr>
        </p:nvSpPr>
        <p:spPr/>
        <p:txBody>
          <a:bodyPr/>
          <a:lstStyle/>
          <a:p>
            <a:r>
              <a:rPr lang="en-US" dirty="0"/>
              <a:t>C</a:t>
            </a:r>
            <a:endParaRPr lang="en-GB" dirty="0"/>
          </a:p>
        </p:txBody>
      </p:sp>
      <p:sp>
        <p:nvSpPr>
          <p:cNvPr id="5" name="內容版面配置區 4"/>
          <p:cNvSpPr>
            <a:spLocks noGrp="1"/>
          </p:cNvSpPr>
          <p:nvPr>
            <p:ph sz="quarter" idx="15"/>
          </p:nvPr>
        </p:nvSpPr>
        <p:spPr/>
        <p:txBody>
          <a:bodyPr/>
          <a:lstStyle/>
          <a:p>
            <a:r>
              <a:rPr lang="zh-TW" altLang="en-US" dirty="0">
                <a:latin typeface="+mn-lt"/>
              </a:rPr>
              <a:t>由於統一碼字符數量龐大，它最多可以使用 </a:t>
            </a:r>
            <a:r>
              <a:rPr lang="en-US" altLang="zh-TW" dirty="0">
                <a:latin typeface="+mn-lt"/>
              </a:rPr>
              <a:t>4 </a:t>
            </a:r>
            <a:r>
              <a:rPr lang="zh-TW" altLang="en-US" dirty="0">
                <a:latin typeface="+mn-lt"/>
              </a:rPr>
              <a:t>個字節來表示一個字符。</a:t>
            </a:r>
            <a:endParaRPr lang="en-US" altLang="zh-TW" dirty="0">
              <a:latin typeface="+mn-lt"/>
            </a:endParaRPr>
          </a:p>
          <a:p>
            <a:r>
              <a:rPr lang="zh-TW" altLang="en-US" dirty="0">
                <a:latin typeface="+mn-lt"/>
              </a:rPr>
              <a:t>然而，它使用的是可變長度編碼（例如 </a:t>
            </a:r>
            <a:r>
              <a:rPr lang="en-US" altLang="zh-TW" dirty="0">
                <a:latin typeface="+mn-lt"/>
              </a:rPr>
              <a:t>UTF-8 </a:t>
            </a:r>
            <a:r>
              <a:rPr lang="zh-TW" altLang="en-US" dirty="0">
                <a:latin typeface="+mn-lt"/>
              </a:rPr>
              <a:t>和 </a:t>
            </a:r>
            <a:r>
              <a:rPr lang="en-US" altLang="zh-TW" dirty="0">
                <a:latin typeface="+mn-lt"/>
              </a:rPr>
              <a:t>UTF-16</a:t>
            </a:r>
            <a:r>
              <a:rPr lang="zh-TW" altLang="en-US" dirty="0">
                <a:latin typeface="+mn-lt"/>
              </a:rPr>
              <a:t>），即可使用不同長度的代碼來為不同語言的字符編碼。</a:t>
            </a:r>
            <a:endParaRPr lang="en-US" altLang="zh-TW" dirty="0">
              <a:latin typeface="+mn-lt"/>
            </a:endParaRPr>
          </a:p>
          <a:p>
            <a:endParaRPr lang="en-US" dirty="0">
              <a:latin typeface="+mn-lt"/>
            </a:endParaRPr>
          </a:p>
          <a:p>
            <a:r>
              <a:rPr lang="zh-TW" altLang="en-US" dirty="0">
                <a:latin typeface="+mn-lt"/>
              </a:rPr>
              <a:t>統一碼字符會視乎語言的需要使用 </a:t>
            </a:r>
            <a:r>
              <a:rPr lang="en-US" altLang="zh-TW" dirty="0">
                <a:latin typeface="+mn-lt"/>
              </a:rPr>
              <a:t>1 </a:t>
            </a:r>
            <a:r>
              <a:rPr lang="zh-TW" altLang="en-US" dirty="0">
                <a:latin typeface="+mn-lt"/>
              </a:rPr>
              <a:t>到 </a:t>
            </a:r>
            <a:r>
              <a:rPr lang="en-US" altLang="zh-TW" dirty="0">
                <a:latin typeface="+mn-lt"/>
              </a:rPr>
              <a:t>4 </a:t>
            </a:r>
            <a:r>
              <a:rPr lang="zh-TW" altLang="en-US" dirty="0">
                <a:latin typeface="+mn-lt"/>
              </a:rPr>
              <a:t>個字節。</a:t>
            </a:r>
            <a:endParaRPr lang="en-GB" dirty="0">
              <a:latin typeface="+mn-lt"/>
            </a:endParaRPr>
          </a:p>
        </p:txBody>
      </p:sp>
      <p:graphicFrame>
        <p:nvGraphicFramePr>
          <p:cNvPr id="6" name="Table 7"/>
          <p:cNvGraphicFramePr>
            <a:graphicFrameLocks noGrp="1"/>
          </p:cNvGraphicFramePr>
          <p:nvPr>
            <p:extLst>
              <p:ext uri="{D42A27DB-BD31-4B8C-83A1-F6EECF244321}">
                <p14:modId xmlns:p14="http://schemas.microsoft.com/office/powerpoint/2010/main" val="2590540482"/>
              </p:ext>
            </p:extLst>
          </p:nvPr>
        </p:nvGraphicFramePr>
        <p:xfrm>
          <a:off x="1798200" y="4110147"/>
          <a:ext cx="8596799" cy="1854200"/>
        </p:xfrm>
        <a:graphic>
          <a:graphicData uri="http://schemas.openxmlformats.org/drawingml/2006/table">
            <a:tbl>
              <a:tblPr firstRow="1" bandRow="1">
                <a:tableStyleId>{5940675A-B579-460E-94D1-54222C63F5DA}</a:tableStyleId>
              </a:tblPr>
              <a:tblGrid>
                <a:gridCol w="2967513">
                  <a:extLst>
                    <a:ext uri="{9D8B030D-6E8A-4147-A177-3AD203B41FA5}">
                      <a16:colId xmlns:a16="http://schemas.microsoft.com/office/drawing/2014/main" val="20000"/>
                    </a:ext>
                  </a:extLst>
                </a:gridCol>
                <a:gridCol w="2814643">
                  <a:extLst>
                    <a:ext uri="{9D8B030D-6E8A-4147-A177-3AD203B41FA5}">
                      <a16:colId xmlns:a16="http://schemas.microsoft.com/office/drawing/2014/main" val="20001"/>
                    </a:ext>
                  </a:extLst>
                </a:gridCol>
                <a:gridCol w="2814643">
                  <a:extLst>
                    <a:ext uri="{9D8B030D-6E8A-4147-A177-3AD203B41FA5}">
                      <a16:colId xmlns:a16="http://schemas.microsoft.com/office/drawing/2014/main" val="20002"/>
                    </a:ext>
                  </a:extLst>
                </a:gridCol>
              </a:tblGrid>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語言</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字符編碼系統</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每個字符的大小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英文</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a:t>ASCII</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7 bits to 1 byte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繁體中文</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a:t>Big-5 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rowSpan="2">
                  <a:txBody>
                    <a:bodyPr/>
                    <a:lstStyle/>
                    <a:p>
                      <a:r>
                        <a:rPr lang="en-HK" dirty="0"/>
                        <a:t>2 bytes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簡體中文</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err="1"/>
                        <a:t>Guobiao</a:t>
                      </a:r>
                      <a:r>
                        <a:rPr lang="en-HK" dirty="0"/>
                        <a:t> (GB) 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世界上大多數語言</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en-HK" dirty="0"/>
                        <a:t>Unicode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1 to 4 bytes</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66825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pPr marL="457200" indent="-457200">
              <a:buFont typeface="+mj-lt"/>
              <a:buAutoNum type="arabicPeriod"/>
            </a:pPr>
            <a:r>
              <a:rPr lang="zh-TW" altLang="en-US" dirty="0">
                <a:latin typeface="+mn-lt"/>
              </a:rPr>
              <a:t>以下哪項 </a:t>
            </a:r>
            <a:r>
              <a:rPr lang="en-US" altLang="zh-TW" dirty="0">
                <a:latin typeface="+mn-lt"/>
              </a:rPr>
              <a:t>/ </a:t>
            </a:r>
            <a:r>
              <a:rPr lang="zh-TW" altLang="en-US" dirty="0">
                <a:latin typeface="+mn-lt"/>
              </a:rPr>
              <a:t>些關於統一碼、</a:t>
            </a:r>
            <a:r>
              <a:rPr lang="en-US" altLang="zh-TW" dirty="0">
                <a:latin typeface="+mn-lt"/>
              </a:rPr>
              <a:t>ASCII </a:t>
            </a:r>
            <a:r>
              <a:rPr lang="zh-TW" altLang="en-US" dirty="0">
                <a:latin typeface="+mn-lt"/>
              </a:rPr>
              <a:t>和大五碼的陳述是正確的？</a:t>
            </a:r>
            <a:endParaRPr lang="en-US" altLang="zh-TW" dirty="0">
              <a:latin typeface="+mn-lt"/>
            </a:endParaRPr>
          </a:p>
          <a:p>
            <a:pPr marL="1257300" lvl="2" indent="-342900">
              <a:buSzPct val="100000"/>
              <a:buAutoNum type="arabicParenBoth"/>
            </a:pPr>
            <a:r>
              <a:rPr lang="zh-TW" altLang="en-US" sz="2000" dirty="0">
                <a:latin typeface="+mn-lt"/>
              </a:rPr>
              <a:t>三種字符編碼系統中，</a:t>
            </a:r>
            <a:r>
              <a:rPr lang="en-US" altLang="zh-TW" sz="2000" dirty="0">
                <a:latin typeface="+mn-lt"/>
              </a:rPr>
              <a:t>ASCII </a:t>
            </a:r>
            <a:r>
              <a:rPr lang="zh-TW" altLang="en-US" sz="2000" dirty="0">
                <a:latin typeface="+mn-lt"/>
              </a:rPr>
              <a:t>的字符集最小。</a:t>
            </a:r>
            <a:endParaRPr lang="en-US" altLang="zh-TW" sz="2000" dirty="0">
              <a:latin typeface="+mn-lt"/>
            </a:endParaRPr>
          </a:p>
          <a:p>
            <a:pPr marL="1257300" lvl="2" indent="-342900">
              <a:buSzPct val="100000"/>
              <a:buAutoNum type="arabicParenBoth"/>
            </a:pPr>
            <a:r>
              <a:rPr lang="zh-TW" altLang="en-US" sz="2000" dirty="0">
                <a:latin typeface="+mn-lt"/>
              </a:rPr>
              <a:t>大五碼不支援英文字母。</a:t>
            </a:r>
            <a:endParaRPr lang="en-US" altLang="zh-TW" sz="2000" dirty="0">
              <a:latin typeface="+mn-lt"/>
            </a:endParaRPr>
          </a:p>
          <a:p>
            <a:pPr marL="1257300" lvl="2" indent="-342900">
              <a:buSzPct val="100000"/>
              <a:buAutoNum type="arabicParenBoth"/>
            </a:pPr>
            <a:r>
              <a:rPr lang="zh-TW" altLang="en-US" sz="2000" dirty="0">
                <a:latin typeface="+mn-lt"/>
              </a:rPr>
              <a:t>統一碼使用 </a:t>
            </a:r>
            <a:r>
              <a:rPr lang="en-US" altLang="zh-TW" sz="2000" dirty="0">
                <a:latin typeface="+mn-lt"/>
              </a:rPr>
              <a:t>4 </a:t>
            </a:r>
            <a:r>
              <a:rPr lang="zh-TW" altLang="en-US" sz="2000" dirty="0">
                <a:latin typeface="+mn-lt"/>
              </a:rPr>
              <a:t>個字節來儲存每個字符。</a:t>
            </a:r>
            <a:endParaRPr lang="en-US" altLang="zh-TW" sz="2000" dirty="0">
              <a:latin typeface="+mn-lt"/>
            </a:endParaRPr>
          </a:p>
          <a:p>
            <a:pPr lvl="2">
              <a:buSzPct val="100000"/>
            </a:pPr>
            <a:endParaRPr lang="en-HK" sz="2000" dirty="0">
              <a:latin typeface="+mn-lt"/>
            </a:endParaRPr>
          </a:p>
          <a:p>
            <a:pPr marL="914400" lvl="1" indent="-457200">
              <a:buSzPct val="100000"/>
              <a:buAutoNum type="alphaUcPeriod"/>
            </a:pPr>
            <a:r>
              <a:rPr lang="zh-TW" altLang="en-US" sz="2200" dirty="0">
                <a:latin typeface="+mn-lt"/>
              </a:rPr>
              <a:t>只有 </a:t>
            </a:r>
            <a:r>
              <a:rPr lang="en-HK" sz="2200" dirty="0">
                <a:latin typeface="+mn-lt"/>
              </a:rPr>
              <a:t>(1)</a:t>
            </a:r>
          </a:p>
          <a:p>
            <a:pPr marL="914400" lvl="1" indent="-457200">
              <a:buSzPct val="100000"/>
              <a:buAutoNum type="alphaUcPeriod"/>
            </a:pPr>
            <a:r>
              <a:rPr lang="zh-TW" altLang="en-US" sz="2200" dirty="0"/>
              <a:t>只有 </a:t>
            </a:r>
            <a:r>
              <a:rPr lang="en-HK" sz="2200" dirty="0">
                <a:latin typeface="+mn-lt"/>
              </a:rPr>
              <a:t>(2) </a:t>
            </a:r>
          </a:p>
          <a:p>
            <a:pPr marL="914400" lvl="1" indent="-457200">
              <a:buSzPct val="100000"/>
              <a:buAutoNum type="alphaUcPeriod"/>
            </a:pPr>
            <a:r>
              <a:rPr lang="zh-TW" altLang="en-US" sz="2200" dirty="0"/>
              <a:t>只有 </a:t>
            </a:r>
            <a:r>
              <a:rPr lang="en-HK" sz="2200" dirty="0">
                <a:latin typeface="+mn-lt"/>
              </a:rPr>
              <a:t>(1) </a:t>
            </a:r>
            <a:r>
              <a:rPr lang="zh-TW" altLang="en-US" sz="2200" dirty="0">
                <a:latin typeface="+mn-lt"/>
              </a:rPr>
              <a:t>和</a:t>
            </a:r>
            <a:r>
              <a:rPr lang="en-HK" sz="2200" dirty="0">
                <a:latin typeface="+mn-lt"/>
              </a:rPr>
              <a:t> (3)</a:t>
            </a:r>
          </a:p>
          <a:p>
            <a:pPr marL="914400" lvl="1" indent="-457200">
              <a:buSzPct val="100000"/>
              <a:buAutoNum type="alphaUcPeriod"/>
            </a:pPr>
            <a:r>
              <a:rPr lang="zh-TW" altLang="en-US" sz="2200" dirty="0"/>
              <a:t>只有 </a:t>
            </a:r>
            <a:r>
              <a:rPr lang="en-HK" sz="2200" dirty="0">
                <a:latin typeface="+mn-lt"/>
              </a:rPr>
              <a:t>(2) </a:t>
            </a:r>
            <a:r>
              <a:rPr lang="zh-TW" altLang="en-US" sz="2200" dirty="0"/>
              <a:t>和 </a:t>
            </a:r>
            <a:r>
              <a:rPr lang="en-HK" sz="2200" dirty="0">
                <a:latin typeface="+mn-lt"/>
              </a:rPr>
              <a:t>(3)</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74</a:t>
            </a:fld>
            <a:endParaRPr lang="en-US" dirty="0"/>
          </a:p>
        </p:txBody>
      </p:sp>
      <p:sp>
        <p:nvSpPr>
          <p:cNvPr id="10" name="文字版面配置區 9"/>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40689250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en-US" altLang="zh-TW" dirty="0">
                <a:latin typeface="+mn-lt"/>
              </a:rPr>
              <a:t>ASCII </a:t>
            </a:r>
            <a:r>
              <a:rPr lang="zh-TW" altLang="en-US" dirty="0">
                <a:latin typeface="+mn-lt"/>
              </a:rPr>
              <a:t>不支援英語以外的語言；大五碼支援英文和繁體中文字符；統一碼支援多種語言。因此，</a:t>
            </a:r>
            <a:r>
              <a:rPr lang="en-US" altLang="zh-TW" dirty="0">
                <a:latin typeface="+mn-lt"/>
              </a:rPr>
              <a:t>(1)</a:t>
            </a:r>
            <a:r>
              <a:rPr lang="zh-TW" altLang="en-US" dirty="0">
                <a:latin typeface="+mn-lt"/>
              </a:rPr>
              <a:t>是正確的，</a:t>
            </a:r>
            <a:r>
              <a:rPr lang="en-US" altLang="zh-TW" dirty="0">
                <a:latin typeface="+mn-lt"/>
              </a:rPr>
              <a:t>(2) </a:t>
            </a:r>
            <a:r>
              <a:rPr lang="zh-TW" altLang="en-US" dirty="0">
                <a:latin typeface="+mn-lt"/>
              </a:rPr>
              <a:t>是錯誤的。</a:t>
            </a:r>
          </a:p>
          <a:p>
            <a:r>
              <a:rPr lang="zh-TW" altLang="en-US" dirty="0">
                <a:latin typeface="+mn-lt"/>
              </a:rPr>
              <a:t>然而，統一碼使用的是可變長度編碼，即可使用不同長度的代碼來為不同語言的字符編碼，字符大小可從 </a:t>
            </a:r>
            <a:r>
              <a:rPr lang="en-US" altLang="zh-TW" dirty="0">
                <a:latin typeface="+mn-lt"/>
              </a:rPr>
              <a:t>1 </a:t>
            </a:r>
            <a:r>
              <a:rPr lang="zh-TW" altLang="en-US" dirty="0">
                <a:latin typeface="+mn-lt"/>
              </a:rPr>
              <a:t>到 </a:t>
            </a:r>
            <a:r>
              <a:rPr lang="en-US" altLang="zh-TW" dirty="0">
                <a:latin typeface="+mn-lt"/>
              </a:rPr>
              <a:t>4 </a:t>
            </a:r>
            <a:r>
              <a:rPr lang="zh-TW" altLang="en-US" dirty="0">
                <a:latin typeface="+mn-lt"/>
              </a:rPr>
              <a:t>個字節不等。因此，</a:t>
            </a:r>
            <a:r>
              <a:rPr lang="en-US" altLang="zh-TW" dirty="0">
                <a:latin typeface="+mn-lt"/>
              </a:rPr>
              <a:t>(3) </a:t>
            </a:r>
            <a:r>
              <a:rPr lang="zh-TW" altLang="en-US" dirty="0">
                <a:latin typeface="+mn-lt"/>
              </a:rPr>
              <a:t>是不正確的。</a:t>
            </a:r>
            <a:endParaRPr lang="en-US" altLang="zh-TW" dirty="0">
              <a:latin typeface="+mn-lt"/>
            </a:endParaRPr>
          </a:p>
          <a:p>
            <a:endParaRPr lang="en-US"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A</a:t>
            </a:r>
            <a:r>
              <a:rPr lang="zh-TW" altLang="en-US" dirty="0">
                <a:latin typeface="+mn-lt"/>
              </a:rPr>
              <a:t>。</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75</a:t>
            </a:fld>
            <a:endParaRPr lang="en-US" dirty="0"/>
          </a:p>
        </p:txBody>
      </p:sp>
      <p:sp>
        <p:nvSpPr>
          <p:cNvPr id="4" name="文字版面配置區 3"/>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27496091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2"/>
            </a:pPr>
            <a:r>
              <a:rPr lang="zh-TW" altLang="en-US" dirty="0">
                <a:latin typeface="+mn-lt"/>
              </a:rPr>
              <a:t>某設備使用 </a:t>
            </a:r>
            <a:r>
              <a:rPr lang="en-US" altLang="zh-TW" dirty="0">
                <a:latin typeface="+mn-lt"/>
              </a:rPr>
              <a:t>8 </a:t>
            </a:r>
            <a:r>
              <a:rPr lang="zh-TW" altLang="en-US" dirty="0">
                <a:latin typeface="+mn-lt"/>
              </a:rPr>
              <a:t>位元儲存一個整數，又用 </a:t>
            </a:r>
            <a:r>
              <a:rPr lang="en-US" altLang="zh-TW" dirty="0">
                <a:latin typeface="+mn-lt"/>
              </a:rPr>
              <a:t>16 </a:t>
            </a:r>
            <a:r>
              <a:rPr lang="zh-TW" altLang="en-US" dirty="0">
                <a:latin typeface="+mn-lt"/>
              </a:rPr>
              <a:t>位元儲存一個字符。儲存文本字符串「</a:t>
            </a:r>
            <a:r>
              <a:rPr lang="en-US" altLang="zh-TW" dirty="0">
                <a:latin typeface="+mn-lt"/>
              </a:rPr>
              <a:t>3D printer</a:t>
            </a:r>
            <a:r>
              <a:rPr lang="zh-TW" altLang="en-US" dirty="0">
                <a:latin typeface="+mn-lt"/>
              </a:rPr>
              <a:t>」需要多少字節？</a:t>
            </a:r>
            <a:endParaRPr lang="en-US" altLang="zh-TW" dirty="0">
              <a:latin typeface="+mn-lt"/>
            </a:endParaRPr>
          </a:p>
          <a:p>
            <a:endParaRPr lang="en-US" altLang="zh-TW" dirty="0">
              <a:latin typeface="+mn-lt"/>
            </a:endParaRPr>
          </a:p>
          <a:p>
            <a:pPr marL="800100" lvl="1" indent="-342900">
              <a:buSzPct val="100000"/>
              <a:buAutoNum type="alphaUcPeriod"/>
            </a:pPr>
            <a:r>
              <a:rPr lang="en-HK" sz="2000" dirty="0">
                <a:latin typeface="+mn-lt"/>
              </a:rPr>
              <a:t>17 </a:t>
            </a:r>
            <a:r>
              <a:rPr lang="zh-TW" altLang="en-US" sz="2000" dirty="0">
                <a:latin typeface="+mn-lt"/>
              </a:rPr>
              <a:t>字節</a:t>
            </a:r>
            <a:endParaRPr lang="en-HK" sz="2000" dirty="0">
              <a:latin typeface="+mn-lt"/>
            </a:endParaRPr>
          </a:p>
          <a:p>
            <a:pPr marL="800100" lvl="1" indent="-342900">
              <a:buSzPct val="100000"/>
              <a:buAutoNum type="alphaUcPeriod"/>
            </a:pPr>
            <a:r>
              <a:rPr lang="en-HK" sz="2000" dirty="0">
                <a:latin typeface="+mn-lt"/>
              </a:rPr>
              <a:t>18 </a:t>
            </a:r>
            <a:r>
              <a:rPr lang="zh-TW" altLang="en-US" sz="2000" dirty="0">
                <a:latin typeface="+mn-lt"/>
              </a:rPr>
              <a:t>字節</a:t>
            </a:r>
            <a:endParaRPr lang="en-US" altLang="zh-TW" sz="2000" dirty="0">
              <a:latin typeface="+mn-lt"/>
            </a:endParaRPr>
          </a:p>
          <a:p>
            <a:pPr marL="800100" lvl="1" indent="-342900">
              <a:buSzPct val="100000"/>
              <a:buAutoNum type="alphaUcPeriod"/>
            </a:pPr>
            <a:r>
              <a:rPr lang="en-HK" sz="2000" dirty="0">
                <a:latin typeface="+mn-lt"/>
              </a:rPr>
              <a:t>19 </a:t>
            </a:r>
            <a:r>
              <a:rPr lang="zh-TW" altLang="en-US" sz="2000" dirty="0">
                <a:latin typeface="+mn-lt"/>
              </a:rPr>
              <a:t>字節</a:t>
            </a:r>
            <a:endParaRPr lang="en-HK" sz="2000" dirty="0">
              <a:latin typeface="+mn-lt"/>
            </a:endParaRPr>
          </a:p>
          <a:p>
            <a:pPr marL="800100" lvl="1" indent="-342900">
              <a:buSzPct val="100000"/>
              <a:buAutoNum type="alphaUcPeriod"/>
            </a:pPr>
            <a:r>
              <a:rPr lang="en-HK" sz="2000" dirty="0">
                <a:latin typeface="+mn-lt"/>
              </a:rPr>
              <a:t>20 </a:t>
            </a:r>
            <a:r>
              <a:rPr lang="zh-TW" altLang="en-US" sz="2000" dirty="0">
                <a:latin typeface="+mn-lt"/>
              </a:rPr>
              <a:t>字節</a:t>
            </a:r>
            <a:endParaRPr lang="en-HK" sz="2000" dirty="0">
              <a:latin typeface="+mn-lt"/>
            </a:endParaRPr>
          </a:p>
          <a:p>
            <a:pPr marL="457200" indent="-457200">
              <a:buFont typeface="+mj-lt"/>
              <a:buAutoNum type="arabicPeriod" startAt="2"/>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76</a:t>
            </a:fld>
            <a:endParaRPr lang="en-US" dirty="0"/>
          </a:p>
        </p:txBody>
      </p:sp>
      <p:sp>
        <p:nvSpPr>
          <p:cNvPr id="4" name="文字版面配置區 3"/>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19896102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en-GB" dirty="0">
                <a:latin typeface="+mn-lt"/>
              </a:rPr>
              <a:t>「3D printer」</a:t>
            </a:r>
            <a:r>
              <a:rPr lang="zh-TW" altLang="en-US" dirty="0">
                <a:latin typeface="+mn-lt"/>
              </a:rPr>
              <a:t>是一組字串，表示它由字符組成。「</a:t>
            </a:r>
            <a:r>
              <a:rPr lang="en-US" altLang="zh-TW" dirty="0">
                <a:latin typeface="+mn-lt"/>
              </a:rPr>
              <a:t>3</a:t>
            </a:r>
            <a:r>
              <a:rPr lang="en-GB" dirty="0">
                <a:latin typeface="+mn-lt"/>
              </a:rPr>
              <a:t>D printer」</a:t>
            </a:r>
            <a:r>
              <a:rPr lang="zh-TW" altLang="en-US" dirty="0">
                <a:latin typeface="+mn-lt"/>
              </a:rPr>
              <a:t>中的「</a:t>
            </a:r>
            <a:r>
              <a:rPr lang="en-US" altLang="zh-TW" dirty="0">
                <a:latin typeface="+mn-lt"/>
              </a:rPr>
              <a:t>3</a:t>
            </a:r>
            <a:r>
              <a:rPr lang="zh-TW" altLang="en-US" dirty="0">
                <a:latin typeface="+mn-lt"/>
              </a:rPr>
              <a:t>」是數字字符，不是整數，因此它佔用 </a:t>
            </a:r>
            <a:r>
              <a:rPr lang="en-US" altLang="zh-TW" dirty="0">
                <a:latin typeface="+mn-lt"/>
              </a:rPr>
              <a:t>16 </a:t>
            </a:r>
            <a:r>
              <a:rPr lang="zh-TW" altLang="en-US" dirty="0">
                <a:latin typeface="+mn-lt"/>
              </a:rPr>
              <a:t>位元而非 </a:t>
            </a:r>
            <a:r>
              <a:rPr lang="en-US" altLang="zh-TW" dirty="0">
                <a:latin typeface="+mn-lt"/>
              </a:rPr>
              <a:t>8 </a:t>
            </a:r>
            <a:r>
              <a:rPr lang="zh-TW" altLang="en-US" dirty="0">
                <a:latin typeface="+mn-lt"/>
              </a:rPr>
              <a:t>位元。「</a:t>
            </a:r>
            <a:r>
              <a:rPr lang="en-US" altLang="zh-TW" dirty="0">
                <a:latin typeface="+mn-lt"/>
              </a:rPr>
              <a:t>3D</a:t>
            </a:r>
            <a:r>
              <a:rPr lang="zh-TW" altLang="en-US" dirty="0">
                <a:latin typeface="+mn-lt"/>
              </a:rPr>
              <a:t>」之後的空格也算作一個字符。</a:t>
            </a:r>
          </a:p>
          <a:p>
            <a:r>
              <a:rPr lang="zh-TW" altLang="en-US" dirty="0">
                <a:latin typeface="+mn-lt"/>
              </a:rPr>
              <a:t>因此，該字串中共有 </a:t>
            </a:r>
            <a:r>
              <a:rPr lang="en-US" altLang="zh-TW" dirty="0">
                <a:latin typeface="+mn-lt"/>
              </a:rPr>
              <a:t>10 </a:t>
            </a:r>
            <a:r>
              <a:rPr lang="zh-TW" altLang="en-US" dirty="0">
                <a:latin typeface="+mn-lt"/>
              </a:rPr>
              <a:t>個字符，共佔用 </a:t>
            </a:r>
            <a:r>
              <a:rPr lang="en-US" altLang="zh-TW" dirty="0">
                <a:latin typeface="+mn-lt"/>
              </a:rPr>
              <a:t>16 × 10 </a:t>
            </a:r>
            <a:r>
              <a:rPr lang="en-GB" dirty="0">
                <a:latin typeface="+mn-lt"/>
              </a:rPr>
              <a:t>bits = 160 bits = 20 bytes。</a:t>
            </a:r>
            <a:endParaRPr lang="en-US"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D</a:t>
            </a:r>
            <a:r>
              <a:rPr lang="zh-TW" altLang="en-US" dirty="0">
                <a:latin typeface="+mn-lt"/>
              </a:rPr>
              <a:t>。</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77</a:t>
            </a:fld>
            <a:endParaRPr lang="en-US" dirty="0"/>
          </a:p>
        </p:txBody>
      </p:sp>
      <p:sp>
        <p:nvSpPr>
          <p:cNvPr id="4" name="文字版面配置區 3"/>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8058985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startAt="3"/>
            </a:pPr>
            <a:r>
              <a:rPr lang="zh-TW" altLang="en-US" dirty="0">
                <a:latin typeface="+mn-lt"/>
              </a:rPr>
              <a:t>某設備使用十六進制代碼（範圍從 </a:t>
            </a:r>
            <a:r>
              <a:rPr lang="en-US" altLang="zh-TW" dirty="0">
                <a:latin typeface="+mn-lt"/>
              </a:rPr>
              <a:t>000 </a:t>
            </a:r>
            <a:r>
              <a:rPr lang="zh-TW" altLang="en-US" dirty="0">
                <a:latin typeface="+mn-lt"/>
              </a:rPr>
              <a:t>到 </a:t>
            </a:r>
            <a:r>
              <a:rPr lang="en-US" altLang="zh-TW" dirty="0">
                <a:latin typeface="+mn-lt"/>
              </a:rPr>
              <a:t>FFF</a:t>
            </a:r>
            <a:r>
              <a:rPr lang="zh-TW" altLang="en-US" dirty="0">
                <a:latin typeface="+mn-lt"/>
              </a:rPr>
              <a:t>）來儲存一個字符。一組六個字符的字串需要用多少字節來表示？</a:t>
            </a:r>
            <a:endParaRPr lang="en-US" altLang="zh-TW" dirty="0">
              <a:latin typeface="+mn-lt"/>
            </a:endParaRPr>
          </a:p>
          <a:p>
            <a:endParaRPr lang="en-US" dirty="0">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十六進制代碼中的每個數字都需要 </a:t>
            </a:r>
            <a:r>
              <a:rPr lang="en-US" altLang="zh-TW" dirty="0">
                <a:latin typeface="+mn-lt"/>
              </a:rPr>
              <a:t>4 </a:t>
            </a:r>
            <a:r>
              <a:rPr lang="zh-TW" altLang="en-US" dirty="0">
                <a:latin typeface="+mn-lt"/>
              </a:rPr>
              <a:t>位元，因為 </a:t>
            </a:r>
            <a:r>
              <a:rPr lang="en-US" altLang="zh-TW" dirty="0">
                <a:latin typeface="+mn-lt"/>
              </a:rPr>
              <a:t>24 = 16</a:t>
            </a:r>
            <a:r>
              <a:rPr lang="zh-TW" altLang="en-US" dirty="0">
                <a:latin typeface="+mn-lt"/>
              </a:rPr>
              <a:t>。因此，一個 </a:t>
            </a:r>
            <a:r>
              <a:rPr lang="en-US" altLang="zh-TW" dirty="0">
                <a:latin typeface="+mn-lt"/>
              </a:rPr>
              <a:t>3 </a:t>
            </a:r>
            <a:r>
              <a:rPr lang="zh-TW" altLang="en-US" dirty="0">
                <a:latin typeface="+mn-lt"/>
              </a:rPr>
              <a:t>位十六進制代碼需要</a:t>
            </a:r>
            <a:r>
              <a:rPr lang="en-US" altLang="zh-TW" dirty="0">
                <a:latin typeface="+mn-lt"/>
              </a:rPr>
              <a:t>4 × 3 </a:t>
            </a:r>
            <a:r>
              <a:rPr lang="en-GB" dirty="0">
                <a:latin typeface="+mn-lt"/>
              </a:rPr>
              <a:t>bits = 12 bits。6 </a:t>
            </a:r>
            <a:r>
              <a:rPr lang="zh-TW" altLang="en-US" dirty="0">
                <a:latin typeface="+mn-lt"/>
              </a:rPr>
              <a:t>個字符需要 </a:t>
            </a:r>
            <a:r>
              <a:rPr lang="en-US" altLang="zh-TW" dirty="0">
                <a:latin typeface="+mn-lt"/>
              </a:rPr>
              <a:t>12 × 6 </a:t>
            </a:r>
            <a:r>
              <a:rPr lang="en-GB" dirty="0">
                <a:latin typeface="+mn-lt"/>
              </a:rPr>
              <a:t>bits = 72 bits = 72 ÷ 8 bytes = 9 bytes。</a:t>
            </a: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sv-SE" dirty="0">
                <a:latin typeface="+mn-lt"/>
              </a:rPr>
              <a:t>12 × 6 ÷ 8 = 9 bytes</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78</a:t>
            </a:fld>
            <a:endParaRPr lang="en-US" dirty="0"/>
          </a:p>
        </p:txBody>
      </p:sp>
      <p:sp>
        <p:nvSpPr>
          <p:cNvPr id="4" name="文字版面配置區 3"/>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9813652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87 </a:t>
            </a:r>
            <a:r>
              <a:rPr lang="zh-TW" altLang="en-US" dirty="0">
                <a:latin typeface="+mn-lt"/>
              </a:rPr>
              <a:t>頁的測試站 </a:t>
            </a:r>
            <a:r>
              <a:rPr lang="en-US" altLang="zh-TW" dirty="0">
                <a:latin typeface="+mn-lt"/>
              </a:rPr>
              <a:t>3.4</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en-HK" dirty="0">
                <a:solidFill>
                  <a:srgbClr val="FF0000"/>
                </a:solidFill>
                <a:latin typeface="+mn-lt"/>
              </a:rPr>
              <a:t>(a) </a:t>
            </a:r>
            <a:r>
              <a:rPr lang="zh-TW" altLang="en-US" dirty="0">
                <a:solidFill>
                  <a:srgbClr val="FF0000"/>
                </a:solidFill>
                <a:latin typeface="+mn-lt"/>
              </a:rPr>
              <a:t>統一碼。數據中包括英文、繁體和簡體中文，而統一碼支援所有三種語言。</a:t>
            </a:r>
            <a:endParaRPr lang="en-HK" dirty="0">
              <a:solidFill>
                <a:srgbClr val="FF0000"/>
              </a:solidFill>
              <a:latin typeface="+mn-lt"/>
            </a:endParaRPr>
          </a:p>
          <a:p>
            <a:pPr lvl="1"/>
            <a:r>
              <a:rPr lang="en-HK" sz="2000" dirty="0">
                <a:solidFill>
                  <a:srgbClr val="FF0000"/>
                </a:solidFill>
                <a:latin typeface="+mn-lt"/>
              </a:rPr>
              <a:t>(b) </a:t>
            </a:r>
            <a:r>
              <a:rPr lang="zh-TW" altLang="en-US" sz="2000" dirty="0">
                <a:solidFill>
                  <a:srgbClr val="FF0000"/>
                </a:solidFill>
                <a:latin typeface="+mn-lt"/>
              </a:rPr>
              <a:t>任何合理答案，如日文、阿拉伯文、泰文、俄文。</a:t>
            </a:r>
            <a:endParaRPr lang="en-US" altLang="zh-TW" sz="2000" dirty="0">
              <a:solidFill>
                <a:srgbClr val="FF0000"/>
              </a:solidFill>
              <a:latin typeface="+mn-lt"/>
            </a:endParaRPr>
          </a:p>
          <a:p>
            <a:pPr lvl="1"/>
            <a:endParaRPr lang="en-HK" dirty="0">
              <a:solidFill>
                <a:srgbClr val="FF0000"/>
              </a:solidFill>
              <a:latin typeface="+mn-lt"/>
            </a:endParaRPr>
          </a:p>
          <a:p>
            <a:pPr marL="457200" indent="-457200">
              <a:buFont typeface="+mj-lt"/>
              <a:buAutoNum type="arabicPeriod" startAt="2"/>
            </a:pPr>
            <a:r>
              <a:rPr lang="zh-TW" altLang="en-US" dirty="0">
                <a:solidFill>
                  <a:srgbClr val="FF0000"/>
                </a:solidFill>
                <a:latin typeface="+mn-lt"/>
              </a:rPr>
              <a:t>優點： 統一碼支援更多語言，它可以表示繁體和簡體中文字符。</a:t>
            </a:r>
            <a:r>
              <a:rPr lang="en-US" dirty="0">
                <a:solidFill>
                  <a:srgbClr val="FF0000"/>
                </a:solidFill>
                <a:latin typeface="+mn-lt"/>
              </a:rPr>
              <a:t/>
            </a:r>
            <a:br>
              <a:rPr lang="en-US" dirty="0">
                <a:solidFill>
                  <a:srgbClr val="FF0000"/>
                </a:solidFill>
                <a:latin typeface="+mn-lt"/>
              </a:rPr>
            </a:br>
            <a:r>
              <a:rPr lang="zh-TW" altLang="en-US" dirty="0">
                <a:solidFill>
                  <a:srgbClr val="FF0000"/>
                </a:solidFill>
                <a:latin typeface="+mn-lt"/>
              </a:rPr>
              <a:t>缺點： 統一碼需要的儲存空間比大五碼更多。</a:t>
            </a:r>
            <a:endParaRPr lang="en-GB" dirty="0">
              <a:solidFill>
                <a:srgbClr val="FF0000"/>
              </a:solidFill>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79</a:t>
            </a:fld>
            <a:endParaRPr lang="en-US" dirty="0"/>
          </a:p>
        </p:txBody>
      </p:sp>
      <p:sp>
        <p:nvSpPr>
          <p:cNvPr id="6" name="文字版面配置區 5"/>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238935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條碼編碼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80</a:t>
            </a:fld>
            <a:endParaRPr lang="en-US" dirty="0"/>
          </a:p>
        </p:txBody>
      </p:sp>
      <p:sp>
        <p:nvSpPr>
          <p:cNvPr id="6" name="文字版面配置區 5"/>
          <p:cNvSpPr>
            <a:spLocks noGrp="1"/>
          </p:cNvSpPr>
          <p:nvPr>
            <p:ph type="body" sz="quarter" idx="14"/>
          </p:nvPr>
        </p:nvSpPr>
        <p:spPr/>
        <p:txBody>
          <a:bodyPr/>
          <a:lstStyle/>
          <a:p>
            <a:r>
              <a:rPr lang="en-US" dirty="0"/>
              <a:t>3.3</a:t>
            </a:r>
            <a:endParaRPr lang="en-GB" dirty="0"/>
          </a:p>
        </p:txBody>
      </p:sp>
      <p:sp>
        <p:nvSpPr>
          <p:cNvPr id="7" name="內容版面配置區 6"/>
          <p:cNvSpPr>
            <a:spLocks noGrp="1"/>
          </p:cNvSpPr>
          <p:nvPr>
            <p:ph sz="quarter" idx="15"/>
          </p:nvPr>
        </p:nvSpPr>
        <p:spPr/>
        <p:txBody>
          <a:bodyPr/>
          <a:lstStyle/>
          <a:p>
            <a:r>
              <a:rPr lang="zh-TW" altLang="en-US" dirty="0"/>
              <a:t>你曾在哪裡看見過以下的圖像？試分別舉出一個例子。</a:t>
            </a:r>
            <a:endParaRPr lang="en-GB" dirty="0"/>
          </a:p>
        </p:txBody>
      </p:sp>
      <p:pic>
        <p:nvPicPr>
          <p:cNvPr id="8" name="Picture 5"/>
          <p:cNvPicPr>
            <a:picLocks noChangeAspect="1"/>
          </p:cNvPicPr>
          <p:nvPr/>
        </p:nvPicPr>
        <p:blipFill>
          <a:blip r:embed="rId2"/>
          <a:stretch>
            <a:fillRect/>
          </a:stretch>
        </p:blipFill>
        <p:spPr>
          <a:xfrm>
            <a:off x="1276310" y="3342108"/>
            <a:ext cx="3781466" cy="1851506"/>
          </a:xfrm>
          <a:prstGeom prst="rect">
            <a:avLst/>
          </a:prstGeom>
        </p:spPr>
      </p:pic>
      <p:pic>
        <p:nvPicPr>
          <p:cNvPr id="9" name="Picture 6"/>
          <p:cNvPicPr>
            <a:picLocks noChangeAspect="1"/>
          </p:cNvPicPr>
          <p:nvPr/>
        </p:nvPicPr>
        <p:blipFill>
          <a:blip r:embed="rId3"/>
          <a:stretch>
            <a:fillRect/>
          </a:stretch>
        </p:blipFill>
        <p:spPr>
          <a:xfrm>
            <a:off x="7410489" y="2652690"/>
            <a:ext cx="3245688" cy="3230342"/>
          </a:xfrm>
          <a:prstGeom prst="rect">
            <a:avLst/>
          </a:prstGeom>
        </p:spPr>
      </p:pic>
    </p:spTree>
    <p:extLst>
      <p:ext uri="{BB962C8B-B14F-4D97-AF65-F5344CB8AC3E}">
        <p14:creationId xmlns:p14="http://schemas.microsoft.com/office/powerpoint/2010/main" val="30017848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條碼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81</a:t>
            </a:fld>
            <a:endParaRPr lang="en-US" dirty="0"/>
          </a:p>
        </p:txBody>
      </p:sp>
      <p:sp>
        <p:nvSpPr>
          <p:cNvPr id="4" name="文字版面配置區 3"/>
          <p:cNvSpPr>
            <a:spLocks noGrp="1"/>
          </p:cNvSpPr>
          <p:nvPr>
            <p:ph type="body" sz="quarter" idx="14"/>
          </p:nvPr>
        </p:nvSpPr>
        <p:spPr/>
        <p:txBody>
          <a:bodyPr/>
          <a:lstStyle/>
          <a:p>
            <a:r>
              <a:rPr lang="en-US" altLang="zh-TW" dirty="0"/>
              <a:t>A</a:t>
            </a:r>
            <a:endParaRPr lang="en-GB" dirty="0"/>
          </a:p>
        </p:txBody>
      </p:sp>
      <p:sp>
        <p:nvSpPr>
          <p:cNvPr id="5" name="內容版面配置區 4"/>
          <p:cNvSpPr>
            <a:spLocks noGrp="1"/>
          </p:cNvSpPr>
          <p:nvPr>
            <p:ph sz="quarter" idx="15"/>
          </p:nvPr>
        </p:nvSpPr>
        <p:spPr/>
        <p:txBody>
          <a:bodyPr/>
          <a:lstStyle/>
          <a:p>
            <a:r>
              <a:rPr lang="zh-TW" altLang="en-US" dirty="0"/>
              <a:t>我們的日常生活中經常使用到</a:t>
            </a:r>
            <a:r>
              <a:rPr lang="zh-TW" altLang="en-US" dirty="0">
                <a:solidFill>
                  <a:srgbClr val="595A96"/>
                </a:solidFill>
                <a:latin typeface="Noto Sans CJK TC Bold" panose="020B0800000000000000" pitchFamily="34" charset="-128"/>
                <a:ea typeface="Noto Sans CJK TC Bold" panose="020B0800000000000000" pitchFamily="34" charset="-128"/>
              </a:rPr>
              <a:t>條碼</a:t>
            </a:r>
            <a:r>
              <a:rPr lang="zh-TW" altLang="en-US" dirty="0"/>
              <a:t>，例如在超市出售的包裝產品或零售商分發的優惠券都會使用到條碼。</a:t>
            </a:r>
            <a:endParaRPr lang="en-GB" dirty="0"/>
          </a:p>
        </p:txBody>
      </p:sp>
      <p:pic>
        <p:nvPicPr>
          <p:cNvPr id="6" name="Picture 5"/>
          <p:cNvPicPr>
            <a:picLocks noChangeAspect="1"/>
          </p:cNvPicPr>
          <p:nvPr/>
        </p:nvPicPr>
        <p:blipFill>
          <a:blip r:embed="rId2"/>
          <a:stretch>
            <a:fillRect/>
          </a:stretch>
        </p:blipFill>
        <p:spPr>
          <a:xfrm>
            <a:off x="3986518" y="3176450"/>
            <a:ext cx="4220164" cy="1971950"/>
          </a:xfrm>
          <a:prstGeom prst="rect">
            <a:avLst/>
          </a:prstGeom>
        </p:spPr>
      </p:pic>
    </p:spTree>
    <p:extLst>
      <p:ext uri="{BB962C8B-B14F-4D97-AF65-F5344CB8AC3E}">
        <p14:creationId xmlns:p14="http://schemas.microsoft.com/office/powerpoint/2010/main" val="1887343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條碼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82</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條碼是由不同寬度的條形和空格組成的代碼，用來表示一個字串。該字串通常為一串用以表示產品編號的數字。</a:t>
            </a:r>
            <a:endParaRPr lang="en-US" altLang="zh-TW" dirty="0"/>
          </a:p>
          <a:p>
            <a:endParaRPr lang="en-US" dirty="0"/>
          </a:p>
          <a:p>
            <a:r>
              <a:rPr lang="zh-TW" altLang="en-US" dirty="0"/>
              <a:t>與手動輸入數字相比，掃描條碼減少了輸入錯誤和輸入所需時間。</a:t>
            </a:r>
            <a:endParaRPr lang="en-GB" dirty="0"/>
          </a:p>
        </p:txBody>
      </p:sp>
    </p:spTree>
    <p:extLst>
      <p:ext uri="{BB962C8B-B14F-4D97-AF65-F5344CB8AC3E}">
        <p14:creationId xmlns:p14="http://schemas.microsoft.com/office/powerpoint/2010/main" val="671430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條碼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83</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以下是條碼的元素：</a:t>
            </a:r>
            <a:endParaRPr lang="en-GB" dirty="0"/>
          </a:p>
        </p:txBody>
      </p:sp>
      <p:pic>
        <p:nvPicPr>
          <p:cNvPr id="6" name="圖片 5"/>
          <p:cNvPicPr>
            <a:picLocks noChangeAspect="1"/>
          </p:cNvPicPr>
          <p:nvPr/>
        </p:nvPicPr>
        <p:blipFill>
          <a:blip r:embed="rId2"/>
          <a:stretch>
            <a:fillRect/>
          </a:stretch>
        </p:blipFill>
        <p:spPr>
          <a:xfrm>
            <a:off x="3324825" y="2419906"/>
            <a:ext cx="5543550" cy="3419475"/>
          </a:xfrm>
          <a:prstGeom prst="rect">
            <a:avLst/>
          </a:prstGeom>
        </p:spPr>
      </p:pic>
    </p:spTree>
    <p:extLst>
      <p:ext uri="{BB962C8B-B14F-4D97-AF65-F5344CB8AC3E}">
        <p14:creationId xmlns:p14="http://schemas.microsoft.com/office/powerpoint/2010/main" val="14487606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條碼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84</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latin typeface="+mn-lt"/>
              </a:rPr>
              <a:t>條形的高度不重要，但條形和空格的寬度卻很重要。</a:t>
            </a:r>
            <a:endParaRPr lang="en-US" dirty="0">
              <a:latin typeface="+mn-lt"/>
            </a:endParaRPr>
          </a:p>
          <a:p>
            <a:r>
              <a:rPr lang="zh-TW" altLang="en-US" dirty="0">
                <a:latin typeface="+mn-lt"/>
              </a:rPr>
              <a:t>可被讀取數據的條碼必須：</a:t>
            </a:r>
            <a:endParaRPr lang="en-US" altLang="zh-TW" dirty="0">
              <a:latin typeface="+mn-lt"/>
            </a:endParaRPr>
          </a:p>
          <a:p>
            <a:pPr marL="342900" indent="-342900">
              <a:buFont typeface="Arial" panose="020B0604020202020204" pitchFamily="34" charset="0"/>
              <a:buChar char="•"/>
            </a:pPr>
            <a:r>
              <a:rPr lang="zh-TW" altLang="en-US" dirty="0">
                <a:latin typeface="+mn-lt"/>
              </a:rPr>
              <a:t>有足夠的靜區空間；</a:t>
            </a:r>
          </a:p>
          <a:p>
            <a:pPr marL="342900" indent="-342900">
              <a:buFont typeface="Arial" panose="020B0604020202020204" pitchFamily="34" charset="0"/>
              <a:buChar char="•"/>
            </a:pPr>
            <a:r>
              <a:rPr lang="zh-TW" altLang="en-US" dirty="0">
                <a:latin typeface="+mn-lt"/>
              </a:rPr>
              <a:t>保持條形和空格的寬度不變。</a:t>
            </a:r>
            <a:endParaRPr lang="en-GB"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2945351570"/>
              </p:ext>
            </p:extLst>
          </p:nvPr>
        </p:nvGraphicFramePr>
        <p:xfrm>
          <a:off x="697798" y="3835207"/>
          <a:ext cx="10656002" cy="2121484"/>
        </p:xfrm>
        <a:graphic>
          <a:graphicData uri="http://schemas.openxmlformats.org/drawingml/2006/table">
            <a:tbl>
              <a:tblPr firstRow="1" bandRow="1">
                <a:tableStyleId>{5940675A-B579-460E-94D1-54222C63F5DA}</a:tableStyleId>
              </a:tblPr>
              <a:tblGrid>
                <a:gridCol w="1595550">
                  <a:extLst>
                    <a:ext uri="{9D8B030D-6E8A-4147-A177-3AD203B41FA5}">
                      <a16:colId xmlns:a16="http://schemas.microsoft.com/office/drawing/2014/main" val="20000"/>
                    </a:ext>
                  </a:extLst>
                </a:gridCol>
                <a:gridCol w="2265113">
                  <a:extLst>
                    <a:ext uri="{9D8B030D-6E8A-4147-A177-3AD203B41FA5}">
                      <a16:colId xmlns:a16="http://schemas.microsoft.com/office/drawing/2014/main" val="20001"/>
                    </a:ext>
                  </a:extLst>
                </a:gridCol>
                <a:gridCol w="2265113">
                  <a:extLst>
                    <a:ext uri="{9D8B030D-6E8A-4147-A177-3AD203B41FA5}">
                      <a16:colId xmlns:a16="http://schemas.microsoft.com/office/drawing/2014/main" val="20002"/>
                    </a:ext>
                  </a:extLst>
                </a:gridCol>
                <a:gridCol w="2265113">
                  <a:extLst>
                    <a:ext uri="{9D8B030D-6E8A-4147-A177-3AD203B41FA5}">
                      <a16:colId xmlns:a16="http://schemas.microsoft.com/office/drawing/2014/main" val="20003"/>
                    </a:ext>
                  </a:extLst>
                </a:gridCol>
                <a:gridCol w="2265113">
                  <a:extLst>
                    <a:ext uri="{9D8B030D-6E8A-4147-A177-3AD203B41FA5}">
                      <a16:colId xmlns:a16="http://schemas.microsoft.com/office/drawing/2014/main" val="20004"/>
                    </a:ext>
                  </a:extLst>
                </a:gridCol>
              </a:tblGrid>
              <a:tr h="1060742">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可被讀取數據的條碼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1060742">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無法被讀取數據的條碼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2388016" y="3903120"/>
            <a:ext cx="2150425" cy="853751"/>
          </a:xfrm>
          <a:prstGeom prst="rect">
            <a:avLst/>
          </a:prstGeom>
        </p:spPr>
      </p:pic>
      <p:pic>
        <p:nvPicPr>
          <p:cNvPr id="8" name="Picture 7"/>
          <p:cNvPicPr>
            <a:picLocks noChangeAspect="1"/>
          </p:cNvPicPr>
          <p:nvPr/>
        </p:nvPicPr>
        <p:blipFill>
          <a:blip r:embed="rId3"/>
          <a:stretch>
            <a:fillRect/>
          </a:stretch>
        </p:blipFill>
        <p:spPr>
          <a:xfrm>
            <a:off x="2388016" y="4920086"/>
            <a:ext cx="2097288" cy="937917"/>
          </a:xfrm>
          <a:prstGeom prst="rect">
            <a:avLst/>
          </a:prstGeom>
        </p:spPr>
      </p:pic>
      <p:pic>
        <p:nvPicPr>
          <p:cNvPr id="9" name="Picture 8"/>
          <p:cNvPicPr>
            <a:picLocks noChangeAspect="1"/>
          </p:cNvPicPr>
          <p:nvPr/>
        </p:nvPicPr>
        <p:blipFill>
          <a:blip r:embed="rId4"/>
          <a:stretch>
            <a:fillRect/>
          </a:stretch>
        </p:blipFill>
        <p:spPr>
          <a:xfrm>
            <a:off x="4729867" y="3925980"/>
            <a:ext cx="2042729" cy="936513"/>
          </a:xfrm>
          <a:prstGeom prst="rect">
            <a:avLst/>
          </a:prstGeom>
        </p:spPr>
      </p:pic>
      <p:pic>
        <p:nvPicPr>
          <p:cNvPr id="10" name="Picture 9"/>
          <p:cNvPicPr>
            <a:picLocks noChangeAspect="1"/>
          </p:cNvPicPr>
          <p:nvPr/>
        </p:nvPicPr>
        <p:blipFill>
          <a:blip r:embed="rId5"/>
          <a:stretch>
            <a:fillRect/>
          </a:stretch>
        </p:blipFill>
        <p:spPr>
          <a:xfrm>
            <a:off x="6918302" y="3948840"/>
            <a:ext cx="2112870" cy="843898"/>
          </a:xfrm>
          <a:prstGeom prst="rect">
            <a:avLst/>
          </a:prstGeom>
        </p:spPr>
      </p:pic>
      <p:pic>
        <p:nvPicPr>
          <p:cNvPr id="11" name="Picture 10"/>
          <p:cNvPicPr>
            <a:picLocks noChangeAspect="1"/>
          </p:cNvPicPr>
          <p:nvPr/>
        </p:nvPicPr>
        <p:blipFill>
          <a:blip r:embed="rId6"/>
          <a:stretch>
            <a:fillRect/>
          </a:stretch>
        </p:blipFill>
        <p:spPr>
          <a:xfrm>
            <a:off x="9339367" y="3900424"/>
            <a:ext cx="1875689" cy="940730"/>
          </a:xfrm>
          <a:prstGeom prst="rect">
            <a:avLst/>
          </a:prstGeom>
        </p:spPr>
      </p:pic>
      <p:pic>
        <p:nvPicPr>
          <p:cNvPr id="12" name="Picture 11"/>
          <p:cNvPicPr>
            <a:picLocks noChangeAspect="1"/>
          </p:cNvPicPr>
          <p:nvPr/>
        </p:nvPicPr>
        <p:blipFill>
          <a:blip r:embed="rId7"/>
          <a:stretch>
            <a:fillRect/>
          </a:stretch>
        </p:blipFill>
        <p:spPr>
          <a:xfrm>
            <a:off x="4729867" y="4920086"/>
            <a:ext cx="2054623" cy="884187"/>
          </a:xfrm>
          <a:prstGeom prst="rect">
            <a:avLst/>
          </a:prstGeom>
        </p:spPr>
      </p:pic>
      <p:pic>
        <p:nvPicPr>
          <p:cNvPr id="13" name="Picture 12"/>
          <p:cNvPicPr>
            <a:picLocks noChangeAspect="1"/>
          </p:cNvPicPr>
          <p:nvPr/>
        </p:nvPicPr>
        <p:blipFill>
          <a:blip r:embed="rId8"/>
          <a:stretch>
            <a:fillRect/>
          </a:stretch>
        </p:blipFill>
        <p:spPr>
          <a:xfrm>
            <a:off x="6918302" y="4886491"/>
            <a:ext cx="2112870" cy="951376"/>
          </a:xfrm>
          <a:prstGeom prst="rect">
            <a:avLst/>
          </a:prstGeom>
        </p:spPr>
      </p:pic>
      <p:pic>
        <p:nvPicPr>
          <p:cNvPr id="14" name="Picture 13"/>
          <p:cNvPicPr>
            <a:picLocks noChangeAspect="1"/>
          </p:cNvPicPr>
          <p:nvPr/>
        </p:nvPicPr>
        <p:blipFill>
          <a:blip r:embed="rId9"/>
          <a:stretch>
            <a:fillRect/>
          </a:stretch>
        </p:blipFill>
        <p:spPr>
          <a:xfrm>
            <a:off x="9315038" y="4956107"/>
            <a:ext cx="1814688" cy="840546"/>
          </a:xfrm>
          <a:prstGeom prst="rect">
            <a:avLst/>
          </a:prstGeom>
        </p:spPr>
      </p:pic>
    </p:spTree>
    <p:extLst>
      <p:ext uri="{BB962C8B-B14F-4D97-AF65-F5344CB8AC3E}">
        <p14:creationId xmlns:p14="http://schemas.microsoft.com/office/powerpoint/2010/main" val="17500785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二維碼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85</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二維碼</a:t>
            </a:r>
            <a:r>
              <a:rPr lang="zh-TW" altLang="en-US" dirty="0"/>
              <a:t>是一種二維條碼，經常用於各種海報、書籍、網站、應用程式中。</a:t>
            </a:r>
            <a:endParaRPr lang="en-GB" dirty="0"/>
          </a:p>
        </p:txBody>
      </p:sp>
      <p:pic>
        <p:nvPicPr>
          <p:cNvPr id="6" name="Picture 5"/>
          <p:cNvPicPr>
            <a:picLocks noChangeAspect="1"/>
          </p:cNvPicPr>
          <p:nvPr/>
        </p:nvPicPr>
        <p:blipFill>
          <a:blip r:embed="rId2"/>
          <a:stretch>
            <a:fillRect/>
          </a:stretch>
        </p:blipFill>
        <p:spPr>
          <a:xfrm>
            <a:off x="3484642" y="2467593"/>
            <a:ext cx="5223916" cy="3467403"/>
          </a:xfrm>
          <a:prstGeom prst="rect">
            <a:avLst/>
          </a:prstGeom>
        </p:spPr>
      </p:pic>
    </p:spTree>
    <p:extLst>
      <p:ext uri="{BB962C8B-B14F-4D97-AF65-F5344CB8AC3E}">
        <p14:creationId xmlns:p14="http://schemas.microsoft.com/office/powerpoint/2010/main" val="40442032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二維碼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86</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latin typeface="+mn-lt"/>
              </a:rPr>
              <a:t>二維碼由排列在白色方形背景中的無數黑點組成。它表示一組字串，通常是一個劃一資源定位（</a:t>
            </a:r>
            <a:r>
              <a:rPr lang="en-US" altLang="zh-TW" dirty="0">
                <a:latin typeface="+mn-lt"/>
              </a:rPr>
              <a:t>Uniform Resource Locator</a:t>
            </a:r>
            <a:r>
              <a:rPr lang="zh-TW" altLang="en-US" dirty="0">
                <a:latin typeface="+mn-lt"/>
              </a:rPr>
              <a:t>，簡稱 </a:t>
            </a:r>
            <a:r>
              <a:rPr lang="en-US" altLang="zh-TW" dirty="0">
                <a:latin typeface="+mn-lt"/>
              </a:rPr>
              <a:t>URL</a:t>
            </a:r>
            <a:r>
              <a:rPr lang="zh-TW" altLang="en-US" dirty="0">
                <a:latin typeface="+mn-lt"/>
              </a:rPr>
              <a:t>）、一個電話號碼或一個電子郵件地址。</a:t>
            </a:r>
            <a:endParaRPr lang="en-US" altLang="zh-TW" dirty="0">
              <a:latin typeface="+mn-lt"/>
            </a:endParaRPr>
          </a:p>
          <a:p>
            <a:r>
              <a:rPr lang="zh-TW" altLang="en-US" dirty="0"/>
              <a:t>以下是二維碼的元素：</a:t>
            </a:r>
            <a:endParaRPr lang="en-GB" dirty="0"/>
          </a:p>
        </p:txBody>
      </p:sp>
      <p:pic>
        <p:nvPicPr>
          <p:cNvPr id="6" name="圖片 5"/>
          <p:cNvPicPr>
            <a:picLocks noChangeAspect="1"/>
          </p:cNvPicPr>
          <p:nvPr/>
        </p:nvPicPr>
        <p:blipFill>
          <a:blip r:embed="rId2"/>
          <a:stretch>
            <a:fillRect/>
          </a:stretch>
        </p:blipFill>
        <p:spPr>
          <a:xfrm>
            <a:off x="3472462" y="3116930"/>
            <a:ext cx="5248275" cy="2886075"/>
          </a:xfrm>
          <a:prstGeom prst="rect">
            <a:avLst/>
          </a:prstGeom>
        </p:spPr>
      </p:pic>
    </p:spTree>
    <p:extLst>
      <p:ext uri="{BB962C8B-B14F-4D97-AF65-F5344CB8AC3E}">
        <p14:creationId xmlns:p14="http://schemas.microsoft.com/office/powerpoint/2010/main" val="10271954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二維碼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87</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t>以下二維碼均可被讀取數據。</a:t>
            </a:r>
            <a:endParaRPr lang="en-GB" dirty="0"/>
          </a:p>
        </p:txBody>
      </p:sp>
      <p:graphicFrame>
        <p:nvGraphicFramePr>
          <p:cNvPr id="6" name="Table 6"/>
          <p:cNvGraphicFramePr>
            <a:graphicFrameLocks noGrp="1"/>
          </p:cNvGraphicFramePr>
          <p:nvPr>
            <p:extLst>
              <p:ext uri="{D42A27DB-BD31-4B8C-83A1-F6EECF244321}">
                <p14:modId xmlns:p14="http://schemas.microsoft.com/office/powerpoint/2010/main" val="1071450906"/>
              </p:ext>
            </p:extLst>
          </p:nvPr>
        </p:nvGraphicFramePr>
        <p:xfrm>
          <a:off x="1918800" y="2133599"/>
          <a:ext cx="8127999" cy="4187584"/>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旋轉</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扭曲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塗污</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728032">
                <a:tc>
                  <a:txBody>
                    <a:bodyPr/>
                    <a:lstStyle/>
                    <a:p>
                      <a:endParaRPr lang="en-US" b="1" dirty="0">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b="1" dirty="0">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b="1" dirty="0">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有色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彩色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被標誌擋住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2"/>
                  </a:ext>
                </a:extLst>
              </a:tr>
              <a:tr h="1728032">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7" name="Picture 7"/>
          <p:cNvPicPr>
            <a:picLocks noChangeAspect="1"/>
          </p:cNvPicPr>
          <p:nvPr/>
        </p:nvPicPr>
        <p:blipFill>
          <a:blip r:embed="rId2"/>
          <a:stretch>
            <a:fillRect/>
          </a:stretch>
        </p:blipFill>
        <p:spPr>
          <a:xfrm>
            <a:off x="2541420" y="2601884"/>
            <a:ext cx="1480585" cy="1475583"/>
          </a:xfrm>
          <a:prstGeom prst="rect">
            <a:avLst/>
          </a:prstGeom>
        </p:spPr>
      </p:pic>
      <p:pic>
        <p:nvPicPr>
          <p:cNvPr id="8" name="Picture 8"/>
          <p:cNvPicPr>
            <a:picLocks noChangeAspect="1"/>
          </p:cNvPicPr>
          <p:nvPr/>
        </p:nvPicPr>
        <p:blipFill>
          <a:blip r:embed="rId3"/>
          <a:stretch>
            <a:fillRect/>
          </a:stretch>
        </p:blipFill>
        <p:spPr>
          <a:xfrm>
            <a:off x="5299730" y="2552113"/>
            <a:ext cx="1211634" cy="1575124"/>
          </a:xfrm>
          <a:prstGeom prst="rect">
            <a:avLst/>
          </a:prstGeom>
        </p:spPr>
      </p:pic>
      <p:pic>
        <p:nvPicPr>
          <p:cNvPr id="9" name="Picture 9"/>
          <p:cNvPicPr>
            <a:picLocks noChangeAspect="1"/>
          </p:cNvPicPr>
          <p:nvPr/>
        </p:nvPicPr>
        <p:blipFill>
          <a:blip r:embed="rId4"/>
          <a:stretch>
            <a:fillRect/>
          </a:stretch>
        </p:blipFill>
        <p:spPr>
          <a:xfrm>
            <a:off x="8002976" y="2651758"/>
            <a:ext cx="1423659" cy="1423659"/>
          </a:xfrm>
          <a:prstGeom prst="rect">
            <a:avLst/>
          </a:prstGeom>
        </p:spPr>
      </p:pic>
      <p:pic>
        <p:nvPicPr>
          <p:cNvPr id="10" name="Picture 10"/>
          <p:cNvPicPr>
            <a:picLocks noChangeAspect="1"/>
          </p:cNvPicPr>
          <p:nvPr/>
        </p:nvPicPr>
        <p:blipFill>
          <a:blip r:embed="rId5"/>
          <a:stretch>
            <a:fillRect/>
          </a:stretch>
        </p:blipFill>
        <p:spPr>
          <a:xfrm>
            <a:off x="2541420" y="4654855"/>
            <a:ext cx="1565623" cy="1570310"/>
          </a:xfrm>
          <a:prstGeom prst="rect">
            <a:avLst/>
          </a:prstGeom>
        </p:spPr>
      </p:pic>
      <p:pic>
        <p:nvPicPr>
          <p:cNvPr id="11" name="Picture 11"/>
          <p:cNvPicPr>
            <a:picLocks noChangeAspect="1"/>
          </p:cNvPicPr>
          <p:nvPr/>
        </p:nvPicPr>
        <p:blipFill>
          <a:blip r:embed="rId6"/>
          <a:stretch>
            <a:fillRect/>
          </a:stretch>
        </p:blipFill>
        <p:spPr>
          <a:xfrm>
            <a:off x="5223376" y="4666404"/>
            <a:ext cx="1568123" cy="1558761"/>
          </a:xfrm>
          <a:prstGeom prst="rect">
            <a:avLst/>
          </a:prstGeom>
        </p:spPr>
      </p:pic>
      <p:pic>
        <p:nvPicPr>
          <p:cNvPr id="12" name="Picture 12"/>
          <p:cNvPicPr>
            <a:picLocks noChangeAspect="1"/>
          </p:cNvPicPr>
          <p:nvPr/>
        </p:nvPicPr>
        <p:blipFill>
          <a:blip r:embed="rId7"/>
          <a:stretch>
            <a:fillRect/>
          </a:stretch>
        </p:blipFill>
        <p:spPr>
          <a:xfrm>
            <a:off x="8002976" y="4654855"/>
            <a:ext cx="1562400" cy="1562400"/>
          </a:xfrm>
          <a:prstGeom prst="rect">
            <a:avLst/>
          </a:prstGeom>
        </p:spPr>
      </p:pic>
    </p:spTree>
    <p:extLst>
      <p:ext uri="{BB962C8B-B14F-4D97-AF65-F5344CB8AC3E}">
        <p14:creationId xmlns:p14="http://schemas.microsoft.com/office/powerpoint/2010/main" val="18878969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二維碼</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88</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t>由於二維碼相對條碼有不少優勢，現時已變得越來越流行。以下是兩種代碼的比較。</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608612903"/>
              </p:ext>
            </p:extLst>
          </p:nvPr>
        </p:nvGraphicFramePr>
        <p:xfrm>
          <a:off x="838800" y="2310213"/>
          <a:ext cx="9858374" cy="3392488"/>
        </p:xfrm>
        <a:graphic>
          <a:graphicData uri="http://schemas.openxmlformats.org/drawingml/2006/table">
            <a:tbl>
              <a:tblPr firstRow="1" bandRow="1">
                <a:tableStyleId>{5940675A-B579-460E-94D1-54222C63F5DA}</a:tableStyleId>
              </a:tblPr>
              <a:tblGrid>
                <a:gridCol w="2000249">
                  <a:extLst>
                    <a:ext uri="{9D8B030D-6E8A-4147-A177-3AD203B41FA5}">
                      <a16:colId xmlns:a16="http://schemas.microsoft.com/office/drawing/2014/main" val="20000"/>
                    </a:ext>
                  </a:extLst>
                </a:gridCol>
                <a:gridCol w="4012959">
                  <a:extLst>
                    <a:ext uri="{9D8B030D-6E8A-4147-A177-3AD203B41FA5}">
                      <a16:colId xmlns:a16="http://schemas.microsoft.com/office/drawing/2014/main" val="20001"/>
                    </a:ext>
                  </a:extLst>
                </a:gridCol>
                <a:gridCol w="3845166">
                  <a:extLst>
                    <a:ext uri="{9D8B030D-6E8A-4147-A177-3AD203B41FA5}">
                      <a16:colId xmlns:a16="http://schemas.microsoft.com/office/drawing/2014/main" val="20002"/>
                    </a:ext>
                  </a:extLst>
                </a:gridCol>
              </a:tblGrid>
              <a:tr h="434022">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屬性</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條碼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二維碼</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884873">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掃描容易度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條碼大多只能從兩個角度進行掃描，即 </a:t>
                      </a:r>
                      <a:r>
                        <a:rPr lang="en-US" altLang="zh-TW" sz="1800" b="0" i="0" u="none" strike="noStrike" kern="1200" baseline="0" dirty="0">
                          <a:solidFill>
                            <a:schemeClr val="tx1"/>
                          </a:solidFill>
                          <a:latin typeface="+mn-lt"/>
                          <a:ea typeface="Noto Sans CJK TC Light" panose="020B0300000000000000" pitchFamily="34" charset="-128"/>
                          <a:cs typeface="+mn-cs"/>
                        </a:rPr>
                        <a:t>0° </a:t>
                      </a:r>
                      <a:r>
                        <a:rPr lang="zh-TW" altLang="en-US" sz="1800" b="0" i="0" u="none" strike="noStrike" kern="1200" baseline="0" dirty="0">
                          <a:solidFill>
                            <a:schemeClr val="tx1"/>
                          </a:solidFill>
                          <a:latin typeface="+mn-lt"/>
                          <a:ea typeface="Noto Sans CJK TC Light" panose="020B0300000000000000" pitchFamily="34" charset="-128"/>
                          <a:cs typeface="+mn-cs"/>
                        </a:rPr>
                        <a:t>或 </a:t>
                      </a:r>
                      <a:r>
                        <a:rPr lang="en-US" altLang="zh-TW" sz="1800" b="0" i="0" u="none" strike="noStrike" kern="1200" baseline="0" dirty="0">
                          <a:solidFill>
                            <a:schemeClr val="tx1"/>
                          </a:solidFill>
                          <a:latin typeface="+mn-lt"/>
                          <a:ea typeface="Noto Sans CJK TC Light" panose="020B0300000000000000" pitchFamily="34" charset="-128"/>
                          <a:cs typeface="+mn-cs"/>
                        </a:rPr>
                        <a:t>180°</a:t>
                      </a:r>
                      <a:r>
                        <a:rPr lang="zh-TW" altLang="en-US" sz="1800" b="0" i="0" u="none" strike="noStrike" kern="1200" baseline="0" dirty="0">
                          <a:solidFill>
                            <a:schemeClr val="tx1"/>
                          </a:solidFill>
                          <a:latin typeface="+mn-lt"/>
                          <a:ea typeface="Noto Sans CJK TC Light" panose="020B0300000000000000" pitchFamily="34" charset="-128"/>
                          <a:cs typeface="+mn-cs"/>
                        </a:rPr>
                        <a:t>。</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二維碼是可以從任何方向掃描的。即使掃描器傾側，令掃描出來的圖像扭曲，它仍有機會成功讀取二維碼的數據。</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884873">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糾正錯誤的能力</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如果單個條形或空格的寬度被更改，便無法正確掃描條碼。</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二維碼比條碼具有更高的糾正能力。它通常可以恢復高達 </a:t>
                      </a:r>
                      <a:r>
                        <a:rPr lang="en-US" altLang="zh-TW" sz="1800" b="0" i="0" u="none" strike="noStrike" kern="1200" baseline="0" dirty="0">
                          <a:solidFill>
                            <a:schemeClr val="tx1"/>
                          </a:solidFill>
                          <a:latin typeface="+mn-lt"/>
                          <a:ea typeface="Noto Sans CJK TC Light" panose="020B0300000000000000" pitchFamily="34" charset="-128"/>
                          <a:cs typeface="+mn-cs"/>
                        </a:rPr>
                        <a:t>30% </a:t>
                      </a:r>
                      <a:r>
                        <a:rPr lang="zh-TW" altLang="en-US" sz="1800" b="0" i="0" u="none" strike="noStrike" kern="1200" baseline="0" dirty="0">
                          <a:solidFill>
                            <a:schemeClr val="tx1"/>
                          </a:solidFill>
                          <a:latin typeface="+mn-lt"/>
                          <a:ea typeface="Noto Sans CJK TC Light" panose="020B0300000000000000" pitchFamily="34" charset="-128"/>
                          <a:cs typeface="+mn-cs"/>
                        </a:rPr>
                        <a:t>的數據。</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884873">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可代表的數據量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序列的最大長度約為 </a:t>
                      </a:r>
                      <a:r>
                        <a:rPr lang="en-US" altLang="zh-TW" sz="1800" b="0" i="0" u="none" strike="noStrike" kern="1200" baseline="0" dirty="0">
                          <a:solidFill>
                            <a:schemeClr val="tx1"/>
                          </a:solidFill>
                          <a:latin typeface="+mn-lt"/>
                          <a:ea typeface="Noto Sans CJK TC Light" panose="020B0300000000000000" pitchFamily="34" charset="-128"/>
                          <a:cs typeface="+mn-cs"/>
                        </a:rPr>
                        <a:t>50 </a:t>
                      </a:r>
                      <a:r>
                        <a:rPr lang="zh-TW" altLang="en-US" sz="1800" b="0" i="0" u="none" strike="noStrike" kern="1200" baseline="0" dirty="0">
                          <a:solidFill>
                            <a:schemeClr val="tx1"/>
                          </a:solidFill>
                          <a:latin typeface="+mn-lt"/>
                          <a:ea typeface="Noto Sans CJK TC Light" panose="020B0300000000000000" pitchFamily="34" charset="-128"/>
                          <a:cs typeface="+mn-cs"/>
                        </a:rPr>
                        <a:t>個字符。</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二維碼的上限通常不少於 </a:t>
                      </a:r>
                      <a:r>
                        <a:rPr lang="en-US" altLang="zh-TW" sz="1800" b="0" i="0" u="none" strike="noStrike" kern="1200" baseline="0" dirty="0">
                          <a:solidFill>
                            <a:schemeClr val="tx1"/>
                          </a:solidFill>
                          <a:latin typeface="+mn-lt"/>
                          <a:ea typeface="Noto Sans CJK TC Light" panose="020B0300000000000000" pitchFamily="34" charset="-128"/>
                          <a:cs typeface="+mn-cs"/>
                        </a:rPr>
                        <a:t>1000 </a:t>
                      </a:r>
                      <a:r>
                        <a:rPr lang="zh-TW" altLang="en-US" sz="1800" b="0" i="0" u="none" strike="noStrike" kern="1200" baseline="0" dirty="0">
                          <a:solidFill>
                            <a:schemeClr val="tx1"/>
                          </a:solidFill>
                          <a:latin typeface="+mn-lt"/>
                          <a:ea typeface="Noto Sans CJK TC Light" panose="020B0300000000000000" pitchFamily="34" charset="-128"/>
                          <a:cs typeface="+mn-cs"/>
                        </a:rPr>
                        <a:t>個字符。</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92399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a:xfrm>
            <a:off x="838200" y="1287189"/>
            <a:ext cx="10515600" cy="5049275"/>
          </a:xfrm>
        </p:spPr>
        <p:txBody>
          <a:bodyPr>
            <a:noAutofit/>
          </a:bodyPr>
          <a:lstStyle/>
          <a:p>
            <a:pPr marL="457200" indent="-457200">
              <a:buFont typeface="+mj-lt"/>
              <a:buAutoNum type="arabicPeriod"/>
            </a:pPr>
            <a:r>
              <a:rPr lang="zh-TW" altLang="en-US" dirty="0">
                <a:latin typeface="+mn-lt"/>
              </a:rPr>
              <a:t>以下哪項 </a:t>
            </a:r>
            <a:r>
              <a:rPr lang="en-US" altLang="zh-TW" dirty="0">
                <a:latin typeface="+mn-lt"/>
              </a:rPr>
              <a:t>/ </a:t>
            </a:r>
            <a:r>
              <a:rPr lang="zh-TW" altLang="en-US" dirty="0">
                <a:latin typeface="+mn-lt"/>
              </a:rPr>
              <a:t>些關於這個條碼的陳述是正確的？</a:t>
            </a:r>
            <a:endParaRPr lang="en-US" altLang="zh-TW"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457200" indent="-457200">
              <a:buFont typeface="+mj-lt"/>
              <a:buAutoNum type="arabicPeriod"/>
            </a:pPr>
            <a:endParaRPr lang="en-US" dirty="0">
              <a:latin typeface="+mn-lt"/>
            </a:endParaRPr>
          </a:p>
          <a:p>
            <a:pPr marL="1257300" lvl="2" indent="-342900">
              <a:buSzPct val="100000"/>
              <a:buAutoNum type="arabicParenBoth"/>
            </a:pPr>
            <a:r>
              <a:rPr lang="zh-TW" altLang="en-US" sz="2000" dirty="0">
                <a:latin typeface="+mn-lt"/>
              </a:rPr>
              <a:t>這種條碼不能代表數字。</a:t>
            </a:r>
            <a:endParaRPr lang="en-US" sz="2000" dirty="0">
              <a:latin typeface="+mn-lt"/>
            </a:endParaRPr>
          </a:p>
          <a:p>
            <a:pPr marL="1257300" lvl="2" indent="-342900">
              <a:buSzPct val="100000"/>
              <a:buAutoNum type="arabicParenBoth"/>
            </a:pPr>
            <a:r>
              <a:rPr lang="zh-TW" altLang="en-US" sz="2000" dirty="0">
                <a:latin typeface="+mn-lt"/>
              </a:rPr>
              <a:t>此類條碼可從任何方向掃描。</a:t>
            </a:r>
            <a:endParaRPr lang="en-US" sz="2000" dirty="0">
              <a:latin typeface="+mn-lt"/>
            </a:endParaRPr>
          </a:p>
          <a:p>
            <a:pPr marL="1257300" lvl="2" indent="-342900">
              <a:buSzPct val="100000"/>
              <a:buAutoNum type="arabicParenBoth"/>
            </a:pPr>
            <a:r>
              <a:rPr lang="zh-TW" altLang="en-US" sz="2000" dirty="0">
                <a:latin typeface="+mn-lt"/>
              </a:rPr>
              <a:t>即使在其中心加上商標，這種條碼也可被解碼。</a:t>
            </a:r>
            <a:endParaRPr lang="en-US" sz="2000" dirty="0">
              <a:latin typeface="+mn-lt"/>
            </a:endParaRPr>
          </a:p>
          <a:p>
            <a:pPr marL="800100" lvl="1" indent="-342900">
              <a:buSzPct val="100000"/>
              <a:buFont typeface="+mj-lt"/>
              <a:buAutoNum type="alphaUcPeriod"/>
            </a:pPr>
            <a:r>
              <a:rPr lang="zh-TW" altLang="en-US" sz="2000" dirty="0">
                <a:latin typeface="+mn-lt"/>
              </a:rPr>
              <a:t>只有</a:t>
            </a:r>
            <a:r>
              <a:rPr lang="en-US" altLang="zh-TW" sz="2000" dirty="0">
                <a:latin typeface="+mn-lt"/>
              </a:rPr>
              <a:t> (1)</a:t>
            </a:r>
          </a:p>
          <a:p>
            <a:pPr marL="800100" lvl="1" indent="-342900">
              <a:buSzPct val="100000"/>
              <a:buFont typeface="+mj-lt"/>
              <a:buAutoNum type="alphaUcPeriod"/>
            </a:pPr>
            <a:r>
              <a:rPr lang="zh-TW" altLang="en-US" sz="2000" dirty="0">
                <a:latin typeface="+mn-lt"/>
              </a:rPr>
              <a:t>只有 </a:t>
            </a:r>
            <a:r>
              <a:rPr lang="en-HK" sz="2000" dirty="0">
                <a:latin typeface="+mn-lt"/>
              </a:rPr>
              <a:t>(2)</a:t>
            </a:r>
          </a:p>
          <a:p>
            <a:pPr marL="800100" lvl="1" indent="-342900">
              <a:buSzPct val="100000"/>
              <a:buFont typeface="+mj-lt"/>
              <a:buAutoNum type="alphaUcPeriod"/>
            </a:pPr>
            <a:r>
              <a:rPr lang="zh-TW" altLang="en-US" sz="2000" dirty="0">
                <a:latin typeface="+mn-lt"/>
              </a:rPr>
              <a:t>只有 </a:t>
            </a:r>
            <a:r>
              <a:rPr lang="en-HK" sz="2000" dirty="0">
                <a:latin typeface="+mn-lt"/>
              </a:rPr>
              <a:t>(1) </a:t>
            </a:r>
            <a:r>
              <a:rPr lang="zh-TW" altLang="en-US" sz="2000" dirty="0">
                <a:latin typeface="+mn-lt"/>
              </a:rPr>
              <a:t>和</a:t>
            </a:r>
            <a:r>
              <a:rPr lang="en-HK" sz="2000" dirty="0">
                <a:latin typeface="+mn-lt"/>
              </a:rPr>
              <a:t> (3) </a:t>
            </a:r>
          </a:p>
          <a:p>
            <a:pPr marL="800100" lvl="1" indent="-342900">
              <a:buSzPct val="100000"/>
              <a:buFont typeface="+mj-lt"/>
              <a:buAutoNum type="alphaUcPeriod"/>
            </a:pPr>
            <a:r>
              <a:rPr lang="zh-TW" altLang="en-US" sz="2000" dirty="0">
                <a:latin typeface="+mn-lt"/>
              </a:rPr>
              <a:t>只有 </a:t>
            </a:r>
            <a:r>
              <a:rPr lang="en-HK" sz="2000" dirty="0">
                <a:latin typeface="+mn-lt"/>
              </a:rPr>
              <a:t>(2) </a:t>
            </a:r>
            <a:r>
              <a:rPr lang="zh-TW" altLang="en-US" sz="2000" dirty="0">
                <a:latin typeface="+mn-lt"/>
              </a:rPr>
              <a:t>和 </a:t>
            </a:r>
            <a:r>
              <a:rPr lang="en-HK" sz="2000" dirty="0">
                <a:latin typeface="+mn-lt"/>
              </a:rPr>
              <a:t>(3)</a:t>
            </a:r>
            <a:endParaRPr lang="en-GB" sz="2000"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89</a:t>
            </a:fld>
            <a:endParaRPr lang="en-US" dirty="0"/>
          </a:p>
        </p:txBody>
      </p:sp>
      <p:sp>
        <p:nvSpPr>
          <p:cNvPr id="7" name="文字版面配置區 6"/>
          <p:cNvSpPr>
            <a:spLocks noGrp="1"/>
          </p:cNvSpPr>
          <p:nvPr>
            <p:ph type="body" sz="quarter" idx="13"/>
          </p:nvPr>
        </p:nvSpPr>
        <p:spPr/>
        <p:txBody>
          <a:bodyPr/>
          <a:lstStyle/>
          <a:p>
            <a:r>
              <a:rPr lang="en-US" dirty="0"/>
              <a:t>3.5</a:t>
            </a:r>
            <a:endParaRPr lang="en-GB" dirty="0"/>
          </a:p>
        </p:txBody>
      </p:sp>
      <p:pic>
        <p:nvPicPr>
          <p:cNvPr id="8" name="Picture 4"/>
          <p:cNvPicPr>
            <a:picLocks noChangeAspect="1"/>
          </p:cNvPicPr>
          <p:nvPr/>
        </p:nvPicPr>
        <p:blipFill>
          <a:blip r:embed="rId2"/>
          <a:stretch>
            <a:fillRect/>
          </a:stretch>
        </p:blipFill>
        <p:spPr>
          <a:xfrm>
            <a:off x="5443750" y="1846849"/>
            <a:ext cx="1304500" cy="1295399"/>
          </a:xfrm>
          <a:prstGeom prst="rect">
            <a:avLst/>
          </a:prstGeom>
        </p:spPr>
      </p:pic>
    </p:spTree>
    <p:extLst>
      <p:ext uri="{BB962C8B-B14F-4D97-AF65-F5344CB8AC3E}">
        <p14:creationId xmlns:p14="http://schemas.microsoft.com/office/powerpoint/2010/main" val="39176029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這種類型的條碼為二維碼，它可以代表任何類型的字符，因此 </a:t>
            </a:r>
            <a:r>
              <a:rPr lang="en-US" altLang="zh-TW" dirty="0">
                <a:latin typeface="+mn-lt"/>
              </a:rPr>
              <a:t>(1) </a:t>
            </a:r>
            <a:r>
              <a:rPr lang="zh-TW" altLang="en-US" dirty="0">
                <a:latin typeface="+mn-lt"/>
              </a:rPr>
              <a:t>是不正確的。</a:t>
            </a:r>
          </a:p>
          <a:p>
            <a:r>
              <a:rPr lang="zh-TW" altLang="en-US" dirty="0">
                <a:latin typeface="+mn-lt"/>
              </a:rPr>
              <a:t>二維碼具有三個定位標誌，可以從任何方向掃描，因此 </a:t>
            </a:r>
            <a:r>
              <a:rPr lang="en-US" altLang="zh-TW" dirty="0">
                <a:latin typeface="+mn-lt"/>
              </a:rPr>
              <a:t>(2) </a:t>
            </a:r>
            <a:r>
              <a:rPr lang="zh-TW" altLang="en-US" dirty="0">
                <a:latin typeface="+mn-lt"/>
              </a:rPr>
              <a:t>是正確的。</a:t>
            </a:r>
          </a:p>
          <a:p>
            <a:r>
              <a:rPr lang="zh-TW" altLang="en-US" dirty="0">
                <a:latin typeface="+mn-lt"/>
              </a:rPr>
              <a:t>一個二維碼最多可以恢復 </a:t>
            </a:r>
            <a:r>
              <a:rPr lang="en-US" altLang="zh-TW" dirty="0">
                <a:latin typeface="+mn-lt"/>
              </a:rPr>
              <a:t>30% </a:t>
            </a:r>
            <a:r>
              <a:rPr lang="zh-TW" altLang="en-US" dirty="0">
                <a:latin typeface="+mn-lt"/>
              </a:rPr>
              <a:t>的數據，因此 </a:t>
            </a:r>
            <a:r>
              <a:rPr lang="en-US" altLang="zh-TW" dirty="0">
                <a:latin typeface="+mn-lt"/>
              </a:rPr>
              <a:t>(3) </a:t>
            </a:r>
            <a:r>
              <a:rPr lang="zh-TW" altLang="en-US" dirty="0">
                <a:latin typeface="+mn-lt"/>
              </a:rPr>
              <a:t>是正確的。</a:t>
            </a:r>
            <a:endParaRPr lang="en-HK"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D</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90</a:t>
            </a:fld>
            <a:endParaRPr lang="en-US" dirty="0"/>
          </a:p>
        </p:txBody>
      </p:sp>
      <p:sp>
        <p:nvSpPr>
          <p:cNvPr id="4" name="文字版面配置區 3"/>
          <p:cNvSpPr>
            <a:spLocks noGrp="1"/>
          </p:cNvSpPr>
          <p:nvPr>
            <p:ph type="body" sz="quarter" idx="13"/>
          </p:nvPr>
        </p:nvSpPr>
        <p:spPr/>
        <p:txBody>
          <a:bodyPr/>
          <a:lstStyle/>
          <a:p>
            <a:r>
              <a:rPr lang="en-US" dirty="0"/>
              <a:t>3.5</a:t>
            </a:r>
            <a:endParaRPr lang="en-GB" dirty="0"/>
          </a:p>
        </p:txBody>
      </p:sp>
    </p:spTree>
    <p:extLst>
      <p:ext uri="{BB962C8B-B14F-4D97-AF65-F5344CB8AC3E}">
        <p14:creationId xmlns:p14="http://schemas.microsoft.com/office/powerpoint/2010/main" val="25684674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pPr marL="457200" indent="-457200">
              <a:buFont typeface="+mj-lt"/>
              <a:buAutoNum type="arabicPeriod"/>
            </a:pPr>
            <a:r>
              <a:rPr lang="zh-TW" altLang="en-US" dirty="0">
                <a:latin typeface="+mn-lt"/>
              </a:rPr>
              <a:t>彬仔是一間店舖的店主，他店裏每件產品的包裝紙上都有一個條碼。顧客購買產品時，收銀員會使用掃描器來掃描條碼，以更新庫存產品的數量。</a:t>
            </a:r>
            <a:endParaRPr lang="en-US" altLang="zh-TW" dirty="0">
              <a:latin typeface="+mn-lt"/>
            </a:endParaRPr>
          </a:p>
          <a:p>
            <a:pPr marL="457200" indent="-457200">
              <a:buFont typeface="+mj-lt"/>
              <a:buAutoNum type="arabicPeriod"/>
            </a:pPr>
            <a:endParaRPr lang="en-US" dirty="0">
              <a:latin typeface="+mn-lt"/>
            </a:endParaRPr>
          </a:p>
          <a:p>
            <a:pPr marL="914400" lvl="1" indent="-457200">
              <a:buFont typeface="+mj-lt"/>
              <a:buAutoNum type="alphaLcParenR"/>
            </a:pPr>
            <a:r>
              <a:rPr lang="zh-TW" altLang="en-US" sz="2000" dirty="0">
                <a:latin typeface="+mn-lt"/>
              </a:rPr>
              <a:t>條碼代表什麼數據？</a:t>
            </a:r>
            <a:endParaRPr lang="en-US" sz="2000" dirty="0">
              <a:latin typeface="+mn-lt"/>
            </a:endParaRPr>
          </a:p>
          <a:p>
            <a:pPr lvl="2"/>
            <a:r>
              <a:rPr lang="zh-TW" altLang="en-US" sz="2000" dirty="0">
                <a:solidFill>
                  <a:srgbClr val="FF0000"/>
                </a:solidFill>
                <a:latin typeface="+mn-lt"/>
              </a:rPr>
              <a:t>一個數 </a:t>
            </a:r>
            <a:r>
              <a:rPr lang="en-US" altLang="zh-TW" sz="2000" dirty="0">
                <a:solidFill>
                  <a:srgbClr val="FF0000"/>
                </a:solidFill>
                <a:latin typeface="+mn-lt"/>
              </a:rPr>
              <a:t>/ </a:t>
            </a:r>
            <a:r>
              <a:rPr lang="zh-TW" altLang="en-US" sz="2000" dirty="0">
                <a:solidFill>
                  <a:srgbClr val="FF0000"/>
                </a:solidFill>
                <a:latin typeface="+mn-lt"/>
              </a:rPr>
              <a:t>一組數字 </a:t>
            </a:r>
            <a:r>
              <a:rPr lang="en-US" altLang="zh-TW" sz="2000" dirty="0">
                <a:solidFill>
                  <a:srgbClr val="FF0000"/>
                </a:solidFill>
                <a:latin typeface="+mn-lt"/>
              </a:rPr>
              <a:t>/ </a:t>
            </a:r>
            <a:r>
              <a:rPr lang="zh-TW" altLang="en-US" sz="2000" dirty="0">
                <a:solidFill>
                  <a:srgbClr val="FF0000"/>
                </a:solidFill>
                <a:latin typeface="+mn-lt"/>
              </a:rPr>
              <a:t>產品 </a:t>
            </a:r>
            <a:r>
              <a:rPr lang="en-US" altLang="zh-TW" sz="2000" dirty="0">
                <a:solidFill>
                  <a:srgbClr val="FF0000"/>
                </a:solidFill>
                <a:latin typeface="+mn-lt"/>
              </a:rPr>
              <a:t>ID</a:t>
            </a:r>
            <a:r>
              <a:rPr lang="zh-TW" altLang="en-US" sz="2000" dirty="0">
                <a:solidFill>
                  <a:srgbClr val="FF0000"/>
                </a:solidFill>
                <a:latin typeface="+mn-lt"/>
              </a:rPr>
              <a:t>。</a:t>
            </a:r>
            <a:endParaRPr lang="en-US" sz="2000" dirty="0">
              <a:solidFill>
                <a:srgbClr val="FF0000"/>
              </a:solidFill>
              <a:latin typeface="+mn-lt"/>
            </a:endParaRPr>
          </a:p>
          <a:p>
            <a:pPr lvl="2"/>
            <a:endParaRPr lang="en-HK" sz="2000" dirty="0">
              <a:latin typeface="+mn-lt"/>
            </a:endParaRPr>
          </a:p>
          <a:p>
            <a:pPr marL="914400" lvl="1" indent="-457200">
              <a:buSzPct val="100000"/>
              <a:buFont typeface="+mj-lt"/>
              <a:buAutoNum type="alphaLcParenR"/>
            </a:pPr>
            <a:r>
              <a:rPr lang="zh-TW" altLang="en-US" sz="2000" dirty="0">
                <a:latin typeface="+mn-lt"/>
              </a:rPr>
              <a:t>指出使用這種方法的兩個好處。</a:t>
            </a:r>
            <a:endParaRPr lang="en-HK" sz="2000" dirty="0">
              <a:latin typeface="+mn-lt"/>
            </a:endParaRPr>
          </a:p>
          <a:p>
            <a:pPr lvl="2"/>
            <a:r>
              <a:rPr lang="zh-TW" altLang="en-US" sz="2000" dirty="0">
                <a:solidFill>
                  <a:srgbClr val="FF0000"/>
                </a:solidFill>
                <a:latin typeface="+mn-lt"/>
              </a:rPr>
              <a:t>減少輸入錯誤和輸入時間。</a:t>
            </a:r>
            <a:endParaRPr lang="en-HK" sz="2000" dirty="0">
              <a:solidFill>
                <a:srgbClr val="FF0000"/>
              </a:solidFill>
              <a:latin typeface="+mn-lt"/>
            </a:endParaRPr>
          </a:p>
          <a:p>
            <a:pPr marL="457200" indent="-457200">
              <a:buFont typeface="+mj-lt"/>
              <a:buAutoNum type="arabicPeriod"/>
            </a:pP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91</a:t>
            </a:fld>
            <a:endParaRPr lang="en-US" dirty="0"/>
          </a:p>
        </p:txBody>
      </p:sp>
      <p:sp>
        <p:nvSpPr>
          <p:cNvPr id="6" name="文字版面配置區 5"/>
          <p:cNvSpPr>
            <a:spLocks noGrp="1"/>
          </p:cNvSpPr>
          <p:nvPr>
            <p:ph type="body" sz="quarter" idx="13"/>
          </p:nvPr>
        </p:nvSpPr>
        <p:spPr/>
        <p:txBody>
          <a:bodyPr/>
          <a:lstStyle/>
          <a:p>
            <a:r>
              <a:rPr lang="en-US" dirty="0"/>
              <a:t>3.5</a:t>
            </a:r>
            <a:endParaRPr lang="en-GB" dirty="0"/>
          </a:p>
        </p:txBody>
      </p:sp>
    </p:spTree>
    <p:extLst>
      <p:ext uri="{BB962C8B-B14F-4D97-AF65-F5344CB8AC3E}">
        <p14:creationId xmlns:p14="http://schemas.microsoft.com/office/powerpoint/2010/main" val="211184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模擬及數碼數據</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92</a:t>
            </a:fld>
            <a:endParaRPr lang="en-US" dirty="0"/>
          </a:p>
        </p:txBody>
      </p:sp>
      <p:sp>
        <p:nvSpPr>
          <p:cNvPr id="6" name="文字版面配置區 5"/>
          <p:cNvSpPr>
            <a:spLocks noGrp="1"/>
          </p:cNvSpPr>
          <p:nvPr>
            <p:ph type="body" sz="quarter" idx="14"/>
          </p:nvPr>
        </p:nvSpPr>
        <p:spPr/>
        <p:txBody>
          <a:bodyPr/>
          <a:lstStyle/>
          <a:p>
            <a:r>
              <a:rPr lang="en-US" dirty="0"/>
              <a:t>3.4</a:t>
            </a:r>
            <a:endParaRPr lang="en-GB" dirty="0"/>
          </a:p>
        </p:txBody>
      </p:sp>
      <p:sp>
        <p:nvSpPr>
          <p:cNvPr id="7" name="內容版面配置區 6"/>
          <p:cNvSpPr>
            <a:spLocks noGrp="1"/>
          </p:cNvSpPr>
          <p:nvPr>
            <p:ph sz="quarter" idx="15"/>
          </p:nvPr>
        </p:nvSpPr>
        <p:spPr/>
        <p:txBody>
          <a:bodyPr/>
          <a:lstStyle/>
          <a:p>
            <a:r>
              <a:rPr lang="zh-TW" altLang="en-US" dirty="0">
                <a:latin typeface="+mn-lt"/>
              </a:rPr>
              <a:t>用以表示數據的方法有很多。</a:t>
            </a:r>
          </a:p>
          <a:p>
            <a:pPr marL="342900" indent="-342900">
              <a:buFont typeface="Arial" panose="020B0604020202020204" pitchFamily="34" charset="0"/>
              <a:buChar char="•"/>
            </a:pPr>
            <a:r>
              <a:rPr lang="en-US" altLang="zh-TW" dirty="0">
                <a:latin typeface="+mn-lt"/>
              </a:rPr>
              <a:t> </a:t>
            </a:r>
            <a:r>
              <a:rPr lang="zh-TW" altLang="en-US" dirty="0">
                <a:latin typeface="+mn-lt"/>
              </a:rPr>
              <a:t>以物理方式用連續值表示的數據（如聲波、文字和圖畫）稱為</a:t>
            </a:r>
            <a:r>
              <a:rPr lang="zh-TW" altLang="en-US" dirty="0">
                <a:solidFill>
                  <a:srgbClr val="595A96"/>
                </a:solidFill>
                <a:latin typeface="Noto Sans CJK TC Bold" panose="020B0800000000000000" pitchFamily="34" charset="-128"/>
                <a:ea typeface="Noto Sans CJK TC Bold" panose="020B0800000000000000" pitchFamily="34" charset="-128"/>
              </a:rPr>
              <a:t>模擬數據</a:t>
            </a:r>
            <a:r>
              <a:rPr lang="zh-TW" altLang="en-US" dirty="0">
                <a:latin typeface="+mn-lt"/>
              </a:rPr>
              <a:t>。</a:t>
            </a:r>
          </a:p>
          <a:p>
            <a:pPr marL="342900" indent="-342900">
              <a:buFont typeface="Arial" panose="020B0604020202020204" pitchFamily="34" charset="0"/>
              <a:buChar char="•"/>
            </a:pPr>
            <a:r>
              <a:rPr lang="zh-TW" altLang="en-US" dirty="0">
                <a:latin typeface="+mn-lt"/>
              </a:rPr>
              <a:t>以 </a:t>
            </a:r>
            <a:r>
              <a:rPr lang="en-US" altLang="zh-TW" dirty="0">
                <a:latin typeface="+mn-lt"/>
              </a:rPr>
              <a:t>0 </a:t>
            </a:r>
            <a:r>
              <a:rPr lang="zh-TW" altLang="en-US" dirty="0">
                <a:latin typeface="+mn-lt"/>
              </a:rPr>
              <a:t>和 </a:t>
            </a:r>
            <a:r>
              <a:rPr lang="en-US" altLang="zh-TW" dirty="0">
                <a:latin typeface="+mn-lt"/>
              </a:rPr>
              <a:t>1 </a:t>
            </a:r>
            <a:r>
              <a:rPr lang="zh-TW" altLang="en-US" dirty="0">
                <a:latin typeface="+mn-lt"/>
              </a:rPr>
              <a:t>等離散符號表示的數據（如文字檔案、數碼照片和音頻檔案）則稱為</a:t>
            </a:r>
            <a:r>
              <a:rPr lang="zh-TW" altLang="en-US" dirty="0">
                <a:solidFill>
                  <a:srgbClr val="595A96"/>
                </a:solidFill>
                <a:latin typeface="Noto Sans CJK TC Bold" panose="020B0800000000000000" pitchFamily="34" charset="-128"/>
                <a:ea typeface="Noto Sans CJK TC Bold" panose="020B0800000000000000" pitchFamily="34" charset="-128"/>
              </a:rPr>
              <a:t>數碼數據</a:t>
            </a:r>
            <a:r>
              <a:rPr lang="zh-TW" altLang="en-US" dirty="0">
                <a:latin typeface="+mn-lt"/>
              </a:rPr>
              <a:t>。</a:t>
            </a:r>
            <a:endParaRPr lang="en-GB" dirty="0">
              <a:latin typeface="+mn-lt"/>
            </a:endParaRPr>
          </a:p>
        </p:txBody>
      </p:sp>
    </p:spTree>
    <p:extLst>
      <p:ext uri="{BB962C8B-B14F-4D97-AF65-F5344CB8AC3E}">
        <p14:creationId xmlns:p14="http://schemas.microsoft.com/office/powerpoint/2010/main" val="42886487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模擬及數碼數據</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93</a:t>
            </a:fld>
            <a:endParaRPr lang="en-US" dirty="0"/>
          </a:p>
        </p:txBody>
      </p:sp>
      <p:sp>
        <p:nvSpPr>
          <p:cNvPr id="6" name="文字版面配置區 5"/>
          <p:cNvSpPr>
            <a:spLocks noGrp="1"/>
          </p:cNvSpPr>
          <p:nvPr>
            <p:ph type="body" sz="quarter" idx="14"/>
          </p:nvPr>
        </p:nvSpPr>
        <p:spPr/>
        <p:txBody>
          <a:bodyPr/>
          <a:lstStyle/>
          <a:p>
            <a:r>
              <a:rPr lang="en-US" dirty="0"/>
              <a:t>3.4</a:t>
            </a:r>
            <a:endParaRPr lang="en-GB" dirty="0"/>
          </a:p>
        </p:txBody>
      </p:sp>
      <p:sp>
        <p:nvSpPr>
          <p:cNvPr id="7" name="內容版面配置區 6"/>
          <p:cNvSpPr>
            <a:spLocks noGrp="1"/>
          </p:cNvSpPr>
          <p:nvPr>
            <p:ph sz="quarter" idx="15"/>
          </p:nvPr>
        </p:nvSpPr>
        <p:spPr/>
        <p:txBody>
          <a:bodyPr/>
          <a:lstStyle/>
          <a:p>
            <a:r>
              <a:rPr lang="zh-TW" altLang="en-US" dirty="0">
                <a:latin typeface="+mn-lt"/>
              </a:rPr>
              <a:t>模擬數據和數碼數據會被儲存在不同種類的儲存媒體中：</a:t>
            </a:r>
            <a:endParaRPr lang="en-GB" dirty="0">
              <a:latin typeface="+mn-lt"/>
            </a:endParaRPr>
          </a:p>
        </p:txBody>
      </p:sp>
      <p:graphicFrame>
        <p:nvGraphicFramePr>
          <p:cNvPr id="8" name="Table 5"/>
          <p:cNvGraphicFramePr>
            <a:graphicFrameLocks noGrp="1"/>
          </p:cNvGraphicFramePr>
          <p:nvPr>
            <p:extLst>
              <p:ext uri="{D42A27DB-BD31-4B8C-83A1-F6EECF244321}">
                <p14:modId xmlns:p14="http://schemas.microsoft.com/office/powerpoint/2010/main" val="775219729"/>
              </p:ext>
            </p:extLst>
          </p:nvPr>
        </p:nvGraphicFramePr>
        <p:xfrm>
          <a:off x="2108200" y="2300816"/>
          <a:ext cx="8128000" cy="401819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35952">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模擬數據儲存媒體</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數碼數據儲存媒體</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826216">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1826216">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9" name="Picture 6"/>
          <p:cNvPicPr>
            <a:picLocks noChangeAspect="1"/>
          </p:cNvPicPr>
          <p:nvPr/>
        </p:nvPicPr>
        <p:blipFill>
          <a:blip r:embed="rId2"/>
          <a:stretch>
            <a:fillRect/>
          </a:stretch>
        </p:blipFill>
        <p:spPr>
          <a:xfrm>
            <a:off x="3000037" y="2762934"/>
            <a:ext cx="2438737" cy="1680232"/>
          </a:xfrm>
          <a:prstGeom prst="rect">
            <a:avLst/>
          </a:prstGeom>
        </p:spPr>
      </p:pic>
      <p:pic>
        <p:nvPicPr>
          <p:cNvPr id="10" name="Picture 7"/>
          <p:cNvPicPr>
            <a:picLocks noChangeAspect="1"/>
          </p:cNvPicPr>
          <p:nvPr/>
        </p:nvPicPr>
        <p:blipFill>
          <a:blip r:embed="rId3"/>
          <a:stretch>
            <a:fillRect/>
          </a:stretch>
        </p:blipFill>
        <p:spPr>
          <a:xfrm>
            <a:off x="7018625" y="2762934"/>
            <a:ext cx="2439700" cy="1672809"/>
          </a:xfrm>
          <a:prstGeom prst="rect">
            <a:avLst/>
          </a:prstGeom>
        </p:spPr>
      </p:pic>
      <p:pic>
        <p:nvPicPr>
          <p:cNvPr id="11" name="Picture 8"/>
          <p:cNvPicPr>
            <a:picLocks noChangeAspect="1"/>
          </p:cNvPicPr>
          <p:nvPr/>
        </p:nvPicPr>
        <p:blipFill>
          <a:blip r:embed="rId4"/>
          <a:stretch>
            <a:fillRect/>
          </a:stretch>
        </p:blipFill>
        <p:spPr>
          <a:xfrm>
            <a:off x="3000037" y="4622562"/>
            <a:ext cx="2601836" cy="1666638"/>
          </a:xfrm>
          <a:prstGeom prst="rect">
            <a:avLst/>
          </a:prstGeom>
        </p:spPr>
      </p:pic>
      <p:pic>
        <p:nvPicPr>
          <p:cNvPr id="12" name="Picture 9"/>
          <p:cNvPicPr>
            <a:picLocks noChangeAspect="1"/>
          </p:cNvPicPr>
          <p:nvPr/>
        </p:nvPicPr>
        <p:blipFill>
          <a:blip r:embed="rId5"/>
          <a:stretch>
            <a:fillRect/>
          </a:stretch>
        </p:blipFill>
        <p:spPr>
          <a:xfrm>
            <a:off x="6636300" y="4546170"/>
            <a:ext cx="3170652" cy="1632602"/>
          </a:xfrm>
          <a:prstGeom prst="rect">
            <a:avLst/>
          </a:prstGeom>
        </p:spPr>
      </p:pic>
    </p:spTree>
    <p:extLst>
      <p:ext uri="{BB962C8B-B14F-4D97-AF65-F5344CB8AC3E}">
        <p14:creationId xmlns:p14="http://schemas.microsoft.com/office/powerpoint/2010/main" val="1225440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模擬及數碼數據</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94</a:t>
            </a:fld>
            <a:endParaRPr lang="en-US" dirty="0"/>
          </a:p>
        </p:txBody>
      </p:sp>
      <p:sp>
        <p:nvSpPr>
          <p:cNvPr id="4" name="文字版面配置區 3"/>
          <p:cNvSpPr>
            <a:spLocks noGrp="1"/>
          </p:cNvSpPr>
          <p:nvPr>
            <p:ph type="body" sz="quarter" idx="14"/>
          </p:nvPr>
        </p:nvSpPr>
        <p:spPr/>
        <p:txBody>
          <a:bodyPr/>
          <a:lstStyle/>
          <a:p>
            <a:r>
              <a:rPr lang="en-US" dirty="0"/>
              <a:t>3.4</a:t>
            </a:r>
            <a:endParaRPr lang="en-GB" dirty="0"/>
          </a:p>
        </p:txBody>
      </p:sp>
      <p:sp>
        <p:nvSpPr>
          <p:cNvPr id="5" name="內容版面配置區 4"/>
          <p:cNvSpPr>
            <a:spLocks noGrp="1"/>
          </p:cNvSpPr>
          <p:nvPr>
            <p:ph sz="quarter" idx="15"/>
          </p:nvPr>
        </p:nvSpPr>
        <p:spPr/>
        <p:txBody>
          <a:bodyPr/>
          <a:lstStyle/>
          <a:p>
            <a:r>
              <a:rPr lang="zh-TW" altLang="en-US" dirty="0"/>
              <a:t>有關模擬數據和數碼數據之間的比較，可參見下表。</a:t>
            </a:r>
            <a:endParaRPr lang="en-GB" dirty="0"/>
          </a:p>
        </p:txBody>
      </p:sp>
      <p:graphicFrame>
        <p:nvGraphicFramePr>
          <p:cNvPr id="7" name="Table 5"/>
          <p:cNvGraphicFramePr>
            <a:graphicFrameLocks noGrp="1"/>
          </p:cNvGraphicFramePr>
          <p:nvPr>
            <p:extLst>
              <p:ext uri="{D42A27DB-BD31-4B8C-83A1-F6EECF244321}">
                <p14:modId xmlns:p14="http://schemas.microsoft.com/office/powerpoint/2010/main" val="321992538"/>
              </p:ext>
            </p:extLst>
          </p:nvPr>
        </p:nvGraphicFramePr>
        <p:xfrm>
          <a:off x="809625" y="2081737"/>
          <a:ext cx="10534650" cy="4125831"/>
        </p:xfrm>
        <a:graphic>
          <a:graphicData uri="http://schemas.openxmlformats.org/drawingml/2006/table">
            <a:tbl>
              <a:tblPr firstRow="1" bandRow="1">
                <a:tableStyleId>{5940675A-B579-460E-94D1-54222C63F5DA}</a:tableStyleId>
              </a:tblPr>
              <a:tblGrid>
                <a:gridCol w="270510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屬性</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模擬數據</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數碼數據</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253357">
                <a:tc>
                  <a:txBody>
                    <a:bodyPr/>
                    <a:lstStyle/>
                    <a:p>
                      <a:pPr algn="ctr"/>
                      <a:r>
                        <a:rPr lang="zh-TW" altLang="en-US" b="1">
                          <a:solidFill>
                            <a:schemeClr val="bg1"/>
                          </a:solidFill>
                          <a:latin typeface="Noto Sans CJK TC Bold" panose="020B0800000000000000" pitchFamily="34" charset="-128"/>
                          <a:ea typeface="Noto Sans CJK TC Bold" panose="020B0800000000000000" pitchFamily="34" charset="-128"/>
                        </a:rPr>
                        <a:t>表示方式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以實體表示，數值之間的變化是</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連續的。</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以離散符號表示，數碼設備中的</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符號通常為 </a:t>
                      </a:r>
                      <a:r>
                        <a:rPr lang="en-US" altLang="zh-TW"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0 </a:t>
                      </a: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和 </a:t>
                      </a:r>
                      <a:r>
                        <a:rPr lang="en-US" altLang="zh-TW"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1</a:t>
                      </a: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1253357">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通過壓縮減少數據大小的</a:t>
                      </a:r>
                    </a:p>
                    <a:p>
                      <a:pPr algn="ctr"/>
                      <a:r>
                        <a:rPr lang="zh-TW" altLang="en-US" b="1" dirty="0">
                          <a:solidFill>
                            <a:schemeClr val="bg1"/>
                          </a:solidFill>
                          <a:latin typeface="Noto Sans CJK TC Bold" panose="020B0800000000000000" pitchFamily="34" charset="-128"/>
                          <a:ea typeface="Noto Sans CJK TC Bold" panose="020B0800000000000000" pitchFamily="34" charset="-128"/>
                        </a:rPr>
                        <a:t>可行性</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低。</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高。</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數碼電視訊號佔用較少的無線電</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頻譜。</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253357">
                <a:tc>
                  <a:txBody>
                    <a:bodyPr/>
                    <a:lstStyle/>
                    <a:p>
                      <a:pPr algn="ctr"/>
                      <a:r>
                        <a:rPr lang="zh-TW" altLang="en-US" sz="1800" b="0" i="0" u="none" strike="noStrike" kern="1200" baseline="0" dirty="0">
                          <a:solidFill>
                            <a:schemeClr val="bg1"/>
                          </a:solidFill>
                          <a:latin typeface="Noto Sans CJK TC Bold" panose="020B0800000000000000" pitchFamily="34" charset="-128"/>
                          <a:ea typeface="Noto Sans CJK TC Bold" panose="020B0800000000000000" pitchFamily="34" charset="-128"/>
                          <a:cs typeface="+mn-cs"/>
                        </a:rPr>
                        <a:t>數據分析能力</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zh-TW" altLang="en-US" dirty="0">
                          <a:latin typeface="Noto Sans CJK TC Light" panose="020B0300000000000000" pitchFamily="34" charset="-128"/>
                          <a:ea typeface="Noto Sans CJK TC Light" panose="020B0300000000000000" pitchFamily="34" charset="-128"/>
                        </a:rPr>
                        <a:t>低。</a:t>
                      </a:r>
                    </a:p>
                    <a:p>
                      <a:r>
                        <a:rPr lang="zh-TW" altLang="en-US" dirty="0">
                          <a:latin typeface="Noto Sans CJK TC Light" panose="020B0300000000000000" pitchFamily="34" charset="-128"/>
                          <a:ea typeface="Noto Sans CJK TC Light" panose="020B0300000000000000" pitchFamily="34" charset="-128"/>
                        </a:rPr>
                        <a:t>例如當相關數據發生變化時，需要</a:t>
                      </a:r>
                    </a:p>
                    <a:p>
                      <a:r>
                        <a:rPr lang="zh-TW" altLang="en-US" dirty="0">
                          <a:latin typeface="Noto Sans CJK TC Light" panose="020B0300000000000000" pitchFamily="34" charset="-128"/>
                          <a:ea typeface="Noto Sans CJK TC Light" panose="020B0300000000000000" pitchFamily="34" charset="-128"/>
                        </a:rPr>
                        <a:t>手動更新賬本的計算結果。</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dirty="0">
                          <a:latin typeface="Noto Sans CJK TC Light" panose="020B0300000000000000" pitchFamily="34" charset="-128"/>
                          <a:ea typeface="Noto Sans CJK TC Light" panose="020B0300000000000000" pitchFamily="34" charset="-128"/>
                        </a:rPr>
                        <a:t>高。</a:t>
                      </a:r>
                    </a:p>
                    <a:p>
                      <a:r>
                        <a:rPr lang="zh-TW" altLang="en-US" dirty="0">
                          <a:latin typeface="Noto Sans CJK TC Light" panose="020B0300000000000000" pitchFamily="34" charset="-128"/>
                          <a:ea typeface="Noto Sans CJK TC Light" panose="020B0300000000000000" pitchFamily="34" charset="-128"/>
                        </a:rPr>
                        <a:t>例如當相關數據發生變化時，電子</a:t>
                      </a:r>
                    </a:p>
                    <a:p>
                      <a:r>
                        <a:rPr lang="zh-TW" altLang="en-US" dirty="0">
                          <a:latin typeface="Noto Sans CJK TC Light" panose="020B0300000000000000" pitchFamily="34" charset="-128"/>
                          <a:ea typeface="Noto Sans CJK TC Light" panose="020B0300000000000000" pitchFamily="34" charset="-128"/>
                        </a:rPr>
                        <a:t>試算表可自動更新數據，甚至立即</a:t>
                      </a:r>
                    </a:p>
                    <a:p>
                      <a:r>
                        <a:rPr lang="zh-TW" altLang="en-US" dirty="0">
                          <a:latin typeface="Noto Sans CJK TC Light" panose="020B0300000000000000" pitchFamily="34" charset="-128"/>
                          <a:ea typeface="Noto Sans CJK TC Light" panose="020B0300000000000000" pitchFamily="34" charset="-128"/>
                        </a:rPr>
                        <a:t>創建圖表。</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659649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數碼化</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95</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數碼化</a:t>
            </a:r>
            <a:r>
              <a:rPr lang="zh-TW" altLang="en-US" dirty="0"/>
              <a:t>指將模擬數據轉換為數碼數據。</a:t>
            </a:r>
            <a:endParaRPr lang="en-US" altLang="zh-TW" dirty="0"/>
          </a:p>
          <a:p>
            <a:endParaRPr lang="en-US" dirty="0"/>
          </a:p>
          <a:p>
            <a:r>
              <a:rPr lang="zh-TW" altLang="en-US" dirty="0"/>
              <a:t>我們可以將數碼化分解為兩個部分：</a:t>
            </a:r>
            <a:endParaRPr lang="en-US" altLang="zh-TW" dirty="0"/>
          </a:p>
          <a:p>
            <a:pPr marL="342900" indent="-342900">
              <a:buFont typeface="Arial" panose="020B0604020202020204" pitchFamily="34" charset="0"/>
              <a:buChar char="•"/>
            </a:pPr>
            <a:r>
              <a:rPr lang="zh-TW" altLang="en-US" dirty="0"/>
              <a:t>離散化</a:t>
            </a:r>
            <a:endParaRPr lang="en-US" altLang="zh-TW" dirty="0"/>
          </a:p>
          <a:p>
            <a:pPr marL="342900" indent="-342900">
              <a:buFont typeface="Arial" panose="020B0604020202020204" pitchFamily="34" charset="0"/>
              <a:buChar char="•"/>
            </a:pPr>
            <a:r>
              <a:rPr lang="zh-TW" altLang="en-US" dirty="0"/>
              <a:t>量化</a:t>
            </a:r>
            <a:endParaRPr lang="en-GB" dirty="0"/>
          </a:p>
        </p:txBody>
      </p:sp>
    </p:spTree>
    <p:extLst>
      <p:ext uri="{BB962C8B-B14F-4D97-AF65-F5344CB8AC3E}">
        <p14:creationId xmlns:p14="http://schemas.microsoft.com/office/powerpoint/2010/main" val="38480767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數碼化</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96</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latin typeface="+mn-lt"/>
              </a:rPr>
              <a:t>要將模擬訊號轉換為數碼訊號，我們應在固定的時間間隔內對訊號值進行取樣，而這個時間間隔的長度會決定取樣頻率。這個過程稱為「</a:t>
            </a:r>
            <a:r>
              <a:rPr lang="zh-TW" altLang="en-US" dirty="0">
                <a:solidFill>
                  <a:srgbClr val="595A96"/>
                </a:solidFill>
                <a:latin typeface="Noto Sans CJK TC Bold" panose="020B0800000000000000" pitchFamily="34" charset="-128"/>
                <a:ea typeface="Noto Sans CJK TC Bold" panose="020B0800000000000000" pitchFamily="34" charset="-128"/>
              </a:rPr>
              <a:t>離散化</a:t>
            </a:r>
            <a:r>
              <a:rPr lang="zh-TW" altLang="en-US" dirty="0">
                <a:latin typeface="+mn-lt"/>
              </a:rPr>
              <a:t>」。</a:t>
            </a:r>
            <a:endParaRPr lang="en-GB" dirty="0">
              <a:latin typeface="+mn-lt"/>
            </a:endParaRPr>
          </a:p>
        </p:txBody>
      </p:sp>
      <p:pic>
        <p:nvPicPr>
          <p:cNvPr id="6" name="圖片 5"/>
          <p:cNvPicPr>
            <a:picLocks noChangeAspect="1"/>
          </p:cNvPicPr>
          <p:nvPr/>
        </p:nvPicPr>
        <p:blipFill>
          <a:blip r:embed="rId2"/>
          <a:stretch>
            <a:fillRect/>
          </a:stretch>
        </p:blipFill>
        <p:spPr>
          <a:xfrm>
            <a:off x="2488557" y="2704379"/>
            <a:ext cx="7501419" cy="3584821"/>
          </a:xfrm>
          <a:prstGeom prst="rect">
            <a:avLst/>
          </a:prstGeom>
        </p:spPr>
      </p:pic>
    </p:spTree>
    <p:extLst>
      <p:ext uri="{BB962C8B-B14F-4D97-AF65-F5344CB8AC3E}">
        <p14:creationId xmlns:p14="http://schemas.microsoft.com/office/powerpoint/2010/main" val="8162300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數碼化</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97</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latin typeface="+mn-lt"/>
              </a:rPr>
              <a:t>取樣後的值會被儲存為一序列的整數。這個序列便是數碼數據，在數碼儲存媒體中通常用二進制數表示。這個過程稱為「</a:t>
            </a:r>
            <a:r>
              <a:rPr lang="zh-TW" altLang="en-US" dirty="0">
                <a:solidFill>
                  <a:srgbClr val="595A96"/>
                </a:solidFill>
                <a:latin typeface="Noto Sans CJK TC Bold" panose="020B0800000000000000" pitchFamily="34" charset="-128"/>
                <a:ea typeface="Noto Sans CJK TC Bold" panose="020B0800000000000000" pitchFamily="34" charset="-128"/>
              </a:rPr>
              <a:t>量化</a:t>
            </a:r>
            <a:r>
              <a:rPr lang="zh-TW" altLang="en-US" dirty="0">
                <a:latin typeface="+mn-lt"/>
              </a:rPr>
              <a:t>」。</a:t>
            </a:r>
            <a:endParaRPr lang="en-GB" dirty="0">
              <a:latin typeface="+mn-lt"/>
            </a:endParaRPr>
          </a:p>
        </p:txBody>
      </p:sp>
      <p:pic>
        <p:nvPicPr>
          <p:cNvPr id="7" name="圖片 6"/>
          <p:cNvPicPr>
            <a:picLocks noChangeAspect="1"/>
          </p:cNvPicPr>
          <p:nvPr/>
        </p:nvPicPr>
        <p:blipFill>
          <a:blip r:embed="rId2"/>
          <a:stretch>
            <a:fillRect/>
          </a:stretch>
        </p:blipFill>
        <p:spPr>
          <a:xfrm>
            <a:off x="838800" y="2869200"/>
            <a:ext cx="10761092" cy="2481980"/>
          </a:xfrm>
          <a:prstGeom prst="rect">
            <a:avLst/>
          </a:prstGeom>
        </p:spPr>
      </p:pic>
    </p:spTree>
    <p:extLst>
      <p:ext uri="{BB962C8B-B14F-4D97-AF65-F5344CB8AC3E}">
        <p14:creationId xmlns:p14="http://schemas.microsoft.com/office/powerpoint/2010/main" val="14142666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數碼化</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98</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將實體書轉換為電子書通常是一種文本和圖像的數碼化。</a:t>
            </a:r>
            <a:endParaRPr lang="en-GB" dirty="0"/>
          </a:p>
        </p:txBody>
      </p:sp>
      <p:pic>
        <p:nvPicPr>
          <p:cNvPr id="6" name="圖片 5"/>
          <p:cNvPicPr>
            <a:picLocks noChangeAspect="1"/>
          </p:cNvPicPr>
          <p:nvPr/>
        </p:nvPicPr>
        <p:blipFill>
          <a:blip r:embed="rId2"/>
          <a:stretch>
            <a:fillRect/>
          </a:stretch>
        </p:blipFill>
        <p:spPr>
          <a:xfrm>
            <a:off x="2116784" y="2278422"/>
            <a:ext cx="7959632" cy="3905811"/>
          </a:xfrm>
          <a:prstGeom prst="rect">
            <a:avLst/>
          </a:prstGeom>
        </p:spPr>
      </p:pic>
    </p:spTree>
    <p:extLst>
      <p:ext uri="{BB962C8B-B14F-4D97-AF65-F5344CB8AC3E}">
        <p14:creationId xmlns:p14="http://schemas.microsoft.com/office/powerpoint/2010/main" val="14595730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數碼化</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99</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p:txBody>
          <a:bodyPr/>
          <a:lstStyle/>
          <a:p>
            <a:r>
              <a:rPr lang="zh-TW" altLang="en-US" dirty="0"/>
              <a:t>聲波是模擬數據，可以通過以下步驟轉換為數碼數據：</a:t>
            </a:r>
            <a:endParaRPr lang="en-GB" dirty="0"/>
          </a:p>
        </p:txBody>
      </p:sp>
      <p:pic>
        <p:nvPicPr>
          <p:cNvPr id="6" name="圖片 5"/>
          <p:cNvPicPr>
            <a:picLocks noChangeAspect="1"/>
          </p:cNvPicPr>
          <p:nvPr/>
        </p:nvPicPr>
        <p:blipFill>
          <a:blip r:embed="rId2"/>
          <a:stretch>
            <a:fillRect/>
          </a:stretch>
        </p:blipFill>
        <p:spPr>
          <a:xfrm>
            <a:off x="1758665" y="2193758"/>
            <a:ext cx="8675870" cy="4095442"/>
          </a:xfrm>
          <a:prstGeom prst="rect">
            <a:avLst/>
          </a:prstGeom>
        </p:spPr>
      </p:pic>
    </p:spTree>
    <p:extLst>
      <p:ext uri="{BB962C8B-B14F-4D97-AF65-F5344CB8AC3E}">
        <p14:creationId xmlns:p14="http://schemas.microsoft.com/office/powerpoint/2010/main" val="21269697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pPr marL="457200" indent="-457200">
              <a:buAutoNum type="arabicPeriod"/>
            </a:pPr>
            <a:r>
              <a:rPr lang="zh-TW" altLang="en-US" dirty="0">
                <a:latin typeface="+mn-lt"/>
              </a:rPr>
              <a:t>以下哪些動作涉及模擬數據和數碼數據之間的數據轉換？</a:t>
            </a:r>
            <a:endParaRPr lang="en-US" dirty="0">
              <a:latin typeface="+mn-lt"/>
            </a:endParaRPr>
          </a:p>
          <a:p>
            <a:pPr marL="457200" indent="-457200">
              <a:buAutoNum type="arabicPeriod"/>
            </a:pPr>
            <a:endParaRPr lang="en-US" dirty="0">
              <a:latin typeface="+mn-lt"/>
            </a:endParaRPr>
          </a:p>
          <a:p>
            <a:pPr marL="1257300" lvl="2" indent="-342900">
              <a:buSzPct val="100000"/>
              <a:buAutoNum type="arabicParenBoth"/>
            </a:pPr>
            <a:r>
              <a:rPr lang="zh-TW" altLang="en-US" sz="2000" dirty="0">
                <a:latin typeface="+mn-lt"/>
              </a:rPr>
              <a:t>打印電子文檔</a:t>
            </a:r>
            <a:endParaRPr lang="en-US" sz="2000" dirty="0">
              <a:latin typeface="+mn-lt"/>
            </a:endParaRPr>
          </a:p>
          <a:p>
            <a:pPr marL="1257300" lvl="2" indent="-342900">
              <a:buSzPct val="100000"/>
              <a:buAutoNum type="arabicParenBoth"/>
            </a:pPr>
            <a:r>
              <a:rPr lang="zh-TW" altLang="en-US" sz="2000" dirty="0">
                <a:latin typeface="+mn-lt"/>
              </a:rPr>
              <a:t>將多個圖像檔案合併為一個視像檔案</a:t>
            </a:r>
            <a:endParaRPr lang="en-US" sz="2000" dirty="0">
              <a:latin typeface="+mn-lt"/>
            </a:endParaRPr>
          </a:p>
          <a:p>
            <a:pPr marL="1257300" lvl="2" indent="-342900">
              <a:buSzPct val="100000"/>
              <a:buAutoNum type="arabicParenBoth"/>
            </a:pPr>
            <a:r>
              <a:rPr lang="zh-TW" altLang="en-US" sz="2000" dirty="0">
                <a:latin typeface="+mn-lt"/>
              </a:rPr>
              <a:t>錄製狐狸的聲音</a:t>
            </a:r>
            <a:endParaRPr lang="en-US" sz="2000" dirty="0">
              <a:latin typeface="+mn-lt"/>
            </a:endParaRPr>
          </a:p>
          <a:p>
            <a:pPr marL="457200" indent="-457200">
              <a:buSzPct val="100000"/>
              <a:buAutoNum type="arabicPeriod"/>
            </a:pPr>
            <a:endParaRPr lang="en-HK" dirty="0">
              <a:latin typeface="+mn-lt"/>
            </a:endParaRPr>
          </a:p>
          <a:p>
            <a:pPr marL="800100" lvl="1" indent="-342900">
              <a:buSzPct val="100000"/>
              <a:buAutoNum type="alphaUcPeriod"/>
            </a:pPr>
            <a:r>
              <a:rPr lang="zh-TW" altLang="en-US" sz="2000" dirty="0">
                <a:latin typeface="+mn-lt"/>
              </a:rPr>
              <a:t>只有 </a:t>
            </a:r>
            <a:r>
              <a:rPr lang="en-US" sz="2000" dirty="0">
                <a:latin typeface="+mn-lt"/>
              </a:rPr>
              <a:t>(1) </a:t>
            </a:r>
            <a:r>
              <a:rPr lang="zh-TW" altLang="en-US" sz="2000" dirty="0">
                <a:latin typeface="+mn-lt"/>
              </a:rPr>
              <a:t>和</a:t>
            </a:r>
            <a:r>
              <a:rPr lang="en-US" sz="2000" dirty="0">
                <a:latin typeface="+mn-lt"/>
              </a:rPr>
              <a:t> (2) </a:t>
            </a:r>
          </a:p>
          <a:p>
            <a:pPr marL="800100" lvl="1" indent="-342900">
              <a:buSzPct val="100000"/>
              <a:buAutoNum type="alphaUcPeriod"/>
            </a:pPr>
            <a:r>
              <a:rPr lang="zh-TW" altLang="en-US" sz="2000" dirty="0">
                <a:latin typeface="+mn-lt"/>
              </a:rPr>
              <a:t>只有 </a:t>
            </a:r>
            <a:r>
              <a:rPr lang="en-US" sz="2000" dirty="0">
                <a:latin typeface="+mn-lt"/>
              </a:rPr>
              <a:t>(1) </a:t>
            </a:r>
            <a:r>
              <a:rPr lang="zh-TW" altLang="en-US" sz="2000" dirty="0">
                <a:latin typeface="+mn-lt"/>
              </a:rPr>
              <a:t>和 </a:t>
            </a:r>
            <a:r>
              <a:rPr lang="en-US" sz="2000" dirty="0">
                <a:latin typeface="+mn-lt"/>
              </a:rPr>
              <a:t>(3) </a:t>
            </a:r>
          </a:p>
          <a:p>
            <a:pPr marL="800100" lvl="1" indent="-342900">
              <a:buSzPct val="100000"/>
              <a:buAutoNum type="alphaUcPeriod"/>
            </a:pPr>
            <a:r>
              <a:rPr lang="zh-TW" altLang="en-US" sz="2000" dirty="0">
                <a:latin typeface="+mn-lt"/>
              </a:rPr>
              <a:t>只有 </a:t>
            </a:r>
            <a:r>
              <a:rPr lang="en-US" sz="2000" dirty="0">
                <a:latin typeface="+mn-lt"/>
              </a:rPr>
              <a:t>(2) </a:t>
            </a:r>
            <a:r>
              <a:rPr lang="zh-TW" altLang="en-US" sz="2000" dirty="0">
                <a:latin typeface="+mn-lt"/>
              </a:rPr>
              <a:t>和</a:t>
            </a:r>
            <a:r>
              <a:rPr lang="en-US" sz="2000" dirty="0">
                <a:latin typeface="+mn-lt"/>
              </a:rPr>
              <a:t> (3) </a:t>
            </a:r>
          </a:p>
          <a:p>
            <a:pPr marL="800100" lvl="1" indent="-342900">
              <a:buSzPct val="100000"/>
              <a:buAutoNum type="alphaUcPeriod"/>
            </a:pPr>
            <a:r>
              <a:rPr lang="en-US" sz="2000" dirty="0">
                <a:latin typeface="+mn-lt"/>
              </a:rPr>
              <a:t>(1)</a:t>
            </a:r>
            <a:r>
              <a:rPr lang="zh-TW" altLang="en-US" sz="2000" dirty="0">
                <a:latin typeface="+mn-lt"/>
              </a:rPr>
              <a:t>、</a:t>
            </a:r>
            <a:r>
              <a:rPr lang="en-US" sz="2000" dirty="0">
                <a:latin typeface="+mn-lt"/>
              </a:rPr>
              <a:t>(2) </a:t>
            </a:r>
            <a:r>
              <a:rPr lang="zh-TW" altLang="en-US" sz="2000" dirty="0">
                <a:latin typeface="+mn-lt"/>
              </a:rPr>
              <a:t>和</a:t>
            </a:r>
            <a:r>
              <a:rPr lang="en-US" sz="2000" dirty="0">
                <a:latin typeface="+mn-lt"/>
              </a:rPr>
              <a:t> (3)</a:t>
            </a: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100</a:t>
            </a:fld>
            <a:endParaRPr lang="en-US" dirty="0"/>
          </a:p>
        </p:txBody>
      </p:sp>
      <p:sp>
        <p:nvSpPr>
          <p:cNvPr id="7" name="文字版面配置區 6"/>
          <p:cNvSpPr>
            <a:spLocks noGrp="1"/>
          </p:cNvSpPr>
          <p:nvPr>
            <p:ph type="body" sz="quarter" idx="13"/>
          </p:nvPr>
        </p:nvSpPr>
        <p:spPr/>
        <p:txBody>
          <a:bodyPr/>
          <a:lstStyle/>
          <a:p>
            <a:r>
              <a:rPr lang="en-US" dirty="0"/>
              <a:t>3.6</a:t>
            </a:r>
            <a:endParaRPr lang="en-GB" dirty="0"/>
          </a:p>
        </p:txBody>
      </p:sp>
    </p:spTree>
    <p:extLst>
      <p:ext uri="{BB962C8B-B14F-4D97-AF65-F5344CB8AC3E}">
        <p14:creationId xmlns:p14="http://schemas.microsoft.com/office/powerpoint/2010/main" val="9547212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第 </a:t>
            </a:r>
            <a:r>
              <a:rPr lang="en-US" altLang="zh-TW" dirty="0">
                <a:latin typeface="+mn-lt"/>
              </a:rPr>
              <a:t>(1) </a:t>
            </a:r>
            <a:r>
              <a:rPr lang="zh-TW" altLang="en-US" dirty="0">
                <a:latin typeface="+mn-lt"/>
              </a:rPr>
              <a:t>項中的電子文檔是數碼數據，而打印出來的文件是模擬數據。</a:t>
            </a:r>
          </a:p>
          <a:p>
            <a:r>
              <a:rPr lang="zh-TW" altLang="en-US" dirty="0">
                <a:latin typeface="+mn-lt"/>
              </a:rPr>
              <a:t>第 </a:t>
            </a:r>
            <a:r>
              <a:rPr lang="en-US" altLang="zh-TW" dirty="0">
                <a:latin typeface="+mn-lt"/>
              </a:rPr>
              <a:t>(2) </a:t>
            </a:r>
            <a:r>
              <a:rPr lang="zh-TW" altLang="en-US" dirty="0">
                <a:latin typeface="+mn-lt"/>
              </a:rPr>
              <a:t>項中的圖像檔案和視像檔案都是數碼數據，不涉及模擬數據。因此，</a:t>
            </a:r>
            <a:r>
              <a:rPr lang="en-US" altLang="zh-TW" dirty="0">
                <a:latin typeface="+mn-lt"/>
              </a:rPr>
              <a:t>(2) </a:t>
            </a:r>
            <a:r>
              <a:rPr lang="zh-TW" altLang="en-US" dirty="0">
                <a:latin typeface="+mn-lt"/>
              </a:rPr>
              <a:t>不滿足要求。</a:t>
            </a:r>
          </a:p>
          <a:p>
            <a:r>
              <a:rPr lang="zh-TW" altLang="en-US" dirty="0">
                <a:latin typeface="+mn-lt"/>
              </a:rPr>
              <a:t>第 </a:t>
            </a:r>
            <a:r>
              <a:rPr lang="en-US" altLang="zh-TW" dirty="0">
                <a:latin typeface="+mn-lt"/>
              </a:rPr>
              <a:t>(3) </a:t>
            </a:r>
            <a:r>
              <a:rPr lang="zh-TW" altLang="en-US" dirty="0">
                <a:latin typeface="+mn-lt"/>
              </a:rPr>
              <a:t>項中，狐狸發出的聲波是模擬數據，而錄音是數碼數據。</a:t>
            </a:r>
          </a:p>
          <a:p>
            <a:r>
              <a:rPr lang="zh-TW" altLang="en-US" dirty="0">
                <a:latin typeface="+mn-lt"/>
              </a:rPr>
              <a:t>因此，</a:t>
            </a:r>
            <a:r>
              <a:rPr lang="en-US" altLang="zh-TW" dirty="0">
                <a:latin typeface="+mn-lt"/>
              </a:rPr>
              <a:t>(1) </a:t>
            </a:r>
            <a:r>
              <a:rPr lang="zh-TW" altLang="en-US" dirty="0">
                <a:latin typeface="+mn-lt"/>
              </a:rPr>
              <a:t>和 </a:t>
            </a:r>
            <a:r>
              <a:rPr lang="en-US" altLang="zh-TW" dirty="0">
                <a:latin typeface="+mn-lt"/>
              </a:rPr>
              <a:t>(3) </a:t>
            </a:r>
            <a:r>
              <a:rPr lang="zh-TW" altLang="en-US" dirty="0">
                <a:latin typeface="+mn-lt"/>
              </a:rPr>
              <a:t>都滿足要求。</a:t>
            </a:r>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B</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101</a:t>
            </a:fld>
            <a:endParaRPr lang="en-US" dirty="0"/>
          </a:p>
        </p:txBody>
      </p:sp>
      <p:sp>
        <p:nvSpPr>
          <p:cNvPr id="4" name="文字版面配置區 3"/>
          <p:cNvSpPr>
            <a:spLocks noGrp="1"/>
          </p:cNvSpPr>
          <p:nvPr>
            <p:ph type="body" sz="quarter" idx="13"/>
          </p:nvPr>
        </p:nvSpPr>
        <p:spPr/>
        <p:txBody>
          <a:bodyPr/>
          <a:lstStyle/>
          <a:p>
            <a:r>
              <a:rPr lang="en-US" dirty="0"/>
              <a:t>3.6</a:t>
            </a:r>
            <a:endParaRPr lang="en-GB" dirty="0"/>
          </a:p>
        </p:txBody>
      </p:sp>
    </p:spTree>
    <p:extLst>
      <p:ext uri="{BB962C8B-B14F-4D97-AF65-F5344CB8AC3E}">
        <p14:creationId xmlns:p14="http://schemas.microsoft.com/office/powerpoint/2010/main" val="37587941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92500"/>
          </a:bodyPr>
          <a:lstStyle/>
          <a:p>
            <a:pPr marL="457200" indent="-457200">
              <a:buFont typeface="+mj-lt"/>
              <a:buAutoNum type="arabicPeriod" startAt="2"/>
            </a:pPr>
            <a:r>
              <a:rPr lang="zh-TW" altLang="en-US" dirty="0">
                <a:latin typeface="+mn-lt"/>
              </a:rPr>
              <a:t>小德有一本 </a:t>
            </a:r>
            <a:r>
              <a:rPr lang="en-US" altLang="zh-TW" dirty="0">
                <a:latin typeface="+mn-lt"/>
              </a:rPr>
              <a:t>19 </a:t>
            </a:r>
            <a:r>
              <a:rPr lang="zh-TW" altLang="en-US" dirty="0">
                <a:latin typeface="+mn-lt"/>
              </a:rPr>
              <a:t>世紀出版、</a:t>
            </a:r>
            <a:r>
              <a:rPr lang="en-US" altLang="zh-TW" dirty="0">
                <a:latin typeface="+mn-lt"/>
              </a:rPr>
              <a:t>1200 </a:t>
            </a:r>
            <a:r>
              <a:rPr lang="zh-TW" altLang="en-US" dirty="0">
                <a:latin typeface="+mn-lt"/>
              </a:rPr>
              <a:t>頁長的書。他使用掃描器將書籍掃描成一組圖像檔案，然後通過光學字符識別（</a:t>
            </a:r>
            <a:r>
              <a:rPr lang="en-US" altLang="zh-TW" dirty="0">
                <a:latin typeface="+mn-lt"/>
              </a:rPr>
              <a:t>OCR</a:t>
            </a:r>
            <a:r>
              <a:rPr lang="zh-TW" altLang="en-US" dirty="0">
                <a:latin typeface="+mn-lt"/>
              </a:rPr>
              <a:t>）將圖像檔案轉換為文本檔案。以下哪些是這個做法的主要好處？</a:t>
            </a:r>
            <a:endParaRPr lang="en-US" altLang="zh-TW" dirty="0">
              <a:latin typeface="+mn-lt"/>
            </a:endParaRPr>
          </a:p>
          <a:p>
            <a:pPr marL="457200" indent="-457200">
              <a:buFont typeface="+mj-lt"/>
              <a:buAutoNum type="arabicPeriod" startAt="2"/>
            </a:pPr>
            <a:endParaRPr lang="en-HK" dirty="0">
              <a:latin typeface="+mn-lt"/>
            </a:endParaRPr>
          </a:p>
          <a:p>
            <a:pPr marL="1257300" lvl="2" indent="-342900">
              <a:buSzPct val="100000"/>
              <a:buAutoNum type="arabicParenBoth"/>
            </a:pPr>
            <a:r>
              <a:rPr lang="zh-TW" altLang="en-US" sz="2200" dirty="0">
                <a:latin typeface="+mn-lt"/>
              </a:rPr>
              <a:t>小德可以通過將圖像檔案上傳到互聯網來輕鬆共享這本書。</a:t>
            </a:r>
            <a:endParaRPr lang="en-US" sz="2200" dirty="0">
              <a:latin typeface="+mn-lt"/>
            </a:endParaRPr>
          </a:p>
          <a:p>
            <a:pPr marL="1257300" lvl="2" indent="-342900">
              <a:buSzPct val="100000"/>
              <a:buAutoNum type="arabicParenBoth"/>
            </a:pPr>
            <a:r>
              <a:rPr lang="zh-TW" altLang="en-US" sz="2200" dirty="0">
                <a:latin typeface="+mn-lt"/>
              </a:rPr>
              <a:t>小德可以輕鬆地在書中搜尋文字。</a:t>
            </a:r>
            <a:endParaRPr lang="en-US" sz="2200" dirty="0">
              <a:latin typeface="+mn-lt"/>
            </a:endParaRPr>
          </a:p>
          <a:p>
            <a:pPr marL="1257300" lvl="2" indent="-342900">
              <a:buSzPct val="100000"/>
              <a:buAutoNum type="arabicParenBoth"/>
            </a:pPr>
            <a:r>
              <a:rPr lang="zh-TW" altLang="en-US" sz="2200" dirty="0">
                <a:latin typeface="+mn-lt"/>
              </a:rPr>
              <a:t>小德可以將書丟棄以節省儲存空間。</a:t>
            </a:r>
            <a:endParaRPr lang="en-US" altLang="zh-TW" sz="2200" dirty="0">
              <a:latin typeface="+mn-lt"/>
            </a:endParaRPr>
          </a:p>
          <a:p>
            <a:pPr marL="1257300" lvl="2" indent="-342900">
              <a:buSzPct val="100000"/>
              <a:buAutoNum type="arabicParenBoth"/>
            </a:pPr>
            <a:endParaRPr lang="en-HK" sz="2200" dirty="0">
              <a:latin typeface="+mn-lt"/>
            </a:endParaRPr>
          </a:p>
          <a:p>
            <a:pPr marL="800100" lvl="1" indent="-342900">
              <a:buSzPct val="100000"/>
              <a:buAutoNum type="alphaUcPeriod"/>
            </a:pPr>
            <a:r>
              <a:rPr lang="zh-TW" altLang="en-US" sz="2200" dirty="0">
                <a:latin typeface="+mn-lt"/>
              </a:rPr>
              <a:t>只有 </a:t>
            </a:r>
            <a:r>
              <a:rPr lang="en-HK" sz="2200" dirty="0">
                <a:latin typeface="+mn-lt"/>
              </a:rPr>
              <a:t>(1) </a:t>
            </a:r>
            <a:r>
              <a:rPr lang="zh-TW" altLang="en-US" sz="2200" dirty="0">
                <a:latin typeface="+mn-lt"/>
              </a:rPr>
              <a:t>和</a:t>
            </a:r>
            <a:r>
              <a:rPr lang="en-HK" sz="2200" dirty="0">
                <a:latin typeface="+mn-lt"/>
              </a:rPr>
              <a:t> (2)</a:t>
            </a:r>
          </a:p>
          <a:p>
            <a:pPr marL="800100" lvl="1" indent="-342900">
              <a:buSzPct val="100000"/>
              <a:buAutoNum type="alphaUcPeriod"/>
            </a:pPr>
            <a:r>
              <a:rPr lang="zh-TW" altLang="en-US" sz="2200" dirty="0">
                <a:latin typeface="+mn-lt"/>
              </a:rPr>
              <a:t>只有 </a:t>
            </a:r>
            <a:r>
              <a:rPr lang="en-HK" sz="2200" dirty="0">
                <a:latin typeface="+mn-lt"/>
              </a:rPr>
              <a:t>(1) </a:t>
            </a:r>
            <a:r>
              <a:rPr lang="zh-TW" altLang="en-US" sz="2200" dirty="0">
                <a:latin typeface="+mn-lt"/>
              </a:rPr>
              <a:t>和</a:t>
            </a:r>
            <a:r>
              <a:rPr lang="en-HK" sz="2200" dirty="0">
                <a:latin typeface="+mn-lt"/>
              </a:rPr>
              <a:t> (3)</a:t>
            </a:r>
          </a:p>
          <a:p>
            <a:pPr marL="800100" lvl="1" indent="-342900">
              <a:buSzPct val="100000"/>
              <a:buAutoNum type="alphaUcPeriod"/>
            </a:pPr>
            <a:r>
              <a:rPr lang="zh-TW" altLang="en-US" sz="2200" dirty="0">
                <a:latin typeface="+mn-lt"/>
              </a:rPr>
              <a:t>只有 </a:t>
            </a:r>
            <a:r>
              <a:rPr lang="en-HK" sz="2200" dirty="0">
                <a:latin typeface="+mn-lt"/>
              </a:rPr>
              <a:t>(2) </a:t>
            </a:r>
            <a:r>
              <a:rPr lang="zh-TW" altLang="en-US" sz="2200" dirty="0">
                <a:latin typeface="+mn-lt"/>
              </a:rPr>
              <a:t>和</a:t>
            </a:r>
            <a:r>
              <a:rPr lang="en-HK" sz="2200" dirty="0">
                <a:latin typeface="+mn-lt"/>
              </a:rPr>
              <a:t> (3)</a:t>
            </a:r>
          </a:p>
          <a:p>
            <a:pPr marL="800100" lvl="1" indent="-342900">
              <a:buSzPct val="100000"/>
              <a:buAutoNum type="alphaUcPeriod"/>
            </a:pPr>
            <a:r>
              <a:rPr lang="en-HK" sz="2200" dirty="0">
                <a:latin typeface="+mn-lt"/>
              </a:rPr>
              <a:t>(1)</a:t>
            </a:r>
            <a:r>
              <a:rPr lang="zh-TW" altLang="en-US" sz="2200" dirty="0">
                <a:latin typeface="+mn-lt"/>
              </a:rPr>
              <a:t>、</a:t>
            </a:r>
            <a:r>
              <a:rPr lang="en-HK" sz="2200" dirty="0">
                <a:latin typeface="+mn-lt"/>
              </a:rPr>
              <a:t>(2) </a:t>
            </a:r>
            <a:r>
              <a:rPr lang="zh-TW" altLang="en-US" sz="2200" dirty="0">
                <a:latin typeface="+mn-lt"/>
              </a:rPr>
              <a:t>和</a:t>
            </a:r>
            <a:r>
              <a:rPr lang="en-HK" sz="2200" dirty="0">
                <a:latin typeface="+mn-lt"/>
              </a:rPr>
              <a:t> (3)</a:t>
            </a:r>
            <a:endParaRPr lang="en-US" sz="2200"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102</a:t>
            </a:fld>
            <a:endParaRPr lang="en-US" dirty="0"/>
          </a:p>
        </p:txBody>
      </p:sp>
      <p:sp>
        <p:nvSpPr>
          <p:cNvPr id="4" name="文字版面配置區 3"/>
          <p:cNvSpPr>
            <a:spLocks noGrp="1"/>
          </p:cNvSpPr>
          <p:nvPr>
            <p:ph type="body" sz="quarter" idx="13"/>
          </p:nvPr>
        </p:nvSpPr>
        <p:spPr/>
        <p:txBody>
          <a:bodyPr/>
          <a:lstStyle/>
          <a:p>
            <a:r>
              <a:rPr lang="en-US" dirty="0"/>
              <a:t>3.6</a:t>
            </a:r>
            <a:endParaRPr lang="en-GB" dirty="0"/>
          </a:p>
        </p:txBody>
      </p:sp>
    </p:spTree>
    <p:extLst>
      <p:ext uri="{BB962C8B-B14F-4D97-AF65-F5344CB8AC3E}">
        <p14:creationId xmlns:p14="http://schemas.microsoft.com/office/powerpoint/2010/main" val="32203698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就第 </a:t>
            </a:r>
            <a:r>
              <a:rPr lang="en-US" altLang="zh-TW" dirty="0">
                <a:latin typeface="+mn-lt"/>
              </a:rPr>
              <a:t>(1) </a:t>
            </a:r>
            <a:r>
              <a:rPr lang="zh-TW" altLang="en-US" dirty="0">
                <a:latin typeface="+mn-lt"/>
              </a:rPr>
              <a:t>項而言，在讀者之間轉移實體書需要很多時間，而且在過程中書本有損壞的風險。因此，能夠以數碼形式共享書籍是一個主要好處。</a:t>
            </a:r>
          </a:p>
          <a:p>
            <a:r>
              <a:rPr lang="zh-TW" altLang="en-US" dirty="0">
                <a:latin typeface="+mn-lt"/>
              </a:rPr>
              <a:t>就第 </a:t>
            </a:r>
            <a:r>
              <a:rPr lang="en-US" altLang="zh-TW" dirty="0">
                <a:latin typeface="+mn-lt"/>
              </a:rPr>
              <a:t>(2) </a:t>
            </a:r>
            <a:r>
              <a:rPr lang="zh-TW" altLang="en-US" dirty="0">
                <a:latin typeface="+mn-lt"/>
              </a:rPr>
              <a:t>項而言，在 </a:t>
            </a:r>
            <a:r>
              <a:rPr lang="en-US" altLang="zh-TW" dirty="0">
                <a:latin typeface="+mn-lt"/>
              </a:rPr>
              <a:t>1200 </a:t>
            </a:r>
            <a:r>
              <a:rPr lang="zh-TW" altLang="en-US" dirty="0">
                <a:latin typeface="+mn-lt"/>
              </a:rPr>
              <a:t>頁的書中手動搜尋文字非常耗時，但通過電腦則可以在電子文檔中快速準確地完成搜索。因此，方便搜尋文字也是一個主要的好處。</a:t>
            </a:r>
          </a:p>
          <a:p>
            <a:r>
              <a:rPr lang="zh-TW" altLang="en-US" dirty="0">
                <a:latin typeface="+mn-lt"/>
              </a:rPr>
              <a:t>就第 </a:t>
            </a:r>
            <a:r>
              <a:rPr lang="en-US" altLang="zh-TW" dirty="0">
                <a:latin typeface="+mn-lt"/>
              </a:rPr>
              <a:t>(3) </a:t>
            </a:r>
            <a:r>
              <a:rPr lang="zh-TW" altLang="en-US" dirty="0">
                <a:latin typeface="+mn-lt"/>
              </a:rPr>
              <a:t>項而言，有時為了節省儲存空間，實體副本會在數碼化後被丟棄，但這不是必須的。題目所提及的書出版於 </a:t>
            </a:r>
            <a:r>
              <a:rPr lang="en-US" altLang="zh-TW" dirty="0">
                <a:latin typeface="+mn-lt"/>
              </a:rPr>
              <a:t>19 </a:t>
            </a:r>
            <a:r>
              <a:rPr lang="zh-TW" altLang="en-US" dirty="0">
                <a:latin typeface="+mn-lt"/>
              </a:rPr>
              <a:t>世紀，是寶貴的資源，因此值得保留。</a:t>
            </a:r>
            <a:endParaRPr lang="en-HK"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A</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103</a:t>
            </a:fld>
            <a:endParaRPr lang="en-US" dirty="0"/>
          </a:p>
        </p:txBody>
      </p:sp>
      <p:sp>
        <p:nvSpPr>
          <p:cNvPr id="4" name="文字版面配置區 3"/>
          <p:cNvSpPr>
            <a:spLocks noGrp="1"/>
          </p:cNvSpPr>
          <p:nvPr>
            <p:ph type="body" sz="quarter" idx="13"/>
          </p:nvPr>
        </p:nvSpPr>
        <p:spPr/>
        <p:txBody>
          <a:bodyPr/>
          <a:lstStyle/>
          <a:p>
            <a:r>
              <a:rPr lang="en-US" dirty="0"/>
              <a:t>3.6</a:t>
            </a:r>
            <a:endParaRPr lang="en-GB" dirty="0"/>
          </a:p>
        </p:txBody>
      </p:sp>
    </p:spTree>
    <p:extLst>
      <p:ext uri="{BB962C8B-B14F-4D97-AF65-F5344CB8AC3E}">
        <p14:creationId xmlns:p14="http://schemas.microsoft.com/office/powerpoint/2010/main" val="13859253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100 </a:t>
            </a:r>
            <a:r>
              <a:rPr lang="zh-TW" altLang="en-US" dirty="0">
                <a:latin typeface="+mn-lt"/>
              </a:rPr>
              <a:t>頁的測試站 </a:t>
            </a:r>
            <a:r>
              <a:rPr lang="en-US" altLang="zh-TW" dirty="0">
                <a:latin typeface="+mn-lt"/>
              </a:rPr>
              <a:t>3.6</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en-HK" dirty="0">
                <a:solidFill>
                  <a:srgbClr val="FF0000"/>
                </a:solidFill>
                <a:latin typeface="+mn-lt"/>
              </a:rPr>
              <a:t>C</a:t>
            </a:r>
            <a:br>
              <a:rPr lang="en-HK" dirty="0">
                <a:solidFill>
                  <a:srgbClr val="FF0000"/>
                </a:solidFill>
                <a:latin typeface="+mn-lt"/>
              </a:rPr>
            </a:br>
            <a:endParaRPr lang="en-HK" dirty="0">
              <a:solidFill>
                <a:srgbClr val="FF0000"/>
              </a:solidFill>
              <a:latin typeface="+mn-lt"/>
            </a:endParaRPr>
          </a:p>
          <a:p>
            <a:pPr marL="457200" indent="-457200">
              <a:buAutoNum type="arabicPeriod"/>
            </a:pPr>
            <a:r>
              <a:rPr lang="en-HK" dirty="0">
                <a:solidFill>
                  <a:srgbClr val="FF0000"/>
                </a:solidFill>
                <a:latin typeface="+mn-lt"/>
              </a:rPr>
              <a:t>1. </a:t>
            </a:r>
            <a:r>
              <a:rPr lang="zh-TW" altLang="en-US" dirty="0">
                <a:solidFill>
                  <a:srgbClr val="FF0000"/>
                </a:solidFill>
                <a:latin typeface="+mn-lt"/>
              </a:rPr>
              <a:t>若學生提出覆核前更改了試卷上的答案，圖像檔案能證明他們作弊。</a:t>
            </a:r>
            <a:r>
              <a:rPr lang="en-US" dirty="0">
                <a:solidFill>
                  <a:srgbClr val="FF0000"/>
                </a:solidFill>
                <a:latin typeface="+mn-lt"/>
              </a:rPr>
              <a:t/>
            </a:r>
            <a:br>
              <a:rPr lang="en-US" dirty="0">
                <a:solidFill>
                  <a:srgbClr val="FF0000"/>
                </a:solidFill>
                <a:latin typeface="+mn-lt"/>
              </a:rPr>
            </a:br>
            <a:r>
              <a:rPr lang="en-US" dirty="0">
                <a:solidFill>
                  <a:srgbClr val="FF0000"/>
                </a:solidFill>
                <a:latin typeface="+mn-lt"/>
              </a:rPr>
              <a:t/>
            </a:r>
            <a:br>
              <a:rPr lang="en-US" dirty="0">
                <a:solidFill>
                  <a:srgbClr val="FF0000"/>
                </a:solidFill>
                <a:latin typeface="+mn-lt"/>
              </a:rPr>
            </a:br>
            <a:r>
              <a:rPr lang="en-US" dirty="0">
                <a:solidFill>
                  <a:srgbClr val="FF0000"/>
                </a:solidFill>
                <a:latin typeface="+mn-lt"/>
              </a:rPr>
              <a:t>2. </a:t>
            </a:r>
            <a:r>
              <a:rPr lang="zh-TW" altLang="en-US" dirty="0">
                <a:solidFill>
                  <a:srgbClr val="FF0000"/>
                </a:solidFill>
                <a:latin typeface="+mn-lt"/>
              </a:rPr>
              <a:t>當學生試圖提出覆核時，小麗可以在家中評改他們的試卷。</a:t>
            </a:r>
            <a:r>
              <a:rPr lang="en-US" dirty="0">
                <a:solidFill>
                  <a:srgbClr val="FF0000"/>
                </a:solidFill>
                <a:latin typeface="+mn-lt"/>
              </a:rPr>
              <a:t/>
            </a:r>
            <a:br>
              <a:rPr lang="en-US" dirty="0">
                <a:solidFill>
                  <a:srgbClr val="FF0000"/>
                </a:solidFill>
                <a:latin typeface="+mn-lt"/>
              </a:rPr>
            </a:br>
            <a:r>
              <a:rPr lang="en-US" dirty="0">
                <a:solidFill>
                  <a:srgbClr val="FF0000"/>
                </a:solidFill>
                <a:latin typeface="+mn-lt"/>
              </a:rPr>
              <a:t/>
            </a:r>
            <a:br>
              <a:rPr lang="en-US" dirty="0">
                <a:solidFill>
                  <a:srgbClr val="FF0000"/>
                </a:solidFill>
                <a:latin typeface="+mn-lt"/>
              </a:rPr>
            </a:br>
            <a:r>
              <a:rPr lang="en-US" dirty="0">
                <a:solidFill>
                  <a:srgbClr val="FF0000"/>
                </a:solidFill>
                <a:latin typeface="+mn-lt"/>
              </a:rPr>
              <a:t>3. </a:t>
            </a:r>
            <a:r>
              <a:rPr lang="zh-TW" altLang="en-US" dirty="0">
                <a:solidFill>
                  <a:srgbClr val="FF0000"/>
                </a:solidFill>
                <a:latin typeface="+mn-lt"/>
              </a:rPr>
              <a:t>學生可以保留紙本試卷作溫習之用。</a:t>
            </a:r>
            <a:endParaRPr lang="en-US" dirty="0">
              <a:solidFill>
                <a:srgbClr val="FF0000"/>
              </a:solidFill>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104</a:t>
            </a:fld>
            <a:endParaRPr lang="en-US" dirty="0"/>
          </a:p>
        </p:txBody>
      </p:sp>
      <p:sp>
        <p:nvSpPr>
          <p:cNvPr id="6" name="文字版面配置區 5"/>
          <p:cNvSpPr>
            <a:spLocks noGrp="1"/>
          </p:cNvSpPr>
          <p:nvPr>
            <p:ph type="body" sz="quarter" idx="13"/>
          </p:nvPr>
        </p:nvSpPr>
        <p:spPr/>
        <p:txBody>
          <a:bodyPr/>
          <a:lstStyle/>
          <a:p>
            <a:r>
              <a:rPr lang="en-US" dirty="0"/>
              <a:t>3.6</a:t>
            </a:r>
            <a:endParaRPr lang="en-GB" dirty="0"/>
          </a:p>
        </p:txBody>
      </p:sp>
    </p:spTree>
    <p:extLst>
      <p:ext uri="{BB962C8B-B14F-4D97-AF65-F5344CB8AC3E}">
        <p14:creationId xmlns:p14="http://schemas.microsoft.com/office/powerpoint/2010/main" val="225758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多媒體</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105</a:t>
            </a:fld>
            <a:endParaRPr lang="en-US" dirty="0"/>
          </a:p>
        </p:txBody>
      </p:sp>
      <p:sp>
        <p:nvSpPr>
          <p:cNvPr id="6" name="文字版面配置區 5"/>
          <p:cNvSpPr>
            <a:spLocks noGrp="1"/>
          </p:cNvSpPr>
          <p:nvPr>
            <p:ph type="body" sz="quarter" idx="14"/>
          </p:nvPr>
        </p:nvSpPr>
        <p:spPr/>
        <p:txBody>
          <a:bodyPr/>
          <a:lstStyle/>
          <a:p>
            <a:r>
              <a:rPr lang="en-US" dirty="0"/>
              <a:t>3.5</a:t>
            </a:r>
            <a:endParaRPr lang="en-GB" dirty="0"/>
          </a:p>
        </p:txBody>
      </p:sp>
      <p:sp>
        <p:nvSpPr>
          <p:cNvPr id="7" name="內容版面配置區 6"/>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多媒體數據</a:t>
            </a:r>
            <a:r>
              <a:rPr lang="zh-TW" altLang="en-US" dirty="0"/>
              <a:t>可儲存成各種檔案格式，它們具有不同的屬性。</a:t>
            </a:r>
            <a:endParaRPr lang="en-US" altLang="zh-TW" dirty="0"/>
          </a:p>
          <a:p>
            <a:endParaRPr lang="en-US" altLang="zh-TW" dirty="0"/>
          </a:p>
          <a:p>
            <a:r>
              <a:rPr lang="zh-TW" altLang="en-US" dirty="0"/>
              <a:t>檔案格式和</a:t>
            </a:r>
            <a:r>
              <a:rPr lang="zh-TW" altLang="en-US" b="1" dirty="0">
                <a:latin typeface="Noto Sans CJK TC Bold" panose="020B0800000000000000" pitchFamily="34" charset="-128"/>
                <a:ea typeface="Noto Sans CJK TC Bold" panose="020B0800000000000000" pitchFamily="34" charset="-128"/>
              </a:rPr>
              <a:t>元數據</a:t>
            </a:r>
            <a:r>
              <a:rPr lang="zh-TW" altLang="en-US" dirty="0"/>
              <a:t>通常儲存在檔案的</a:t>
            </a:r>
            <a:r>
              <a:rPr lang="zh-TW" altLang="en-US" b="1" dirty="0">
                <a:latin typeface="Noto Sans CJK TC Bold" panose="020B0800000000000000" pitchFamily="34" charset="-128"/>
                <a:ea typeface="Noto Sans CJK TC Bold" panose="020B0800000000000000" pitchFamily="34" charset="-128"/>
              </a:rPr>
              <a:t>標頭檔</a:t>
            </a:r>
            <a:r>
              <a:rPr lang="zh-TW" altLang="en-US" dirty="0"/>
              <a:t>中。</a:t>
            </a:r>
            <a:endParaRPr lang="en-US" altLang="zh-TW" dirty="0"/>
          </a:p>
          <a:p>
            <a:endParaRPr lang="en-US" dirty="0"/>
          </a:p>
          <a:p>
            <a:r>
              <a:rPr lang="zh-TW" altLang="en-US" dirty="0"/>
              <a:t>檔案的格式通常由</a:t>
            </a:r>
            <a:r>
              <a:rPr lang="zh-TW" altLang="en-US" b="1" dirty="0">
                <a:latin typeface="Noto Sans CJK TC Bold" panose="020B0800000000000000" pitchFamily="34" charset="-128"/>
                <a:ea typeface="Noto Sans CJK TC Bold" panose="020B0800000000000000" pitchFamily="34" charset="-128"/>
              </a:rPr>
              <a:t>檔案副檔名</a:t>
            </a:r>
            <a:r>
              <a:rPr lang="zh-TW" altLang="en-US" dirty="0"/>
              <a:t>表示。</a:t>
            </a:r>
            <a:endParaRPr lang="en-GB" dirty="0"/>
          </a:p>
        </p:txBody>
      </p:sp>
      <p:pic>
        <p:nvPicPr>
          <p:cNvPr id="8" name="圖片 7"/>
          <p:cNvPicPr>
            <a:picLocks noChangeAspect="1"/>
          </p:cNvPicPr>
          <p:nvPr/>
        </p:nvPicPr>
        <p:blipFill>
          <a:blip r:embed="rId2"/>
          <a:stretch>
            <a:fillRect/>
          </a:stretch>
        </p:blipFill>
        <p:spPr>
          <a:xfrm>
            <a:off x="3648675" y="4653965"/>
            <a:ext cx="2447925" cy="942975"/>
          </a:xfrm>
          <a:prstGeom prst="rect">
            <a:avLst/>
          </a:prstGeom>
        </p:spPr>
      </p:pic>
      <p:pic>
        <p:nvPicPr>
          <p:cNvPr id="9" name="Picture 6"/>
          <p:cNvPicPr>
            <a:picLocks noChangeAspect="1"/>
          </p:cNvPicPr>
          <p:nvPr/>
        </p:nvPicPr>
        <p:blipFill rotWithShape="1">
          <a:blip r:embed="rId3">
            <a:extLst>
              <a:ext uri="{28A0092B-C50C-407E-A947-70E740481C1C}">
                <a14:useLocalDpi xmlns:a14="http://schemas.microsoft.com/office/drawing/2010/main" val="0"/>
              </a:ext>
            </a:extLst>
          </a:blip>
          <a:srcRect b="3704"/>
          <a:stretch/>
        </p:blipFill>
        <p:spPr>
          <a:xfrm>
            <a:off x="8383282" y="1506854"/>
            <a:ext cx="3078518" cy="4242132"/>
          </a:xfrm>
          <a:prstGeom prst="rect">
            <a:avLst/>
          </a:prstGeom>
          <a:ln w="76200">
            <a:solidFill>
              <a:schemeClr val="bg1">
                <a:lumMod val="85000"/>
              </a:schemeClr>
            </a:solidFill>
          </a:ln>
        </p:spPr>
      </p:pic>
    </p:spTree>
    <p:extLst>
      <p:ext uri="{BB962C8B-B14F-4D97-AF65-F5344CB8AC3E}">
        <p14:creationId xmlns:p14="http://schemas.microsoft.com/office/powerpoint/2010/main" val="42239419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多媒體</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106</a:t>
            </a:fld>
            <a:endParaRPr lang="en-US" dirty="0"/>
          </a:p>
        </p:txBody>
      </p:sp>
      <p:sp>
        <p:nvSpPr>
          <p:cNvPr id="4" name="文字版面配置區 3"/>
          <p:cNvSpPr>
            <a:spLocks noGrp="1"/>
          </p:cNvSpPr>
          <p:nvPr>
            <p:ph type="body" sz="quarter" idx="14"/>
          </p:nvPr>
        </p:nvSpPr>
        <p:spPr/>
        <p:txBody>
          <a:bodyPr/>
          <a:lstStyle/>
          <a:p>
            <a:r>
              <a:rPr lang="en-US" dirty="0"/>
              <a:t>3.5</a:t>
            </a:r>
            <a:endParaRPr lang="en-GB" dirty="0"/>
          </a:p>
        </p:txBody>
      </p:sp>
      <p:sp>
        <p:nvSpPr>
          <p:cNvPr id="5" name="內容版面配置區 4"/>
          <p:cNvSpPr>
            <a:spLocks noGrp="1"/>
          </p:cNvSpPr>
          <p:nvPr>
            <p:ph sz="quarter" idx="15"/>
          </p:nvPr>
        </p:nvSpPr>
        <p:spPr/>
        <p:txBody>
          <a:bodyPr/>
          <a:lstStyle/>
          <a:p>
            <a:r>
              <a:rPr lang="zh-TW" altLang="en-US" dirty="0"/>
              <a:t>要正確更改檔案格式，我們應：</a:t>
            </a:r>
          </a:p>
          <a:p>
            <a:endParaRPr lang="en-US" altLang="zh-TW" dirty="0"/>
          </a:p>
          <a:p>
            <a:pPr marL="342900" indent="-342900">
              <a:buFont typeface="Arial" panose="020B0604020202020204" pitchFamily="34" charset="0"/>
              <a:buChar char="•"/>
            </a:pPr>
            <a:r>
              <a:rPr lang="zh-TW" altLang="en-US" dirty="0"/>
              <a:t>使用編輯軟件將檔案匯出為另一種格式</a:t>
            </a:r>
          </a:p>
          <a:p>
            <a:pPr marL="342900" indent="-342900">
              <a:buFont typeface="Arial" panose="020B0604020202020204" pitchFamily="34" charset="0"/>
              <a:buChar char="•"/>
            </a:pPr>
            <a:r>
              <a:rPr lang="zh-TW" altLang="en-US" dirty="0"/>
              <a:t>使用檔案格式轉換軟件</a:t>
            </a:r>
            <a:endParaRPr lang="en-GB" dirty="0"/>
          </a:p>
        </p:txBody>
      </p:sp>
      <p:pic>
        <p:nvPicPr>
          <p:cNvPr id="6" name="Picture 5"/>
          <p:cNvPicPr>
            <a:picLocks noChangeAspect="1"/>
          </p:cNvPicPr>
          <p:nvPr/>
        </p:nvPicPr>
        <p:blipFill>
          <a:blip r:embed="rId2"/>
          <a:stretch>
            <a:fillRect/>
          </a:stretch>
        </p:blipFill>
        <p:spPr>
          <a:xfrm>
            <a:off x="7882664" y="2088228"/>
            <a:ext cx="3471136" cy="3195486"/>
          </a:xfrm>
          <a:prstGeom prst="rect">
            <a:avLst/>
          </a:prstGeom>
          <a:ln w="76200">
            <a:solidFill>
              <a:schemeClr val="bg1">
                <a:lumMod val="85000"/>
              </a:schemeClr>
            </a:solidFill>
          </a:ln>
        </p:spPr>
      </p:pic>
    </p:spTree>
    <p:extLst>
      <p:ext uri="{BB962C8B-B14F-4D97-AF65-F5344CB8AC3E}">
        <p14:creationId xmlns:p14="http://schemas.microsoft.com/office/powerpoint/2010/main" val="4342560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壓縮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107</a:t>
            </a:fld>
            <a:endParaRPr lang="en-US" dirty="0"/>
          </a:p>
        </p:txBody>
      </p:sp>
      <p:sp>
        <p:nvSpPr>
          <p:cNvPr id="4" name="文字版面配置區 3"/>
          <p:cNvSpPr>
            <a:spLocks noGrp="1"/>
          </p:cNvSpPr>
          <p:nvPr>
            <p:ph type="body" sz="quarter" idx="14"/>
          </p:nvPr>
        </p:nvSpPr>
        <p:spPr/>
        <p:txBody>
          <a:bodyPr/>
          <a:lstStyle/>
          <a:p>
            <a:r>
              <a:rPr lang="en-US" dirty="0"/>
              <a:t>3.5</a:t>
            </a:r>
            <a:endParaRPr lang="en-GB" dirty="0"/>
          </a:p>
        </p:txBody>
      </p:sp>
      <p:sp>
        <p:nvSpPr>
          <p:cNvPr id="5" name="內容版面配置區 4"/>
          <p:cNvSpPr>
            <a:spLocks noGrp="1"/>
          </p:cNvSpPr>
          <p:nvPr>
            <p:ph sz="quarter" idx="15"/>
          </p:nvPr>
        </p:nvSpPr>
        <p:spPr/>
        <p:txBody>
          <a:bodyPr/>
          <a:lstStyle/>
          <a:p>
            <a:r>
              <a:rPr lang="zh-TW" altLang="en-US" dirty="0"/>
              <a:t>檔案通常會進行</a:t>
            </a:r>
            <a:r>
              <a:rPr lang="zh-TW" altLang="en-US" dirty="0">
                <a:solidFill>
                  <a:srgbClr val="595A96"/>
                </a:solidFill>
                <a:latin typeface="Noto Sans CJK TC Bold" panose="020B0800000000000000" pitchFamily="34" charset="-128"/>
                <a:ea typeface="Noto Sans CJK TC Bold" panose="020B0800000000000000" pitchFamily="34" charset="-128"/>
              </a:rPr>
              <a:t>壓縮</a:t>
            </a:r>
            <a:r>
              <a:rPr lang="zh-TW" altLang="en-US" dirty="0"/>
              <a:t>，以方便檔案傳輸並節省儲存空間。</a:t>
            </a:r>
            <a:endParaRPr lang="en-US" altLang="zh-TW" dirty="0"/>
          </a:p>
          <a:p>
            <a:endParaRPr lang="en-US" dirty="0"/>
          </a:p>
          <a:p>
            <a:r>
              <a:rPr lang="zh-TW" altLang="en-US" dirty="0"/>
              <a:t>壓縮方法的重要細節通常儲存在標頭檔中。</a:t>
            </a:r>
            <a:endParaRPr lang="en-GB"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7821" y="3351681"/>
            <a:ext cx="3544130" cy="2843094"/>
          </a:xfrm>
          <a:prstGeom prst="rect">
            <a:avLst/>
          </a:prstGeom>
          <a:ln>
            <a:solidFill>
              <a:schemeClr val="bg1">
                <a:lumMod val="85000"/>
              </a:schemeClr>
            </a:solidFill>
          </a:ln>
        </p:spPr>
      </p:pic>
    </p:spTree>
    <p:extLst>
      <p:ext uri="{BB962C8B-B14F-4D97-AF65-F5344CB8AC3E}">
        <p14:creationId xmlns:p14="http://schemas.microsoft.com/office/powerpoint/2010/main" val="24786308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壓縮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108</a:t>
            </a:fld>
            <a:endParaRPr lang="en-US" dirty="0"/>
          </a:p>
        </p:txBody>
      </p:sp>
      <p:sp>
        <p:nvSpPr>
          <p:cNvPr id="4" name="文字版面配置區 3"/>
          <p:cNvSpPr>
            <a:spLocks noGrp="1"/>
          </p:cNvSpPr>
          <p:nvPr>
            <p:ph type="body" sz="quarter" idx="14"/>
          </p:nvPr>
        </p:nvSpPr>
        <p:spPr/>
        <p:txBody>
          <a:bodyPr/>
          <a:lstStyle/>
          <a:p>
            <a:r>
              <a:rPr lang="en-US" dirty="0"/>
              <a:t>3.5</a:t>
            </a:r>
            <a:endParaRPr lang="en-GB" dirty="0"/>
          </a:p>
        </p:txBody>
      </p:sp>
      <p:sp>
        <p:nvSpPr>
          <p:cNvPr id="5" name="內容版面配置區 4"/>
          <p:cNvSpPr>
            <a:spLocks noGrp="1"/>
          </p:cNvSpPr>
          <p:nvPr>
            <p:ph sz="quarter" idx="15"/>
          </p:nvPr>
        </p:nvSpPr>
        <p:spPr/>
        <p:txBody>
          <a:bodyPr/>
          <a:lstStyle/>
          <a:p>
            <a:r>
              <a:rPr lang="zh-TW" altLang="en-US" dirty="0"/>
              <a:t>壓縮方式主要分成兩種：</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595978465"/>
              </p:ext>
            </p:extLst>
          </p:nvPr>
        </p:nvGraphicFramePr>
        <p:xfrm>
          <a:off x="1918800" y="2348947"/>
          <a:ext cx="8185826" cy="2657992"/>
        </p:xfrm>
        <a:graphic>
          <a:graphicData uri="http://schemas.openxmlformats.org/drawingml/2006/table">
            <a:tbl>
              <a:tblPr firstRow="1" bandRow="1">
                <a:tableStyleId>{5940675A-B579-460E-94D1-54222C63F5DA}</a:tableStyleId>
              </a:tblPr>
              <a:tblGrid>
                <a:gridCol w="4092913">
                  <a:extLst>
                    <a:ext uri="{9D8B030D-6E8A-4147-A177-3AD203B41FA5}">
                      <a16:colId xmlns:a16="http://schemas.microsoft.com/office/drawing/2014/main" val="20000"/>
                    </a:ext>
                  </a:extLst>
                </a:gridCol>
                <a:gridCol w="4092913">
                  <a:extLst>
                    <a:ext uri="{9D8B030D-6E8A-4147-A177-3AD203B41FA5}">
                      <a16:colId xmlns:a16="http://schemas.microsoft.com/office/drawing/2014/main" val="20001"/>
                    </a:ext>
                  </a:extLst>
                </a:gridCol>
              </a:tblGrid>
              <a:tr h="569986">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cs typeface="Calibri" panose="020F0502020204030204" pitchFamily="34" charset="0"/>
                        </a:rPr>
                        <a:t>無損壓縮</a:t>
                      </a:r>
                      <a:endParaRPr lang="en-US" sz="2000" b="1" dirty="0">
                        <a:solidFill>
                          <a:schemeClr val="bg1"/>
                        </a:solidFill>
                        <a:latin typeface="Noto Sans CJK TC Bold" panose="020B0800000000000000" pitchFamily="34" charset="-128"/>
                        <a:ea typeface="Noto Sans CJK TC Bold" panose="020B08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2000" b="1" u="none" dirty="0">
                          <a:solidFill>
                            <a:schemeClr val="bg1"/>
                          </a:solidFill>
                          <a:effectLst/>
                          <a:latin typeface="Noto Sans CJK TC Bold" panose="020B0800000000000000" pitchFamily="34" charset="-128"/>
                          <a:ea typeface="Noto Sans CJK TC Bold" panose="020B0800000000000000" pitchFamily="34" charset="-128"/>
                          <a:cs typeface="Calibri" panose="020F0502020204030204" pitchFamily="34" charset="0"/>
                        </a:rPr>
                        <a:t>有損壓縮</a:t>
                      </a:r>
                      <a:endParaRPr lang="en-US" sz="2000" b="1" u="none" dirty="0">
                        <a:solidFill>
                          <a:schemeClr val="bg1"/>
                        </a:solidFill>
                        <a:effectLst/>
                        <a:latin typeface="Noto Sans CJK TC Bold" panose="020B0800000000000000" pitchFamily="34" charset="-128"/>
                        <a:ea typeface="Noto Sans CJK TC Bold" panose="020B0800000000000000" pitchFamily="34" charset="-128"/>
                        <a:cs typeface="Calibri" panose="020F0502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693483">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壓縮後沒有數據遺失</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一些數據會於壓縮後遺失</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693483">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解壓縮後可以完全恢復原始檔</a:t>
                      </a:r>
                    </a:p>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案</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經解壓</a:t>
                      </a:r>
                    </a:p>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縮恢復的檔案會與原檔略有不</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693483">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節省較少儲存空間</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2000" dirty="0">
                          <a:latin typeface="Noto Sans CJK TC Light" panose="020B0300000000000000" pitchFamily="34" charset="-128"/>
                          <a:ea typeface="Noto Sans CJK TC Light" panose="020B0300000000000000" pitchFamily="34" charset="-128"/>
                          <a:cs typeface="Calibri" panose="020F0502020204030204" pitchFamily="34" charset="0"/>
                        </a:rPr>
                        <a:t>節省更多儲存空間</a:t>
                      </a:r>
                      <a:endParaRPr lang="en-US" sz="2000" dirty="0">
                        <a:latin typeface="Noto Sans CJK TC Light" panose="020B0300000000000000" pitchFamily="34" charset="-128"/>
                        <a:ea typeface="Noto Sans CJK TC Light" panose="020B0300000000000000" pitchFamily="34" charset="-128"/>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183738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壓縮</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109</a:t>
            </a:fld>
            <a:endParaRPr lang="en-US" dirty="0"/>
          </a:p>
        </p:txBody>
      </p:sp>
      <p:sp>
        <p:nvSpPr>
          <p:cNvPr id="4" name="文字版面配置區 3"/>
          <p:cNvSpPr>
            <a:spLocks noGrp="1"/>
          </p:cNvSpPr>
          <p:nvPr>
            <p:ph type="body" sz="quarter" idx="14"/>
          </p:nvPr>
        </p:nvSpPr>
        <p:spPr/>
        <p:txBody>
          <a:bodyPr/>
          <a:lstStyle/>
          <a:p>
            <a:r>
              <a:rPr lang="en-US" dirty="0"/>
              <a:t>3.5</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壓縮比</a:t>
            </a:r>
            <a:r>
              <a:rPr lang="zh-TW" altLang="en-US" dirty="0"/>
              <a:t>的計算方式為：</a:t>
            </a:r>
            <a:endParaRPr lang="en-US" altLang="zh-TW" dirty="0"/>
          </a:p>
          <a:p>
            <a:endParaRPr lang="en-US" dirty="0"/>
          </a:p>
          <a:p>
            <a:endParaRPr lang="en-US" dirty="0"/>
          </a:p>
          <a:p>
            <a:endParaRPr lang="en-US" dirty="0"/>
          </a:p>
          <a:p>
            <a:endParaRPr lang="en-US" dirty="0"/>
          </a:p>
          <a:p>
            <a:r>
              <a:rPr lang="zh-TW" altLang="en-US" dirty="0"/>
              <a:t>壓縮比越高，可以節省的儲存空間就更多。</a:t>
            </a:r>
            <a:endParaRPr lang="en-GB" dirty="0"/>
          </a:p>
        </p:txBody>
      </p:sp>
      <p:pic>
        <p:nvPicPr>
          <p:cNvPr id="6" name="圖片 5"/>
          <p:cNvPicPr>
            <a:picLocks noChangeAspect="1"/>
          </p:cNvPicPr>
          <p:nvPr/>
        </p:nvPicPr>
        <p:blipFill>
          <a:blip r:embed="rId2"/>
          <a:stretch>
            <a:fillRect/>
          </a:stretch>
        </p:blipFill>
        <p:spPr>
          <a:xfrm>
            <a:off x="2132096" y="2244641"/>
            <a:ext cx="3524250" cy="828675"/>
          </a:xfrm>
          <a:prstGeom prst="rect">
            <a:avLst/>
          </a:prstGeom>
        </p:spPr>
      </p:pic>
    </p:spTree>
    <p:extLst>
      <p:ext uri="{BB962C8B-B14F-4D97-AF65-F5344CB8AC3E}">
        <p14:creationId xmlns:p14="http://schemas.microsoft.com/office/powerpoint/2010/main" val="29013442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dirty="0">
                <a:latin typeface="+mn-lt"/>
              </a:rPr>
              <a:t>試完成課本第 </a:t>
            </a:r>
            <a:r>
              <a:rPr lang="en-US" altLang="zh-TW" dirty="0">
                <a:latin typeface="+mn-lt"/>
              </a:rPr>
              <a:t>103 </a:t>
            </a:r>
            <a:r>
              <a:rPr lang="zh-TW" altLang="en-US" dirty="0">
                <a:latin typeface="+mn-lt"/>
              </a:rPr>
              <a:t>頁的活動 </a:t>
            </a:r>
            <a:r>
              <a:rPr lang="en-US" altLang="zh-TW" dirty="0">
                <a:latin typeface="+mn-lt"/>
              </a:rPr>
              <a:t>3.1</a:t>
            </a:r>
            <a:r>
              <a:rPr lang="zh-TW" altLang="en-US" dirty="0"/>
              <a:t>。</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110</a:t>
            </a:fld>
            <a:endParaRPr lang="en-US" dirty="0"/>
          </a:p>
        </p:txBody>
      </p:sp>
      <p:sp>
        <p:nvSpPr>
          <p:cNvPr id="7" name="文字版面配置區 6"/>
          <p:cNvSpPr>
            <a:spLocks noGrp="1"/>
          </p:cNvSpPr>
          <p:nvPr>
            <p:ph type="body" sz="quarter" idx="13"/>
          </p:nvPr>
        </p:nvSpPr>
        <p:spPr/>
        <p:txBody>
          <a:bodyPr/>
          <a:lstStyle/>
          <a:p>
            <a:r>
              <a:rPr lang="en-US" dirty="0"/>
              <a:t>3.1</a:t>
            </a:r>
            <a:endParaRPr lang="en-GB" dirty="0"/>
          </a:p>
        </p:txBody>
      </p:sp>
      <p:graphicFrame>
        <p:nvGraphicFramePr>
          <p:cNvPr id="8" name="Table 4"/>
          <p:cNvGraphicFramePr>
            <a:graphicFrameLocks noGrp="1"/>
          </p:cNvGraphicFramePr>
          <p:nvPr>
            <p:extLst>
              <p:ext uri="{D42A27DB-BD31-4B8C-83A1-F6EECF244321}">
                <p14:modId xmlns:p14="http://schemas.microsoft.com/office/powerpoint/2010/main" val="3321298416"/>
              </p:ext>
            </p:extLst>
          </p:nvPr>
        </p:nvGraphicFramePr>
        <p:xfrm>
          <a:off x="1006337" y="1912095"/>
          <a:ext cx="10109337" cy="4288679"/>
        </p:xfrm>
        <a:graphic>
          <a:graphicData uri="http://schemas.openxmlformats.org/drawingml/2006/table">
            <a:tbl>
              <a:tblPr firstRow="1" bandRow="1">
                <a:tableStyleId>{5940675A-B579-460E-94D1-54222C63F5DA}</a:tableStyleId>
              </a:tblPr>
              <a:tblGrid>
                <a:gridCol w="1593275">
                  <a:extLst>
                    <a:ext uri="{9D8B030D-6E8A-4147-A177-3AD203B41FA5}">
                      <a16:colId xmlns:a16="http://schemas.microsoft.com/office/drawing/2014/main" val="20000"/>
                    </a:ext>
                  </a:extLst>
                </a:gridCol>
                <a:gridCol w="2875864">
                  <a:extLst>
                    <a:ext uri="{9D8B030D-6E8A-4147-A177-3AD203B41FA5}">
                      <a16:colId xmlns:a16="http://schemas.microsoft.com/office/drawing/2014/main" val="20001"/>
                    </a:ext>
                  </a:extLst>
                </a:gridCol>
                <a:gridCol w="2867896">
                  <a:extLst>
                    <a:ext uri="{9D8B030D-6E8A-4147-A177-3AD203B41FA5}">
                      <a16:colId xmlns:a16="http://schemas.microsoft.com/office/drawing/2014/main" val="20002"/>
                    </a:ext>
                  </a:extLst>
                </a:gridCol>
                <a:gridCol w="2772302">
                  <a:extLst>
                    <a:ext uri="{9D8B030D-6E8A-4147-A177-3AD203B41FA5}">
                      <a16:colId xmlns:a16="http://schemas.microsoft.com/office/drawing/2014/main" val="20003"/>
                    </a:ext>
                  </a:extLst>
                </a:gridCol>
              </a:tblGrid>
              <a:tr h="43344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BMP</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PNG</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JPG</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extLst>
                  <a:ext uri="{0D108BD9-81ED-4DB2-BD59-A6C34878D82A}">
                    <a16:rowId xmlns:a16="http://schemas.microsoft.com/office/drawing/2014/main" val="10000"/>
                  </a:ext>
                </a:extLst>
              </a:tr>
              <a:tr h="75853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壓縮方式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zh-TW" altLang="en-US" b="1" dirty="0">
                          <a:solidFill>
                            <a:srgbClr val="38761D"/>
                          </a:solidFill>
                          <a:latin typeface="Noto Sans CJK TC Light" panose="020B0300000000000000" pitchFamily="34" charset="-128"/>
                          <a:ea typeface="Noto Sans CJK TC Light" panose="020B0300000000000000" pitchFamily="34" charset="-128"/>
                        </a:rPr>
                        <a:t>未經壓縮</a:t>
                      </a:r>
                      <a:endParaRPr lang="en-US" b="1" dirty="0">
                        <a:solidFill>
                          <a:srgbClr val="38761D"/>
                        </a:solidFill>
                        <a:latin typeface="Noto Sans CJK TC Light" panose="020B0300000000000000" pitchFamily="34" charset="-128"/>
                        <a:ea typeface="Noto Sans CJK TC Light" panose="020B03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zh-TW" altLang="en-US" b="1" dirty="0">
                          <a:solidFill>
                            <a:srgbClr val="38761D"/>
                          </a:solidFill>
                          <a:latin typeface="Noto Sans CJK TC Light" panose="020B0300000000000000" pitchFamily="34" charset="-128"/>
                          <a:ea typeface="Noto Sans CJK TC Light" panose="020B0300000000000000" pitchFamily="34" charset="-128"/>
                        </a:rPr>
                        <a:t>無損</a:t>
                      </a:r>
                      <a:endParaRPr lang="en-US" b="1" dirty="0">
                        <a:solidFill>
                          <a:srgbClr val="38761D"/>
                        </a:solidFill>
                        <a:latin typeface="Noto Sans CJK TC Light" panose="020B0300000000000000" pitchFamily="34" charset="-128"/>
                        <a:ea typeface="Noto Sans CJK TC Light" panose="020B03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zh-TW" altLang="en-US" b="1" dirty="0">
                          <a:solidFill>
                            <a:srgbClr val="38761D"/>
                          </a:solidFill>
                          <a:latin typeface="Noto Sans CJK TC Light" panose="020B0300000000000000" pitchFamily="34" charset="-128"/>
                          <a:ea typeface="Noto Sans CJK TC Light" panose="020B0300000000000000" pitchFamily="34" charset="-128"/>
                        </a:rPr>
                        <a:t>有損</a:t>
                      </a:r>
                      <a:endParaRPr lang="en-US" b="1" dirty="0">
                        <a:solidFill>
                          <a:srgbClr val="38761D"/>
                        </a:solidFill>
                        <a:latin typeface="Noto Sans CJK TC Light" panose="020B0300000000000000" pitchFamily="34" charset="-128"/>
                        <a:ea typeface="Noto Sans CJK TC Light" panose="020B03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1"/>
                  </a:ext>
                </a:extLst>
              </a:tr>
              <a:tr h="1904727">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2"/>
                  </a:ext>
                </a:extLst>
              </a:tr>
              <a:tr h="43344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檔案大小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1376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609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5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3"/>
                  </a:ext>
                </a:extLst>
              </a:tr>
              <a:tr h="75853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壓縮比</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chemeClr val="bg1">
                        <a:lumMod val="85000"/>
                      </a:schemeClr>
                    </a:solidFill>
                  </a:tcPr>
                </a:tc>
                <a:tc>
                  <a:txBody>
                    <a:bodyPr/>
                    <a:lstStyle/>
                    <a:p>
                      <a:pPr algn="ctr"/>
                      <a:r>
                        <a:rPr lang="en-HK" dirty="0"/>
                        <a:t>1376 KB / 609 KB = 2.26</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1376 KB / 5 KB = 275</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0" name="Picture 5"/>
          <p:cNvPicPr>
            <a:picLocks noChangeAspect="1"/>
          </p:cNvPicPr>
          <p:nvPr/>
        </p:nvPicPr>
        <p:blipFill rotWithShape="1">
          <a:blip r:embed="rId2"/>
          <a:srcRect b="1847"/>
          <a:stretch/>
        </p:blipFill>
        <p:spPr>
          <a:xfrm>
            <a:off x="3183025" y="3143598"/>
            <a:ext cx="1741399" cy="1818912"/>
          </a:xfrm>
          <a:prstGeom prst="rect">
            <a:avLst/>
          </a:prstGeom>
        </p:spPr>
      </p:pic>
      <p:pic>
        <p:nvPicPr>
          <p:cNvPr id="11" name="Picture 6"/>
          <p:cNvPicPr>
            <a:picLocks noChangeAspect="1"/>
          </p:cNvPicPr>
          <p:nvPr/>
        </p:nvPicPr>
        <p:blipFill>
          <a:blip r:embed="rId3"/>
          <a:stretch>
            <a:fillRect/>
          </a:stretch>
        </p:blipFill>
        <p:spPr>
          <a:xfrm>
            <a:off x="6095107" y="3154939"/>
            <a:ext cx="1705867" cy="1807571"/>
          </a:xfrm>
          <a:prstGeom prst="rect">
            <a:avLst/>
          </a:prstGeom>
        </p:spPr>
      </p:pic>
      <p:pic>
        <p:nvPicPr>
          <p:cNvPr id="12" name="Picture 7"/>
          <p:cNvPicPr>
            <a:picLocks noChangeAspect="1"/>
          </p:cNvPicPr>
          <p:nvPr/>
        </p:nvPicPr>
        <p:blipFill>
          <a:blip r:embed="rId4"/>
          <a:stretch>
            <a:fillRect/>
          </a:stretch>
        </p:blipFill>
        <p:spPr>
          <a:xfrm>
            <a:off x="8900458" y="3173988"/>
            <a:ext cx="1653242" cy="1765251"/>
          </a:xfrm>
          <a:prstGeom prst="rect">
            <a:avLst/>
          </a:prstGeom>
        </p:spPr>
      </p:pic>
    </p:spTree>
    <p:extLst>
      <p:ext uri="{BB962C8B-B14F-4D97-AF65-F5344CB8AC3E}">
        <p14:creationId xmlns:p14="http://schemas.microsoft.com/office/powerpoint/2010/main" val="17263166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mj-lt"/>
              <a:buAutoNum type="arabicPeriod"/>
            </a:pPr>
            <a:r>
              <a:rPr lang="en-HK" dirty="0">
                <a:solidFill>
                  <a:srgbClr val="FF0000"/>
                </a:solidFill>
                <a:latin typeface="+mn-lt"/>
              </a:rPr>
              <a:t>BMP </a:t>
            </a:r>
            <a:r>
              <a:rPr lang="zh-TW" altLang="en-US" dirty="0">
                <a:solidFill>
                  <a:srgbClr val="FF0000"/>
                </a:solidFill>
                <a:latin typeface="+mn-lt"/>
              </a:rPr>
              <a:t>與</a:t>
            </a:r>
            <a:r>
              <a:rPr lang="en-HK" dirty="0">
                <a:solidFill>
                  <a:srgbClr val="FF0000"/>
                </a:solidFill>
                <a:latin typeface="+mn-lt"/>
              </a:rPr>
              <a:t> PNG</a:t>
            </a:r>
            <a:r>
              <a:rPr lang="en-HK" dirty="0">
                <a:latin typeface="+mn-lt"/>
              </a:rPr>
              <a:t/>
            </a:r>
            <a:br>
              <a:rPr lang="en-HK" dirty="0">
                <a:latin typeface="+mn-lt"/>
              </a:rPr>
            </a:br>
            <a:endParaRPr lang="en-HK" dirty="0">
              <a:latin typeface="+mn-lt"/>
            </a:endParaRPr>
          </a:p>
          <a:p>
            <a:pPr marL="457200" indent="-457200">
              <a:buFont typeface="+mj-lt"/>
              <a:buAutoNum type="arabicPeriod"/>
            </a:pPr>
            <a:r>
              <a:rPr lang="en-HK" dirty="0">
                <a:solidFill>
                  <a:srgbClr val="FF0000"/>
                </a:solidFill>
                <a:latin typeface="+mn-lt"/>
              </a:rPr>
              <a:t>BMP</a:t>
            </a: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111</a:t>
            </a:fld>
            <a:endParaRPr lang="en-US" dirty="0"/>
          </a:p>
        </p:txBody>
      </p:sp>
      <p:sp>
        <p:nvSpPr>
          <p:cNvPr id="4" name="文字版面配置區 3"/>
          <p:cNvSpPr>
            <a:spLocks noGrp="1"/>
          </p:cNvSpPr>
          <p:nvPr>
            <p:ph type="body" sz="quarter" idx="13"/>
          </p:nvPr>
        </p:nvSpPr>
        <p:spPr/>
        <p:txBody>
          <a:bodyPr/>
          <a:lstStyle/>
          <a:p>
            <a:r>
              <a:rPr lang="en-US" dirty="0"/>
              <a:t>3.1</a:t>
            </a:r>
            <a:endParaRPr lang="en-GB" dirty="0"/>
          </a:p>
        </p:txBody>
      </p:sp>
    </p:spTree>
    <p:extLst>
      <p:ext uri="{BB962C8B-B14F-4D97-AF65-F5344CB8AC3E}">
        <p14:creationId xmlns:p14="http://schemas.microsoft.com/office/powerpoint/2010/main" val="258645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latin typeface="+mn-lt"/>
              </a:rPr>
              <a:t>試比較課本第 </a:t>
            </a:r>
            <a:r>
              <a:rPr lang="en-US" altLang="zh-TW" dirty="0">
                <a:latin typeface="+mn-lt"/>
              </a:rPr>
              <a:t>104 </a:t>
            </a:r>
            <a:r>
              <a:rPr lang="zh-TW" altLang="en-US" dirty="0">
                <a:latin typeface="+mn-lt"/>
              </a:rPr>
              <a:t>頁的兩張圖片。</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112</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spTree>
    <p:extLst>
      <p:ext uri="{BB962C8B-B14F-4D97-AF65-F5344CB8AC3E}">
        <p14:creationId xmlns:p14="http://schemas.microsoft.com/office/powerpoint/2010/main" val="9266613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6D22F896-40B5-4ADD-8801-0D06FADFA095}" type="slidenum">
              <a:rPr lang="en-US" smtClean="0"/>
              <a:t>113</a:t>
            </a:fld>
            <a:endParaRPr lang="en-US" dirty="0"/>
          </a:p>
        </p:txBody>
      </p:sp>
      <p:sp>
        <p:nvSpPr>
          <p:cNvPr id="4" name="文字版面配置區 3"/>
          <p:cNvSpPr>
            <a:spLocks noGrp="1"/>
          </p:cNvSpPr>
          <p:nvPr>
            <p:ph type="body" sz="quarter" idx="13"/>
          </p:nvPr>
        </p:nvSpPr>
        <p:spPr/>
        <p:txBody>
          <a:bodyPr/>
          <a:lstStyle/>
          <a:p>
            <a:r>
              <a:rPr lang="en-US" dirty="0"/>
              <a:t>3.2</a:t>
            </a:r>
            <a:endParaRPr lang="en-GB" dirty="0"/>
          </a:p>
        </p:txBody>
      </p:sp>
      <p:graphicFrame>
        <p:nvGraphicFramePr>
          <p:cNvPr id="5" name="Table 5"/>
          <p:cNvGraphicFramePr>
            <a:graphicFrameLocks noGrp="1"/>
          </p:cNvGraphicFramePr>
          <p:nvPr>
            <p:extLst>
              <p:ext uri="{D42A27DB-BD31-4B8C-83A1-F6EECF244321}">
                <p14:modId xmlns:p14="http://schemas.microsoft.com/office/powerpoint/2010/main" val="3244156575"/>
              </p:ext>
            </p:extLst>
          </p:nvPr>
        </p:nvGraphicFramePr>
        <p:xfrm>
          <a:off x="1138321" y="1219051"/>
          <a:ext cx="10072604" cy="4844076"/>
        </p:xfrm>
        <a:graphic>
          <a:graphicData uri="http://schemas.openxmlformats.org/drawingml/2006/table">
            <a:tbl>
              <a:tblPr firstRow="1" bandRow="1">
                <a:tableStyleId>{5940675A-B579-460E-94D1-54222C63F5DA}</a:tableStyleId>
              </a:tblPr>
              <a:tblGrid>
                <a:gridCol w="2863243">
                  <a:extLst>
                    <a:ext uri="{9D8B030D-6E8A-4147-A177-3AD203B41FA5}">
                      <a16:colId xmlns:a16="http://schemas.microsoft.com/office/drawing/2014/main" val="20000"/>
                    </a:ext>
                  </a:extLst>
                </a:gridCol>
                <a:gridCol w="3851826">
                  <a:extLst>
                    <a:ext uri="{9D8B030D-6E8A-4147-A177-3AD203B41FA5}">
                      <a16:colId xmlns:a16="http://schemas.microsoft.com/office/drawing/2014/main" val="20001"/>
                    </a:ext>
                  </a:extLst>
                </a:gridCol>
                <a:gridCol w="3357535">
                  <a:extLst>
                    <a:ext uri="{9D8B030D-6E8A-4147-A177-3AD203B41FA5}">
                      <a16:colId xmlns:a16="http://schemas.microsoft.com/office/drawing/2014/main" val="20002"/>
                    </a:ext>
                  </a:extLst>
                </a:gridCol>
              </a:tblGrid>
              <a:tr h="37705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b="1" dirty="0">
                          <a:solidFill>
                            <a:schemeClr val="bg1"/>
                          </a:solidFill>
                        </a:rPr>
                        <a:t>BMP</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rPr>
                        <a:t>JPG</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extLst>
                  <a:ext uri="{0D108BD9-81ED-4DB2-BD59-A6C34878D82A}">
                    <a16:rowId xmlns:a16="http://schemas.microsoft.com/office/drawing/2014/main" val="10000"/>
                  </a:ext>
                </a:extLst>
              </a:tr>
              <a:tr h="37705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壓縮方式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zh-TW" altLang="en-US" dirty="0">
                          <a:latin typeface="Noto Sans CJK TC Light" panose="020B0300000000000000" pitchFamily="34" charset="-128"/>
                          <a:ea typeface="Noto Sans CJK TC Light" panose="020B0300000000000000" pitchFamily="34" charset="-128"/>
                        </a:rPr>
                        <a:t>未經壓縮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zh-TW" altLang="en-US" dirty="0">
                          <a:latin typeface="Noto Sans CJK TC Light" panose="020B0300000000000000" pitchFamily="34" charset="-128"/>
                          <a:ea typeface="Noto Sans CJK TC Light" panose="020B0300000000000000" pitchFamily="34" charset="-128"/>
                        </a:rPr>
                        <a:t>有損壓縮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1"/>
                  </a:ext>
                </a:extLst>
              </a:tr>
              <a:tr h="1646349">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2"/>
                  </a:ext>
                </a:extLst>
              </a:tr>
              <a:tr h="37705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檔案大小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1 MB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 MB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3"/>
                  </a:ext>
                </a:extLst>
              </a:tr>
              <a:tr h="37705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圖像長度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550</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1618</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4"/>
                  </a:ext>
                </a:extLst>
              </a:tr>
              <a:tr h="398572">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圖像高度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635</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1871</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5"/>
                  </a:ext>
                </a:extLst>
              </a:tr>
              <a:tr h="59055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壓縮成 </a:t>
                      </a:r>
                      <a:r>
                        <a:rPr lang="en-US" altLang="zh-TW" b="1" dirty="0">
                          <a:solidFill>
                            <a:schemeClr val="bg1"/>
                          </a:solidFill>
                          <a:latin typeface="Noto Sans CJK TC Bold" panose="020B0800000000000000" pitchFamily="34" charset="-128"/>
                          <a:ea typeface="Noto Sans CJK TC Bold" panose="020B0800000000000000" pitchFamily="34" charset="-128"/>
                        </a:rPr>
                        <a:t>ZIP </a:t>
                      </a:r>
                      <a:r>
                        <a:rPr lang="zh-TW" altLang="en-US" b="1" dirty="0">
                          <a:solidFill>
                            <a:schemeClr val="bg1"/>
                          </a:solidFill>
                          <a:latin typeface="Noto Sans CJK TC Bold" panose="020B0800000000000000" pitchFamily="34" charset="-128"/>
                          <a:ea typeface="Noto Sans CJK TC Bold" panose="020B0800000000000000" pitchFamily="34" charset="-128"/>
                        </a:rPr>
                        <a:t>檔</a:t>
                      </a:r>
                    </a:p>
                    <a:p>
                      <a:pPr algn="ctr"/>
                      <a:r>
                        <a:rPr lang="zh-TW" altLang="en-US" b="1" dirty="0">
                          <a:solidFill>
                            <a:schemeClr val="bg1"/>
                          </a:solidFill>
                          <a:latin typeface="Noto Sans CJK TC Bold" panose="020B0800000000000000" pitchFamily="34" charset="-128"/>
                          <a:ea typeface="Noto Sans CJK TC Bold" panose="020B0800000000000000" pitchFamily="34" charset="-128"/>
                        </a:rPr>
                        <a:t>後的檔案大小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853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1017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6"/>
                  </a:ext>
                </a:extLst>
              </a:tr>
              <a:tr h="650875">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壓縮成 </a:t>
                      </a:r>
                      <a:r>
                        <a:rPr lang="en-US" altLang="zh-TW" b="1" dirty="0">
                          <a:solidFill>
                            <a:schemeClr val="bg1"/>
                          </a:solidFill>
                          <a:latin typeface="Noto Sans CJK TC Bold" panose="020B0800000000000000" pitchFamily="34" charset="-128"/>
                          <a:ea typeface="Noto Sans CJK TC Bold" panose="020B0800000000000000" pitchFamily="34" charset="-128"/>
                        </a:rPr>
                        <a:t>ZIP </a:t>
                      </a:r>
                      <a:r>
                        <a:rPr lang="zh-TW" altLang="en-US" b="1" dirty="0">
                          <a:solidFill>
                            <a:schemeClr val="bg1"/>
                          </a:solidFill>
                          <a:latin typeface="Noto Sans CJK TC Bold" panose="020B0800000000000000" pitchFamily="34" charset="-128"/>
                          <a:ea typeface="Noto Sans CJK TC Bold" panose="020B0800000000000000" pitchFamily="34" charset="-128"/>
                        </a:rPr>
                        <a:t>檔</a:t>
                      </a:r>
                    </a:p>
                    <a:p>
                      <a:pPr algn="ctr"/>
                      <a:r>
                        <a:rPr lang="zh-TW" altLang="en-US" b="1" dirty="0">
                          <a:solidFill>
                            <a:schemeClr val="bg1"/>
                          </a:solidFill>
                          <a:latin typeface="Noto Sans CJK TC Bold" panose="020B0800000000000000" pitchFamily="34" charset="-128"/>
                          <a:ea typeface="Noto Sans CJK TC Bold" panose="020B0800000000000000" pitchFamily="34" charset="-128"/>
                        </a:rPr>
                        <a:t>的壓縮比</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dirty="0"/>
                        <a:t>1024 ÷ 853 = 1.20</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1024 ÷ 1017</a:t>
                      </a:r>
                      <a:r>
                        <a:rPr lang="en-HK" baseline="0" dirty="0"/>
                        <a:t> = 1.01</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6" name="Picture 6"/>
          <p:cNvPicPr>
            <a:picLocks noChangeAspect="1"/>
          </p:cNvPicPr>
          <p:nvPr/>
        </p:nvPicPr>
        <p:blipFill rotWithShape="1">
          <a:blip r:embed="rId2"/>
          <a:srcRect l="-1" r="1712"/>
          <a:stretch/>
        </p:blipFill>
        <p:spPr>
          <a:xfrm>
            <a:off x="5573125" y="2336923"/>
            <a:ext cx="761000" cy="869444"/>
          </a:xfrm>
          <a:prstGeom prst="rect">
            <a:avLst/>
          </a:prstGeom>
        </p:spPr>
      </p:pic>
      <p:pic>
        <p:nvPicPr>
          <p:cNvPr id="7" name="Picture 7"/>
          <p:cNvPicPr>
            <a:picLocks noChangeAspect="1"/>
          </p:cNvPicPr>
          <p:nvPr/>
        </p:nvPicPr>
        <p:blipFill>
          <a:blip r:embed="rId3"/>
          <a:stretch>
            <a:fillRect/>
          </a:stretch>
        </p:blipFill>
        <p:spPr>
          <a:xfrm>
            <a:off x="8946847" y="2021370"/>
            <a:ext cx="1292528" cy="1504898"/>
          </a:xfrm>
          <a:prstGeom prst="rect">
            <a:avLst/>
          </a:prstGeom>
        </p:spPr>
      </p:pic>
    </p:spTree>
    <p:extLst>
      <p:ext uri="{BB962C8B-B14F-4D97-AF65-F5344CB8AC3E}">
        <p14:creationId xmlns:p14="http://schemas.microsoft.com/office/powerpoint/2010/main" val="1409038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838200" y="1443600"/>
            <a:ext cx="7006389" cy="4860000"/>
          </a:xfrm>
        </p:spPr>
        <p:txBody>
          <a:bodyPr/>
          <a:lstStyle/>
          <a:p>
            <a:r>
              <a:rPr lang="zh-TW" altLang="en-US" dirty="0">
                <a:latin typeface="+mn-lt"/>
              </a:rPr>
              <a:t>由於 </a:t>
            </a:r>
            <a:r>
              <a:rPr lang="en-US" altLang="zh-TW" dirty="0">
                <a:latin typeface="+mn-lt"/>
              </a:rPr>
              <a:t>JPG </a:t>
            </a:r>
            <a:r>
              <a:rPr lang="zh-TW" altLang="en-US" dirty="0">
                <a:latin typeface="+mn-lt"/>
              </a:rPr>
              <a:t>使用有損壓縮，它能在同樣的檔案大小下，比 </a:t>
            </a:r>
            <a:r>
              <a:rPr lang="en-US" altLang="zh-TW" dirty="0">
                <a:latin typeface="+mn-lt"/>
              </a:rPr>
              <a:t>BMP </a:t>
            </a:r>
            <a:r>
              <a:rPr lang="zh-TW" altLang="en-US" dirty="0">
                <a:latin typeface="+mn-lt"/>
              </a:rPr>
              <a:t>儲存更長更高的圖像。</a:t>
            </a:r>
            <a:endParaRPr lang="en-US" altLang="zh-TW" dirty="0">
              <a:latin typeface="+mn-lt"/>
            </a:endParaRPr>
          </a:p>
          <a:p>
            <a:endParaRPr lang="en-US" dirty="0">
              <a:latin typeface="+mn-lt"/>
            </a:endParaRPr>
          </a:p>
          <a:p>
            <a:endParaRPr lang="en-US" dirty="0">
              <a:latin typeface="+mn-lt"/>
            </a:endParaRPr>
          </a:p>
          <a:p>
            <a:endParaRPr lang="en-US" dirty="0">
              <a:latin typeface="+mn-lt"/>
            </a:endParaRPr>
          </a:p>
          <a:p>
            <a:r>
              <a:rPr lang="zh-TW" altLang="en-US" dirty="0">
                <a:latin typeface="+mn-lt"/>
              </a:rPr>
              <a:t>由於 </a:t>
            </a:r>
            <a:r>
              <a:rPr lang="en-US" altLang="zh-TW" dirty="0">
                <a:latin typeface="+mn-lt"/>
              </a:rPr>
              <a:t>JPG </a:t>
            </a:r>
            <a:r>
              <a:rPr lang="zh-TW" altLang="en-US" dirty="0">
                <a:latin typeface="+mn-lt"/>
              </a:rPr>
              <a:t>圖像本來已被壓縮過，壓縮 </a:t>
            </a:r>
            <a:r>
              <a:rPr lang="en-US" altLang="zh-TW" dirty="0">
                <a:latin typeface="+mn-lt"/>
              </a:rPr>
              <a:t>BMP </a:t>
            </a:r>
            <a:r>
              <a:rPr lang="zh-TW" altLang="en-US" dirty="0">
                <a:latin typeface="+mn-lt"/>
              </a:rPr>
              <a:t>圖像往往會比壓縮 </a:t>
            </a:r>
            <a:r>
              <a:rPr lang="en-US" altLang="zh-TW" dirty="0">
                <a:latin typeface="+mn-lt"/>
              </a:rPr>
              <a:t>JPG </a:t>
            </a:r>
            <a:r>
              <a:rPr lang="zh-TW" altLang="en-US" dirty="0">
                <a:latin typeface="+mn-lt"/>
              </a:rPr>
              <a:t>圖像節省更多的儲存空間。</a:t>
            </a:r>
            <a:endParaRPr lang="en-US"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114</a:t>
            </a:fld>
            <a:endParaRPr lang="en-US" dirty="0"/>
          </a:p>
        </p:txBody>
      </p:sp>
      <p:sp>
        <p:nvSpPr>
          <p:cNvPr id="4" name="文字版面配置區 3"/>
          <p:cNvSpPr>
            <a:spLocks noGrp="1"/>
          </p:cNvSpPr>
          <p:nvPr>
            <p:ph type="body" sz="quarter" idx="13"/>
          </p:nvPr>
        </p:nvSpPr>
        <p:spPr/>
        <p:txBody>
          <a:bodyPr/>
          <a:lstStyle/>
          <a:p>
            <a:r>
              <a:rPr lang="en-US" dirty="0"/>
              <a:t>3.2</a:t>
            </a:r>
          </a:p>
        </p:txBody>
      </p:sp>
      <p:grpSp>
        <p:nvGrpSpPr>
          <p:cNvPr id="5" name="Group 4"/>
          <p:cNvGrpSpPr/>
          <p:nvPr/>
        </p:nvGrpSpPr>
        <p:grpSpPr>
          <a:xfrm>
            <a:off x="8266410" y="1624575"/>
            <a:ext cx="2773501" cy="2269828"/>
            <a:chOff x="6076228" y="729477"/>
            <a:chExt cx="2773501" cy="2269828"/>
          </a:xfrm>
        </p:grpSpPr>
        <p:pic>
          <p:nvPicPr>
            <p:cNvPr id="6" name="Picture 5"/>
            <p:cNvPicPr>
              <a:picLocks noChangeAspect="1"/>
            </p:cNvPicPr>
            <p:nvPr/>
          </p:nvPicPr>
          <p:blipFill>
            <a:blip r:embed="rId2"/>
            <a:stretch>
              <a:fillRect/>
            </a:stretch>
          </p:blipFill>
          <p:spPr>
            <a:xfrm>
              <a:off x="6076228" y="1368359"/>
              <a:ext cx="997146" cy="1163337"/>
            </a:xfrm>
            <a:prstGeom prst="rect">
              <a:avLst/>
            </a:prstGeom>
            <a:ln w="57150">
              <a:solidFill>
                <a:schemeClr val="bg1">
                  <a:lumMod val="85000"/>
                </a:schemeClr>
              </a:solidFill>
            </a:ln>
          </p:spPr>
        </p:pic>
        <p:pic>
          <p:nvPicPr>
            <p:cNvPr id="7" name="Picture 6"/>
            <p:cNvPicPr>
              <a:picLocks noChangeAspect="1"/>
            </p:cNvPicPr>
            <p:nvPr/>
          </p:nvPicPr>
          <p:blipFill>
            <a:blip r:embed="rId3"/>
            <a:stretch>
              <a:fillRect/>
            </a:stretch>
          </p:blipFill>
          <p:spPr>
            <a:xfrm>
              <a:off x="7277073" y="729477"/>
              <a:ext cx="1572656" cy="1808778"/>
            </a:xfrm>
            <a:prstGeom prst="rect">
              <a:avLst/>
            </a:prstGeom>
            <a:ln w="57150">
              <a:solidFill>
                <a:schemeClr val="bg1">
                  <a:lumMod val="85000"/>
                </a:schemeClr>
              </a:solidFill>
            </a:ln>
          </p:spPr>
        </p:pic>
        <p:sp>
          <p:nvSpPr>
            <p:cNvPr id="8" name="TextBox 7"/>
            <p:cNvSpPr txBox="1"/>
            <p:nvPr/>
          </p:nvSpPr>
          <p:spPr>
            <a:xfrm>
              <a:off x="6282894" y="2691528"/>
              <a:ext cx="583814" cy="307777"/>
            </a:xfrm>
            <a:prstGeom prst="rect">
              <a:avLst/>
            </a:prstGeom>
            <a:noFill/>
          </p:spPr>
          <p:txBody>
            <a:bodyPr wrap="none" rtlCol="0">
              <a:spAutoFit/>
            </a:bodyPr>
            <a:lstStyle/>
            <a:p>
              <a:r>
                <a:rPr lang="en-HK" b="1" dirty="0"/>
                <a:t>BMP</a:t>
              </a:r>
              <a:endParaRPr lang="en-US" b="1" dirty="0"/>
            </a:p>
          </p:txBody>
        </p:sp>
        <p:sp>
          <p:nvSpPr>
            <p:cNvPr id="9" name="TextBox 8"/>
            <p:cNvSpPr txBox="1"/>
            <p:nvPr/>
          </p:nvSpPr>
          <p:spPr>
            <a:xfrm>
              <a:off x="7776303" y="2691528"/>
              <a:ext cx="543739" cy="307777"/>
            </a:xfrm>
            <a:prstGeom prst="rect">
              <a:avLst/>
            </a:prstGeom>
            <a:noFill/>
          </p:spPr>
          <p:txBody>
            <a:bodyPr wrap="none" rtlCol="0">
              <a:spAutoFit/>
            </a:bodyPr>
            <a:lstStyle/>
            <a:p>
              <a:r>
                <a:rPr lang="en-HK" b="1" dirty="0"/>
                <a:t>JPG</a:t>
              </a:r>
              <a:endParaRPr lang="en-US" b="1" dirty="0"/>
            </a:p>
          </p:txBody>
        </p:sp>
      </p:grpSp>
      <p:sp>
        <p:nvSpPr>
          <p:cNvPr id="10" name="Down Arrow 9"/>
          <p:cNvSpPr/>
          <p:nvPr/>
        </p:nvSpPr>
        <p:spPr>
          <a:xfrm>
            <a:off x="8621727" y="4054235"/>
            <a:ext cx="274320" cy="32766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10101194" y="4054235"/>
            <a:ext cx="274320" cy="32766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9758" y="4541727"/>
            <a:ext cx="1178258" cy="1037990"/>
          </a:xfrm>
          <a:prstGeom prst="rect">
            <a:avLst/>
          </a:prstGeom>
        </p:spPr>
      </p:pic>
      <p:pic>
        <p:nvPicPr>
          <p:cNvPr id="13"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7155" y="4433648"/>
            <a:ext cx="1732855" cy="1526564"/>
          </a:xfrm>
          <a:prstGeom prst="rect">
            <a:avLst/>
          </a:prstGeom>
        </p:spPr>
      </p:pic>
    </p:spTree>
    <p:extLst>
      <p:ext uri="{BB962C8B-B14F-4D97-AF65-F5344CB8AC3E}">
        <p14:creationId xmlns:p14="http://schemas.microsoft.com/office/powerpoint/2010/main" val="25473944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b="1" dirty="0"/>
              <a:t>文本</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115</a:t>
            </a:fld>
            <a:endParaRPr lang="en-US" dirty="0"/>
          </a:p>
        </p:txBody>
      </p:sp>
      <p:sp>
        <p:nvSpPr>
          <p:cNvPr id="6" name="文字版面配置區 5"/>
          <p:cNvSpPr>
            <a:spLocks noGrp="1"/>
          </p:cNvSpPr>
          <p:nvPr>
            <p:ph type="body" sz="quarter" idx="14"/>
          </p:nvPr>
        </p:nvSpPr>
        <p:spPr/>
        <p:txBody>
          <a:bodyPr/>
          <a:lstStyle/>
          <a:p>
            <a:r>
              <a:rPr lang="en-US" dirty="0"/>
              <a:t>A</a:t>
            </a:r>
            <a:endParaRPr lang="en-GB" dirty="0"/>
          </a:p>
        </p:txBody>
      </p:sp>
      <p:sp>
        <p:nvSpPr>
          <p:cNvPr id="7" name="內容版面配置區 6"/>
          <p:cNvSpPr>
            <a:spLocks noGrp="1"/>
          </p:cNvSpPr>
          <p:nvPr>
            <p:ph sz="quarter" idx="15"/>
          </p:nvPr>
        </p:nvSpPr>
        <p:spPr/>
        <p:txBody>
          <a:bodyPr/>
          <a:lstStyle/>
          <a:p>
            <a:r>
              <a:rPr lang="zh-TW" altLang="en-US" dirty="0"/>
              <a:t>文本分為兩種：</a:t>
            </a:r>
            <a:endParaRPr lang="en-US" altLang="zh-TW" dirty="0"/>
          </a:p>
          <a:p>
            <a:endParaRPr lang="en-US" dirty="0"/>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純文字</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格式化文本</a:t>
            </a:r>
            <a:endParaRPr lang="en-GB" dirty="0">
              <a:solidFill>
                <a:srgbClr val="595A96"/>
              </a:solidFill>
              <a:latin typeface="Noto Sans CJK TC Bold" panose="020B0800000000000000" pitchFamily="34" charset="-128"/>
              <a:ea typeface="Noto Sans CJK TC Bold" panose="020B0800000000000000" pitchFamily="34" charset="-128"/>
            </a:endParaRPr>
          </a:p>
        </p:txBody>
      </p:sp>
    </p:spTree>
    <p:extLst>
      <p:ext uri="{BB962C8B-B14F-4D97-AF65-F5344CB8AC3E}">
        <p14:creationId xmlns:p14="http://schemas.microsoft.com/office/powerpoint/2010/main" val="364540635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文本</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116</a:t>
            </a:fld>
            <a:endParaRPr lang="en-US" dirty="0"/>
          </a:p>
        </p:txBody>
      </p:sp>
      <p:sp>
        <p:nvSpPr>
          <p:cNvPr id="4" name="文字版面配置區 3"/>
          <p:cNvSpPr>
            <a:spLocks noGrp="1"/>
          </p:cNvSpPr>
          <p:nvPr>
            <p:ph type="body" sz="quarter" idx="14"/>
          </p:nvPr>
        </p:nvSpPr>
        <p:spPr/>
        <p:txBody>
          <a:bodyPr/>
          <a:lstStyle/>
          <a:p>
            <a:r>
              <a:rPr lang="en-US" altLang="zh-TW" dirty="0"/>
              <a:t>A</a:t>
            </a:r>
            <a:endParaRPr lang="en-GB" dirty="0"/>
          </a:p>
        </p:txBody>
      </p:sp>
      <p:sp>
        <p:nvSpPr>
          <p:cNvPr id="5" name="內容版面配置區 4"/>
          <p:cNvSpPr>
            <a:spLocks noGrp="1"/>
          </p:cNvSpPr>
          <p:nvPr>
            <p:ph sz="quarter" idx="15"/>
          </p:nvPr>
        </p:nvSpPr>
        <p:spPr/>
        <p:txBody>
          <a:bodyPr/>
          <a:lstStyle/>
          <a:p>
            <a:r>
              <a:rPr lang="zh-TW" altLang="en-US" dirty="0">
                <a:latin typeface="Noto Sans CJK TC Bold" panose="020B0800000000000000" pitchFamily="34" charset="-128"/>
                <a:ea typeface="Noto Sans CJK TC Bold" panose="020B0800000000000000" pitchFamily="34" charset="-128"/>
              </a:rPr>
              <a:t>純文字</a:t>
            </a:r>
            <a:endParaRPr lang="en-US" altLang="zh-TW" dirty="0">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t>只能儲存</a:t>
            </a:r>
            <a:r>
              <a:rPr lang="zh-TW" altLang="en-US" dirty="0">
                <a:latin typeface="Noto Sans CJK TC Bold" panose="020B0800000000000000" pitchFamily="34" charset="-128"/>
                <a:ea typeface="Noto Sans CJK TC Bold" panose="020B0800000000000000" pitchFamily="34" charset="-128"/>
              </a:rPr>
              <a:t>字符</a:t>
            </a:r>
            <a:endParaRPr lang="en-US" altLang="zh-TW" dirty="0">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endParaRPr lang="en-US" altLang="zh-TW" dirty="0">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t>檔案大小通常較格式化文本小</a:t>
            </a:r>
            <a:endParaRPr lang="en-US" altLang="zh-TW" dirty="0"/>
          </a:p>
          <a:p>
            <a:pPr marL="342900" indent="-342900">
              <a:buFont typeface="Arial" panose="020B0604020202020204" pitchFamily="34" charset="0"/>
              <a:buChar char="•"/>
            </a:pPr>
            <a:endParaRPr lang="en-US" altLang="zh-TW" dirty="0"/>
          </a:p>
          <a:p>
            <a:pPr marL="342900" indent="-342900">
              <a:buFont typeface="Arial" panose="020B0604020202020204" pitchFamily="34" charset="0"/>
              <a:buChar char="•"/>
            </a:pPr>
            <a:r>
              <a:rPr lang="zh-TW" altLang="en-US" dirty="0"/>
              <a:t>純文字檔案的大小約為</a:t>
            </a:r>
            <a:r>
              <a:rPr lang="en-US" altLang="zh-TW" dirty="0"/>
              <a:t/>
            </a:r>
            <a:br>
              <a:rPr lang="en-US" altLang="zh-TW" dirty="0"/>
            </a:br>
            <a:r>
              <a:rPr lang="en-US" altLang="zh-TW" dirty="0"/>
              <a:t>	</a:t>
            </a:r>
            <a:r>
              <a:rPr lang="zh-TW" altLang="en-US" u="sng" dirty="0"/>
              <a:t>每個字符的大小 </a:t>
            </a:r>
            <a:r>
              <a:rPr lang="en-US" altLang="zh-TW" u="sng" dirty="0"/>
              <a:t>× </a:t>
            </a:r>
            <a:r>
              <a:rPr lang="zh-TW" altLang="en-US" u="sng" dirty="0"/>
              <a:t>字符數</a:t>
            </a:r>
            <a:endParaRPr lang="en-GB" altLang="zh-TW" u="sng" dirty="0"/>
          </a:p>
        </p:txBody>
      </p:sp>
      <p:pic>
        <p:nvPicPr>
          <p:cNvPr id="7" name="Picture 5"/>
          <p:cNvPicPr>
            <a:picLocks noChangeAspect="1"/>
          </p:cNvPicPr>
          <p:nvPr/>
        </p:nvPicPr>
        <p:blipFill>
          <a:blip r:embed="rId2"/>
          <a:stretch>
            <a:fillRect/>
          </a:stretch>
        </p:blipFill>
        <p:spPr>
          <a:xfrm>
            <a:off x="7639500" y="1827275"/>
            <a:ext cx="3714300" cy="3277035"/>
          </a:xfrm>
          <a:prstGeom prst="rect">
            <a:avLst/>
          </a:prstGeom>
        </p:spPr>
      </p:pic>
    </p:spTree>
    <p:extLst>
      <p:ext uri="{BB962C8B-B14F-4D97-AF65-F5344CB8AC3E}">
        <p14:creationId xmlns:p14="http://schemas.microsoft.com/office/powerpoint/2010/main" val="34273112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文本</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117</a:t>
            </a:fld>
            <a:endParaRPr lang="en-US" dirty="0"/>
          </a:p>
        </p:txBody>
      </p:sp>
      <p:sp>
        <p:nvSpPr>
          <p:cNvPr id="4" name="文字版面配置區 3"/>
          <p:cNvSpPr>
            <a:spLocks noGrp="1"/>
          </p:cNvSpPr>
          <p:nvPr>
            <p:ph type="body" sz="quarter" idx="14"/>
          </p:nvPr>
        </p:nvSpPr>
        <p:spPr/>
        <p:txBody>
          <a:bodyPr/>
          <a:lstStyle/>
          <a:p>
            <a:r>
              <a:rPr lang="en-US" dirty="0"/>
              <a:t>A</a:t>
            </a:r>
            <a:endParaRPr lang="en-GB" dirty="0"/>
          </a:p>
        </p:txBody>
      </p:sp>
      <p:sp>
        <p:nvSpPr>
          <p:cNvPr id="5" name="內容版面配置區 4"/>
          <p:cNvSpPr>
            <a:spLocks noGrp="1"/>
          </p:cNvSpPr>
          <p:nvPr>
            <p:ph sz="quarter" idx="15"/>
          </p:nvPr>
        </p:nvSpPr>
        <p:spPr>
          <a:xfrm>
            <a:off x="838800" y="1609200"/>
            <a:ext cx="7475021" cy="4680000"/>
          </a:xfrm>
        </p:spPr>
        <p:txBody>
          <a:bodyPr/>
          <a:lstStyle/>
          <a:p>
            <a:r>
              <a:rPr lang="zh-TW" altLang="en-US" dirty="0">
                <a:latin typeface="Noto Sans CJK TC Bold" panose="020B0800000000000000" pitchFamily="34" charset="-128"/>
                <a:ea typeface="Noto Sans CJK TC Bold" panose="020B0800000000000000" pitchFamily="34" charset="-128"/>
              </a:rPr>
              <a:t>格式化文本</a:t>
            </a:r>
            <a:endParaRPr lang="en-US" altLang="zh-TW" dirty="0">
              <a:latin typeface="Noto Sans CJK TC Bold" panose="020B0800000000000000" pitchFamily="34" charset="-128"/>
              <a:ea typeface="Noto Sans CJK TC Bold" panose="020B0800000000000000" pitchFamily="34" charset="-128"/>
            </a:endParaRPr>
          </a:p>
          <a:p>
            <a:endParaRPr lang="en-US" altLang="zh-TW" dirty="0"/>
          </a:p>
          <a:p>
            <a:pPr marL="342900" indent="-342900">
              <a:buFont typeface="Arial" panose="020B0604020202020204" pitchFamily="34" charset="0"/>
              <a:buChar char="•"/>
            </a:pPr>
            <a:r>
              <a:rPr lang="zh-TW" altLang="en-US" dirty="0"/>
              <a:t>能儲存字符及其</a:t>
            </a:r>
            <a:r>
              <a:rPr lang="zh-TW" altLang="en-US" dirty="0">
                <a:latin typeface="Noto Sans CJK TC Bold" panose="020B0800000000000000" pitchFamily="34" charset="-128"/>
                <a:ea typeface="Noto Sans CJK TC Bold" panose="020B0800000000000000" pitchFamily="34" charset="-128"/>
              </a:rPr>
              <a:t>格式資料</a:t>
            </a:r>
            <a:r>
              <a:rPr lang="en-US" altLang="zh-TW" dirty="0"/>
              <a:t/>
            </a:r>
            <a:br>
              <a:rPr lang="en-US" altLang="zh-TW" dirty="0"/>
            </a:br>
            <a:r>
              <a:rPr lang="zh-TW" altLang="en-US" dirty="0"/>
              <a:t>（如字型種類、字體大小、字體顏色、行距、水平對齊方式）</a:t>
            </a:r>
            <a:endParaRPr lang="en-US" altLang="zh-TW"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zh-TW" altLang="en-US" dirty="0"/>
              <a:t>檔案大小通常較純文字大</a:t>
            </a:r>
          </a:p>
        </p:txBody>
      </p:sp>
      <p:pic>
        <p:nvPicPr>
          <p:cNvPr id="6" name="Picture 5"/>
          <p:cNvPicPr>
            <a:picLocks noChangeAspect="1"/>
          </p:cNvPicPr>
          <p:nvPr/>
        </p:nvPicPr>
        <p:blipFill>
          <a:blip r:embed="rId2"/>
          <a:stretch>
            <a:fillRect/>
          </a:stretch>
        </p:blipFill>
        <p:spPr>
          <a:xfrm>
            <a:off x="8313821" y="1965600"/>
            <a:ext cx="3408339" cy="2992895"/>
          </a:xfrm>
          <a:prstGeom prst="rect">
            <a:avLst/>
          </a:prstGeom>
        </p:spPr>
      </p:pic>
    </p:spTree>
    <p:extLst>
      <p:ext uri="{BB962C8B-B14F-4D97-AF65-F5344CB8AC3E}">
        <p14:creationId xmlns:p14="http://schemas.microsoft.com/office/powerpoint/2010/main" val="71818799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文本</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118</a:t>
            </a:fld>
            <a:endParaRPr lang="en-US" dirty="0"/>
          </a:p>
        </p:txBody>
      </p:sp>
      <p:sp>
        <p:nvSpPr>
          <p:cNvPr id="4" name="文字版面配置區 3"/>
          <p:cNvSpPr>
            <a:spLocks noGrp="1"/>
          </p:cNvSpPr>
          <p:nvPr>
            <p:ph type="body" sz="quarter" idx="14"/>
          </p:nvPr>
        </p:nvSpPr>
        <p:spPr/>
        <p:txBody>
          <a:bodyPr/>
          <a:lstStyle/>
          <a:p>
            <a:r>
              <a:rPr lang="en-US" altLang="zh-TW" dirty="0"/>
              <a:t>A</a:t>
            </a:r>
            <a:endParaRPr lang="en-GB" dirty="0"/>
          </a:p>
        </p:txBody>
      </p:sp>
      <p:sp>
        <p:nvSpPr>
          <p:cNvPr id="5" name="內容版面配置區 4"/>
          <p:cNvSpPr>
            <a:spLocks noGrp="1"/>
          </p:cNvSpPr>
          <p:nvPr>
            <p:ph sz="quarter" idx="15"/>
          </p:nvPr>
        </p:nvSpPr>
        <p:spPr/>
        <p:txBody>
          <a:bodyPr/>
          <a:lstStyle/>
          <a:p>
            <a:r>
              <a:rPr lang="zh-TW" altLang="en-US" dirty="0"/>
              <a:t>常見文字檔案格式包括：</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890181886"/>
              </p:ext>
            </p:extLst>
          </p:nvPr>
        </p:nvGraphicFramePr>
        <p:xfrm>
          <a:off x="919836" y="2275144"/>
          <a:ext cx="10353528" cy="3034793"/>
        </p:xfrm>
        <a:graphic>
          <a:graphicData uri="http://schemas.openxmlformats.org/drawingml/2006/table">
            <a:tbl>
              <a:tblPr firstRow="1" bandRow="1">
                <a:tableStyleId>{5940675A-B579-460E-94D1-54222C63F5DA}</a:tableStyleId>
              </a:tblPr>
              <a:tblGrid>
                <a:gridCol w="1562816">
                  <a:extLst>
                    <a:ext uri="{9D8B030D-6E8A-4147-A177-3AD203B41FA5}">
                      <a16:colId xmlns:a16="http://schemas.microsoft.com/office/drawing/2014/main" val="20000"/>
                    </a:ext>
                  </a:extLst>
                </a:gridCol>
                <a:gridCol w="1611496">
                  <a:extLst>
                    <a:ext uri="{9D8B030D-6E8A-4147-A177-3AD203B41FA5}">
                      <a16:colId xmlns:a16="http://schemas.microsoft.com/office/drawing/2014/main" val="20001"/>
                    </a:ext>
                  </a:extLst>
                </a:gridCol>
                <a:gridCol w="7179216">
                  <a:extLst>
                    <a:ext uri="{9D8B030D-6E8A-4147-A177-3AD203B41FA5}">
                      <a16:colId xmlns:a16="http://schemas.microsoft.com/office/drawing/2014/main" val="20002"/>
                    </a:ext>
                  </a:extLst>
                </a:gridCol>
              </a:tblGrid>
              <a:tr h="312686">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類型</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備註</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81716">
                <a:tc>
                  <a:txBody>
                    <a:bodyPr/>
                    <a:lstStyle/>
                    <a:p>
                      <a:pPr algn="ctr"/>
                      <a:r>
                        <a:rPr lang="en-HK" b="1" dirty="0">
                          <a:solidFill>
                            <a:schemeClr val="bg1"/>
                          </a:solidFill>
                          <a:latin typeface="+mn-lt"/>
                        </a:rPr>
                        <a:t>TXT</a:t>
                      </a:r>
                      <a:endParaRPr lang="en-US" b="1" dirty="0">
                        <a:solidFill>
                          <a:schemeClr val="bg1"/>
                        </a:solidFill>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dirty="0">
                          <a:latin typeface="+mn-lt"/>
                          <a:ea typeface="Noto Sans CJK TC Light" panose="020B0300000000000000" pitchFamily="34" charset="-128"/>
                        </a:rPr>
                        <a:t>純文字</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檔案大小相對較小。</a:t>
                      </a:r>
                    </a:p>
                    <a:p>
                      <a:r>
                        <a:rPr lang="zh-TW" altLang="en-US" sz="1800" b="0" i="0" u="none" strike="noStrike" kern="1200" baseline="0" dirty="0">
                          <a:solidFill>
                            <a:schemeClr val="tx1"/>
                          </a:solidFill>
                          <a:latin typeface="+mn-lt"/>
                          <a:ea typeface="Noto Sans CJK TC Light" panose="020B0300000000000000" pitchFamily="34" charset="-128"/>
                          <a:cs typeface="+mn-cs"/>
                        </a:rPr>
                        <a:t>獲不同操作系統支援。</a:t>
                      </a:r>
                      <a:endParaRPr lang="en-US"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698597">
                <a:tc>
                  <a:txBody>
                    <a:bodyPr/>
                    <a:lstStyle/>
                    <a:p>
                      <a:pPr algn="ctr"/>
                      <a:r>
                        <a:rPr lang="en-HK" b="1" dirty="0">
                          <a:solidFill>
                            <a:schemeClr val="bg1"/>
                          </a:solidFill>
                          <a:latin typeface="+mn-lt"/>
                        </a:rPr>
                        <a:t>DOC/DOCX</a:t>
                      </a:r>
                      <a:endParaRPr lang="en-US" b="1" dirty="0">
                        <a:solidFill>
                          <a:schemeClr val="bg1"/>
                        </a:solidFill>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dirty="0">
                          <a:latin typeface="+mn-lt"/>
                          <a:ea typeface="Noto Sans CJK TC Light" panose="020B0300000000000000" pitchFamily="34" charset="-128"/>
                        </a:rPr>
                        <a:t>格式化文本</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sz="1800" b="0" i="0" u="none" strike="noStrike" kern="1200" baseline="0" dirty="0" err="1">
                          <a:solidFill>
                            <a:schemeClr val="tx1"/>
                          </a:solidFill>
                          <a:latin typeface="+mn-lt"/>
                          <a:ea typeface="Noto Sans CJK TC Light" panose="020B0300000000000000" pitchFamily="34" charset="-128"/>
                          <a:cs typeface="+mn-cs"/>
                        </a:rPr>
                        <a:t>首先在</a:t>
                      </a:r>
                      <a:r>
                        <a:rPr lang="en-US" sz="1800" b="0" i="0" u="none" strike="noStrike" kern="1200" baseline="0" dirty="0">
                          <a:solidFill>
                            <a:schemeClr val="tx1"/>
                          </a:solidFill>
                          <a:latin typeface="+mn-lt"/>
                          <a:ea typeface="Noto Sans CJK TC Light" panose="020B0300000000000000" pitchFamily="34" charset="-128"/>
                          <a:cs typeface="+mn-cs"/>
                        </a:rPr>
                        <a:t> Microsoft Word </a:t>
                      </a:r>
                      <a:r>
                        <a:rPr lang="en-US" sz="1800" b="0" i="0" u="none" strike="noStrike" kern="1200" baseline="0" dirty="0" err="1">
                          <a:solidFill>
                            <a:schemeClr val="tx1"/>
                          </a:solidFill>
                          <a:latin typeface="+mn-lt"/>
                          <a:ea typeface="Noto Sans CJK TC Light" panose="020B0300000000000000" pitchFamily="34" charset="-128"/>
                          <a:cs typeface="+mn-cs"/>
                        </a:rPr>
                        <a:t>建立</a:t>
                      </a:r>
                      <a:r>
                        <a:rPr lang="en-US" sz="1800" b="0" i="0" u="none" strike="noStrike" kern="1200" baseline="0" dirty="0">
                          <a:solidFill>
                            <a:schemeClr val="tx1"/>
                          </a:solidFill>
                          <a:latin typeface="+mn-lt"/>
                          <a:ea typeface="Noto Sans CJK TC Light" panose="020B0300000000000000" pitchFamily="34" charset="-128"/>
                          <a:cs typeface="+mn-cs"/>
                        </a:rPr>
                        <a:t>。</a:t>
                      </a:r>
                      <a:endParaRPr lang="en-US" altLang="zh-TW" sz="1800" b="0" i="0" u="none" strike="noStrike" kern="1200" baseline="0" dirty="0">
                        <a:solidFill>
                          <a:schemeClr val="tx1"/>
                        </a:solidFill>
                        <a:latin typeface="+mn-lt"/>
                        <a:ea typeface="Noto Sans CJK TC Light" panose="020B0300000000000000" pitchFamily="34" charset="-128"/>
                        <a:cs typeface="+mn-cs"/>
                      </a:endParaRPr>
                    </a:p>
                    <a:p>
                      <a:r>
                        <a:rPr lang="zh-TW" altLang="en-US" sz="1800" b="0" i="0" u="none" strike="noStrike" kern="1200" baseline="0" dirty="0">
                          <a:solidFill>
                            <a:schemeClr val="tx1"/>
                          </a:solidFill>
                          <a:latin typeface="+mn-lt"/>
                          <a:ea typeface="Noto Sans CJK TC Light" panose="020B0300000000000000" pitchFamily="34" charset="-128"/>
                          <a:cs typeface="+mn-cs"/>
                        </a:rPr>
                        <a:t>可以包含多媒體，包括圖像、音頻、視頻和超連結。</a:t>
                      </a:r>
                      <a:endParaRPr lang="en-HK" baseline="0"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169221">
                <a:tc>
                  <a:txBody>
                    <a:bodyPr/>
                    <a:lstStyle/>
                    <a:p>
                      <a:pPr algn="ctr"/>
                      <a:r>
                        <a:rPr lang="en-HK" b="1" dirty="0">
                          <a:solidFill>
                            <a:schemeClr val="bg1"/>
                          </a:solidFill>
                          <a:latin typeface="+mn-lt"/>
                        </a:rPr>
                        <a:t>PDF</a:t>
                      </a:r>
                      <a:endParaRPr lang="en-US" b="1" dirty="0">
                        <a:solidFill>
                          <a:schemeClr val="bg1"/>
                        </a:solidFill>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dirty="0">
                          <a:latin typeface="+mn-lt"/>
                          <a:ea typeface="Noto Sans CJK TC Light" panose="020B0300000000000000" pitchFamily="34" charset="-128"/>
                        </a:rPr>
                        <a:t>格式化文本</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mn-lt"/>
                          <a:ea typeface="Noto Sans CJK TC Light" panose="020B0300000000000000" pitchFamily="34" charset="-128"/>
                          <a:cs typeface="+mn-cs"/>
                        </a:rPr>
                        <a:t>首先在 </a:t>
                      </a:r>
                      <a:r>
                        <a:rPr lang="en-GB" sz="1800" b="0" i="0" u="none" strike="noStrike" kern="1200" baseline="0" dirty="0">
                          <a:solidFill>
                            <a:schemeClr val="tx1"/>
                          </a:solidFill>
                          <a:latin typeface="+mn-lt"/>
                          <a:ea typeface="Noto Sans CJK TC Light" panose="020B0300000000000000" pitchFamily="34" charset="-128"/>
                          <a:cs typeface="+mn-cs"/>
                        </a:rPr>
                        <a:t>Adobe Acrobat </a:t>
                      </a:r>
                      <a:r>
                        <a:rPr lang="zh-TW" altLang="en-US" sz="1800" b="0" i="0" u="none" strike="noStrike" kern="1200" baseline="0" dirty="0">
                          <a:solidFill>
                            <a:schemeClr val="tx1"/>
                          </a:solidFill>
                          <a:latin typeface="+mn-lt"/>
                          <a:ea typeface="Noto Sans CJK TC Light" panose="020B0300000000000000" pitchFamily="34" charset="-128"/>
                          <a:cs typeface="+mn-cs"/>
                        </a:rPr>
                        <a:t>建立，但通常從其他檔案格式匯出。</a:t>
                      </a:r>
                    </a:p>
                    <a:p>
                      <a:r>
                        <a:rPr lang="zh-TW" altLang="en-US" sz="1800" b="0" i="0" u="none" strike="noStrike" kern="1200" baseline="0" dirty="0">
                          <a:solidFill>
                            <a:schemeClr val="tx1"/>
                          </a:solidFill>
                          <a:latin typeface="+mn-lt"/>
                          <a:ea typeface="Noto Sans CJK TC Light" panose="020B0300000000000000" pitchFamily="34" charset="-128"/>
                          <a:cs typeface="+mn-cs"/>
                        </a:rPr>
                        <a:t>可以包含多媒體，包括圖像、音頻、視頻和超連結。</a:t>
                      </a:r>
                      <a:endParaRPr lang="en-US" altLang="zh-TW" sz="1800" b="0" i="0" u="none" strike="noStrike" kern="1200" baseline="0" dirty="0">
                        <a:solidFill>
                          <a:schemeClr val="tx1"/>
                        </a:solidFill>
                        <a:latin typeface="+mn-lt"/>
                        <a:ea typeface="Noto Sans CJK TC Light" panose="020B0300000000000000" pitchFamily="34" charset="-128"/>
                        <a:cs typeface="+mn-cs"/>
                      </a:endParaRPr>
                    </a:p>
                    <a:p>
                      <a:r>
                        <a:rPr lang="zh-TW" altLang="en-US" sz="1800" b="0" i="0" u="none" strike="noStrike" kern="1200" baseline="0" dirty="0">
                          <a:solidFill>
                            <a:schemeClr val="tx1"/>
                          </a:solidFill>
                          <a:latin typeface="+mn-lt"/>
                          <a:ea typeface="Noto Sans CJK TC Light" panose="020B0300000000000000" pitchFamily="34" charset="-128"/>
                          <a:cs typeface="+mn-cs"/>
                        </a:rPr>
                        <a:t>在不同設備和操作系統皆能保持一致的排版樣式和文字格式，即它是跨平台的格式。</a:t>
                      </a:r>
                      <a:endParaRPr lang="en-US" dirty="0">
                        <a:latin typeface="+mn-lt"/>
                        <a:ea typeface="Noto Sans CJK TC Light" panose="020B0300000000000000" pitchFamily="34" charset="-128"/>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876765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pPr marL="457200" indent="-457200">
              <a:buFont typeface="+mj-lt"/>
              <a:buAutoNum type="arabicPeriod"/>
            </a:pPr>
            <a:r>
              <a:rPr lang="zh-TW" altLang="en-US" dirty="0">
                <a:latin typeface="+mn-lt"/>
              </a:rPr>
              <a:t>以下哪個 </a:t>
            </a:r>
            <a:r>
              <a:rPr lang="en-US" altLang="zh-TW" dirty="0">
                <a:latin typeface="+mn-lt"/>
              </a:rPr>
              <a:t>/ </a:t>
            </a:r>
            <a:r>
              <a:rPr lang="zh-TW" altLang="en-US" dirty="0">
                <a:latin typeface="+mn-lt"/>
              </a:rPr>
              <a:t>些檔案應該以 </a:t>
            </a:r>
            <a:r>
              <a:rPr lang="en-US" altLang="zh-TW" dirty="0">
                <a:latin typeface="+mn-lt"/>
              </a:rPr>
              <a:t>PDF </a:t>
            </a:r>
            <a:r>
              <a:rPr lang="zh-TW" altLang="en-US" dirty="0">
                <a:latin typeface="+mn-lt"/>
              </a:rPr>
              <a:t>格式而不是 </a:t>
            </a:r>
            <a:r>
              <a:rPr lang="en-US" altLang="zh-TW" dirty="0">
                <a:latin typeface="+mn-lt"/>
              </a:rPr>
              <a:t>DOCX </a:t>
            </a:r>
            <a:r>
              <a:rPr lang="zh-TW" altLang="en-US" dirty="0">
                <a:latin typeface="+mn-lt"/>
              </a:rPr>
              <a:t>格式儲存？</a:t>
            </a:r>
            <a:endParaRPr lang="en-US" altLang="zh-TW" dirty="0">
              <a:latin typeface="+mn-lt"/>
            </a:endParaRPr>
          </a:p>
          <a:p>
            <a:pPr marL="1257300" lvl="2" indent="-342900">
              <a:buSzPct val="100000"/>
              <a:buAutoNum type="arabicParenBoth"/>
            </a:pPr>
            <a:r>
              <a:rPr lang="zh-TW" altLang="en-US" sz="2000" dirty="0">
                <a:latin typeface="+mn-lt"/>
              </a:rPr>
              <a:t>學歷證書</a:t>
            </a:r>
            <a:endParaRPr lang="en-US" altLang="zh-TW" sz="2000" dirty="0">
              <a:latin typeface="+mn-lt"/>
            </a:endParaRPr>
          </a:p>
          <a:p>
            <a:pPr marL="1257300" lvl="2" indent="-342900">
              <a:buSzPct val="100000"/>
              <a:buAutoNum type="arabicParenBoth"/>
            </a:pPr>
            <a:r>
              <a:rPr lang="zh-TW" altLang="en-US" sz="2000" dirty="0">
                <a:latin typeface="+mn-lt"/>
              </a:rPr>
              <a:t>管理報告的範本</a:t>
            </a:r>
            <a:endParaRPr lang="en-US" altLang="zh-TW" sz="2000" dirty="0">
              <a:latin typeface="+mn-lt"/>
            </a:endParaRPr>
          </a:p>
          <a:p>
            <a:pPr marL="1257300" lvl="2" indent="-342900">
              <a:buSzPct val="100000"/>
              <a:buAutoNum type="arabicParenBoth"/>
            </a:pPr>
            <a:r>
              <a:rPr lang="zh-TW" altLang="en-US" sz="2000" dirty="0">
                <a:latin typeface="+mn-lt"/>
              </a:rPr>
              <a:t>包含目錄的使用說明書</a:t>
            </a:r>
            <a:r>
              <a:rPr lang="en-US" sz="2000" dirty="0">
                <a:latin typeface="+mn-lt"/>
              </a:rPr>
              <a:t/>
            </a:r>
            <a:br>
              <a:rPr lang="en-US" sz="2000" dirty="0">
                <a:latin typeface="+mn-lt"/>
              </a:rPr>
            </a:br>
            <a:endParaRPr lang="en-US" sz="2000" dirty="0">
              <a:latin typeface="+mn-lt"/>
            </a:endParaRPr>
          </a:p>
          <a:p>
            <a:pPr marL="800100" lvl="1" indent="-342900">
              <a:buSzPct val="100000"/>
              <a:buAutoNum type="alphaUcPeriod"/>
            </a:pPr>
            <a:r>
              <a:rPr lang="zh-TW" altLang="en-US" sz="2000" dirty="0">
                <a:latin typeface="+mn-lt"/>
              </a:rPr>
              <a:t>只有 </a:t>
            </a:r>
            <a:r>
              <a:rPr lang="en-HK" sz="2000" dirty="0">
                <a:latin typeface="+mn-lt"/>
              </a:rPr>
              <a:t>(1) </a:t>
            </a:r>
          </a:p>
          <a:p>
            <a:pPr marL="800100" lvl="1" indent="-342900">
              <a:buSzPct val="100000"/>
              <a:buAutoNum type="alphaUcPeriod"/>
            </a:pPr>
            <a:r>
              <a:rPr lang="zh-TW" altLang="en-US" sz="2000" dirty="0">
                <a:latin typeface="+mn-lt"/>
              </a:rPr>
              <a:t>只有 </a:t>
            </a:r>
            <a:r>
              <a:rPr lang="en-HK" sz="2000" dirty="0">
                <a:latin typeface="+mn-lt"/>
              </a:rPr>
              <a:t>(2) </a:t>
            </a:r>
          </a:p>
          <a:p>
            <a:pPr marL="800100" lvl="1" indent="-342900">
              <a:buSzPct val="100000"/>
              <a:buAutoNum type="alphaUcPeriod"/>
            </a:pPr>
            <a:r>
              <a:rPr lang="zh-TW" altLang="en-US" sz="2000" dirty="0">
                <a:latin typeface="+mn-lt"/>
              </a:rPr>
              <a:t>只有 </a:t>
            </a:r>
            <a:r>
              <a:rPr lang="en-HK" sz="2000" dirty="0">
                <a:latin typeface="+mn-lt"/>
              </a:rPr>
              <a:t>(1) </a:t>
            </a:r>
            <a:r>
              <a:rPr lang="zh-TW" altLang="en-US" sz="2000" dirty="0">
                <a:latin typeface="+mn-lt"/>
              </a:rPr>
              <a:t>和</a:t>
            </a:r>
            <a:r>
              <a:rPr lang="en-HK" sz="2000" dirty="0">
                <a:latin typeface="+mn-lt"/>
              </a:rPr>
              <a:t> (3) </a:t>
            </a:r>
          </a:p>
          <a:p>
            <a:pPr marL="800100" lvl="1" indent="-342900">
              <a:buSzPct val="100000"/>
              <a:buAutoNum type="alphaUcPeriod"/>
            </a:pPr>
            <a:r>
              <a:rPr lang="zh-TW" altLang="en-US" sz="2000" dirty="0">
                <a:latin typeface="+mn-lt"/>
              </a:rPr>
              <a:t>只有 </a:t>
            </a:r>
            <a:r>
              <a:rPr lang="en-HK" sz="2000" dirty="0">
                <a:latin typeface="+mn-lt"/>
              </a:rPr>
              <a:t>(2) </a:t>
            </a:r>
            <a:r>
              <a:rPr lang="zh-TW" altLang="en-US" sz="2000" dirty="0">
                <a:latin typeface="+mn-lt"/>
              </a:rPr>
              <a:t>和</a:t>
            </a:r>
            <a:r>
              <a:rPr lang="en-HK" sz="2000" dirty="0">
                <a:latin typeface="+mn-lt"/>
              </a:rPr>
              <a:t> (3)</a:t>
            </a:r>
            <a:endParaRPr lang="en-US" sz="2000" dirty="0">
              <a:latin typeface="+mn-lt"/>
            </a:endParaRPr>
          </a:p>
          <a:p>
            <a:pPr marL="457200" indent="-457200">
              <a:buFont typeface="+mj-lt"/>
              <a:buAutoNum type="arabicPeriod"/>
            </a:pP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119</a:t>
            </a:fld>
            <a:endParaRPr lang="en-US" dirty="0"/>
          </a:p>
        </p:txBody>
      </p:sp>
      <p:sp>
        <p:nvSpPr>
          <p:cNvPr id="7" name="文字版面配置區 6"/>
          <p:cNvSpPr>
            <a:spLocks noGrp="1"/>
          </p:cNvSpPr>
          <p:nvPr>
            <p:ph type="body" sz="quarter" idx="13"/>
          </p:nvPr>
        </p:nvSpPr>
        <p:spPr/>
        <p:txBody>
          <a:bodyPr/>
          <a:lstStyle/>
          <a:p>
            <a:r>
              <a:rPr lang="en-US" dirty="0"/>
              <a:t>3.7</a:t>
            </a:r>
            <a:endParaRPr lang="en-GB" dirty="0"/>
          </a:p>
        </p:txBody>
      </p:sp>
    </p:spTree>
    <p:extLst>
      <p:ext uri="{BB962C8B-B14F-4D97-AF65-F5344CB8AC3E}">
        <p14:creationId xmlns:p14="http://schemas.microsoft.com/office/powerpoint/2010/main" val="14666549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就第 </a:t>
            </a:r>
            <a:r>
              <a:rPr lang="en-US" altLang="zh-TW" dirty="0">
                <a:latin typeface="+mn-lt"/>
              </a:rPr>
              <a:t>(1) </a:t>
            </a:r>
            <a:r>
              <a:rPr lang="zh-TW" altLang="en-US" dirty="0">
                <a:latin typeface="+mn-lt"/>
              </a:rPr>
              <a:t>項而言，</a:t>
            </a:r>
            <a:r>
              <a:rPr lang="en-US" altLang="zh-TW" dirty="0">
                <a:latin typeface="+mn-lt"/>
              </a:rPr>
              <a:t>PDF </a:t>
            </a:r>
            <a:r>
              <a:rPr lang="zh-TW" altLang="en-US" dirty="0">
                <a:latin typeface="+mn-lt"/>
              </a:rPr>
              <a:t>格式提供一致的排版樣式，使學歷證書可在任何設備上保持其真實外觀，並且可以打印出相同的副本。</a:t>
            </a:r>
          </a:p>
          <a:p>
            <a:r>
              <a:rPr lang="zh-TW" altLang="en-US" dirty="0">
                <a:latin typeface="+mn-lt"/>
              </a:rPr>
              <a:t>就第 </a:t>
            </a:r>
            <a:r>
              <a:rPr lang="en-US" altLang="zh-TW" dirty="0">
                <a:latin typeface="+mn-lt"/>
              </a:rPr>
              <a:t>(2) </a:t>
            </a:r>
            <a:r>
              <a:rPr lang="zh-TW" altLang="en-US" dirty="0">
                <a:latin typeface="+mn-lt"/>
              </a:rPr>
              <a:t>項而言，管理報告的範本需要多次複製和編輯。由於範本中未有內容，檔案的排版樣式並未有定案。</a:t>
            </a:r>
            <a:r>
              <a:rPr lang="en-US" altLang="zh-TW" dirty="0">
                <a:latin typeface="+mn-lt"/>
              </a:rPr>
              <a:t>DOCX </a:t>
            </a:r>
            <a:r>
              <a:rPr lang="zh-TW" altLang="en-US" dirty="0">
                <a:latin typeface="+mn-lt"/>
              </a:rPr>
              <a:t>格式便更適合編輯。報告只應在完成後匯出為 </a:t>
            </a:r>
            <a:r>
              <a:rPr lang="en-US" altLang="zh-TW" dirty="0">
                <a:latin typeface="+mn-lt"/>
              </a:rPr>
              <a:t>PDF </a:t>
            </a:r>
            <a:r>
              <a:rPr lang="zh-TW" altLang="en-US" dirty="0">
                <a:latin typeface="+mn-lt"/>
              </a:rPr>
              <a:t>檔案。</a:t>
            </a:r>
          </a:p>
          <a:p>
            <a:r>
              <a:rPr lang="zh-TW" altLang="en-US" dirty="0">
                <a:latin typeface="+mn-lt"/>
              </a:rPr>
              <a:t>就第 </a:t>
            </a:r>
            <a:r>
              <a:rPr lang="en-US" altLang="zh-TW" dirty="0">
                <a:latin typeface="+mn-lt"/>
              </a:rPr>
              <a:t>(3) </a:t>
            </a:r>
            <a:r>
              <a:rPr lang="zh-TW" altLang="en-US" dirty="0">
                <a:latin typeface="+mn-lt"/>
              </a:rPr>
              <a:t>項而言，</a:t>
            </a:r>
            <a:r>
              <a:rPr lang="en-US" altLang="zh-TW" dirty="0">
                <a:latin typeface="+mn-lt"/>
              </a:rPr>
              <a:t>PDF </a:t>
            </a:r>
            <a:r>
              <a:rPr lang="zh-TW" altLang="en-US" dirty="0">
                <a:latin typeface="+mn-lt"/>
              </a:rPr>
              <a:t>格式提供一致的排版樣式，確保了使用說明書中的文本和圖像不會在任何設備上出現錯位的情況。如果其中任何內容放錯位置，便可能會影響頁碼，使目錄變得不準確。</a:t>
            </a:r>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C</a:t>
            </a:r>
            <a:r>
              <a:rPr lang="zh-TW" altLang="en-US" dirty="0">
                <a:latin typeface="+mn-lt"/>
              </a:rPr>
              <a:t>。</a:t>
            </a:r>
            <a:endParaRPr lang="en-GB"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120</a:t>
            </a:fld>
            <a:endParaRPr lang="en-US" dirty="0"/>
          </a:p>
        </p:txBody>
      </p:sp>
      <p:sp>
        <p:nvSpPr>
          <p:cNvPr id="4" name="文字版面配置區 3"/>
          <p:cNvSpPr>
            <a:spLocks noGrp="1"/>
          </p:cNvSpPr>
          <p:nvPr>
            <p:ph type="body" sz="quarter" idx="13"/>
          </p:nvPr>
        </p:nvSpPr>
        <p:spPr/>
        <p:txBody>
          <a:bodyPr/>
          <a:lstStyle/>
          <a:p>
            <a:r>
              <a:rPr lang="en-US" dirty="0"/>
              <a:t>3.4</a:t>
            </a:r>
            <a:endParaRPr lang="en-GB" dirty="0"/>
          </a:p>
        </p:txBody>
      </p:sp>
    </p:spTree>
    <p:extLst>
      <p:ext uri="{BB962C8B-B14F-4D97-AF65-F5344CB8AC3E}">
        <p14:creationId xmlns:p14="http://schemas.microsoft.com/office/powerpoint/2010/main" val="25445322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108 </a:t>
            </a:r>
            <a:r>
              <a:rPr lang="zh-TW" altLang="en-US" dirty="0">
                <a:latin typeface="+mn-lt"/>
              </a:rPr>
              <a:t>頁的測試站 </a:t>
            </a:r>
            <a:r>
              <a:rPr lang="en-US" altLang="zh-TW" dirty="0">
                <a:latin typeface="+mn-lt"/>
              </a:rPr>
              <a:t>3.7</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en-HK" dirty="0">
                <a:solidFill>
                  <a:srgbClr val="FF0000"/>
                </a:solidFill>
                <a:latin typeface="+mn-lt"/>
              </a:rPr>
              <a:t>D</a:t>
            </a:r>
          </a:p>
          <a:p>
            <a:pPr marL="457200" indent="-457200">
              <a:buAutoNum type="arabicPeriod"/>
            </a:pPr>
            <a:r>
              <a:rPr lang="en-HK" dirty="0">
                <a:solidFill>
                  <a:srgbClr val="FF0000"/>
                </a:solidFill>
                <a:latin typeface="+mn-lt"/>
              </a:rPr>
              <a:t>D</a:t>
            </a:r>
            <a:endParaRPr lang="en-US" dirty="0">
              <a:solidFill>
                <a:srgbClr val="FF0000"/>
              </a:solidFill>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121</a:t>
            </a:fld>
            <a:endParaRPr lang="en-US" dirty="0"/>
          </a:p>
        </p:txBody>
      </p:sp>
      <p:sp>
        <p:nvSpPr>
          <p:cNvPr id="6" name="文字版面配置區 5"/>
          <p:cNvSpPr>
            <a:spLocks noGrp="1"/>
          </p:cNvSpPr>
          <p:nvPr>
            <p:ph type="body" sz="quarter" idx="13"/>
          </p:nvPr>
        </p:nvSpPr>
        <p:spPr/>
        <p:txBody>
          <a:bodyPr/>
          <a:lstStyle/>
          <a:p>
            <a:r>
              <a:rPr lang="en-US" dirty="0"/>
              <a:t>3.7</a:t>
            </a:r>
            <a:endParaRPr lang="en-GB" dirty="0"/>
          </a:p>
        </p:txBody>
      </p:sp>
    </p:spTree>
    <p:extLst>
      <p:ext uri="{BB962C8B-B14F-4D97-AF65-F5344CB8AC3E}">
        <p14:creationId xmlns:p14="http://schemas.microsoft.com/office/powerpoint/2010/main" val="3898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118;p19"/>
          <p:cNvPicPr preferRelativeResize="0"/>
          <p:nvPr/>
        </p:nvPicPr>
        <p:blipFill rotWithShape="1">
          <a:blip r:embed="rId2">
            <a:alphaModFix/>
          </a:blip>
          <a:srcRect b="315"/>
          <a:stretch/>
        </p:blipFill>
        <p:spPr>
          <a:xfrm>
            <a:off x="7940749" y="2959331"/>
            <a:ext cx="4252451" cy="3522432"/>
          </a:xfrm>
          <a:prstGeom prst="rect">
            <a:avLst/>
          </a:prstGeom>
          <a:noFill/>
          <a:ln>
            <a:noFill/>
          </a:ln>
        </p:spPr>
      </p:pic>
      <p:sp>
        <p:nvSpPr>
          <p:cNvPr id="5" name="標題 4"/>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122</a:t>
            </a:fld>
            <a:endParaRPr lang="en-US" dirty="0"/>
          </a:p>
        </p:txBody>
      </p:sp>
      <p:sp>
        <p:nvSpPr>
          <p:cNvPr id="6" name="文字版面配置區 5"/>
          <p:cNvSpPr>
            <a:spLocks noGrp="1"/>
          </p:cNvSpPr>
          <p:nvPr>
            <p:ph type="body" sz="quarter" idx="14"/>
          </p:nvPr>
        </p:nvSpPr>
        <p:spPr/>
        <p:txBody>
          <a:bodyPr/>
          <a:lstStyle/>
          <a:p>
            <a:r>
              <a:rPr lang="en-US" dirty="0"/>
              <a:t>B</a:t>
            </a:r>
            <a:endParaRPr lang="en-GB" dirty="0"/>
          </a:p>
        </p:txBody>
      </p:sp>
      <p:sp>
        <p:nvSpPr>
          <p:cNvPr id="7" name="內容版面配置區 6"/>
          <p:cNvSpPr>
            <a:spLocks noGrp="1"/>
          </p:cNvSpPr>
          <p:nvPr>
            <p:ph sz="quarter" idx="15"/>
          </p:nvPr>
        </p:nvSpPr>
        <p:spPr/>
        <p:txBody>
          <a:bodyPr/>
          <a:lstStyle/>
          <a:p>
            <a:r>
              <a:rPr lang="zh-TW" altLang="en-US" dirty="0"/>
              <a:t>圖像可分為兩類：</a:t>
            </a:r>
            <a:endParaRPr lang="en-US" altLang="zh-TW" dirty="0"/>
          </a:p>
          <a:p>
            <a:endParaRPr lang="en-US" dirty="0"/>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點陣圖</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endParaRPr lang="en-US"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向量圖</a:t>
            </a:r>
            <a:endParaRPr lang="en-GB" dirty="0">
              <a:solidFill>
                <a:srgbClr val="595A96"/>
              </a:solidFill>
              <a:latin typeface="Noto Sans CJK TC Bold" panose="020B0800000000000000" pitchFamily="34" charset="-128"/>
              <a:ea typeface="Noto Sans CJK TC Bold" panose="020B0800000000000000" pitchFamily="34" charset="-128"/>
            </a:endParaRPr>
          </a:p>
        </p:txBody>
      </p:sp>
      <p:pic>
        <p:nvPicPr>
          <p:cNvPr id="8" name="Google Shape;119;p19"/>
          <p:cNvPicPr preferRelativeResize="0"/>
          <p:nvPr/>
        </p:nvPicPr>
        <p:blipFill>
          <a:blip r:embed="rId3">
            <a:alphaModFix/>
          </a:blip>
          <a:stretch>
            <a:fillRect/>
          </a:stretch>
        </p:blipFill>
        <p:spPr>
          <a:xfrm flipH="1">
            <a:off x="-128337" y="4164676"/>
            <a:ext cx="3162150" cy="2693324"/>
          </a:xfrm>
          <a:prstGeom prst="rect">
            <a:avLst/>
          </a:prstGeom>
          <a:noFill/>
          <a:ln>
            <a:noFill/>
          </a:ln>
        </p:spPr>
      </p:pic>
    </p:spTree>
    <p:extLst>
      <p:ext uri="{BB962C8B-B14F-4D97-AF65-F5344CB8AC3E}">
        <p14:creationId xmlns:p14="http://schemas.microsoft.com/office/powerpoint/2010/main" val="9339696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123</a:t>
            </a:fld>
            <a:endParaRPr lang="en-US" dirty="0"/>
          </a:p>
        </p:txBody>
      </p:sp>
      <p:sp>
        <p:nvSpPr>
          <p:cNvPr id="4" name="文字版面配置區 3"/>
          <p:cNvSpPr>
            <a:spLocks noGrp="1"/>
          </p:cNvSpPr>
          <p:nvPr>
            <p:ph type="body" sz="quarter" idx="14"/>
          </p:nvPr>
        </p:nvSpPr>
        <p:spPr/>
        <p:txBody>
          <a:bodyPr/>
          <a:lstStyle/>
          <a:p>
            <a:r>
              <a:rPr lang="en-US" altLang="zh-TW" dirty="0"/>
              <a:t>B</a:t>
            </a:r>
            <a:endParaRPr lang="en-GB" dirty="0"/>
          </a:p>
        </p:txBody>
      </p:sp>
      <p:sp>
        <p:nvSpPr>
          <p:cNvPr id="5" name="內容版面配置區 4"/>
          <p:cNvSpPr>
            <a:spLocks noGrp="1"/>
          </p:cNvSpPr>
          <p:nvPr>
            <p:ph sz="quarter" idx="15"/>
          </p:nvPr>
        </p:nvSpPr>
        <p:spPr/>
        <p:txBody>
          <a:bodyPr/>
          <a:lstStyle/>
          <a:p>
            <a:r>
              <a:rPr lang="zh-TW" altLang="en-US" dirty="0">
                <a:latin typeface="+mn-lt"/>
                <a:ea typeface="Noto Sans CJK TC Bold" panose="020B0800000000000000" pitchFamily="34" charset="-128"/>
              </a:rPr>
              <a:t>點陣圖</a:t>
            </a:r>
            <a:endParaRPr lang="en-US" altLang="zh-TW" dirty="0">
              <a:latin typeface="+mn-lt"/>
              <a:ea typeface="Noto Sans CJK TC Bold" panose="020B0800000000000000" pitchFamily="34" charset="-128"/>
            </a:endParaRPr>
          </a:p>
          <a:p>
            <a:endParaRPr lang="en-US" altLang="zh-TW" dirty="0">
              <a:latin typeface="+mn-lt"/>
              <a:ea typeface="Noto Sans CJK TC Bold" panose="020B0800000000000000" pitchFamily="34" charset="-128"/>
            </a:endParaRPr>
          </a:p>
          <a:p>
            <a:pPr marL="342900" indent="-342900">
              <a:buFont typeface="Arial" panose="020B0604020202020204" pitchFamily="34" charset="0"/>
              <a:buChar char="•"/>
            </a:pPr>
            <a:r>
              <a:rPr lang="zh-TW" altLang="en-US" dirty="0">
                <a:latin typeface="+mn-lt"/>
              </a:rPr>
              <a:t>儲存為一系列稱為</a:t>
            </a:r>
            <a:r>
              <a:rPr lang="zh-TW" altLang="en-US" dirty="0">
                <a:solidFill>
                  <a:srgbClr val="595A96"/>
                </a:solidFill>
                <a:latin typeface="+mn-lt"/>
                <a:ea typeface="Noto Sans CJK TC Bold" panose="020B0800000000000000" pitchFamily="34" charset="-128"/>
              </a:rPr>
              <a:t>像素</a:t>
            </a:r>
            <a:r>
              <a:rPr lang="zh-TW" altLang="en-US" dirty="0">
                <a:latin typeface="+mn-lt"/>
              </a:rPr>
              <a:t>的小正方形</a:t>
            </a:r>
            <a:endParaRPr lang="en-US" altLang="zh-TW" dirty="0">
              <a:latin typeface="+mn-lt"/>
            </a:endParaRPr>
          </a:p>
          <a:p>
            <a:pPr marL="342900" indent="-342900">
              <a:buFont typeface="Arial" panose="020B0604020202020204" pitchFamily="34" charset="0"/>
              <a:buChar char="•"/>
            </a:pPr>
            <a:r>
              <a:rPr lang="zh-TW" altLang="en-US" dirty="0">
                <a:latin typeface="+mn-lt"/>
              </a:rPr>
              <a:t>可以用常見的圖像編輯軟件（如 </a:t>
            </a:r>
            <a:r>
              <a:rPr lang="en-US" altLang="zh-TW" dirty="0">
                <a:latin typeface="+mn-lt"/>
              </a:rPr>
              <a:t>Microsoft </a:t>
            </a:r>
            <a:r>
              <a:rPr lang="zh-TW" altLang="en-US" dirty="0">
                <a:latin typeface="+mn-lt"/>
              </a:rPr>
              <a:t>小畫家）編輯。</a:t>
            </a:r>
            <a:endParaRPr lang="en-US" altLang="zh-TW" dirty="0">
              <a:latin typeface="+mn-lt"/>
            </a:endParaRPr>
          </a:p>
          <a:p>
            <a:pPr marL="342900" indent="-342900">
              <a:buFont typeface="Arial" panose="020B0604020202020204" pitchFamily="34" charset="0"/>
              <a:buChar char="•"/>
            </a:pPr>
            <a:r>
              <a:rPr lang="zh-TW" altLang="en-US" dirty="0">
                <a:latin typeface="+mn-lt"/>
              </a:rPr>
              <a:t>未經壓縮的點陣圖之檔案大小：</a:t>
            </a:r>
            <a:r>
              <a:rPr lang="en-GB" altLang="zh-TW" dirty="0">
                <a:latin typeface="+mn-lt"/>
              </a:rPr>
              <a:t/>
            </a:r>
            <a:br>
              <a:rPr lang="en-GB" altLang="zh-TW" dirty="0">
                <a:latin typeface="+mn-lt"/>
              </a:rPr>
            </a:br>
            <a:r>
              <a:rPr lang="en-GB" altLang="zh-TW" dirty="0">
                <a:latin typeface="+mn-lt"/>
              </a:rPr>
              <a:t>	</a:t>
            </a:r>
            <a:r>
              <a:rPr lang="zh-TW" altLang="en-US" u="sng" dirty="0">
                <a:latin typeface="+mn-lt"/>
              </a:rPr>
              <a:t>色深 </a:t>
            </a:r>
            <a:r>
              <a:rPr lang="en-US" u="sng" dirty="0">
                <a:latin typeface="+mn-lt"/>
              </a:rPr>
              <a:t>× </a:t>
            </a:r>
            <a:r>
              <a:rPr lang="zh-TW" altLang="en-US" u="sng" dirty="0">
                <a:latin typeface="+mn-lt"/>
              </a:rPr>
              <a:t>解像度</a:t>
            </a:r>
            <a:endParaRPr lang="en-US" altLang="zh-TW" u="sng" dirty="0">
              <a:latin typeface="+mn-lt"/>
            </a:endParaRPr>
          </a:p>
        </p:txBody>
      </p:sp>
      <p:pic>
        <p:nvPicPr>
          <p:cNvPr id="6" name="Google Shape;129;p20"/>
          <p:cNvPicPr preferRelativeResize="0"/>
          <p:nvPr/>
        </p:nvPicPr>
        <p:blipFill>
          <a:blip r:embed="rId2">
            <a:alphaModFix/>
          </a:blip>
          <a:stretch>
            <a:fillRect/>
          </a:stretch>
        </p:blipFill>
        <p:spPr>
          <a:xfrm rot="1240396">
            <a:off x="9447842" y="3136452"/>
            <a:ext cx="1842701" cy="1802138"/>
          </a:xfrm>
          <a:prstGeom prst="rect">
            <a:avLst/>
          </a:prstGeom>
          <a:noFill/>
          <a:ln>
            <a:noFill/>
          </a:ln>
        </p:spPr>
      </p:pic>
      <p:pic>
        <p:nvPicPr>
          <p:cNvPr id="7" name="Google Shape;129;p20"/>
          <p:cNvPicPr preferRelativeResize="0"/>
          <p:nvPr/>
        </p:nvPicPr>
        <p:blipFill>
          <a:blip r:embed="rId2">
            <a:alphaModFix/>
          </a:blip>
          <a:stretch>
            <a:fillRect/>
          </a:stretch>
        </p:blipFill>
        <p:spPr>
          <a:xfrm rot="19132129">
            <a:off x="8990438" y="2181996"/>
            <a:ext cx="1150636" cy="1125307"/>
          </a:xfrm>
          <a:prstGeom prst="rect">
            <a:avLst/>
          </a:prstGeom>
          <a:noFill/>
          <a:ln>
            <a:noFill/>
          </a:ln>
        </p:spPr>
      </p:pic>
      <p:pic>
        <p:nvPicPr>
          <p:cNvPr id="8" name="Google Shape;129;p20"/>
          <p:cNvPicPr preferRelativeResize="0"/>
          <p:nvPr/>
        </p:nvPicPr>
        <p:blipFill>
          <a:blip r:embed="rId2">
            <a:alphaModFix/>
          </a:blip>
          <a:stretch>
            <a:fillRect/>
          </a:stretch>
        </p:blipFill>
        <p:spPr>
          <a:xfrm rot="862739">
            <a:off x="10298156" y="1596905"/>
            <a:ext cx="706587" cy="691033"/>
          </a:xfrm>
          <a:prstGeom prst="rect">
            <a:avLst/>
          </a:prstGeom>
          <a:noFill/>
          <a:ln>
            <a:noFill/>
          </a:ln>
        </p:spPr>
      </p:pic>
    </p:spTree>
    <p:extLst>
      <p:ext uri="{BB962C8B-B14F-4D97-AF65-F5344CB8AC3E}">
        <p14:creationId xmlns:p14="http://schemas.microsoft.com/office/powerpoint/2010/main" val="35982163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124</a:t>
            </a:fld>
            <a:endParaRPr lang="en-US" dirty="0"/>
          </a:p>
        </p:txBody>
      </p:sp>
      <p:sp>
        <p:nvSpPr>
          <p:cNvPr id="4" name="文字版面配置區 3"/>
          <p:cNvSpPr>
            <a:spLocks noGrp="1"/>
          </p:cNvSpPr>
          <p:nvPr>
            <p:ph type="body" sz="quarter" idx="14"/>
          </p:nvPr>
        </p:nvSpPr>
        <p:spPr/>
        <p:txBody>
          <a:bodyPr/>
          <a:lstStyle/>
          <a:p>
            <a:r>
              <a:rPr lang="en-US" altLang="zh-TW" dirty="0"/>
              <a:t>B</a:t>
            </a:r>
            <a:endParaRPr lang="en-GB" dirty="0"/>
          </a:p>
        </p:txBody>
      </p:sp>
      <p:sp>
        <p:nvSpPr>
          <p:cNvPr id="5" name="內容版面配置區 4"/>
          <p:cNvSpPr>
            <a:spLocks noGrp="1"/>
          </p:cNvSpPr>
          <p:nvPr>
            <p:ph sz="quarter" idx="15"/>
          </p:nvPr>
        </p:nvSpPr>
        <p:spPr/>
        <p:txBody>
          <a:bodyPr/>
          <a:lstStyle/>
          <a:p>
            <a:r>
              <a:rPr lang="zh-TW" altLang="en-US" dirty="0">
                <a:latin typeface="Noto Sans CJK TC Bold" panose="020B0800000000000000" pitchFamily="34" charset="-128"/>
                <a:ea typeface="Noto Sans CJK TC Bold" panose="020B0800000000000000" pitchFamily="34" charset="-128"/>
              </a:rPr>
              <a:t>向量圖</a:t>
            </a:r>
            <a:endParaRPr lang="en-US" altLang="zh-TW" dirty="0">
              <a:latin typeface="Noto Sans CJK TC Bold" panose="020B0800000000000000" pitchFamily="34" charset="-128"/>
              <a:ea typeface="Noto Sans CJK TC Bold" panose="020B0800000000000000" pitchFamily="34" charset="-128"/>
            </a:endParaRPr>
          </a:p>
          <a:p>
            <a:endParaRPr lang="en-US" altLang="zh-TW" dirty="0"/>
          </a:p>
          <a:p>
            <a:pPr marL="342900" indent="-342900">
              <a:lnSpc>
                <a:spcPct val="100000"/>
              </a:lnSpc>
              <a:buFont typeface="Arial" panose="020B0604020202020204" pitchFamily="34" charset="0"/>
              <a:buChar char="•"/>
            </a:pPr>
            <a:r>
              <a:rPr lang="zh-TW" altLang="en-US" dirty="0"/>
              <a:t>以數學公式的形式儲存</a:t>
            </a:r>
            <a:endParaRPr lang="en-US" altLang="zh-TW" dirty="0"/>
          </a:p>
          <a:p>
            <a:pPr marL="342900" indent="-342900">
              <a:lnSpc>
                <a:spcPct val="100000"/>
              </a:lnSpc>
              <a:buFont typeface="Arial" panose="020B0604020202020204" pitchFamily="34" charset="0"/>
              <a:buChar char="•"/>
            </a:pPr>
            <a:endParaRPr lang="en-US" altLang="zh-TW" dirty="0"/>
          </a:p>
          <a:p>
            <a:pPr marL="342900" indent="-342900">
              <a:lnSpc>
                <a:spcPct val="100000"/>
              </a:lnSpc>
              <a:buFont typeface="Arial" panose="020B0604020202020204" pitchFamily="34" charset="0"/>
              <a:buChar char="•"/>
            </a:pPr>
            <a:r>
              <a:rPr lang="zh-TW" altLang="en-US" dirty="0"/>
              <a:t>檔案大小較小</a:t>
            </a:r>
            <a:endParaRPr lang="en-US" altLang="zh-TW" dirty="0"/>
          </a:p>
          <a:p>
            <a:pPr marL="342900" indent="-342900">
              <a:lnSpc>
                <a:spcPct val="100000"/>
              </a:lnSpc>
              <a:buFont typeface="Arial" panose="020B0604020202020204" pitchFamily="34" charset="0"/>
              <a:buChar char="•"/>
            </a:pPr>
            <a:endParaRPr lang="en-US" altLang="zh-TW" dirty="0"/>
          </a:p>
          <a:p>
            <a:pPr marL="342900" indent="-342900">
              <a:lnSpc>
                <a:spcPct val="100000"/>
              </a:lnSpc>
              <a:buFont typeface="Arial" panose="020B0604020202020204" pitchFamily="34" charset="0"/>
              <a:buChar char="•"/>
            </a:pPr>
            <a:r>
              <a:rPr lang="zh-TW" altLang="en-US" dirty="0"/>
              <a:t>縮放圖像時，它的邊緣不會顯得粗糙或變得模糊。</a:t>
            </a:r>
            <a:endParaRPr lang="en-US" altLang="zh-TW" dirty="0"/>
          </a:p>
          <a:p>
            <a:pPr marL="342900" indent="-342900">
              <a:buFont typeface="Arial" panose="020B0604020202020204" pitchFamily="34" charset="0"/>
              <a:buChar char="•"/>
            </a:pPr>
            <a:endParaRPr lang="en-GB" dirty="0"/>
          </a:p>
        </p:txBody>
      </p:sp>
      <p:pic>
        <p:nvPicPr>
          <p:cNvPr id="6" name="Picture 5"/>
          <p:cNvPicPr>
            <a:picLocks noChangeAspect="1"/>
          </p:cNvPicPr>
          <p:nvPr/>
        </p:nvPicPr>
        <p:blipFill>
          <a:blip r:embed="rId2"/>
          <a:stretch>
            <a:fillRect/>
          </a:stretch>
        </p:blipFill>
        <p:spPr>
          <a:xfrm>
            <a:off x="7770732" y="2217973"/>
            <a:ext cx="3768853" cy="2029830"/>
          </a:xfrm>
          <a:prstGeom prst="rect">
            <a:avLst/>
          </a:prstGeom>
        </p:spPr>
      </p:pic>
    </p:spTree>
    <p:extLst>
      <p:ext uri="{BB962C8B-B14F-4D97-AF65-F5344CB8AC3E}">
        <p14:creationId xmlns:p14="http://schemas.microsoft.com/office/powerpoint/2010/main" val="3086801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125</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色深</a:t>
            </a:r>
            <a:r>
              <a:rPr lang="zh-TW" altLang="en-US" dirty="0"/>
              <a:t>用於表示一個像素中顏色的位元數。</a:t>
            </a:r>
            <a:endParaRPr lang="en-US" altLang="zh-TW" dirty="0"/>
          </a:p>
          <a:p>
            <a:endParaRPr lang="en-US" altLang="zh-TW" dirty="0"/>
          </a:p>
          <a:p>
            <a:r>
              <a:rPr lang="zh-TW" altLang="en-US" dirty="0"/>
              <a:t>圖像的色深越高，可以包含的顏色就越多。</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763408466"/>
              </p:ext>
            </p:extLst>
          </p:nvPr>
        </p:nvGraphicFramePr>
        <p:xfrm>
          <a:off x="1918800" y="3299074"/>
          <a:ext cx="8236848" cy="2210186"/>
        </p:xfrm>
        <a:graphic>
          <a:graphicData uri="http://schemas.openxmlformats.org/drawingml/2006/table">
            <a:tbl>
              <a:tblPr firstRow="1" bandRow="1">
                <a:tableStyleId>{5940675A-B579-460E-94D1-54222C63F5DA}</a:tableStyleId>
              </a:tblPr>
              <a:tblGrid>
                <a:gridCol w="2059212">
                  <a:extLst>
                    <a:ext uri="{9D8B030D-6E8A-4147-A177-3AD203B41FA5}">
                      <a16:colId xmlns:a16="http://schemas.microsoft.com/office/drawing/2014/main" val="20000"/>
                    </a:ext>
                  </a:extLst>
                </a:gridCol>
                <a:gridCol w="2059212">
                  <a:extLst>
                    <a:ext uri="{9D8B030D-6E8A-4147-A177-3AD203B41FA5}">
                      <a16:colId xmlns:a16="http://schemas.microsoft.com/office/drawing/2014/main" val="20001"/>
                    </a:ext>
                  </a:extLst>
                </a:gridCol>
                <a:gridCol w="2059212">
                  <a:extLst>
                    <a:ext uri="{9D8B030D-6E8A-4147-A177-3AD203B41FA5}">
                      <a16:colId xmlns:a16="http://schemas.microsoft.com/office/drawing/2014/main" val="20002"/>
                    </a:ext>
                  </a:extLst>
                </a:gridCol>
                <a:gridCol w="2059212">
                  <a:extLst>
                    <a:ext uri="{9D8B030D-6E8A-4147-A177-3AD203B41FA5}">
                      <a16:colId xmlns:a16="http://schemas.microsoft.com/office/drawing/2014/main" val="20003"/>
                    </a:ext>
                  </a:extLst>
                </a:gridCol>
              </a:tblGrid>
              <a:tr h="396626">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1 </a:t>
                      </a:r>
                      <a:r>
                        <a:rPr lang="zh-TW" altLang="en-US" b="1" dirty="0">
                          <a:solidFill>
                            <a:schemeClr val="bg1"/>
                          </a:solidFill>
                          <a:latin typeface="Noto Sans CJK TC Bold" panose="020B0800000000000000" pitchFamily="34" charset="-128"/>
                          <a:ea typeface="Noto Sans CJK TC Bold" panose="020B0800000000000000" pitchFamily="34" charset="-128"/>
                        </a:rPr>
                        <a:t>位元顏色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3 </a:t>
                      </a:r>
                      <a:r>
                        <a:rPr lang="zh-TW" altLang="en-US" b="1" dirty="0">
                          <a:solidFill>
                            <a:schemeClr val="bg1"/>
                          </a:solidFill>
                          <a:latin typeface="Noto Sans CJK TC Bold" panose="020B0800000000000000" pitchFamily="34" charset="-128"/>
                          <a:ea typeface="Noto Sans CJK TC Bold" panose="020B0800000000000000" pitchFamily="34" charset="-128"/>
                        </a:rPr>
                        <a:t>位元灰階</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3 </a:t>
                      </a:r>
                      <a:r>
                        <a:rPr lang="zh-TW" altLang="en-US" b="1" dirty="0">
                          <a:solidFill>
                            <a:schemeClr val="bg1"/>
                          </a:solidFill>
                          <a:latin typeface="Noto Sans CJK TC Bold" panose="020B0800000000000000" pitchFamily="34" charset="-128"/>
                          <a:ea typeface="Noto Sans CJK TC Bold" panose="020B0800000000000000" pitchFamily="34" charset="-128"/>
                        </a:rPr>
                        <a:t>位元顏色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latin typeface="Noto Sans CJK TC Bold" panose="020B0800000000000000" pitchFamily="34" charset="-128"/>
                          <a:ea typeface="Noto Sans CJK TC Bold" panose="020B0800000000000000" pitchFamily="34" charset="-128"/>
                        </a:rPr>
                        <a:t>8 </a:t>
                      </a:r>
                      <a:r>
                        <a:rPr lang="zh-TW" altLang="en-US" b="1" dirty="0">
                          <a:solidFill>
                            <a:schemeClr val="bg1"/>
                          </a:solidFill>
                          <a:latin typeface="Noto Sans CJK TC Bold" panose="020B0800000000000000" pitchFamily="34" charset="-128"/>
                          <a:ea typeface="Noto Sans CJK TC Bold" panose="020B0800000000000000" pitchFamily="34" charset="-128"/>
                        </a:rPr>
                        <a:t>位元顏色</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813560">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990107" y="3844602"/>
            <a:ext cx="1940002" cy="1579072"/>
          </a:xfrm>
          <a:prstGeom prst="rect">
            <a:avLst/>
          </a:prstGeom>
        </p:spPr>
      </p:pic>
      <p:pic>
        <p:nvPicPr>
          <p:cNvPr id="8" name="Picture 7"/>
          <p:cNvPicPr>
            <a:picLocks noChangeAspect="1"/>
          </p:cNvPicPr>
          <p:nvPr/>
        </p:nvPicPr>
        <p:blipFill>
          <a:blip r:embed="rId3"/>
          <a:stretch>
            <a:fillRect/>
          </a:stretch>
        </p:blipFill>
        <p:spPr>
          <a:xfrm>
            <a:off x="4003372" y="3844603"/>
            <a:ext cx="1971951" cy="1579072"/>
          </a:xfrm>
          <a:prstGeom prst="rect">
            <a:avLst/>
          </a:prstGeom>
        </p:spPr>
      </p:pic>
      <p:pic>
        <p:nvPicPr>
          <p:cNvPr id="9" name="Picture 8"/>
          <p:cNvPicPr>
            <a:picLocks noChangeAspect="1"/>
          </p:cNvPicPr>
          <p:nvPr/>
        </p:nvPicPr>
        <p:blipFill>
          <a:blip r:embed="rId4"/>
          <a:stretch>
            <a:fillRect/>
          </a:stretch>
        </p:blipFill>
        <p:spPr>
          <a:xfrm>
            <a:off x="6114972" y="3847930"/>
            <a:ext cx="1945177" cy="1575744"/>
          </a:xfrm>
          <a:prstGeom prst="rect">
            <a:avLst/>
          </a:prstGeom>
        </p:spPr>
      </p:pic>
      <p:pic>
        <p:nvPicPr>
          <p:cNvPr id="10" name="Picture 9"/>
          <p:cNvPicPr>
            <a:picLocks noChangeAspect="1"/>
          </p:cNvPicPr>
          <p:nvPr/>
        </p:nvPicPr>
        <p:blipFill>
          <a:blip r:embed="rId5"/>
          <a:stretch>
            <a:fillRect/>
          </a:stretch>
        </p:blipFill>
        <p:spPr>
          <a:xfrm>
            <a:off x="8146458" y="3844602"/>
            <a:ext cx="2004206" cy="1579072"/>
          </a:xfrm>
          <a:prstGeom prst="rect">
            <a:avLst/>
          </a:prstGeom>
        </p:spPr>
      </p:pic>
    </p:spTree>
    <p:extLst>
      <p:ext uri="{BB962C8B-B14F-4D97-AF65-F5344CB8AC3E}">
        <p14:creationId xmlns:p14="http://schemas.microsoft.com/office/powerpoint/2010/main" val="9125916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126</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解像度 </a:t>
            </a:r>
            <a:r>
              <a:rPr lang="en-US" altLang="zh-TW" dirty="0">
                <a:solidFill>
                  <a:srgbClr val="595A96"/>
                </a:solidFill>
                <a:latin typeface="Noto Sans CJK TC Bold" panose="020B0800000000000000" pitchFamily="34" charset="-128"/>
                <a:ea typeface="Noto Sans CJK TC Bold" panose="020B0800000000000000" pitchFamily="34" charset="-128"/>
              </a:rPr>
              <a:t>/ </a:t>
            </a:r>
            <a:r>
              <a:rPr lang="zh-TW" altLang="en-US" dirty="0">
                <a:solidFill>
                  <a:srgbClr val="595A96"/>
                </a:solidFill>
                <a:latin typeface="Noto Sans CJK TC Bold" panose="020B0800000000000000" pitchFamily="34" charset="-128"/>
                <a:ea typeface="Noto Sans CJK TC Bold" panose="020B0800000000000000" pitchFamily="34" charset="-128"/>
              </a:rPr>
              <a:t>解析度</a:t>
            </a:r>
            <a:r>
              <a:rPr lang="zh-TW" altLang="en-US" dirty="0">
                <a:latin typeface="+mn-lt"/>
              </a:rPr>
              <a:t>是圖像中像素的總數。通常表現為「每行像素數 </a:t>
            </a:r>
            <a:r>
              <a:rPr lang="en-US" altLang="zh-TW" dirty="0">
                <a:latin typeface="+mn-lt"/>
              </a:rPr>
              <a:t>× </a:t>
            </a:r>
            <a:r>
              <a:rPr lang="zh-TW" altLang="en-US" dirty="0">
                <a:latin typeface="+mn-lt"/>
              </a:rPr>
              <a:t>每列像素數」，</a:t>
            </a:r>
            <a:r>
              <a:rPr lang="en-US" altLang="zh-TW" dirty="0">
                <a:latin typeface="+mn-lt"/>
              </a:rPr>
              <a:t/>
            </a:r>
            <a:br>
              <a:rPr lang="en-US" altLang="zh-TW" dirty="0">
                <a:latin typeface="+mn-lt"/>
              </a:rPr>
            </a:br>
            <a:r>
              <a:rPr lang="zh-TW" altLang="en-US" dirty="0">
                <a:latin typeface="+mn-lt"/>
              </a:rPr>
              <a:t>即「寬 </a:t>
            </a:r>
            <a:r>
              <a:rPr lang="en-US" altLang="zh-TW" dirty="0">
                <a:latin typeface="+mn-lt"/>
              </a:rPr>
              <a:t>× </a:t>
            </a:r>
            <a:r>
              <a:rPr lang="zh-TW" altLang="en-US" dirty="0">
                <a:latin typeface="+mn-lt"/>
              </a:rPr>
              <a:t>高」。</a:t>
            </a:r>
            <a:endParaRPr lang="en-US" altLang="zh-TW" dirty="0">
              <a:latin typeface="+mn-lt"/>
            </a:endParaRPr>
          </a:p>
          <a:p>
            <a:endParaRPr lang="en-US" dirty="0">
              <a:latin typeface="+mn-lt"/>
            </a:endParaRPr>
          </a:p>
          <a:p>
            <a:r>
              <a:rPr lang="zh-TW" altLang="en-US" dirty="0">
                <a:latin typeface="+mn-lt"/>
              </a:rPr>
              <a:t>解像度較高的圖像看起來會較清晰。</a:t>
            </a:r>
            <a:endParaRPr lang="en-GB"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1386544786"/>
              </p:ext>
            </p:extLst>
          </p:nvPr>
        </p:nvGraphicFramePr>
        <p:xfrm>
          <a:off x="3274080" y="3605260"/>
          <a:ext cx="5530482" cy="2390495"/>
        </p:xfrm>
        <a:graphic>
          <a:graphicData uri="http://schemas.openxmlformats.org/drawingml/2006/table">
            <a:tbl>
              <a:tblPr firstRow="1" bandRow="1">
                <a:tableStyleId>{5940675A-B579-460E-94D1-54222C63F5DA}</a:tableStyleId>
              </a:tblPr>
              <a:tblGrid>
                <a:gridCol w="2765241">
                  <a:extLst>
                    <a:ext uri="{9D8B030D-6E8A-4147-A177-3AD203B41FA5}">
                      <a16:colId xmlns:a16="http://schemas.microsoft.com/office/drawing/2014/main" val="20000"/>
                    </a:ext>
                  </a:extLst>
                </a:gridCol>
                <a:gridCol w="2765241">
                  <a:extLst>
                    <a:ext uri="{9D8B030D-6E8A-4147-A177-3AD203B41FA5}">
                      <a16:colId xmlns:a16="http://schemas.microsoft.com/office/drawing/2014/main" val="20001"/>
                    </a:ext>
                  </a:extLst>
                </a:gridCol>
              </a:tblGrid>
              <a:tr h="435382">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解像度高的圖像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解像度低的圖像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955113">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3447150" y="4100162"/>
            <a:ext cx="2457644" cy="1801151"/>
          </a:xfrm>
          <a:prstGeom prst="rect">
            <a:avLst/>
          </a:prstGeom>
        </p:spPr>
      </p:pic>
      <p:pic>
        <p:nvPicPr>
          <p:cNvPr id="8" name="Picture 7"/>
          <p:cNvPicPr>
            <a:picLocks noChangeAspect="1"/>
          </p:cNvPicPr>
          <p:nvPr/>
        </p:nvPicPr>
        <p:blipFill>
          <a:blip r:embed="rId3"/>
          <a:stretch>
            <a:fillRect/>
          </a:stretch>
        </p:blipFill>
        <p:spPr>
          <a:xfrm>
            <a:off x="6301231" y="4100162"/>
            <a:ext cx="2236632" cy="1879138"/>
          </a:xfrm>
          <a:prstGeom prst="rect">
            <a:avLst/>
          </a:prstGeom>
        </p:spPr>
      </p:pic>
    </p:spTree>
    <p:extLst>
      <p:ext uri="{BB962C8B-B14F-4D97-AF65-F5344CB8AC3E}">
        <p14:creationId xmlns:p14="http://schemas.microsoft.com/office/powerpoint/2010/main" val="18953615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127</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長寬比</a:t>
            </a:r>
            <a:r>
              <a:rPr lang="zh-TW" altLang="en-US" dirty="0"/>
              <a:t>即寬和高的比例。</a:t>
            </a:r>
            <a:endParaRPr lang="en-US" altLang="zh-TW" dirty="0"/>
          </a:p>
          <a:p>
            <a:r>
              <a:rPr lang="zh-TW" altLang="en-US" dirty="0"/>
              <a:t>更改圖像的長寬比可能會導致圖像出現</a:t>
            </a:r>
            <a:r>
              <a:rPr lang="zh-TW" altLang="en-US" dirty="0">
                <a:latin typeface="Noto Sans CJK TC Bold" panose="020B0800000000000000" pitchFamily="34" charset="-128"/>
                <a:ea typeface="Noto Sans CJK TC Bold" panose="020B0800000000000000" pitchFamily="34" charset="-128"/>
              </a:rPr>
              <a:t>空白</a:t>
            </a:r>
            <a:r>
              <a:rPr lang="zh-TW" altLang="en-US" dirty="0"/>
              <a:t>或</a:t>
            </a:r>
            <a:r>
              <a:rPr lang="zh-TW" altLang="en-US" dirty="0">
                <a:latin typeface="Noto Sans CJK TC Bold" panose="020B0800000000000000" pitchFamily="34" charset="-128"/>
                <a:ea typeface="Noto Sans CJK TC Bold" panose="020B0800000000000000" pitchFamily="34" charset="-128"/>
              </a:rPr>
              <a:t>被裁剪</a:t>
            </a:r>
            <a:r>
              <a:rPr lang="zh-TW" altLang="en-US" dirty="0"/>
              <a:t>。</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268142960"/>
              </p:ext>
            </p:extLst>
          </p:nvPr>
        </p:nvGraphicFramePr>
        <p:xfrm>
          <a:off x="954524" y="3037916"/>
          <a:ext cx="10729476" cy="3113502"/>
        </p:xfrm>
        <a:graphic>
          <a:graphicData uri="http://schemas.openxmlformats.org/drawingml/2006/table">
            <a:tbl>
              <a:tblPr firstRow="1" bandRow="1">
                <a:tableStyleId>{5940675A-B579-460E-94D1-54222C63F5DA}</a:tableStyleId>
              </a:tblPr>
              <a:tblGrid>
                <a:gridCol w="3576492">
                  <a:extLst>
                    <a:ext uri="{9D8B030D-6E8A-4147-A177-3AD203B41FA5}">
                      <a16:colId xmlns:a16="http://schemas.microsoft.com/office/drawing/2014/main" val="20000"/>
                    </a:ext>
                  </a:extLst>
                </a:gridCol>
                <a:gridCol w="3576492">
                  <a:extLst>
                    <a:ext uri="{9D8B030D-6E8A-4147-A177-3AD203B41FA5}">
                      <a16:colId xmlns:a16="http://schemas.microsoft.com/office/drawing/2014/main" val="20001"/>
                    </a:ext>
                  </a:extLst>
                </a:gridCol>
                <a:gridCol w="3576492">
                  <a:extLst>
                    <a:ext uri="{9D8B030D-6E8A-4147-A177-3AD203B41FA5}">
                      <a16:colId xmlns:a16="http://schemas.microsoft.com/office/drawing/2014/main" val="20002"/>
                    </a:ext>
                  </a:extLst>
                </a:gridCol>
              </a:tblGrid>
              <a:tr h="715634">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原如圖像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有空白處的圖像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經裁剪的圖像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2397868">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圖片 6"/>
          <p:cNvPicPr>
            <a:picLocks noChangeAspect="1"/>
          </p:cNvPicPr>
          <p:nvPr/>
        </p:nvPicPr>
        <p:blipFill>
          <a:blip r:embed="rId2"/>
          <a:stretch>
            <a:fillRect/>
          </a:stretch>
        </p:blipFill>
        <p:spPr>
          <a:xfrm>
            <a:off x="1146175" y="3949200"/>
            <a:ext cx="2838450" cy="2114550"/>
          </a:xfrm>
          <a:prstGeom prst="rect">
            <a:avLst/>
          </a:prstGeom>
        </p:spPr>
      </p:pic>
      <p:pic>
        <p:nvPicPr>
          <p:cNvPr id="8" name="圖片 7"/>
          <p:cNvPicPr>
            <a:picLocks noChangeAspect="1"/>
          </p:cNvPicPr>
          <p:nvPr/>
        </p:nvPicPr>
        <p:blipFill>
          <a:blip r:embed="rId3"/>
          <a:stretch>
            <a:fillRect/>
          </a:stretch>
        </p:blipFill>
        <p:spPr>
          <a:xfrm>
            <a:off x="4554567" y="3911100"/>
            <a:ext cx="3267075" cy="2152650"/>
          </a:xfrm>
          <a:prstGeom prst="rect">
            <a:avLst/>
          </a:prstGeom>
        </p:spPr>
      </p:pic>
      <p:pic>
        <p:nvPicPr>
          <p:cNvPr id="9" name="圖片 8"/>
          <p:cNvPicPr>
            <a:picLocks noChangeAspect="1"/>
          </p:cNvPicPr>
          <p:nvPr/>
        </p:nvPicPr>
        <p:blipFill>
          <a:blip r:embed="rId4"/>
          <a:stretch>
            <a:fillRect/>
          </a:stretch>
        </p:blipFill>
        <p:spPr>
          <a:xfrm>
            <a:off x="8115121" y="3949200"/>
            <a:ext cx="3524250" cy="2076450"/>
          </a:xfrm>
          <a:prstGeom prst="rect">
            <a:avLst/>
          </a:prstGeom>
        </p:spPr>
      </p:pic>
    </p:spTree>
    <p:extLst>
      <p:ext uri="{BB962C8B-B14F-4D97-AF65-F5344CB8AC3E}">
        <p14:creationId xmlns:p14="http://schemas.microsoft.com/office/powerpoint/2010/main" val="420594693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dirty="0">
                <a:latin typeface="+mn-lt"/>
              </a:rPr>
              <a:t>試比較課本第 </a:t>
            </a:r>
            <a:r>
              <a:rPr lang="en-US" altLang="zh-TW" dirty="0">
                <a:latin typeface="+mn-lt"/>
              </a:rPr>
              <a:t>112 </a:t>
            </a:r>
            <a:r>
              <a:rPr lang="zh-TW" altLang="en-US" dirty="0">
                <a:latin typeface="+mn-lt"/>
              </a:rPr>
              <a:t>頁的兩個顯示器所顯示的遊戲畫面。</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128</a:t>
            </a:fld>
            <a:endParaRPr lang="en-US" dirty="0"/>
          </a:p>
        </p:txBody>
      </p:sp>
      <p:sp>
        <p:nvSpPr>
          <p:cNvPr id="7" name="文字版面配置區 6"/>
          <p:cNvSpPr>
            <a:spLocks noGrp="1"/>
          </p:cNvSpPr>
          <p:nvPr>
            <p:ph type="body" sz="quarter" idx="13"/>
          </p:nvPr>
        </p:nvSpPr>
        <p:spPr/>
        <p:txBody>
          <a:bodyPr/>
          <a:lstStyle/>
          <a:p>
            <a:r>
              <a:rPr lang="en-US" dirty="0"/>
              <a:t>3.3</a:t>
            </a:r>
            <a:endParaRPr lang="en-GB" dirty="0"/>
          </a:p>
        </p:txBody>
      </p:sp>
      <p:graphicFrame>
        <p:nvGraphicFramePr>
          <p:cNvPr id="8" name="Table 4"/>
          <p:cNvGraphicFramePr>
            <a:graphicFrameLocks noGrp="1"/>
          </p:cNvGraphicFramePr>
          <p:nvPr>
            <p:extLst>
              <p:ext uri="{D42A27DB-BD31-4B8C-83A1-F6EECF244321}">
                <p14:modId xmlns:p14="http://schemas.microsoft.com/office/powerpoint/2010/main" val="369682933"/>
              </p:ext>
            </p:extLst>
          </p:nvPr>
        </p:nvGraphicFramePr>
        <p:xfrm>
          <a:off x="991663" y="2038636"/>
          <a:ext cx="10362136" cy="4096157"/>
        </p:xfrm>
        <a:graphic>
          <a:graphicData uri="http://schemas.openxmlformats.org/drawingml/2006/table">
            <a:tbl>
              <a:tblPr firstRow="1" bandRow="1">
                <a:tableStyleId>{5940675A-B579-460E-94D1-54222C63F5DA}</a:tableStyleId>
              </a:tblPr>
              <a:tblGrid>
                <a:gridCol w="5567079">
                  <a:extLst>
                    <a:ext uri="{9D8B030D-6E8A-4147-A177-3AD203B41FA5}">
                      <a16:colId xmlns:a16="http://schemas.microsoft.com/office/drawing/2014/main" val="20000"/>
                    </a:ext>
                  </a:extLst>
                </a:gridCol>
                <a:gridCol w="4795057">
                  <a:extLst>
                    <a:ext uri="{9D8B030D-6E8A-4147-A177-3AD203B41FA5}">
                      <a16:colId xmlns:a16="http://schemas.microsoft.com/office/drawing/2014/main" val="20001"/>
                    </a:ext>
                  </a:extLst>
                </a:gridCol>
              </a:tblGrid>
              <a:tr h="626006">
                <a:tc>
                  <a:txBody>
                    <a:bodyPr/>
                    <a:lstStyle/>
                    <a:p>
                      <a:pPr algn="ctr"/>
                      <a:r>
                        <a:rPr lang="en-HK" sz="2000" b="1" dirty="0">
                          <a:solidFill>
                            <a:schemeClr val="bg1"/>
                          </a:solidFill>
                          <a:latin typeface="+mn-lt"/>
                          <a:ea typeface="Noto Sans CJK TC Bold" panose="020B0800000000000000" pitchFamily="34" charset="-128"/>
                        </a:rPr>
                        <a:t>16:9</a:t>
                      </a:r>
                      <a:r>
                        <a:rPr lang="zh-TW" altLang="en-US" sz="2000" b="1" baseline="0" dirty="0">
                          <a:solidFill>
                            <a:schemeClr val="bg1"/>
                          </a:solidFill>
                          <a:latin typeface="+mn-lt"/>
                          <a:ea typeface="Noto Sans CJK TC Bold" panose="020B0800000000000000" pitchFamily="34" charset="-128"/>
                        </a:rPr>
                        <a:t> 顯示器</a:t>
                      </a:r>
                      <a:endParaRPr lang="en-US" sz="2000" b="1" dirty="0">
                        <a:solidFill>
                          <a:schemeClr val="bg1"/>
                        </a:solidFill>
                        <a:latin typeface="+mn-lt"/>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dirty="0">
                          <a:solidFill>
                            <a:schemeClr val="bg1"/>
                          </a:solidFill>
                          <a:latin typeface="+mn-lt"/>
                          <a:ea typeface="Noto Sans CJK TC Bold" panose="020B0800000000000000" pitchFamily="34" charset="-128"/>
                        </a:rPr>
                        <a:t>4:3 </a:t>
                      </a:r>
                      <a:r>
                        <a:rPr lang="zh-TW" altLang="en-US" sz="2000" b="1" baseline="0" dirty="0">
                          <a:solidFill>
                            <a:schemeClr val="bg1"/>
                          </a:solidFill>
                          <a:latin typeface="+mn-lt"/>
                          <a:ea typeface="Noto Sans CJK TC Bold" panose="020B0800000000000000" pitchFamily="34" charset="-128"/>
                        </a:rPr>
                        <a:t>顯示器</a:t>
                      </a:r>
                      <a:endParaRPr lang="en-US" sz="2000" b="1" dirty="0">
                        <a:solidFill>
                          <a:schemeClr val="bg1"/>
                        </a:solidFill>
                        <a:latin typeface="+mn-lt"/>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70151">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9" name="Picture 5"/>
          <p:cNvPicPr>
            <a:picLocks noChangeAspect="1"/>
          </p:cNvPicPr>
          <p:nvPr/>
        </p:nvPicPr>
        <p:blipFill>
          <a:blip r:embed="rId2"/>
          <a:stretch>
            <a:fillRect/>
          </a:stretch>
        </p:blipFill>
        <p:spPr>
          <a:xfrm>
            <a:off x="1045886" y="2897087"/>
            <a:ext cx="5420511" cy="3038201"/>
          </a:xfrm>
          <a:prstGeom prst="rect">
            <a:avLst/>
          </a:prstGeom>
        </p:spPr>
      </p:pic>
      <p:pic>
        <p:nvPicPr>
          <p:cNvPr id="10" name="Picture 6"/>
          <p:cNvPicPr>
            <a:picLocks noChangeAspect="1"/>
          </p:cNvPicPr>
          <p:nvPr/>
        </p:nvPicPr>
        <p:blipFill>
          <a:blip r:embed="rId3"/>
          <a:stretch>
            <a:fillRect/>
          </a:stretch>
        </p:blipFill>
        <p:spPr>
          <a:xfrm>
            <a:off x="6892218" y="2897087"/>
            <a:ext cx="4076037" cy="3058912"/>
          </a:xfrm>
          <a:prstGeom prst="rect">
            <a:avLst/>
          </a:prstGeom>
        </p:spPr>
      </p:pic>
    </p:spTree>
    <p:extLst>
      <p:ext uri="{BB962C8B-B14F-4D97-AF65-F5344CB8AC3E}">
        <p14:creationId xmlns:p14="http://schemas.microsoft.com/office/powerpoint/2010/main" val="38869709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FF0000"/>
                </a:solidFill>
              </a:rPr>
              <a:t>高長寬比令畫面更闊，這通常對玩遊戲有利。這例子中，</a:t>
            </a:r>
            <a:r>
              <a:rPr lang="en-US" altLang="zh-TW" dirty="0">
                <a:solidFill>
                  <a:srgbClr val="FF0000"/>
                </a:solidFill>
              </a:rPr>
              <a:t>16:9 </a:t>
            </a:r>
            <a:r>
              <a:rPr lang="zh-TW" altLang="en-US" dirty="0">
                <a:solidFill>
                  <a:srgbClr val="FF0000"/>
                </a:solidFill>
              </a:rPr>
              <a:t>顯示器令玩家更易發現紫色的敵人。</a:t>
            </a:r>
            <a:endParaRPr lang="en-GB" dirty="0">
              <a:solidFill>
                <a:srgbClr val="FF0000"/>
              </a:solidFill>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129</a:t>
            </a:fld>
            <a:endParaRPr lang="en-US" dirty="0"/>
          </a:p>
        </p:txBody>
      </p:sp>
      <p:sp>
        <p:nvSpPr>
          <p:cNvPr id="4" name="文字版面配置區 3"/>
          <p:cNvSpPr>
            <a:spLocks noGrp="1"/>
          </p:cNvSpPr>
          <p:nvPr>
            <p:ph type="body" sz="quarter" idx="13"/>
          </p:nvPr>
        </p:nvSpPr>
        <p:spPr/>
        <p:txBody>
          <a:bodyPr/>
          <a:lstStyle/>
          <a:p>
            <a:r>
              <a:rPr lang="en-US" dirty="0"/>
              <a:t>3.3</a:t>
            </a:r>
            <a:endParaRPr lang="en-GB" dirty="0"/>
          </a:p>
        </p:txBody>
      </p:sp>
    </p:spTree>
    <p:extLst>
      <p:ext uri="{BB962C8B-B14F-4D97-AF65-F5344CB8AC3E}">
        <p14:creationId xmlns:p14="http://schemas.microsoft.com/office/powerpoint/2010/main" val="7704825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130</a:t>
            </a:fld>
            <a:endParaRPr lang="en-US" dirty="0"/>
          </a:p>
        </p:txBody>
      </p:sp>
      <p:sp>
        <p:nvSpPr>
          <p:cNvPr id="6" name="文字版面配置區 5"/>
          <p:cNvSpPr>
            <a:spLocks noGrp="1"/>
          </p:cNvSpPr>
          <p:nvPr>
            <p:ph type="body" sz="quarter" idx="14"/>
          </p:nvPr>
        </p:nvSpPr>
        <p:spPr/>
        <p:txBody>
          <a:bodyPr/>
          <a:lstStyle/>
          <a:p>
            <a:r>
              <a:rPr lang="en-US" dirty="0"/>
              <a:t>B</a:t>
            </a:r>
            <a:endParaRPr lang="en-GB" dirty="0"/>
          </a:p>
        </p:txBody>
      </p:sp>
      <p:sp>
        <p:nvSpPr>
          <p:cNvPr id="7" name="內容版面配置區 6"/>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透明</a:t>
            </a:r>
            <a:r>
              <a:rPr lang="zh-TW" altLang="en-US" dirty="0"/>
              <a:t>指圖像是否可以有透明的部分。</a:t>
            </a:r>
            <a:endParaRPr lang="en-GB" dirty="0"/>
          </a:p>
        </p:txBody>
      </p:sp>
      <p:graphicFrame>
        <p:nvGraphicFramePr>
          <p:cNvPr id="8" name="Table 5"/>
          <p:cNvGraphicFramePr>
            <a:graphicFrameLocks noGrp="1"/>
          </p:cNvGraphicFramePr>
          <p:nvPr>
            <p:extLst>
              <p:ext uri="{D42A27DB-BD31-4B8C-83A1-F6EECF244321}">
                <p14:modId xmlns:p14="http://schemas.microsoft.com/office/powerpoint/2010/main" val="226068372"/>
              </p:ext>
            </p:extLst>
          </p:nvPr>
        </p:nvGraphicFramePr>
        <p:xfrm>
          <a:off x="628136" y="2375295"/>
          <a:ext cx="10949262" cy="3526741"/>
        </p:xfrm>
        <a:graphic>
          <a:graphicData uri="http://schemas.openxmlformats.org/drawingml/2006/table">
            <a:tbl>
              <a:tblPr firstRow="1" bandRow="1">
                <a:tableStyleId>{5940675A-B579-460E-94D1-54222C63F5DA}</a:tableStyleId>
              </a:tblPr>
              <a:tblGrid>
                <a:gridCol w="5478994">
                  <a:extLst>
                    <a:ext uri="{9D8B030D-6E8A-4147-A177-3AD203B41FA5}">
                      <a16:colId xmlns:a16="http://schemas.microsoft.com/office/drawing/2014/main" val="20000"/>
                    </a:ext>
                  </a:extLst>
                </a:gridCol>
                <a:gridCol w="5470268">
                  <a:extLst>
                    <a:ext uri="{9D8B030D-6E8A-4147-A177-3AD203B41FA5}">
                      <a16:colId xmlns:a16="http://schemas.microsoft.com/office/drawing/2014/main" val="20001"/>
                    </a:ext>
                  </a:extLst>
                </a:gridCol>
              </a:tblGrid>
              <a:tr h="617473">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透明</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sz="2000" b="1" dirty="0">
                          <a:solidFill>
                            <a:schemeClr val="bg1"/>
                          </a:solidFill>
                          <a:latin typeface="Noto Sans CJK TC Bold" panose="020B0800000000000000" pitchFamily="34" charset="-128"/>
                          <a:ea typeface="Noto Sans CJK TC Bold" panose="020B0800000000000000" pitchFamily="34" charset="-128"/>
                        </a:rPr>
                        <a:t>不透明</a:t>
                      </a:r>
                      <a:endParaRPr lang="en-US" sz="2000"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2909268">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9" name="Picture 6"/>
          <p:cNvPicPr>
            <a:picLocks noChangeAspect="1"/>
          </p:cNvPicPr>
          <p:nvPr/>
        </p:nvPicPr>
        <p:blipFill>
          <a:blip r:embed="rId2"/>
          <a:stretch>
            <a:fillRect/>
          </a:stretch>
        </p:blipFill>
        <p:spPr>
          <a:xfrm>
            <a:off x="709128" y="3102410"/>
            <a:ext cx="5332678" cy="2683248"/>
          </a:xfrm>
          <a:prstGeom prst="rect">
            <a:avLst/>
          </a:prstGeom>
        </p:spPr>
      </p:pic>
      <p:pic>
        <p:nvPicPr>
          <p:cNvPr id="10" name="Picture 7"/>
          <p:cNvPicPr>
            <a:picLocks noChangeAspect="1"/>
          </p:cNvPicPr>
          <p:nvPr/>
        </p:nvPicPr>
        <p:blipFill>
          <a:blip r:embed="rId3"/>
          <a:stretch>
            <a:fillRect/>
          </a:stretch>
        </p:blipFill>
        <p:spPr>
          <a:xfrm>
            <a:off x="6171477" y="3102410"/>
            <a:ext cx="5355175" cy="2683248"/>
          </a:xfrm>
          <a:prstGeom prst="rect">
            <a:avLst/>
          </a:prstGeom>
        </p:spPr>
      </p:pic>
    </p:spTree>
    <p:extLst>
      <p:ext uri="{BB962C8B-B14F-4D97-AF65-F5344CB8AC3E}">
        <p14:creationId xmlns:p14="http://schemas.microsoft.com/office/powerpoint/2010/main" val="24447269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圖像</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131</a:t>
            </a:fld>
            <a:endParaRPr lang="en-US" dirty="0"/>
          </a:p>
        </p:txBody>
      </p:sp>
      <p:sp>
        <p:nvSpPr>
          <p:cNvPr id="4" name="文字版面配置區 3"/>
          <p:cNvSpPr>
            <a:spLocks noGrp="1"/>
          </p:cNvSpPr>
          <p:nvPr>
            <p:ph type="body" sz="quarter" idx="14"/>
          </p:nvPr>
        </p:nvSpPr>
        <p:spPr/>
        <p:txBody>
          <a:bodyPr/>
          <a:lstStyle/>
          <a:p>
            <a:r>
              <a:rPr lang="en-US" dirty="0"/>
              <a:t>B</a:t>
            </a:r>
            <a:endParaRPr lang="en-GB" dirty="0"/>
          </a:p>
        </p:txBody>
      </p:sp>
      <p:sp>
        <p:nvSpPr>
          <p:cNvPr id="5" name="內容版面配置區 4"/>
          <p:cNvSpPr>
            <a:spLocks noGrp="1"/>
          </p:cNvSpPr>
          <p:nvPr>
            <p:ph sz="quarter" idx="15"/>
          </p:nvPr>
        </p:nvSpPr>
        <p:spPr/>
        <p:txBody>
          <a:bodyPr/>
          <a:lstStyle/>
          <a:p>
            <a:r>
              <a:rPr lang="zh-TW" altLang="en-US" dirty="0"/>
              <a:t>以下是常見的圖像檔案格式：</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2684551436"/>
              </p:ext>
            </p:extLst>
          </p:nvPr>
        </p:nvGraphicFramePr>
        <p:xfrm>
          <a:off x="2206017" y="2428434"/>
          <a:ext cx="7627248" cy="3877890"/>
        </p:xfrm>
        <a:graphic>
          <a:graphicData uri="http://schemas.openxmlformats.org/drawingml/2006/table">
            <a:tbl>
              <a:tblPr firstRow="1" bandRow="1">
                <a:tableStyleId>{5940675A-B579-460E-94D1-54222C63F5DA}</a:tableStyleId>
              </a:tblPr>
              <a:tblGrid>
                <a:gridCol w="1116255">
                  <a:extLst>
                    <a:ext uri="{9D8B030D-6E8A-4147-A177-3AD203B41FA5}">
                      <a16:colId xmlns:a16="http://schemas.microsoft.com/office/drawing/2014/main" val="20000"/>
                    </a:ext>
                  </a:extLst>
                </a:gridCol>
                <a:gridCol w="1225835">
                  <a:extLst>
                    <a:ext uri="{9D8B030D-6E8A-4147-A177-3AD203B41FA5}">
                      <a16:colId xmlns:a16="http://schemas.microsoft.com/office/drawing/2014/main" val="20001"/>
                    </a:ext>
                  </a:extLst>
                </a:gridCol>
                <a:gridCol w="1748322">
                  <a:extLst>
                    <a:ext uri="{9D8B030D-6E8A-4147-A177-3AD203B41FA5}">
                      <a16:colId xmlns:a16="http://schemas.microsoft.com/office/drawing/2014/main" val="20002"/>
                    </a:ext>
                  </a:extLst>
                </a:gridCol>
                <a:gridCol w="1688036">
                  <a:extLst>
                    <a:ext uri="{9D8B030D-6E8A-4147-A177-3AD203B41FA5}">
                      <a16:colId xmlns:a16="http://schemas.microsoft.com/office/drawing/2014/main" val="20003"/>
                    </a:ext>
                  </a:extLst>
                </a:gridCol>
                <a:gridCol w="1848800">
                  <a:extLst>
                    <a:ext uri="{9D8B030D-6E8A-4147-A177-3AD203B41FA5}">
                      <a16:colId xmlns:a16="http://schemas.microsoft.com/office/drawing/2014/main" val="20004"/>
                    </a:ext>
                  </a:extLst>
                </a:gridCol>
              </a:tblGrid>
              <a:tr h="465611">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HK"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類型</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支援透明</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支援動畫</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壓縮</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86063">
                <a:tc>
                  <a:txBody>
                    <a:bodyPr/>
                    <a:lstStyle/>
                    <a:p>
                      <a:pPr algn="ctr"/>
                      <a:r>
                        <a:rPr lang="en-HK" b="1" dirty="0">
                          <a:solidFill>
                            <a:schemeClr val="bg1"/>
                          </a:solidFill>
                        </a:rPr>
                        <a:t>BMP</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dirty="0">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沒有壓縮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453331">
                <a:tc>
                  <a:txBody>
                    <a:bodyPr/>
                    <a:lstStyle/>
                    <a:p>
                      <a:pPr algn="ctr"/>
                      <a:r>
                        <a:rPr lang="en-HK" b="1" dirty="0">
                          <a:solidFill>
                            <a:schemeClr val="bg1"/>
                          </a:solidFill>
                        </a:rPr>
                        <a:t>JPEG/ JPG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有損壓縮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453331">
                <a:tc>
                  <a:txBody>
                    <a:bodyPr/>
                    <a:lstStyle/>
                    <a:p>
                      <a:pPr algn="ctr"/>
                      <a:r>
                        <a:rPr lang="en-HK" b="1" dirty="0">
                          <a:solidFill>
                            <a:schemeClr val="bg1"/>
                          </a:solidFill>
                        </a:rPr>
                        <a:t>GIF</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無損壓縮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453331">
                <a:tc>
                  <a:txBody>
                    <a:bodyPr/>
                    <a:lstStyle/>
                    <a:p>
                      <a:pPr algn="ctr"/>
                      <a:r>
                        <a:rPr lang="en-HK" b="1" dirty="0">
                          <a:solidFill>
                            <a:schemeClr val="bg1"/>
                          </a:solidFill>
                        </a:rPr>
                        <a:t>PNG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無損壓縮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453331">
                <a:tc>
                  <a:txBody>
                    <a:bodyPr/>
                    <a:lstStyle/>
                    <a:p>
                      <a:pPr algn="ctr"/>
                      <a:r>
                        <a:rPr lang="en-HK" b="1">
                          <a:solidFill>
                            <a:schemeClr val="bg1"/>
                          </a:solidFill>
                        </a:rPr>
                        <a:t>WebP</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無損壓縮 </a:t>
                      </a:r>
                      <a:r>
                        <a:rPr lang="zh-TW" altLang="en-US" baseline="0" dirty="0">
                          <a:latin typeface="Noto Sans CJK TC Light" panose="020B0300000000000000" pitchFamily="34" charset="-128"/>
                          <a:ea typeface="Noto Sans CJK TC Light" panose="020B0300000000000000" pitchFamily="34" charset="-128"/>
                        </a:rPr>
                        <a:t>或 </a:t>
                      </a:r>
                      <a:endParaRPr lang="en-US" altLang="zh-TW" baseline="0" dirty="0">
                        <a:latin typeface="Noto Sans CJK TC Light" panose="020B0300000000000000" pitchFamily="34" charset="-128"/>
                        <a:ea typeface="Noto Sans CJK TC Light" panose="020B0300000000000000" pitchFamily="34" charset="-128"/>
                      </a:endParaRPr>
                    </a:p>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有損壓縮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r h="453331">
                <a:tc>
                  <a:txBody>
                    <a:bodyPr/>
                    <a:lstStyle/>
                    <a:p>
                      <a:pPr algn="ctr"/>
                      <a:r>
                        <a:rPr lang="en-HK" b="1" dirty="0">
                          <a:solidFill>
                            <a:schemeClr val="bg1"/>
                          </a:solidFill>
                        </a:rPr>
                        <a:t>TIFF/TIF</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無損壓縮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6"/>
                  </a:ext>
                </a:extLst>
              </a:tr>
              <a:tr h="386063">
                <a:tc>
                  <a:txBody>
                    <a:bodyPr/>
                    <a:lstStyle/>
                    <a:p>
                      <a:pPr algn="ctr"/>
                      <a:r>
                        <a:rPr lang="en-HK" b="1" dirty="0">
                          <a:solidFill>
                            <a:schemeClr val="bg1"/>
                          </a:solidFill>
                        </a:rPr>
                        <a:t>SVG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dirty="0">
                          <a:latin typeface="Noto Sans CJK TC Light" panose="020B0300000000000000" pitchFamily="34" charset="-128"/>
                          <a:ea typeface="Noto Sans CJK TC Light" panose="020B0300000000000000" pitchFamily="34" charset="-128"/>
                        </a:rPr>
                        <a:t>點陣圖</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沒有壓縮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21" name="Picture 6"/>
          <p:cNvPicPr>
            <a:picLocks noChangeAspect="1"/>
          </p:cNvPicPr>
          <p:nvPr/>
        </p:nvPicPr>
        <p:blipFill>
          <a:blip r:embed="rId2"/>
          <a:stretch>
            <a:fillRect/>
          </a:stretch>
        </p:blipFill>
        <p:spPr>
          <a:xfrm>
            <a:off x="5286829" y="2966464"/>
            <a:ext cx="292300" cy="295194"/>
          </a:xfrm>
          <a:prstGeom prst="rect">
            <a:avLst/>
          </a:prstGeom>
        </p:spPr>
      </p:pic>
      <p:pic>
        <p:nvPicPr>
          <p:cNvPr id="22" name="Picture 7"/>
          <p:cNvPicPr>
            <a:picLocks noChangeAspect="1"/>
          </p:cNvPicPr>
          <p:nvPr/>
        </p:nvPicPr>
        <p:blipFill>
          <a:blip r:embed="rId3"/>
          <a:stretch>
            <a:fillRect/>
          </a:stretch>
        </p:blipFill>
        <p:spPr>
          <a:xfrm>
            <a:off x="7074789" y="3010440"/>
            <a:ext cx="223556" cy="226281"/>
          </a:xfrm>
          <a:prstGeom prst="rect">
            <a:avLst/>
          </a:prstGeom>
        </p:spPr>
      </p:pic>
      <p:pic>
        <p:nvPicPr>
          <p:cNvPr id="23" name="Picture 8"/>
          <p:cNvPicPr>
            <a:picLocks noChangeAspect="1"/>
          </p:cNvPicPr>
          <p:nvPr/>
        </p:nvPicPr>
        <p:blipFill>
          <a:blip r:embed="rId3"/>
          <a:stretch>
            <a:fillRect/>
          </a:stretch>
        </p:blipFill>
        <p:spPr>
          <a:xfrm>
            <a:off x="7074788" y="3480265"/>
            <a:ext cx="223556" cy="226281"/>
          </a:xfrm>
          <a:prstGeom prst="rect">
            <a:avLst/>
          </a:prstGeom>
        </p:spPr>
      </p:pic>
      <p:pic>
        <p:nvPicPr>
          <p:cNvPr id="24" name="Picture 9"/>
          <p:cNvPicPr>
            <a:picLocks noChangeAspect="1"/>
          </p:cNvPicPr>
          <p:nvPr/>
        </p:nvPicPr>
        <p:blipFill>
          <a:blip r:embed="rId3"/>
          <a:stretch>
            <a:fillRect/>
          </a:stretch>
        </p:blipFill>
        <p:spPr>
          <a:xfrm>
            <a:off x="5336523" y="3480265"/>
            <a:ext cx="210828" cy="226483"/>
          </a:xfrm>
          <a:prstGeom prst="rect">
            <a:avLst/>
          </a:prstGeom>
        </p:spPr>
      </p:pic>
      <p:pic>
        <p:nvPicPr>
          <p:cNvPr id="25" name="Picture 10"/>
          <p:cNvPicPr>
            <a:picLocks noChangeAspect="1"/>
          </p:cNvPicPr>
          <p:nvPr/>
        </p:nvPicPr>
        <p:blipFill>
          <a:blip r:embed="rId2"/>
          <a:stretch>
            <a:fillRect/>
          </a:stretch>
        </p:blipFill>
        <p:spPr>
          <a:xfrm>
            <a:off x="5286828" y="4016838"/>
            <a:ext cx="292300" cy="295194"/>
          </a:xfrm>
          <a:prstGeom prst="rect">
            <a:avLst/>
          </a:prstGeom>
        </p:spPr>
      </p:pic>
      <p:pic>
        <p:nvPicPr>
          <p:cNvPr id="26" name="Picture 11"/>
          <p:cNvPicPr>
            <a:picLocks noChangeAspect="1"/>
          </p:cNvPicPr>
          <p:nvPr/>
        </p:nvPicPr>
        <p:blipFill>
          <a:blip r:embed="rId2"/>
          <a:stretch>
            <a:fillRect/>
          </a:stretch>
        </p:blipFill>
        <p:spPr>
          <a:xfrm>
            <a:off x="7032979" y="4016838"/>
            <a:ext cx="292040" cy="294931"/>
          </a:xfrm>
          <a:prstGeom prst="rect">
            <a:avLst/>
          </a:prstGeom>
        </p:spPr>
      </p:pic>
      <p:pic>
        <p:nvPicPr>
          <p:cNvPr id="27" name="Picture 12"/>
          <p:cNvPicPr>
            <a:picLocks noChangeAspect="1"/>
          </p:cNvPicPr>
          <p:nvPr/>
        </p:nvPicPr>
        <p:blipFill>
          <a:blip r:embed="rId2"/>
          <a:stretch>
            <a:fillRect/>
          </a:stretch>
        </p:blipFill>
        <p:spPr>
          <a:xfrm>
            <a:off x="5286828" y="4458365"/>
            <a:ext cx="292300" cy="295194"/>
          </a:xfrm>
          <a:prstGeom prst="rect">
            <a:avLst/>
          </a:prstGeom>
        </p:spPr>
      </p:pic>
      <p:pic>
        <p:nvPicPr>
          <p:cNvPr id="28" name="Picture 13"/>
          <p:cNvPicPr>
            <a:picLocks noChangeAspect="1"/>
          </p:cNvPicPr>
          <p:nvPr/>
        </p:nvPicPr>
        <p:blipFill>
          <a:blip r:embed="rId3"/>
          <a:stretch>
            <a:fillRect/>
          </a:stretch>
        </p:blipFill>
        <p:spPr>
          <a:xfrm>
            <a:off x="7074788" y="4489514"/>
            <a:ext cx="223556" cy="226281"/>
          </a:xfrm>
          <a:prstGeom prst="rect">
            <a:avLst/>
          </a:prstGeom>
        </p:spPr>
      </p:pic>
      <p:pic>
        <p:nvPicPr>
          <p:cNvPr id="29" name="Picture 14"/>
          <p:cNvPicPr>
            <a:picLocks noChangeAspect="1"/>
          </p:cNvPicPr>
          <p:nvPr/>
        </p:nvPicPr>
        <p:blipFill>
          <a:blip r:embed="rId2"/>
          <a:stretch>
            <a:fillRect/>
          </a:stretch>
        </p:blipFill>
        <p:spPr>
          <a:xfrm>
            <a:off x="5286828" y="5008159"/>
            <a:ext cx="292300" cy="295194"/>
          </a:xfrm>
          <a:prstGeom prst="rect">
            <a:avLst/>
          </a:prstGeom>
        </p:spPr>
      </p:pic>
      <p:pic>
        <p:nvPicPr>
          <p:cNvPr id="30" name="Picture 15"/>
          <p:cNvPicPr>
            <a:picLocks noChangeAspect="1"/>
          </p:cNvPicPr>
          <p:nvPr/>
        </p:nvPicPr>
        <p:blipFill>
          <a:blip r:embed="rId2"/>
          <a:stretch>
            <a:fillRect/>
          </a:stretch>
        </p:blipFill>
        <p:spPr>
          <a:xfrm>
            <a:off x="7032979" y="4975662"/>
            <a:ext cx="292040" cy="294931"/>
          </a:xfrm>
          <a:prstGeom prst="rect">
            <a:avLst/>
          </a:prstGeom>
        </p:spPr>
      </p:pic>
      <p:pic>
        <p:nvPicPr>
          <p:cNvPr id="31" name="Picture 16"/>
          <p:cNvPicPr>
            <a:picLocks noChangeAspect="1"/>
          </p:cNvPicPr>
          <p:nvPr/>
        </p:nvPicPr>
        <p:blipFill>
          <a:blip r:embed="rId3"/>
          <a:stretch>
            <a:fillRect/>
          </a:stretch>
        </p:blipFill>
        <p:spPr>
          <a:xfrm>
            <a:off x="5327902" y="5558173"/>
            <a:ext cx="223755" cy="226483"/>
          </a:xfrm>
          <a:prstGeom prst="rect">
            <a:avLst/>
          </a:prstGeom>
        </p:spPr>
      </p:pic>
      <p:pic>
        <p:nvPicPr>
          <p:cNvPr id="32" name="Picture 17"/>
          <p:cNvPicPr>
            <a:picLocks noChangeAspect="1"/>
          </p:cNvPicPr>
          <p:nvPr/>
        </p:nvPicPr>
        <p:blipFill>
          <a:blip r:embed="rId3"/>
          <a:stretch>
            <a:fillRect/>
          </a:stretch>
        </p:blipFill>
        <p:spPr>
          <a:xfrm>
            <a:off x="7067221" y="5569030"/>
            <a:ext cx="223556" cy="226281"/>
          </a:xfrm>
          <a:prstGeom prst="rect">
            <a:avLst/>
          </a:prstGeom>
        </p:spPr>
      </p:pic>
      <p:pic>
        <p:nvPicPr>
          <p:cNvPr id="33" name="Picture 18"/>
          <p:cNvPicPr>
            <a:picLocks noChangeAspect="1"/>
          </p:cNvPicPr>
          <p:nvPr/>
        </p:nvPicPr>
        <p:blipFill>
          <a:blip r:embed="rId2"/>
          <a:stretch>
            <a:fillRect/>
          </a:stretch>
        </p:blipFill>
        <p:spPr>
          <a:xfrm>
            <a:off x="5286828" y="5952092"/>
            <a:ext cx="292300" cy="295194"/>
          </a:xfrm>
          <a:prstGeom prst="rect">
            <a:avLst/>
          </a:prstGeom>
        </p:spPr>
      </p:pic>
      <p:pic>
        <p:nvPicPr>
          <p:cNvPr id="34" name="Picture 19"/>
          <p:cNvPicPr>
            <a:picLocks noChangeAspect="1"/>
          </p:cNvPicPr>
          <p:nvPr/>
        </p:nvPicPr>
        <p:blipFill>
          <a:blip r:embed="rId2"/>
          <a:stretch>
            <a:fillRect/>
          </a:stretch>
        </p:blipFill>
        <p:spPr>
          <a:xfrm>
            <a:off x="7032979" y="5962293"/>
            <a:ext cx="292040" cy="294931"/>
          </a:xfrm>
          <a:prstGeom prst="rect">
            <a:avLst/>
          </a:prstGeom>
        </p:spPr>
      </p:pic>
    </p:spTree>
    <p:extLst>
      <p:ext uri="{BB962C8B-B14F-4D97-AF65-F5344CB8AC3E}">
        <p14:creationId xmlns:p14="http://schemas.microsoft.com/office/powerpoint/2010/main" val="242331444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a:xfrm>
            <a:off x="838200" y="1430900"/>
            <a:ext cx="10515600" cy="4860000"/>
          </a:xfrm>
        </p:spPr>
        <p:txBody>
          <a:bodyPr/>
          <a:lstStyle/>
          <a:p>
            <a:r>
              <a:rPr lang="zh-TW" altLang="en-US" dirty="0">
                <a:latin typeface="+mn-lt"/>
              </a:rPr>
              <a:t>試完成課本第 </a:t>
            </a:r>
            <a:r>
              <a:rPr lang="en-US" altLang="zh-TW" dirty="0">
                <a:latin typeface="+mn-lt"/>
              </a:rPr>
              <a:t>114 </a:t>
            </a:r>
            <a:r>
              <a:rPr lang="zh-TW" altLang="en-US" dirty="0">
                <a:latin typeface="+mn-lt"/>
              </a:rPr>
              <a:t>頁的實驗站 </a:t>
            </a:r>
            <a:r>
              <a:rPr lang="en-US" altLang="zh-TW" dirty="0">
                <a:latin typeface="+mn-lt"/>
              </a:rPr>
              <a:t>3.9</a:t>
            </a:r>
            <a:r>
              <a:rPr lang="zh-TW" altLang="en-US" dirty="0">
                <a:latin typeface="+mn-lt"/>
              </a:rPr>
              <a:t>。</a:t>
            </a:r>
            <a:endParaRPr lang="en-US" altLang="zh-TW" dirty="0">
              <a:latin typeface="+mn-lt"/>
            </a:endParaRPr>
          </a:p>
          <a:p>
            <a:endParaRPr lang="en-US" altLang="zh-TW" dirty="0">
              <a:latin typeface="+mn-lt"/>
            </a:endParaRPr>
          </a:p>
          <a:p>
            <a:endParaRPr lang="en-US" altLang="zh-TW" dirty="0">
              <a:latin typeface="+mn-lt"/>
            </a:endParaRPr>
          </a:p>
          <a:p>
            <a:endParaRPr lang="en-US" altLang="zh-TW" dirty="0">
              <a:latin typeface="+mn-lt"/>
            </a:endParaRPr>
          </a:p>
          <a:p>
            <a:r>
              <a:rPr lang="zh-TW" altLang="en-US" dirty="0">
                <a:latin typeface="+mn-lt"/>
              </a:rPr>
              <a:t>檔案大小（以 </a:t>
            </a:r>
            <a:r>
              <a:rPr lang="en-US" altLang="zh-TW" dirty="0">
                <a:latin typeface="+mn-lt"/>
              </a:rPr>
              <a:t>MB </a:t>
            </a:r>
            <a:r>
              <a:rPr lang="zh-TW" altLang="en-US" dirty="0">
                <a:latin typeface="+mn-lt"/>
              </a:rPr>
              <a:t>為單位）</a:t>
            </a:r>
            <a:r>
              <a:rPr lang="en-US" altLang="zh-TW" dirty="0">
                <a:latin typeface="+mn-lt"/>
              </a:rPr>
              <a:t>= </a:t>
            </a:r>
          </a:p>
          <a:p>
            <a:r>
              <a:rPr lang="en-HK" dirty="0">
                <a:solidFill>
                  <a:srgbClr val="FF0000"/>
                </a:solidFill>
                <a:latin typeface="+mn-lt"/>
              </a:rPr>
              <a:t>24 bits × 1,024 × 768 = 3 bytes × 1,024 × 768 = 3 KB × 768 ≈ 2,304 KB  = (2,304 ÷1,024) MB ≈ 2.25 MB</a:t>
            </a:r>
            <a:endParaRPr lang="en-US" dirty="0">
              <a:solidFill>
                <a:srgbClr val="FF0000"/>
              </a:solidFill>
              <a:latin typeface="+mn-lt"/>
            </a:endParaRPr>
          </a:p>
          <a:p>
            <a:endParaRPr lang="en-US" altLang="zh-TW"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132</a:t>
            </a:fld>
            <a:endParaRPr lang="en-US" dirty="0"/>
          </a:p>
        </p:txBody>
      </p:sp>
      <p:sp>
        <p:nvSpPr>
          <p:cNvPr id="7" name="文字版面配置區 6"/>
          <p:cNvSpPr>
            <a:spLocks noGrp="1"/>
          </p:cNvSpPr>
          <p:nvPr>
            <p:ph type="body" sz="quarter" idx="13"/>
          </p:nvPr>
        </p:nvSpPr>
        <p:spPr/>
        <p:txBody>
          <a:bodyPr/>
          <a:lstStyle/>
          <a:p>
            <a:r>
              <a:rPr lang="en-US" dirty="0"/>
              <a:t>3.9</a:t>
            </a:r>
            <a:endParaRPr lang="en-GB" dirty="0"/>
          </a:p>
        </p:txBody>
      </p:sp>
      <p:graphicFrame>
        <p:nvGraphicFramePr>
          <p:cNvPr id="8" name="Table 4"/>
          <p:cNvGraphicFramePr>
            <a:graphicFrameLocks noGrp="1"/>
          </p:cNvGraphicFramePr>
          <p:nvPr>
            <p:extLst>
              <p:ext uri="{D42A27DB-BD31-4B8C-83A1-F6EECF244321}">
                <p14:modId xmlns:p14="http://schemas.microsoft.com/office/powerpoint/2010/main" val="3808839409"/>
              </p:ext>
            </p:extLst>
          </p:nvPr>
        </p:nvGraphicFramePr>
        <p:xfrm>
          <a:off x="954801" y="2038479"/>
          <a:ext cx="4607648" cy="74168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色深</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24</a:t>
                      </a:r>
                      <a:r>
                        <a:rPr lang="zh-TW" altLang="en-US" baseline="0" dirty="0"/>
                        <a:t> 位元</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解像度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1024 × 768</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3298247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閱讀下面的段落，回答問題 </a:t>
            </a:r>
            <a:r>
              <a:rPr lang="en-US" altLang="zh-TW" dirty="0">
                <a:latin typeface="+mn-lt"/>
              </a:rPr>
              <a:t>1 </a:t>
            </a:r>
            <a:r>
              <a:rPr lang="zh-TW" altLang="en-US" dirty="0">
                <a:latin typeface="+mn-lt"/>
              </a:rPr>
              <a:t>和 </a:t>
            </a:r>
            <a:r>
              <a:rPr lang="en-US" altLang="zh-TW" dirty="0">
                <a:latin typeface="+mn-lt"/>
              </a:rPr>
              <a:t>2</a:t>
            </a:r>
            <a:r>
              <a:rPr lang="zh-TW" altLang="en-US" dirty="0">
                <a:latin typeface="+mn-lt"/>
              </a:rPr>
              <a:t>。</a:t>
            </a:r>
          </a:p>
          <a:p>
            <a:r>
              <a:rPr lang="zh-TW" altLang="en-US" dirty="0">
                <a:latin typeface="+mn-lt"/>
              </a:rPr>
              <a:t>家俊在旅途中拍了一些照片，他想將這些照片上傳到他的社交媒體帳戶。</a:t>
            </a:r>
            <a:endParaRPr lang="en-US" altLang="zh-TW" dirty="0">
              <a:latin typeface="+mn-lt"/>
            </a:endParaRPr>
          </a:p>
          <a:p>
            <a:endParaRPr lang="en-US" dirty="0">
              <a:latin typeface="+mn-lt"/>
            </a:endParaRPr>
          </a:p>
          <a:p>
            <a:pPr marL="457200" indent="-457200">
              <a:buAutoNum type="arabicPeriod"/>
            </a:pPr>
            <a:r>
              <a:rPr lang="zh-TW" altLang="en-US" dirty="0"/>
              <a:t>以下哪種圖片檔案格式適合用以上傳</a:t>
            </a:r>
            <a:r>
              <a:rPr lang="zh-TW" altLang="en-US" dirty="0">
                <a:latin typeface="+mn-lt"/>
              </a:rPr>
              <a:t>？</a:t>
            </a:r>
            <a:endParaRPr lang="en-HK" dirty="0">
              <a:latin typeface="+mn-lt"/>
            </a:endParaRPr>
          </a:p>
          <a:p>
            <a:pPr marL="800100" lvl="1" indent="-342900">
              <a:buAutoNum type="alphaUcPeriod"/>
            </a:pPr>
            <a:r>
              <a:rPr lang="en-HK" sz="2000" dirty="0">
                <a:latin typeface="+mn-lt"/>
              </a:rPr>
              <a:t>TIFF</a:t>
            </a:r>
          </a:p>
          <a:p>
            <a:pPr marL="800100" lvl="1" indent="-342900">
              <a:buAutoNum type="alphaUcPeriod"/>
            </a:pPr>
            <a:r>
              <a:rPr lang="en-HK" sz="2000" dirty="0">
                <a:latin typeface="+mn-lt"/>
              </a:rPr>
              <a:t>SVG</a:t>
            </a:r>
          </a:p>
          <a:p>
            <a:pPr marL="800100" lvl="1" indent="-342900">
              <a:buAutoNum type="alphaUcPeriod"/>
            </a:pPr>
            <a:r>
              <a:rPr lang="en-HK" sz="2000" dirty="0">
                <a:latin typeface="+mn-lt"/>
              </a:rPr>
              <a:t>GIF</a:t>
            </a:r>
          </a:p>
          <a:p>
            <a:pPr marL="800100" lvl="1" indent="-342900">
              <a:buAutoNum type="alphaUcPeriod"/>
            </a:pPr>
            <a:r>
              <a:rPr lang="en-HK" sz="2000" dirty="0">
                <a:latin typeface="+mn-lt"/>
              </a:rPr>
              <a:t>PNG</a:t>
            </a:r>
            <a:endParaRPr lang="en-US" sz="2000"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133</a:t>
            </a:fld>
            <a:endParaRPr lang="en-US" dirty="0"/>
          </a:p>
        </p:txBody>
      </p:sp>
      <p:sp>
        <p:nvSpPr>
          <p:cNvPr id="6" name="文字版面配置區 5"/>
          <p:cNvSpPr>
            <a:spLocks noGrp="1"/>
          </p:cNvSpPr>
          <p:nvPr>
            <p:ph type="body" sz="quarter" idx="13"/>
          </p:nvPr>
        </p:nvSpPr>
        <p:spPr/>
        <p:txBody>
          <a:bodyPr/>
          <a:lstStyle/>
          <a:p>
            <a:r>
              <a:rPr lang="en-US" dirty="0"/>
              <a:t>3.8</a:t>
            </a:r>
            <a:endParaRPr lang="en-GB" dirty="0"/>
          </a:p>
        </p:txBody>
      </p:sp>
    </p:spTree>
    <p:extLst>
      <p:ext uri="{BB962C8B-B14F-4D97-AF65-F5344CB8AC3E}">
        <p14:creationId xmlns:p14="http://schemas.microsoft.com/office/powerpoint/2010/main" val="30204013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網絡瀏覽器並不廣泛支援 </a:t>
            </a:r>
            <a:r>
              <a:rPr lang="en-US" altLang="zh-TW" dirty="0">
                <a:latin typeface="+mn-lt"/>
              </a:rPr>
              <a:t>TIFF</a:t>
            </a:r>
            <a:r>
              <a:rPr lang="zh-TW" altLang="en-US" dirty="0">
                <a:latin typeface="+mn-lt"/>
              </a:rPr>
              <a:t>。向量圖是可以用數學公式表示的圖畫，現實生活中的照片不適宜以此格式儲存。</a:t>
            </a:r>
            <a:endParaRPr lang="en-US" altLang="zh-TW" dirty="0">
              <a:latin typeface="+mn-lt"/>
            </a:endParaRPr>
          </a:p>
          <a:p>
            <a:r>
              <a:rPr lang="zh-TW" altLang="en-US" dirty="0">
                <a:latin typeface="+mn-lt"/>
              </a:rPr>
              <a:t>因此，</a:t>
            </a:r>
            <a:r>
              <a:rPr lang="en-US" altLang="zh-TW" dirty="0">
                <a:latin typeface="+mn-lt"/>
              </a:rPr>
              <a:t>SVG </a:t>
            </a:r>
            <a:r>
              <a:rPr lang="zh-TW" altLang="en-US" dirty="0">
                <a:latin typeface="+mn-lt"/>
              </a:rPr>
              <a:t>也不適合。就非動畫圖像而言，</a:t>
            </a:r>
            <a:r>
              <a:rPr lang="en-US" altLang="zh-TW" dirty="0">
                <a:latin typeface="+mn-lt"/>
              </a:rPr>
              <a:t>PNG </a:t>
            </a:r>
            <a:r>
              <a:rPr lang="zh-TW" altLang="en-US" dirty="0">
                <a:latin typeface="+mn-lt"/>
              </a:rPr>
              <a:t>優於 </a:t>
            </a:r>
            <a:r>
              <a:rPr lang="en-US" altLang="zh-TW" dirty="0">
                <a:latin typeface="+mn-lt"/>
              </a:rPr>
              <a:t>GIF</a:t>
            </a:r>
            <a:r>
              <a:rPr lang="zh-TW" altLang="en-US" dirty="0">
                <a:latin typeface="+mn-lt"/>
              </a:rPr>
              <a:t>，因為它具有更高的色深和更高的壓縮比。</a:t>
            </a:r>
            <a:endParaRPr lang="en-US" altLang="zh-TW" dirty="0">
              <a:latin typeface="+mn-lt"/>
            </a:endParaRPr>
          </a:p>
          <a:p>
            <a:endParaRPr lang="en-US"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D</a:t>
            </a:r>
            <a:r>
              <a:rPr lang="zh-TW" altLang="en-US" dirty="0">
                <a:latin typeface="+mn-lt"/>
              </a:rPr>
              <a:t>。</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134</a:t>
            </a:fld>
            <a:endParaRPr lang="en-US" dirty="0"/>
          </a:p>
        </p:txBody>
      </p:sp>
      <p:sp>
        <p:nvSpPr>
          <p:cNvPr id="4" name="文字版面配置區 3"/>
          <p:cNvSpPr>
            <a:spLocks noGrp="1"/>
          </p:cNvSpPr>
          <p:nvPr>
            <p:ph type="body" sz="quarter" idx="13"/>
          </p:nvPr>
        </p:nvSpPr>
        <p:spPr/>
        <p:txBody>
          <a:bodyPr/>
          <a:lstStyle/>
          <a:p>
            <a:r>
              <a:rPr lang="en-US" dirty="0"/>
              <a:t>3.8</a:t>
            </a:r>
            <a:endParaRPr lang="en-GB" dirty="0"/>
          </a:p>
        </p:txBody>
      </p:sp>
    </p:spTree>
    <p:extLst>
      <p:ext uri="{BB962C8B-B14F-4D97-AF65-F5344CB8AC3E}">
        <p14:creationId xmlns:p14="http://schemas.microsoft.com/office/powerpoint/2010/main" val="33306723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marL="457200" indent="-457200">
              <a:buFont typeface="+mj-lt"/>
              <a:buAutoNum type="arabicPeriod" startAt="2"/>
            </a:pPr>
            <a:r>
              <a:rPr lang="zh-TW" altLang="en-US" dirty="0">
                <a:latin typeface="+mn-lt"/>
              </a:rPr>
              <a:t>家俊決定以 </a:t>
            </a:r>
            <a:r>
              <a:rPr lang="en-US" altLang="zh-TW" dirty="0">
                <a:latin typeface="+mn-lt"/>
              </a:rPr>
              <a:t>JPG </a:t>
            </a:r>
            <a:r>
              <a:rPr lang="zh-TW" altLang="en-US" dirty="0">
                <a:latin typeface="+mn-lt"/>
              </a:rPr>
              <a:t>格式上傳他的照片。以下哪一項 </a:t>
            </a:r>
            <a:r>
              <a:rPr lang="en-US" altLang="zh-TW" dirty="0">
                <a:latin typeface="+mn-lt"/>
              </a:rPr>
              <a:t>/ </a:t>
            </a:r>
            <a:r>
              <a:rPr lang="zh-TW" altLang="en-US" dirty="0">
                <a:latin typeface="+mn-lt"/>
              </a:rPr>
              <a:t>些是這樣做的好處？</a:t>
            </a:r>
            <a:r>
              <a:rPr lang="en-US" dirty="0">
                <a:latin typeface="+mn-lt"/>
              </a:rPr>
              <a:t/>
            </a:r>
            <a:br>
              <a:rPr lang="en-US" dirty="0">
                <a:latin typeface="+mn-lt"/>
              </a:rPr>
            </a:br>
            <a:endParaRPr lang="en-US" dirty="0">
              <a:latin typeface="+mn-lt"/>
            </a:endParaRPr>
          </a:p>
          <a:p>
            <a:pPr marL="1257300" lvl="2" indent="-342900">
              <a:buSzPct val="100000"/>
              <a:buAutoNum type="arabicParenBoth"/>
            </a:pPr>
            <a:r>
              <a:rPr lang="en-US" altLang="zh-TW" sz="2000" dirty="0">
                <a:latin typeface="+mn-lt"/>
              </a:rPr>
              <a:t>JPG </a:t>
            </a:r>
            <a:r>
              <a:rPr lang="zh-TW" altLang="en-US" sz="2000" dirty="0">
                <a:latin typeface="+mn-lt"/>
              </a:rPr>
              <a:t>檔案體積相對較小。</a:t>
            </a:r>
            <a:endParaRPr lang="en-US" sz="2000" dirty="0">
              <a:latin typeface="+mn-lt"/>
            </a:endParaRPr>
          </a:p>
          <a:p>
            <a:pPr marL="1257300" lvl="2" indent="-342900">
              <a:buSzPct val="100000"/>
              <a:buAutoNum type="arabicParenBoth"/>
            </a:pPr>
            <a:r>
              <a:rPr lang="en-US" altLang="zh-TW" sz="2000" dirty="0">
                <a:latin typeface="+mn-lt"/>
              </a:rPr>
              <a:t>JPG </a:t>
            </a:r>
            <a:r>
              <a:rPr lang="zh-TW" altLang="en-US" sz="2000" dirty="0">
                <a:latin typeface="+mn-lt"/>
              </a:rPr>
              <a:t>檔案採用無損壓縮。</a:t>
            </a:r>
            <a:endParaRPr lang="en-US" sz="2000" dirty="0">
              <a:latin typeface="+mn-lt"/>
            </a:endParaRPr>
          </a:p>
          <a:p>
            <a:pPr marL="1257300" lvl="2" indent="-342900">
              <a:buSzPct val="100000"/>
              <a:buAutoNum type="arabicParenBoth"/>
            </a:pPr>
            <a:r>
              <a:rPr lang="en-US" sz="2000" dirty="0">
                <a:latin typeface="+mn-lt"/>
              </a:rPr>
              <a:t>JPG </a:t>
            </a:r>
            <a:r>
              <a:rPr lang="zh-TW" altLang="en-US" sz="2000" dirty="0">
                <a:latin typeface="+mn-lt"/>
              </a:rPr>
              <a:t>支援動畫。</a:t>
            </a:r>
            <a:r>
              <a:rPr lang="en-US" sz="2000" dirty="0">
                <a:latin typeface="+mn-lt"/>
              </a:rPr>
              <a:t/>
            </a:r>
            <a:br>
              <a:rPr lang="en-US" sz="2000" dirty="0">
                <a:latin typeface="+mn-lt"/>
              </a:rPr>
            </a:br>
            <a:endParaRPr lang="en-US" sz="2000" dirty="0">
              <a:latin typeface="+mn-lt"/>
            </a:endParaRPr>
          </a:p>
          <a:p>
            <a:pPr marL="800100" lvl="1" indent="-342900">
              <a:buSzPct val="100000"/>
              <a:buAutoNum type="alphaUcPeriod"/>
            </a:pPr>
            <a:r>
              <a:rPr lang="zh-TW" altLang="en-US" sz="2000" dirty="0">
                <a:latin typeface="+mn-lt"/>
              </a:rPr>
              <a:t>只有 </a:t>
            </a:r>
            <a:r>
              <a:rPr lang="en-HK" sz="2000" dirty="0">
                <a:latin typeface="+mn-lt"/>
              </a:rPr>
              <a:t>(1) </a:t>
            </a:r>
          </a:p>
          <a:p>
            <a:pPr marL="800100" lvl="1" indent="-342900">
              <a:buSzPct val="100000"/>
              <a:buAutoNum type="alphaUcPeriod"/>
            </a:pPr>
            <a:r>
              <a:rPr lang="zh-TW" altLang="en-US" sz="2000" dirty="0">
                <a:latin typeface="+mn-lt"/>
              </a:rPr>
              <a:t>只有 </a:t>
            </a:r>
            <a:r>
              <a:rPr lang="en-HK" sz="2000" dirty="0">
                <a:latin typeface="+mn-lt"/>
              </a:rPr>
              <a:t>(2) </a:t>
            </a:r>
          </a:p>
          <a:p>
            <a:pPr marL="800100" lvl="1" indent="-342900">
              <a:buSzPct val="100000"/>
              <a:buAutoNum type="alphaUcPeriod"/>
            </a:pPr>
            <a:r>
              <a:rPr lang="zh-TW" altLang="en-US" sz="2000" dirty="0">
                <a:latin typeface="+mn-lt"/>
              </a:rPr>
              <a:t>只有 </a:t>
            </a:r>
            <a:r>
              <a:rPr lang="en-HK" sz="2000" dirty="0">
                <a:latin typeface="+mn-lt"/>
              </a:rPr>
              <a:t>(1) </a:t>
            </a:r>
            <a:r>
              <a:rPr lang="zh-TW" altLang="en-US" sz="2000" dirty="0">
                <a:latin typeface="+mn-lt"/>
              </a:rPr>
              <a:t>和 </a:t>
            </a:r>
            <a:r>
              <a:rPr lang="en-HK" sz="2000" dirty="0">
                <a:latin typeface="+mn-lt"/>
              </a:rPr>
              <a:t>(3)</a:t>
            </a:r>
          </a:p>
          <a:p>
            <a:pPr marL="800100" lvl="1" indent="-342900">
              <a:buSzPct val="100000"/>
              <a:buAutoNum type="alphaUcPeriod"/>
            </a:pPr>
            <a:r>
              <a:rPr lang="zh-TW" altLang="en-US" sz="2000" dirty="0">
                <a:latin typeface="+mn-lt"/>
              </a:rPr>
              <a:t>只有 </a:t>
            </a:r>
            <a:r>
              <a:rPr lang="en-HK" sz="2000" dirty="0">
                <a:latin typeface="+mn-lt"/>
              </a:rPr>
              <a:t>(2) </a:t>
            </a:r>
            <a:r>
              <a:rPr lang="zh-TW" altLang="en-US" sz="2000" dirty="0">
                <a:latin typeface="+mn-lt"/>
              </a:rPr>
              <a:t>和</a:t>
            </a:r>
            <a:r>
              <a:rPr lang="en-HK" sz="2000" dirty="0">
                <a:latin typeface="+mn-lt"/>
              </a:rPr>
              <a:t> (3)</a:t>
            </a:r>
            <a:endParaRPr lang="en-US" sz="2000" dirty="0">
              <a:latin typeface="+mn-lt"/>
            </a:endParaRPr>
          </a:p>
          <a:p>
            <a:r>
              <a:rPr lang="en-HK" dirty="0">
                <a:latin typeface="+mn-lt"/>
              </a:rPr>
              <a:t> </a:t>
            </a:r>
            <a:endParaRPr lang="en-US"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135</a:t>
            </a:fld>
            <a:endParaRPr lang="en-US" dirty="0"/>
          </a:p>
        </p:txBody>
      </p:sp>
      <p:sp>
        <p:nvSpPr>
          <p:cNvPr id="4" name="文字版面配置區 3"/>
          <p:cNvSpPr>
            <a:spLocks noGrp="1"/>
          </p:cNvSpPr>
          <p:nvPr>
            <p:ph type="body" sz="quarter" idx="13"/>
          </p:nvPr>
        </p:nvSpPr>
        <p:spPr/>
        <p:txBody>
          <a:bodyPr/>
          <a:lstStyle/>
          <a:p>
            <a:r>
              <a:rPr lang="en-US" dirty="0"/>
              <a:t>3.8</a:t>
            </a:r>
            <a:endParaRPr lang="en-GB" dirty="0"/>
          </a:p>
        </p:txBody>
      </p:sp>
    </p:spTree>
    <p:extLst>
      <p:ext uri="{BB962C8B-B14F-4D97-AF65-F5344CB8AC3E}">
        <p14:creationId xmlns:p14="http://schemas.microsoft.com/office/powerpoint/2010/main" val="330303755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en-US" altLang="zh-TW" dirty="0">
                <a:latin typeface="+mn-lt"/>
              </a:rPr>
              <a:t>JPG </a:t>
            </a:r>
            <a:r>
              <a:rPr lang="zh-TW" altLang="en-US" dirty="0">
                <a:latin typeface="+mn-lt"/>
              </a:rPr>
              <a:t>使用有損壓縮，因此其檔案大小相對較小。在所有提到的檔案格式中，只有 </a:t>
            </a:r>
            <a:r>
              <a:rPr lang="en-US" altLang="zh-TW" dirty="0">
                <a:latin typeface="+mn-lt"/>
              </a:rPr>
              <a:t>GIF </a:t>
            </a:r>
            <a:r>
              <a:rPr lang="zh-TW" altLang="en-US" dirty="0">
                <a:latin typeface="+mn-lt"/>
              </a:rPr>
              <a:t>支援動畫。</a:t>
            </a:r>
            <a:endParaRPr lang="en-US"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A</a:t>
            </a:r>
            <a:r>
              <a:rPr lang="zh-TW" altLang="en-US" dirty="0">
                <a:latin typeface="+mn-lt"/>
              </a:rPr>
              <a:t>。</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136</a:t>
            </a:fld>
            <a:endParaRPr lang="en-US" dirty="0"/>
          </a:p>
        </p:txBody>
      </p:sp>
      <p:sp>
        <p:nvSpPr>
          <p:cNvPr id="4" name="文字版面配置區 3"/>
          <p:cNvSpPr>
            <a:spLocks noGrp="1"/>
          </p:cNvSpPr>
          <p:nvPr>
            <p:ph type="body" sz="quarter" idx="13"/>
          </p:nvPr>
        </p:nvSpPr>
        <p:spPr/>
        <p:txBody>
          <a:bodyPr/>
          <a:lstStyle/>
          <a:p>
            <a:r>
              <a:rPr lang="en-US" dirty="0"/>
              <a:t>3.8</a:t>
            </a:r>
            <a:endParaRPr lang="en-GB" dirty="0"/>
          </a:p>
        </p:txBody>
      </p:sp>
    </p:spTree>
    <p:extLst>
      <p:ext uri="{BB962C8B-B14F-4D97-AF65-F5344CB8AC3E}">
        <p14:creationId xmlns:p14="http://schemas.microsoft.com/office/powerpoint/2010/main" val="37244581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115 </a:t>
            </a:r>
            <a:r>
              <a:rPr lang="zh-TW" altLang="en-US" dirty="0">
                <a:latin typeface="+mn-lt"/>
              </a:rPr>
              <a:t>頁的測試站 </a:t>
            </a:r>
            <a:r>
              <a:rPr lang="en-US" altLang="zh-TW" dirty="0">
                <a:latin typeface="+mn-lt"/>
              </a:rPr>
              <a:t>3.8</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en-HK" dirty="0">
                <a:solidFill>
                  <a:srgbClr val="FF0000"/>
                </a:solidFill>
                <a:latin typeface="+mn-lt"/>
              </a:rPr>
              <a:t>B</a:t>
            </a:r>
          </a:p>
        </p:txBody>
      </p:sp>
      <p:sp>
        <p:nvSpPr>
          <p:cNvPr id="3" name="投影片編號版面配置區 2"/>
          <p:cNvSpPr>
            <a:spLocks noGrp="1"/>
          </p:cNvSpPr>
          <p:nvPr>
            <p:ph type="sldNum" sz="quarter" idx="12"/>
          </p:nvPr>
        </p:nvSpPr>
        <p:spPr/>
        <p:txBody>
          <a:bodyPr/>
          <a:lstStyle/>
          <a:p>
            <a:fld id="{6D22F896-40B5-4ADD-8801-0D06FADFA095}" type="slidenum">
              <a:rPr lang="en-US" smtClean="0"/>
              <a:t>137</a:t>
            </a:fld>
            <a:endParaRPr lang="en-US" dirty="0"/>
          </a:p>
        </p:txBody>
      </p:sp>
      <p:sp>
        <p:nvSpPr>
          <p:cNvPr id="6" name="文字版面配置區 5"/>
          <p:cNvSpPr>
            <a:spLocks noGrp="1"/>
          </p:cNvSpPr>
          <p:nvPr>
            <p:ph type="body" sz="quarter" idx="13"/>
          </p:nvPr>
        </p:nvSpPr>
        <p:spPr/>
        <p:txBody>
          <a:bodyPr/>
          <a:lstStyle/>
          <a:p>
            <a:r>
              <a:rPr lang="en-US" dirty="0"/>
              <a:t>3.8</a:t>
            </a:r>
            <a:endParaRPr lang="en-GB" dirty="0"/>
          </a:p>
        </p:txBody>
      </p:sp>
    </p:spTree>
    <p:extLst>
      <p:ext uri="{BB962C8B-B14F-4D97-AF65-F5344CB8AC3E}">
        <p14:creationId xmlns:p14="http://schemas.microsoft.com/office/powerpoint/2010/main" val="194113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音頻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138</a:t>
            </a:fld>
            <a:endParaRPr lang="en-US" dirty="0"/>
          </a:p>
        </p:txBody>
      </p:sp>
      <p:sp>
        <p:nvSpPr>
          <p:cNvPr id="6" name="文字版面配置區 5"/>
          <p:cNvSpPr>
            <a:spLocks noGrp="1"/>
          </p:cNvSpPr>
          <p:nvPr>
            <p:ph type="body" sz="quarter" idx="14"/>
          </p:nvPr>
        </p:nvSpPr>
        <p:spPr/>
        <p:txBody>
          <a:bodyPr/>
          <a:lstStyle/>
          <a:p>
            <a:r>
              <a:rPr lang="en-US" dirty="0"/>
              <a:t>C</a:t>
            </a:r>
            <a:endParaRPr lang="en-GB" dirty="0"/>
          </a:p>
        </p:txBody>
      </p:sp>
      <p:sp>
        <p:nvSpPr>
          <p:cNvPr id="7" name="內容版面配置區 6"/>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音頻</a:t>
            </a:r>
            <a:r>
              <a:rPr lang="zh-TW" altLang="en-US" dirty="0"/>
              <a:t>（音效）檔案具有三個重要屬性：</a:t>
            </a:r>
            <a:endParaRPr lang="en-US" altLang="zh-TW" dirty="0"/>
          </a:p>
          <a:p>
            <a:endParaRPr lang="en-US" altLang="zh-TW" dirty="0"/>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位元深度</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取樣頻率</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聲道數</a:t>
            </a:r>
            <a:endParaRPr lang="en-GB" dirty="0">
              <a:solidFill>
                <a:srgbClr val="595A96"/>
              </a:solidFill>
              <a:latin typeface="Noto Sans CJK TC Bold" panose="020B0800000000000000" pitchFamily="34" charset="-128"/>
              <a:ea typeface="Noto Sans CJK TC Bold" panose="020B0800000000000000" pitchFamily="34" charset="-128"/>
            </a:endParaRPr>
          </a:p>
        </p:txBody>
      </p:sp>
    </p:spTree>
    <p:extLst>
      <p:ext uri="{BB962C8B-B14F-4D97-AF65-F5344CB8AC3E}">
        <p14:creationId xmlns:p14="http://schemas.microsoft.com/office/powerpoint/2010/main" val="167708648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音頻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139</a:t>
            </a:fld>
            <a:endParaRPr lang="en-US" dirty="0"/>
          </a:p>
        </p:txBody>
      </p:sp>
      <p:sp>
        <p:nvSpPr>
          <p:cNvPr id="4" name="文字版面配置區 3"/>
          <p:cNvSpPr>
            <a:spLocks noGrp="1"/>
          </p:cNvSpPr>
          <p:nvPr>
            <p:ph type="body" sz="quarter" idx="14"/>
          </p:nvPr>
        </p:nvSpPr>
        <p:spPr/>
        <p:txBody>
          <a:bodyPr/>
          <a:lstStyle/>
          <a:p>
            <a:r>
              <a:rPr lang="en-US" altLang="zh-TW" dirty="0"/>
              <a:t>C</a:t>
            </a:r>
            <a:endParaRPr lang="en-GB" dirty="0"/>
          </a:p>
        </p:txBody>
      </p:sp>
      <p:sp>
        <p:nvSpPr>
          <p:cNvPr id="5" name="內容版面配置區 4"/>
          <p:cNvSpPr>
            <a:spLocks noGrp="1"/>
          </p:cNvSpPr>
          <p:nvPr>
            <p:ph sz="quarter" idx="15"/>
          </p:nvPr>
        </p:nvSpPr>
        <p:spPr/>
        <p:txBody>
          <a:bodyPr/>
          <a:lstStyle/>
          <a:p>
            <a:r>
              <a:rPr lang="zh-TW" altLang="en-US" dirty="0">
                <a:latin typeface="Noto Sans CJK TC Bold" panose="020B0800000000000000" pitchFamily="34" charset="-128"/>
                <a:ea typeface="Noto Sans CJK TC Bold" panose="020B0800000000000000" pitchFamily="34" charset="-128"/>
              </a:rPr>
              <a:t>位元深度</a:t>
            </a:r>
            <a:r>
              <a:rPr lang="zh-TW" altLang="en-US" dirty="0"/>
              <a:t>用於表示音頻樣本的位元數。</a:t>
            </a:r>
            <a:endParaRPr lang="en-GB" dirty="0"/>
          </a:p>
        </p:txBody>
      </p:sp>
      <p:pic>
        <p:nvPicPr>
          <p:cNvPr id="6" name="Picture 5"/>
          <p:cNvPicPr>
            <a:picLocks noChangeAspect="1"/>
          </p:cNvPicPr>
          <p:nvPr/>
        </p:nvPicPr>
        <p:blipFill>
          <a:blip r:embed="rId2"/>
          <a:stretch>
            <a:fillRect/>
          </a:stretch>
        </p:blipFill>
        <p:spPr>
          <a:xfrm>
            <a:off x="1810800" y="2449685"/>
            <a:ext cx="2932033" cy="2804302"/>
          </a:xfrm>
          <a:prstGeom prst="rect">
            <a:avLst/>
          </a:prstGeom>
        </p:spPr>
      </p:pic>
      <p:pic>
        <p:nvPicPr>
          <p:cNvPr id="7" name="Picture 6"/>
          <p:cNvPicPr>
            <a:picLocks noChangeAspect="1"/>
          </p:cNvPicPr>
          <p:nvPr/>
        </p:nvPicPr>
        <p:blipFill>
          <a:blip r:embed="rId3"/>
          <a:stretch>
            <a:fillRect/>
          </a:stretch>
        </p:blipFill>
        <p:spPr>
          <a:xfrm>
            <a:off x="7707637" y="2449685"/>
            <a:ext cx="2986934" cy="2804301"/>
          </a:xfrm>
          <a:prstGeom prst="rect">
            <a:avLst/>
          </a:prstGeom>
        </p:spPr>
      </p:pic>
      <p:sp>
        <p:nvSpPr>
          <p:cNvPr id="8" name="Rectangle 7"/>
          <p:cNvSpPr/>
          <p:nvPr/>
        </p:nvSpPr>
        <p:spPr>
          <a:xfrm>
            <a:off x="8185441" y="5321235"/>
            <a:ext cx="2031325" cy="369332"/>
          </a:xfrm>
          <a:prstGeom prst="rect">
            <a:avLst/>
          </a:prstGeom>
        </p:spPr>
        <p:txBody>
          <a:bodyPr wrap="none">
            <a:spAutoFit/>
          </a:bodyPr>
          <a:lstStyle/>
          <a:p>
            <a:r>
              <a:rPr lang="zh-TW" altLang="en-US" dirty="0">
                <a:latin typeface="Noto Sans CJK TC Light" panose="020B0300000000000000" pitchFamily="34" charset="-128"/>
                <a:ea typeface="Noto Sans CJK TC Light" panose="020B0300000000000000" pitchFamily="34" charset="-128"/>
              </a:rPr>
              <a:t>中位元深度的數據</a:t>
            </a:r>
            <a:endParaRPr lang="en-US" dirty="0">
              <a:latin typeface="Noto Sans CJK TC Light" panose="020B0300000000000000" pitchFamily="34" charset="-128"/>
              <a:ea typeface="Noto Sans CJK TC Light" panose="020B0300000000000000" pitchFamily="34" charset="-128"/>
            </a:endParaRPr>
          </a:p>
        </p:txBody>
      </p:sp>
      <p:sp>
        <p:nvSpPr>
          <p:cNvPr id="9" name="Rectangle 8"/>
          <p:cNvSpPr/>
          <p:nvPr/>
        </p:nvSpPr>
        <p:spPr>
          <a:xfrm>
            <a:off x="2261153" y="5321235"/>
            <a:ext cx="2031325" cy="369332"/>
          </a:xfrm>
          <a:prstGeom prst="rect">
            <a:avLst/>
          </a:prstGeom>
        </p:spPr>
        <p:txBody>
          <a:bodyPr wrap="none">
            <a:spAutoFit/>
          </a:bodyPr>
          <a:lstStyle/>
          <a:p>
            <a:r>
              <a:rPr lang="zh-TW" altLang="en-US" dirty="0">
                <a:latin typeface="Noto Sans CJK TC Light" panose="020B0300000000000000" pitchFamily="34" charset="-128"/>
                <a:ea typeface="Noto Sans CJK TC Light" panose="020B0300000000000000" pitchFamily="34" charset="-128"/>
              </a:rPr>
              <a:t>高位元深度的數據</a:t>
            </a:r>
            <a:endParaRPr lang="en-US" dirty="0">
              <a:latin typeface="Noto Sans CJK TC Light" panose="020B0300000000000000" pitchFamily="34" charset="-128"/>
              <a:ea typeface="Noto Sans CJK TC Light" panose="020B0300000000000000" pitchFamily="34" charset="-128"/>
            </a:endParaRPr>
          </a:p>
        </p:txBody>
      </p:sp>
    </p:spTree>
    <p:extLst>
      <p:ext uri="{BB962C8B-B14F-4D97-AF65-F5344CB8AC3E}">
        <p14:creationId xmlns:p14="http://schemas.microsoft.com/office/powerpoint/2010/main" val="132504892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音頻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140</a:t>
            </a:fld>
            <a:endParaRPr lang="en-US" dirty="0"/>
          </a:p>
        </p:txBody>
      </p:sp>
      <p:sp>
        <p:nvSpPr>
          <p:cNvPr id="4" name="文字版面配置區 3"/>
          <p:cNvSpPr>
            <a:spLocks noGrp="1"/>
          </p:cNvSpPr>
          <p:nvPr>
            <p:ph type="body" sz="quarter" idx="14"/>
          </p:nvPr>
        </p:nvSpPr>
        <p:spPr/>
        <p:txBody>
          <a:bodyPr/>
          <a:lstStyle/>
          <a:p>
            <a:r>
              <a:rPr lang="en-US" dirty="0"/>
              <a:t>C</a:t>
            </a:r>
            <a:endParaRPr lang="en-GB" dirty="0"/>
          </a:p>
        </p:txBody>
      </p:sp>
      <p:sp>
        <p:nvSpPr>
          <p:cNvPr id="5" name="內容版面配置區 4"/>
          <p:cNvSpPr>
            <a:spLocks noGrp="1"/>
          </p:cNvSpPr>
          <p:nvPr>
            <p:ph sz="quarter" idx="15"/>
          </p:nvPr>
        </p:nvSpPr>
        <p:spPr/>
        <p:txBody>
          <a:bodyPr/>
          <a:lstStyle/>
          <a:p>
            <a:r>
              <a:rPr lang="zh-TW" altLang="en-US" dirty="0">
                <a:latin typeface="Noto Sans CJK TC Bold" panose="020B0800000000000000" pitchFamily="34" charset="-128"/>
                <a:ea typeface="Noto Sans CJK TC Bold" panose="020B0800000000000000" pitchFamily="34" charset="-128"/>
              </a:rPr>
              <a:t>取樣頻率</a:t>
            </a:r>
            <a:r>
              <a:rPr lang="zh-TW" altLang="en-US" dirty="0"/>
              <a:t>是每秒採集的音頻樣本數目。</a:t>
            </a:r>
            <a:endParaRPr lang="en-GB" dirty="0"/>
          </a:p>
        </p:txBody>
      </p:sp>
      <p:sp>
        <p:nvSpPr>
          <p:cNvPr id="6" name="Rectangle 5"/>
          <p:cNvSpPr/>
          <p:nvPr/>
        </p:nvSpPr>
        <p:spPr>
          <a:xfrm>
            <a:off x="7464957" y="5376312"/>
            <a:ext cx="3185487" cy="369332"/>
          </a:xfrm>
          <a:prstGeom prst="rect">
            <a:avLst/>
          </a:prstGeom>
        </p:spPr>
        <p:txBody>
          <a:bodyPr wrap="none">
            <a:spAutoFit/>
          </a:bodyPr>
          <a:lstStyle/>
          <a:p>
            <a:r>
              <a:rPr lang="zh-TW" altLang="en-US" dirty="0">
                <a:latin typeface="Noto Sans CJK TC Light" panose="020B0300000000000000" pitchFamily="34" charset="-128"/>
                <a:ea typeface="Noto Sans CJK TC Light" panose="020B0300000000000000" pitchFamily="34" charset="-128"/>
              </a:rPr>
              <a:t>使用較低取樣頻率取得的聲波</a:t>
            </a:r>
            <a:endParaRPr lang="en-US" dirty="0">
              <a:latin typeface="Noto Sans CJK TC Light" panose="020B0300000000000000" pitchFamily="34" charset="-128"/>
              <a:ea typeface="Noto Sans CJK TC Light" panose="020B0300000000000000" pitchFamily="34" charset="-128"/>
            </a:endParaRPr>
          </a:p>
        </p:txBody>
      </p:sp>
      <p:sp>
        <p:nvSpPr>
          <p:cNvPr id="7" name="Rectangle 6"/>
          <p:cNvSpPr/>
          <p:nvPr/>
        </p:nvSpPr>
        <p:spPr>
          <a:xfrm>
            <a:off x="2261316" y="5376312"/>
            <a:ext cx="3185487" cy="369332"/>
          </a:xfrm>
          <a:prstGeom prst="rect">
            <a:avLst/>
          </a:prstGeom>
        </p:spPr>
        <p:txBody>
          <a:bodyPr wrap="none">
            <a:spAutoFit/>
          </a:bodyPr>
          <a:lstStyle/>
          <a:p>
            <a:r>
              <a:rPr lang="zh-TW" altLang="en-US" dirty="0">
                <a:latin typeface="Noto Sans CJK TC Light" panose="020B0300000000000000" pitchFamily="34" charset="-128"/>
                <a:ea typeface="Noto Sans CJK TC Light" panose="020B0300000000000000" pitchFamily="34" charset="-128"/>
              </a:rPr>
              <a:t>使用較高取樣頻率取得的聲波</a:t>
            </a:r>
            <a:endParaRPr lang="en-US" dirty="0">
              <a:latin typeface="Noto Sans CJK TC Light" panose="020B0300000000000000" pitchFamily="34" charset="-128"/>
              <a:ea typeface="Noto Sans CJK TC Light" panose="020B0300000000000000" pitchFamily="34" charset="-128"/>
            </a:endParaRPr>
          </a:p>
        </p:txBody>
      </p:sp>
      <p:pic>
        <p:nvPicPr>
          <p:cNvPr id="8" name="Picture 7"/>
          <p:cNvPicPr>
            <a:picLocks noChangeAspect="1"/>
          </p:cNvPicPr>
          <p:nvPr/>
        </p:nvPicPr>
        <p:blipFill rotWithShape="1">
          <a:blip r:embed="rId2"/>
          <a:srcRect l="467"/>
          <a:stretch/>
        </p:blipFill>
        <p:spPr>
          <a:xfrm>
            <a:off x="2512002" y="2382559"/>
            <a:ext cx="2400820" cy="3058519"/>
          </a:xfrm>
          <a:prstGeom prst="rect">
            <a:avLst/>
          </a:prstGeom>
        </p:spPr>
      </p:pic>
      <p:pic>
        <p:nvPicPr>
          <p:cNvPr id="9" name="Picture 8"/>
          <p:cNvPicPr>
            <a:picLocks noChangeAspect="1"/>
          </p:cNvPicPr>
          <p:nvPr/>
        </p:nvPicPr>
        <p:blipFill rotWithShape="1">
          <a:blip r:embed="rId3"/>
          <a:srcRect l="813" r="464"/>
          <a:stretch/>
        </p:blipFill>
        <p:spPr>
          <a:xfrm>
            <a:off x="7728278" y="2382559"/>
            <a:ext cx="2341557" cy="2993753"/>
          </a:xfrm>
          <a:prstGeom prst="rect">
            <a:avLst/>
          </a:prstGeom>
        </p:spPr>
      </p:pic>
    </p:spTree>
    <p:extLst>
      <p:ext uri="{BB962C8B-B14F-4D97-AF65-F5344CB8AC3E}">
        <p14:creationId xmlns:p14="http://schemas.microsoft.com/office/powerpoint/2010/main" val="140433245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音頻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141</a:t>
            </a:fld>
            <a:endParaRPr lang="en-US" dirty="0"/>
          </a:p>
        </p:txBody>
      </p:sp>
      <p:sp>
        <p:nvSpPr>
          <p:cNvPr id="4" name="文字版面配置區 3"/>
          <p:cNvSpPr>
            <a:spLocks noGrp="1"/>
          </p:cNvSpPr>
          <p:nvPr>
            <p:ph type="body" sz="quarter" idx="14"/>
          </p:nvPr>
        </p:nvSpPr>
        <p:spPr/>
        <p:txBody>
          <a:bodyPr/>
          <a:lstStyle/>
          <a:p>
            <a:r>
              <a:rPr lang="en-US" dirty="0"/>
              <a:t>C</a:t>
            </a:r>
            <a:endParaRPr lang="en-GB" dirty="0"/>
          </a:p>
        </p:txBody>
      </p:sp>
      <p:sp>
        <p:nvSpPr>
          <p:cNvPr id="5" name="內容版面配置區 4"/>
          <p:cNvSpPr>
            <a:spLocks noGrp="1"/>
          </p:cNvSpPr>
          <p:nvPr>
            <p:ph sz="quarter" idx="15"/>
          </p:nvPr>
        </p:nvSpPr>
        <p:spPr/>
        <p:txBody>
          <a:bodyPr/>
          <a:lstStyle/>
          <a:p>
            <a:r>
              <a:rPr lang="zh-TW" altLang="en-US" dirty="0">
                <a:latin typeface="+mn-lt"/>
              </a:rPr>
              <a:t>音頻檔案可能有多個</a:t>
            </a:r>
            <a:r>
              <a:rPr lang="zh-TW" altLang="en-US" dirty="0">
                <a:latin typeface="Noto Sans CJK TC Bold" panose="020B0800000000000000" pitchFamily="34" charset="-128"/>
                <a:ea typeface="Noto Sans CJK TC Bold" panose="020B0800000000000000" pitchFamily="34" charset="-128"/>
              </a:rPr>
              <a:t>聲道</a:t>
            </a:r>
            <a:r>
              <a:rPr lang="zh-TW" altLang="en-US" dirty="0">
                <a:latin typeface="+mn-lt"/>
              </a:rPr>
              <a:t>。例如：</a:t>
            </a:r>
            <a:endParaRPr lang="en-US" altLang="zh-TW" dirty="0">
              <a:latin typeface="+mn-lt"/>
            </a:endParaRPr>
          </a:p>
          <a:p>
            <a:pPr marL="342900" indent="-342900">
              <a:buFont typeface="Arial" panose="020B0604020202020204" pitchFamily="34" charset="0"/>
              <a:buChar char="•"/>
            </a:pPr>
            <a:r>
              <a:rPr lang="zh-TW" altLang="en-US" dirty="0">
                <a:latin typeface="+mn-lt"/>
              </a:rPr>
              <a:t>立體聲音頻（兩個聲道）</a:t>
            </a:r>
            <a:endParaRPr lang="en-US" altLang="zh-TW" dirty="0">
              <a:latin typeface="+mn-lt"/>
            </a:endParaRPr>
          </a:p>
          <a:p>
            <a:pPr marL="342900" indent="-342900">
              <a:buFont typeface="Arial" panose="020B0604020202020204" pitchFamily="34" charset="0"/>
              <a:buChar char="•"/>
            </a:pPr>
            <a:r>
              <a:rPr lang="en-US" altLang="zh-TW" dirty="0">
                <a:latin typeface="+mn-lt"/>
              </a:rPr>
              <a:t>5.1 </a:t>
            </a:r>
            <a:r>
              <a:rPr lang="zh-TW" altLang="en-US" dirty="0">
                <a:latin typeface="+mn-lt"/>
              </a:rPr>
              <a:t>環繞聲（六個聲道）</a:t>
            </a:r>
            <a:endParaRPr lang="en-US" altLang="zh-TW" dirty="0">
              <a:latin typeface="+mn-lt"/>
            </a:endParaRPr>
          </a:p>
          <a:p>
            <a:pPr marL="342900" indent="-342900">
              <a:buFont typeface="Arial" panose="020B0604020202020204" pitchFamily="34" charset="0"/>
              <a:buChar char="•"/>
            </a:pPr>
            <a:endParaRPr lang="en-US" altLang="zh-TW" dirty="0">
              <a:latin typeface="+mn-lt"/>
            </a:endParaRPr>
          </a:p>
          <a:p>
            <a:r>
              <a:rPr lang="zh-TW" altLang="en-US" dirty="0">
                <a:latin typeface="Noto Sans CJK TC Bold" panose="020B0800000000000000" pitchFamily="34" charset="-128"/>
                <a:ea typeface="Noto Sans CJK TC Bold" panose="020B0800000000000000" pitchFamily="34" charset="-128"/>
              </a:rPr>
              <a:t>未壓縮</a:t>
            </a:r>
            <a:r>
              <a:rPr lang="zh-TW" altLang="en-US" dirty="0">
                <a:latin typeface="+mn-lt"/>
              </a:rPr>
              <a:t>的音頻檔案大小為：</a:t>
            </a:r>
            <a:endParaRPr lang="en-US" altLang="zh-TW" dirty="0">
              <a:latin typeface="+mn-lt"/>
            </a:endParaRPr>
          </a:p>
          <a:p>
            <a:r>
              <a:rPr lang="en-US" altLang="zh-TW" dirty="0">
                <a:latin typeface="+mn-lt"/>
              </a:rPr>
              <a:t>	</a:t>
            </a:r>
            <a:r>
              <a:rPr lang="zh-TW" altLang="en-US" u="sng" dirty="0">
                <a:latin typeface="+mn-lt"/>
              </a:rPr>
              <a:t>位元深度 </a:t>
            </a:r>
            <a:r>
              <a:rPr lang="en-US" altLang="zh-TW" u="sng" dirty="0">
                <a:latin typeface="+mn-lt"/>
              </a:rPr>
              <a:t>× </a:t>
            </a:r>
            <a:r>
              <a:rPr lang="zh-TW" altLang="en-US" u="sng" dirty="0">
                <a:latin typeface="+mn-lt"/>
              </a:rPr>
              <a:t>聲道數目 </a:t>
            </a:r>
            <a:r>
              <a:rPr lang="en-US" altLang="zh-TW" u="sng" dirty="0">
                <a:latin typeface="+mn-lt"/>
              </a:rPr>
              <a:t>× </a:t>
            </a:r>
            <a:r>
              <a:rPr lang="zh-TW" altLang="en-US" u="sng" dirty="0">
                <a:latin typeface="+mn-lt"/>
              </a:rPr>
              <a:t>取樣頻率 </a:t>
            </a:r>
            <a:r>
              <a:rPr lang="en-US" altLang="zh-TW" u="sng" dirty="0">
                <a:latin typeface="+mn-lt"/>
              </a:rPr>
              <a:t>× </a:t>
            </a:r>
            <a:r>
              <a:rPr lang="zh-TW" altLang="en-US" u="sng" dirty="0">
                <a:latin typeface="+mn-lt"/>
              </a:rPr>
              <a:t>音頻時長</a:t>
            </a:r>
            <a:endParaRPr lang="en-US" u="sng" dirty="0">
              <a:latin typeface="+mn-lt"/>
            </a:endParaRPr>
          </a:p>
        </p:txBody>
      </p:sp>
      <p:pic>
        <p:nvPicPr>
          <p:cNvPr id="6" name="Picture 5"/>
          <p:cNvPicPr>
            <a:picLocks noChangeAspect="1"/>
          </p:cNvPicPr>
          <p:nvPr/>
        </p:nvPicPr>
        <p:blipFill>
          <a:blip r:embed="rId2"/>
          <a:stretch>
            <a:fillRect/>
          </a:stretch>
        </p:blipFill>
        <p:spPr>
          <a:xfrm>
            <a:off x="8322571" y="2259937"/>
            <a:ext cx="3398519" cy="1881323"/>
          </a:xfrm>
          <a:prstGeom prst="rect">
            <a:avLst/>
          </a:prstGeom>
        </p:spPr>
      </p:pic>
    </p:spTree>
    <p:extLst>
      <p:ext uri="{BB962C8B-B14F-4D97-AF65-F5344CB8AC3E}">
        <p14:creationId xmlns:p14="http://schemas.microsoft.com/office/powerpoint/2010/main" val="300581778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音頻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142</a:t>
            </a:fld>
            <a:endParaRPr lang="en-US" dirty="0"/>
          </a:p>
        </p:txBody>
      </p:sp>
      <p:sp>
        <p:nvSpPr>
          <p:cNvPr id="4" name="文字版面配置區 3"/>
          <p:cNvSpPr>
            <a:spLocks noGrp="1"/>
          </p:cNvSpPr>
          <p:nvPr>
            <p:ph type="body" sz="quarter" idx="14"/>
          </p:nvPr>
        </p:nvSpPr>
        <p:spPr/>
        <p:txBody>
          <a:bodyPr/>
          <a:lstStyle/>
          <a:p>
            <a:r>
              <a:rPr lang="en-US" altLang="zh-TW" dirty="0"/>
              <a:t>C</a:t>
            </a:r>
            <a:endParaRPr lang="en-GB" dirty="0"/>
          </a:p>
        </p:txBody>
      </p:sp>
      <p:sp>
        <p:nvSpPr>
          <p:cNvPr id="5" name="內容版面配置區 4"/>
          <p:cNvSpPr>
            <a:spLocks noGrp="1"/>
          </p:cNvSpPr>
          <p:nvPr>
            <p:ph sz="quarter" idx="15"/>
          </p:nvPr>
        </p:nvSpPr>
        <p:spPr/>
        <p:txBody>
          <a:bodyPr/>
          <a:lstStyle/>
          <a:p>
            <a:r>
              <a:rPr lang="zh-TW" altLang="en-US" dirty="0"/>
              <a:t>常見音頻檔案格式包括：</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1833803828"/>
              </p:ext>
            </p:extLst>
          </p:nvPr>
        </p:nvGraphicFramePr>
        <p:xfrm>
          <a:off x="1810800" y="2486160"/>
          <a:ext cx="8278590" cy="2499266"/>
        </p:xfrm>
        <a:graphic>
          <a:graphicData uri="http://schemas.openxmlformats.org/drawingml/2006/table">
            <a:tbl>
              <a:tblPr firstRow="1" bandRow="1">
                <a:tableStyleId>{5940675A-B579-460E-94D1-54222C63F5DA}</a:tableStyleId>
              </a:tblPr>
              <a:tblGrid>
                <a:gridCol w="1486077">
                  <a:extLst>
                    <a:ext uri="{9D8B030D-6E8A-4147-A177-3AD203B41FA5}">
                      <a16:colId xmlns:a16="http://schemas.microsoft.com/office/drawing/2014/main" val="20000"/>
                    </a:ext>
                  </a:extLst>
                </a:gridCol>
                <a:gridCol w="1541782">
                  <a:extLst>
                    <a:ext uri="{9D8B030D-6E8A-4147-A177-3AD203B41FA5}">
                      <a16:colId xmlns:a16="http://schemas.microsoft.com/office/drawing/2014/main" val="20001"/>
                    </a:ext>
                  </a:extLst>
                </a:gridCol>
                <a:gridCol w="5250731">
                  <a:extLst>
                    <a:ext uri="{9D8B030D-6E8A-4147-A177-3AD203B41FA5}">
                      <a16:colId xmlns:a16="http://schemas.microsoft.com/office/drawing/2014/main" val="20002"/>
                    </a:ext>
                  </a:extLst>
                </a:gridCol>
              </a:tblGrid>
              <a:tr h="452572">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壓織</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備註</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00993">
                <a:tc>
                  <a:txBody>
                    <a:bodyPr/>
                    <a:lstStyle/>
                    <a:p>
                      <a:pPr algn="ctr"/>
                      <a:r>
                        <a:rPr lang="en-HK" b="1">
                          <a:solidFill>
                            <a:schemeClr val="bg1"/>
                          </a:solidFill>
                        </a:rPr>
                        <a:t>WAV/WAVE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未經壓縮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高音質。</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檔案相對較大。</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644708">
                <a:tc>
                  <a:txBody>
                    <a:bodyPr/>
                    <a:lstStyle/>
                    <a:p>
                      <a:pPr algn="ctr"/>
                      <a:r>
                        <a:rPr lang="en-HK" b="1" dirty="0">
                          <a:solidFill>
                            <a:schemeClr val="bg1"/>
                          </a:solidFill>
                        </a:rPr>
                        <a:t>MP3,</a:t>
                      </a:r>
                      <a:r>
                        <a:rPr lang="en-HK" b="1" baseline="0" dirty="0">
                          <a:solidFill>
                            <a:schemeClr val="bg1"/>
                          </a:solidFill>
                        </a:rPr>
                        <a:t> AAC, OGG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dirty="0">
                          <a:latin typeface="Noto Sans CJK TC Light" panose="020B0300000000000000" pitchFamily="34" charset="-128"/>
                          <a:ea typeface="Noto Sans CJK TC Light" panose="020B0300000000000000" pitchFamily="34" charset="-128"/>
                        </a:rPr>
                        <a:t>有損壓縮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l"/>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檔案相對較小。</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700993">
                <a:tc>
                  <a:txBody>
                    <a:bodyPr/>
                    <a:lstStyle/>
                    <a:p>
                      <a:pPr algn="ctr"/>
                      <a:r>
                        <a:rPr lang="en-HK" b="1" dirty="0">
                          <a:solidFill>
                            <a:schemeClr val="bg1"/>
                          </a:solidFill>
                        </a:rPr>
                        <a:t>FLAC, ALAC</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dirty="0">
                          <a:latin typeface="Noto Sans CJK TC Light" panose="020B0300000000000000" pitchFamily="34" charset="-128"/>
                          <a:ea typeface="Noto Sans CJK TC Light" panose="020B0300000000000000" pitchFamily="34" charset="-128"/>
                        </a:rPr>
                        <a:t>無損壓縮</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高音質。</a:t>
                      </a:r>
                    </a:p>
                    <a:p>
                      <a:r>
                        <a:rPr lang="zh-TW" altLang="en-US" sz="1800" b="0" i="0" u="none" strike="noStrike" kern="1200" baseline="0" dirty="0">
                          <a:solidFill>
                            <a:schemeClr val="tx1"/>
                          </a:solidFill>
                          <a:latin typeface="Noto Sans CJK TC Light" panose="020B0300000000000000" pitchFamily="34" charset="-128"/>
                          <a:ea typeface="Noto Sans CJK TC Light" panose="020B0300000000000000" pitchFamily="34" charset="-128"/>
                          <a:cs typeface="+mn-cs"/>
                        </a:rPr>
                        <a:t>檔案相對較大。</a:t>
                      </a:r>
                      <a:endParaRPr lang="en-US" dirty="0">
                        <a:latin typeface="Noto Sans CJK TC Light" panose="020B0300000000000000" pitchFamily="34" charset="-128"/>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709582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a:xfrm>
            <a:off x="711200" y="1392800"/>
            <a:ext cx="10515600" cy="4860000"/>
          </a:xfrm>
        </p:spPr>
        <p:txBody>
          <a:bodyPr/>
          <a:lstStyle/>
          <a:p>
            <a:r>
              <a:rPr lang="zh-TW" altLang="en-US" dirty="0">
                <a:latin typeface="+mn-lt"/>
              </a:rPr>
              <a:t>試完成課本第 </a:t>
            </a:r>
            <a:r>
              <a:rPr lang="en-US" altLang="zh-TW" dirty="0">
                <a:latin typeface="+mn-lt"/>
              </a:rPr>
              <a:t>119 </a:t>
            </a:r>
            <a:r>
              <a:rPr lang="zh-TW" altLang="en-US" dirty="0">
                <a:latin typeface="+mn-lt"/>
              </a:rPr>
              <a:t>頁的實驗站 </a:t>
            </a:r>
            <a:r>
              <a:rPr lang="en-US" altLang="zh-TW" dirty="0">
                <a:latin typeface="+mn-lt"/>
              </a:rPr>
              <a:t>3.101</a:t>
            </a:r>
            <a:r>
              <a:rPr lang="zh-TW" altLang="en-US" dirty="0">
                <a:latin typeface="+mn-lt"/>
              </a:rPr>
              <a:t>。</a:t>
            </a:r>
            <a:endParaRPr lang="en-US" altLang="zh-TW"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r>
              <a:rPr lang="zh-TW" altLang="en-US" dirty="0">
                <a:latin typeface="+mn-lt"/>
              </a:rPr>
              <a:t>檔案大小（以</a:t>
            </a:r>
            <a:r>
              <a:rPr lang="en-US" altLang="zh-TW" dirty="0">
                <a:latin typeface="+mn-lt"/>
              </a:rPr>
              <a:t> MB </a:t>
            </a:r>
            <a:r>
              <a:rPr lang="zh-TW" altLang="en-US" dirty="0">
                <a:latin typeface="+mn-lt"/>
              </a:rPr>
              <a:t>為單位）</a:t>
            </a:r>
            <a:r>
              <a:rPr lang="en-US" altLang="zh-TW" dirty="0">
                <a:latin typeface="+mn-lt"/>
              </a:rPr>
              <a:t>=</a:t>
            </a:r>
          </a:p>
          <a:p>
            <a:r>
              <a:rPr lang="en-GB" dirty="0">
                <a:solidFill>
                  <a:srgbClr val="FF0000"/>
                </a:solidFill>
                <a:latin typeface="+mn-lt"/>
              </a:rPr>
              <a:t>16 bits × 2 × 96,000 × (60 × 2 + 30) = 4 bytes × 96,000 × 150</a:t>
            </a:r>
            <a:r>
              <a:rPr lang="zh-TW" altLang="en-US" dirty="0">
                <a:solidFill>
                  <a:srgbClr val="FF0000"/>
                </a:solidFill>
                <a:latin typeface="+mn-lt"/>
              </a:rPr>
              <a:t> </a:t>
            </a:r>
            <a:r>
              <a:rPr lang="en-US" altLang="zh-TW" dirty="0">
                <a:solidFill>
                  <a:srgbClr val="FF0000"/>
                </a:solidFill>
                <a:latin typeface="+mn-lt"/>
              </a:rPr>
              <a:t>= (57,600,000 ÷ 1,024) </a:t>
            </a:r>
            <a:r>
              <a:rPr lang="en-GB" dirty="0">
                <a:solidFill>
                  <a:srgbClr val="FF0000"/>
                </a:solidFill>
                <a:latin typeface="+mn-lt"/>
              </a:rPr>
              <a:t>KB = (56,250 ÷ 1,024) MB ≈ 54.9 MB</a:t>
            </a:r>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143</a:t>
            </a:fld>
            <a:endParaRPr lang="en-US" dirty="0"/>
          </a:p>
        </p:txBody>
      </p:sp>
      <p:sp>
        <p:nvSpPr>
          <p:cNvPr id="7" name="文字版面配置區 6"/>
          <p:cNvSpPr>
            <a:spLocks noGrp="1"/>
          </p:cNvSpPr>
          <p:nvPr>
            <p:ph type="body" sz="quarter" idx="13"/>
          </p:nvPr>
        </p:nvSpPr>
        <p:spPr/>
        <p:txBody>
          <a:bodyPr/>
          <a:lstStyle/>
          <a:p>
            <a:r>
              <a:rPr lang="en-US" dirty="0"/>
              <a:t>3.10</a:t>
            </a:r>
          </a:p>
        </p:txBody>
      </p:sp>
      <p:graphicFrame>
        <p:nvGraphicFramePr>
          <p:cNvPr id="8" name="Table 4"/>
          <p:cNvGraphicFramePr>
            <a:graphicFrameLocks noGrp="1"/>
          </p:cNvGraphicFramePr>
          <p:nvPr>
            <p:extLst>
              <p:ext uri="{D42A27DB-BD31-4B8C-83A1-F6EECF244321}">
                <p14:modId xmlns:p14="http://schemas.microsoft.com/office/powerpoint/2010/main" val="2208290761"/>
              </p:ext>
            </p:extLst>
          </p:nvPr>
        </p:nvGraphicFramePr>
        <p:xfrm>
          <a:off x="969349" y="2100132"/>
          <a:ext cx="4607648" cy="148336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位元深度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16 </a:t>
                      </a:r>
                      <a:r>
                        <a:rPr lang="zh-TW" altLang="en-US" dirty="0"/>
                        <a:t>位元</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聲道數</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取樣頻率</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96,000</a:t>
                      </a:r>
                      <a:r>
                        <a:rPr lang="en-HK" baseline="0" dirty="0"/>
                        <a:t> Hz</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zh-TW" altLang="en-US" b="1" dirty="0">
                          <a:solidFill>
                            <a:schemeClr val="bg1"/>
                          </a:solidFill>
                          <a:latin typeface="Noto Sans CJK TC Bold" panose="020B0800000000000000" pitchFamily="34" charset="-128"/>
                          <a:ea typeface="Noto Sans CJK TC Bold" panose="020B0800000000000000" pitchFamily="34" charset="-128"/>
                        </a:rPr>
                        <a:t>長度</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2</a:t>
                      </a:r>
                      <a:r>
                        <a:rPr lang="en-HK" baseline="0" dirty="0"/>
                        <a:t> </a:t>
                      </a:r>
                      <a:r>
                        <a:rPr lang="zh-TW" altLang="en-US" baseline="0" dirty="0"/>
                        <a:t>分</a:t>
                      </a:r>
                      <a:r>
                        <a:rPr lang="en-US" altLang="zh-TW" baseline="0" dirty="0"/>
                        <a:t> 30 </a:t>
                      </a:r>
                      <a:r>
                        <a:rPr lang="zh-TW" altLang="en-US" baseline="0" dirty="0"/>
                        <a:t>秒</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5197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Effect transition="in" filter="fade">
                                      <p:cBhvr>
                                        <p:cTn id="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pPr marL="457200" indent="-457200">
              <a:buAutoNum type="arabicPeriod"/>
            </a:pPr>
            <a:r>
              <a:rPr lang="zh-TW" altLang="en-US" dirty="0">
                <a:latin typeface="+mn-lt"/>
              </a:rPr>
              <a:t>明偉想將他的歌曲上傳到他的個人網站，然而他的網站儲存空間有限。他應該選擇哪種音頻格式？</a:t>
            </a:r>
            <a:endParaRPr lang="en-US" altLang="zh-TW" dirty="0">
              <a:latin typeface="+mn-lt"/>
            </a:endParaRPr>
          </a:p>
          <a:p>
            <a:pPr marL="457200" indent="-457200">
              <a:buAutoNum type="arabicPeriod"/>
            </a:pPr>
            <a:endParaRPr lang="en-HK" dirty="0">
              <a:latin typeface="+mn-lt"/>
            </a:endParaRPr>
          </a:p>
          <a:p>
            <a:pPr marL="800100" lvl="1" indent="-342900">
              <a:buAutoNum type="alphaUcPeriod"/>
            </a:pPr>
            <a:r>
              <a:rPr lang="en-HK" sz="2000" dirty="0">
                <a:latin typeface="+mn-lt"/>
              </a:rPr>
              <a:t>MP3</a:t>
            </a:r>
          </a:p>
          <a:p>
            <a:pPr marL="800100" lvl="1" indent="-342900">
              <a:buAutoNum type="alphaUcPeriod"/>
            </a:pPr>
            <a:r>
              <a:rPr lang="en-HK" sz="2000" dirty="0">
                <a:latin typeface="+mn-lt"/>
              </a:rPr>
              <a:t>AVI</a:t>
            </a:r>
          </a:p>
          <a:p>
            <a:pPr marL="800100" lvl="1" indent="-342900">
              <a:buAutoNum type="alphaUcPeriod"/>
            </a:pPr>
            <a:r>
              <a:rPr lang="en-HK" sz="2000" dirty="0">
                <a:latin typeface="+mn-lt"/>
              </a:rPr>
              <a:t>WAV</a:t>
            </a:r>
          </a:p>
          <a:p>
            <a:pPr marL="800100" lvl="1" indent="-342900">
              <a:buAutoNum type="alphaUcPeriod"/>
            </a:pPr>
            <a:r>
              <a:rPr lang="en-HK" sz="2000" dirty="0">
                <a:latin typeface="+mn-lt"/>
              </a:rPr>
              <a:t>WMV</a:t>
            </a:r>
            <a:endParaRPr lang="en-US" sz="2000" dirty="0">
              <a:latin typeface="+mn-lt"/>
            </a:endParaRPr>
          </a:p>
          <a:p>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144</a:t>
            </a:fld>
            <a:endParaRPr lang="en-US" dirty="0"/>
          </a:p>
        </p:txBody>
      </p:sp>
      <p:sp>
        <p:nvSpPr>
          <p:cNvPr id="6" name="文字版面配置區 5"/>
          <p:cNvSpPr>
            <a:spLocks noGrp="1"/>
          </p:cNvSpPr>
          <p:nvPr>
            <p:ph type="body" sz="quarter" idx="13"/>
          </p:nvPr>
        </p:nvSpPr>
        <p:spPr/>
        <p:txBody>
          <a:bodyPr/>
          <a:lstStyle/>
          <a:p>
            <a:r>
              <a:rPr lang="en-US" dirty="0"/>
              <a:t>3.9</a:t>
            </a:r>
            <a:endParaRPr lang="en-GB" dirty="0"/>
          </a:p>
        </p:txBody>
      </p:sp>
    </p:spTree>
    <p:extLst>
      <p:ext uri="{BB962C8B-B14F-4D97-AF65-F5344CB8AC3E}">
        <p14:creationId xmlns:p14="http://schemas.microsoft.com/office/powerpoint/2010/main" val="280059448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en-US" altLang="zh-TW" dirty="0">
                <a:latin typeface="+mn-lt"/>
              </a:rPr>
              <a:t>AVI </a:t>
            </a:r>
            <a:r>
              <a:rPr lang="zh-TW" altLang="en-US" dirty="0">
                <a:latin typeface="+mn-lt"/>
              </a:rPr>
              <a:t>和 </a:t>
            </a:r>
            <a:r>
              <a:rPr lang="en-US" altLang="zh-TW" dirty="0">
                <a:latin typeface="+mn-lt"/>
              </a:rPr>
              <a:t>WMV </a:t>
            </a:r>
            <a:r>
              <a:rPr lang="zh-TW" altLang="en-US" dirty="0">
                <a:latin typeface="+mn-lt"/>
              </a:rPr>
              <a:t>不是音頻檔案格式。</a:t>
            </a:r>
            <a:r>
              <a:rPr lang="en-US" altLang="zh-TW" dirty="0">
                <a:latin typeface="+mn-lt"/>
              </a:rPr>
              <a:t>WAV </a:t>
            </a:r>
            <a:r>
              <a:rPr lang="zh-TW" altLang="en-US" dirty="0">
                <a:latin typeface="+mn-lt"/>
              </a:rPr>
              <a:t>是一種未壓縮的檔案格式，而 </a:t>
            </a:r>
            <a:r>
              <a:rPr lang="en-US" altLang="zh-TW" dirty="0">
                <a:latin typeface="+mn-lt"/>
              </a:rPr>
              <a:t>MP3 </a:t>
            </a:r>
            <a:r>
              <a:rPr lang="zh-TW" altLang="en-US" dirty="0">
                <a:latin typeface="+mn-lt"/>
              </a:rPr>
              <a:t>是一種已壓縮的檔案格式。因此，</a:t>
            </a:r>
            <a:r>
              <a:rPr lang="en-US" altLang="zh-TW" dirty="0">
                <a:latin typeface="+mn-lt"/>
              </a:rPr>
              <a:t>MP3 </a:t>
            </a:r>
            <a:r>
              <a:rPr lang="zh-TW" altLang="en-US" dirty="0">
                <a:latin typeface="+mn-lt"/>
              </a:rPr>
              <a:t>檔案的大小相對較小。</a:t>
            </a:r>
            <a:endParaRPr lang="en-HK"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A</a:t>
            </a:r>
            <a:r>
              <a:rPr lang="zh-TW" altLang="en-US" dirty="0">
                <a:latin typeface="+mn-lt"/>
              </a:rPr>
              <a:t>。</a:t>
            </a:r>
            <a:endParaRPr lang="en-GB"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145</a:t>
            </a:fld>
            <a:endParaRPr lang="en-US" dirty="0"/>
          </a:p>
        </p:txBody>
      </p:sp>
      <p:sp>
        <p:nvSpPr>
          <p:cNvPr id="4" name="文字版面配置區 3"/>
          <p:cNvSpPr>
            <a:spLocks noGrp="1"/>
          </p:cNvSpPr>
          <p:nvPr>
            <p:ph type="body" sz="quarter" idx="13"/>
          </p:nvPr>
        </p:nvSpPr>
        <p:spPr/>
        <p:txBody>
          <a:bodyPr/>
          <a:lstStyle/>
          <a:p>
            <a:r>
              <a:rPr lang="en-US" dirty="0"/>
              <a:t>3.9</a:t>
            </a:r>
            <a:endParaRPr lang="en-GB" dirty="0"/>
          </a:p>
        </p:txBody>
      </p:sp>
    </p:spTree>
    <p:extLst>
      <p:ext uri="{BB962C8B-B14F-4D97-AF65-F5344CB8AC3E}">
        <p14:creationId xmlns:p14="http://schemas.microsoft.com/office/powerpoint/2010/main" val="262962914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119 </a:t>
            </a:r>
            <a:r>
              <a:rPr lang="zh-TW" altLang="en-US" dirty="0">
                <a:latin typeface="+mn-lt"/>
              </a:rPr>
              <a:t>頁的測試站 </a:t>
            </a:r>
            <a:r>
              <a:rPr lang="en-US" altLang="zh-TW" dirty="0">
                <a:latin typeface="+mn-lt"/>
              </a:rPr>
              <a:t>3.9</a:t>
            </a:r>
            <a:r>
              <a:rPr lang="zh-TW" altLang="en-US" dirty="0">
                <a:latin typeface="+mn-lt"/>
              </a:rPr>
              <a:t>。</a:t>
            </a:r>
            <a:endParaRPr lang="en-US" altLang="zh-TW" dirty="0">
              <a:latin typeface="+mn-lt"/>
            </a:endParaRPr>
          </a:p>
          <a:p>
            <a:endParaRPr lang="en-US" dirty="0">
              <a:latin typeface="+mn-lt"/>
            </a:endParaRPr>
          </a:p>
          <a:p>
            <a:pPr marL="457200" lvl="0" indent="-342900">
              <a:buClr>
                <a:schemeClr val="dk1"/>
              </a:buClr>
              <a:buSzPts val="1800"/>
              <a:buFont typeface="+mj-lt"/>
              <a:buAutoNum type="arabicPeriod"/>
            </a:pPr>
            <a:r>
              <a:rPr lang="zh-TW" altLang="en-US" dirty="0">
                <a:latin typeface="+mn-lt"/>
                <a:ea typeface="Calibri"/>
                <a:cs typeface="Calibri"/>
                <a:sym typeface="Calibri"/>
              </a:rPr>
              <a:t>優點：</a:t>
            </a:r>
            <a:r>
              <a:rPr lang="en-US" altLang="zh-TW" dirty="0">
                <a:solidFill>
                  <a:srgbClr val="FF0000"/>
                </a:solidFill>
                <a:latin typeface="+mn-lt"/>
                <a:ea typeface="Calibri"/>
                <a:cs typeface="Calibri"/>
                <a:sym typeface="Calibri"/>
              </a:rPr>
              <a:t>WAV </a:t>
            </a:r>
            <a:r>
              <a:rPr lang="zh-TW" altLang="en-US" dirty="0">
                <a:solidFill>
                  <a:srgbClr val="FF0000"/>
                </a:solidFill>
                <a:latin typeface="+mn-lt"/>
                <a:ea typeface="Calibri"/>
                <a:cs typeface="Calibri"/>
                <a:sym typeface="Calibri"/>
              </a:rPr>
              <a:t>的音頻質量更高。</a:t>
            </a:r>
            <a:r>
              <a:rPr lang="en-HK" dirty="0">
                <a:solidFill>
                  <a:srgbClr val="FF0000"/>
                </a:solidFill>
                <a:latin typeface="+mn-lt"/>
                <a:ea typeface="Calibri"/>
                <a:cs typeface="Calibri"/>
                <a:sym typeface="Calibri"/>
              </a:rPr>
              <a:t> </a:t>
            </a:r>
            <a:endParaRPr lang="en-US" dirty="0">
              <a:solidFill>
                <a:schemeClr val="dk1"/>
              </a:solidFill>
              <a:latin typeface="+mn-lt"/>
              <a:ea typeface="Calibri"/>
              <a:cs typeface="Calibri"/>
              <a:sym typeface="Calibri"/>
            </a:endParaRPr>
          </a:p>
          <a:p>
            <a:pPr marL="457200" lvl="0"/>
            <a:endParaRPr lang="en-US" dirty="0">
              <a:solidFill>
                <a:srgbClr val="FF0000"/>
              </a:solidFill>
              <a:latin typeface="+mn-lt"/>
              <a:ea typeface="Calibri"/>
              <a:cs typeface="Calibri"/>
              <a:sym typeface="Calibri"/>
            </a:endParaRPr>
          </a:p>
          <a:p>
            <a:pPr marL="457200"/>
            <a:r>
              <a:rPr lang="zh-TW" altLang="en-US" dirty="0">
                <a:latin typeface="+mn-lt"/>
                <a:ea typeface="Calibri"/>
                <a:cs typeface="Calibri"/>
                <a:sym typeface="Calibri"/>
              </a:rPr>
              <a:t>缺點：</a:t>
            </a:r>
            <a:r>
              <a:rPr lang="en-HK" dirty="0">
                <a:solidFill>
                  <a:srgbClr val="FF0000"/>
                </a:solidFill>
                <a:latin typeface="+mn-lt"/>
                <a:ea typeface="Calibri"/>
                <a:cs typeface="Calibri"/>
                <a:sym typeface="Calibri"/>
              </a:rPr>
              <a:t>WAV </a:t>
            </a:r>
            <a:r>
              <a:rPr lang="zh-TW" altLang="en-US" dirty="0">
                <a:solidFill>
                  <a:srgbClr val="FF0000"/>
                </a:solidFill>
                <a:latin typeface="+mn-lt"/>
                <a:ea typeface="Calibri"/>
                <a:cs typeface="Calibri"/>
                <a:sym typeface="Calibri"/>
              </a:rPr>
              <a:t>的大小相對較大。</a:t>
            </a:r>
            <a:endParaRPr lang="en-US" dirty="0">
              <a:latin typeface="+mn-lt"/>
              <a:ea typeface="Calibri"/>
              <a:cs typeface="Calibri"/>
              <a:sym typeface="Calibri"/>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146</a:t>
            </a:fld>
            <a:endParaRPr lang="en-US" dirty="0"/>
          </a:p>
        </p:txBody>
      </p:sp>
      <p:sp>
        <p:nvSpPr>
          <p:cNvPr id="6" name="文字版面配置區 5"/>
          <p:cNvSpPr>
            <a:spLocks noGrp="1"/>
          </p:cNvSpPr>
          <p:nvPr>
            <p:ph type="body" sz="quarter" idx="13"/>
          </p:nvPr>
        </p:nvSpPr>
        <p:spPr/>
        <p:txBody>
          <a:bodyPr/>
          <a:lstStyle/>
          <a:p>
            <a:r>
              <a:rPr lang="en-US" dirty="0"/>
              <a:t>3.9</a:t>
            </a:r>
            <a:endParaRPr lang="en-GB" dirty="0"/>
          </a:p>
        </p:txBody>
      </p:sp>
    </p:spTree>
    <p:extLst>
      <p:ext uri="{BB962C8B-B14F-4D97-AF65-F5344CB8AC3E}">
        <p14:creationId xmlns:p14="http://schemas.microsoft.com/office/powerpoint/2010/main" val="112085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fade">
                                      <p:cBhvr>
                                        <p:cTn id="1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視頻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147</a:t>
            </a:fld>
            <a:endParaRPr lang="en-US" dirty="0"/>
          </a:p>
        </p:txBody>
      </p:sp>
      <p:sp>
        <p:nvSpPr>
          <p:cNvPr id="6" name="文字版面配置區 5"/>
          <p:cNvSpPr>
            <a:spLocks noGrp="1"/>
          </p:cNvSpPr>
          <p:nvPr>
            <p:ph type="body" sz="quarter" idx="14"/>
          </p:nvPr>
        </p:nvSpPr>
        <p:spPr/>
        <p:txBody>
          <a:bodyPr/>
          <a:lstStyle/>
          <a:p>
            <a:r>
              <a:rPr lang="en-US" altLang="zh-TW" dirty="0"/>
              <a:t>D</a:t>
            </a:r>
            <a:endParaRPr lang="en-GB" dirty="0"/>
          </a:p>
        </p:txBody>
      </p:sp>
      <p:sp>
        <p:nvSpPr>
          <p:cNvPr id="7" name="內容版面配置區 6"/>
          <p:cNvSpPr>
            <a:spLocks noGrp="1"/>
          </p:cNvSpPr>
          <p:nvPr>
            <p:ph sz="quarter" idx="15"/>
          </p:nvPr>
        </p:nvSpPr>
        <p:spPr/>
        <p:txBody>
          <a:bodyPr/>
          <a:lstStyle/>
          <a:p>
            <a:r>
              <a:rPr lang="zh-TW" altLang="en-US" dirty="0">
                <a:solidFill>
                  <a:srgbClr val="595A96"/>
                </a:solidFill>
                <a:latin typeface="Noto Sans CJK TC Bold" panose="020B0800000000000000" pitchFamily="34" charset="-128"/>
                <a:ea typeface="Noto Sans CJK TC Bold" panose="020B0800000000000000" pitchFamily="34" charset="-128"/>
              </a:rPr>
              <a:t>視頻</a:t>
            </a:r>
            <a:r>
              <a:rPr lang="zh-TW" altLang="en-US" dirty="0"/>
              <a:t>（視像）即在特定時長內顯示的圖像集合，可能還有一個或多個音軌。</a:t>
            </a:r>
            <a:endParaRPr lang="en-US" altLang="zh-TW" dirty="0"/>
          </a:p>
          <a:p>
            <a:endParaRPr lang="en-US" dirty="0"/>
          </a:p>
          <a:p>
            <a:r>
              <a:rPr lang="zh-TW" altLang="en-US" dirty="0"/>
              <a:t>視頻檔案有四個重要屬性：</a:t>
            </a:r>
            <a:endParaRPr lang="en-US" altLang="zh-TW" dirty="0"/>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色深</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解像度</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幀速率</a:t>
            </a:r>
            <a:endParaRPr lang="en-US" altLang="zh-TW" dirty="0">
              <a:solidFill>
                <a:srgbClr val="595A96"/>
              </a:solidFill>
              <a:latin typeface="Noto Sans CJK TC Bold" panose="020B0800000000000000" pitchFamily="34" charset="-128"/>
              <a:ea typeface="Noto Sans CJK TC Bold" panose="020B0800000000000000" pitchFamily="34" charset="-128"/>
            </a:endParaRPr>
          </a:p>
          <a:p>
            <a:pPr marL="342900" indent="-342900">
              <a:buFont typeface="Arial" panose="020B0604020202020204" pitchFamily="34" charset="0"/>
              <a:buChar char="•"/>
            </a:pPr>
            <a:r>
              <a:rPr lang="zh-TW" altLang="en-US" dirty="0">
                <a:solidFill>
                  <a:srgbClr val="595A96"/>
                </a:solidFill>
                <a:latin typeface="Noto Sans CJK TC Bold" panose="020B0800000000000000" pitchFamily="34" charset="-128"/>
                <a:ea typeface="Noto Sans CJK TC Bold" panose="020B0800000000000000" pitchFamily="34" charset="-128"/>
              </a:rPr>
              <a:t>長度</a:t>
            </a:r>
            <a:endParaRPr lang="en-GB" dirty="0">
              <a:solidFill>
                <a:srgbClr val="595A96"/>
              </a:solidFill>
              <a:latin typeface="Noto Sans CJK TC Bold" panose="020B0800000000000000" pitchFamily="34" charset="-128"/>
              <a:ea typeface="Noto Sans CJK TC Bold" panose="020B0800000000000000" pitchFamily="34" charset="-128"/>
            </a:endParaRPr>
          </a:p>
        </p:txBody>
      </p:sp>
    </p:spTree>
    <p:extLst>
      <p:ext uri="{BB962C8B-B14F-4D97-AF65-F5344CB8AC3E}">
        <p14:creationId xmlns:p14="http://schemas.microsoft.com/office/powerpoint/2010/main" val="273012082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視頻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148</a:t>
            </a:fld>
            <a:endParaRPr lang="en-US" dirty="0"/>
          </a:p>
        </p:txBody>
      </p:sp>
      <p:sp>
        <p:nvSpPr>
          <p:cNvPr id="4" name="文字版面配置區 3"/>
          <p:cNvSpPr>
            <a:spLocks noGrp="1"/>
          </p:cNvSpPr>
          <p:nvPr>
            <p:ph type="body" sz="quarter" idx="14"/>
          </p:nvPr>
        </p:nvSpPr>
        <p:spPr/>
        <p:txBody>
          <a:bodyPr/>
          <a:lstStyle/>
          <a:p>
            <a:r>
              <a:rPr lang="en-US" altLang="zh-TW" dirty="0"/>
              <a:t>D</a:t>
            </a:r>
            <a:endParaRPr lang="en-GB" dirty="0"/>
          </a:p>
        </p:txBody>
      </p:sp>
      <p:sp>
        <p:nvSpPr>
          <p:cNvPr id="5" name="內容版面配置區 4"/>
          <p:cNvSpPr>
            <a:spLocks noGrp="1"/>
          </p:cNvSpPr>
          <p:nvPr>
            <p:ph sz="quarter" idx="15"/>
          </p:nvPr>
        </p:nvSpPr>
        <p:spPr/>
        <p:txBody>
          <a:bodyPr/>
          <a:lstStyle/>
          <a:p>
            <a:r>
              <a:rPr lang="zh-TW" altLang="en-US" dirty="0"/>
              <a:t>幀速率即每秒顯示的幀數，以每秒幀數量度。</a:t>
            </a:r>
            <a:endParaRPr lang="en-GB" dirty="0"/>
          </a:p>
        </p:txBody>
      </p:sp>
      <p:pic>
        <p:nvPicPr>
          <p:cNvPr id="7" name="圖片 6"/>
          <p:cNvPicPr>
            <a:picLocks noChangeAspect="1"/>
          </p:cNvPicPr>
          <p:nvPr/>
        </p:nvPicPr>
        <p:blipFill>
          <a:blip r:embed="rId2"/>
          <a:stretch>
            <a:fillRect/>
          </a:stretch>
        </p:blipFill>
        <p:spPr>
          <a:xfrm>
            <a:off x="1357912" y="2751137"/>
            <a:ext cx="9477375" cy="2905125"/>
          </a:xfrm>
          <a:prstGeom prst="rect">
            <a:avLst/>
          </a:prstGeom>
        </p:spPr>
      </p:pic>
    </p:spTree>
    <p:extLst>
      <p:ext uri="{BB962C8B-B14F-4D97-AF65-F5344CB8AC3E}">
        <p14:creationId xmlns:p14="http://schemas.microsoft.com/office/powerpoint/2010/main" val="31287928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視頻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149</a:t>
            </a:fld>
            <a:endParaRPr lang="en-US" dirty="0"/>
          </a:p>
        </p:txBody>
      </p:sp>
      <p:sp>
        <p:nvSpPr>
          <p:cNvPr id="4" name="文字版面配置區 3"/>
          <p:cNvSpPr>
            <a:spLocks noGrp="1"/>
          </p:cNvSpPr>
          <p:nvPr>
            <p:ph type="body" sz="quarter" idx="14"/>
          </p:nvPr>
        </p:nvSpPr>
        <p:spPr/>
        <p:txBody>
          <a:bodyPr/>
          <a:lstStyle/>
          <a:p>
            <a:r>
              <a:rPr lang="en-US" dirty="0"/>
              <a:t>D</a:t>
            </a:r>
            <a:endParaRPr lang="en-GB" dirty="0"/>
          </a:p>
        </p:txBody>
      </p:sp>
      <p:sp>
        <p:nvSpPr>
          <p:cNvPr id="5" name="內容版面配置區 4"/>
          <p:cNvSpPr>
            <a:spLocks noGrp="1"/>
          </p:cNvSpPr>
          <p:nvPr>
            <p:ph sz="quarter" idx="15"/>
          </p:nvPr>
        </p:nvSpPr>
        <p:spPr/>
        <p:txBody>
          <a:bodyPr/>
          <a:lstStyle/>
          <a:p>
            <a:r>
              <a:rPr lang="zh-TW" altLang="en-US" dirty="0"/>
              <a:t>幀的</a:t>
            </a:r>
            <a:r>
              <a:rPr lang="zh-TW" altLang="en-US" dirty="0">
                <a:latin typeface="Noto Sans CJK TC Bold" panose="020B0800000000000000" pitchFamily="34" charset="-128"/>
                <a:ea typeface="Noto Sans CJK TC Bold" panose="020B0800000000000000" pitchFamily="34" charset="-128"/>
              </a:rPr>
              <a:t>解像度</a:t>
            </a:r>
            <a:r>
              <a:rPr lang="zh-TW" altLang="en-US" dirty="0"/>
              <a:t>和</a:t>
            </a:r>
            <a:r>
              <a:rPr lang="zh-TW" altLang="en-US" dirty="0">
                <a:latin typeface="Noto Sans CJK TC Bold" panose="020B0800000000000000" pitchFamily="34" charset="-128"/>
                <a:ea typeface="Noto Sans CJK TC Bold" panose="020B0800000000000000" pitchFamily="34" charset="-128"/>
              </a:rPr>
              <a:t>色深</a:t>
            </a:r>
            <a:r>
              <a:rPr lang="zh-TW" altLang="en-US" dirty="0"/>
              <a:t>與它們在圖像中的含義相同。</a:t>
            </a:r>
            <a:endParaRPr lang="en-US" altLang="zh-TW" dirty="0"/>
          </a:p>
          <a:p>
            <a:endParaRPr lang="en-US" dirty="0"/>
          </a:p>
          <a:p>
            <a:endParaRPr lang="en-US" dirty="0"/>
          </a:p>
          <a:p>
            <a:r>
              <a:rPr lang="zh-TW" altLang="en-US" dirty="0">
                <a:latin typeface="Noto Sans CJK TC Bold" panose="020B0800000000000000" pitchFamily="34" charset="-128"/>
                <a:ea typeface="Noto Sans CJK TC Bold" panose="020B0800000000000000" pitchFamily="34" charset="-128"/>
              </a:rPr>
              <a:t>未經壓縮</a:t>
            </a:r>
            <a:r>
              <a:rPr lang="zh-TW" altLang="en-US" dirty="0"/>
              <a:t>的視頻檔案大小為：</a:t>
            </a:r>
            <a:endParaRPr lang="en-US" altLang="zh-TW" dirty="0"/>
          </a:p>
          <a:p>
            <a:r>
              <a:rPr lang="en-US" altLang="zh-TW" dirty="0"/>
              <a:t>	</a:t>
            </a:r>
            <a:r>
              <a:rPr lang="zh-TW" altLang="en-US" u="sng" dirty="0"/>
              <a:t>色深 </a:t>
            </a:r>
            <a:r>
              <a:rPr lang="en-US" altLang="zh-TW" u="sng" dirty="0"/>
              <a:t>× </a:t>
            </a:r>
            <a:r>
              <a:rPr lang="zh-TW" altLang="en-US" u="sng" dirty="0"/>
              <a:t>解像度 </a:t>
            </a:r>
            <a:r>
              <a:rPr lang="en-US" altLang="zh-TW" u="sng" dirty="0"/>
              <a:t>× </a:t>
            </a:r>
            <a:r>
              <a:rPr lang="zh-TW" altLang="en-US" u="sng" dirty="0"/>
              <a:t>幀速率 </a:t>
            </a:r>
            <a:r>
              <a:rPr lang="en-US" altLang="zh-TW" u="sng" dirty="0"/>
              <a:t>× </a:t>
            </a:r>
            <a:r>
              <a:rPr lang="zh-TW" altLang="en-US" u="sng" dirty="0"/>
              <a:t>時長 </a:t>
            </a:r>
            <a:r>
              <a:rPr lang="en-US" altLang="zh-TW" u="sng" dirty="0"/>
              <a:t>+ </a:t>
            </a:r>
            <a:r>
              <a:rPr lang="zh-TW" altLang="en-US" u="sng" dirty="0"/>
              <a:t>音軌大小</a:t>
            </a:r>
            <a:endParaRPr lang="en-GB" u="sng" dirty="0"/>
          </a:p>
        </p:txBody>
      </p:sp>
      <p:pic>
        <p:nvPicPr>
          <p:cNvPr id="6" name="Picture 5"/>
          <p:cNvPicPr>
            <a:picLocks noChangeAspect="1"/>
          </p:cNvPicPr>
          <p:nvPr/>
        </p:nvPicPr>
        <p:blipFill>
          <a:blip r:embed="rId2"/>
          <a:stretch>
            <a:fillRect/>
          </a:stretch>
        </p:blipFill>
        <p:spPr>
          <a:xfrm>
            <a:off x="8482324" y="2233234"/>
            <a:ext cx="2871476" cy="2169848"/>
          </a:xfrm>
          <a:prstGeom prst="rect">
            <a:avLst/>
          </a:prstGeom>
        </p:spPr>
      </p:pic>
    </p:spTree>
    <p:extLst>
      <p:ext uri="{BB962C8B-B14F-4D97-AF65-F5344CB8AC3E}">
        <p14:creationId xmlns:p14="http://schemas.microsoft.com/office/powerpoint/2010/main" val="30736658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視頻</a:t>
            </a:r>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150</a:t>
            </a:fld>
            <a:endParaRPr lang="en-US" dirty="0"/>
          </a:p>
        </p:txBody>
      </p:sp>
      <p:sp>
        <p:nvSpPr>
          <p:cNvPr id="4" name="文字版面配置區 3"/>
          <p:cNvSpPr>
            <a:spLocks noGrp="1"/>
          </p:cNvSpPr>
          <p:nvPr>
            <p:ph type="body" sz="quarter" idx="14"/>
          </p:nvPr>
        </p:nvSpPr>
        <p:spPr/>
        <p:txBody>
          <a:bodyPr/>
          <a:lstStyle/>
          <a:p>
            <a:r>
              <a:rPr lang="en-US" dirty="0"/>
              <a:t>D</a:t>
            </a:r>
            <a:endParaRPr lang="en-GB" dirty="0"/>
          </a:p>
        </p:txBody>
      </p:sp>
      <p:sp>
        <p:nvSpPr>
          <p:cNvPr id="5" name="內容版面配置區 4"/>
          <p:cNvSpPr>
            <a:spLocks noGrp="1"/>
          </p:cNvSpPr>
          <p:nvPr>
            <p:ph sz="quarter" idx="15"/>
          </p:nvPr>
        </p:nvSpPr>
        <p:spPr/>
        <p:txBody>
          <a:bodyPr/>
          <a:lstStyle/>
          <a:p>
            <a:r>
              <a:rPr lang="zh-TW" altLang="en-US" dirty="0"/>
              <a:t>常見視頻檔案格式包括：</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4108902579"/>
              </p:ext>
            </p:extLst>
          </p:nvPr>
        </p:nvGraphicFramePr>
        <p:xfrm>
          <a:off x="303994" y="2117818"/>
          <a:ext cx="11585211" cy="4273220"/>
        </p:xfrm>
        <a:graphic>
          <a:graphicData uri="http://schemas.openxmlformats.org/drawingml/2006/table">
            <a:tbl>
              <a:tblPr firstRow="1" bandRow="1">
                <a:tableStyleId>{5940675A-B579-460E-94D1-54222C63F5DA}</a:tableStyleId>
              </a:tblPr>
              <a:tblGrid>
                <a:gridCol w="1249631">
                  <a:extLst>
                    <a:ext uri="{9D8B030D-6E8A-4147-A177-3AD203B41FA5}">
                      <a16:colId xmlns:a16="http://schemas.microsoft.com/office/drawing/2014/main" val="20000"/>
                    </a:ext>
                  </a:extLst>
                </a:gridCol>
                <a:gridCol w="1614805">
                  <a:extLst>
                    <a:ext uri="{9D8B030D-6E8A-4147-A177-3AD203B41FA5}">
                      <a16:colId xmlns:a16="http://schemas.microsoft.com/office/drawing/2014/main" val="20001"/>
                    </a:ext>
                  </a:extLst>
                </a:gridCol>
                <a:gridCol w="1995995">
                  <a:extLst>
                    <a:ext uri="{9D8B030D-6E8A-4147-A177-3AD203B41FA5}">
                      <a16:colId xmlns:a16="http://schemas.microsoft.com/office/drawing/2014/main" val="20002"/>
                    </a:ext>
                  </a:extLst>
                </a:gridCol>
                <a:gridCol w="2643862">
                  <a:extLst>
                    <a:ext uri="{9D8B030D-6E8A-4147-A177-3AD203B41FA5}">
                      <a16:colId xmlns:a16="http://schemas.microsoft.com/office/drawing/2014/main" val="20003"/>
                    </a:ext>
                  </a:extLst>
                </a:gridCol>
                <a:gridCol w="4080918">
                  <a:extLst>
                    <a:ext uri="{9D8B030D-6E8A-4147-A177-3AD203B41FA5}">
                      <a16:colId xmlns:a16="http://schemas.microsoft.com/office/drawing/2014/main" val="20004"/>
                    </a:ext>
                  </a:extLst>
                </a:gridCol>
              </a:tblGrid>
              <a:tr h="614980">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檔案格式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編碼－譯碼器</a:t>
                      </a:r>
                    </a:p>
                    <a:p>
                      <a:pPr algn="ctr"/>
                      <a:r>
                        <a:rPr lang="zh-TW" altLang="en-US" b="1" dirty="0">
                          <a:solidFill>
                            <a:schemeClr val="bg1"/>
                          </a:solidFill>
                          <a:latin typeface="Noto Sans CJK TC Bold" panose="020B0800000000000000" pitchFamily="34" charset="-128"/>
                          <a:ea typeface="Noto Sans CJK TC Bold" panose="020B0800000000000000" pitchFamily="34" charset="-128"/>
                        </a:rPr>
                        <a:t>（</a:t>
                      </a:r>
                      <a:r>
                        <a:rPr lang="en-US" altLang="zh-TW" b="1" dirty="0">
                          <a:solidFill>
                            <a:schemeClr val="bg1"/>
                          </a:solidFill>
                          <a:latin typeface="Noto Sans CJK TC Bold" panose="020B0800000000000000" pitchFamily="34" charset="-128"/>
                          <a:ea typeface="Noto Sans CJK TC Bold" panose="020B0800000000000000" pitchFamily="34" charset="-128"/>
                        </a:rPr>
                        <a:t>codec</a:t>
                      </a:r>
                      <a:r>
                        <a:rPr lang="zh-TW" altLang="en-US" b="1" dirty="0">
                          <a:solidFill>
                            <a:schemeClr val="bg1"/>
                          </a:solidFill>
                          <a:latin typeface="Noto Sans CJK TC Bold" panose="020B0800000000000000" pitchFamily="34" charset="-128"/>
                          <a:ea typeface="Noto Sans CJK TC Bold" panose="020B0800000000000000" pitchFamily="34" charset="-128"/>
                        </a:rPr>
                        <a:t>）</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可支援的</a:t>
                      </a:r>
                    </a:p>
                    <a:p>
                      <a:pPr algn="ctr"/>
                      <a:r>
                        <a:rPr lang="zh-TW" altLang="en-US" b="1" dirty="0">
                          <a:solidFill>
                            <a:schemeClr val="bg1"/>
                          </a:solidFill>
                          <a:latin typeface="Noto Sans CJK TC Bold" panose="020B0800000000000000" pitchFamily="34" charset="-128"/>
                          <a:ea typeface="Noto Sans CJK TC Bold" panose="020B0800000000000000" pitchFamily="34" charset="-128"/>
                        </a:rPr>
                        <a:t>瀏覽器</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檔案大小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TW" altLang="en-US" b="1" dirty="0">
                          <a:solidFill>
                            <a:schemeClr val="bg1"/>
                          </a:solidFill>
                          <a:latin typeface="Noto Sans CJK TC Bold" panose="020B0800000000000000" pitchFamily="34" charset="-128"/>
                          <a:ea typeface="Noto Sans CJK TC Bold" panose="020B0800000000000000" pitchFamily="34" charset="-128"/>
                        </a:rPr>
                        <a:t>功能特點及應用方式</a:t>
                      </a:r>
                      <a:endParaRPr lang="en-US" b="1" dirty="0">
                        <a:solidFill>
                          <a:schemeClr val="bg1"/>
                        </a:solidFill>
                        <a:latin typeface="Noto Sans CJK TC Bold" panose="020B0800000000000000" pitchFamily="34" charset="-128"/>
                        <a:ea typeface="Noto Sans CJK TC Bold" panose="020B0800000000000000" pitchFamily="34" charset="-128"/>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21559">
                <a:tc rowSpan="3">
                  <a:txBody>
                    <a:bodyPr/>
                    <a:lstStyle/>
                    <a:p>
                      <a:pPr algn="ctr"/>
                      <a:r>
                        <a:rPr lang="en-HK" b="1" dirty="0">
                          <a:solidFill>
                            <a:schemeClr val="bg1"/>
                          </a:solidFill>
                        </a:rPr>
                        <a:t>MP4</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mn-lt"/>
                        </a:rPr>
                        <a:t>MPEG-4</a:t>
                      </a:r>
                      <a:endParaRPr lang="en-US" dirty="0">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mn-lt"/>
                          <a:ea typeface="Noto Sans CJK TC Light" panose="020B0300000000000000" pitchFamily="34" charset="-128"/>
                          <a:cs typeface="+mn-cs"/>
                        </a:rPr>
                        <a:t>大多數</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dirty="0">
                          <a:latin typeface="+mn-lt"/>
                          <a:ea typeface="Noto Sans CJK TC Light" panose="020B0300000000000000" pitchFamily="34" charset="-128"/>
                        </a:rPr>
                        <a:t>相對小，壓縮率高</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zh-TW" altLang="en-US" dirty="0">
                          <a:latin typeface="+mn-lt"/>
                          <a:ea typeface="Noto Sans CJK TC Light" panose="020B0300000000000000" pitchFamily="34" charset="-128"/>
                        </a:rPr>
                        <a:t>影片串流服務</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878543">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a:latin typeface="+mn-lt"/>
                        </a:rPr>
                        <a:t>H.264</a:t>
                      </a:r>
                    </a:p>
                    <a:p>
                      <a:pPr algn="ctr"/>
                      <a:r>
                        <a:rPr lang="en-HK">
                          <a:latin typeface="+mn-lt"/>
                        </a:rPr>
                        <a:t>(AVC)</a:t>
                      </a:r>
                      <a:endParaRPr lang="en-US" dirty="0">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sz="1800" b="0" i="0" u="none" strike="noStrike" kern="1200" baseline="0" dirty="0">
                          <a:solidFill>
                            <a:schemeClr val="tx1"/>
                          </a:solidFill>
                          <a:latin typeface="+mn-lt"/>
                          <a:ea typeface="Noto Sans CJK TC Light" panose="020B0300000000000000" pitchFamily="34" charset="-128"/>
                          <a:cs typeface="+mn-cs"/>
                        </a:rPr>
                        <a:t>大多數</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dirty="0">
                          <a:latin typeface="+mn-lt"/>
                          <a:ea typeface="Noto Sans CJK TC Light" panose="020B0300000000000000" pitchFamily="34" charset="-128"/>
                        </a:rPr>
                        <a:t>比 </a:t>
                      </a:r>
                      <a:r>
                        <a:rPr lang="en-US" dirty="0">
                          <a:latin typeface="+mn-lt"/>
                          <a:ea typeface="Noto Sans CJK TC Light" panose="020B0300000000000000" pitchFamily="34" charset="-128"/>
                        </a:rPr>
                        <a:t>MPEG-4 </a:t>
                      </a:r>
                      <a:r>
                        <a:rPr lang="zh-TW" altLang="en-US" dirty="0">
                          <a:latin typeface="+mn-lt"/>
                          <a:ea typeface="Noto Sans CJK TC Light" panose="020B0300000000000000" pitchFamily="34" charset="-128"/>
                        </a:rPr>
                        <a:t>小</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zh-TW" altLang="en-US" dirty="0">
                          <a:latin typeface="+mn-lt"/>
                          <a:ea typeface="Noto Sans CJK TC Light" panose="020B0300000000000000" pitchFamily="34" charset="-128"/>
                        </a:rPr>
                        <a:t>串流直播</a:t>
                      </a:r>
                    </a:p>
                    <a:p>
                      <a:pPr marL="285750" indent="-285750">
                        <a:buFont typeface="Arial" panose="020B0604020202020204" pitchFamily="34" charset="0"/>
                        <a:buChar char="•"/>
                      </a:pPr>
                      <a:r>
                        <a:rPr lang="zh-TW" altLang="en-US" dirty="0">
                          <a:latin typeface="+mn-lt"/>
                          <a:ea typeface="Noto Sans CJK TC Light" panose="020B0300000000000000" pitchFamily="34" charset="-128"/>
                        </a:rPr>
                        <a:t>高清和全高清影片串流</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154495">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mn-lt"/>
                        </a:rPr>
                        <a:t>H.265</a:t>
                      </a:r>
                    </a:p>
                    <a:p>
                      <a:pPr algn="ctr"/>
                      <a:r>
                        <a:rPr lang="en-HK" dirty="0">
                          <a:latin typeface="+mn-lt"/>
                        </a:rPr>
                        <a:t>(HEVC)</a:t>
                      </a:r>
                      <a:endParaRPr lang="en-US" dirty="0">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dirty="0">
                          <a:latin typeface="+mn-lt"/>
                          <a:ea typeface="Noto Sans CJK TC Light" panose="020B0300000000000000" pitchFamily="34" charset="-128"/>
                        </a:rPr>
                        <a:t>很少</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dirty="0">
                          <a:latin typeface="+mn-lt"/>
                          <a:ea typeface="Noto Sans CJK TC Light" panose="020B0300000000000000" pitchFamily="34" charset="-128"/>
                        </a:rPr>
                        <a:t>比 </a:t>
                      </a:r>
                      <a:r>
                        <a:rPr lang="en-US" dirty="0">
                          <a:latin typeface="+mn-lt"/>
                          <a:ea typeface="Noto Sans CJK TC Light" panose="020B0300000000000000" pitchFamily="34" charset="-128"/>
                        </a:rPr>
                        <a:t>H.264 </a:t>
                      </a:r>
                      <a:r>
                        <a:rPr lang="zh-TW" altLang="en-US" dirty="0">
                          <a:latin typeface="+mn-lt"/>
                          <a:ea typeface="Noto Sans CJK TC Light" panose="020B0300000000000000" pitchFamily="34" charset="-128"/>
                        </a:rPr>
                        <a:t>小</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zh-TW" altLang="en-US" dirty="0">
                          <a:latin typeface="+mn-lt"/>
                          <a:ea typeface="Noto Sans CJK TC Light" panose="020B0300000000000000" pitchFamily="34" charset="-128"/>
                        </a:rPr>
                        <a:t>串流直播</a:t>
                      </a:r>
                    </a:p>
                    <a:p>
                      <a:pPr marL="285750" indent="-285750">
                        <a:buFont typeface="Arial" panose="020B0604020202020204" pitchFamily="34" charset="0"/>
                        <a:buChar char="•"/>
                      </a:pPr>
                      <a:r>
                        <a:rPr lang="zh-TW" altLang="en-US" dirty="0">
                          <a:latin typeface="+mn-lt"/>
                          <a:ea typeface="Noto Sans CJK TC Light" panose="020B0300000000000000" pitchFamily="34" charset="-128"/>
                        </a:rPr>
                        <a:t>影像品質較高，提供解像度高於 </a:t>
                      </a:r>
                      <a:r>
                        <a:rPr lang="en-US" altLang="zh-TW" dirty="0">
                          <a:latin typeface="+mn-lt"/>
                          <a:ea typeface="Noto Sans CJK TC Light" panose="020B0300000000000000" pitchFamily="34" charset="-128"/>
                        </a:rPr>
                        <a:t>2K </a:t>
                      </a:r>
                      <a:r>
                        <a:rPr lang="zh-TW" altLang="en-US" dirty="0">
                          <a:latin typeface="+mn-lt"/>
                          <a:ea typeface="Noto Sans CJK TC Light" panose="020B0300000000000000" pitchFamily="34" charset="-128"/>
                        </a:rPr>
                        <a:t>的影片串流服務</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878543">
                <a:tc>
                  <a:txBody>
                    <a:bodyPr/>
                    <a:lstStyle/>
                    <a:p>
                      <a:pPr algn="ctr"/>
                      <a:r>
                        <a:rPr lang="en-HK" b="1" dirty="0" err="1">
                          <a:solidFill>
                            <a:schemeClr val="bg1"/>
                          </a:solidFill>
                        </a:rPr>
                        <a:t>WebM</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latin typeface="+mn-lt"/>
                        </a:rPr>
                        <a:t>VP8</a:t>
                      </a:r>
                      <a:endParaRPr lang="en-US" dirty="0">
                        <a:latin typeface="+mn-lt"/>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TW" altLang="en-US" dirty="0">
                          <a:latin typeface="+mn-lt"/>
                          <a:ea typeface="Noto Sans CJK TC Light" panose="020B0300000000000000" pitchFamily="34" charset="-128"/>
                        </a:rPr>
                        <a:t>最新版本的</a:t>
                      </a:r>
                    </a:p>
                    <a:p>
                      <a:pPr algn="ctr"/>
                      <a:r>
                        <a:rPr lang="zh-TW" altLang="en-US" dirty="0">
                          <a:latin typeface="+mn-lt"/>
                          <a:ea typeface="Noto Sans CJK TC Light" panose="020B0300000000000000" pitchFamily="34" charset="-128"/>
                        </a:rPr>
                        <a:t>瀏覽器</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TW" altLang="en-US" dirty="0">
                          <a:latin typeface="+mn-lt"/>
                          <a:ea typeface="Noto Sans CJK TC Light" panose="020B0300000000000000" pitchFamily="34" charset="-128"/>
                        </a:rPr>
                        <a:t>比 </a:t>
                      </a:r>
                      <a:r>
                        <a:rPr lang="en-US" altLang="zh-TW" dirty="0">
                          <a:latin typeface="+mn-lt"/>
                          <a:ea typeface="Noto Sans CJK TC Light" panose="020B0300000000000000" pitchFamily="34" charset="-128"/>
                        </a:rPr>
                        <a:t>H.264 </a:t>
                      </a:r>
                      <a:r>
                        <a:rPr lang="zh-TW" altLang="en-US" dirty="0">
                          <a:latin typeface="+mn-lt"/>
                          <a:ea typeface="Noto Sans CJK TC Light" panose="020B0300000000000000" pitchFamily="34" charset="-128"/>
                        </a:rPr>
                        <a:t>小，壓縮率更高</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zh-TW" altLang="en-US" dirty="0">
                          <a:latin typeface="+mn-lt"/>
                          <a:ea typeface="Noto Sans CJK TC Light" panose="020B0300000000000000" pitchFamily="34" charset="-128"/>
                        </a:rPr>
                        <a:t>影片串流</a:t>
                      </a:r>
                    </a:p>
                    <a:p>
                      <a:pPr marL="285750" indent="-285750">
                        <a:buFont typeface="Arial" panose="020B0604020202020204" pitchFamily="34" charset="0"/>
                        <a:buChar char="•"/>
                      </a:pPr>
                      <a:r>
                        <a:rPr lang="zh-TW" altLang="en-US" dirty="0">
                          <a:latin typeface="+mn-lt"/>
                          <a:ea typeface="Noto Sans CJK TC Light" panose="020B0300000000000000" pitchFamily="34" charset="-128"/>
                        </a:rPr>
                        <a:t>串流直播</a:t>
                      </a:r>
                      <a:endParaRPr lang="en-US" dirty="0">
                        <a:latin typeface="+mn-lt"/>
                        <a:ea typeface="Noto Sans CJK TC Light" panose="020B0300000000000000" pitchFamily="34" charset="-128"/>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60553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r>
              <a:rPr lang="zh-TW" altLang="en-US" dirty="0">
                <a:latin typeface="+mn-lt"/>
              </a:rPr>
              <a:t>試完成課本第 </a:t>
            </a:r>
            <a:r>
              <a:rPr lang="en-US" altLang="zh-TW" dirty="0">
                <a:latin typeface="+mn-lt"/>
              </a:rPr>
              <a:t>121 </a:t>
            </a:r>
            <a:r>
              <a:rPr lang="zh-TW" altLang="en-US" dirty="0">
                <a:latin typeface="+mn-lt"/>
              </a:rPr>
              <a:t>的實驗站 </a:t>
            </a:r>
            <a:r>
              <a:rPr lang="en-US" altLang="zh-TW" dirty="0">
                <a:latin typeface="+mn-lt"/>
              </a:rPr>
              <a:t>3.11</a:t>
            </a:r>
            <a:r>
              <a:rPr lang="zh-TW" altLang="en-US" dirty="0">
                <a:latin typeface="+mn-lt"/>
              </a:rPr>
              <a:t>。</a:t>
            </a:r>
            <a:endParaRPr lang="en-US" altLang="zh-TW" dirty="0">
              <a:latin typeface="+mn-lt"/>
            </a:endParaRPr>
          </a:p>
          <a:p>
            <a:endParaRPr lang="en-US" altLang="zh-TW" dirty="0">
              <a:latin typeface="+mn-lt"/>
            </a:endParaRPr>
          </a:p>
          <a:p>
            <a:endParaRPr lang="en-US" altLang="zh-TW" dirty="0">
              <a:latin typeface="+mn-lt"/>
            </a:endParaRPr>
          </a:p>
          <a:p>
            <a:endParaRPr lang="en-US" altLang="zh-TW" dirty="0">
              <a:latin typeface="+mn-lt"/>
            </a:endParaRPr>
          </a:p>
          <a:p>
            <a:endParaRPr lang="en-US" altLang="zh-TW" dirty="0">
              <a:latin typeface="+mn-lt"/>
            </a:endParaRPr>
          </a:p>
          <a:p>
            <a:r>
              <a:rPr lang="zh-TW" altLang="en-US" dirty="0">
                <a:latin typeface="+mn-lt"/>
              </a:rPr>
              <a:t>檔案大小（以 </a:t>
            </a:r>
            <a:r>
              <a:rPr lang="en-US" altLang="zh-TW" dirty="0">
                <a:latin typeface="+mn-lt"/>
              </a:rPr>
              <a:t>GB </a:t>
            </a:r>
            <a:r>
              <a:rPr lang="zh-TW" altLang="en-US" dirty="0">
                <a:latin typeface="+mn-lt"/>
              </a:rPr>
              <a:t>為單位）</a:t>
            </a:r>
            <a:r>
              <a:rPr lang="en-US" altLang="zh-TW" dirty="0">
                <a:latin typeface="+mn-lt"/>
              </a:rPr>
              <a:t>=</a:t>
            </a:r>
          </a:p>
          <a:p>
            <a:r>
              <a:rPr lang="en-US" altLang="zh-TW" dirty="0">
                <a:solidFill>
                  <a:srgbClr val="FF0000"/>
                </a:solidFill>
                <a:latin typeface="+mn-lt"/>
              </a:rPr>
              <a:t> 16 bits × 640 × 360 × 24 × (60 × 60) = 2 bytes × 640 × 360 × 24 × 3600 </a:t>
            </a:r>
            <a:br>
              <a:rPr lang="en-US" altLang="zh-TW" dirty="0">
                <a:solidFill>
                  <a:srgbClr val="FF0000"/>
                </a:solidFill>
                <a:latin typeface="+mn-lt"/>
              </a:rPr>
            </a:br>
            <a:r>
              <a:rPr lang="en-US" altLang="zh-TW" dirty="0">
                <a:solidFill>
                  <a:srgbClr val="FF0000"/>
                </a:solidFill>
                <a:latin typeface="+mn-lt"/>
              </a:rPr>
              <a:t>= (39,813,120,000 ÷ 1,0243) GB ≈ 37.1 GB</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pPr/>
              <a:t>151</a:t>
            </a:fld>
            <a:endParaRPr lang="en-US" dirty="0"/>
          </a:p>
        </p:txBody>
      </p:sp>
      <p:sp>
        <p:nvSpPr>
          <p:cNvPr id="7" name="文字版面配置區 6"/>
          <p:cNvSpPr>
            <a:spLocks noGrp="1"/>
          </p:cNvSpPr>
          <p:nvPr>
            <p:ph type="body" sz="quarter" idx="13"/>
          </p:nvPr>
        </p:nvSpPr>
        <p:spPr/>
        <p:txBody>
          <a:bodyPr/>
          <a:lstStyle/>
          <a:p>
            <a:r>
              <a:rPr lang="en-US" dirty="0"/>
              <a:t>3.11</a:t>
            </a:r>
          </a:p>
        </p:txBody>
      </p:sp>
      <p:graphicFrame>
        <p:nvGraphicFramePr>
          <p:cNvPr id="8" name="Table 4"/>
          <p:cNvGraphicFramePr>
            <a:graphicFrameLocks noGrp="1"/>
          </p:cNvGraphicFramePr>
          <p:nvPr>
            <p:extLst>
              <p:ext uri="{D42A27DB-BD31-4B8C-83A1-F6EECF244321}">
                <p14:modId xmlns:p14="http://schemas.microsoft.com/office/powerpoint/2010/main" val="4145592992"/>
              </p:ext>
            </p:extLst>
          </p:nvPr>
        </p:nvGraphicFramePr>
        <p:xfrm>
          <a:off x="969349" y="2100132"/>
          <a:ext cx="4607648" cy="148336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zh-TW" altLang="en-US" b="1" dirty="0">
                          <a:solidFill>
                            <a:schemeClr val="bg1"/>
                          </a:solidFill>
                        </a:rPr>
                        <a:t>色深</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16 </a:t>
                      </a:r>
                      <a:r>
                        <a:rPr lang="zh-TW" altLang="en-US" dirty="0"/>
                        <a:t>位元</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zh-TW" altLang="en-US" b="1" dirty="0">
                          <a:solidFill>
                            <a:schemeClr val="bg1"/>
                          </a:solidFill>
                        </a:rPr>
                        <a:t>解像度</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640 × 360</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zh-TW" altLang="en-US" b="1" dirty="0">
                          <a:solidFill>
                            <a:schemeClr val="bg1"/>
                          </a:solidFill>
                        </a:rPr>
                        <a:t>幀速率</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24</a:t>
                      </a:r>
                      <a:r>
                        <a:rPr lang="en-HK" baseline="0" dirty="0"/>
                        <a:t> </a:t>
                      </a:r>
                      <a:r>
                        <a:rPr lang="zh-TW" altLang="en-US" baseline="0" dirty="0"/>
                        <a:t>幀</a:t>
                      </a:r>
                      <a:r>
                        <a:rPr lang="en-US" altLang="zh-TW" baseline="0" dirty="0"/>
                        <a:t>/</a:t>
                      </a:r>
                      <a:r>
                        <a:rPr lang="zh-TW" altLang="en-US" baseline="0" dirty="0"/>
                        <a:t>秒</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zh-TW" altLang="en-US" b="1" dirty="0">
                          <a:solidFill>
                            <a:schemeClr val="bg1"/>
                          </a:solidFill>
                        </a:rPr>
                        <a:t>長度</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1</a:t>
                      </a:r>
                      <a:r>
                        <a:rPr lang="en-HK" baseline="0" dirty="0"/>
                        <a:t> </a:t>
                      </a:r>
                      <a:r>
                        <a:rPr lang="zh-TW" altLang="en-US" baseline="0" dirty="0"/>
                        <a:t>小時</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019338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pPr marL="457200" indent="-457200">
              <a:buAutoNum type="arabicPeriod"/>
            </a:pPr>
            <a:r>
              <a:rPr lang="zh-TW" altLang="en-US" dirty="0">
                <a:latin typeface="+mn-lt"/>
              </a:rPr>
              <a:t>芳兒有四個檔案，它們的大小都是 </a:t>
            </a:r>
            <a:r>
              <a:rPr lang="en-US" altLang="zh-TW" dirty="0">
                <a:latin typeface="+mn-lt"/>
              </a:rPr>
              <a:t>20 MB</a:t>
            </a:r>
            <a:r>
              <a:rPr lang="zh-TW" altLang="en-US" dirty="0">
                <a:latin typeface="+mn-lt"/>
              </a:rPr>
              <a:t>。她將它們壓縮成 </a:t>
            </a:r>
            <a:r>
              <a:rPr lang="en-US" altLang="zh-TW" dirty="0">
                <a:latin typeface="+mn-lt"/>
              </a:rPr>
              <a:t>ZIP </a:t>
            </a:r>
            <a:r>
              <a:rPr lang="zh-TW" altLang="en-US" dirty="0">
                <a:latin typeface="+mn-lt"/>
              </a:rPr>
              <a:t>檔案。在正常情況下，哪個已壓縮檔案最小？</a:t>
            </a:r>
            <a:endParaRPr lang="en-US" dirty="0">
              <a:latin typeface="+mn-lt"/>
            </a:endParaRPr>
          </a:p>
          <a:p>
            <a:endParaRPr lang="en-US" dirty="0"/>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152</a:t>
            </a:fld>
            <a:endParaRPr lang="en-US" dirty="0"/>
          </a:p>
        </p:txBody>
      </p:sp>
      <p:sp>
        <p:nvSpPr>
          <p:cNvPr id="6" name="文字版面配置區 5"/>
          <p:cNvSpPr>
            <a:spLocks noGrp="1"/>
          </p:cNvSpPr>
          <p:nvPr>
            <p:ph type="body" sz="quarter" idx="13"/>
          </p:nvPr>
        </p:nvSpPr>
        <p:spPr/>
        <p:txBody>
          <a:bodyPr/>
          <a:lstStyle/>
          <a:p>
            <a:r>
              <a:rPr lang="en-US" dirty="0"/>
              <a:t>3.10</a:t>
            </a:r>
            <a:endParaRPr lang="en-GB" dirty="0"/>
          </a:p>
        </p:txBody>
      </p:sp>
      <p:graphicFrame>
        <p:nvGraphicFramePr>
          <p:cNvPr id="7" name="Table 4"/>
          <p:cNvGraphicFramePr>
            <a:graphicFrameLocks noGrp="1"/>
          </p:cNvGraphicFramePr>
          <p:nvPr>
            <p:extLst>
              <p:ext uri="{D42A27DB-BD31-4B8C-83A1-F6EECF244321}">
                <p14:modId xmlns:p14="http://schemas.microsoft.com/office/powerpoint/2010/main" val="1592117572"/>
              </p:ext>
            </p:extLst>
          </p:nvPr>
        </p:nvGraphicFramePr>
        <p:xfrm>
          <a:off x="1404851" y="2481964"/>
          <a:ext cx="4299527" cy="1854200"/>
        </p:xfrm>
        <a:graphic>
          <a:graphicData uri="http://schemas.openxmlformats.org/drawingml/2006/table">
            <a:tbl>
              <a:tblPr firstRow="1" bandRow="1">
                <a:tableStyleId>{5940675A-B579-460E-94D1-54222C63F5DA}</a:tableStyleId>
              </a:tblPr>
              <a:tblGrid>
                <a:gridCol w="407939">
                  <a:extLst>
                    <a:ext uri="{9D8B030D-6E8A-4147-A177-3AD203B41FA5}">
                      <a16:colId xmlns:a16="http://schemas.microsoft.com/office/drawing/2014/main" val="20000"/>
                    </a:ext>
                  </a:extLst>
                </a:gridCol>
                <a:gridCol w="1945794">
                  <a:extLst>
                    <a:ext uri="{9D8B030D-6E8A-4147-A177-3AD203B41FA5}">
                      <a16:colId xmlns:a16="http://schemas.microsoft.com/office/drawing/2014/main" val="20001"/>
                    </a:ext>
                  </a:extLst>
                </a:gridCol>
                <a:gridCol w="1945794">
                  <a:extLst>
                    <a:ext uri="{9D8B030D-6E8A-4147-A177-3AD203B41FA5}">
                      <a16:colId xmlns:a16="http://schemas.microsoft.com/office/drawing/2014/main" val="20002"/>
                    </a:ext>
                  </a:extLst>
                </a:gridCol>
              </a:tblGrid>
              <a:tr h="370840">
                <a:tc>
                  <a:txBody>
                    <a:bodyPr/>
                    <a:lstStyle/>
                    <a:p>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TW" altLang="en-US" b="1" u="sng" dirty="0">
                          <a:latin typeface="Noto Sans CJK TC Light" panose="020B0300000000000000" pitchFamily="34" charset="-128"/>
                          <a:ea typeface="Noto Sans CJK TC Light" panose="020B0300000000000000" pitchFamily="34" charset="-128"/>
                        </a:rPr>
                        <a:t>原始檔案</a:t>
                      </a:r>
                      <a:endParaRPr lang="en-US" b="1" u="sng" dirty="0">
                        <a:latin typeface="Noto Sans CJK TC Light" panose="020B0300000000000000" pitchFamily="34" charset="-128"/>
                        <a:ea typeface="Noto Sans CJK TC Light" panose="020B03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TW" altLang="en-US" b="1" u="sng" dirty="0">
                          <a:latin typeface="Noto Sans CJK TC Light" panose="020B0300000000000000" pitchFamily="34" charset="-128"/>
                          <a:ea typeface="Noto Sans CJK TC Light" panose="020B0300000000000000" pitchFamily="34" charset="-128"/>
                        </a:rPr>
                        <a:t>已壓縮檔案</a:t>
                      </a:r>
                      <a:endParaRPr lang="en-US" b="1" u="sng" dirty="0">
                        <a:latin typeface="Noto Sans CJK TC Light" panose="020B0300000000000000" pitchFamily="34" charset="-128"/>
                        <a:ea typeface="Noto Sans CJK TC Light" panose="020B0300000000000000" pitchFamily="34"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HK" dirty="0">
                          <a:latin typeface="+mn-lt"/>
                        </a:rPr>
                        <a:t>A. </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A.png</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A.zip</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HK" dirty="0">
                          <a:latin typeface="+mn-lt"/>
                        </a:rPr>
                        <a:t>B.</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B.jpg</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B.zip</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HK" dirty="0">
                          <a:latin typeface="+mn-lt"/>
                        </a:rPr>
                        <a:t>C.</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C.wav</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C.zip</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HK" dirty="0">
                          <a:latin typeface="+mn-lt"/>
                        </a:rPr>
                        <a:t>D.</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D.wmv</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latin typeface="+mn-lt"/>
                        </a:rPr>
                        <a:t>D.zip</a:t>
                      </a:r>
                      <a:endParaRPr lang="en-US"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118149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分析</a:t>
            </a:r>
            <a:endParaRPr lang="en-HK" b="1" dirty="0">
              <a:solidFill>
                <a:srgbClr val="37A3D4"/>
              </a:solidFill>
              <a:latin typeface="+mn-lt"/>
              <a:ea typeface="Noto Sans CJK TC Bold" panose="020B0800000000000000" pitchFamily="34" charset="-128"/>
            </a:endParaRPr>
          </a:p>
          <a:p>
            <a:r>
              <a:rPr lang="zh-TW" altLang="en-US" dirty="0">
                <a:latin typeface="+mn-lt"/>
              </a:rPr>
              <a:t>再次壓縮已壓縮的檔案比壓縮未壓縮檔案節省的儲存空間更少。在所有檔案中，只有 </a:t>
            </a:r>
            <a:r>
              <a:rPr lang="en-US" altLang="zh-TW" dirty="0">
                <a:latin typeface="+mn-lt"/>
              </a:rPr>
              <a:t>C.wav </a:t>
            </a:r>
            <a:r>
              <a:rPr lang="zh-TW" altLang="en-US" dirty="0">
                <a:latin typeface="+mn-lt"/>
              </a:rPr>
              <a:t>的檔案格式未經壓縮。</a:t>
            </a:r>
            <a:endParaRPr lang="en-HK" b="1" dirty="0">
              <a:solidFill>
                <a:srgbClr val="37A3D4"/>
              </a:solidFill>
              <a:latin typeface="+mn-lt"/>
            </a:endParaRPr>
          </a:p>
          <a:p>
            <a:endParaRPr lang="en-HK" b="1" dirty="0">
              <a:solidFill>
                <a:srgbClr val="37A3D4"/>
              </a:solidFill>
              <a:latin typeface="+mn-lt"/>
            </a:endParaRPr>
          </a:p>
          <a:p>
            <a:endParaRPr lang="en-HK" b="1" dirty="0">
              <a:solidFill>
                <a:srgbClr val="37A3D4"/>
              </a:solidFill>
              <a:latin typeface="+mn-lt"/>
            </a:endParaRPr>
          </a:p>
          <a:p>
            <a:pPr marL="342900" indent="-342900">
              <a:buSzPct val="100000"/>
              <a:buFont typeface="Noto Sans CJK TC Regular" panose="020B0500000000000000" pitchFamily="34" charset="-128"/>
              <a:buChar char="◣"/>
            </a:pPr>
            <a:r>
              <a:rPr lang="zh-TW" altLang="en-US" b="1" dirty="0">
                <a:solidFill>
                  <a:srgbClr val="37A3D4"/>
                </a:solidFill>
                <a:latin typeface="+mn-lt"/>
                <a:ea typeface="Noto Sans CJK TC Bold" panose="020B0800000000000000" pitchFamily="34" charset="-128"/>
              </a:rPr>
              <a:t>答案</a:t>
            </a:r>
            <a:endParaRPr lang="en-HK" b="1" dirty="0">
              <a:solidFill>
                <a:srgbClr val="37A3D4"/>
              </a:solidFill>
              <a:latin typeface="+mn-lt"/>
              <a:ea typeface="Noto Sans CJK TC Bold" panose="020B0800000000000000" pitchFamily="34" charset="-128"/>
            </a:endParaRPr>
          </a:p>
          <a:p>
            <a:pPr>
              <a:buSzPct val="100000"/>
            </a:pPr>
            <a:r>
              <a:rPr lang="zh-TW" altLang="en-US" dirty="0">
                <a:latin typeface="+mn-lt"/>
              </a:rPr>
              <a:t>正確答案是 </a:t>
            </a:r>
            <a:r>
              <a:rPr lang="en-US" altLang="zh-TW" dirty="0">
                <a:latin typeface="+mn-lt"/>
              </a:rPr>
              <a:t>C</a:t>
            </a:r>
            <a:r>
              <a:rPr lang="zh-TW" altLang="en-US" dirty="0">
                <a:latin typeface="+mn-lt"/>
              </a:rPr>
              <a:t>。</a:t>
            </a:r>
            <a:endParaRPr lang="en-GB" dirty="0">
              <a:latin typeface="+mn-lt"/>
            </a:endParaRPr>
          </a:p>
        </p:txBody>
      </p:sp>
      <p:sp>
        <p:nvSpPr>
          <p:cNvPr id="3" name="投影片編號版面配置區 2"/>
          <p:cNvSpPr>
            <a:spLocks noGrp="1"/>
          </p:cNvSpPr>
          <p:nvPr>
            <p:ph type="sldNum" sz="quarter" idx="12"/>
          </p:nvPr>
        </p:nvSpPr>
        <p:spPr/>
        <p:txBody>
          <a:bodyPr/>
          <a:lstStyle/>
          <a:p>
            <a:fld id="{6D22F896-40B5-4ADD-8801-0D06FADFA095}" type="slidenum">
              <a:rPr lang="en-US" smtClean="0"/>
              <a:t>153</a:t>
            </a:fld>
            <a:endParaRPr lang="en-US" dirty="0"/>
          </a:p>
        </p:txBody>
      </p:sp>
      <p:sp>
        <p:nvSpPr>
          <p:cNvPr id="4" name="文字版面配置區 3"/>
          <p:cNvSpPr>
            <a:spLocks noGrp="1"/>
          </p:cNvSpPr>
          <p:nvPr>
            <p:ph type="body" sz="quarter" idx="13"/>
          </p:nvPr>
        </p:nvSpPr>
        <p:spPr/>
        <p:txBody>
          <a:bodyPr/>
          <a:lstStyle/>
          <a:p>
            <a:r>
              <a:rPr lang="en-US" dirty="0"/>
              <a:t>3.10</a:t>
            </a:r>
            <a:endParaRPr lang="en-GB" dirty="0"/>
          </a:p>
        </p:txBody>
      </p:sp>
    </p:spTree>
    <p:extLst>
      <p:ext uri="{BB962C8B-B14F-4D97-AF65-F5344CB8AC3E}">
        <p14:creationId xmlns:p14="http://schemas.microsoft.com/office/powerpoint/2010/main" val="225917151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p:txBody>
          <a:bodyPr/>
          <a:lstStyle/>
          <a:p>
            <a:r>
              <a:rPr lang="zh-TW" altLang="en-US" dirty="0">
                <a:latin typeface="+mn-lt"/>
              </a:rPr>
              <a:t>試完成課本第 </a:t>
            </a:r>
            <a:r>
              <a:rPr lang="en-US" altLang="zh-TW" dirty="0">
                <a:latin typeface="+mn-lt"/>
              </a:rPr>
              <a:t>122 </a:t>
            </a:r>
            <a:r>
              <a:rPr lang="zh-TW" altLang="en-US" dirty="0">
                <a:latin typeface="+mn-lt"/>
              </a:rPr>
              <a:t>頁的測試站 </a:t>
            </a:r>
            <a:r>
              <a:rPr lang="en-US" altLang="zh-TW" dirty="0">
                <a:latin typeface="+mn-lt"/>
              </a:rPr>
              <a:t>3.10</a:t>
            </a:r>
            <a:r>
              <a:rPr lang="zh-TW" altLang="en-US" dirty="0">
                <a:latin typeface="+mn-lt"/>
              </a:rPr>
              <a:t>。</a:t>
            </a:r>
            <a:endParaRPr lang="en-US" altLang="zh-TW" dirty="0">
              <a:latin typeface="+mn-lt"/>
            </a:endParaRPr>
          </a:p>
          <a:p>
            <a:endParaRPr lang="en-US" dirty="0">
              <a:latin typeface="+mn-lt"/>
            </a:endParaRPr>
          </a:p>
          <a:p>
            <a:pPr marL="457200" indent="-457200">
              <a:buAutoNum type="arabicPeriod"/>
            </a:pPr>
            <a:r>
              <a:rPr lang="zh-TW" altLang="en-US" dirty="0">
                <a:solidFill>
                  <a:srgbClr val="FF0000"/>
                </a:solidFill>
                <a:latin typeface="+mn-lt"/>
              </a:rPr>
              <a:t>優點：</a:t>
            </a:r>
            <a:r>
              <a:rPr lang="en-US" altLang="zh-TW" dirty="0">
                <a:solidFill>
                  <a:srgbClr val="FF0000"/>
                </a:solidFill>
                <a:latin typeface="+mn-lt"/>
              </a:rPr>
              <a:t>MP4 </a:t>
            </a:r>
            <a:r>
              <a:rPr lang="zh-TW" altLang="en-US" dirty="0">
                <a:solidFill>
                  <a:srgbClr val="FF0000"/>
                </a:solidFill>
                <a:latin typeface="+mn-lt"/>
              </a:rPr>
              <a:t>檔案的大小相對較小。</a:t>
            </a:r>
            <a:r>
              <a:rPr lang="en-US" dirty="0">
                <a:solidFill>
                  <a:srgbClr val="FF0000"/>
                </a:solidFill>
                <a:latin typeface="+mn-lt"/>
              </a:rPr>
              <a:t/>
            </a:r>
            <a:br>
              <a:rPr lang="en-US" dirty="0">
                <a:solidFill>
                  <a:srgbClr val="FF0000"/>
                </a:solidFill>
                <a:latin typeface="+mn-lt"/>
              </a:rPr>
            </a:br>
            <a:r>
              <a:rPr lang="en-US" dirty="0">
                <a:solidFill>
                  <a:srgbClr val="FF0000"/>
                </a:solidFill>
                <a:latin typeface="+mn-lt"/>
              </a:rPr>
              <a:t/>
            </a:r>
            <a:br>
              <a:rPr lang="en-US" dirty="0">
                <a:solidFill>
                  <a:srgbClr val="FF0000"/>
                </a:solidFill>
                <a:latin typeface="+mn-lt"/>
              </a:rPr>
            </a:br>
            <a:r>
              <a:rPr lang="zh-TW" altLang="en-US" dirty="0">
                <a:solidFill>
                  <a:srgbClr val="FF0000"/>
                </a:solidFill>
                <a:latin typeface="+mn-lt"/>
              </a:rPr>
              <a:t>缺點：</a:t>
            </a:r>
            <a:r>
              <a:rPr lang="en-US" altLang="zh-TW" dirty="0">
                <a:solidFill>
                  <a:srgbClr val="FF0000"/>
                </a:solidFill>
                <a:latin typeface="+mn-lt"/>
              </a:rPr>
              <a:t>MP4 </a:t>
            </a:r>
            <a:r>
              <a:rPr lang="zh-TW" altLang="en-US" dirty="0">
                <a:solidFill>
                  <a:srgbClr val="FF0000"/>
                </a:solidFill>
                <a:latin typeface="+mn-lt"/>
              </a:rPr>
              <a:t>檔案不如 </a:t>
            </a:r>
            <a:r>
              <a:rPr lang="en-US" altLang="zh-TW" dirty="0">
                <a:solidFill>
                  <a:srgbClr val="FF0000"/>
                </a:solidFill>
                <a:latin typeface="+mn-lt"/>
              </a:rPr>
              <a:t>AVI </a:t>
            </a:r>
            <a:r>
              <a:rPr lang="zh-TW" altLang="en-US" dirty="0">
                <a:solidFill>
                  <a:srgbClr val="FF0000"/>
                </a:solidFill>
                <a:latin typeface="+mn-lt"/>
              </a:rPr>
              <a:t>的畫質好。</a:t>
            </a:r>
            <a:endParaRPr lang="en-US" altLang="zh-TW" dirty="0">
              <a:solidFill>
                <a:srgbClr val="FF0000"/>
              </a:solidFill>
              <a:latin typeface="+mn-lt"/>
            </a:endParaRPr>
          </a:p>
          <a:p>
            <a:pPr marL="457200" indent="-457200">
              <a:buAutoNum type="arabicPeriod"/>
            </a:pPr>
            <a:endParaRPr lang="en-US" dirty="0">
              <a:latin typeface="+mn-lt"/>
            </a:endParaRPr>
          </a:p>
          <a:p>
            <a:pPr marL="457200" indent="-457200">
              <a:buFont typeface="+mj-lt"/>
              <a:buAutoNum type="arabicPeriod"/>
            </a:pPr>
            <a:r>
              <a:rPr lang="en-HK" dirty="0">
                <a:solidFill>
                  <a:srgbClr val="FF0000"/>
                </a:solidFill>
                <a:latin typeface="+mn-lt"/>
              </a:rPr>
              <a:t>C</a:t>
            </a:r>
            <a:endParaRPr lang="en-US" dirty="0">
              <a:latin typeface="+mn-lt"/>
            </a:endParaRPr>
          </a:p>
          <a:p>
            <a:endParaRPr lang="en-GB" dirty="0"/>
          </a:p>
        </p:txBody>
      </p:sp>
      <p:sp>
        <p:nvSpPr>
          <p:cNvPr id="3" name="投影片編號版面配置區 2"/>
          <p:cNvSpPr>
            <a:spLocks noGrp="1"/>
          </p:cNvSpPr>
          <p:nvPr>
            <p:ph type="sldNum" sz="quarter" idx="12"/>
          </p:nvPr>
        </p:nvSpPr>
        <p:spPr/>
        <p:txBody>
          <a:bodyPr/>
          <a:lstStyle/>
          <a:p>
            <a:fld id="{6D22F896-40B5-4ADD-8801-0D06FADFA095}" type="slidenum">
              <a:rPr lang="en-US" smtClean="0"/>
              <a:t>154</a:t>
            </a:fld>
            <a:endParaRPr lang="en-US" dirty="0"/>
          </a:p>
        </p:txBody>
      </p:sp>
      <p:sp>
        <p:nvSpPr>
          <p:cNvPr id="6" name="文字版面配置區 5"/>
          <p:cNvSpPr>
            <a:spLocks noGrp="1"/>
          </p:cNvSpPr>
          <p:nvPr>
            <p:ph type="body" sz="quarter" idx="13"/>
          </p:nvPr>
        </p:nvSpPr>
        <p:spPr/>
        <p:txBody>
          <a:bodyPr/>
          <a:lstStyle/>
          <a:p>
            <a:r>
              <a:rPr lang="en-US" dirty="0"/>
              <a:t>3.10</a:t>
            </a:r>
            <a:endParaRPr lang="en-GB" dirty="0"/>
          </a:p>
        </p:txBody>
      </p:sp>
    </p:spTree>
    <p:extLst>
      <p:ext uri="{BB962C8B-B14F-4D97-AF65-F5344CB8AC3E}">
        <p14:creationId xmlns:p14="http://schemas.microsoft.com/office/powerpoint/2010/main" val="191604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HK_Kelie_20220801">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HK_Kelie_20220801" id="{65F25E0B-E9C0-46F1-AB3B-56C4AD4346BF}" vid="{AA16955C-DB03-4B43-BEEC-E0AA3A93535B}"/>
    </a:ext>
  </a:extLst>
</a:theme>
</file>

<file path=docProps/app.xml><?xml version="1.0" encoding="utf-8"?>
<Properties xmlns="http://schemas.openxmlformats.org/officeDocument/2006/extended-properties" xmlns:vt="http://schemas.openxmlformats.org/officeDocument/2006/docPropsVTypes">
  <Template>DSEPPT_HK_Kelie_20220801</Template>
  <TotalTime>314</TotalTime>
  <Words>10705</Words>
  <Application>Microsoft Office PowerPoint</Application>
  <PresentationFormat>Widescreen</PresentationFormat>
  <Paragraphs>1620</Paragraphs>
  <Slides>154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154</vt:i4>
      </vt:variant>
    </vt:vector>
  </HeadingPairs>
  <TitlesOfParts>
    <vt:vector size="166" baseType="lpstr">
      <vt:lpstr>Noto Sans CJK TC Bold</vt:lpstr>
      <vt:lpstr>Noto Sans CJK TC Light</vt:lpstr>
      <vt:lpstr>Noto Sans CJK TC Medium</vt:lpstr>
      <vt:lpstr>Noto Sans CJK TC Regular</vt:lpstr>
      <vt:lpstr>NotoSansCJKtc-Light</vt:lpstr>
      <vt:lpstr>新細明體</vt:lpstr>
      <vt:lpstr>Arial</vt:lpstr>
      <vt:lpstr>Calibri</vt:lpstr>
      <vt:lpstr>Courier New</vt:lpstr>
      <vt:lpstr>Myriad Pro</vt:lpstr>
      <vt:lpstr>Tw Cen MT</vt:lpstr>
      <vt:lpstr>DSEPPT_HK_Kelie_20220801</vt:lpstr>
      <vt:lpstr>第三課 數據表示</vt:lpstr>
      <vt:lpstr>PowerPoint Presentation</vt:lpstr>
      <vt:lpstr>數字系統與表示法</vt:lpstr>
      <vt:lpstr>數據單位</vt:lpstr>
      <vt:lpstr>數據單位</vt:lpstr>
      <vt:lpstr>二進制數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二進制數</vt:lpstr>
      <vt:lpstr>十六進制數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表示無符號整數</vt:lpstr>
      <vt:lpstr>表示有符號整數</vt:lpstr>
      <vt:lpstr>表示有符號整數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表示有符號整數</vt:lpstr>
      <vt:lpstr>表示有符號整數</vt:lpstr>
      <vt:lpstr>表示有符號整數</vt:lpstr>
      <vt:lpstr>表示有符號整數</vt:lpstr>
      <vt:lpstr>PowerPoint Presentation</vt:lpstr>
      <vt:lpstr>PowerPoint Presentation</vt:lpstr>
      <vt:lpstr>PowerPoint Presentation</vt:lpstr>
      <vt:lpstr>PowerPoint Presentation</vt:lpstr>
      <vt:lpstr>PowerPoint Presentation</vt:lpstr>
      <vt:lpstr>溢出誤差</vt:lpstr>
      <vt:lpstr>溢出誤差</vt:lpstr>
      <vt:lpstr>溢出誤差</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字符編碼</vt:lpstr>
      <vt:lpstr>英文</vt:lpstr>
      <vt:lpstr>中文</vt:lpstr>
      <vt:lpstr>中文</vt:lpstr>
      <vt:lpstr>中文</vt:lpstr>
      <vt:lpstr>多種語言</vt:lpstr>
      <vt:lpstr>多種語言</vt:lpstr>
      <vt:lpstr>PowerPoint Presentation</vt:lpstr>
      <vt:lpstr>PowerPoint Presentation</vt:lpstr>
      <vt:lpstr>PowerPoint Presentation</vt:lpstr>
      <vt:lpstr>PowerPoint Presentation</vt:lpstr>
      <vt:lpstr>PowerPoint Presentation</vt:lpstr>
      <vt:lpstr>PowerPoint Presentation</vt:lpstr>
      <vt:lpstr>條碼編碼</vt:lpstr>
      <vt:lpstr>條碼</vt:lpstr>
      <vt:lpstr>條碼</vt:lpstr>
      <vt:lpstr>條碼</vt:lpstr>
      <vt:lpstr>條碼</vt:lpstr>
      <vt:lpstr>二維碼</vt:lpstr>
      <vt:lpstr>二維碼</vt:lpstr>
      <vt:lpstr>二維碼</vt:lpstr>
      <vt:lpstr>二維碼</vt:lpstr>
      <vt:lpstr>PowerPoint Presentation</vt:lpstr>
      <vt:lpstr>PowerPoint Presentation</vt:lpstr>
      <vt:lpstr>PowerPoint Presentation</vt:lpstr>
      <vt:lpstr>模擬及數碼數據</vt:lpstr>
      <vt:lpstr>模擬及數碼數據</vt:lpstr>
      <vt:lpstr>模擬及數碼數據</vt:lpstr>
      <vt:lpstr>數碼化</vt:lpstr>
      <vt:lpstr>數碼化</vt:lpstr>
      <vt:lpstr>數碼化</vt:lpstr>
      <vt:lpstr>數碼化</vt:lpstr>
      <vt:lpstr>數碼化</vt:lpstr>
      <vt:lpstr>PowerPoint Presentation</vt:lpstr>
      <vt:lpstr>PowerPoint Presentation</vt:lpstr>
      <vt:lpstr>PowerPoint Presentation</vt:lpstr>
      <vt:lpstr>PowerPoint Presentation</vt:lpstr>
      <vt:lpstr>PowerPoint Presentation</vt:lpstr>
      <vt:lpstr>多媒體</vt:lpstr>
      <vt:lpstr>多媒體</vt:lpstr>
      <vt:lpstr>壓縮</vt:lpstr>
      <vt:lpstr>壓縮</vt:lpstr>
      <vt:lpstr>壓縮</vt:lpstr>
      <vt:lpstr>PowerPoint Presentation</vt:lpstr>
      <vt:lpstr>PowerPoint Presentation</vt:lpstr>
      <vt:lpstr>PowerPoint Presentation</vt:lpstr>
      <vt:lpstr>PowerPoint Presentation</vt:lpstr>
      <vt:lpstr>PowerPoint Presentation</vt:lpstr>
      <vt:lpstr>文本</vt:lpstr>
      <vt:lpstr>文本</vt:lpstr>
      <vt:lpstr>文本</vt:lpstr>
      <vt:lpstr>文本</vt:lpstr>
      <vt:lpstr>PowerPoint Presentation</vt:lpstr>
      <vt:lpstr>PowerPoint Presentation</vt:lpstr>
      <vt:lpstr>PowerPoint Presentation</vt:lpstr>
      <vt:lpstr>圖像</vt:lpstr>
      <vt:lpstr>圖像</vt:lpstr>
      <vt:lpstr>圖像</vt:lpstr>
      <vt:lpstr>圖像</vt:lpstr>
      <vt:lpstr>圖像</vt:lpstr>
      <vt:lpstr>圖像</vt:lpstr>
      <vt:lpstr>PowerPoint Presentation</vt:lpstr>
      <vt:lpstr>PowerPoint Presentation</vt:lpstr>
      <vt:lpstr>圖像</vt:lpstr>
      <vt:lpstr>圖像</vt:lpstr>
      <vt:lpstr>PowerPoint Presentation</vt:lpstr>
      <vt:lpstr>PowerPoint Presentation</vt:lpstr>
      <vt:lpstr>PowerPoint Presentation</vt:lpstr>
      <vt:lpstr>PowerPoint Presentation</vt:lpstr>
      <vt:lpstr>PowerPoint Presentation</vt:lpstr>
      <vt:lpstr>PowerPoint Presentation</vt:lpstr>
      <vt:lpstr>音頻</vt:lpstr>
      <vt:lpstr>音頻</vt:lpstr>
      <vt:lpstr>音頻</vt:lpstr>
      <vt:lpstr>音頻</vt:lpstr>
      <vt:lpstr>音頻</vt:lpstr>
      <vt:lpstr>PowerPoint Presentation</vt:lpstr>
      <vt:lpstr>PowerPoint Presentation</vt:lpstr>
      <vt:lpstr>PowerPoint Presentation</vt:lpstr>
      <vt:lpstr>PowerPoint Presentation</vt:lpstr>
      <vt:lpstr>視頻</vt:lpstr>
      <vt:lpstr>視頻</vt:lpstr>
      <vt:lpstr>視頻</vt:lpstr>
      <vt:lpstr>視頻</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Cherry</dc:creator>
  <cp:lastModifiedBy>Steve</cp:lastModifiedBy>
  <cp:revision>84</cp:revision>
  <dcterms:created xsi:type="dcterms:W3CDTF">2022-08-17T01:29:59Z</dcterms:created>
  <dcterms:modified xsi:type="dcterms:W3CDTF">2024-01-05T04:50:45Z</dcterms:modified>
</cp:coreProperties>
</file>