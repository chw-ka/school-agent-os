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TW" altLang="en-US" sz="5400" b="1" dirty="0">
                <a:solidFill>
                  <a:srgbClr val="00A0A9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明德資訊及通訊科技</a:t>
            </a:r>
            <a:endParaRPr lang="en-GB" altLang="zh-TW" sz="5400" b="1" dirty="0">
              <a:solidFill>
                <a:srgbClr val="00A0A9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D8FD09F-D8A1-E336-3B87-044CB68F4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69BCDB6-856A-6319-8C9A-5031698A31C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47D0310-AA82-8F1E-85B7-9D84E0B5E56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113404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6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E2DAD781-428A-67D8-7C55-666DFF21CB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736497C4-9FC9-151F-62D2-FB395805F0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941542A-A967-C085-B406-0716C05FAE4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2787011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6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217E881E-670F-B298-11FD-7D2AE51F6D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A97AA30C-B131-11B2-D159-FECF538D59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1A92E3-3244-CFBD-6601-65380FC61F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189260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14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506DF5-D585-C85A-7378-578CF95524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F6743423-DF9F-5DF4-442D-BF34F62A7AC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9066DD1-D16A-E0C9-4F5E-5F3B3D94FE4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39331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-Cover-HK">
    <p:bg>
      <p:bgPr>
        <a:solidFill>
          <a:srgbClr val="CD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F43B01CD-A3F8-6072-36D5-309BE87E4A6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9711" y="210200"/>
            <a:ext cx="5864753" cy="6437601"/>
            <a:chOff x="499711" y="210200"/>
            <a:chExt cx="5864753" cy="6437601"/>
          </a:xfrm>
        </p:grpSpPr>
        <p:sp>
          <p:nvSpPr>
            <p:cNvPr id="11" name="Flowchart: Card 10">
              <a:extLst>
                <a:ext uri="{FF2B5EF4-FFF2-40B4-BE49-F238E27FC236}">
                  <a16:creationId xmlns:a16="http://schemas.microsoft.com/office/drawing/2014/main" xmlns="" id="{D3DA1990-48FC-81A8-3D6B-B05262C03C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02091" y="210200"/>
              <a:ext cx="5862373" cy="6437601"/>
            </a:xfrm>
            <a:prstGeom prst="flowChartPunchedCard">
              <a:avLst/>
            </a:prstGeom>
            <a:solidFill>
              <a:srgbClr val="00A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xmlns="" id="{391A222F-0510-233D-9528-9D796FC5F2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472785" y="891320"/>
              <a:ext cx="632850" cy="578997"/>
            </a:xfrm>
            <a:prstGeom prst="rt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271EC0D9-CD00-7684-66AB-08F5E840ED1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199169" y="729000"/>
            <a:ext cx="8650500" cy="5590500"/>
            <a:chOff x="3122969" y="729000"/>
            <a:chExt cx="8650500" cy="55905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xmlns="" id="{E508CA83-C7D5-EC32-92E9-31AD4DD18B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3469" y="919500"/>
              <a:ext cx="8460000" cy="54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7CC05E4A-220C-8AD0-D5D0-8BCBDDBE32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2969" y="729000"/>
              <a:ext cx="8460000" cy="54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xmlns="" id="{B0382016-0D89-EF9D-39EF-278C3F31B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4756006" y="4084032"/>
            <a:ext cx="6903163" cy="2044968"/>
          </a:xfrm>
        </p:spPr>
        <p:txBody>
          <a:bodyPr anchor="t"/>
          <a:lstStyle>
            <a:lvl1pPr algn="l">
              <a:lnSpc>
                <a:spcPct val="100000"/>
              </a:lnSpc>
              <a:defRPr b="0">
                <a:solidFill>
                  <a:srgbClr val="007078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8793BAB5-13CD-5ADC-9F76-FC56C20F6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42958" y="1898909"/>
            <a:ext cx="6916211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A0A9"/>
                </a:solidFill>
                <a:effectLst/>
                <a:uLnTx/>
                <a:uFillTx/>
                <a:latin typeface="Noto Sans CJK TC Medium" panose="020B0600000000000000" pitchFamily="34" charset="-128"/>
                <a:ea typeface="Noto Sans CJK TC Medium" panose="020B0600000000000000" pitchFamily="34" charset="-128"/>
                <a:cs typeface="+mn-cs"/>
              </a:rPr>
              <a:t>明德資訊及通訊科技</a:t>
            </a:r>
            <a:endParaRPr kumimoji="0" lang="en-GB" altLang="zh-TW" sz="5400" b="1" i="0" u="none" strike="noStrike" kern="1200" cap="none" spc="0" normalizeH="0" baseline="0" noProof="0" dirty="0">
              <a:ln>
                <a:noFill/>
              </a:ln>
              <a:solidFill>
                <a:srgbClr val="00A0A9"/>
              </a:solidFill>
              <a:effectLst/>
              <a:uLnTx/>
              <a:uFillTx/>
              <a:latin typeface="Noto Sans CJK TC Medium" panose="020B0600000000000000" pitchFamily="34" charset="-128"/>
              <a:ea typeface="Noto Sans CJK TC Medium" panose="020B0600000000000000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3CC61186-C2CB-33BF-880D-468C0FE8B48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8909"/>
            <a:ext cx="4744800" cy="4744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0390D0C5-32B0-F4A3-8473-6945918A77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69" y="724908"/>
            <a:ext cx="5712455" cy="784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E0A19B2-6EE3-F634-8DE6-6BB0ACDC932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48" y="2853016"/>
            <a:ext cx="513027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474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orang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959AFF4-B8A0-A3C7-7993-7FA710926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162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blu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FCEF8422-2834-DB27-5926-614C3330A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24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gree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3A5034A-907A-8C5B-D5CC-924E35AB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2894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red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278B562-C8FA-FAB0-08D4-4DD481443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77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&amp;C_cyan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8F1F850-D926-8BC4-36C0-7FD5EFC48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201" y="1623600"/>
            <a:ext cx="5655598" cy="4680000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1pPr>
            <a:lvl2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2pPr>
            <a:lvl3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3pPr>
            <a:lvl4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4pPr>
            <a:lvl5pPr>
              <a:defRPr>
                <a:latin typeface="Noto Sans CJK TC Light" panose="020B0300000000000000" pitchFamily="34" charset="-128"/>
                <a:ea typeface="Noto Sans CJK TC Light" panose="020B0300000000000000" pitchFamily="34" charset="-128"/>
              </a:defRPr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1D206AD6-A0AE-75C5-D359-E6474815B7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1" y="2352599"/>
            <a:ext cx="4680000" cy="305999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04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nip Diagonal Corner Rectangle 3">
            <a:extLst>
              <a:ext uri="{FF2B5EF4-FFF2-40B4-BE49-F238E27FC236}">
                <a16:creationId xmlns:a16="http://schemas.microsoft.com/office/drawing/2014/main" xmlns="" id="{B505DC89-2E6F-5786-39F5-2B4AC2C46AF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C26A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43D25585-2BA2-DAE6-6CD9-0856FBF8481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14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72874D61-669D-1562-9471-3F57078BE1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2132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6B5BC051-110A-C89D-9342-F257EABF8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790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A2D0F62E-5468-5683-75D2-94AABF0D8A4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007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AA369FF4-FA36-C573-1B73-72B7F94DBF1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7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4DAD662D-900F-5555-5351-CB7EA4561EB7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B72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8AEC8F0B-7C47-5026-ABEB-5E962B7394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72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3">
            <a:extLst>
              <a:ext uri="{FF2B5EF4-FFF2-40B4-BE49-F238E27FC236}">
                <a16:creationId xmlns:a16="http://schemas.microsoft.com/office/drawing/2014/main" xmlns="" id="{215673C9-3F6B-C178-D494-7C8B73C3CDF6}"/>
              </a:ext>
            </a:extLst>
          </p:cNvPr>
          <p:cNvSpPr>
            <a:spLocks noChangeAspect="1"/>
          </p:cNvSpPr>
          <p:nvPr/>
        </p:nvSpPr>
        <p:spPr>
          <a:xfrm flipH="1">
            <a:off x="814200" y="669190"/>
            <a:ext cx="1020001" cy="612000"/>
          </a:xfrm>
          <a:prstGeom prst="snip2DiagRect">
            <a:avLst>
              <a:gd name="adj1" fmla="val 0"/>
              <a:gd name="adj2" fmla="val 24507"/>
            </a:avLst>
          </a:prstGeom>
          <a:solidFill>
            <a:srgbClr val="3F82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CE0739-E024-919C-BFC6-CB434061A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xmlns="" id="{C34498B1-43FD-DC69-5B53-AFC4C547F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800" y="684000"/>
            <a:ext cx="972000" cy="5832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xmlns="" id="{C9063645-AAC5-51BC-FFC8-34CC9F594B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379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xample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EDC08FA-FC71-5479-9731-ACADDACDB1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xmlns="" id="{EB0149AE-399E-56CA-418B-96532FF1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6934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02632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eckpoint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3378BB05-006A-84B6-7DC5-1C78180E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63795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16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ctivity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E1F04E3-1448-35F1-6590-2963551E3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470901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50399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b-H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6D7C970-CC55-F612-1833-02A18D885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3483-B172-4895-83DF-DAA6D810C218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xmlns="" id="{E63A75CB-E77D-CC21-A6EF-2A476E4BC4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2743839" y="755092"/>
            <a:ext cx="864000" cy="288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rgbClr val="606060"/>
                </a:solidFill>
                <a:latin typeface="Myriad Pro" panose="020B0503030403020204" pitchFamily="34" charset="0"/>
              </a:defRPr>
            </a:lvl1pPr>
          </a:lstStyle>
          <a:p>
            <a:pPr lvl="0"/>
            <a:r>
              <a:rPr lang="en-US" dirty="0"/>
              <a:t>X.X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282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isconce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7B0A839-D23C-1435-A186-FA67B6572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常見錯誤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435FBDB0-6C27-C606-20C5-686A00F187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93716" y="1609199"/>
            <a:ext cx="9660083" cy="2159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042C0F3B-5325-9C8D-A663-14E64C0C815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693716" y="4024188"/>
            <a:ext cx="9658800" cy="21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68146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F94735F-B64E-887A-0584-E2B7E148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試想想</a:t>
            </a:r>
            <a:endParaRPr lang="en-US" b="0" i="0" dirty="0"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69195DCF-0E55-AAB5-1074-39FAB8E195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0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3F49635-7B62-1BF0-3627-0DEF2D36B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84AD40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提示</a:t>
            </a:r>
            <a:endParaRPr lang="en-US" b="0" i="0" dirty="0">
              <a:solidFill>
                <a:srgbClr val="84AD40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9E46E5CA-E96E-2DB9-64FE-5E1D76C77C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9095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E6276F9-8CAE-0301-EC9B-559DB9D08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類比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15CCE8C4-EE82-5FA1-86D9-7618ACBB4E8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470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rich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C24769-7557-7417-69AD-C7D98D6EF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擴闊視野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C0FDA7B9-3B4F-45FE-C0CB-6CE489DF46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234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storical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A365613-9A6E-EC8F-CC4F-45C6843B5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7570B3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古往今來</a:t>
            </a:r>
            <a:endParaRPr lang="en-US" b="0" i="0" dirty="0">
              <a:solidFill>
                <a:srgbClr val="7570B3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9FE9C956-B01C-9F5B-D06E-B224FA04F06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1021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EAM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9F6A893-6ACD-62D2-E506-31CE1C78B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1875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7570B3"/>
                </a:solidFill>
              </a:rPr>
              <a:t>STEAM+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xmlns="" id="{D8CACC2A-8E2C-4654-1BEE-FF9B00C1EA1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105156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759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852B39E-570D-BB77-3EC2-68BF2DA3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25" y="363600"/>
            <a:ext cx="1264923" cy="126187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AD2444A-02E0-DED9-A000-1EAA36B2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09B550C-DFA6-FE93-6791-31D1AA7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DE12C6C-181F-F439-058A-8A00FD13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82711" y="649287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C355F62B-CCB7-A2A4-99C8-EBF589561E42}"/>
              </a:ext>
            </a:extLst>
          </p:cNvPr>
          <p:cNvSpPr txBox="1">
            <a:spLocks/>
          </p:cNvSpPr>
          <p:nvPr/>
        </p:nvSpPr>
        <p:spPr>
          <a:xfrm>
            <a:off x="1693718" y="363600"/>
            <a:ext cx="9660082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1" kern="1200" cap="none" baseline="0">
                <a:solidFill>
                  <a:srgbClr val="D83866"/>
                </a:solidFill>
                <a:latin typeface="Myriad Pro" panose="020B0503030403020204" pitchFamily="34" charset="0"/>
                <a:ea typeface="+mj-ea"/>
                <a:cs typeface="+mj-cs"/>
              </a:defRPr>
            </a:lvl1pPr>
          </a:lstStyle>
          <a:p>
            <a:r>
              <a:rPr lang="ja-JP" altLang="en-US" b="0" i="0" dirty="0">
                <a:solidFill>
                  <a:srgbClr val="C6993D"/>
                </a:solidFill>
                <a:latin typeface="Noto Sans CJK TC Medium" panose="020B0600000000000000" pitchFamily="34" charset="-128"/>
                <a:ea typeface="Noto Sans CJK TC Medium" panose="020B0600000000000000" pitchFamily="34" charset="-128"/>
              </a:rPr>
              <a:t>網上資源</a:t>
            </a:r>
            <a:endParaRPr lang="en-US" b="0" i="0" dirty="0">
              <a:solidFill>
                <a:srgbClr val="C6993D"/>
              </a:solidFill>
              <a:latin typeface="Noto Sans CJK TC Medium" panose="020B0600000000000000" pitchFamily="34" charset="-128"/>
              <a:ea typeface="Noto Sans CJK TC Medium" panose="020B0600000000000000" pitchFamily="34" charset="-128"/>
            </a:endParaRP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xmlns="" id="{7873EF2F-CB2D-FF0C-FE7E-4E5878DAD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7848000" cy="46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D221140A-902D-C446-8456-B18F8CA1510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33800" y="1609200"/>
            <a:ext cx="2520000" cy="32832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21314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210F294E-2671-69F2-AD8E-91EF65CC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BF720291-4918-3157-E8A0-2C33F024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284E269C-57B9-5795-9B37-30D8685C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125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275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615CB804-96AA-A5E1-7170-B54411166665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18800" y="363600"/>
            <a:ext cx="9435000" cy="126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CE581-C706-43BB-9E93-1B4DA785C440}" type="datetime1">
              <a:rPr lang="en-US" smtClean="0"/>
              <a:t>8/16/2022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8201" y="6492875"/>
            <a:ext cx="654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82711" y="6492875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0F58C60C-B777-2B7A-945B-E3C184807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2431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21" r:id="rId12"/>
    <p:sldLayoutId id="2147483722" r:id="rId13"/>
    <p:sldLayoutId id="2147483723" r:id="rId14"/>
    <p:sldLayoutId id="2147483724" r:id="rId15"/>
    <p:sldLayoutId id="2147483706" r:id="rId16"/>
    <p:sldLayoutId id="2147483707" r:id="rId17"/>
    <p:sldLayoutId id="2147483708" r:id="rId18"/>
    <p:sldLayoutId id="2147483709" r:id="rId19"/>
    <p:sldLayoutId id="2147483712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10" r:id="rId28"/>
    <p:sldLayoutId id="2147483711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none" baseline="0">
          <a:solidFill>
            <a:srgbClr val="606060"/>
          </a:solidFill>
          <a:latin typeface="Noto Sans CJK TC Bold" panose="020B0800000000000000" pitchFamily="34" charset="-128"/>
          <a:ea typeface="Noto Sans CJK TC Bold" panose="020B0800000000000000" pitchFamily="34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None/>
        <a:defRPr sz="20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8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6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None/>
        <a:defRPr sz="1400" kern="1200">
          <a:solidFill>
            <a:schemeClr val="tx1"/>
          </a:solidFill>
          <a:latin typeface="Noto Sans CJK TC Light" panose="020B0300000000000000" pitchFamily="34" charset="-128"/>
          <a:ea typeface="Noto Sans CJK TC Light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第二課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/>
              <a:t>算法設計（一）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848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6" name="圖片版面配置區 5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3" r="479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2680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算法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電腦會通過使用</a:t>
            </a:r>
            <a:r>
              <a:rPr lang="zh-TW" altLang="en-US" b="1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算法</a:t>
            </a:r>
            <a:r>
              <a:rPr lang="zh-TW" altLang="en-US" dirty="0" smtClean="0"/>
              <a:t>解決問題。</a:t>
            </a:r>
            <a:endParaRPr lang="en-US" altLang="zh-TW" dirty="0" smtClean="0"/>
          </a:p>
          <a:p>
            <a:endParaRPr lang="en-US" dirty="0" smtClean="0"/>
          </a:p>
          <a:p>
            <a:r>
              <a:rPr lang="zh-TW" altLang="en-US" dirty="0"/>
              <a:t>算</a:t>
            </a:r>
            <a:r>
              <a:rPr lang="zh-TW" altLang="en-US" dirty="0" smtClean="0"/>
              <a:t>法是按照</a:t>
            </a:r>
            <a:r>
              <a:rPr lang="zh-TW" altLang="en-US" dirty="0"/>
              <a:t>特定次序解決問題的步驟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以下是表達算法的方式：</a:t>
            </a:r>
            <a:endParaRPr lang="en-US" altLang="zh-TW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000" dirty="0" smtClean="0"/>
              <a:t>偽代碼</a:t>
            </a:r>
            <a:endParaRPr lang="en-US" altLang="zh-TW" sz="2000" dirty="0" smtClean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TW" altLang="en-US" sz="2000" dirty="0" smtClean="0"/>
              <a:t>流程圖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32727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偽代碼及流程圖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A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7018076"/>
              </p:ext>
            </p:extLst>
          </p:nvPr>
        </p:nvGraphicFramePr>
        <p:xfrm>
          <a:off x="838200" y="1875731"/>
          <a:ext cx="10515600" cy="44509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/>
                <a:gridCol w="5257800"/>
              </a:tblGrid>
              <a:tr h="69290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3758027">
                <a:tc>
                  <a:txBody>
                    <a:bodyPr/>
                    <a:lstStyle/>
                    <a:p>
                      <a:endParaRPr lang="en-HK" dirty="0" smtClean="0"/>
                    </a:p>
                    <a:p>
                      <a:endParaRPr lang="en-HK" dirty="0" smtClean="0"/>
                    </a:p>
                    <a:p>
                      <a:pPr lvl="1"/>
                      <a:r>
                        <a:rPr lang="zh-TW" altLang="en-US" dirty="0" smtClean="0"/>
                        <a:t>輸入 </a:t>
                      </a:r>
                      <a:r>
                        <a:rPr lang="en-HK" dirty="0" smtClean="0"/>
                        <a:t>weight, height</a:t>
                      </a:r>
                    </a:p>
                    <a:p>
                      <a:pPr lvl="1"/>
                      <a:endParaRPr lang="en-HK" dirty="0" smtClean="0"/>
                    </a:p>
                    <a:p>
                      <a:pPr lvl="1"/>
                      <a:r>
                        <a:rPr lang="en-HK" dirty="0" err="1" smtClean="0"/>
                        <a:t>bmi</a:t>
                      </a:r>
                      <a:r>
                        <a:rPr lang="en-HK" dirty="0" smtClean="0"/>
                        <a:t>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weight/ (height * height)</a:t>
                      </a:r>
                    </a:p>
                    <a:p>
                      <a:pPr lvl="1"/>
                      <a:endParaRPr lang="en-HK" dirty="0" smtClean="0">
                        <a:sym typeface="Wingdings" panose="05000000000000000000" pitchFamily="2" charset="2"/>
                      </a:endParaRPr>
                    </a:p>
                    <a:p>
                      <a:pPr lvl="1"/>
                      <a:r>
                        <a:rPr lang="zh-TW" altLang="en-US" dirty="0" smtClean="0">
                          <a:sym typeface="Wingdings" panose="05000000000000000000" pitchFamily="2" charset="2"/>
                        </a:rPr>
                        <a:t>輸出 </a:t>
                      </a:r>
                      <a:r>
                        <a:rPr lang="en-HK" dirty="0" err="1" smtClean="0">
                          <a:sym typeface="Wingdings" panose="05000000000000000000" pitchFamily="2" charset="2"/>
                        </a:rPr>
                        <a:t>bmi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478" y="2792627"/>
            <a:ext cx="3457419" cy="341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1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b="1" dirty="0" smtClean="0">
                <a:solidFill>
                  <a:srgbClr val="4D4D9F"/>
                </a:solidFill>
                <a:latin typeface="Myriad Pro" panose="020B0503030403020204" pitchFamily="34" charset="0"/>
              </a:rPr>
              <a:t>變量</a:t>
            </a:r>
            <a:r>
              <a:rPr lang="zh-TW" altLang="en-US" dirty="0" smtClean="0"/>
              <a:t>用以儲存將會用於運算的數據。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變量位於電腦記憶體中。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命名變量時，須跟從特定規則。</a:t>
            </a:r>
            <a:endParaRPr lang="en-US" altLang="zh-TW" dirty="0" smtClean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5243" y="2314214"/>
            <a:ext cx="3733910" cy="28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7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舉例來說，變量就像日常生活中用以收藏不同物件的箱子。</a:t>
            </a:r>
            <a:endParaRPr lang="en-GB" dirty="0"/>
          </a:p>
        </p:txBody>
      </p:sp>
      <p:pic>
        <p:nvPicPr>
          <p:cNvPr id="6" name="Picture 2" descr="https://lh3.googleusercontent.com/aCXx-ON1xnoP0fpgp_lK95VSian08Vj-ecmeKEA5rJczxl1bwywZ7YJM_u6fykPQRUAPMNxrfMGv7m8OCkk6WDP7kUs3wi3Jrpe4Un6kk19OzqVXgTLmvHCwuOKn71q1sqvSw6VEpWVTI05rCYT-Pi0z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3899" y="2869200"/>
            <a:ext cx="5801239" cy="252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09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我們可以用不同方式為變量賦值。</a:t>
            </a:r>
            <a:endParaRPr lang="en-GB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818487"/>
              </p:ext>
            </p:extLst>
          </p:nvPr>
        </p:nvGraphicFramePr>
        <p:xfrm>
          <a:off x="2476304" y="2307396"/>
          <a:ext cx="7240592" cy="38620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4636"/>
                <a:gridCol w="4385956"/>
              </a:tblGrid>
              <a:tr h="59374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盒子類比圖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163416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輸入</a:t>
                      </a:r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en-HK" dirty="0" smtClean="0"/>
                        <a:t>price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4165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price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8000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Picture 2" descr="https://lh6.googleusercontent.com/8h-RJKeQcdPOJc1cj7Q8dL8Yzot9VCNlDkIBCtfrIpnOTo1-jq98KWlQ3YOQ1jI1PzYLbpp4Btenp19ubeODUyljGrftNFCw6F04VQUtf6Tao8YTT5QgehReHt1tn5KIEKqm7339u4HKviRauYGncviCg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3050" y="3007143"/>
            <a:ext cx="33528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s://lh5.googleusercontent.com/dbfwSoy_4Zp8q-cojIOSI2AyPMWpJ14K4DGx6d3N1KHOAt5iunfHShvfho0sMuZfQ9VbDwP7hof1nhkczUl47rMmX--vX6uTPHnBE6CyVdDqslJFuBT2SUCactUOFgPnQph63Evsc-jtGTO9Jq_rT4Hg6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050" y="4583531"/>
            <a:ext cx="41148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34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變量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我們可以用不同方式為變量賦值。</a:t>
            </a:r>
            <a:endParaRPr lang="en-GB" dirty="0"/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426202"/>
              </p:ext>
            </p:extLst>
          </p:nvPr>
        </p:nvGraphicFramePr>
        <p:xfrm>
          <a:off x="1432341" y="2282683"/>
          <a:ext cx="9328518" cy="39121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77810"/>
                <a:gridCol w="5650708"/>
              </a:tblGrid>
              <a:tr h="59374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盒子類比圖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1193063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new</a:t>
                      </a:r>
                      <a:r>
                        <a:rPr lang="en-HK" baseline="0" dirty="0" smtClean="0"/>
                        <a:t> 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HK" dirty="0" smtClean="0"/>
                        <a:t> price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2536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price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price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+ 1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315" y="2882188"/>
            <a:ext cx="4183231" cy="1163978"/>
          </a:xfrm>
          <a:prstGeom prst="rect">
            <a:avLst/>
          </a:prstGeom>
        </p:spPr>
      </p:pic>
      <p:pic>
        <p:nvPicPr>
          <p:cNvPr id="11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706" y="4146855"/>
            <a:ext cx="3296782" cy="194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91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zh-TW" altLang="en-US" dirty="0" smtClean="0"/>
              <a:t>試空運行以下偽代碼，並寫下算法的輸出：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14859"/>
              </p:ext>
            </p:extLst>
          </p:nvPr>
        </p:nvGraphicFramePr>
        <p:xfrm>
          <a:off x="1973811" y="2066326"/>
          <a:ext cx="8128000" cy="39552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394786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182997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7</a:t>
                      </a:r>
                    </a:p>
                    <a:p>
                      <a:r>
                        <a:rPr lang="en-HK" dirty="0" smtClean="0">
                          <a:sym typeface="Wingdings" panose="05000000000000000000" pitchFamily="2" charset="2"/>
                        </a:rPr>
                        <a:t>A  10</a:t>
                      </a:r>
                    </a:p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輸出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 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2997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3</a:t>
                      </a:r>
                    </a:p>
                    <a:p>
                      <a:r>
                        <a:rPr lang="en-HK" dirty="0" smtClean="0">
                          <a:sym typeface="Wingdings" panose="05000000000000000000" pitchFamily="2" charset="2"/>
                        </a:rPr>
                        <a:t>B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 A + 6</a:t>
                      </a:r>
                    </a:p>
                    <a:p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C  A * B</a:t>
                      </a:r>
                    </a:p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輸出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A, B, C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2997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6</a:t>
                      </a:r>
                    </a:p>
                    <a:p>
                      <a:r>
                        <a:rPr lang="en-HK" dirty="0" smtClean="0">
                          <a:sym typeface="Wingdings" panose="05000000000000000000" pitchFamily="2" charset="2"/>
                        </a:rPr>
                        <a:t>B  A/2</a:t>
                      </a:r>
                    </a:p>
                    <a:p>
                      <a:r>
                        <a:rPr lang="en-HK" dirty="0" smtClean="0">
                          <a:sym typeface="Wingdings" panose="05000000000000000000" pitchFamily="2" charset="2"/>
                        </a:rPr>
                        <a:t>A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 8</a:t>
                      </a:r>
                    </a:p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輸出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A, 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Box 5"/>
          <p:cNvSpPr txBox="1"/>
          <p:nvPr/>
        </p:nvSpPr>
        <p:spPr>
          <a:xfrm>
            <a:off x="7780713" y="2851266"/>
            <a:ext cx="606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dirty="0" smtClean="0">
                <a:solidFill>
                  <a:srgbClr val="FF0000"/>
                </a:solidFill>
              </a:rPr>
              <a:t>10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7190509" y="4017819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dirty="0" smtClean="0">
                <a:solidFill>
                  <a:srgbClr val="FF0000"/>
                </a:solidFill>
              </a:rPr>
              <a:t>3, 9, 27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7"/>
          <p:cNvSpPr txBox="1"/>
          <p:nvPr/>
        </p:nvSpPr>
        <p:spPr>
          <a:xfrm>
            <a:off x="7190509" y="5184372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dirty="0" smtClean="0">
                <a:solidFill>
                  <a:srgbClr val="FF0000"/>
                </a:solidFill>
              </a:rPr>
              <a:t>8, 3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09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zh-TW" altLang="en-US" dirty="0" smtClean="0"/>
              <a:t>下列</a:t>
            </a:r>
            <a:r>
              <a:rPr lang="zh-TW" altLang="en-US" dirty="0"/>
              <a:t>算法的輸出是什麼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endParaRPr lang="en-US" dirty="0" smtClean="0"/>
          </a:p>
          <a:p>
            <a:r>
              <a:rPr lang="en-US" dirty="0">
                <a:latin typeface="+mj-lt"/>
              </a:rPr>
              <a:t>	A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2</a:t>
            </a:r>
          </a:p>
          <a:p>
            <a:r>
              <a:rPr lang="en-US" dirty="0" smtClean="0">
                <a:latin typeface="+mj-lt"/>
              </a:rPr>
              <a:t>	B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5</a:t>
            </a:r>
          </a:p>
          <a:p>
            <a:r>
              <a:rPr lang="en-US" dirty="0" smtClean="0">
                <a:latin typeface="+mj-lt"/>
              </a:rPr>
              <a:t>	A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 </a:t>
            </a:r>
            <a:r>
              <a:rPr lang="en-US" dirty="0" smtClean="0">
                <a:latin typeface="+mj-lt"/>
              </a:rPr>
              <a:t>B </a:t>
            </a:r>
            <a:r>
              <a:rPr lang="en-US" dirty="0">
                <a:latin typeface="+mj-lt"/>
              </a:rPr>
              <a:t>– A</a:t>
            </a:r>
          </a:p>
          <a:p>
            <a:r>
              <a:rPr lang="en-US" dirty="0" smtClean="0">
                <a:latin typeface="+mj-lt"/>
              </a:rPr>
              <a:t>	A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A * B</a:t>
            </a:r>
          </a:p>
          <a:p>
            <a:r>
              <a:rPr lang="en-US" dirty="0" smtClean="0">
                <a:latin typeface="+mj-lt"/>
              </a:rPr>
              <a:t>	B</a:t>
            </a:r>
            <a:r>
              <a:rPr lang="en-HK" dirty="0" smtClean="0">
                <a:latin typeface="+mj-lt"/>
                <a:sym typeface="Wingdings" panose="05000000000000000000" pitchFamily="2" charset="2"/>
              </a:rPr>
              <a:t>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 </a:t>
            </a:r>
            <a:r>
              <a:rPr lang="en-US" dirty="0" smtClean="0">
                <a:latin typeface="+mj-lt"/>
              </a:rPr>
              <a:t>A </a:t>
            </a:r>
            <a:r>
              <a:rPr lang="en-US" dirty="0">
                <a:latin typeface="+mj-lt"/>
              </a:rPr>
              <a:t>– B</a:t>
            </a:r>
          </a:p>
          <a:p>
            <a:r>
              <a:rPr lang="en-US" altLang="zh-TW" dirty="0" smtClean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輸出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A</a:t>
            </a:r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900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02275" y="1357103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 smtClean="0"/>
              <a:t>輸出「</a:t>
            </a:r>
            <a:r>
              <a:rPr lang="en-HK" dirty="0" smtClean="0"/>
              <a:t>15</a:t>
            </a:r>
            <a:r>
              <a:rPr lang="zh-TW" altLang="en-US" dirty="0" smtClean="0"/>
              <a:t>」</a:t>
            </a:r>
            <a:endParaRPr lang="en-US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81367"/>
              </p:ext>
            </p:extLst>
          </p:nvPr>
        </p:nvGraphicFramePr>
        <p:xfrm>
          <a:off x="2147404" y="1871636"/>
          <a:ext cx="8127999" cy="28200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4241"/>
                <a:gridCol w="2809702"/>
                <a:gridCol w="3144056"/>
              </a:tblGrid>
              <a:tr h="78865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完成語句後 </a:t>
                      </a:r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A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完成語句後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B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406272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N/A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272">
                <a:tc>
                  <a:txBody>
                    <a:bodyPr/>
                    <a:lstStyle/>
                    <a:p>
                      <a:r>
                        <a:rPr lang="en-HK" dirty="0" smtClean="0"/>
                        <a:t>B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272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B –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272">
                <a:tc>
                  <a:txBody>
                    <a:bodyPr/>
                    <a:lstStyle/>
                    <a:p>
                      <a:r>
                        <a:rPr lang="en-HK" dirty="0" smtClean="0"/>
                        <a:t>A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A * 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272">
                <a:tc>
                  <a:txBody>
                    <a:bodyPr/>
                    <a:lstStyle/>
                    <a:p>
                      <a:r>
                        <a:rPr lang="en-HK" dirty="0" smtClean="0"/>
                        <a:t>B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A -</a:t>
                      </a:r>
                      <a:r>
                        <a:rPr lang="en-HK" baseline="0" dirty="0" smtClean="0">
                          <a:sym typeface="Wingdings" panose="05000000000000000000" pitchFamily="2" charset="2"/>
                        </a:rPr>
                        <a:t> B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10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617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zh-TW" altLang="en-US" dirty="0"/>
              <a:t>空運行以下算法，此算法的目的是什麼</a:t>
            </a:r>
            <a:r>
              <a:rPr lang="zh-TW" altLang="en-US" dirty="0" smtClean="0"/>
              <a:t>？</a:t>
            </a:r>
            <a:endParaRPr lang="en-US" altLang="zh-TW" dirty="0" smtClean="0"/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  <a:p>
            <a:r>
              <a:rPr lang="en-HK" dirty="0" smtClean="0">
                <a:latin typeface="+mj-lt"/>
              </a:rPr>
              <a:t>	X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 3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</a:t>
            </a:r>
            <a:r>
              <a:rPr lang="en-HK" dirty="0" smtClean="0">
                <a:latin typeface="+mj-lt"/>
              </a:rPr>
              <a:t>Y </a:t>
            </a:r>
            <a:r>
              <a:rPr lang="en-HK" dirty="0">
                <a:latin typeface="+mj-lt"/>
                <a:sym typeface="Wingdings" panose="05000000000000000000" pitchFamily="2" charset="2"/>
              </a:rPr>
              <a:t> 9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temp  X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 	X  Y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Y  temp</a:t>
            </a:r>
            <a:endParaRPr lang="en-US" dirty="0">
              <a:latin typeface="+mj-lt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801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02275" y="1357103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sz="2200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sz="2200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 smtClean="0"/>
              <a:t>分析</a:t>
            </a:r>
            <a:r>
              <a:rPr lang="zh-TW" altLang="en-US" dirty="0"/>
              <a:t>偽代碼並追蹤各變量的值：</a:t>
            </a:r>
            <a:endParaRPr lang="en-HK" dirty="0" smtClean="0"/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>
              <a:buSzPct val="100000"/>
            </a:pPr>
            <a:endParaRPr lang="en-HK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endParaRPr lang="en-US" altLang="zh-TW" b="1" dirty="0" smtClean="0">
              <a:solidFill>
                <a:srgbClr val="37A3D4"/>
              </a:solidFill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sz="2200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sz="2200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/>
              <a:t>此算法用於</a:t>
            </a:r>
            <a:r>
              <a:rPr lang="zh-TW" altLang="en-US" b="1" dirty="0" smtClean="0">
                <a:solidFill>
                  <a:srgbClr val="4D4D9F"/>
                </a:solidFill>
              </a:rPr>
              <a:t>交換</a:t>
            </a:r>
            <a:r>
              <a:rPr lang="zh-TW" altLang="en-US" dirty="0" smtClean="0"/>
              <a:t>兩</a:t>
            </a:r>
            <a:r>
              <a:rPr lang="zh-TW" altLang="en-US" dirty="0"/>
              <a:t>個變量的值。</a:t>
            </a:r>
            <a:endParaRPr lang="en-US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402721"/>
              </p:ext>
            </p:extLst>
          </p:nvPr>
        </p:nvGraphicFramePr>
        <p:xfrm>
          <a:off x="2536455" y="2246972"/>
          <a:ext cx="7315999" cy="2787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3453"/>
                <a:gridCol w="1763453"/>
                <a:gridCol w="1763453"/>
                <a:gridCol w="2025640"/>
              </a:tblGrid>
              <a:tr h="60869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X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Y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變量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temp</a:t>
                      </a:r>
                      <a:r>
                        <a:rPr lang="en-US" altLang="zh-TW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 </a:t>
                      </a:r>
                      <a:r>
                        <a:rPr lang="zh-TW" altLang="en-US" b="1" baseline="0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的值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435805">
                <a:tc>
                  <a:txBody>
                    <a:bodyPr/>
                    <a:lstStyle/>
                    <a:p>
                      <a:r>
                        <a:rPr lang="en-HK" dirty="0" smtClean="0"/>
                        <a:t>X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N/A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N/A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05">
                <a:tc>
                  <a:txBody>
                    <a:bodyPr/>
                    <a:lstStyle/>
                    <a:p>
                      <a:r>
                        <a:rPr lang="en-HK" dirty="0" smtClean="0"/>
                        <a:t>Y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N/A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05">
                <a:tc>
                  <a:txBody>
                    <a:bodyPr/>
                    <a:lstStyle/>
                    <a:p>
                      <a:r>
                        <a:rPr lang="en-HK" dirty="0" smtClean="0"/>
                        <a:t>temp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05">
                <a:tc>
                  <a:txBody>
                    <a:bodyPr/>
                    <a:lstStyle/>
                    <a:p>
                      <a:r>
                        <a:rPr lang="en-HK" dirty="0" smtClean="0"/>
                        <a:t>X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5805">
                <a:tc>
                  <a:txBody>
                    <a:bodyPr/>
                    <a:lstStyle/>
                    <a:p>
                      <a:r>
                        <a:rPr lang="en-HK" dirty="0" smtClean="0"/>
                        <a:t>Y </a:t>
                      </a:r>
                      <a:r>
                        <a:rPr lang="en-HK" dirty="0" smtClean="0">
                          <a:sym typeface="Wingdings" panose="05000000000000000000" pitchFamily="2" charset="2"/>
                        </a:rPr>
                        <a:t> temp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01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Myriad Pro" panose="020B0503030403020204" pitchFamily="34" charset="0"/>
              </a:rPr>
              <a:t>試</a:t>
            </a:r>
            <a:r>
              <a:rPr lang="zh-TW" altLang="en-US" dirty="0" smtClean="0">
                <a:latin typeface="Myriad Pro" panose="020B0503030403020204" pitchFamily="34" charset="0"/>
              </a:rPr>
              <a:t>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41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2.1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 smtClean="0">
              <a:latin typeface="Myriad Pro" panose="020B0503030403020204" pitchFamily="34" charset="0"/>
            </a:endParaRPr>
          </a:p>
          <a:p>
            <a:pPr marL="457200" indent="-457200">
              <a:buSzPct val="100000"/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A</a:t>
            </a:r>
          </a:p>
          <a:p>
            <a:pPr marL="457200" indent="-457200">
              <a:buSzPct val="100000"/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</a:p>
          <a:p>
            <a:pPr marL="457200" indent="-457200">
              <a:buSzPct val="100000"/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5   8   3</a:t>
            </a:r>
          </a:p>
          <a:p>
            <a:endParaRPr 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文字版面配置區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649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數據類型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b="1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數據類型</a:t>
            </a:r>
            <a:r>
              <a:rPr lang="zh-TW" altLang="en-US" dirty="0" smtClean="0"/>
              <a:t>會決定特定數據式可以進行哪種運算。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電腦會為不同數據類型的變量分配適當的儲存記憶體。</a:t>
            </a:r>
            <a:endParaRPr lang="en-GB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332" y="3222665"/>
            <a:ext cx="3066535" cy="306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91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數據類型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常見的數據類型有四種：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整數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實數 </a:t>
            </a:r>
            <a:r>
              <a:rPr lang="en-US" altLang="zh-TW" dirty="0" smtClean="0"/>
              <a:t>/ </a:t>
            </a:r>
            <a:r>
              <a:rPr lang="zh-TW" altLang="en-US" dirty="0" smtClean="0"/>
              <a:t>浮點數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字符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布爾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637" y="3250796"/>
            <a:ext cx="4710363" cy="314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8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數據類型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60025782"/>
              </p:ext>
            </p:extLst>
          </p:nvPr>
        </p:nvGraphicFramePr>
        <p:xfrm>
          <a:off x="2343585" y="1819274"/>
          <a:ext cx="8239126" cy="39147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9563"/>
                <a:gridCol w="4119563"/>
              </a:tblGrid>
              <a:tr h="78295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數據類型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782955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288,</a:t>
                      </a:r>
                      <a:r>
                        <a:rPr lang="en-HK" baseline="0" dirty="0" smtClean="0"/>
                        <a:t> -101</a:t>
                      </a:r>
                      <a:endParaRPr lang="en-US" dirty="0"/>
                    </a:p>
                  </a:txBody>
                  <a:tcPr/>
                </a:tc>
              </a:tr>
              <a:tr h="782955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實數 </a:t>
                      </a:r>
                      <a:r>
                        <a:rPr lang="en-US" altLang="zh-TW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/ 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浮點數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56.5, -0.382</a:t>
                      </a:r>
                      <a:endParaRPr lang="en-US" dirty="0"/>
                    </a:p>
                  </a:txBody>
                  <a:tcPr/>
                </a:tc>
              </a:tr>
              <a:tr h="782955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字符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‘a’, ‘B’, ‘8’, ‘%’</a:t>
                      </a:r>
                      <a:endParaRPr lang="en-US" dirty="0"/>
                    </a:p>
                  </a:txBody>
                  <a:tcPr/>
                </a:tc>
              </a:tr>
              <a:tr h="782955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布爾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 smtClean="0"/>
                        <a:t>1 (True)</a:t>
                      </a:r>
                    </a:p>
                    <a:p>
                      <a:r>
                        <a:rPr lang="en-HK" dirty="0" smtClean="0"/>
                        <a:t>0 (False)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15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數據類型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字串由字符所組成。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Myriad Pro" panose="020B0503030403020204" pitchFamily="34" charset="0"/>
              </a:rPr>
              <a:t>字串是數據類型的一種。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Myriad Pro" panose="020B0503030403020204" pitchFamily="34" charset="0"/>
              </a:rPr>
              <a:t>其例子為：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+mj-lt"/>
              </a:rPr>
              <a:t>「</a:t>
            </a:r>
            <a:r>
              <a:rPr lang="en-US" altLang="zh-TW" dirty="0" err="1" smtClean="0">
                <a:latin typeface="+mj-lt"/>
              </a:rPr>
              <a:t>abc</a:t>
            </a:r>
            <a:r>
              <a:rPr lang="zh-TW" altLang="en-US" dirty="0" smtClean="0">
                <a:latin typeface="+mj-lt"/>
              </a:rPr>
              <a:t>」、「</a:t>
            </a:r>
            <a:r>
              <a:rPr lang="en-US" altLang="zh-TW" dirty="0" smtClean="0">
                <a:latin typeface="+mj-lt"/>
              </a:rPr>
              <a:t>0011</a:t>
            </a:r>
            <a:r>
              <a:rPr lang="zh-TW" altLang="en-US" dirty="0" smtClean="0">
                <a:latin typeface="+mj-lt"/>
              </a:rPr>
              <a:t>」、「</a:t>
            </a:r>
            <a:r>
              <a:rPr lang="en-US" altLang="zh-TW" dirty="0" smtClean="0">
                <a:latin typeface="+mj-lt"/>
              </a:rPr>
              <a:t>I go to</a:t>
            </a:r>
            <a:r>
              <a:rPr lang="zh-TW" altLang="en-US" dirty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school by bus</a:t>
            </a:r>
            <a:r>
              <a:rPr lang="zh-TW" altLang="en-US" dirty="0" smtClean="0">
                <a:latin typeface="+mj-lt"/>
              </a:rPr>
              <a:t>」</a:t>
            </a: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778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 smtClean="0"/>
              <a:t>一間慈善機構在網頁上顯示了每個月的籌款情況，右圖為某個月的資料。在網頁程式中，運用以下哪組數據類型最為合適？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graphicFrame>
        <p:nvGraphicFramePr>
          <p:cNvPr id="1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989030"/>
              </p:ext>
            </p:extLst>
          </p:nvPr>
        </p:nvGraphicFramePr>
        <p:xfrm>
          <a:off x="666983" y="3211651"/>
          <a:ext cx="6626224" cy="2328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5525"/>
                <a:gridCol w="1362075"/>
                <a:gridCol w="1962150"/>
                <a:gridCol w="2276474"/>
              </a:tblGrid>
              <a:tr h="46566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i="0" u="none" strike="noStrike" baseline="0" dirty="0" smtClean="0">
                          <a:latin typeface="NotoSansCJKtc-Bold" panose="020B0800000000000000" pitchFamily="34" charset="-128"/>
                          <a:ea typeface="NotoSansCJKtc-Bold" panose="020B0800000000000000" pitchFamily="34" charset="-128"/>
                        </a:rPr>
                        <a:t>善款數字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i="0" u="none" strike="noStrike" baseline="0" dirty="0" smtClean="0">
                          <a:latin typeface="NotoSansCJKtc-Bold" panose="020B0800000000000000" pitchFamily="34" charset="-128"/>
                          <a:ea typeface="NotoSansCJKtc-Bold" panose="020B0800000000000000" pitchFamily="34" charset="-128"/>
                        </a:rPr>
                        <a:t>捐獻人數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b="1" i="0" u="none" strike="noStrike" baseline="0" dirty="0" smtClean="0">
                          <a:latin typeface="NotoSansCJKtc-Bold" panose="020B0800000000000000" pitchFamily="34" charset="-128"/>
                          <a:ea typeface="NotoSansCJKtc-Bold" panose="020B0800000000000000" pitchFamily="34" charset="-128"/>
                        </a:rPr>
                        <a:t>會長的話</a:t>
                      </a:r>
                      <a:endParaRPr lang="en-US" sz="3200" b="1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字符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B.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實數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C.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整數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字串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667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D.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實數</a:t>
                      </a:r>
                      <a:endParaRPr lang="en-US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字符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字符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24" y="3561430"/>
            <a:ext cx="35909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81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02275" y="1357103"/>
            <a:ext cx="10515600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「善款數字」的金額會出現小數點，所以應使用實數來儲存；「捐獻人數」只會是整數，所以應使用整數來儲存，這亦方便計算總人數；「會長的話」必定為文字，所以應使用字串來儲存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HK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 smtClean="0">
                <a:latin typeface="Myriad Pro" panose="020B0503030403020204" pitchFamily="34" charset="0"/>
              </a:rPr>
              <a:t>答案是 </a:t>
            </a:r>
            <a:r>
              <a:rPr lang="en-US" altLang="zh-TW" dirty="0" smtClean="0">
                <a:latin typeface="Myriad Pro" panose="020B0503030403020204" pitchFamily="34" charset="0"/>
              </a:rPr>
              <a:t>B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3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200" y="1443600"/>
            <a:ext cx="10515600" cy="4860000"/>
          </a:xfrm>
        </p:spPr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</a:t>
            </a:r>
            <a:r>
              <a:rPr lang="zh-TW" altLang="en-US" dirty="0">
                <a:latin typeface="Myriad Pro" panose="020B0503030403020204" pitchFamily="34" charset="0"/>
              </a:rPr>
              <a:t>課本第 </a:t>
            </a:r>
            <a:r>
              <a:rPr lang="en-US" altLang="zh-TW" dirty="0" smtClean="0">
                <a:latin typeface="Myriad Pro" panose="020B0503030403020204" pitchFamily="34" charset="0"/>
              </a:rPr>
              <a:t>44 </a:t>
            </a:r>
            <a:r>
              <a:rPr lang="zh-TW" altLang="en-US" dirty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2.2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>
              <a:latin typeface="Myriad Pro" panose="020B0503030403020204" pitchFamily="34" charset="0"/>
            </a:endParaRPr>
          </a:p>
          <a:p>
            <a:endParaRPr lang="en-US" dirty="0" smtClean="0"/>
          </a:p>
          <a:p>
            <a:pPr marL="457200" indent="-457200">
              <a:buSzPct val="100000"/>
              <a:buAutoNum type="arabicPeriod"/>
            </a:pPr>
            <a:r>
              <a:rPr lang="en-HK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  <a:endParaRPr lang="en-HK" dirty="0">
              <a:solidFill>
                <a:srgbClr val="FF0000"/>
              </a:solidFill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02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算法的基本控制結構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基本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控制結構</a:t>
            </a:r>
            <a:r>
              <a:rPr lang="zh-TW" altLang="en-US" dirty="0" smtClean="0"/>
              <a:t>有三種類型。</a:t>
            </a:r>
            <a:endParaRPr lang="en-GB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924" y="2235627"/>
            <a:ext cx="5501351" cy="37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4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序列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序列</a:t>
            </a:r>
            <a:r>
              <a:rPr lang="zh-TW" altLang="en-US" dirty="0"/>
              <a:t>控制結構讓程式根據編寫次序來順序執行語句。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2222"/>
              </p:ext>
            </p:extLst>
          </p:nvPr>
        </p:nvGraphicFramePr>
        <p:xfrm>
          <a:off x="965198" y="2512801"/>
          <a:ext cx="10112376" cy="3613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11652"/>
                <a:gridCol w="5800724"/>
              </a:tblGrid>
              <a:tr h="58239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303129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語句</a:t>
                      </a:r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1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語句 </a:t>
                      </a:r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2</a:t>
                      </a:r>
                    </a:p>
                    <a:p>
                      <a:pPr algn="ctr"/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...</a:t>
                      </a:r>
                    </a:p>
                    <a:p>
                      <a:pPr algn="ctr"/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語句 </a:t>
                      </a:r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n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195" y="3146854"/>
            <a:ext cx="1214438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7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研究以下展示的輸入－處理－輸出（</a:t>
            </a:r>
            <a:r>
              <a:rPr lang="en-US" altLang="zh-TW" dirty="0">
                <a:latin typeface="Myriad Pro" panose="020B0503030403020204" pitchFamily="34" charset="0"/>
              </a:rPr>
              <a:t>IPO</a:t>
            </a:r>
            <a:r>
              <a:rPr lang="zh-TW" altLang="en-US" dirty="0">
                <a:latin typeface="Myriad Pro" panose="020B0503030403020204" pitchFamily="34" charset="0"/>
              </a:rPr>
              <a:t>）周期，及其流程圖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Myriad Pro" panose="020B0503030403020204" pitchFamily="34" charset="0"/>
            </a:endParaRPr>
          </a:p>
          <a:p>
            <a:r>
              <a:rPr lang="zh-TW" altLang="en-US" dirty="0">
                <a:latin typeface="Myriad Pro" panose="020B0503030403020204" pitchFamily="34" charset="0"/>
              </a:rPr>
              <a:t>以下哪句描述是</a:t>
            </a:r>
            <a:r>
              <a:rPr lang="zh-TW" altLang="en-US" dirty="0">
                <a:latin typeface="Myriad Pro" panose="020B0503030403020204" pitchFamily="34" charset="0"/>
                <a:ea typeface="Noto Sans CJK TC Bold" panose="020B0800000000000000" pitchFamily="34" charset="-128"/>
              </a:rPr>
              <a:t>不正確</a:t>
            </a:r>
            <a:r>
              <a:rPr lang="zh-TW" altLang="en-US" dirty="0">
                <a:latin typeface="Myriad Pro" panose="020B0503030403020204" pitchFamily="34" charset="0"/>
              </a:rPr>
              <a:t>的</a:t>
            </a:r>
            <a:r>
              <a:rPr lang="zh-TW" altLang="en-US" dirty="0" smtClean="0">
                <a:latin typeface="Myriad Pro" panose="020B0503030403020204" pitchFamily="34" charset="0"/>
              </a:rPr>
              <a:t>？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zh-TW" altLang="en-US" sz="2000" dirty="0">
                <a:latin typeface="Myriad Pro" panose="020B0503030403020204" pitchFamily="34" charset="0"/>
              </a:rPr>
              <a:t>此 </a:t>
            </a:r>
            <a:r>
              <a:rPr lang="en-US" altLang="zh-TW" sz="2000" dirty="0">
                <a:latin typeface="Myriad Pro" panose="020B0503030403020204" pitchFamily="34" charset="0"/>
              </a:rPr>
              <a:t>IPO </a:t>
            </a:r>
            <a:r>
              <a:rPr lang="zh-TW" altLang="en-US" sz="2000" dirty="0">
                <a:latin typeface="Myriad Pro" panose="020B0503030403020204" pitchFamily="34" charset="0"/>
              </a:rPr>
              <a:t>周期運用了 </a:t>
            </a:r>
            <a:r>
              <a:rPr lang="en-US" altLang="zh-TW" sz="2000" dirty="0">
                <a:latin typeface="Myriad Pro" panose="020B0503030403020204" pitchFamily="34" charset="0"/>
              </a:rPr>
              <a:t>3 </a:t>
            </a:r>
            <a:r>
              <a:rPr lang="zh-TW" altLang="en-US" sz="2000" dirty="0">
                <a:latin typeface="Myriad Pro" panose="020B0503030403020204" pitchFamily="34" charset="0"/>
              </a:rPr>
              <a:t>個變量</a:t>
            </a:r>
            <a:r>
              <a:rPr lang="zh-TW" altLang="en-US" sz="2000" dirty="0" smtClean="0">
                <a:latin typeface="Myriad Pro" panose="020B0503030403020204" pitchFamily="34" charset="0"/>
              </a:rPr>
              <a:t>。</a:t>
            </a:r>
            <a:endParaRPr lang="en-US" altLang="zh-TW" sz="2000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zh-TW" altLang="en-US" sz="2000" dirty="0">
                <a:latin typeface="Myriad Pro" panose="020B0503030403020204" pitchFamily="34" charset="0"/>
              </a:rPr>
              <a:t>此 </a:t>
            </a:r>
            <a:r>
              <a:rPr lang="en-US" altLang="zh-TW" sz="2000" dirty="0">
                <a:latin typeface="Myriad Pro" panose="020B0503030403020204" pitchFamily="34" charset="0"/>
              </a:rPr>
              <a:t>IPO </a:t>
            </a:r>
            <a:r>
              <a:rPr lang="zh-TW" altLang="en-US" sz="2000" dirty="0">
                <a:latin typeface="Myriad Pro" panose="020B0503030403020204" pitchFamily="34" charset="0"/>
              </a:rPr>
              <a:t>周期展示了數據類型</a:t>
            </a:r>
            <a:r>
              <a:rPr lang="zh-TW" altLang="en-US" sz="2000" dirty="0" smtClean="0">
                <a:latin typeface="Myriad Pro" panose="020B0503030403020204" pitchFamily="34" charset="0"/>
              </a:rPr>
              <a:t>。</a:t>
            </a:r>
            <a:endParaRPr lang="en-US" altLang="zh-TW" sz="2000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zh-TW" altLang="en-US" sz="2000" dirty="0">
                <a:latin typeface="Myriad Pro" panose="020B0503030403020204" pitchFamily="34" charset="0"/>
              </a:rPr>
              <a:t>此流程圖展示了一個解決問題的方案，而該問題可能是找出三角形的面積</a:t>
            </a:r>
            <a:r>
              <a:rPr lang="zh-TW" altLang="en-US" sz="2000" dirty="0" smtClean="0">
                <a:latin typeface="Myriad Pro" panose="020B0503030403020204" pitchFamily="34" charset="0"/>
              </a:rPr>
              <a:t>。</a:t>
            </a:r>
            <a:endParaRPr lang="en-US" altLang="zh-TW" sz="2000" dirty="0" smtClean="0">
              <a:latin typeface="Myriad Pro" panose="020B0503030403020204" pitchFamily="34" charset="0"/>
            </a:endParaRPr>
          </a:p>
          <a:p>
            <a:pPr marL="914400" lvl="1" indent="-457200">
              <a:buSzPct val="100000"/>
              <a:buFont typeface="+mj-lt"/>
              <a:buAutoNum type="alphaUcPeriod"/>
            </a:pPr>
            <a:r>
              <a:rPr lang="zh-TW" altLang="en-US" sz="2000" dirty="0">
                <a:latin typeface="Myriad Pro" panose="020B0503030403020204" pitchFamily="34" charset="0"/>
              </a:rPr>
              <a:t>此流程圖展示了如何運用序列控制結構解決問題。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408849"/>
              </p:ext>
            </p:extLst>
          </p:nvPr>
        </p:nvGraphicFramePr>
        <p:xfrm>
          <a:off x="1373230" y="1973518"/>
          <a:ext cx="6083301" cy="12876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7767"/>
                <a:gridCol w="2027767"/>
                <a:gridCol w="2027767"/>
              </a:tblGrid>
              <a:tr h="366183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處理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921461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B</a:t>
                      </a:r>
                    </a:p>
                    <a:p>
                      <a:pPr algn="ctr"/>
                      <a:r>
                        <a:rPr lang="en-HK" dirty="0" smtClean="0"/>
                        <a:t>H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AREA</a:t>
                      </a:r>
                      <a:r>
                        <a:rPr lang="en-HK" baseline="0" dirty="0" smtClean="0"/>
                        <a:t> = B * H / 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AREA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056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選擇控制結構讓程式能夠作出決定。以下是兩種常見的選擇形式：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800233"/>
              </p:ext>
            </p:extLst>
          </p:nvPr>
        </p:nvGraphicFramePr>
        <p:xfrm>
          <a:off x="1918800" y="2424641"/>
          <a:ext cx="8128000" cy="3433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42333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對分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多向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30099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Picture 2" descr="https://lh6.googleusercontent.com/RHk7f7rHYiVGS8WNeuwmO04Q0TcDc8s5hB_THvtYs8-GWu0C28cqstr4BZmzHMwZ4BLXhLJjVn3reJsz9lBiyD4QPJr-bXndhioEpNZvOISbduArRqhvNjbW3-yQ_L7FlAA6LRO4S4FtcTzvOtl6e2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3106737"/>
            <a:ext cx="3514725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lh3.googleusercontent.com/6yZK1C8-gKf2y0NNI5V7F45UAIvRGQkUZd2gBCq6I3kNoIor81JGeiyRoFoi9JB5ynBJaA6uPDURbnFQ-EGMF8JnLIpf15CKRdJvBqdoH_WOQTYeNo0O_CSpWnw3esOok_0C2cykezBulDev_sGJZmQ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275" y="3030537"/>
            <a:ext cx="3114675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19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選擇控制結構會根據指定條件作出決定。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條件會以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布爾算式</a:t>
            </a:r>
            <a:r>
              <a:rPr lang="zh-TW" altLang="en-US" dirty="0" smtClean="0"/>
              <a:t>表示。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/>
              <a:t>布爾算式只會判斷出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「真」</a:t>
            </a:r>
            <a:r>
              <a:rPr lang="zh-TW" altLang="en-US" dirty="0" smtClean="0"/>
              <a:t>或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「假」</a:t>
            </a:r>
            <a:r>
              <a:rPr lang="zh-TW" altLang="en-US" dirty="0" smtClean="0"/>
              <a:t>。</a:t>
            </a:r>
            <a:endParaRPr lang="en-GB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43" y="2601612"/>
            <a:ext cx="367665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78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對分選擇有兩種常見類型：</a:t>
            </a:r>
            <a:endParaRPr lang="en-US" altLang="zh-TW" dirty="0" smtClean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「如果</a:t>
            </a:r>
            <a:r>
              <a:rPr lang="en-US" altLang="zh-TW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…</a:t>
            </a: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則」</a:t>
            </a:r>
            <a:r>
              <a:rPr lang="zh-TW" altLang="en-US" dirty="0"/>
              <a:t>條件</a:t>
            </a:r>
            <a:r>
              <a:rPr lang="zh-TW" altLang="en-US" dirty="0" smtClean="0"/>
              <a:t>語句</a:t>
            </a:r>
            <a:endParaRPr lang="en-US" altLang="zh-TW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「如果</a:t>
            </a:r>
            <a:r>
              <a:rPr lang="en-US" altLang="zh-TW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…</a:t>
            </a: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則</a:t>
            </a:r>
            <a:r>
              <a:rPr lang="en-US" altLang="zh-TW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…</a:t>
            </a: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否則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」</a:t>
            </a:r>
            <a:r>
              <a:rPr lang="zh-TW" altLang="en-US" dirty="0" smtClean="0"/>
              <a:t>條件</a:t>
            </a:r>
            <a:r>
              <a:rPr lang="zh-TW" altLang="en-US" dirty="0"/>
              <a:t>語句</a:t>
            </a:r>
            <a:endParaRPr lang="en-GB" dirty="0"/>
          </a:p>
        </p:txBody>
      </p:sp>
      <p:pic>
        <p:nvPicPr>
          <p:cNvPr id="6" name="Picture 2" descr="https://lh6.googleusercontent.com/RHk7f7rHYiVGS8WNeuwmO04Q0TcDc8s5hB_THvtYs8-GWu0C28cqstr4BZmzHMwZ4BLXhLJjVn3reJsz9lBiyD4QPJr-bXndhioEpNZvOISbduArRqhvNjbW3-yQ_L7FlAA6LRO4S4FtcTzvOtl6e2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075" y="2163762"/>
            <a:ext cx="3514725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41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「如果</a:t>
            </a:r>
            <a:r>
              <a:rPr lang="en-US" altLang="zh-TW" dirty="0">
                <a:solidFill>
                  <a:srgbClr val="4D4D4D"/>
                </a:solidFill>
                <a:latin typeface="MinionPro-Bold" panose="02040703060306020203" pitchFamily="18" charset="0"/>
                <a:ea typeface="NotoSansCJKtc-Bold" panose="020B0800000000000000" pitchFamily="34" charset="-128"/>
              </a:rPr>
              <a:t>…</a:t>
            </a:r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則」條件語句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242129"/>
              </p:ext>
            </p:extLst>
          </p:nvPr>
        </p:nvGraphicFramePr>
        <p:xfrm>
          <a:off x="1918800" y="2424641"/>
          <a:ext cx="8128000" cy="3433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42333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300990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如果 條件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則</a:t>
                      </a:r>
                    </a:p>
                    <a:p>
                      <a:r>
                        <a:rPr lang="en-HK" dirty="0" smtClean="0"/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「則」部分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378" y="2955338"/>
            <a:ext cx="3706445" cy="279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2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「如果</a:t>
            </a:r>
            <a:r>
              <a:rPr lang="en-US" altLang="zh-TW" dirty="0">
                <a:solidFill>
                  <a:srgbClr val="4D4D4D"/>
                </a:solidFill>
                <a:latin typeface="MinionPro-Bold" panose="02040703060306020203" pitchFamily="18" charset="0"/>
                <a:ea typeface="NotoSansCJKtc-Bold" panose="020B0800000000000000" pitchFamily="34" charset="-128"/>
              </a:rPr>
              <a:t>…</a:t>
            </a:r>
            <a:r>
              <a:rPr lang="zh-TW" altLang="en-US" dirty="0" smtClean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則</a:t>
            </a:r>
            <a:r>
              <a:rPr lang="en-US" altLang="zh-TW" dirty="0">
                <a:solidFill>
                  <a:srgbClr val="4D4D4D"/>
                </a:solidFill>
                <a:latin typeface="MinionPro-Bold" panose="02040703060306020203" pitchFamily="18" charset="0"/>
                <a:ea typeface="NotoSansCJKtc-Bold" panose="020B0800000000000000" pitchFamily="34" charset="-128"/>
              </a:rPr>
              <a:t>… </a:t>
            </a:r>
            <a:r>
              <a:rPr lang="zh-TW" altLang="en-US" dirty="0" smtClean="0">
                <a:solidFill>
                  <a:srgbClr val="4D4D4D"/>
                </a:solidFill>
                <a:latin typeface="MinionPro-Bold" panose="02040703060306020203" pitchFamily="18" charset="0"/>
                <a:ea typeface="NotoSansCJKtc-Bold" panose="020B0800000000000000" pitchFamily="34" charset="-128"/>
              </a:rPr>
              <a:t>否則</a:t>
            </a:r>
            <a:r>
              <a:rPr lang="zh-TW" altLang="en-US" dirty="0" smtClean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」</a:t>
            </a:r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條件語句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277104"/>
              </p:ext>
            </p:extLst>
          </p:nvPr>
        </p:nvGraphicFramePr>
        <p:xfrm>
          <a:off x="1918800" y="2424641"/>
          <a:ext cx="9226995" cy="34332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78130"/>
                <a:gridCol w="5848865"/>
              </a:tblGrid>
              <a:tr h="42333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300990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如果 條件 則</a:t>
                      </a:r>
                    </a:p>
                    <a:p>
                      <a:r>
                        <a:rPr lang="en-HK" dirty="0" smtClean="0"/>
                        <a:t>	</a:t>
                      </a:r>
                      <a:r>
                        <a:rPr lang="zh-TW" altLang="en-US" dirty="0" smtClean="0"/>
                        <a:t>「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則」部分</a:t>
                      </a:r>
                      <a:endParaRPr lang="en-US" altLang="zh-TW" sz="1800" b="0" i="0" u="none" strike="noStrike" kern="1200" baseline="0" dirty="0" smtClean="0">
                        <a:solidFill>
                          <a:schemeClr val="tx1"/>
                        </a:solidFill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</a:t>
                      </a:r>
                    </a:p>
                    <a:p>
                      <a:r>
                        <a:rPr lang="en-HK" dirty="0" smtClean="0"/>
                        <a:t>	</a:t>
                      </a:r>
                      <a:r>
                        <a:rPr lang="zh-TW" altLang="en-US" dirty="0" smtClean="0"/>
                        <a:t>「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否則」部分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905" y="2869200"/>
            <a:ext cx="54673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4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51 </a:t>
            </a:r>
            <a:r>
              <a:rPr lang="zh-TW" altLang="en-US" dirty="0" smtClean="0">
                <a:latin typeface="Myriad Pro" panose="020B0503030403020204" pitchFamily="34" charset="0"/>
              </a:rPr>
              <a:t>頁的活動 </a:t>
            </a:r>
            <a:r>
              <a:rPr lang="en-US" altLang="zh-TW" dirty="0" smtClean="0">
                <a:latin typeface="Myriad Pro" panose="020B0503030403020204" pitchFamily="34" charset="0"/>
              </a:rPr>
              <a:t>2.3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693367"/>
              </p:ext>
            </p:extLst>
          </p:nvPr>
        </p:nvGraphicFramePr>
        <p:xfrm>
          <a:off x="1333732" y="2050149"/>
          <a:ext cx="9763760" cy="39541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0940"/>
                <a:gridCol w="2440940"/>
                <a:gridCol w="2440940"/>
                <a:gridCol w="2440940"/>
              </a:tblGrid>
              <a:tr h="612051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條件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（布爾算式）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輸入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age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為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50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邏輯結果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輸入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age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為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65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邏輯結果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輸入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age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為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70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的</a:t>
                      </a:r>
                    </a:p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邏輯結果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=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&lt;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&lt;=</a:t>
                      </a:r>
                      <a:r>
                        <a:rPr lang="en-HK" baseline="0" dirty="0" smtClean="0"/>
                        <a:t>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&gt;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&gt;=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2352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age != 65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False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True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3938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Yes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20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zh-TW" alt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及格</a:t>
            </a:r>
            <a:endParaRPr lang="en-US" altLang="zh-TW" dirty="0">
              <a:solidFill>
                <a:srgbClr val="FF0000"/>
              </a:solidFill>
              <a:latin typeface="Myriad Pro" panose="020B0503030403020204" pitchFamily="34" charset="0"/>
            </a:endParaRPr>
          </a:p>
          <a:p>
            <a:pPr lvl="1"/>
            <a:r>
              <a:rPr lang="zh-TW" altLang="en-US" sz="2000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升班</a:t>
            </a:r>
            <a:endParaRPr lang="en-US" altLang="zh-TW" sz="2000" dirty="0" smtClean="0">
              <a:solidFill>
                <a:srgbClr val="FF0000"/>
              </a:solidFill>
              <a:latin typeface="Myriad Pro" panose="020B0503030403020204" pitchFamily="34" charset="0"/>
            </a:endParaRPr>
          </a:p>
          <a:p>
            <a:pPr lvl="1"/>
            <a:r>
              <a:rPr lang="zh-TW" altLang="en-US" sz="2000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留級</a:t>
            </a:r>
            <a:endParaRPr lang="en-US" altLang="zh-TW" sz="2000" dirty="0" smtClean="0">
              <a:solidFill>
                <a:srgbClr val="FF0000"/>
              </a:solidFill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4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多向選擇</a:t>
            </a:r>
            <a:r>
              <a:rPr lang="zh-TW" altLang="en-US" dirty="0"/>
              <a:t>有兩種常見類型：</a:t>
            </a:r>
            <a:endParaRPr lang="en-US" altLang="zh-TW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嵌套</a:t>
            </a:r>
            <a:r>
              <a:rPr lang="zh-TW" altLang="en-US" dirty="0" smtClean="0"/>
              <a:t>條件</a:t>
            </a:r>
            <a:r>
              <a:rPr lang="zh-TW" altLang="en-US" dirty="0"/>
              <a:t>語句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「如果</a:t>
            </a:r>
            <a:r>
              <a:rPr lang="en-US" altLang="zh-TW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…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否則如果」</a:t>
            </a:r>
            <a:r>
              <a:rPr lang="zh-TW" altLang="en-US" dirty="0"/>
              <a:t>條件語句</a:t>
            </a:r>
            <a:endParaRPr lang="en-GB" dirty="0"/>
          </a:p>
          <a:p>
            <a:endParaRPr lang="en-GB" dirty="0"/>
          </a:p>
        </p:txBody>
      </p:sp>
      <p:pic>
        <p:nvPicPr>
          <p:cNvPr id="8" name="Picture 2" descr="https://lh3.googleusercontent.com/tpNpjk-h4VGpvwIpC62A9s35yp3fAI-o-QvwW4jx8zkKjks0rtiIJeyx4dCqd4jkNKgrsqX1b85uWmy24hOLKxIDc6jXUglg_ikxqhPc0bPWfzQVbTu_Y5FfHgSbFe0XLFtw_pG38bVnfCTL_uzIEL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580" y="2587124"/>
            <a:ext cx="3114675" cy="2724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984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B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嵌套條件</a:t>
            </a:r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語句</a:t>
            </a:r>
            <a:endParaRPr lang="en-GB" dirty="0"/>
          </a:p>
          <a:p>
            <a:endParaRPr lang="en-GB" dirty="0"/>
          </a:p>
        </p:txBody>
      </p:sp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06017"/>
              </p:ext>
            </p:extLst>
          </p:nvPr>
        </p:nvGraphicFramePr>
        <p:xfrm>
          <a:off x="1479953" y="2334526"/>
          <a:ext cx="9970642" cy="38433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39625"/>
                <a:gridCol w="6031017"/>
              </a:tblGrid>
              <a:tr h="61825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solidFill>
                      <a:srgbClr val="213263"/>
                    </a:solidFill>
                  </a:tcPr>
                </a:tc>
              </a:tr>
              <a:tr h="3225113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如果 條件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1</a:t>
                      </a:r>
                      <a:r>
                        <a:rPr lang="en-US" altLang="zh-TW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則</a:t>
                      </a:r>
                      <a:endParaRPr lang="en-HK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如果 條件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2 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則</a:t>
                      </a:r>
                      <a:endParaRPr lang="en-HK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	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「則」部分</a:t>
                      </a:r>
                      <a:r>
                        <a:rPr lang="en-US" altLang="zh-TW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2</a:t>
                      </a:r>
                      <a:endParaRPr lang="en-HK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否則</a:t>
                      </a:r>
                      <a:endParaRPr lang="en-HK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	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「否則」部分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2</a:t>
                      </a:r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 </a:t>
                      </a:r>
                    </a:p>
                    <a:p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否則</a:t>
                      </a:r>
                      <a:endParaRPr lang="en-HK" dirty="0" smtClean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否則 部分 </a:t>
                      </a:r>
                      <a:r>
                        <a:rPr lang="en-US" altLang="zh-TW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1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03" y="3146626"/>
            <a:ext cx="5682435" cy="289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1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試回答課本第 </a:t>
            </a:r>
            <a:r>
              <a:rPr lang="en-US" altLang="zh-TW" dirty="0" smtClean="0">
                <a:latin typeface="Myriad Pro" panose="020B0503030403020204" pitchFamily="34" charset="0"/>
              </a:rPr>
              <a:t>54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56 </a:t>
            </a:r>
            <a:r>
              <a:rPr lang="zh-TW" altLang="en-US" dirty="0" smtClean="0">
                <a:latin typeface="Myriad Pro" panose="020B0503030403020204" pitchFamily="34" charset="0"/>
              </a:rPr>
              <a:t>頁的問題。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2.4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206313"/>
              </p:ext>
            </p:extLst>
          </p:nvPr>
        </p:nvGraphicFramePr>
        <p:xfrm>
          <a:off x="1183344" y="1990165"/>
          <a:ext cx="10170456" cy="397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0152"/>
                <a:gridCol w="3390152"/>
                <a:gridCol w="3390152"/>
              </a:tblGrid>
              <a:tr h="390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8907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黃老師輸入「</a:t>
                      </a:r>
                      <a:r>
                        <a:rPr lang="en-US" altLang="zh-TW" dirty="0" smtClean="0">
                          <a:latin typeface="+mj-lt"/>
                          <a:ea typeface="Noto Sans CJK TC Light" panose="020B0300000000000000" pitchFamily="34" charset="-128"/>
                        </a:rPr>
                        <a:t>80</a:t>
                      </a:r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」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52" y="2437529"/>
            <a:ext cx="2842439" cy="341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試回答課本第 </a:t>
            </a:r>
            <a:r>
              <a:rPr lang="en-US" altLang="zh-TW" dirty="0" smtClean="0">
                <a:latin typeface="Myriad Pro" panose="020B0503030403020204" pitchFamily="34" charset="0"/>
              </a:rPr>
              <a:t>54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56 </a:t>
            </a:r>
            <a:r>
              <a:rPr lang="zh-TW" altLang="en-US" dirty="0" smtClean="0">
                <a:latin typeface="Myriad Pro" panose="020B0503030403020204" pitchFamily="34" charset="0"/>
              </a:rPr>
              <a:t>頁的問題。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2.4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531880"/>
              </p:ext>
            </p:extLst>
          </p:nvPr>
        </p:nvGraphicFramePr>
        <p:xfrm>
          <a:off x="1183344" y="1990165"/>
          <a:ext cx="10170456" cy="397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0152"/>
                <a:gridCol w="3390152"/>
                <a:gridCol w="3390152"/>
              </a:tblGrid>
              <a:tr h="390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8907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黃老師輸入「</a:t>
                      </a:r>
                      <a:r>
                        <a:rPr lang="en-US" altLang="zh-TW" dirty="0" smtClean="0">
                          <a:latin typeface="+mj-lt"/>
                          <a:ea typeface="Noto Sans CJK TC Light" panose="020B0300000000000000" pitchFamily="34" charset="-128"/>
                        </a:rPr>
                        <a:t>30</a:t>
                      </a:r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」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+mj-lt"/>
                        </a:rPr>
                        <a:t>F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779" y="2417260"/>
            <a:ext cx="2801315" cy="34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965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試回答課本第 </a:t>
            </a:r>
            <a:r>
              <a:rPr lang="en-US" altLang="zh-TW" dirty="0" smtClean="0">
                <a:latin typeface="Myriad Pro" panose="020B0503030403020204" pitchFamily="34" charset="0"/>
              </a:rPr>
              <a:t>54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56 </a:t>
            </a:r>
            <a:r>
              <a:rPr lang="zh-TW" altLang="en-US" dirty="0" smtClean="0">
                <a:latin typeface="Myriad Pro" panose="020B0503030403020204" pitchFamily="34" charset="0"/>
              </a:rPr>
              <a:t>頁的問題。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2.4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31686"/>
              </p:ext>
            </p:extLst>
          </p:nvPr>
        </p:nvGraphicFramePr>
        <p:xfrm>
          <a:off x="1183344" y="1990165"/>
          <a:ext cx="10170456" cy="3979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90152"/>
                <a:gridCol w="3390152"/>
                <a:gridCol w="3390152"/>
              </a:tblGrid>
              <a:tr h="39057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58907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黃老師輸入「</a:t>
                      </a:r>
                      <a:r>
                        <a:rPr lang="en-US" altLang="zh-TW" dirty="0" smtClean="0">
                          <a:latin typeface="+mj-lt"/>
                          <a:ea typeface="Noto Sans CJK TC Light" panose="020B0300000000000000" pitchFamily="34" charset="-128"/>
                        </a:rPr>
                        <a:t>95</a:t>
                      </a:r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>」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  <a:latin typeface="+mj-lt"/>
                        </a:rPr>
                        <a:t>A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6975" y="2392964"/>
            <a:ext cx="2903194" cy="351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62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「如果</a:t>
            </a:r>
            <a:r>
              <a:rPr lang="en-US" altLang="zh-TW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…</a:t>
            </a:r>
            <a:r>
              <a:rPr lang="zh-TW" altLang="en-US" dirty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否則如果」條件</a:t>
            </a:r>
            <a:r>
              <a:rPr lang="zh-TW" altLang="en-US" dirty="0" smtClean="0">
                <a:solidFill>
                  <a:srgbClr val="4D4D4D"/>
                </a:solidFill>
                <a:latin typeface="NotoSansCJKtc-Bold" panose="020B0800000000000000" pitchFamily="34" charset="-128"/>
                <a:ea typeface="NotoSansCJKtc-Bold" panose="020B0800000000000000" pitchFamily="34" charset="-128"/>
              </a:rPr>
              <a:t>語句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6819"/>
              </p:ext>
            </p:extLst>
          </p:nvPr>
        </p:nvGraphicFramePr>
        <p:xfrm>
          <a:off x="1479953" y="2070848"/>
          <a:ext cx="9233294" cy="40888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48282"/>
                <a:gridCol w="5585012"/>
              </a:tblGrid>
              <a:tr h="45816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3630706">
                <a:tc>
                  <a:txBody>
                    <a:bodyPr/>
                    <a:lstStyle/>
                    <a:p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如果 條件 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1 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則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「則」部分 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1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否則如果 條件 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2 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則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「則」部分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 2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否則如果 條件 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3 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則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「則」部分</a:t>
                      </a:r>
                      <a:r>
                        <a:rPr lang="en-US" altLang="zh-TW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 3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否則</a:t>
                      </a:r>
                      <a:endParaRPr lang="en-HK" baseline="0" dirty="0" smtClean="0"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</a:rPr>
                        <a:t>「否則」部分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>
                        <a:latin typeface="+mj-lt"/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654" y="2556638"/>
            <a:ext cx="3086098" cy="351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63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細看以下算法</a:t>
            </a:r>
            <a:r>
              <a:rPr lang="zh-TW" altLang="en-US" dirty="0" smtClean="0">
                <a:latin typeface="Myriad Pro" panose="020B0503030403020204" pitchFamily="34" charset="0"/>
              </a:rPr>
              <a:t>：</a:t>
            </a:r>
            <a:endParaRPr lang="en-GB" altLang="zh-TW" dirty="0" smtClean="0">
              <a:latin typeface="Myriad Pro" panose="020B0503030403020204" pitchFamily="34" charset="0"/>
            </a:endParaRPr>
          </a:p>
          <a:p>
            <a:r>
              <a:rPr lang="en-HK" dirty="0">
                <a:latin typeface="+mj-lt"/>
              </a:rPr>
              <a:t>	</a:t>
            </a:r>
            <a:r>
              <a:rPr lang="en-US" dirty="0">
                <a:latin typeface="+mj-lt"/>
              </a:rPr>
              <a:t>X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 20</a:t>
            </a:r>
            <a:br>
              <a:rPr lang="en-US" dirty="0">
                <a:latin typeface="+mj-lt"/>
                <a:sym typeface="Wingdings" panose="05000000000000000000" pitchFamily="2" charset="2"/>
              </a:rPr>
            </a:br>
            <a:r>
              <a:rPr lang="en-US" dirty="0">
                <a:latin typeface="+mj-lt"/>
                <a:sym typeface="Wingdings" panose="05000000000000000000" pitchFamily="2" charset="2"/>
              </a:rPr>
              <a:t>	Y  </a:t>
            </a:r>
            <a:r>
              <a:rPr lang="en-US" dirty="0" smtClean="0">
                <a:latin typeface="+mj-lt"/>
                <a:sym typeface="Wingdings" panose="05000000000000000000" pitchFamily="2" charset="2"/>
              </a:rPr>
              <a:t>10</a:t>
            </a:r>
            <a:endParaRPr lang="en-US" dirty="0">
              <a:latin typeface="+mj-lt"/>
              <a:sym typeface="Wingdings" panose="05000000000000000000" pitchFamily="2" charset="2"/>
            </a:endParaRP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if X + Y &gt; 25 then</a:t>
            </a:r>
            <a:br>
              <a:rPr lang="en-HK" dirty="0">
                <a:latin typeface="+mj-lt"/>
                <a:sym typeface="Wingdings" panose="05000000000000000000" pitchFamily="2" charset="2"/>
              </a:rPr>
            </a:br>
            <a:r>
              <a:rPr lang="en-HK" dirty="0">
                <a:latin typeface="+mj-lt"/>
                <a:sym typeface="Wingdings" panose="05000000000000000000" pitchFamily="2" charset="2"/>
              </a:rPr>
              <a:t>		if Y &gt; X * 2 then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		Y  X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	else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		X  Y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else</a:t>
            </a:r>
          </a:p>
          <a:p>
            <a:r>
              <a:rPr lang="en-HK" dirty="0">
                <a:latin typeface="+mj-lt"/>
                <a:sym typeface="Wingdings" panose="05000000000000000000" pitchFamily="2" charset="2"/>
              </a:rPr>
              <a:t>		Y  X – 5</a:t>
            </a:r>
          </a:p>
          <a:p>
            <a:endParaRPr lang="en-US" altLang="zh-TW" dirty="0" smtClean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67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Myriad Pro" panose="020B0503030403020204" pitchFamily="34" charset="0"/>
              </a:rPr>
              <a:t>Y </a:t>
            </a:r>
            <a:r>
              <a:rPr lang="zh-TW" altLang="en-US" dirty="0">
                <a:latin typeface="Myriad Pro" panose="020B0503030403020204" pitchFamily="34" charset="0"/>
              </a:rPr>
              <a:t>的最終數值是什麼</a:t>
            </a:r>
            <a:r>
              <a:rPr lang="zh-TW" altLang="en-US" dirty="0" smtClean="0">
                <a:latin typeface="Myriad Pro" panose="020B0503030403020204" pitchFamily="34" charset="0"/>
              </a:rPr>
              <a:t>？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en-US" altLang="zh-TW" dirty="0" smtClean="0">
                <a:latin typeface="Myriad Pro" panose="020B0503030403020204" pitchFamily="34" charset="0"/>
              </a:rPr>
              <a:t>10</a:t>
            </a:r>
          </a:p>
          <a:p>
            <a:pPr marL="457200" indent="-457200">
              <a:buFont typeface="+mj-lt"/>
              <a:buAutoNum type="alphaUcPeriod"/>
            </a:pPr>
            <a:r>
              <a:rPr lang="en-US" altLang="zh-TW" dirty="0" smtClean="0">
                <a:latin typeface="Myriad Pro" panose="020B0503030403020204" pitchFamily="34" charset="0"/>
              </a:rPr>
              <a:t>15</a:t>
            </a:r>
          </a:p>
          <a:p>
            <a:pPr marL="457200" indent="-457200">
              <a:buFont typeface="+mj-lt"/>
              <a:buAutoNum type="alphaUcPeriod"/>
            </a:pPr>
            <a:r>
              <a:rPr lang="en-US" altLang="zh-TW" dirty="0" smtClean="0">
                <a:latin typeface="Myriad Pro" panose="020B0503030403020204" pitchFamily="34" charset="0"/>
              </a:rPr>
              <a:t>20</a:t>
            </a:r>
          </a:p>
          <a:p>
            <a:pPr marL="457200" indent="-457200">
              <a:buFont typeface="+mj-lt"/>
              <a:buAutoNum type="alphaUcPeriod"/>
            </a:pPr>
            <a:r>
              <a:rPr lang="en-US" altLang="zh-TW" dirty="0" smtClean="0">
                <a:latin typeface="Myriad Pro" panose="020B0503030403020204" pitchFamily="34" charset="0"/>
              </a:rPr>
              <a:t>25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668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33121" y="2979679"/>
            <a:ext cx="3173506" cy="2019229"/>
          </a:xfrm>
          <a:prstGeom prst="rect">
            <a:avLst/>
          </a:prstGeom>
          <a:ln>
            <a:solidFill>
              <a:srgbClr val="37A3D4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2.5</a:t>
            </a:r>
            <a:endParaRPr lang="en-GB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02275" y="1357103"/>
            <a:ext cx="10515600" cy="4969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 smtClean="0">
                <a:latin typeface="Myriad Pro" panose="020B0503030403020204" pitchFamily="34" charset="0"/>
              </a:rPr>
              <a:t>答案是 </a:t>
            </a:r>
            <a:r>
              <a:rPr lang="en-US" altLang="zh-TW" dirty="0" smtClean="0">
                <a:latin typeface="Myriad Pro" panose="020B0503030403020204" pitchFamily="34" charset="0"/>
              </a:rPr>
              <a:t>A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dirty="0">
              <a:latin typeface="Myriad Pro" panose="020B0503030403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28865" y="3256994"/>
            <a:ext cx="1792941" cy="1169773"/>
          </a:xfrm>
          <a:prstGeom prst="rect">
            <a:avLst/>
          </a:prstGeom>
          <a:ln>
            <a:solidFill>
              <a:srgbClr val="D93567"/>
            </a:solidFill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62772"/>
              </p:ext>
            </p:extLst>
          </p:nvPr>
        </p:nvGraphicFramePr>
        <p:xfrm>
          <a:off x="968188" y="1785189"/>
          <a:ext cx="10385612" cy="33438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92806"/>
                <a:gridCol w="5192806"/>
              </a:tblGrid>
              <a:tr h="450910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A3D4"/>
                    </a:solidFill>
                  </a:tcPr>
                </a:tc>
              </a:tr>
              <a:tr h="2892924">
                <a:tc>
                  <a:txBody>
                    <a:bodyPr/>
                    <a:lstStyle/>
                    <a:p>
                      <a:r>
                        <a:rPr lang="en-HK" dirty="0" smtClean="0">
                          <a:latin typeface="+mj-lt"/>
                          <a:ea typeface="Noto Sans CJK TC Light" panose="020B0300000000000000" pitchFamily="34" charset="-128"/>
                        </a:rPr>
                        <a:t>X </a:t>
                      </a:r>
                      <a:r>
                        <a:rPr lang="en-HK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 20</a:t>
                      </a:r>
                    </a:p>
                    <a:p>
                      <a:r>
                        <a:rPr lang="en-HK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Y  10</a:t>
                      </a:r>
                    </a:p>
                    <a:p>
                      <a:r>
                        <a:rPr lang="zh-TW" altLang="en-US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如果</a:t>
                      </a:r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 X + Y &gt; 25 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則</a:t>
                      </a:r>
                      <a:endParaRPr lang="en-US" altLang="zh-TW" baseline="0" dirty="0" smtClean="0">
                        <a:latin typeface="+mj-lt"/>
                        <a:ea typeface="Noto Sans CJK TC Light" panose="020B0300000000000000" pitchFamily="34" charset="-128"/>
                        <a:sym typeface="Wingdings" panose="05000000000000000000" pitchFamily="2" charset="2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如果</a:t>
                      </a:r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 Y &gt; X * 2 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則</a:t>
                      </a:r>
                      <a:endParaRPr lang="en-US" altLang="zh-TW" baseline="0" dirty="0" smtClean="0">
                        <a:latin typeface="+mj-lt"/>
                        <a:ea typeface="Noto Sans CJK TC Light" panose="020B0300000000000000" pitchFamily="34" charset="-128"/>
                        <a:sym typeface="Wingdings" panose="05000000000000000000" pitchFamily="2" charset="2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		Y  X</a:t>
                      </a: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	</a:t>
                      </a: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否則</a:t>
                      </a:r>
                      <a:endParaRPr lang="en-US" altLang="zh-TW" baseline="0" dirty="0" smtClean="0">
                        <a:latin typeface="+mj-lt"/>
                        <a:ea typeface="Noto Sans CJK TC Light" panose="020B0300000000000000" pitchFamily="34" charset="-128"/>
                        <a:sym typeface="Wingdings" panose="05000000000000000000" pitchFamily="2" charset="2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		X  Y</a:t>
                      </a:r>
                      <a:b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</a:br>
                      <a:r>
                        <a:rPr lang="zh-TW" altLang="en-US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否則</a:t>
                      </a:r>
                      <a:endParaRPr lang="en-US" altLang="zh-TW" baseline="0" dirty="0" smtClean="0">
                        <a:latin typeface="+mj-lt"/>
                        <a:ea typeface="Noto Sans CJK TC Light" panose="020B0300000000000000" pitchFamily="34" charset="-128"/>
                        <a:sym typeface="Wingdings" panose="05000000000000000000" pitchFamily="2" charset="2"/>
                      </a:endParaRPr>
                    </a:p>
                    <a:p>
                      <a:r>
                        <a:rPr lang="en-HK" baseline="0" dirty="0" smtClean="0">
                          <a:latin typeface="+mj-lt"/>
                          <a:ea typeface="Noto Sans CJK TC Light" panose="020B0300000000000000" pitchFamily="34" charset="-128"/>
                          <a:sym typeface="Wingdings" panose="05000000000000000000" pitchFamily="2" charset="2"/>
                        </a:rPr>
                        <a:t>	Y  X – 5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A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643" y="2332335"/>
            <a:ext cx="3893586" cy="27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59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60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2.4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A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632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4D4D9F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布爾運算符</a:t>
            </a:r>
            <a:r>
              <a:rPr lang="zh-TW" altLang="en-US" dirty="0" smtClean="0">
                <a:latin typeface="Myriad Pro" panose="020B0503030403020204" pitchFamily="34" charset="0"/>
              </a:rPr>
              <a:t>能夠用以結合條件，並組成複合布爾算式。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Myriad Pro" panose="020B0503030403020204" pitchFamily="34" charset="0"/>
              </a:rPr>
              <a:t>常見布爾運算符有三種：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Not</a:t>
            </a:r>
            <a:endParaRPr lang="en-GB" dirty="0">
              <a:latin typeface="Myriad Pro" panose="020B0503030403020204" pitchFamily="34" charset="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8611347" y="2435169"/>
            <a:ext cx="2259853" cy="2840254"/>
            <a:chOff x="8014447" y="2346269"/>
            <a:chExt cx="2877672" cy="3616748"/>
          </a:xfrm>
        </p:grpSpPr>
        <p:pic>
          <p:nvPicPr>
            <p:cNvPr id="9" name="Picture 6"/>
            <p:cNvPicPr>
              <a:picLocks noChangeAspect="1"/>
            </p:cNvPicPr>
            <p:nvPr/>
          </p:nvPicPr>
          <p:blipFill rotWithShape="1">
            <a:blip r:embed="rId2"/>
            <a:srcRect l="2257" r="1644"/>
            <a:stretch/>
          </p:blipFill>
          <p:spPr>
            <a:xfrm>
              <a:off x="8014447" y="2346269"/>
              <a:ext cx="2877672" cy="1814091"/>
            </a:xfrm>
            <a:prstGeom prst="rect">
              <a:avLst/>
            </a:prstGeom>
          </p:spPr>
        </p:pic>
        <p:pic>
          <p:nvPicPr>
            <p:cNvPr id="10" name="Picture 7"/>
            <p:cNvPicPr>
              <a:picLocks noChangeAspect="1"/>
            </p:cNvPicPr>
            <p:nvPr/>
          </p:nvPicPr>
          <p:blipFill rotWithShape="1">
            <a:blip r:embed="rId3"/>
            <a:srcRect l="1683" r="1080"/>
            <a:stretch/>
          </p:blipFill>
          <p:spPr>
            <a:xfrm>
              <a:off x="8023413" y="4160360"/>
              <a:ext cx="2868706" cy="1802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212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選擇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2.2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舉例來說：</a:t>
            </a:r>
            <a:endParaRPr lang="en-US" altLang="zh-TW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zh-TW" altLang="en-US" dirty="0" smtClean="0"/>
              <a:t>閱讀課本第 </a:t>
            </a:r>
            <a:r>
              <a:rPr lang="en-US" altLang="zh-TW" dirty="0" smtClean="0"/>
              <a:t>62 </a:t>
            </a:r>
            <a:r>
              <a:rPr lang="zh-TW" altLang="en-US" dirty="0" smtClean="0"/>
              <a:t>頁至第 </a:t>
            </a:r>
            <a:r>
              <a:rPr lang="en-US" altLang="zh-TW" dirty="0" smtClean="0"/>
              <a:t>63 </a:t>
            </a:r>
            <a:r>
              <a:rPr lang="zh-TW" altLang="en-US" dirty="0" smtClean="0"/>
              <a:t>頁的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真值表</a:t>
            </a:r>
            <a:r>
              <a:rPr lang="zh-TW" altLang="en-US" dirty="0" smtClean="0"/>
              <a:t>，以了解更多不同條件判斷結果的組合。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874995"/>
              </p:ext>
            </p:extLst>
          </p:nvPr>
        </p:nvGraphicFramePr>
        <p:xfrm>
          <a:off x="838800" y="2384611"/>
          <a:ext cx="10515000" cy="20439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8804"/>
                <a:gridCol w="3963098"/>
                <a:gridCol w="3963098"/>
              </a:tblGrid>
              <a:tr h="41346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布爾運算符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意義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例子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54349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AND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及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(A = 1) AND (B &gt; 2)</a:t>
                      </a:r>
                      <a:endParaRPr lang="en-US" dirty="0"/>
                    </a:p>
                  </a:txBody>
                  <a:tcPr anchor="ctr"/>
                </a:tc>
              </a:tr>
              <a:tr h="54349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OR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或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(A = 1) OR (B &gt; 2)</a:t>
                      </a:r>
                      <a:endParaRPr lang="en-US" dirty="0"/>
                    </a:p>
                  </a:txBody>
                  <a:tcPr anchor="ctr"/>
                </a:tc>
              </a:tr>
              <a:tr h="543496"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NOT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不成立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NOT(A=1)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95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67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68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2.5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AutoNum type="arabicPeriod"/>
            </a:pP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</a:rPr>
              <a:t>C</a:t>
            </a:r>
            <a:endParaRPr lang="en-US" dirty="0">
              <a:solidFill>
                <a:srgbClr val="FF0000"/>
              </a:solidFill>
              <a:latin typeface="Myriad Pro" panose="020B0503030403020204" pitchFamily="34" charset="0"/>
            </a:endParaRPr>
          </a:p>
          <a:p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822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Myriad Pro" panose="020B0503030403020204" pitchFamily="34" charset="0"/>
              </a:rPr>
              <a:t>X </a:t>
            </a:r>
            <a:r>
              <a:rPr lang="zh-TW" altLang="en-US" dirty="0">
                <a:latin typeface="Myriad Pro" panose="020B0503030403020204" pitchFamily="34" charset="0"/>
              </a:rPr>
              <a:t>和 </a:t>
            </a:r>
            <a:r>
              <a:rPr lang="en-GB" dirty="0">
                <a:latin typeface="Myriad Pro" panose="020B0503030403020204" pitchFamily="34" charset="0"/>
              </a:rPr>
              <a:t>Y </a:t>
            </a:r>
            <a:r>
              <a:rPr lang="zh-TW" altLang="en-US" dirty="0">
                <a:latin typeface="Myriad Pro" panose="020B0503030403020204" pitchFamily="34" charset="0"/>
              </a:rPr>
              <a:t>分別代表 </a:t>
            </a:r>
            <a:r>
              <a:rPr lang="en-GB" dirty="0">
                <a:latin typeface="Myriad Pro" panose="020B0503030403020204" pitchFamily="34" charset="0"/>
              </a:rPr>
              <a:t>age &lt;= 15 </a:t>
            </a:r>
            <a:r>
              <a:rPr lang="zh-TW" altLang="en-US" dirty="0">
                <a:latin typeface="Myriad Pro" panose="020B0503030403020204" pitchFamily="34" charset="0"/>
              </a:rPr>
              <a:t>和 </a:t>
            </a:r>
            <a:r>
              <a:rPr lang="en-GB" dirty="0">
                <a:latin typeface="Myriad Pro" panose="020B0503030403020204" pitchFamily="34" charset="0"/>
              </a:rPr>
              <a:t>age &gt; 65，</a:t>
            </a:r>
            <a:r>
              <a:rPr lang="zh-TW" altLang="en-US" dirty="0">
                <a:latin typeface="Myriad Pro" panose="020B0503030403020204" pitchFamily="34" charset="0"/>
              </a:rPr>
              <a:t>以下哪個 </a:t>
            </a:r>
            <a:r>
              <a:rPr lang="en-US" altLang="zh-TW" dirty="0">
                <a:latin typeface="Myriad Pro" panose="020B0503030403020204" pitchFamily="34" charset="0"/>
              </a:rPr>
              <a:t>/ </a:t>
            </a:r>
            <a:r>
              <a:rPr lang="zh-TW" altLang="en-US" dirty="0">
                <a:latin typeface="Myriad Pro" panose="020B0503030403020204" pitchFamily="34" charset="0"/>
              </a:rPr>
              <a:t>些 </a:t>
            </a:r>
            <a:r>
              <a:rPr lang="en-GB" dirty="0">
                <a:latin typeface="Myriad Pro" panose="020B0503030403020204" pitchFamily="34" charset="0"/>
              </a:rPr>
              <a:t>age </a:t>
            </a:r>
            <a:r>
              <a:rPr lang="zh-TW" altLang="en-US" dirty="0">
                <a:latin typeface="Myriad Pro" panose="020B0503030403020204" pitchFamily="34" charset="0"/>
              </a:rPr>
              <a:t>的值會讓布爾算式 </a:t>
            </a:r>
            <a:r>
              <a:rPr lang="en-GB" dirty="0">
                <a:latin typeface="Myriad Pro" panose="020B0503030403020204" pitchFamily="34" charset="0"/>
              </a:rPr>
              <a:t>X OR Y </a:t>
            </a:r>
            <a:r>
              <a:rPr lang="zh-TW" altLang="en-US" dirty="0" smtClean="0">
                <a:latin typeface="Myriad Pro" panose="020B0503030403020204" pitchFamily="34" charset="0"/>
              </a:rPr>
              <a:t>「</a:t>
            </a:r>
            <a:r>
              <a:rPr lang="zh-TW" altLang="en-US" dirty="0">
                <a:latin typeface="Myriad Pro" panose="020B0503030403020204" pitchFamily="34" charset="0"/>
              </a:rPr>
              <a:t>真」</a:t>
            </a:r>
            <a:r>
              <a:rPr lang="zh-TW" altLang="en-US" dirty="0" smtClean="0">
                <a:latin typeface="Myriad Pro" panose="020B0503030403020204" pitchFamily="34" charset="0"/>
              </a:rPr>
              <a:t>？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r>
              <a:rPr lang="en-HK" dirty="0">
                <a:latin typeface="Myriad Pro" panose="020B0503030403020204" pitchFamily="34" charset="0"/>
              </a:rPr>
              <a:t>	(1) 0</a:t>
            </a:r>
            <a:br>
              <a:rPr lang="en-HK" dirty="0">
                <a:latin typeface="Myriad Pro" panose="020B0503030403020204" pitchFamily="34" charset="0"/>
              </a:rPr>
            </a:br>
            <a:r>
              <a:rPr lang="en-HK" dirty="0">
                <a:latin typeface="Myriad Pro" panose="020B0503030403020204" pitchFamily="34" charset="0"/>
              </a:rPr>
              <a:t>	(2) 15</a:t>
            </a:r>
            <a:br>
              <a:rPr lang="en-HK" dirty="0">
                <a:latin typeface="Myriad Pro" panose="020B0503030403020204" pitchFamily="34" charset="0"/>
              </a:rPr>
            </a:br>
            <a:r>
              <a:rPr lang="en-HK" dirty="0">
                <a:latin typeface="Myriad Pro" panose="020B0503030403020204" pitchFamily="34" charset="0"/>
              </a:rPr>
              <a:t>	(3) 25</a:t>
            </a:r>
            <a:br>
              <a:rPr lang="en-HK" dirty="0">
                <a:latin typeface="Myriad Pro" panose="020B0503030403020204" pitchFamily="34" charset="0"/>
              </a:rPr>
            </a:br>
            <a:r>
              <a:rPr lang="en-HK" dirty="0">
                <a:latin typeface="Myriad Pro" panose="020B0503030403020204" pitchFamily="34" charset="0"/>
              </a:rPr>
              <a:t>	(4) 65</a:t>
            </a:r>
            <a:br>
              <a:rPr lang="en-HK" dirty="0">
                <a:latin typeface="Myriad Pro" panose="020B0503030403020204" pitchFamily="34" charset="0"/>
              </a:rPr>
            </a:br>
            <a:r>
              <a:rPr lang="en-HK" dirty="0">
                <a:latin typeface="Myriad Pro" panose="020B0503030403020204" pitchFamily="34" charset="0"/>
              </a:rPr>
              <a:t>	(5) </a:t>
            </a:r>
            <a:r>
              <a:rPr lang="en-HK" dirty="0" smtClean="0">
                <a:latin typeface="Myriad Pro" panose="020B0503030403020204" pitchFamily="34" charset="0"/>
              </a:rPr>
              <a:t>80</a:t>
            </a:r>
          </a:p>
          <a:p>
            <a:endParaRPr lang="en-HK" dirty="0" smtClean="0">
              <a:latin typeface="Myriad Pro" panose="020B0503030403020204" pitchFamily="34" charset="0"/>
            </a:endParaRPr>
          </a:p>
          <a:p>
            <a:pPr marL="914400" lvl="1" indent="-457200">
              <a:buAutoNum type="alphaUcPeriod"/>
            </a:pPr>
            <a:r>
              <a:rPr lang="zh-TW" altLang="en-US" dirty="0" smtClean="0">
                <a:latin typeface="Myriad Pro" panose="020B0503030403020204" pitchFamily="34" charset="0"/>
              </a:rPr>
              <a:t>只有 </a:t>
            </a:r>
            <a:r>
              <a:rPr lang="en-HK" dirty="0" smtClean="0">
                <a:latin typeface="Myriad Pro" panose="020B0503030403020204" pitchFamily="34" charset="0"/>
              </a:rPr>
              <a:t>(</a:t>
            </a:r>
            <a:r>
              <a:rPr lang="en-HK" dirty="0">
                <a:latin typeface="Myriad Pro" panose="020B0503030403020204" pitchFamily="34" charset="0"/>
              </a:rPr>
              <a:t>1</a:t>
            </a:r>
            <a:r>
              <a:rPr lang="en-HK" dirty="0" smtClean="0">
                <a:latin typeface="Myriad Pro" panose="020B0503030403020204" pitchFamily="34" charset="0"/>
              </a:rPr>
              <a:t>)</a:t>
            </a:r>
          </a:p>
          <a:p>
            <a:pPr marL="914400" lvl="1" indent="-457200">
              <a:buAutoNum type="alphaUcPeriod"/>
            </a:pPr>
            <a:r>
              <a:rPr lang="zh-TW" altLang="en-US" dirty="0" smtClean="0">
                <a:latin typeface="Myriad Pro" panose="020B0503030403020204" pitchFamily="34" charset="0"/>
              </a:rPr>
              <a:t>只有 </a:t>
            </a:r>
            <a:r>
              <a:rPr lang="en-HK" dirty="0" smtClean="0">
                <a:latin typeface="Myriad Pro" panose="020B0503030403020204" pitchFamily="34" charset="0"/>
              </a:rPr>
              <a:t>(</a:t>
            </a:r>
            <a:r>
              <a:rPr lang="en-HK" dirty="0">
                <a:latin typeface="Myriad Pro" panose="020B0503030403020204" pitchFamily="34" charset="0"/>
              </a:rPr>
              <a:t>3) </a:t>
            </a:r>
            <a:endParaRPr lang="en-HK" dirty="0" smtClean="0">
              <a:latin typeface="Myriad Pro" panose="020B0503030403020204" pitchFamily="34" charset="0"/>
            </a:endParaRPr>
          </a:p>
          <a:p>
            <a:pPr marL="914400" lvl="1" indent="-457200">
              <a:buAutoNum type="alphaUcPeriod"/>
            </a:pPr>
            <a:r>
              <a:rPr lang="zh-TW" altLang="en-US" dirty="0" smtClean="0">
                <a:latin typeface="Myriad Pro" panose="020B0503030403020204" pitchFamily="34" charset="0"/>
              </a:rPr>
              <a:t>只有 </a:t>
            </a:r>
            <a:r>
              <a:rPr lang="en-HK" dirty="0" smtClean="0">
                <a:latin typeface="Myriad Pro" panose="020B0503030403020204" pitchFamily="34" charset="0"/>
              </a:rPr>
              <a:t>(1)</a:t>
            </a:r>
            <a:r>
              <a:rPr lang="zh-TW" altLang="en-US" dirty="0" smtClean="0">
                <a:latin typeface="Myriad Pro" panose="020B0503030403020204" pitchFamily="34" charset="0"/>
              </a:rPr>
              <a:t>、</a:t>
            </a:r>
            <a:r>
              <a:rPr lang="en-HK" dirty="0" smtClean="0">
                <a:latin typeface="Myriad Pro" panose="020B0503030403020204" pitchFamily="34" charset="0"/>
              </a:rPr>
              <a:t>(2) </a:t>
            </a:r>
            <a:r>
              <a:rPr lang="zh-TW" altLang="en-US" dirty="0">
                <a:latin typeface="Myriad Pro" panose="020B0503030403020204" pitchFamily="34" charset="0"/>
              </a:rPr>
              <a:t>和</a:t>
            </a:r>
            <a:r>
              <a:rPr lang="en-HK" dirty="0" smtClean="0">
                <a:latin typeface="Myriad Pro" panose="020B0503030403020204" pitchFamily="34" charset="0"/>
              </a:rPr>
              <a:t> </a:t>
            </a:r>
            <a:r>
              <a:rPr lang="en-HK" dirty="0">
                <a:latin typeface="Myriad Pro" panose="020B0503030403020204" pitchFamily="34" charset="0"/>
              </a:rPr>
              <a:t>(5) </a:t>
            </a:r>
            <a:endParaRPr lang="en-HK" dirty="0" smtClean="0">
              <a:latin typeface="Myriad Pro" panose="020B0503030403020204" pitchFamily="34" charset="0"/>
            </a:endParaRPr>
          </a:p>
          <a:p>
            <a:pPr marL="914400" lvl="1" indent="-457200">
              <a:buAutoNum type="alphaUcPeriod"/>
            </a:pPr>
            <a:r>
              <a:rPr lang="zh-TW" altLang="en-US" dirty="0" smtClean="0">
                <a:latin typeface="Myriad Pro" panose="020B0503030403020204" pitchFamily="34" charset="0"/>
              </a:rPr>
              <a:t>只有 </a:t>
            </a:r>
            <a:r>
              <a:rPr lang="en-HK" dirty="0" smtClean="0">
                <a:latin typeface="Myriad Pro" panose="020B0503030403020204" pitchFamily="34" charset="0"/>
              </a:rPr>
              <a:t>(</a:t>
            </a:r>
            <a:r>
              <a:rPr lang="en-HK" dirty="0">
                <a:latin typeface="Myriad Pro" panose="020B0503030403020204" pitchFamily="34" charset="0"/>
              </a:rPr>
              <a:t>4) </a:t>
            </a:r>
            <a:r>
              <a:rPr lang="zh-TW" altLang="en-US" dirty="0" smtClean="0">
                <a:latin typeface="Myriad Pro" panose="020B0503030403020204" pitchFamily="34" charset="0"/>
              </a:rPr>
              <a:t>和</a:t>
            </a:r>
            <a:r>
              <a:rPr lang="en-HK" dirty="0" smtClean="0">
                <a:latin typeface="Myriad Pro" panose="020B0503030403020204" pitchFamily="34" charset="0"/>
              </a:rPr>
              <a:t> </a:t>
            </a:r>
            <a:r>
              <a:rPr lang="en-HK" dirty="0">
                <a:latin typeface="Myriad Pro" panose="020B0503030403020204" pitchFamily="34" charset="0"/>
              </a:rPr>
              <a:t>(5</a:t>
            </a:r>
            <a:r>
              <a:rPr lang="en-HK" dirty="0" smtClean="0">
                <a:latin typeface="Myriad Pro" panose="020B0503030403020204" pitchFamily="34" charset="0"/>
              </a:rPr>
              <a:t>)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9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2.7</a:t>
            </a:r>
            <a:endParaRPr lang="en-GB" dirty="0"/>
          </a:p>
        </p:txBody>
      </p:sp>
      <p:sp>
        <p:nvSpPr>
          <p:cNvPr id="5" name="Content Placeholder 1"/>
          <p:cNvSpPr txBox="1">
            <a:spLocks/>
          </p:cNvSpPr>
          <p:nvPr/>
        </p:nvSpPr>
        <p:spPr>
          <a:xfrm>
            <a:off x="702275" y="1357103"/>
            <a:ext cx="10515600" cy="4969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分析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使用數線找出數值的範圍：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>
              <a:buSzPct val="100000"/>
            </a:pPr>
            <a:endParaRPr lang="en-US" altLang="zh-TW" b="1" dirty="0" smtClean="0">
              <a:solidFill>
                <a:srgbClr val="37A3D4"/>
              </a:solidFill>
              <a:latin typeface="Myriad Pro" panose="020B0503030403020204" pitchFamily="34" charset="0"/>
            </a:endParaRPr>
          </a:p>
          <a:p>
            <a:pPr marL="342900" indent="-342900">
              <a:buSzPct val="100000"/>
              <a:buFont typeface="Noto Sans CJK TC Regular" panose="020B0500000000000000" pitchFamily="34" charset="-128"/>
              <a:buChar char="◣"/>
            </a:pPr>
            <a:r>
              <a:rPr lang="zh-TW" altLang="en-US" b="1" dirty="0" smtClean="0">
                <a:solidFill>
                  <a:srgbClr val="37A3D4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答案</a:t>
            </a:r>
            <a:endParaRPr lang="en-HK" b="1" dirty="0" smtClean="0">
              <a:solidFill>
                <a:srgbClr val="37A3D4"/>
              </a:solidFill>
              <a:latin typeface="Noto Sans CJK TC Bold" panose="020B0800000000000000" pitchFamily="34" charset="-128"/>
              <a:ea typeface="Noto Sans CJK TC Bold" panose="020B0800000000000000" pitchFamily="34" charset="-128"/>
            </a:endParaRPr>
          </a:p>
          <a:p>
            <a:pPr>
              <a:buSzPct val="100000"/>
            </a:pPr>
            <a:r>
              <a:rPr lang="zh-TW" altLang="en-US" dirty="0">
                <a:latin typeface="Myriad Pro" panose="020B0503030403020204" pitchFamily="34" charset="0"/>
              </a:rPr>
              <a:t>從以上的數線所見，只有「</a:t>
            </a:r>
            <a:r>
              <a:rPr lang="en-US" altLang="zh-TW" dirty="0">
                <a:latin typeface="Myriad Pro" panose="020B0503030403020204" pitchFamily="34" charset="0"/>
              </a:rPr>
              <a:t>0</a:t>
            </a:r>
            <a:r>
              <a:rPr lang="zh-TW" altLang="en-US" dirty="0">
                <a:latin typeface="Myriad Pro" panose="020B0503030403020204" pitchFamily="34" charset="0"/>
              </a:rPr>
              <a:t>」、「</a:t>
            </a:r>
            <a:r>
              <a:rPr lang="en-US" altLang="zh-TW" dirty="0">
                <a:latin typeface="Myriad Pro" panose="020B0503030403020204" pitchFamily="34" charset="0"/>
              </a:rPr>
              <a:t>15</a:t>
            </a:r>
            <a:r>
              <a:rPr lang="zh-TW" altLang="en-US" dirty="0">
                <a:latin typeface="Myriad Pro" panose="020B0503030403020204" pitchFamily="34" charset="0"/>
              </a:rPr>
              <a:t>」和「</a:t>
            </a:r>
            <a:r>
              <a:rPr lang="en-US" altLang="zh-TW" dirty="0">
                <a:latin typeface="Myriad Pro" panose="020B0503030403020204" pitchFamily="34" charset="0"/>
              </a:rPr>
              <a:t>80</a:t>
            </a:r>
            <a:r>
              <a:rPr lang="zh-TW" altLang="en-US" dirty="0">
                <a:latin typeface="Myriad Pro" panose="020B0503030403020204" pitchFamily="34" charset="0"/>
              </a:rPr>
              <a:t>」在範圍內。所以答案是 </a:t>
            </a:r>
            <a:r>
              <a:rPr lang="en-US" altLang="zh-TW" dirty="0">
                <a:latin typeface="Myriad Pro" panose="020B0503030403020204" pitchFamily="34" charset="0"/>
              </a:rPr>
              <a:t>C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zh-TW" altLang="en-US" dirty="0">
              <a:latin typeface="Myriad Pro" panose="020B0503030403020204" pitchFamily="34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913" y="2453202"/>
            <a:ext cx="67246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1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70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2.6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Myriad Pro" panose="020B0503030403020204" pitchFamily="34" charset="0"/>
              </a:rPr>
              <a:t> 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47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2.6</a:t>
            </a:r>
            <a:endParaRPr lang="en-GB" dirty="0"/>
          </a:p>
        </p:txBody>
      </p:sp>
      <p:graphicFrame>
        <p:nvGraphicFramePr>
          <p:cNvPr id="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073988"/>
              </p:ext>
            </p:extLst>
          </p:nvPr>
        </p:nvGraphicFramePr>
        <p:xfrm>
          <a:off x="1806428" y="2401813"/>
          <a:ext cx="8128000" cy="31286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62063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布爾算式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讓布爾算式為「真」的 </a:t>
                      </a:r>
                      <a:r>
                        <a:rPr 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age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Bold" panose="020B0800000000000000" pitchFamily="34" charset="-128"/>
                        </a:rPr>
                        <a:t>值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501609">
                <a:tc>
                  <a:txBody>
                    <a:bodyPr/>
                    <a:lstStyle/>
                    <a:p>
                      <a:r>
                        <a:rPr lang="en-HK" dirty="0" smtClean="0"/>
                        <a:t>X OR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0, 15, 80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09">
                <a:tc>
                  <a:txBody>
                    <a:bodyPr/>
                    <a:lstStyle/>
                    <a:p>
                      <a:r>
                        <a:rPr lang="en-HK" dirty="0" smtClean="0"/>
                        <a:t>X AND Y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None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09">
                <a:tc>
                  <a:txBody>
                    <a:bodyPr/>
                    <a:lstStyle/>
                    <a:p>
                      <a:r>
                        <a:rPr lang="en-HK" dirty="0" smtClean="0"/>
                        <a:t>NOT (X OR Y)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25,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</a:rPr>
                        <a:t> 65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09">
                <a:tc>
                  <a:txBody>
                    <a:bodyPr/>
                    <a:lstStyle/>
                    <a:p>
                      <a:r>
                        <a:rPr lang="en-HK" dirty="0" smtClean="0"/>
                        <a:t>(NOT X) AND (NOT Y)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25, 65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09">
                <a:tc>
                  <a:txBody>
                    <a:bodyPr/>
                    <a:lstStyle/>
                    <a:p>
                      <a:r>
                        <a:rPr lang="en-HK" dirty="0" smtClean="0"/>
                        <a:t>(NOT X) OR (NOT Y)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0,</a:t>
                      </a:r>
                      <a:r>
                        <a:rPr lang="en-HK" baseline="0" dirty="0" smtClean="0">
                          <a:solidFill>
                            <a:srgbClr val="FF0000"/>
                          </a:solidFill>
                        </a:rPr>
                        <a:t> 15, 25, 65, 80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34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70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2.6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B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Yes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mtClean="0"/>
              <a:t>2.7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013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49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迭代</a:t>
            </a:r>
            <a:r>
              <a:rPr lang="zh-TW" altLang="en-US" dirty="0" smtClean="0"/>
              <a:t>控制結構讓程式能夠重複執行特定語句（循環體）。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當循環條件不再為真，循環便會中止。</a:t>
            </a:r>
            <a:endParaRPr lang="en-GB" dirty="0"/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068" y="3260135"/>
            <a:ext cx="8659063" cy="235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9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50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本課將介紹四種循環控制結構。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For </a:t>
            </a:r>
            <a:r>
              <a:rPr lang="zh-TW" altLang="en-US" dirty="0" smtClean="0">
                <a:latin typeface="Myriad Pro" panose="020B0503030403020204" pitchFamily="34" charset="0"/>
              </a:rPr>
              <a:t>循環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While </a:t>
            </a:r>
            <a:r>
              <a:rPr lang="zh-TW" altLang="en-US" dirty="0" smtClean="0">
                <a:latin typeface="Myriad Pro" panose="020B0503030403020204" pitchFamily="34" charset="0"/>
              </a:rPr>
              <a:t>循環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Do-while </a:t>
            </a:r>
            <a:r>
              <a:rPr lang="zh-TW" altLang="en-US" dirty="0" smtClean="0">
                <a:latin typeface="Myriad Pro" panose="020B0503030403020204" pitchFamily="34" charset="0"/>
              </a:rPr>
              <a:t>循環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Myriad Pro" panose="020B0503030403020204" pitchFamily="34" charset="0"/>
              </a:rPr>
              <a:t>Repeat-until </a:t>
            </a:r>
            <a:r>
              <a:rPr lang="zh-TW" altLang="en-US" dirty="0" smtClean="0">
                <a:latin typeface="Myriad Pro" panose="020B0503030403020204" pitchFamily="34" charset="0"/>
              </a:rPr>
              <a:t>循環</a:t>
            </a:r>
            <a:endParaRPr lang="en-GB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02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>
          <a:xfrm>
            <a:off x="838800" y="1609200"/>
            <a:ext cx="6410497" cy="4680000"/>
          </a:xfrm>
        </p:spPr>
        <p:txBody>
          <a:bodyPr/>
          <a:lstStyle/>
          <a:p>
            <a:r>
              <a:rPr 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For 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循環</a:t>
            </a:r>
            <a:r>
              <a:rPr lang="zh-TW" altLang="en-US" dirty="0" smtClean="0">
                <a:latin typeface="Myriad Pro" panose="020B0503030403020204" pitchFamily="34" charset="0"/>
              </a:rPr>
              <a:t>是會重複執行一定次數的循環。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Myriad Pro" panose="020B0503030403020204" pitchFamily="34" charset="0"/>
              </a:rPr>
              <a:t>此循環的循環次數由通過處理變量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（通常為 </a:t>
            </a:r>
            <a:r>
              <a:rPr lang="en-US" altLang="zh-TW" dirty="0" err="1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i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、</a:t>
            </a:r>
            <a:r>
              <a:rPr lang="en-US" altLang="zh-TW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j 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或 </a:t>
            </a:r>
            <a:r>
              <a:rPr lang="en-US" altLang="zh-TW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k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）</a:t>
            </a:r>
            <a:r>
              <a:rPr lang="zh-TW" altLang="en-US" dirty="0" smtClean="0">
                <a:latin typeface="Myriad Pro" panose="020B0503030403020204" pitchFamily="34" charset="0"/>
              </a:rPr>
              <a:t>所決定。</a:t>
            </a:r>
            <a:endParaRPr lang="en-GB" dirty="0">
              <a:latin typeface="Myriad Pro" panose="020B0503030403020204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297" y="1267200"/>
            <a:ext cx="4650259" cy="465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2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變量可由起始值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遞增</a:t>
            </a:r>
            <a:r>
              <a:rPr lang="zh-TW" altLang="en-US" dirty="0" smtClean="0"/>
              <a:t>至最終值：</a:t>
            </a:r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576380"/>
              </p:ext>
            </p:extLst>
          </p:nvPr>
        </p:nvGraphicFramePr>
        <p:xfrm>
          <a:off x="1479953" y="2070848"/>
          <a:ext cx="9233294" cy="4213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48282"/>
                <a:gridCol w="5585012"/>
              </a:tblGrid>
              <a:tr h="58270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3630706">
                <a:tc>
                  <a:txBody>
                    <a:bodyPr/>
                    <a:lstStyle/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設 </a:t>
                      </a:r>
                      <a:r>
                        <a:rPr lang="en-US" altLang="zh-TW" baseline="0" dirty="0" err="1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i</a:t>
                      </a:r>
                      <a:r>
                        <a:rPr lang="en-US" altLang="zh-TW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由 </a:t>
                      </a:r>
                      <a:r>
                        <a:rPr lang="zh-TW" altLang="en-US" baseline="0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起始值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至 </a:t>
                      </a:r>
                      <a:r>
                        <a:rPr lang="zh-TW" altLang="en-US" baseline="0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最終值</a:t>
                      </a:r>
                      <a:endParaRPr lang="en-US" altLang="zh-TW" baseline="0" dirty="0" smtClean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       循環體</a:t>
                      </a:r>
                      <a:endParaRPr lang="en-US" altLang="zh-TW" baseline="0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100" y="2690003"/>
            <a:ext cx="2345542" cy="352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5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</a:t>
            </a:r>
            <a:r>
              <a:rPr lang="zh-TW" altLang="en-US" dirty="0"/>
              <a:t>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/>
              <a:t>變量可由起始</a:t>
            </a:r>
            <a:r>
              <a:rPr lang="zh-TW" altLang="en-US" dirty="0" smtClean="0"/>
              <a:t>值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遞減</a:t>
            </a:r>
            <a:r>
              <a:rPr lang="zh-TW" altLang="en-US" dirty="0" smtClean="0"/>
              <a:t>至</a:t>
            </a:r>
            <a:r>
              <a:rPr lang="zh-TW" altLang="en-US" dirty="0"/>
              <a:t>最終值：</a:t>
            </a:r>
            <a:endParaRPr lang="en-GB" dirty="0"/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85705"/>
              </p:ext>
            </p:extLst>
          </p:nvPr>
        </p:nvGraphicFramePr>
        <p:xfrm>
          <a:off x="1479953" y="2070848"/>
          <a:ext cx="9233294" cy="42134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48282"/>
                <a:gridCol w="5585012"/>
              </a:tblGrid>
              <a:tr h="582705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3630706">
                <a:tc>
                  <a:txBody>
                    <a:bodyPr/>
                    <a:lstStyle/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設 </a:t>
                      </a:r>
                      <a:r>
                        <a:rPr lang="en-US" altLang="zh-TW" baseline="0" dirty="0" err="1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i</a:t>
                      </a:r>
                      <a:r>
                        <a:rPr lang="en-US" altLang="zh-TW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由 </a:t>
                      </a:r>
                      <a:r>
                        <a:rPr lang="zh-TW" altLang="en-US" baseline="0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起始值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下至 </a:t>
                      </a:r>
                      <a:r>
                        <a:rPr lang="zh-TW" altLang="en-US" baseline="0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最終值</a:t>
                      </a:r>
                      <a:endParaRPr lang="en-US" altLang="zh-TW" baseline="0" dirty="0" smtClean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  <a:p>
                      <a:r>
                        <a:rPr lang="en-HK" altLang="zh-TW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       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循環體</a:t>
                      </a:r>
                      <a:endParaRPr lang="en-US" altLang="zh-TW" baseline="0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075" y="2711224"/>
            <a:ext cx="2359960" cy="350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7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77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78 </a:t>
            </a:r>
            <a:r>
              <a:rPr lang="zh-TW" altLang="en-US" dirty="0" smtClean="0">
                <a:latin typeface="Myriad Pro" panose="020B0503030403020204" pitchFamily="34" charset="0"/>
              </a:rPr>
              <a:t>頁的活動 </a:t>
            </a:r>
            <a:r>
              <a:rPr lang="en-US" altLang="zh-TW" dirty="0" smtClean="0">
                <a:latin typeface="Myriad Pro" panose="020B0503030403020204" pitchFamily="34" charset="0"/>
              </a:rPr>
              <a:t>2.6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Myriad Pro" panose="020B0503030403020204" pitchFamily="34" charset="0"/>
              </a:rPr>
              <a:t> 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2.6</a:t>
            </a:r>
            <a:endParaRPr lang="en-GB" dirty="0"/>
          </a:p>
        </p:txBody>
      </p:sp>
      <p:graphicFrame>
        <p:nvGraphicFramePr>
          <p:cNvPr id="8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257655"/>
              </p:ext>
            </p:extLst>
          </p:nvPr>
        </p:nvGraphicFramePr>
        <p:xfrm>
          <a:off x="1717675" y="1976966"/>
          <a:ext cx="9207501" cy="38500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69167"/>
                <a:gridCol w="3069167"/>
                <a:gridCol w="3069167"/>
              </a:tblGrid>
              <a:tr h="5090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循環體重複的次數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835237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1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7</a:t>
                      </a:r>
                    </a:p>
                    <a:p>
                      <a:r>
                        <a:rPr lang="en-HK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1 2 3 4 5 6 7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237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5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10</a:t>
                      </a:r>
                    </a:p>
                    <a:p>
                      <a:r>
                        <a:rPr lang="en-HK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k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5 6 7 8 9 10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237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n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10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下至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0</a:t>
                      </a:r>
                    </a:p>
                    <a:p>
                      <a:r>
                        <a:rPr lang="en-HK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n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10 9 8 7 6 5 4 3 2 1 0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5237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d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20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下至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15</a:t>
                      </a:r>
                    </a:p>
                    <a:p>
                      <a:r>
                        <a:rPr lang="en-HK" baseline="0" dirty="0" smtClean="0"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"1"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1 1 1 1 1 1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87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Myriad Pro" panose="020B0503030403020204" pitchFamily="34" charset="0"/>
              </a:rPr>
              <a:t> 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55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439457"/>
              </p:ext>
            </p:extLst>
          </p:nvPr>
        </p:nvGraphicFramePr>
        <p:xfrm>
          <a:off x="1670050" y="1538816"/>
          <a:ext cx="9359900" cy="44181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79950"/>
                <a:gridCol w="4679950"/>
              </a:tblGrid>
              <a:tr h="3947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沒有使用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for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循環的偽代碼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for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226695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2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3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4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5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6 * 5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7 * 5</a:t>
                      </a:r>
                      <a: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/>
                      </a:r>
                      <a:b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</a:b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7</a:t>
                      </a:r>
                    </a:p>
                    <a:p>
                      <a:r>
                        <a:rPr lang="en-HK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* 5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6892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 * 1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2 * 2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3 * 3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4 * 4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5 * 5</a:t>
                      </a:r>
                      <a: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/>
                      </a:r>
                      <a:b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</a:b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至 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5</a:t>
                      </a:r>
                    </a:p>
                    <a:p>
                      <a:r>
                        <a:rPr lang="en-HK" baseline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* </a:t>
                      </a:r>
                      <a:r>
                        <a:rPr lang="en-GB" sz="1800" b="0" i="0" u="none" strike="noStrike" kern="1200" baseline="0" dirty="0" err="1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9841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dirty="0" smtClean="0">
                <a:latin typeface="Myriad Pro" panose="020B0503030403020204" pitchFamily="34" charset="0"/>
              </a:rPr>
              <a:t> 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2.6</a:t>
            </a:r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729606"/>
              </p:ext>
            </p:extLst>
          </p:nvPr>
        </p:nvGraphicFramePr>
        <p:xfrm>
          <a:off x="1416050" y="2377099"/>
          <a:ext cx="9359900" cy="2680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79950"/>
                <a:gridCol w="4679950"/>
              </a:tblGrid>
              <a:tr h="3947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沒有使用 </a:t>
                      </a:r>
                      <a:r>
                        <a:rPr lang="en-US" altLang="zh-TW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for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循環的偽代碼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HK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for </a:t>
                      </a:r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循環偽代碼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1636892">
                <a:tc>
                  <a:txBody>
                    <a:bodyPr/>
                    <a:lstStyle/>
                    <a:p>
                      <a:pPr rtl="0"/>
                      <a:endParaRPr lang="en-US" sz="18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10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 + 1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 + 1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 + 1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 + 1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</a:t>
                      </a:r>
                    </a:p>
                    <a:p>
                      <a:pPr rtl="0"/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k 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10</a:t>
                      </a:r>
                      <a:endParaRPr lang="en-US" b="0" dirty="0" smtClean="0">
                        <a:solidFill>
                          <a:srgbClr val="FF0000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設 </a:t>
                      </a:r>
                      <a:r>
                        <a:rPr lang="en-US" sz="1800" b="0" i="0" u="none" strike="noStrike" kern="1200" dirty="0" err="1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i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由 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至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4</a:t>
                      </a:r>
                      <a:endParaRPr lang="en-US" b="0" dirty="0" smtClean="0">
                        <a:solidFill>
                          <a:srgbClr val="FF0000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	k 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 + 1</a:t>
                      </a:r>
                      <a:endParaRPr lang="en-US" b="0" dirty="0" smtClean="0">
                        <a:solidFill>
                          <a:srgbClr val="FF0000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 k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510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dirty="0">
                <a:latin typeface="Myriad Pro" panose="020B0503030403020204" pitchFamily="34" charset="0"/>
              </a:rPr>
              <a:t> </a:t>
            </a:r>
            <a:r>
              <a:rPr lang="en-US" dirty="0" smtClean="0">
                <a:latin typeface="Myriad Pro" panose="020B0503030403020204" pitchFamily="34" charset="0"/>
              </a:rPr>
              <a:t> 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2.6</a:t>
            </a:r>
            <a:endParaRPr lang="en-GB" dirty="0"/>
          </a:p>
        </p:txBody>
      </p: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556748"/>
              </p:ext>
            </p:extLst>
          </p:nvPr>
        </p:nvGraphicFramePr>
        <p:xfrm>
          <a:off x="1608354" y="1443600"/>
          <a:ext cx="9359901" cy="48603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19967"/>
                <a:gridCol w="3119967"/>
                <a:gridCol w="3119967"/>
              </a:tblGrid>
              <a:tr h="379797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4396461">
                <a:tc>
                  <a:txBody>
                    <a:bodyPr/>
                    <a:lstStyle/>
                    <a:p>
                      <a:pPr rtl="0"/>
                      <a:endParaRPr lang="en-US" sz="18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pPr rtl="0"/>
                      <a:r>
                        <a:rPr lang="zh-TW" altLang="en-US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設</a:t>
                      </a:r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en-HK" b="0" baseline="0" dirty="0" err="1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i</a:t>
                      </a:r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由 </a:t>
                      </a:r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10 </a:t>
                      </a:r>
                      <a:r>
                        <a:rPr lang="zh-TW" altLang="en-US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下至</a:t>
                      </a:r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 3	</a:t>
                      </a:r>
                    </a:p>
                    <a:p>
                      <a:pPr rtl="0"/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輸出</a:t>
                      </a:r>
                      <a:r>
                        <a:rPr lang="en-HK" b="0" baseline="0" dirty="0" smtClean="0">
                          <a:effectLst/>
                          <a:latin typeface="+mj-lt"/>
                          <a:ea typeface="Noto Sans CJK TC Light" panose="020B0300000000000000" pitchFamily="34" charset="-128"/>
                        </a:rPr>
                        <a:t> 10 * I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en-US" sz="18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pPr algn="ctr" rtl="0"/>
                      <a:endParaRPr lang="en-US" sz="18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j-lt"/>
                        <a:ea typeface="Noto Sans CJK TC Light" panose="020B0300000000000000" pitchFamily="34" charset="-128"/>
                        <a:cs typeface="+mn-cs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100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90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80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70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60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50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40</a:t>
                      </a:r>
                      <a:endParaRPr lang="en-US" b="0" dirty="0" smtClean="0">
                        <a:effectLst/>
                        <a:latin typeface="+mj-lt"/>
                        <a:ea typeface="Noto Sans CJK TC Light" panose="020B0300000000000000" pitchFamily="34" charset="-128"/>
                      </a:endParaRPr>
                    </a:p>
                    <a:p>
                      <a:pPr algn="ctr" rtl="0">
                        <a:lnSpc>
                          <a:spcPct val="150000"/>
                        </a:lnSpc>
                      </a:pPr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30</a:t>
                      </a:r>
                    </a:p>
                    <a:p>
                      <a: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  <a:t/>
                      </a:r>
                      <a:br>
                        <a:rPr lang="en-US" dirty="0" smtClean="0">
                          <a:latin typeface="+mj-lt"/>
                          <a:ea typeface="Noto Sans CJK TC Light" panose="020B0300000000000000" pitchFamily="34" charset="-128"/>
                        </a:rPr>
                      </a:br>
                      <a:endParaRPr lang="en-HK" dirty="0" smtClean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324" y="1941666"/>
            <a:ext cx="2869728" cy="421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63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58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只要條件一直成立，</a:t>
            </a:r>
            <a:r>
              <a:rPr lang="en-US" altLang="zh-TW" dirty="0" smtClean="0">
                <a:solidFill>
                  <a:srgbClr val="4D4D9F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While </a:t>
            </a:r>
            <a:r>
              <a:rPr lang="zh-TW" altLang="en-US" dirty="0" smtClean="0">
                <a:solidFill>
                  <a:srgbClr val="4D4D9F"/>
                </a:solidFill>
                <a:latin typeface="Myriad Pro" panose="020B0503030403020204" pitchFamily="34" charset="0"/>
                <a:ea typeface="Noto Sans CJK TC Bold" panose="020B0800000000000000" pitchFamily="34" charset="-128"/>
              </a:rPr>
              <a:t>循環</a:t>
            </a:r>
            <a:r>
              <a:rPr lang="zh-TW" altLang="en-US" dirty="0" smtClean="0">
                <a:latin typeface="Myriad Pro" panose="020B0503030403020204" pitchFamily="34" charset="0"/>
              </a:rPr>
              <a:t>就會不斷執行。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r>
              <a:rPr lang="zh-TW" altLang="en-US" dirty="0" smtClean="0">
                <a:latin typeface="Myriad Pro" panose="020B0503030403020204" pitchFamily="34" charset="0"/>
              </a:rPr>
              <a:t>每次迭代之前，</a:t>
            </a:r>
            <a:r>
              <a:rPr lang="en-US" altLang="zh-TW" dirty="0" smtClean="0">
                <a:latin typeface="Myriad Pro" panose="020B0503030403020204" pitchFamily="34" charset="0"/>
              </a:rPr>
              <a:t>While </a:t>
            </a:r>
            <a:r>
              <a:rPr lang="zh-TW" altLang="en-US" dirty="0" smtClean="0">
                <a:latin typeface="Myriad Pro" panose="020B0503030403020204" pitchFamily="34" charset="0"/>
              </a:rPr>
              <a:t>循環都會對條件作出判斷。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/>
          </a:p>
          <a:p>
            <a:r>
              <a:rPr lang="zh-TW" altLang="en-US" dirty="0" smtClean="0"/>
              <a:t>如果條件成立，循環體會被執行，而條件會再被判斷。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18964"/>
              </p:ext>
            </p:extLst>
          </p:nvPr>
        </p:nvGraphicFramePr>
        <p:xfrm>
          <a:off x="2032600" y="3588278"/>
          <a:ext cx="8128000" cy="28027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/>
                <a:gridCol w="4064000"/>
              </a:tblGrid>
              <a:tr h="470959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13263"/>
                    </a:solidFill>
                  </a:tcPr>
                </a:tc>
              </a:tr>
              <a:tr h="2331800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當</a:t>
                      </a:r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 </a:t>
                      </a:r>
                      <a:r>
                        <a:rPr lang="zh-TW" altLang="en-US" b="1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條件</a:t>
                      </a:r>
                      <a:endParaRPr lang="en-HK" b="1" dirty="0" smtClean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循環體</a:t>
                      </a:r>
                      <a:endParaRPr lang="en-US" dirty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254" y="4135394"/>
            <a:ext cx="1993299" cy="22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22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TW" dirty="0" smtClean="0"/>
              <a:t>C</a:t>
            </a:r>
            <a:endParaRPr lang="en-GB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有時候，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邏輯錯誤</a:t>
            </a:r>
            <a:r>
              <a:rPr lang="zh-TW" altLang="en-US" dirty="0" smtClean="0"/>
              <a:t>可能會導致程式陷入</a:t>
            </a:r>
            <a:r>
              <a:rPr lang="zh-TW" altLang="en-US" dirty="0" smtClean="0">
                <a:solidFill>
                  <a:srgbClr val="4D4D9F"/>
                </a:solidFill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無限循環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en-US" dirty="0"/>
          </a:p>
          <a:p>
            <a:r>
              <a:rPr lang="zh-TW" altLang="en-US" dirty="0" smtClean="0"/>
              <a:t>例如：</a:t>
            </a:r>
            <a:endParaRPr lang="en-US" altLang="zh-TW" dirty="0" smtClean="0"/>
          </a:p>
          <a:p>
            <a:r>
              <a:rPr lang="en-US" dirty="0">
                <a:latin typeface="+mj-lt"/>
              </a:rPr>
              <a:t>	</a:t>
            </a:r>
            <a:r>
              <a:rPr lang="en-US" dirty="0" smtClean="0">
                <a:latin typeface="+mj-lt"/>
              </a:rPr>
              <a:t>X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>
                <a:latin typeface="+mj-lt"/>
              </a:rPr>
              <a:t> 0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>
                <a:latin typeface="+mj-lt"/>
              </a:rPr>
              <a:t> 1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當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&lt; 10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zh-TW" altLang="en-US" dirty="0" smtClean="0">
                <a:latin typeface="+mj-lt"/>
              </a:rPr>
              <a:t>輸入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Y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X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>
                <a:latin typeface="+mj-lt"/>
              </a:rPr>
              <a:t> X + 1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 – </a:t>
            </a:r>
            <a:r>
              <a:rPr lang="en-US" dirty="0" smtClean="0">
                <a:latin typeface="+mj-lt"/>
              </a:rPr>
              <a:t>1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輸出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X</a:t>
            </a:r>
          </a:p>
          <a:p>
            <a:endParaRPr lang="en-GB" dirty="0"/>
          </a:p>
        </p:txBody>
      </p:sp>
      <p:sp>
        <p:nvSpPr>
          <p:cNvPr id="6" name="Rounded Rectangle 7"/>
          <p:cNvSpPr/>
          <p:nvPr/>
        </p:nvSpPr>
        <p:spPr>
          <a:xfrm>
            <a:off x="2637803" y="4974443"/>
            <a:ext cx="1069224" cy="350118"/>
          </a:xfrm>
          <a:prstGeom prst="roundRect">
            <a:avLst/>
          </a:prstGeom>
          <a:noFill/>
          <a:ln>
            <a:solidFill>
              <a:srgbClr val="D935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4383" y="4884655"/>
            <a:ext cx="644059" cy="529694"/>
          </a:xfrm>
          <a:prstGeom prst="rect">
            <a:avLst/>
          </a:prstGeom>
        </p:spPr>
      </p:pic>
      <p:grpSp>
        <p:nvGrpSpPr>
          <p:cNvPr id="12" name="群組 11"/>
          <p:cNvGrpSpPr/>
          <p:nvPr/>
        </p:nvGrpSpPr>
        <p:grpSpPr>
          <a:xfrm>
            <a:off x="7764421" y="2693001"/>
            <a:ext cx="3006876" cy="2129052"/>
            <a:chOff x="7706756" y="2594147"/>
            <a:chExt cx="3006876" cy="2129052"/>
          </a:xfrm>
        </p:grpSpPr>
        <p:pic>
          <p:nvPicPr>
            <p:cNvPr id="9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6756" y="2594147"/>
              <a:ext cx="3006876" cy="2129052"/>
            </a:xfrm>
            <a:prstGeom prst="rect">
              <a:avLst/>
            </a:prstGeom>
          </p:spPr>
        </p:pic>
        <p:pic>
          <p:nvPicPr>
            <p:cNvPr id="11" name="圖片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3272" y="3042517"/>
              <a:ext cx="1404912" cy="383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3314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82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84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 </a:t>
            </a:r>
            <a:r>
              <a:rPr lang="en-US" altLang="zh-TW" dirty="0" smtClean="0">
                <a:latin typeface="Myriad Pro" panose="020B0503030403020204" pitchFamily="34" charset="0"/>
              </a:rPr>
              <a:t>2.8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2.8</a:t>
            </a:r>
            <a:endParaRPr lang="en-GB" dirty="0"/>
          </a:p>
        </p:txBody>
      </p:sp>
      <p:sp>
        <p:nvSpPr>
          <p:cNvPr id="8" name="TextBox 4"/>
          <p:cNvSpPr txBox="1"/>
          <p:nvPr/>
        </p:nvSpPr>
        <p:spPr>
          <a:xfrm>
            <a:off x="1147482" y="2214282"/>
            <a:ext cx="212910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D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endParaRPr lang="pl-PL" dirty="0">
              <a:solidFill>
                <a:srgbClr val="FF0000"/>
              </a:solidFill>
              <a:latin typeface="+mj-lt"/>
              <a:ea typeface="Noto Sans CJK TC Light" panose="020B0300000000000000" pitchFamily="34" charset="-128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B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endParaRPr lang="pl-PL" dirty="0">
              <a:solidFill>
                <a:srgbClr val="FF0000"/>
              </a:solidFill>
              <a:latin typeface="+mj-lt"/>
              <a:ea typeface="Noto Sans CJK TC Light" panose="020B0300000000000000" pitchFamily="34" charset="-128"/>
            </a:endParaRPr>
          </a:p>
          <a:p>
            <a:pPr marL="342900" indent="-342900" fontAlgn="base">
              <a:buFont typeface="+mj-lt"/>
              <a:buAutoNum type="arabicPeriod"/>
            </a:pPr>
            <a:r>
              <a:rPr lang="pl-PL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i ← i +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1</a:t>
            </a:r>
            <a:r>
              <a:rPr lang="en-HK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zh-TW" altLang="en-US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當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pl-PL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i &lt;=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10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Y </a:t>
            </a:r>
            <a:r>
              <a:rPr lang="pl-PL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← Y +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X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zh-TW" altLang="en-US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輸出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Y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Z </a:t>
            </a:r>
            <a:r>
              <a:rPr lang="pl-PL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← Z +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Y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i </a:t>
            </a:r>
            <a:r>
              <a:rPr lang="pl-PL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← i +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1</a:t>
            </a: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zh-TW" altLang="en-US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輸出 </a:t>
            </a:r>
            <a:r>
              <a:rPr lang="pl-PL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Z</a:t>
            </a:r>
            <a:endParaRPr lang="pl-PL" dirty="0">
              <a:solidFill>
                <a:srgbClr val="FF0000"/>
              </a:solidFill>
              <a:latin typeface="+mj-lt"/>
              <a:ea typeface="Noto Sans CJK TC Light" panose="020B0300000000000000" pitchFamily="34" charset="-128"/>
            </a:endParaRPr>
          </a:p>
          <a:p>
            <a:r>
              <a:rPr lang="pl-PL" dirty="0"/>
              <a:t/>
            </a:r>
            <a:br>
              <a:rPr lang="pl-PL" dirty="0"/>
            </a:br>
            <a:endParaRPr lang="en-US" dirty="0"/>
          </a:p>
        </p:txBody>
      </p:sp>
      <p:sp>
        <p:nvSpPr>
          <p:cNvPr id="9" name="TextBox 5"/>
          <p:cNvSpPr txBox="1"/>
          <p:nvPr/>
        </p:nvSpPr>
        <p:spPr>
          <a:xfrm>
            <a:off x="5316070" y="2214281"/>
            <a:ext cx="32303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buFont typeface="+mj-lt"/>
              <a:buAutoNum type="arabicPeriod" startAt="4"/>
            </a:pPr>
            <a:r>
              <a:rPr lang="en-HK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(a) </a:t>
            </a:r>
            <a:r>
              <a:rPr lang="zh-TW" altLang="en-US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列出由 </a:t>
            </a:r>
            <a:r>
              <a:rPr lang="en-US" altLang="zh-TW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1 </a:t>
            </a:r>
            <a:r>
              <a:rPr lang="zh-TW" altLang="en-US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至 </a:t>
            </a:r>
            <a:r>
              <a:rPr lang="en-HK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N </a:t>
            </a:r>
            <a:r>
              <a:rPr lang="zh-TW" altLang="en-US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的平方</a:t>
            </a:r>
            <a:r>
              <a:rPr lang="zh-TW" altLang="en-US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數</a:t>
            </a:r>
            <a:r>
              <a:rPr lang="en-HK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HK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(b) 49</a:t>
            </a:r>
          </a:p>
          <a:p>
            <a:pPr fontAlgn="base"/>
            <a:r>
              <a:rPr lang="en-HK" dirty="0" smtClean="0">
                <a:solidFill>
                  <a:srgbClr val="FF0000"/>
                </a:solidFill>
              </a:rPr>
              <a:t/>
            </a:r>
            <a:br>
              <a:rPr lang="en-HK" dirty="0" smtClean="0">
                <a:solidFill>
                  <a:srgbClr val="FF0000"/>
                </a:solidFill>
              </a:rPr>
            </a:br>
            <a:r>
              <a:rPr lang="pl-PL" dirty="0"/>
              <a:t/>
            </a:r>
            <a:br>
              <a:rPr lang="pl-PL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57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61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zh-TW" altLang="en-US" dirty="0" smtClean="0"/>
              <a:t>執行</a:t>
            </a:r>
            <a:r>
              <a:rPr lang="en-US" altLang="zh-TW" dirty="0" smtClean="0"/>
              <a:t>…</a:t>
            </a:r>
            <a:r>
              <a:rPr lang="zh-TW" altLang="en-US" dirty="0" smtClean="0"/>
              <a:t>當循環與 </a:t>
            </a:r>
            <a:r>
              <a:rPr lang="en-US" altLang="zh-TW" dirty="0" smtClean="0"/>
              <a:t>while </a:t>
            </a:r>
            <a:r>
              <a:rPr lang="zh-TW" altLang="en-US" dirty="0" smtClean="0"/>
              <a:t>循環相似，唯一分別是此循環會先執行循環體一次，後再進行條件判斷。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45597"/>
              </p:ext>
            </p:extLst>
          </p:nvPr>
        </p:nvGraphicFramePr>
        <p:xfrm>
          <a:off x="1371598" y="2709830"/>
          <a:ext cx="9430872" cy="35027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7249"/>
                <a:gridCol w="5683623"/>
              </a:tblGrid>
              <a:tr h="54435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263"/>
                    </a:solidFill>
                  </a:tcPr>
                </a:tc>
              </a:tr>
              <a:tr h="2958353">
                <a:tc>
                  <a:txBody>
                    <a:bodyPr/>
                    <a:lstStyle/>
                    <a:p>
                      <a:pPr rtl="0"/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執行</a:t>
                      </a:r>
                      <a:endParaRPr lang="en-US" b="0" dirty="0" smtClean="0">
                        <a:effectLst/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  <a:p>
                      <a:pPr rtl="0"/>
                      <a:r>
                        <a:rPr 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	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循環體</a:t>
                      </a:r>
                      <a:endParaRPr lang="en-US" b="0" dirty="0" smtClean="0">
                        <a:effectLst/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當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  <a:cs typeface="+mn-cs"/>
                        </a:rPr>
                        <a:t> 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  <a:cs typeface="+mn-cs"/>
                        </a:rPr>
                        <a:t>條件</a:t>
                      </a:r>
                      <a:endParaRPr lang="en-US" dirty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3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300" y="3279869"/>
            <a:ext cx="2754346" cy="286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9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試完成課本第 </a:t>
            </a:r>
            <a:r>
              <a:rPr lang="en-US" altLang="zh-TW" dirty="0" smtClean="0"/>
              <a:t>85 </a:t>
            </a:r>
            <a:r>
              <a:rPr lang="zh-TW" altLang="en-US" dirty="0" smtClean="0"/>
              <a:t>頁的測試站。</a:t>
            </a:r>
            <a:endParaRPr lang="en-US" altLang="zh-TW" dirty="0" smtClean="0"/>
          </a:p>
          <a:p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  <a:latin typeface="Myriad Pro" panose="020B0503030403020204" pitchFamily="34" charset="0"/>
              </a:rPr>
              <a:t>1</a:t>
            </a:r>
            <a:endParaRPr lang="en-GB" dirty="0">
              <a:solidFill>
                <a:srgbClr val="FF0000"/>
              </a:solidFill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96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迭代</a:t>
            </a:r>
            <a:endParaRPr lang="en-GB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63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C</a:t>
            </a:r>
            <a:endParaRPr lang="en-GB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 smtClean="0">
                <a:latin typeface="Myriad Pro" panose="020B0503030403020204" pitchFamily="34" charset="0"/>
              </a:rPr>
              <a:t>Repeat-until</a:t>
            </a:r>
            <a:r>
              <a:rPr lang="zh-TW" altLang="en-US" dirty="0" smtClean="0">
                <a:latin typeface="Myriad Pro" panose="020B0503030403020204" pitchFamily="34" charset="0"/>
              </a:rPr>
              <a:t>（重複</a:t>
            </a:r>
            <a:r>
              <a:rPr lang="en-US" altLang="zh-TW" dirty="0" smtClean="0">
                <a:latin typeface="Myriad Pro" panose="020B0503030403020204" pitchFamily="34" charset="0"/>
              </a:rPr>
              <a:t>…</a:t>
            </a:r>
            <a:r>
              <a:rPr lang="zh-TW" altLang="en-US" dirty="0" smtClean="0">
                <a:latin typeface="Myriad Pro" panose="020B0503030403020204" pitchFamily="34" charset="0"/>
              </a:rPr>
              <a:t>直至）循環會先執行循環體一次，後再進行條件判斷。</a:t>
            </a:r>
            <a:endParaRPr lang="en-US" altLang="zh-TW" dirty="0" smtClean="0">
              <a:latin typeface="Myriad Pro" panose="020B0503030403020204" pitchFamily="34" charset="0"/>
            </a:endParaRPr>
          </a:p>
          <a:p>
            <a:endParaRPr lang="en-US" dirty="0"/>
          </a:p>
          <a:p>
            <a:r>
              <a:rPr lang="zh-TW" altLang="en-US" dirty="0" smtClean="0"/>
              <a:t>若條件</a:t>
            </a:r>
            <a:r>
              <a:rPr lang="zh-TW" altLang="en-US" dirty="0" smtClean="0">
                <a:latin typeface="Noto Sans CJK TC Bold" panose="020B0800000000000000" pitchFamily="34" charset="-128"/>
                <a:ea typeface="Noto Sans CJK TC Bold" panose="020B0800000000000000" pitchFamily="34" charset="-128"/>
              </a:rPr>
              <a:t>不成立</a:t>
            </a:r>
            <a:r>
              <a:rPr lang="zh-TW" altLang="en-US" dirty="0" smtClean="0"/>
              <a:t>，循環體便會再次執行。</a:t>
            </a:r>
            <a:endParaRPr lang="en-GB" dirty="0"/>
          </a:p>
        </p:txBody>
      </p:sp>
      <p:graphicFrame>
        <p:nvGraphicFramePr>
          <p:cNvPr id="8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741168"/>
              </p:ext>
            </p:extLst>
          </p:nvPr>
        </p:nvGraphicFramePr>
        <p:xfrm>
          <a:off x="1550895" y="3050487"/>
          <a:ext cx="9529481" cy="31261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52046"/>
                <a:gridCol w="5477435"/>
              </a:tblGrid>
              <a:tr h="463678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solidFill>
                      <a:srgbClr val="2132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>
                    <a:solidFill>
                      <a:srgbClr val="213263"/>
                    </a:solidFill>
                  </a:tcPr>
                </a:tc>
              </a:tr>
              <a:tr h="2662517"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重複</a:t>
                      </a:r>
                      <a:endParaRPr lang="en-HK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en-HK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循環體</a:t>
                      </a:r>
                      <a:endParaRPr lang="en-HK" baseline="0" dirty="0" smtClean="0">
                        <a:latin typeface="Noto Sans CJK TC Light" panose="020B0300000000000000" pitchFamily="34" charset="-128"/>
                        <a:ea typeface="Noto Sans CJK TC Light" panose="020B0300000000000000" pitchFamily="34" charset="-128"/>
                      </a:endParaRPr>
                    </a:p>
                    <a:p>
                      <a:r>
                        <a:rPr lang="zh-TW" altLang="en-US" baseline="0" dirty="0" smtClean="0">
                          <a:latin typeface="Noto Sans CJK TC Light" panose="020B0300000000000000" pitchFamily="34" charset="-128"/>
                          <a:ea typeface="Noto Sans CJK TC Light" panose="020B0300000000000000" pitchFamily="34" charset="-128"/>
                        </a:rPr>
                        <a:t>直至 </a:t>
                      </a:r>
                      <a:r>
                        <a:rPr lang="zh-TW" altLang="en-US" baseline="0" dirty="0" smtClean="0">
                          <a:latin typeface="Noto Sans CJK TC Bold" panose="020B0800000000000000" pitchFamily="34" charset="-128"/>
                          <a:ea typeface="Noto Sans CJK TC Bold" panose="020B0800000000000000" pitchFamily="34" charset="-128"/>
                        </a:rPr>
                        <a:t>條件</a:t>
                      </a:r>
                      <a:endParaRPr lang="en-HK" b="1" dirty="0" smtClean="0">
                        <a:latin typeface="Noto Sans CJK TC Bold" panose="020B0800000000000000" pitchFamily="34" charset="-128"/>
                        <a:ea typeface="Noto Sans CJK TC Bold" panose="020B08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156" y="3589503"/>
            <a:ext cx="2437577" cy="252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07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dirty="0">
                <a:latin typeface="Myriad Pro" panose="020B0503030403020204" pitchFamily="34" charset="0"/>
              </a:rPr>
              <a:t>試修改以上「猜數字遊戲」的算法，改為使用「執行</a:t>
            </a:r>
            <a:r>
              <a:rPr lang="en-US" altLang="zh-TW" dirty="0">
                <a:latin typeface="Myriad Pro" panose="020B0503030403020204" pitchFamily="34" charset="0"/>
              </a:rPr>
              <a:t>…</a:t>
            </a:r>
            <a:r>
              <a:rPr lang="zh-TW" altLang="en-US" dirty="0">
                <a:latin typeface="Myriad Pro" panose="020B0503030403020204" pitchFamily="34" charset="0"/>
              </a:rPr>
              <a:t>當」這個循環控制結構的算法，並畫</a:t>
            </a:r>
            <a:r>
              <a:rPr lang="zh-TW" altLang="en-US" dirty="0" smtClean="0">
                <a:latin typeface="Myriad Pro" panose="020B0503030403020204" pitchFamily="34" charset="0"/>
              </a:rPr>
              <a:t>出其</a:t>
            </a:r>
            <a:r>
              <a:rPr lang="zh-TW" altLang="en-US" dirty="0">
                <a:latin typeface="Myriad Pro" panose="020B0503030403020204" pitchFamily="34" charset="0"/>
              </a:rPr>
              <a:t>流程圖。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11" name="文字版面配置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2.7</a:t>
            </a:r>
            <a:endParaRPr lang="en-GB" dirty="0"/>
          </a:p>
        </p:txBody>
      </p:sp>
      <p:graphicFrame>
        <p:nvGraphicFramePr>
          <p:cNvPr id="12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745666"/>
              </p:ext>
            </p:extLst>
          </p:nvPr>
        </p:nvGraphicFramePr>
        <p:xfrm>
          <a:off x="1655480" y="2285173"/>
          <a:ext cx="8671860" cy="38983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35930"/>
                <a:gridCol w="4335930"/>
              </a:tblGrid>
              <a:tr h="484094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偽代碼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</a:rPr>
                        <a:t>流程圖</a:t>
                      </a:r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D40"/>
                    </a:solidFill>
                  </a:tcPr>
                </a:tc>
              </a:tr>
              <a:tr h="3414231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輸入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secret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執行</a:t>
                      </a:r>
                    </a:p>
                    <a:p>
                      <a:r>
                        <a:rPr lang="en-HK" dirty="0" smtClean="0">
                          <a:latin typeface="+mj-lt"/>
                          <a:ea typeface="Noto Sans CJK TC Light" panose="020B0300000000000000" pitchFamily="34" charset="-128"/>
                        </a:rPr>
                        <a:t>	</a:t>
                      </a:r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輸入 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guess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當 </a:t>
                      </a:r>
                      <a:r>
                        <a:rPr lang="en-GB" sz="1800" b="0" i="0" u="none" strike="noStrike" kern="1200" baseline="0" dirty="0" smtClean="0">
                          <a:solidFill>
                            <a:srgbClr val="FF0000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guess != secret</a:t>
                      </a:r>
                    </a:p>
                    <a:p>
                      <a:r>
                        <a:rPr lang="zh-TW" altLang="en-US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輸出</a:t>
                      </a:r>
                      <a:r>
                        <a:rPr lang="en-US" altLang="zh-TW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"</a:t>
                      </a:r>
                      <a:r>
                        <a:rPr lang="en-GB" sz="1800" b="0" i="0" u="none" strike="noStrike" kern="1200" baseline="0" dirty="0" smtClean="0">
                          <a:solidFill>
                            <a:schemeClr val="tx1"/>
                          </a:solidFill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Bingo!"</a:t>
                      </a:r>
                      <a:endParaRPr lang="en-US" dirty="0"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4A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3" name="圖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619" y="2809102"/>
            <a:ext cx="2640634" cy="327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4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Myriad Pro" panose="020B0503030403020204" pitchFamily="34" charset="0"/>
              </a:rPr>
              <a:t>試完成課本第 </a:t>
            </a:r>
            <a:r>
              <a:rPr lang="en-US" altLang="zh-TW" dirty="0" smtClean="0">
                <a:latin typeface="Myriad Pro" panose="020B0503030403020204" pitchFamily="34" charset="0"/>
              </a:rPr>
              <a:t>90 </a:t>
            </a:r>
            <a:r>
              <a:rPr lang="zh-TW" altLang="en-US" dirty="0" smtClean="0">
                <a:latin typeface="Myriad Pro" panose="020B0503030403020204" pitchFamily="34" charset="0"/>
              </a:rPr>
              <a:t>頁至第 </a:t>
            </a:r>
            <a:r>
              <a:rPr lang="en-US" altLang="zh-TW" dirty="0" smtClean="0">
                <a:latin typeface="Myriad Pro" panose="020B0503030403020204" pitchFamily="34" charset="0"/>
              </a:rPr>
              <a:t>94 </a:t>
            </a:r>
            <a:r>
              <a:rPr lang="zh-TW" altLang="en-US" dirty="0" smtClean="0">
                <a:latin typeface="Myriad Pro" panose="020B0503030403020204" pitchFamily="34" charset="0"/>
              </a:rPr>
              <a:t>頁的測試站</a:t>
            </a:r>
            <a:r>
              <a:rPr lang="en-US" altLang="zh-TW" dirty="0">
                <a:latin typeface="Myriad Pro" panose="020B0503030403020204" pitchFamily="34" charset="0"/>
              </a:rPr>
              <a:t> </a:t>
            </a:r>
            <a:r>
              <a:rPr lang="en-US" altLang="zh-TW" dirty="0" smtClean="0">
                <a:latin typeface="Myriad Pro" panose="020B0503030403020204" pitchFamily="34" charset="0"/>
              </a:rPr>
              <a:t>2.10</a:t>
            </a:r>
            <a:r>
              <a:rPr lang="zh-TW" altLang="en-US" dirty="0" smtClean="0">
                <a:latin typeface="Myriad Pro" panose="020B0503030403020204" pitchFamily="34" charset="0"/>
              </a:rPr>
              <a:t>。</a:t>
            </a:r>
            <a:endParaRPr lang="en-GB" dirty="0">
              <a:latin typeface="Myriad Pro" panose="020B0503030403020204" pitchFamily="34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65</a:t>
            </a:fld>
            <a:endParaRPr 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2.10</a:t>
            </a:r>
            <a:endParaRPr lang="en-GB" dirty="0"/>
          </a:p>
        </p:txBody>
      </p:sp>
      <p:sp>
        <p:nvSpPr>
          <p:cNvPr id="7" name="TextBox 4"/>
          <p:cNvSpPr txBox="1"/>
          <p:nvPr/>
        </p:nvSpPr>
        <p:spPr>
          <a:xfrm>
            <a:off x="977153" y="2034989"/>
            <a:ext cx="381546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A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B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C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B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(a) </a:t>
            </a:r>
            <a:r>
              <a:rPr lang="zh-TW" alt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找出最大的數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(b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) </a:t>
            </a:r>
            <a:r>
              <a:rPr lang="en-US" sz="2000" dirty="0" err="1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0 / </a:t>
            </a:r>
            <a:r>
              <a:rPr lang="zh-TW" alt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當用家輸入 </a:t>
            </a:r>
            <a:r>
              <a:rPr lang="en-US" altLang="zh-TW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0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(c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)</a:t>
            </a:r>
            <a:r>
              <a:rPr lang="en-US" sz="2000" dirty="0"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>	Input </a:t>
            </a:r>
            <a:r>
              <a:rPr lang="en-US" sz="2000" dirty="0" err="1" smtClean="0"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en-US" sz="2000" dirty="0" err="1" smtClean="0">
                <a:latin typeface="+mj-lt"/>
                <a:ea typeface="Noto Sans CJK TC Light" panose="020B0300000000000000" pitchFamily="34" charset="-128"/>
              </a:rPr>
              <a:t>mNum</a:t>
            </a: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>
                <a:latin typeface="+mj-lt"/>
                <a:ea typeface="Noto Sans CJK TC Light" panose="020B0300000000000000" pitchFamily="34" charset="-128"/>
              </a:rPr>
              <a:t>← </a:t>
            </a:r>
            <a:r>
              <a:rPr lang="en-US" sz="2000" dirty="0" err="1" smtClean="0"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zh-TW" alt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當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!= 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0</a:t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	</a:t>
            </a:r>
            <a:r>
              <a:rPr lang="zh-TW" alt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輸入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 err="1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	</a:t>
            </a:r>
            <a:r>
              <a:rPr lang="zh-TW" alt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如果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&gt; </a:t>
            </a:r>
            <a:r>
              <a:rPr lang="en-US" sz="2000" dirty="0" err="1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mNum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zh-TW" alt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則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		</a:t>
            </a:r>
            <a:r>
              <a:rPr lang="en-US" sz="2000" dirty="0" err="1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mNum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← </a:t>
            </a:r>
            <a:r>
              <a:rPr lang="en-US" sz="2000" dirty="0" err="1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num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		</a:t>
            </a:r>
            <a:r>
              <a:rPr lang="zh-TW" alt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輸出</a:t>
            </a:r>
            <a:r>
              <a:rPr lang="en-US" sz="2000" dirty="0" smtClean="0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+mj-lt"/>
                <a:ea typeface="Noto Sans CJK TC Light" panose="020B0300000000000000" pitchFamily="34" charset="-128"/>
              </a:rPr>
              <a:t>mNum</a:t>
            </a:r>
            <a:endParaRPr lang="en-US" sz="2000" dirty="0">
              <a:solidFill>
                <a:srgbClr val="FF0000"/>
              </a:solidFill>
              <a:latin typeface="+mj-lt"/>
              <a:ea typeface="Noto Sans CJK TC Light" panose="020B0300000000000000" pitchFamily="34" charset="-128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6115199" y="2034989"/>
            <a:ext cx="51265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 startAt="5"/>
            </a:pP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(d</a:t>
            </a:r>
            <a:r>
              <a:rPr 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) </a:t>
            </a:r>
            <a:r>
              <a:rPr lang="zh-TW" alt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將條件語句內的比較運算符由「 </a:t>
            </a:r>
            <a:r>
              <a:rPr lang="en-US" altLang="zh-TW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&gt; </a:t>
            </a:r>
            <a:r>
              <a:rPr lang="zh-TW" alt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」改成「 </a:t>
            </a:r>
            <a:r>
              <a:rPr lang="en-US" altLang="zh-TW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&lt; </a:t>
            </a:r>
            <a:r>
              <a:rPr lang="zh-TW" alt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」。</a:t>
            </a: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</a:br>
            <a:endParaRPr lang="en-US" sz="2000" dirty="0" smtClean="0">
              <a:solidFill>
                <a:srgbClr val="FF0000"/>
              </a:solidFill>
              <a:latin typeface="Myriad Pro" panose="020B0503030403020204" pitchFamily="34" charset="0"/>
              <a:ea typeface="Noto Sans CJK TC Light" panose="020B0300000000000000" pitchFamily="34" charset="-128"/>
            </a:endParaRPr>
          </a:p>
          <a:p>
            <a:pPr marL="457200" indent="-457200" fontAlgn="base">
              <a:buFont typeface="+mj-lt"/>
              <a:buAutoNum type="arabicPeriod" startAt="5"/>
            </a:pP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a) </a:t>
            </a:r>
            <a:r>
              <a:rPr lang="zh-TW" alt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猜數字</a:t>
            </a: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(b</a:t>
            </a:r>
            <a:r>
              <a:rPr 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) </a:t>
            </a:r>
            <a:r>
              <a:rPr lang="zh-TW" alt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數字太小了</a:t>
            </a:r>
            <a:r>
              <a:rPr lang="zh-TW" alt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！</a:t>
            </a: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/>
            </a:r>
            <a:b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</a:br>
            <a:r>
              <a:rPr lang="en-US" sz="2000" dirty="0" smtClean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Myriad Pro" panose="020B0503030403020204" pitchFamily="34" charset="0"/>
                <a:ea typeface="Noto Sans CJK TC Light" panose="020B0300000000000000" pitchFamily="34" charset="-128"/>
              </a:rPr>
              <a:t>c)</a:t>
            </a:r>
          </a:p>
          <a:p>
            <a:r>
              <a:rPr lang="en-US" sz="2000" dirty="0">
                <a:latin typeface="Myriad Pro" panose="020B0503030403020204" pitchFamily="34" charset="0"/>
                <a:ea typeface="Noto Sans CJK TC Light" panose="020B0300000000000000" pitchFamily="34" charset="-128"/>
              </a:rPr>
              <a:t/>
            </a:r>
            <a:br>
              <a:rPr lang="en-US" sz="2000" dirty="0">
                <a:latin typeface="Myriad Pro" panose="020B0503030403020204" pitchFamily="34" charset="0"/>
                <a:ea typeface="Noto Sans CJK TC Light" panose="020B0300000000000000" pitchFamily="34" charset="-128"/>
              </a:rPr>
            </a:br>
            <a:endParaRPr lang="en-US" sz="2000" dirty="0">
              <a:solidFill>
                <a:srgbClr val="FF0000"/>
              </a:solidFill>
              <a:latin typeface="Myriad Pro" panose="020B0503030403020204" pitchFamily="34" charset="0"/>
              <a:ea typeface="Noto Sans CJK TC Light" panose="020B0300000000000000" pitchFamily="34" charset="-128"/>
            </a:endParaRPr>
          </a:p>
        </p:txBody>
      </p:sp>
      <p:graphicFrame>
        <p:nvGraphicFramePr>
          <p:cNvPr id="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430240"/>
              </p:ext>
            </p:extLst>
          </p:nvPr>
        </p:nvGraphicFramePr>
        <p:xfrm>
          <a:off x="7079127" y="3669055"/>
          <a:ext cx="4162614" cy="22112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1307"/>
                <a:gridCol w="2081307"/>
              </a:tblGrid>
              <a:tr h="465542"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+mj-lt"/>
                          <a:ea typeface="Noto Sans CJK TC Light" panose="020B0300000000000000" pitchFamily="34" charset="-128"/>
                        </a:rPr>
                        <a:t>輸入</a:t>
                      </a:r>
                      <a:endParaRPr lang="en-US" b="1" dirty="0">
                        <a:solidFill>
                          <a:schemeClr val="bg1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b="1" dirty="0" smtClean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Noto Sans CJK TC Light" panose="020B0300000000000000" pitchFamily="34" charset="-128"/>
                        </a:rPr>
                        <a:t>輸出</a:t>
                      </a:r>
                      <a:endParaRPr lang="en-US" b="1" dirty="0">
                        <a:solidFill>
                          <a:schemeClr val="bg1"/>
                        </a:solidFill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3567"/>
                    </a:solidFill>
                  </a:tcPr>
                </a:tc>
              </a:tr>
              <a:tr h="465542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任何少於 </a:t>
                      </a:r>
                      <a:r>
                        <a:rPr lang="en-US" altLang="zh-TW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20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的整數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數字太小了！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任何大於 </a:t>
                      </a:r>
                      <a:r>
                        <a:rPr lang="en-US" altLang="zh-TW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20 </a:t>
                      </a:r>
                      <a:r>
                        <a:rPr lang="zh-TW" alt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的整數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數字太大了！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5542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+mj-lt"/>
                          <a:ea typeface="Noto Sans CJK TC Light" panose="020B0300000000000000" pitchFamily="34" charset="-128"/>
                          <a:cs typeface="+mn-cs"/>
                        </a:rPr>
                        <a:t>20</a:t>
                      </a:r>
                      <a:endParaRPr lang="en-US" dirty="0">
                        <a:solidFill>
                          <a:srgbClr val="FF0000"/>
                        </a:solidFill>
                        <a:latin typeface="+mj-lt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Myriad Pro" panose="020B0503030403020204" pitchFamily="34" charset="0"/>
                          <a:ea typeface="Noto Sans CJK TC Light" panose="020B0300000000000000" pitchFamily="34" charset="-128"/>
                          <a:cs typeface="+mn-cs"/>
                        </a:rPr>
                        <a:t>你猜對了！</a:t>
                      </a:r>
                      <a:endParaRPr lang="en-US" dirty="0">
                        <a:latin typeface="Myriad Pro" panose="020B0503030403020204" pitchFamily="34" charset="0"/>
                        <a:ea typeface="Noto Sans CJK TC Light" panose="020B0300000000000000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356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15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(d) (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i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)</a:t>
            </a:r>
            <a:r>
              <a:rPr lang="en-US" dirty="0">
                <a:latin typeface="+mj-lt"/>
              </a:rPr>
              <a:t>	</a:t>
            </a:r>
            <a:br>
              <a:rPr lang="en-US" dirty="0">
                <a:latin typeface="+mj-lt"/>
              </a:rPr>
            </a:br>
            <a:r>
              <a:rPr lang="en-US" dirty="0" err="1">
                <a:latin typeface="+mj-lt"/>
              </a:rPr>
              <a:t>SecretNumber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+mj-lt"/>
              </a:rPr>
              <a:t> </a:t>
            </a:r>
            <a:r>
              <a:rPr lang="zh-TW" altLang="en-US" dirty="0">
                <a:latin typeface="+mj-lt"/>
              </a:rPr>
              <a:t>一個隨機在 </a:t>
            </a:r>
            <a:r>
              <a:rPr lang="en-US" altLang="zh-TW" dirty="0">
                <a:latin typeface="+mj-lt"/>
              </a:rPr>
              <a:t>1 </a:t>
            </a:r>
            <a:r>
              <a:rPr lang="zh-TW" altLang="en-US" dirty="0">
                <a:latin typeface="+mj-lt"/>
              </a:rPr>
              <a:t>至 </a:t>
            </a:r>
            <a:r>
              <a:rPr lang="en-US" altLang="zh-TW" dirty="0">
                <a:latin typeface="+mj-lt"/>
              </a:rPr>
              <a:t>100 </a:t>
            </a:r>
            <a:r>
              <a:rPr lang="zh-TW" altLang="en-US" dirty="0">
                <a:latin typeface="+mj-lt"/>
              </a:rPr>
              <a:t>之內的整數，包含首尾兩數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round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0</a:t>
            </a:r>
            <a:br>
              <a:rPr lang="en-US" dirty="0">
                <a:latin typeface="+mj-lt"/>
              </a:rPr>
            </a:br>
            <a:r>
              <a:rPr lang="zh-TW" altLang="en-US" dirty="0">
                <a:latin typeface="+mj-lt"/>
              </a:rPr>
              <a:t>執行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round </a:t>
            </a:r>
            <a:r>
              <a:rPr lang="en-US" dirty="0">
                <a:latin typeface="+mj-lt"/>
                <a:sym typeface="Wingdings" panose="05000000000000000000" pitchFamily="2" charset="2"/>
              </a:rPr>
              <a:t> 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round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+ 1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>
                <a:latin typeface="+mj-lt"/>
              </a:rPr>
              <a:t>輸入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latin typeface="+mj-lt"/>
              </a:rPr>
              <a:t>GuessNum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>
                <a:latin typeface="+mj-lt"/>
              </a:rPr>
              <a:t>如果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GuessNum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&lt; 1) or (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GuessNum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&gt; 100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)</a:t>
            </a:r>
            <a:r>
              <a:rPr lang="en-US" dirty="0" smtClean="0">
                <a:latin typeface="+mj-lt"/>
              </a:rPr>
              <a:t> </a:t>
            </a:r>
            <a:r>
              <a:rPr lang="zh-TW" altLang="en-US" dirty="0" smtClean="0">
                <a:latin typeface="+mj-lt"/>
              </a:rPr>
              <a:t>則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zh-TW" altLang="en-US" dirty="0">
                <a:latin typeface="+mj-lt"/>
              </a:rPr>
              <a:t>輸出</a:t>
            </a:r>
            <a:r>
              <a:rPr lang="en-US" dirty="0" smtClean="0">
                <a:latin typeface="+mj-lt"/>
              </a:rPr>
              <a:t> “</a:t>
            </a:r>
            <a:r>
              <a:rPr lang="zh-TW" altLang="en-US" dirty="0" smtClean="0">
                <a:latin typeface="+mj-lt"/>
              </a:rPr>
              <a:t>範圍</a:t>
            </a:r>
            <a:r>
              <a:rPr lang="zh-TW" altLang="en-US" dirty="0">
                <a:latin typeface="+mj-lt"/>
              </a:rPr>
              <a:t>在 </a:t>
            </a:r>
            <a:r>
              <a:rPr lang="en-US" altLang="zh-TW" dirty="0">
                <a:latin typeface="+mj-lt"/>
              </a:rPr>
              <a:t>1 </a:t>
            </a:r>
            <a:r>
              <a:rPr lang="zh-TW" altLang="en-US" dirty="0">
                <a:latin typeface="+mj-lt"/>
              </a:rPr>
              <a:t>至 </a:t>
            </a:r>
            <a:r>
              <a:rPr lang="en-US" altLang="zh-TW" dirty="0">
                <a:latin typeface="+mj-lt"/>
              </a:rPr>
              <a:t>100 </a:t>
            </a:r>
            <a:r>
              <a:rPr lang="zh-TW" altLang="en-US" dirty="0">
                <a:latin typeface="+mj-lt"/>
              </a:rPr>
              <a:t>之內</a:t>
            </a:r>
            <a:r>
              <a:rPr lang="zh-TW" altLang="en-US" dirty="0" smtClean="0">
                <a:latin typeface="+mj-lt"/>
              </a:rPr>
              <a:t>！</a:t>
            </a:r>
            <a:r>
              <a:rPr lang="en-US" dirty="0" smtClean="0">
                <a:latin typeface="+mj-lt"/>
              </a:rPr>
              <a:t>“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如果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GuessNum</a:t>
            </a:r>
            <a:r>
              <a:rPr lang="en-US" dirty="0">
                <a:latin typeface="+mj-lt"/>
              </a:rPr>
              <a:t> &lt; </a:t>
            </a:r>
            <a:r>
              <a:rPr lang="en-US" dirty="0" err="1" smtClean="0">
                <a:latin typeface="+mj-lt"/>
              </a:rPr>
              <a:t>SecretNumber</a:t>
            </a:r>
            <a:r>
              <a:rPr lang="en-US" dirty="0" smtClean="0">
                <a:latin typeface="+mj-lt"/>
              </a:rPr>
              <a:t>) </a:t>
            </a:r>
            <a:r>
              <a:rPr lang="zh-TW" altLang="en-US" dirty="0" smtClean="0">
                <a:latin typeface="+mj-lt"/>
              </a:rPr>
              <a:t>則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zh-TW" altLang="en-US" dirty="0" smtClean="0">
                <a:latin typeface="+mj-lt"/>
              </a:rPr>
              <a:t>輸出 </a:t>
            </a:r>
            <a:r>
              <a:rPr lang="en-US" dirty="0" smtClean="0">
                <a:latin typeface="+mj-lt"/>
              </a:rPr>
              <a:t>”</a:t>
            </a:r>
            <a:r>
              <a:rPr lang="zh-TW" altLang="en-US" dirty="0">
                <a:latin typeface="+mj-lt"/>
              </a:rPr>
              <a:t> 數字太小了！</a:t>
            </a:r>
            <a:r>
              <a:rPr lang="en-US" dirty="0" smtClean="0">
                <a:latin typeface="+mj-lt"/>
              </a:rPr>
              <a:t>“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如果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GuessNum</a:t>
            </a:r>
            <a:r>
              <a:rPr lang="en-US" dirty="0">
                <a:latin typeface="+mj-lt"/>
              </a:rPr>
              <a:t> &gt; </a:t>
            </a:r>
            <a:r>
              <a:rPr lang="en-US" dirty="0" err="1">
                <a:latin typeface="+mj-lt"/>
              </a:rPr>
              <a:t>SecretNumber</a:t>
            </a:r>
            <a:r>
              <a:rPr lang="en-US" dirty="0" smtClean="0">
                <a:latin typeface="+mj-lt"/>
              </a:rPr>
              <a:t>) </a:t>
            </a:r>
            <a:r>
              <a:rPr lang="zh-TW" altLang="en-US" dirty="0" smtClean="0">
                <a:latin typeface="+mj-lt"/>
              </a:rPr>
              <a:t>則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	</a:t>
            </a:r>
            <a:r>
              <a:rPr lang="zh-TW" altLang="en-US" dirty="0" smtClean="0">
                <a:latin typeface="+mj-lt"/>
              </a:rPr>
              <a:t>輸出 </a:t>
            </a:r>
            <a:r>
              <a:rPr lang="en-US" dirty="0" smtClean="0">
                <a:latin typeface="+mj-lt"/>
              </a:rPr>
              <a:t>”</a:t>
            </a:r>
            <a:r>
              <a:rPr lang="zh-TW" altLang="en-US" dirty="0" smtClean="0">
                <a:latin typeface="+mj-lt"/>
              </a:rPr>
              <a:t>數字</a:t>
            </a:r>
            <a:r>
              <a:rPr lang="zh-TW" altLang="en-US" dirty="0">
                <a:latin typeface="+mj-lt"/>
              </a:rPr>
              <a:t>太大了</a:t>
            </a:r>
            <a:r>
              <a:rPr lang="zh-TW" altLang="en-US" dirty="0" smtClean="0">
                <a:latin typeface="+mj-lt"/>
              </a:rPr>
              <a:t>！</a:t>
            </a:r>
            <a:r>
              <a:rPr lang="en-US" dirty="0" smtClean="0">
                <a:latin typeface="+mj-lt"/>
              </a:rPr>
              <a:t>“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zh-TW" altLang="en-US" dirty="0" smtClean="0">
                <a:latin typeface="+mj-lt"/>
              </a:rPr>
              <a:t>當</a:t>
            </a:r>
            <a:r>
              <a:rPr lang="en-US" dirty="0" smtClean="0">
                <a:latin typeface="+mj-lt"/>
              </a:rPr>
              <a:t>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GuessNum</a:t>
            </a:r>
            <a:r>
              <a:rPr lang="en-US" dirty="0">
                <a:latin typeface="+mj-lt"/>
              </a:rPr>
              <a:t> &lt;&gt; </a:t>
            </a:r>
            <a:r>
              <a:rPr lang="en-US" dirty="0" err="1">
                <a:latin typeface="+mj-lt"/>
              </a:rPr>
              <a:t>SecretNumber</a:t>
            </a:r>
            <a:r>
              <a:rPr lang="en-US" dirty="0">
                <a:latin typeface="+mj-lt"/>
              </a:rPr>
              <a:t>) </a:t>
            </a:r>
            <a:r>
              <a:rPr lang="en-US" dirty="0" smtClean="0">
                <a:latin typeface="+mj-lt"/>
              </a:rPr>
              <a:t>AND (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round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!= 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7</a:t>
            </a:r>
            <a:r>
              <a:rPr lang="en-US" dirty="0" smtClean="0">
                <a:latin typeface="+mj-lt"/>
              </a:rPr>
              <a:t>)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zh-TW" altLang="en-US" dirty="0" smtClean="0">
                <a:latin typeface="+mj-lt"/>
              </a:rPr>
              <a:t>如果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GuessNum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= </a:t>
            </a:r>
            <a:r>
              <a:rPr lang="en-US" dirty="0" err="1">
                <a:solidFill>
                  <a:srgbClr val="FF0000"/>
                </a:solidFill>
                <a:latin typeface="+mj-lt"/>
              </a:rPr>
              <a:t>SecretNumber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zh-TW" altLang="en-US" dirty="0" smtClean="0">
                <a:latin typeface="+mj-lt"/>
              </a:rPr>
              <a:t>則</a:t>
            </a:r>
            <a:r>
              <a:rPr lang="en-US" dirty="0">
                <a:latin typeface="+mj-lt"/>
              </a:rPr>
              <a:t/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	</a:t>
            </a:r>
            <a:r>
              <a:rPr lang="zh-TW" altLang="en-US" dirty="0" smtClean="0">
                <a:latin typeface="+mj-lt"/>
              </a:rPr>
              <a:t>輸出</a:t>
            </a:r>
            <a:r>
              <a:rPr lang="en-US" dirty="0" smtClean="0">
                <a:latin typeface="+mj-lt"/>
              </a:rPr>
              <a:t> ”</a:t>
            </a:r>
            <a:r>
              <a:rPr lang="zh-TW" altLang="en-US" dirty="0" smtClean="0">
                <a:latin typeface="+mj-lt"/>
              </a:rPr>
              <a:t>你猜對了！</a:t>
            </a:r>
            <a:r>
              <a:rPr lang="en-US" dirty="0" smtClean="0">
                <a:latin typeface="+mj-lt"/>
              </a:rPr>
              <a:t>"</a:t>
            </a:r>
            <a:endParaRPr lang="en-US" dirty="0">
              <a:latin typeface="+mj-lt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66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879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67</a:t>
            </a:fld>
            <a:endParaRPr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2.10</a:t>
            </a:r>
            <a:endParaRPr lang="en-GB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838200" y="1443600"/>
            <a:ext cx="5499848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Noto Sans CJK TC Light" panose="020B0300000000000000" pitchFamily="34" charset="-128"/>
                <a:ea typeface="Noto Sans CJK TC Light" panose="020B03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fontAlgn="base">
              <a:buFont typeface="+mj-lt"/>
              <a:buAutoNum type="arabicPeriod" startAt="6"/>
            </a:pPr>
            <a:r>
              <a:rPr lang="en-US" dirty="0" smtClean="0">
                <a:solidFill>
                  <a:srgbClr val="FF0000"/>
                </a:solidFill>
                <a:latin typeface="+mj-lt"/>
              </a:rPr>
              <a:t>(d) (ii) 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因為這次當玩家猜七次後便會結束循環，而七次皆可能是錯誤的</a:t>
            </a:r>
            <a:r>
              <a:rPr lang="zh-TW" altLang="en-US" dirty="0" smtClean="0">
                <a:solidFill>
                  <a:srgbClr val="FF0000"/>
                </a:solidFill>
                <a:latin typeface="+mj-lt"/>
              </a:rPr>
              <a:t>。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+mj-lt"/>
              </a:rPr>
            </a:br>
            <a:r>
              <a:rPr lang="en-US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+mj-lt"/>
              </a:rPr>
            </a:br>
            <a:r>
              <a:rPr lang="en-US" dirty="0" smtClean="0">
                <a:solidFill>
                  <a:srgbClr val="FF0000"/>
                </a:solidFill>
                <a:latin typeface="+mj-lt"/>
              </a:rPr>
              <a:t>(iii) 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即使玩家中途猜中數字，仍須等到七次輸入後才可結束遊戲</a:t>
            </a:r>
            <a:r>
              <a:rPr lang="zh-TW" altLang="en-US" dirty="0" smtClean="0">
                <a:solidFill>
                  <a:srgbClr val="FF0000"/>
                </a:solidFill>
                <a:latin typeface="+mj-lt"/>
              </a:rPr>
              <a:t>。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+mj-lt"/>
              </a:rPr>
            </a:br>
            <a:r>
              <a:rPr lang="zh-TW" altLang="en-US" dirty="0" smtClean="0">
                <a:solidFill>
                  <a:srgbClr val="FF0000"/>
                </a:solidFill>
                <a:latin typeface="+mj-lt"/>
              </a:rPr>
              <a:t>而且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即使在頭六次中有答對過， 最後仍可能因為第七次輸入錯誤，而無法取得勝利訊息</a:t>
            </a:r>
            <a:r>
              <a:rPr lang="zh-TW" altLang="en-US" dirty="0" smtClean="0">
                <a:solidFill>
                  <a:srgbClr val="FF0000"/>
                </a:solidFill>
                <a:latin typeface="+mj-lt"/>
              </a:rPr>
              <a:t>。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+mj-lt"/>
              </a:rPr>
            </a:br>
            <a:r>
              <a:rPr lang="en-US" dirty="0" smtClean="0">
                <a:solidFill>
                  <a:srgbClr val="FF0000"/>
                </a:solidFill>
                <a:latin typeface="+mj-lt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+mj-lt"/>
              </a:rPr>
            </a:br>
            <a:r>
              <a:rPr lang="en-US" dirty="0" smtClean="0">
                <a:solidFill>
                  <a:srgbClr val="FF0000"/>
                </a:solidFill>
                <a:latin typeface="+mj-lt"/>
              </a:rPr>
              <a:t>(iv) 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範圍在 </a:t>
            </a:r>
            <a:r>
              <a:rPr lang="en-US" altLang="zh-TW" dirty="0">
                <a:solidFill>
                  <a:srgbClr val="FF0000"/>
                </a:solidFill>
                <a:latin typeface="+mj-lt"/>
              </a:rPr>
              <a:t>1 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至 </a:t>
            </a:r>
            <a:r>
              <a:rPr lang="en-US" altLang="zh-TW" dirty="0">
                <a:solidFill>
                  <a:srgbClr val="FF0000"/>
                </a:solidFill>
                <a:latin typeface="+mj-lt"/>
              </a:rPr>
              <a:t>100 </a:t>
            </a:r>
            <a:r>
              <a:rPr lang="zh-TW" altLang="en-US" dirty="0">
                <a:solidFill>
                  <a:srgbClr val="FF0000"/>
                </a:solidFill>
                <a:latin typeface="+mj-lt"/>
              </a:rPr>
              <a:t>之內！數字太大了！</a:t>
            </a:r>
            <a:endParaRPr lang="en-US" dirty="0">
              <a:latin typeface="+mj-lt"/>
            </a:endParaRPr>
          </a:p>
        </p:txBody>
      </p:sp>
      <p:sp>
        <p:nvSpPr>
          <p:cNvPr id="7" name="Content Placeholder 1"/>
          <p:cNvSpPr txBox="1">
            <a:spLocks/>
          </p:cNvSpPr>
          <p:nvPr/>
        </p:nvSpPr>
        <p:spPr>
          <a:xfrm>
            <a:off x="6566647" y="1443600"/>
            <a:ext cx="5023991" cy="486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yriad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(v) </a:t>
            </a:r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運用「如果</a:t>
            </a:r>
            <a:r>
              <a:rPr lang="en-US" altLang="zh-TW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...</a:t>
            </a:r>
            <a:r>
              <a:rPr lang="zh-TW" altLang="en-US" dirty="0">
                <a:solidFill>
                  <a:srgbClr val="FF0000"/>
                </a:solidFill>
                <a:ea typeface="Noto Sans CJK TC Light" panose="020B0300000000000000" pitchFamily="34" charset="-128"/>
              </a:rPr>
              <a:t>否則如果」的結構，便能避免兩個條件語句都成立的情況。</a:t>
            </a:r>
            <a:endParaRPr lang="en-US" dirty="0">
              <a:solidFill>
                <a:srgbClr val="FF0000"/>
              </a:solidFill>
              <a:ea typeface="Noto Sans CJK TC Light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845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SEPPT_HK_Kelie_20220801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SEPPT_HK_Kelie_20220801" id="{65F25E0B-E9C0-46F1-AB3B-56C4AD4346BF}" vid="{AA16955C-DB03-4B43-BEEC-E0AA3A93535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DSEPPT_HK_Kelie_20220801</Template>
  <TotalTime>1100</TotalTime>
  <Words>2248</Words>
  <Application>Microsoft Office PowerPoint</Application>
  <PresentationFormat>寬螢幕</PresentationFormat>
  <Paragraphs>743</Paragraphs>
  <Slides>67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67</vt:i4>
      </vt:variant>
    </vt:vector>
  </HeadingPairs>
  <TitlesOfParts>
    <vt:vector size="79" baseType="lpstr">
      <vt:lpstr>Noto Sans CJK TC Bold</vt:lpstr>
      <vt:lpstr>Noto Sans CJK TC Light</vt:lpstr>
      <vt:lpstr>Noto Sans CJK TC Medium</vt:lpstr>
      <vt:lpstr>Noto Sans CJK TC Regular</vt:lpstr>
      <vt:lpstr>NotoSansCJKtc-Bold</vt:lpstr>
      <vt:lpstr>新細明體</vt:lpstr>
      <vt:lpstr>Arial</vt:lpstr>
      <vt:lpstr>MinionPro-Bold</vt:lpstr>
      <vt:lpstr>Myriad Pro</vt:lpstr>
      <vt:lpstr>Tw Cen MT</vt:lpstr>
      <vt:lpstr>Wingdings</vt:lpstr>
      <vt:lpstr>DSEPPT_HK_Kelie_20220801</vt:lpstr>
      <vt:lpstr>第二課 算法設計（一）</vt:lpstr>
      <vt:lpstr>PowerPoint 簡報</vt:lpstr>
      <vt:lpstr>算法</vt:lpstr>
      <vt:lpstr>偽代碼及流程圖</vt:lpstr>
      <vt:lpstr>變量</vt:lpstr>
      <vt:lpstr>變量</vt:lpstr>
      <vt:lpstr>變量</vt:lpstr>
      <vt:lpstr>變量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數據類型</vt:lpstr>
      <vt:lpstr>數據類型</vt:lpstr>
      <vt:lpstr>數據類型</vt:lpstr>
      <vt:lpstr>數據類型</vt:lpstr>
      <vt:lpstr>PowerPoint 簡報</vt:lpstr>
      <vt:lpstr>PowerPoint 簡報</vt:lpstr>
      <vt:lpstr>PowerPoint 簡報</vt:lpstr>
      <vt:lpstr>算法的基本控制結構</vt:lpstr>
      <vt:lpstr>序列</vt:lpstr>
      <vt:lpstr>PowerPoint 簡報</vt:lpstr>
      <vt:lpstr>選擇</vt:lpstr>
      <vt:lpstr>選擇</vt:lpstr>
      <vt:lpstr>選擇</vt:lpstr>
      <vt:lpstr>選擇</vt:lpstr>
      <vt:lpstr>選擇</vt:lpstr>
      <vt:lpstr>PowerPoint 簡報</vt:lpstr>
      <vt:lpstr>PowerPoint 簡報</vt:lpstr>
      <vt:lpstr>選擇</vt:lpstr>
      <vt:lpstr>選擇</vt:lpstr>
      <vt:lpstr>PowerPoint 簡報</vt:lpstr>
      <vt:lpstr>PowerPoint 簡報</vt:lpstr>
      <vt:lpstr>PowerPoint 簡報</vt:lpstr>
      <vt:lpstr>選擇</vt:lpstr>
      <vt:lpstr>PowerPoint 簡報</vt:lpstr>
      <vt:lpstr>PowerPoint 簡報</vt:lpstr>
      <vt:lpstr>PowerPoint 簡報</vt:lpstr>
      <vt:lpstr>PowerPoint 簡報</vt:lpstr>
      <vt:lpstr>選擇</vt:lpstr>
      <vt:lpstr>選擇</vt:lpstr>
      <vt:lpstr>PowerPoint 簡報</vt:lpstr>
      <vt:lpstr>PowerPoint 簡報</vt:lpstr>
      <vt:lpstr>PowerPoint 簡報</vt:lpstr>
      <vt:lpstr>PowerPoint 簡報</vt:lpstr>
      <vt:lpstr>PowerPoint 簡報</vt:lpstr>
      <vt:lpstr>迭代</vt:lpstr>
      <vt:lpstr>迭代</vt:lpstr>
      <vt:lpstr>迭代</vt:lpstr>
      <vt:lpstr>迭代</vt:lpstr>
      <vt:lpstr>迭代</vt:lpstr>
      <vt:lpstr>PowerPoint 簡報</vt:lpstr>
      <vt:lpstr>PowerPoint 簡報</vt:lpstr>
      <vt:lpstr>PowerPoint 簡報</vt:lpstr>
      <vt:lpstr>PowerPoint 簡報</vt:lpstr>
      <vt:lpstr>迭代</vt:lpstr>
      <vt:lpstr>迭代</vt:lpstr>
      <vt:lpstr>PowerPoint 簡報</vt:lpstr>
      <vt:lpstr>迭代</vt:lpstr>
      <vt:lpstr>PowerPoint 簡報</vt:lpstr>
      <vt:lpstr>迭代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Cherry</dc:creator>
  <cp:lastModifiedBy>Cherry</cp:lastModifiedBy>
  <cp:revision>47</cp:revision>
  <dcterms:created xsi:type="dcterms:W3CDTF">2022-08-11T09:31:25Z</dcterms:created>
  <dcterms:modified xsi:type="dcterms:W3CDTF">2022-08-16T07:51:05Z</dcterms:modified>
</cp:coreProperties>
</file>