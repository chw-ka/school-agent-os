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A9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=""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第一課</a:t>
            </a:r>
            <a:br>
              <a:rPr lang="zh-TW" altLang="en-US" dirty="0"/>
            </a:br>
            <a:r>
              <a:rPr lang="zh-TW" altLang="en-US" dirty="0"/>
              <a:t>問題建構和分析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366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解難與編程</a:t>
            </a:r>
          </a:p>
          <a:p>
            <a:pPr algn="ctr"/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你知道程式為人類解決了多少生活上的問題嗎？</a:t>
            </a:r>
          </a:p>
          <a:p>
            <a:pPr algn="ctr"/>
            <a:r>
              <a:rPr lang="zh-TW" altLang="en-US" dirty="0" smtClean="0">
                <a:latin typeface="Noto Sans CJK TC Light TC Light"/>
              </a:rPr>
              <a:t>程式能讓電腦接收一系列指示，自動執行各種任務。簡單如家裏的洗衣機，到複雜如人工智能應用，程式都無處不在。你有沒有想到一些希望通過編程解決的問題呢？</a:t>
            </a:r>
          </a:p>
          <a:p>
            <a:endParaRPr lang="en-GB" dirty="0"/>
          </a:p>
        </p:txBody>
      </p:sp>
      <p:pic>
        <p:nvPicPr>
          <p:cNvPr id="5" name="Picture Placeholder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8" r="50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5954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界定問題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1.1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電腦程式能協助人們解決日常生活中所遇到的問題。但要透過編寫程式（編程）解決問題時，我們要先「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界定問題及其範圍</a:t>
            </a:r>
            <a:r>
              <a:rPr lang="zh-TW" altLang="en-US" dirty="0"/>
              <a:t>」。</a:t>
            </a:r>
          </a:p>
          <a:p>
            <a:endParaRPr lang="zh-TW" altLang="en-US" dirty="0"/>
          </a:p>
          <a:p>
            <a:r>
              <a:rPr lang="zh-TW" altLang="en-US" dirty="0"/>
              <a:t>在界定問題時，運用不同的思考工具可以幫助我們</a:t>
            </a:r>
            <a:r>
              <a:rPr lang="en-US" altLang="zh-TW" dirty="0"/>
              <a:t>:</a:t>
            </a:r>
          </a:p>
          <a:p>
            <a:endParaRPr lang="en-GB" dirty="0"/>
          </a:p>
        </p:txBody>
      </p:sp>
      <p:graphicFrame>
        <p:nvGraphicFramePr>
          <p:cNvPr id="8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53481"/>
              </p:ext>
            </p:extLst>
          </p:nvPr>
        </p:nvGraphicFramePr>
        <p:xfrm>
          <a:off x="1918800" y="3600891"/>
          <a:ext cx="8128000" cy="2637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47602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六何法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腦圖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</a:tr>
              <a:tr h="21613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300" y="4256115"/>
            <a:ext cx="2736624" cy="1829599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617" y="4239887"/>
            <a:ext cx="2480425" cy="182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9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某咖啡店老闆打算提供線上銷售服務，並要求 </a:t>
            </a:r>
            <a:r>
              <a:rPr lang="en-US" altLang="zh-TW" dirty="0">
                <a:latin typeface="+mn-lt"/>
              </a:rPr>
              <a:t>IT </a:t>
            </a:r>
            <a:r>
              <a:rPr lang="zh-TW" altLang="en-US" dirty="0">
                <a:latin typeface="+mn-lt"/>
              </a:rPr>
              <a:t>同事為客戶建構一個網站。</a:t>
            </a:r>
            <a:r>
              <a:rPr lang="en-US" altLang="zh-TW" dirty="0">
                <a:latin typeface="+mn-lt"/>
              </a:rPr>
              <a:t>IT </a:t>
            </a:r>
            <a:r>
              <a:rPr lang="zh-TW" altLang="en-US" dirty="0">
                <a:latin typeface="+mn-lt"/>
              </a:rPr>
              <a:t>同事首先需要做什麼？</a:t>
            </a:r>
          </a:p>
          <a:p>
            <a:endParaRPr lang="zh-TW" altLang="en-US" dirty="0">
              <a:latin typeface="+mn-lt"/>
            </a:endParaRP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+mn-lt"/>
              </a:rPr>
              <a:t> 編寫網頁程式</a:t>
            </a: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+mn-lt"/>
              </a:rPr>
              <a:t> 估計項目所需的人手和時間</a:t>
            </a: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+mn-lt"/>
              </a:rPr>
              <a:t> 定義服務範圍</a:t>
            </a:r>
          </a:p>
          <a:p>
            <a:pPr marL="457200" indent="-457200">
              <a:buFont typeface="+mj-lt"/>
              <a:buAutoNum type="alphaUcPeriod"/>
            </a:pPr>
            <a:r>
              <a:rPr lang="zh-TW" altLang="en-US" dirty="0">
                <a:latin typeface="+mn-lt"/>
              </a:rPr>
              <a:t> 參考其他相關網站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640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Font typeface="Noto Sans CJK TC Regular" panose="020B0500000000000000" pitchFamily="34" charset="-128"/>
              <a:buChar char="◣"/>
            </a:pPr>
            <a:r>
              <a:rPr lang="zh-CN" altLang="en-US" b="1" dirty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 分析</a:t>
            </a:r>
            <a:endParaRPr lang="en-GB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解決問題的第一步，必定是先清楚界定問題的範圍</a:t>
            </a:r>
            <a:r>
              <a:rPr lang="zh-CN" altLang="en-US" dirty="0">
                <a:latin typeface="Myriad Pro" panose="020B0503030403020204" pitchFamily="34" charset="0"/>
              </a:rPr>
              <a:t>。</a:t>
            </a:r>
            <a:r>
              <a:rPr lang="zh-CN" altLang="en-US" dirty="0"/>
              <a:t> 例如</a:t>
            </a:r>
            <a:r>
              <a:rPr lang="zh-CN" altLang="en-US" dirty="0" smtClean="0"/>
              <a:t>：</a:t>
            </a:r>
            <a:endParaRPr lang="en-HK" altLang="zh-CN" dirty="0"/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老闆打算在線上提供的服務包括什麼？是銷售咖啡豆，還是預訂預製咖啡</a:t>
            </a:r>
            <a:r>
              <a:rPr lang="zh-TW" altLang="en-US" dirty="0" smtClean="0">
                <a:latin typeface="Myriad Pro" panose="020B0503030403020204" pitchFamily="34" charset="0"/>
              </a:rPr>
              <a:t>服務？</a:t>
            </a:r>
            <a:endParaRPr lang="en-US" altLang="zh-CN" dirty="0" smtClean="0"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zh-TW" altLang="en-US" dirty="0" smtClean="0">
              <a:latin typeface="Myriad Pro" panose="020B0503030403020204" pitchFamily="34" charset="0"/>
            </a:endParaRPr>
          </a:p>
          <a:p>
            <a:pPr>
              <a:buSzPct val="100000"/>
            </a:pPr>
            <a:r>
              <a:rPr lang="zh-TW" altLang="en-US" dirty="0" smtClean="0">
                <a:latin typeface="Myriad Pro" panose="020B0503030403020204" pitchFamily="34" charset="0"/>
              </a:rPr>
              <a:t>先</a:t>
            </a:r>
            <a:r>
              <a:rPr lang="zh-TW" altLang="en-US" dirty="0">
                <a:latin typeface="Myriad Pro" panose="020B0503030403020204" pitchFamily="34" charset="0"/>
              </a:rPr>
              <a:t>清楚界定問題的範圍，然後才進行「參考其他相關網站」、「估計項目所需的人手和時間」、「編寫網頁程式」等步驟。</a:t>
            </a:r>
            <a:endParaRPr lang="en-GB" dirty="0"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GB" dirty="0">
              <a:latin typeface="Myriad Pro" panose="020B0503030403020204" pitchFamily="34" charset="0"/>
            </a:endParaRPr>
          </a:p>
          <a:p>
            <a:pPr>
              <a:buSzPct val="100000"/>
              <a:buFont typeface="Noto Sans CJK TC Regular" panose="020B0500000000000000" pitchFamily="34" charset="-128"/>
              <a:buChar char="◣"/>
            </a:pPr>
            <a:r>
              <a:rPr lang="en-GB" b="1" dirty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 </a:t>
            </a:r>
            <a:r>
              <a:rPr lang="zh-CN" altLang="en-US" b="1" dirty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 答案</a:t>
            </a:r>
            <a:endParaRPr lang="en-HK" altLang="zh-CN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CN" altLang="en-US" dirty="0">
                <a:latin typeface="Myriad Pro" panose="020B0503030403020204" pitchFamily="34" charset="0"/>
              </a:rPr>
              <a:t>答案是 </a:t>
            </a:r>
            <a:r>
              <a:rPr lang="en-GB" dirty="0">
                <a:latin typeface="Myriad Pro" panose="020B0503030403020204" pitchFamily="34" charset="0"/>
              </a:rPr>
              <a:t>C。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71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解決專題研習中的問題時，為什麼需要準確界定問題的範圍？</a:t>
            </a:r>
            <a:endParaRPr lang="en-US" altLang="zh-TW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lvl="1"/>
            <a:r>
              <a:rPr lang="en-HK" sz="2000" dirty="0">
                <a:latin typeface="+mn-lt"/>
              </a:rPr>
              <a:t>	(1) </a:t>
            </a:r>
            <a:r>
              <a:rPr lang="zh-TW" altLang="en-US" sz="2000" dirty="0">
                <a:latin typeface="+mn-lt"/>
              </a:rPr>
              <a:t>若誤解問題，就會使用錯誤的解決方法</a:t>
            </a:r>
            <a:endParaRPr lang="en-HK" sz="2000" dirty="0">
              <a:latin typeface="+mn-lt"/>
            </a:endParaRPr>
          </a:p>
          <a:p>
            <a:pPr lvl="1"/>
            <a:r>
              <a:rPr lang="en-HK" sz="2000" dirty="0">
                <a:latin typeface="+mn-lt"/>
              </a:rPr>
              <a:t>	(2) </a:t>
            </a:r>
            <a:r>
              <a:rPr lang="zh-TW" altLang="en-US" sz="2000" dirty="0">
                <a:latin typeface="+mn-lt"/>
              </a:rPr>
              <a:t>能夠通過流程圖清楚展現方案</a:t>
            </a:r>
            <a:endParaRPr lang="en-HK" sz="2000" dirty="0">
              <a:latin typeface="+mn-lt"/>
            </a:endParaRPr>
          </a:p>
          <a:p>
            <a:pPr lvl="1"/>
            <a:r>
              <a:rPr lang="en-HK" sz="2000" dirty="0">
                <a:latin typeface="+mn-lt"/>
              </a:rPr>
              <a:t>	(3) </a:t>
            </a:r>
            <a:r>
              <a:rPr lang="zh-TW" altLang="en-US" sz="2000" dirty="0">
                <a:latin typeface="+mn-lt"/>
              </a:rPr>
              <a:t>能把大問題細分為子問題</a:t>
            </a:r>
            <a:endParaRPr lang="en-HK" sz="2000" dirty="0">
              <a:latin typeface="+mn-lt"/>
            </a:endParaRPr>
          </a:p>
          <a:p>
            <a:pPr lvl="1"/>
            <a:endParaRPr lang="en-HK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sz="2000" dirty="0">
                <a:latin typeface="+mn-lt"/>
              </a:rPr>
              <a:t> 只有 </a:t>
            </a:r>
            <a:r>
              <a:rPr lang="en-US" altLang="zh-CN" sz="2000" dirty="0">
                <a:latin typeface="+mn-lt"/>
              </a:rPr>
              <a:t>(1)</a:t>
            </a:r>
            <a:endParaRPr lang="en-HK" sz="2000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sz="2000" dirty="0">
                <a:latin typeface="+mn-lt"/>
              </a:rPr>
              <a:t> 只有 </a:t>
            </a:r>
            <a:r>
              <a:rPr lang="en-US" altLang="zh-CN" sz="2000" dirty="0">
                <a:latin typeface="+mn-lt"/>
              </a:rPr>
              <a:t>(3)</a:t>
            </a:r>
            <a:endParaRPr lang="en-HK" sz="2000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sz="2000" dirty="0">
                <a:latin typeface="+mn-lt"/>
              </a:rPr>
              <a:t> 只有 </a:t>
            </a:r>
            <a:r>
              <a:rPr lang="en-US" altLang="zh-CN" sz="2000" dirty="0">
                <a:latin typeface="+mn-lt"/>
              </a:rPr>
              <a:t>(1) </a:t>
            </a:r>
            <a:r>
              <a:rPr lang="zh-CN" altLang="en-US" sz="2000" dirty="0">
                <a:latin typeface="+mn-lt"/>
              </a:rPr>
              <a:t>和 </a:t>
            </a:r>
            <a:r>
              <a:rPr lang="en-US" altLang="zh-CN" sz="2000" dirty="0">
                <a:latin typeface="+mn-lt"/>
              </a:rPr>
              <a:t>(3)</a:t>
            </a:r>
            <a:endParaRPr lang="en-HK" sz="2000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sz="2000" dirty="0">
                <a:latin typeface="+mn-lt"/>
              </a:rPr>
              <a:t> </a:t>
            </a:r>
            <a:r>
              <a:rPr lang="en-US" altLang="zh-CN" sz="2000" dirty="0">
                <a:latin typeface="+mn-lt"/>
              </a:rPr>
              <a:t>(1)</a:t>
            </a:r>
            <a:r>
              <a:rPr lang="zh-CN" altLang="en-US" sz="2000" dirty="0">
                <a:latin typeface="+mn-lt"/>
              </a:rPr>
              <a:t>、</a:t>
            </a:r>
            <a:r>
              <a:rPr lang="en-US" altLang="zh-CN" sz="2000" dirty="0">
                <a:latin typeface="+mn-lt"/>
              </a:rPr>
              <a:t>(2) </a:t>
            </a:r>
            <a:r>
              <a:rPr lang="zh-CN" altLang="en-US" sz="2000" dirty="0">
                <a:latin typeface="+mn-lt"/>
              </a:rPr>
              <a:t>和 </a:t>
            </a:r>
            <a:r>
              <a:rPr lang="en-US" altLang="zh-CN" sz="2000" dirty="0">
                <a:latin typeface="+mn-lt"/>
              </a:rPr>
              <a:t>(3)</a:t>
            </a:r>
            <a:endParaRPr lang="en-US" sz="2000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 smtClean="0"/>
              <a:t>1.1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62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分析問題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輸入 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處理 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輸出周期</a:t>
            </a:r>
            <a:r>
              <a:rPr lang="zh-TW" altLang="en-US" dirty="0"/>
              <a:t>是一套用於分析問題的框架。</a:t>
            </a:r>
          </a:p>
          <a:p>
            <a:endParaRPr lang="zh-TW" altLang="en-US" dirty="0"/>
          </a:p>
          <a:p>
            <a:r>
              <a:rPr lang="zh-TW" altLang="en-US" dirty="0"/>
              <a:t>以計算人體的身體質量指數（</a:t>
            </a:r>
            <a:r>
              <a:rPr lang="en-US" altLang="zh-TW" dirty="0"/>
              <a:t>Body Mass Index, BMI</a:t>
            </a:r>
            <a:r>
              <a:rPr lang="zh-TW" altLang="en-US" dirty="0"/>
              <a:t>）為例：</a:t>
            </a:r>
          </a:p>
          <a:p>
            <a:endParaRPr lang="en-GB" dirty="0"/>
          </a:p>
        </p:txBody>
      </p:sp>
      <p:graphicFrame>
        <p:nvGraphicFramePr>
          <p:cNvPr id="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82189"/>
              </p:ext>
            </p:extLst>
          </p:nvPr>
        </p:nvGraphicFramePr>
        <p:xfrm>
          <a:off x="1918800" y="3271673"/>
          <a:ext cx="8127999" cy="2327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  <a:gridCol w="2709333"/>
              </a:tblGrid>
              <a:tr h="53555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</a:tr>
              <a:tr h="179195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體重（</a:t>
                      </a:r>
                      <a:r>
                        <a:rPr lang="en-US" altLang="zh-TW" dirty="0" smtClean="0"/>
                        <a:t>kg</a:t>
                      </a:r>
                      <a:r>
                        <a:rPr lang="zh-TW" altLang="en-US" dirty="0" smtClean="0"/>
                        <a:t>）、身高（</a:t>
                      </a:r>
                      <a:r>
                        <a:rPr lang="en-US" altLang="zh-TW" dirty="0" smtClean="0"/>
                        <a:t>m</a:t>
                      </a:r>
                      <a:r>
                        <a:rPr lang="zh-TW" altLang="en-US" dirty="0" smtClean="0"/>
                        <a:t>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運算</a:t>
                      </a:r>
                      <a:endParaRPr lang="en-HK" altLang="zh-TW" dirty="0" smtClean="0"/>
                    </a:p>
                    <a:p>
                      <a:pPr algn="ctr"/>
                      <a:endParaRPr lang="en-HK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（</a:t>
                      </a:r>
                      <a:r>
                        <a:rPr lang="en-US" altLang="zh-TW" dirty="0" smtClean="0"/>
                        <a:t>BMI = </a:t>
                      </a:r>
                      <a:r>
                        <a:rPr lang="zh-TW" altLang="en-US" dirty="0" smtClean="0"/>
                        <a:t>體重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TW" altLang="en-US" dirty="0" smtClean="0"/>
                        <a:t>身高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zh-TW" altLang="en-US" dirty="0" smtClean="0"/>
                        <a:t>）</a:t>
                      </a:r>
                    </a:p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身體質量指數</a:t>
                      </a:r>
                    </a:p>
                    <a:p>
                      <a:pPr algn="ctr"/>
                      <a:r>
                        <a:rPr lang="zh-TW" altLang="en-US" dirty="0" smtClean="0"/>
                        <a:t>（</a:t>
                      </a:r>
                      <a:r>
                        <a:rPr lang="en-US" altLang="zh-TW" dirty="0" smtClean="0"/>
                        <a:t>BMI</a:t>
                      </a:r>
                      <a:r>
                        <a:rPr lang="zh-TW" altLang="en-US" dirty="0" smtClean="0"/>
                        <a:t>）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94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  <a:ea typeface="+mj-ea"/>
              </a:rPr>
              <a:t>試</a:t>
            </a:r>
            <a:r>
              <a:rPr lang="zh-TW" altLang="en-US" dirty="0" smtClean="0">
                <a:latin typeface="+mn-lt"/>
                <a:ea typeface="+mj-ea"/>
              </a:rPr>
              <a:t>填寫課本第 </a:t>
            </a:r>
            <a:r>
              <a:rPr lang="en-US" altLang="zh-TW" dirty="0" smtClean="0">
                <a:latin typeface="+mn-lt"/>
                <a:ea typeface="+mj-ea"/>
              </a:rPr>
              <a:t>8 </a:t>
            </a:r>
            <a:r>
              <a:rPr lang="zh-TW" altLang="en-US" dirty="0" smtClean="0">
                <a:latin typeface="+mn-lt"/>
                <a:ea typeface="+mj-ea"/>
              </a:rPr>
              <a:t>頁的</a:t>
            </a:r>
            <a:r>
              <a:rPr lang="zh-TW" altLang="en-US" dirty="0">
                <a:latin typeface="+mn-lt"/>
                <a:ea typeface="+mj-ea"/>
              </a:rPr>
              <a:t>輸入 </a:t>
            </a:r>
            <a:r>
              <a:rPr lang="en-US" altLang="zh-TW" dirty="0">
                <a:latin typeface="+mn-lt"/>
                <a:ea typeface="+mj-ea"/>
              </a:rPr>
              <a:t>— </a:t>
            </a:r>
            <a:r>
              <a:rPr lang="zh-TW" altLang="en-US" dirty="0">
                <a:latin typeface="+mn-lt"/>
                <a:ea typeface="+mj-ea"/>
              </a:rPr>
              <a:t>處理 </a:t>
            </a:r>
            <a:r>
              <a:rPr lang="en-US" altLang="zh-TW" dirty="0">
                <a:latin typeface="+mn-lt"/>
                <a:ea typeface="+mj-ea"/>
              </a:rPr>
              <a:t>— </a:t>
            </a:r>
            <a:r>
              <a:rPr lang="zh-TW" altLang="en-US" dirty="0">
                <a:latin typeface="+mn-lt"/>
                <a:ea typeface="+mj-ea"/>
              </a:rPr>
              <a:t>輸出周期表格以分析問題</a:t>
            </a:r>
            <a:r>
              <a:rPr lang="zh-TW" altLang="en-US" dirty="0" smtClean="0">
                <a:latin typeface="+mn-lt"/>
                <a:ea typeface="+mj-ea"/>
              </a:rPr>
              <a:t>：</a:t>
            </a:r>
            <a:endParaRPr lang="en-US" altLang="zh-TW" dirty="0" smtClean="0">
              <a:latin typeface="+mn-lt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latin typeface="+mn-lt"/>
                <a:ea typeface="+mj-ea"/>
              </a:rPr>
              <a:t> </a:t>
            </a:r>
            <a:r>
              <a:rPr lang="en-US" altLang="zh-TW" dirty="0" smtClean="0">
                <a:latin typeface="+mn-lt"/>
                <a:ea typeface="+mj-ea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altLang="zh-TW" dirty="0">
              <a:latin typeface="+mn-lt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dirty="0" smtClean="0">
              <a:latin typeface="+mn-lt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dirty="0">
              <a:latin typeface="+mn-lt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latin typeface="+mn-lt"/>
                <a:ea typeface="+mj-ea"/>
              </a:rPr>
              <a:t> 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1.2</a:t>
            </a:r>
            <a:endParaRPr lang="en-GB" dirty="0"/>
          </a:p>
        </p:txBody>
      </p:sp>
      <p:graphicFrame>
        <p:nvGraphicFramePr>
          <p:cNvPr id="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761410"/>
              </p:ext>
            </p:extLst>
          </p:nvPr>
        </p:nvGraphicFramePr>
        <p:xfrm>
          <a:off x="1929477" y="2013678"/>
          <a:ext cx="8127999" cy="1646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  <a:gridCol w="2709333"/>
              </a:tblGrid>
              <a:tr h="44134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05346">
                <a:tc>
                  <a:txBody>
                    <a:bodyPr/>
                    <a:lstStyle/>
                    <a:p>
                      <a:endParaRPr lang="en-US" dirty="0">
                        <a:latin typeface="Noto Sans CJK TC Light TC Light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 TC Light"/>
                        </a:rPr>
                        <a:t>運算（公式）</a:t>
                      </a:r>
                      <a:endParaRPr lang="en-US" dirty="0">
                        <a:latin typeface="Noto Sans CJK TC Light TC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Noto Sans CJK TC Light TC Light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7"/>
          <p:cNvSpPr txBox="1"/>
          <p:nvPr/>
        </p:nvSpPr>
        <p:spPr>
          <a:xfrm>
            <a:off x="2269375" y="2726575"/>
            <a:ext cx="211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貸款本金、利率、付款次數</a:t>
            </a:r>
            <a:endParaRPr lang="en-US" dirty="0">
              <a:solidFill>
                <a:srgbClr val="FF0000"/>
              </a:solidFill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7547956" y="2865074"/>
            <a:ext cx="228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每月所需供款、利息</a:t>
            </a:r>
          </a:p>
        </p:txBody>
      </p:sp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03782"/>
              </p:ext>
            </p:extLst>
          </p:nvPr>
        </p:nvGraphicFramePr>
        <p:xfrm>
          <a:off x="1935018" y="4122340"/>
          <a:ext cx="8127999" cy="16466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  <a:gridCol w="2709333"/>
              </a:tblGrid>
              <a:tr h="44134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20534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9"/>
          <p:cNvSpPr txBox="1"/>
          <p:nvPr/>
        </p:nvSpPr>
        <p:spPr>
          <a:xfrm>
            <a:off x="2269375" y="4774275"/>
            <a:ext cx="211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從循線感應器獲得數據</a:t>
            </a:r>
            <a:endParaRPr lang="en-US" dirty="0">
              <a:solidFill>
                <a:srgbClr val="FF0000"/>
              </a:solidFill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4951615" y="4912774"/>
            <a:ext cx="211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判斷車身位置</a:t>
            </a:r>
            <a:endParaRPr lang="en-US" dirty="0">
              <a:solidFill>
                <a:srgbClr val="FF0000"/>
              </a:solidFill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7633855" y="4776936"/>
            <a:ext cx="211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控制摩打讓機械車循線而行</a:t>
            </a:r>
            <a:endParaRPr lang="en-US" dirty="0">
              <a:solidFill>
                <a:srgbClr val="FF0000"/>
              </a:solidFill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356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+mn-lt"/>
              </a:rPr>
              <a:t>小欣想利用程式計算文具店的利潤。以下哪項是與這個程式相關的「輸入」？</a:t>
            </a:r>
            <a:endParaRPr lang="en-US" altLang="zh-TW" dirty="0">
              <a:latin typeface="+mn-l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	</a:t>
            </a:r>
            <a:r>
              <a:rPr lang="en-HK" dirty="0">
                <a:latin typeface="+mn-lt"/>
              </a:rPr>
              <a:t>(1) </a:t>
            </a:r>
            <a:r>
              <a:rPr lang="zh-TW" altLang="en-US" dirty="0">
                <a:latin typeface="+mn-lt"/>
              </a:rPr>
              <a:t>文具店的利潤</a:t>
            </a:r>
            <a:endParaRPr lang="en-HK" dirty="0">
              <a:latin typeface="+mn-lt"/>
            </a:endParaRPr>
          </a:p>
          <a:p>
            <a:pPr lvl="1"/>
            <a:r>
              <a:rPr lang="en-HK" altLang="zh-CN" dirty="0">
                <a:latin typeface="+mn-lt"/>
              </a:rPr>
              <a:t>	(2) </a:t>
            </a:r>
            <a:r>
              <a:rPr lang="zh-CN" altLang="en-US" dirty="0">
                <a:latin typeface="+mn-lt"/>
              </a:rPr>
              <a:t>文具的成本</a:t>
            </a:r>
            <a:endParaRPr lang="en-HK" altLang="zh-CN" dirty="0">
              <a:latin typeface="+mn-lt"/>
            </a:endParaRPr>
          </a:p>
          <a:p>
            <a:pPr lvl="1"/>
            <a:r>
              <a:rPr lang="en-HK" altLang="zh-CN" dirty="0">
                <a:latin typeface="+mn-lt"/>
              </a:rPr>
              <a:t>	(3) </a:t>
            </a:r>
            <a:r>
              <a:rPr lang="zh-CN" altLang="en-US" dirty="0">
                <a:latin typeface="+mn-lt"/>
              </a:rPr>
              <a:t>文具的銷售</a:t>
            </a:r>
            <a:endParaRPr lang="en-HK" altLang="zh-CN" dirty="0">
              <a:latin typeface="+mn-lt"/>
            </a:endParaRPr>
          </a:p>
          <a:p>
            <a:pPr lvl="1"/>
            <a:endParaRPr lang="en-HK" altLang="zh-CN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dirty="0">
                <a:latin typeface="+mn-lt"/>
              </a:rPr>
              <a:t> 只有 </a:t>
            </a:r>
            <a:r>
              <a:rPr lang="en-US" altLang="zh-CN" dirty="0">
                <a:latin typeface="+mn-lt"/>
              </a:rPr>
              <a:t>(1)</a:t>
            </a:r>
            <a:r>
              <a:rPr lang="zh-CN" altLang="en-US" dirty="0">
                <a:latin typeface="+mn-lt"/>
              </a:rPr>
              <a:t>、</a:t>
            </a:r>
            <a:r>
              <a:rPr lang="en-US" altLang="zh-CN" dirty="0">
                <a:latin typeface="+mn-lt"/>
              </a:rPr>
              <a:t>(2)</a:t>
            </a:r>
            <a:endParaRPr lang="en-HK" altLang="zh-CN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dirty="0">
                <a:latin typeface="+mn-lt"/>
              </a:rPr>
              <a:t> 只有 </a:t>
            </a:r>
            <a:r>
              <a:rPr lang="en-US" altLang="zh-CN" dirty="0">
                <a:latin typeface="+mn-lt"/>
              </a:rPr>
              <a:t>(1)</a:t>
            </a:r>
            <a:r>
              <a:rPr lang="zh-CN" altLang="en-US" dirty="0">
                <a:latin typeface="+mn-lt"/>
              </a:rPr>
              <a:t>、</a:t>
            </a:r>
            <a:r>
              <a:rPr lang="en-US" altLang="zh-CN" dirty="0">
                <a:latin typeface="+mn-lt"/>
              </a:rPr>
              <a:t>(3)</a:t>
            </a:r>
            <a:endParaRPr lang="en-HK" altLang="zh-CN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dirty="0">
                <a:latin typeface="+mn-lt"/>
              </a:rPr>
              <a:t> 只有 </a:t>
            </a:r>
            <a:r>
              <a:rPr lang="en-US" altLang="zh-CN" dirty="0">
                <a:latin typeface="+mn-lt"/>
              </a:rPr>
              <a:t>(2)</a:t>
            </a:r>
            <a:r>
              <a:rPr lang="zh-CN" altLang="en-US" dirty="0">
                <a:latin typeface="+mn-lt"/>
              </a:rPr>
              <a:t>、</a:t>
            </a:r>
            <a:r>
              <a:rPr lang="en-US" altLang="zh-CN" dirty="0">
                <a:latin typeface="+mn-lt"/>
              </a:rPr>
              <a:t>(3)</a:t>
            </a:r>
            <a:endParaRPr lang="en-HK" altLang="zh-CN" dirty="0">
              <a:latin typeface="+mn-lt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(1)</a:t>
            </a:r>
            <a:r>
              <a:rPr lang="zh-CN" altLang="en-US" dirty="0">
                <a:latin typeface="+mn-lt"/>
              </a:rPr>
              <a:t>、</a:t>
            </a:r>
            <a:r>
              <a:rPr lang="en-US" altLang="zh-CN" dirty="0">
                <a:latin typeface="+mn-lt"/>
              </a:rPr>
              <a:t>(2) </a:t>
            </a:r>
            <a:r>
              <a:rPr lang="zh-CN" altLang="en-US" dirty="0">
                <a:latin typeface="+mn-lt"/>
              </a:rPr>
              <a:t>和 </a:t>
            </a:r>
            <a:r>
              <a:rPr lang="en-US" altLang="zh-CN" dirty="0">
                <a:latin typeface="+mn-lt"/>
              </a:rPr>
              <a:t>(3)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86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dirty="0" smtClean="0">
                <a:latin typeface="+mn-lt"/>
              </a:rPr>
              <a:t>小</a:t>
            </a:r>
            <a:r>
              <a:rPr lang="zh-TW" altLang="en-US" dirty="0">
                <a:latin typeface="+mn-lt"/>
              </a:rPr>
              <a:t>明想編寫一個運用畢氏定理計算直角三角形斜邊長度的程式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 smtClean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 smtClean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試寫出與這個程式相關的輸入、處理和輸出。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1.2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7628"/>
            <a:ext cx="3919214" cy="20842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844063"/>
              </p:ext>
            </p:extLst>
          </p:nvPr>
        </p:nvGraphicFramePr>
        <p:xfrm>
          <a:off x="1352062" y="4852051"/>
          <a:ext cx="9532815" cy="13816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7605"/>
                <a:gridCol w="3177605"/>
                <a:gridCol w="3177605"/>
              </a:tblGrid>
              <a:tr h="405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9759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16042" y="5423836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兩個直角邊邊長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(a </a:t>
            </a:r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和 </a:t>
            </a:r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b</a:t>
            </a:r>
            <a:r>
              <a:rPr lang="en-US" altLang="zh-TW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)</a:t>
            </a:r>
            <a:endParaRPr lang="en-US" altLang="zh-TW" dirty="0">
              <a:solidFill>
                <a:srgbClr val="FF0000"/>
              </a:solidFill>
              <a:ea typeface="Noto Sans CJK TC Light" panose="020B03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94377" y="5428741"/>
            <a:ext cx="2203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運算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( c = √(</a:t>
            </a:r>
            <a:r>
              <a:rPr lang="en-US" altLang="zh-TW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a</a:t>
            </a:r>
            <a:r>
              <a:rPr lang="en-US" altLang="zh-TW" baseline="30000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+ </a:t>
            </a:r>
            <a:r>
              <a:rPr lang="en-US" altLang="zh-TW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b</a:t>
            </a:r>
            <a:r>
              <a:rPr lang="en-US" altLang="zh-TW" baseline="30000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  <a:ea typeface="Noto Sans CJK TC Light" panose="020B0300000000000000" pitchFamily="34" charset="-128"/>
              </a:rPr>
              <a:t>) </a:t>
            </a:r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088" y="5562335"/>
            <a:ext cx="220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斜邊長度 </a:t>
            </a:r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421962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拆解問題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1.3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拆解問題</a:t>
            </a:r>
            <a:r>
              <a:rPr lang="zh-TW" altLang="en-US" dirty="0"/>
              <a:t>指把問題拆解成數個細小而容易處理的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子問題</a:t>
            </a:r>
            <a:r>
              <a:rPr lang="zh-TW" altLang="en-US" dirty="0"/>
              <a:t>，並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由上而下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/ 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分而治之</a:t>
            </a:r>
            <a:r>
              <a:rPr lang="zh-TW" altLang="en-US" dirty="0"/>
              <a:t>的策略來解決問題。</a:t>
            </a:r>
          </a:p>
          <a:p>
            <a:endParaRPr lang="en-GB" dirty="0"/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773" y="2686068"/>
            <a:ext cx="6028058" cy="30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6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精益求精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拆解問題時，可以把已拆開的模組進一步分拆，讓每個模組都變得更易處理，這個過程名為「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精益求精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/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逐步求精法</a:t>
            </a:r>
            <a:r>
              <a:rPr lang="zh-TW" altLang="en-US" dirty="0"/>
              <a:t>」。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35" y="2417886"/>
            <a:ext cx="6892123" cy="407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9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輸入、處理和輸出模組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在拆解問題的過程中，你可能會發現一些模組正正代表着「</a:t>
            </a:r>
            <a:r>
              <a:rPr lang="zh-TW" altLang="en-US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輸入 </a:t>
            </a:r>
            <a:r>
              <a:rPr lang="en-US" altLang="zh-TW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處理 </a:t>
            </a:r>
            <a:r>
              <a:rPr lang="en-US" altLang="zh-TW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輸出</a:t>
            </a:r>
            <a:r>
              <a:rPr lang="zh-TW" altLang="en-US" dirty="0"/>
              <a:t>」周期中的各個部分。</a:t>
            </a:r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175318"/>
              </p:ext>
            </p:extLst>
          </p:nvPr>
        </p:nvGraphicFramePr>
        <p:xfrm>
          <a:off x="950547" y="2856195"/>
          <a:ext cx="10198098" cy="2876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9366"/>
                <a:gridCol w="3399366"/>
                <a:gridCol w="3399366"/>
              </a:tblGrid>
              <a:tr h="47609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52" y="3478650"/>
            <a:ext cx="2684101" cy="21530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130" y="3478650"/>
            <a:ext cx="1533739" cy="22101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689" y="3420162"/>
            <a:ext cx="1453050" cy="221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5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辨別相似問題的共同元素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1.4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模式識別</a:t>
            </a:r>
            <a:r>
              <a:rPr lang="zh-TW" altLang="en-US" dirty="0"/>
              <a:t>是用以發掘不同問題中相似的規律，以運用相近的方法解決問題。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969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dirty="0">
                <a:latin typeface="+mn-lt"/>
              </a:rPr>
              <a:t>試在課本 </a:t>
            </a:r>
            <a:r>
              <a:rPr lang="en-US" altLang="zh-TW" dirty="0">
                <a:latin typeface="+mn-lt"/>
              </a:rPr>
              <a:t>P. 14 </a:t>
            </a:r>
            <a:r>
              <a:rPr lang="zh-TW" altLang="en-US" dirty="0">
                <a:latin typeface="+mn-lt"/>
              </a:rPr>
              <a:t>寫出解決問題的方法。</a:t>
            </a:r>
          </a:p>
          <a:p>
            <a:r>
              <a:rPr lang="en-US" altLang="zh-TW" dirty="0">
                <a:solidFill>
                  <a:srgbClr val="FF0000"/>
                </a:solidFill>
                <a:latin typeface="+mn-lt"/>
              </a:rPr>
              <a:t>(1)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體重，最輕的</a:t>
            </a:r>
          </a:p>
          <a:p>
            <a:r>
              <a:rPr lang="en-US" altLang="zh-TW" dirty="0">
                <a:solidFill>
                  <a:srgbClr val="FF0000"/>
                </a:solidFill>
                <a:latin typeface="+mn-lt"/>
              </a:rPr>
              <a:t>(2)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最輕的</a:t>
            </a:r>
          </a:p>
          <a:p>
            <a:r>
              <a:rPr lang="en-US" altLang="zh-TW" dirty="0">
                <a:solidFill>
                  <a:srgbClr val="FF0000"/>
                </a:solidFill>
                <a:latin typeface="+mn-lt"/>
              </a:rPr>
              <a:t>(3)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輕至重</a:t>
            </a:r>
          </a:p>
          <a:p>
            <a:endParaRPr lang="zh-TW" altLang="en-US" dirty="0">
              <a:latin typeface="+mn-lt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zh-TW" altLang="en-US" dirty="0">
                <a:latin typeface="+mn-lt"/>
              </a:rPr>
              <a:t> 若老師要求學生按照體重由重至輕順序排列，試寫出解決這個問題的方法</a:t>
            </a:r>
            <a:r>
              <a:rPr lang="zh-TW" altLang="en-US" dirty="0" smtClean="0">
                <a:latin typeface="+mn-lt"/>
              </a:rPr>
              <a:t>。</a:t>
            </a:r>
            <a:endParaRPr lang="zh-TW" altLang="en-US" dirty="0">
              <a:latin typeface="+mn-lt"/>
            </a:endParaRPr>
          </a:p>
          <a:p>
            <a:r>
              <a:rPr lang="en-HK" altLang="zh-TW" dirty="0" smtClean="0">
                <a:solidFill>
                  <a:srgbClr val="FF0000"/>
                </a:solidFill>
                <a:latin typeface="+mn-lt"/>
              </a:rPr>
              <a:t>(1) 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列出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所有學生的體重，從中找出最重的，抽出來排在第一。</a:t>
            </a:r>
          </a:p>
          <a:p>
            <a:r>
              <a:rPr lang="en-HK" altLang="zh-TW" dirty="0" smtClean="0">
                <a:solidFill>
                  <a:srgbClr val="FF0000"/>
                </a:solidFill>
                <a:latin typeface="+mn-lt"/>
              </a:rPr>
              <a:t>(2) 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從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剩下的學生之中找出最重的，抽出來排在第二。</a:t>
            </a:r>
          </a:p>
          <a:p>
            <a:r>
              <a:rPr lang="en-HK" altLang="zh-TW" dirty="0" smtClean="0">
                <a:solidFill>
                  <a:srgbClr val="FF0000"/>
                </a:solidFill>
                <a:latin typeface="+mn-lt"/>
              </a:rPr>
              <a:t>(3) </a:t>
            </a:r>
            <a:r>
              <a:rPr lang="zh-TW" altLang="en-US" dirty="0" smtClean="0">
                <a:solidFill>
                  <a:srgbClr val="FF0000"/>
                </a:solidFill>
                <a:latin typeface="+mn-lt"/>
              </a:rPr>
              <a:t>如此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類推，便可將全班學生由重至輕排序。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164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試回答</a:t>
            </a:r>
            <a:r>
              <a:rPr lang="zh-TW" altLang="en-US" dirty="0" smtClean="0">
                <a:latin typeface="+mn-lt"/>
              </a:rPr>
              <a:t>課本第 </a:t>
            </a:r>
            <a:r>
              <a:rPr lang="en-US" altLang="zh-TW" dirty="0" smtClean="0">
                <a:latin typeface="+mn-lt"/>
              </a:rPr>
              <a:t>17 </a:t>
            </a:r>
            <a:r>
              <a:rPr lang="zh-TW" altLang="en-US" dirty="0" smtClean="0">
                <a:latin typeface="+mn-lt"/>
              </a:rPr>
              <a:t>頁的</a:t>
            </a:r>
            <a:r>
              <a:rPr lang="zh-TW" altLang="en-US" dirty="0">
                <a:latin typeface="+mn-lt"/>
              </a:rPr>
              <a:t>問題。</a:t>
            </a:r>
          </a:p>
          <a:p>
            <a:endParaRPr lang="zh-TW" altLang="en-US" dirty="0">
              <a:solidFill>
                <a:srgbClr val="FF0000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rgbClr val="FF0000"/>
                </a:solidFill>
                <a:latin typeface="+mn-lt"/>
              </a:rPr>
              <a:t>D</a:t>
            </a:r>
          </a:p>
          <a:p>
            <a:pPr marL="457200" indent="-457200">
              <a:buFont typeface="+mj-lt"/>
              <a:buAutoNum type="arabicPeriod"/>
            </a:pPr>
            <a:endParaRPr lang="en-US" altLang="zh-TW" dirty="0">
              <a:solidFill>
                <a:srgbClr val="FF0000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+mn-lt"/>
              </a:rPr>
              <a:t>將重複次數改為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4 </a:t>
            </a:r>
            <a:r>
              <a:rPr lang="zh-TW" altLang="en-US" dirty="0">
                <a:solidFill>
                  <a:srgbClr val="FF0000"/>
                </a:solidFill>
                <a:latin typeface="+mn-lt"/>
              </a:rPr>
              <a:t>次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25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設計用戶界面和元件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1.5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從程式的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輸入 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處理 </a:t>
            </a:r>
            <a:r>
              <a:rPr lang="en-US" altLang="zh-TW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— </a:t>
            </a:r>
            <a:r>
              <a:rPr lang="zh-TW" altLang="en-US" dirty="0">
                <a:solidFill>
                  <a:srgbClr val="595A9C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輸出周期中</a:t>
            </a:r>
            <a:r>
              <a:rPr lang="zh-TW" altLang="en-US" dirty="0"/>
              <a:t>，我們可以知道程式會讀取哪些輸入，並可運</a:t>
            </a:r>
          </a:p>
          <a:p>
            <a:r>
              <a:rPr lang="zh-TW" altLang="en-US" dirty="0"/>
              <a:t>用線框稿去起草程式的用戶界面和當中應包含的元件：</a:t>
            </a:r>
          </a:p>
          <a:p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25" y="2668540"/>
            <a:ext cx="6663225" cy="349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8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解難程序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1.6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運用編程解決問題的過程大致可分為六個步驟：</a:t>
            </a:r>
            <a:endParaRPr lang="en-GB" dirty="0"/>
          </a:p>
        </p:txBody>
      </p:sp>
      <p:pic>
        <p:nvPicPr>
          <p:cNvPr id="7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16" y="3057525"/>
            <a:ext cx="10971818" cy="6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2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以下哪一個是解難程序的正確次序？</a:t>
            </a:r>
            <a:endParaRPr lang="en-US" altLang="zh-TW" dirty="0">
              <a:latin typeface="Myriad Pro" panose="020B0503030403020204" pitchFamily="34" charset="0"/>
            </a:endParaRPr>
          </a:p>
          <a:p>
            <a:pPr lvl="1"/>
            <a:endParaRPr lang="en-US" dirty="0">
              <a:latin typeface="Myriad Pro" panose="020B0503030403020204" pitchFamily="34" charset="0"/>
            </a:endParaRPr>
          </a:p>
          <a:p>
            <a:pPr lvl="1"/>
            <a:r>
              <a:rPr lang="en-HK" sz="2000" dirty="0">
                <a:latin typeface="Myriad Pro" panose="020B0503030403020204" pitchFamily="34" charset="0"/>
              </a:rPr>
              <a:t>	(1) </a:t>
            </a:r>
            <a:r>
              <a:rPr lang="zh-TW" altLang="en-US" sz="2000" dirty="0">
                <a:latin typeface="Myriad Pro" panose="020B0503030403020204" pitchFamily="34" charset="0"/>
              </a:rPr>
              <a:t>進行測試及除錯</a:t>
            </a:r>
            <a:endParaRPr lang="en-HK" sz="2000" dirty="0">
              <a:latin typeface="Myriad Pro" panose="020B0503030403020204" pitchFamily="34" charset="0"/>
            </a:endParaRPr>
          </a:p>
          <a:p>
            <a:pPr lvl="1"/>
            <a:r>
              <a:rPr lang="en-HK" sz="2000" dirty="0">
                <a:latin typeface="Myriad Pro" panose="020B0503030403020204" pitchFamily="34" charset="0"/>
              </a:rPr>
              <a:t>	(2) </a:t>
            </a:r>
            <a:r>
              <a:rPr lang="zh-CN" altLang="en-US" sz="2000" dirty="0">
                <a:latin typeface="Myriad Pro" panose="020B0503030403020204" pitchFamily="34" charset="0"/>
              </a:rPr>
              <a:t>定義問題</a:t>
            </a:r>
            <a:endParaRPr lang="en-HK" sz="2000" dirty="0">
              <a:latin typeface="Myriad Pro" panose="020B0503030403020204" pitchFamily="34" charset="0"/>
            </a:endParaRPr>
          </a:p>
          <a:p>
            <a:pPr lvl="1"/>
            <a:r>
              <a:rPr lang="en-HK" sz="2000" dirty="0">
                <a:latin typeface="Myriad Pro" panose="020B0503030403020204" pitchFamily="34" charset="0"/>
              </a:rPr>
              <a:t>	(3) </a:t>
            </a:r>
            <a:r>
              <a:rPr lang="zh-CN" altLang="en-US" sz="2000" dirty="0">
                <a:latin typeface="Myriad Pro" panose="020B0503030403020204" pitchFamily="34" charset="0"/>
              </a:rPr>
              <a:t>編寫程式</a:t>
            </a:r>
            <a:endParaRPr lang="en-HK" sz="2000" dirty="0">
              <a:latin typeface="Myriad Pro" panose="020B0503030403020204" pitchFamily="34" charset="0"/>
            </a:endParaRPr>
          </a:p>
          <a:p>
            <a:pPr lvl="1"/>
            <a:r>
              <a:rPr lang="en-HK" sz="2000" dirty="0">
                <a:latin typeface="Myriad Pro" panose="020B0503030403020204" pitchFamily="34" charset="0"/>
              </a:rPr>
              <a:t>	(4) </a:t>
            </a:r>
            <a:r>
              <a:rPr lang="zh-CN" altLang="en-US" sz="2000" dirty="0">
                <a:latin typeface="Myriad Pro" panose="020B0503030403020204" pitchFamily="34" charset="0"/>
              </a:rPr>
              <a:t>算法設計</a:t>
            </a:r>
            <a:endParaRPr lang="en-HK" sz="2000" dirty="0">
              <a:latin typeface="Myriad Pro" panose="020B0503030403020204" pitchFamily="34" charset="0"/>
            </a:endParaRPr>
          </a:p>
          <a:p>
            <a:pPr lvl="1"/>
            <a:endParaRPr lang="en-HK" dirty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en-HK" sz="2000" dirty="0">
                <a:latin typeface="Myriad Pro" panose="020B0503030403020204" pitchFamily="34" charset="0"/>
              </a:rPr>
              <a:t>(2) </a:t>
            </a:r>
            <a:r>
              <a:rPr lang="en-HK" sz="2000" dirty="0">
                <a:latin typeface="Myriad Pro" panose="020B0503030403020204" pitchFamily="34" charset="0"/>
                <a:sym typeface="Wingdings" panose="05000000000000000000" pitchFamily="2" charset="2"/>
              </a:rPr>
              <a:t> (4)  (1)  (3)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HK" sz="2000" dirty="0">
                <a:latin typeface="Myriad Pro" panose="020B0503030403020204" pitchFamily="34" charset="0"/>
              </a:rPr>
              <a:t>(2) </a:t>
            </a:r>
            <a:r>
              <a:rPr lang="en-HK" sz="2000" dirty="0">
                <a:latin typeface="Myriad Pro" panose="020B0503030403020204" pitchFamily="34" charset="0"/>
                <a:sym typeface="Wingdings" panose="05000000000000000000" pitchFamily="2" charset="2"/>
              </a:rPr>
              <a:t> (4)  (3)  (1)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HK" sz="2000" dirty="0">
                <a:latin typeface="Myriad Pro" panose="020B0503030403020204" pitchFamily="34" charset="0"/>
              </a:rPr>
              <a:t>(4) </a:t>
            </a:r>
            <a:r>
              <a:rPr lang="en-HK" sz="2000" dirty="0">
                <a:latin typeface="Myriad Pro" panose="020B0503030403020204" pitchFamily="34" charset="0"/>
                <a:sym typeface="Wingdings" panose="05000000000000000000" pitchFamily="2" charset="2"/>
              </a:rPr>
              <a:t> (2)  (1)  (3)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HK" sz="2000" dirty="0">
                <a:latin typeface="Myriad Pro" panose="020B0503030403020204" pitchFamily="34" charset="0"/>
              </a:rPr>
              <a:t>(4) </a:t>
            </a:r>
            <a:r>
              <a:rPr lang="en-HK" sz="2000" dirty="0">
                <a:latin typeface="Myriad Pro" panose="020B0503030403020204" pitchFamily="34" charset="0"/>
                <a:sym typeface="Wingdings" panose="05000000000000000000" pitchFamily="2" charset="2"/>
              </a:rPr>
              <a:t> (2)  (3)  (1)</a:t>
            </a:r>
            <a:endParaRPr lang="en-HK" sz="2000" dirty="0">
              <a:latin typeface="Myriad Pro" panose="020B0503030403020204" pitchFamily="34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1.4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31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15</TotalTime>
  <Words>855</Words>
  <Application>Microsoft Office PowerPoint</Application>
  <PresentationFormat>寬螢幕</PresentationFormat>
  <Paragraphs>165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31" baseType="lpstr">
      <vt:lpstr>Noto Sans CJK TC Bold</vt:lpstr>
      <vt:lpstr>Noto Sans CJK TC Light</vt:lpstr>
      <vt:lpstr>Noto Sans CJK TC Light TC Light</vt:lpstr>
      <vt:lpstr>Noto Sans CJK TC Medium</vt:lpstr>
      <vt:lpstr>Noto Sans CJK TC Regular</vt:lpstr>
      <vt:lpstr>新細明體</vt:lpstr>
      <vt:lpstr>宋体</vt:lpstr>
      <vt:lpstr>Arial</vt:lpstr>
      <vt:lpstr>Myriad Pro</vt:lpstr>
      <vt:lpstr>Tw Cen MT</vt:lpstr>
      <vt:lpstr>Wingdings</vt:lpstr>
      <vt:lpstr>DSEPPT_HK_Kelie_20220801</vt:lpstr>
      <vt:lpstr>第一課 問題建構和分析</vt:lpstr>
      <vt:lpstr>PowerPoint 簡報</vt:lpstr>
      <vt:lpstr> 界定問題</vt:lpstr>
      <vt:lpstr>PowerPoint 簡報</vt:lpstr>
      <vt:lpstr>PowerPoint 簡報</vt:lpstr>
      <vt:lpstr>PowerPoint 簡報</vt:lpstr>
      <vt:lpstr> 分析問題</vt:lpstr>
      <vt:lpstr>PowerPoint 簡報</vt:lpstr>
      <vt:lpstr>PowerPoint 簡報</vt:lpstr>
      <vt:lpstr>PowerPoint 簡報</vt:lpstr>
      <vt:lpstr> 拆解問題</vt:lpstr>
      <vt:lpstr> 精益求精</vt:lpstr>
      <vt:lpstr> 輸入、處理和輸出模組</vt:lpstr>
      <vt:lpstr>辨別相似問題的共同元素</vt:lpstr>
      <vt:lpstr>PowerPoint 簡報</vt:lpstr>
      <vt:lpstr>PowerPoint 簡報</vt:lpstr>
      <vt:lpstr> 設計用戶界面和元件</vt:lpstr>
      <vt:lpstr> 解難程序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5</cp:revision>
  <dcterms:created xsi:type="dcterms:W3CDTF">2022-08-16T02:09:00Z</dcterms:created>
  <dcterms:modified xsi:type="dcterms:W3CDTF">2022-08-16T07:49:28Z</dcterms:modified>
</cp:coreProperties>
</file>