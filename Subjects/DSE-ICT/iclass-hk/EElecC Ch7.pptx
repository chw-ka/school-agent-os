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00" r:id="rId21"/>
    <p:sldId id="301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02" r:id="rId30"/>
    <p:sldId id="284" r:id="rId31"/>
    <p:sldId id="285" r:id="rId32"/>
    <p:sldId id="303" r:id="rId33"/>
    <p:sldId id="304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A3D4"/>
    <a:srgbClr val="504F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7C56F-506D-1CBF-DAEA-5491D0196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314554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E4C03-EDAE-8A34-CB24-BDAA03524E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4093472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7C5F1C-1E54-2755-BD09-8B53BEC6C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42367" cy="505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B2444-920A-39A5-579B-B54FCADA56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511760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1E0BB-AC62-05F4-05B8-418A002D64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2660909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75235-0293-8136-6524-0EEAD91BBF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1813564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7CD102-4498-ACB1-C72C-8082CD0325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2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8E981E-C35F-E8F8-DE42-4B0CC68BF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86487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FA34B-69E2-DB1D-D9D7-52FE3BD9BD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7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66CFB-18D0-6F75-8C97-40CC53CD96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91136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16255-5138-F681-0D2B-20384F1BB2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8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C0BD9D-B8ED-5511-960F-8CA63E3A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17F345-65C2-2CD1-DC0D-64AC50F1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11348A-7A65-4D63-9999-43FC28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6142E-F691-EA8F-3DCD-7E4A78F2E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C15972-37F2-DAE7-8C10-98E52C04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BB63A3-9AB5-EBAC-F6F9-327B2213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212307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9B736-CC97-6F5A-03D8-7FA0AF19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704400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3E1F40-9013-EBB0-F98A-0AFCFACA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17099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9646B7-AEA6-E416-7BF3-052FDD7D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7612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MISCONCEPTION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THINK ABOUT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84AD40"/>
                </a:solidFill>
              </a:rPr>
              <a:t>TIP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ANALOGY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ENRICHMENT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HISTORICAL NOTE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6993D"/>
                </a:solidFill>
              </a:rPr>
              <a:t>RESOURCE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7/10/2023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25" r:id="rId6"/>
    <p:sldLayoutId id="2147483726" r:id="rId7"/>
    <p:sldLayoutId id="2147483727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21" r:id="rId15"/>
    <p:sldLayoutId id="2147483722" r:id="rId16"/>
    <p:sldLayoutId id="2147483723" r:id="rId17"/>
    <p:sldLayoutId id="2147483724" r:id="rId18"/>
    <p:sldLayoutId id="2147483706" r:id="rId19"/>
    <p:sldLayoutId id="2147483707" r:id="rId20"/>
    <p:sldLayoutId id="2147483708" r:id="rId21"/>
    <p:sldLayoutId id="2147483709" r:id="rId22"/>
    <p:sldLayoutId id="2147483712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10" r:id="rId31"/>
    <p:sldLayoutId id="2147483711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none" baseline="0">
          <a:solidFill>
            <a:srgbClr val="606060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7</a:t>
            </a:r>
            <a:br>
              <a:rPr lang="en-US" dirty="0" smtClean="0"/>
            </a:br>
            <a:r>
              <a:rPr lang="en-US" dirty="0" smtClean="0"/>
              <a:t>Handling of Text 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4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Content from Text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Programs often require users to input information. We have learnt about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  <a:r>
              <a:rPr lang="en-US" dirty="0"/>
              <a:t> function in Python to obtain information input by users.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383" y="3232786"/>
            <a:ext cx="3898434" cy="255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4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Content from Text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However, every time when the program is run, users need to input pieces of information one by one, until they input a specific string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/>
              <a:t>) for exiting the program.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823" y="2711258"/>
            <a:ext cx="7977554" cy="33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5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Content from Text Files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Other than receiving the information directly input by users, Python programs can also obtain information from plain text files (e.g. files in TXT, CSV or JSON format).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Therefore</a:t>
            </a:r>
            <a:r>
              <a:rPr lang="en-US" dirty="0"/>
              <a:t>, when the program has a large number of inputs or outputs, it is more convenient to read the content from or write the content to text files.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840" y="2704004"/>
            <a:ext cx="3726753" cy="249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6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Opening text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Python, the most important function for handling text files is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US" dirty="0"/>
              <a:t> function. This function requires two parameters: file name and extension of the text file and the mode.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854" y="3228832"/>
            <a:ext cx="6241492" cy="145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8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Opening text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There are four modes for opening a file: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52" y="2394021"/>
            <a:ext cx="10243295" cy="249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6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Opening text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After completing file operations, remember to use the close() function to close the file.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125" y="3280828"/>
            <a:ext cx="4674950" cy="133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2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whether a text file exists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If the file to be opened does not exist, a run-time error occurs in the program. </a:t>
            </a:r>
            <a:endParaRPr lang="en-US" dirty="0" smtClean="0"/>
          </a:p>
          <a:p>
            <a:endParaRPr lang="en-US"/>
          </a:p>
          <a:p>
            <a:r>
              <a:rPr lang="en-US" smtClean="0"/>
              <a:t>To </a:t>
            </a:r>
            <a:r>
              <a:rPr lang="en-US" dirty="0"/>
              <a:t>avoid this, we should check whether a file exists before trying to open it. We can import the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 smtClean="0"/>
              <a:t> </a:t>
            </a:r>
            <a:r>
              <a:rPr lang="en-US" dirty="0"/>
              <a:t>library and 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path.exists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to check whether the file or the path exists.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390" y="4157018"/>
            <a:ext cx="6351613" cy="114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3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whether a text file exists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This function returns a Boolean value: it returns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if the file exists; otherwise it returns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027" y="2777760"/>
            <a:ext cx="5925146" cy="21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9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 text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Complete Lab 7.1 on P.278 of the textbook.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88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file streaming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Python treats content in a document as continuous character streams. 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a document is opened, the system generates a hidden pointer to indicate the position being read at the moment, i.e. point to the first character. </a:t>
            </a: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14" y="3077018"/>
            <a:ext cx="9338171" cy="127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8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file streaming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text files, there are some special characters for controlling the </a:t>
            </a:r>
            <a:r>
              <a:rPr lang="en-US" dirty="0" smtClean="0"/>
              <a:t>formats </a:t>
            </a:r>
            <a:r>
              <a:rPr lang="en-US" dirty="0"/>
              <a:t>of printing and display. Usually such characters are not shown </a:t>
            </a:r>
            <a:r>
              <a:rPr lang="en-US" dirty="0" smtClean="0"/>
              <a:t>in </a:t>
            </a:r>
            <a:r>
              <a:rPr lang="en-US" dirty="0"/>
              <a:t>the document editor, but they are still stored in the text </a:t>
            </a:r>
            <a:r>
              <a:rPr lang="en-US" dirty="0" smtClean="0"/>
              <a:t>files:</a:t>
            </a:r>
          </a:p>
          <a:p>
            <a:endParaRPr lang="en-US" dirty="0" smtClean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504FA1"/>
                </a:solidFill>
              </a:rPr>
              <a:t>Line Feed (LF)</a:t>
            </a:r>
            <a:r>
              <a:rPr lang="en-US" dirty="0" smtClean="0"/>
              <a:t> character “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 smtClean="0"/>
              <a:t>” is stored </a:t>
            </a:r>
            <a:br>
              <a:rPr lang="en-US" dirty="0" smtClean="0"/>
            </a:br>
            <a:r>
              <a:rPr lang="en-US" dirty="0" smtClean="0"/>
              <a:t>at the end of every line;</a:t>
            </a:r>
          </a:p>
          <a:p>
            <a:pPr>
              <a:buClr>
                <a:schemeClr val="tx1"/>
              </a:buClr>
            </a:pPr>
            <a:endParaRPr lang="en-US" dirty="0" smtClean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504FA1"/>
                </a:solidFill>
              </a:rPr>
              <a:t>End </a:t>
            </a:r>
            <a:r>
              <a:rPr lang="en-US" b="1" dirty="0">
                <a:solidFill>
                  <a:srgbClr val="504FA1"/>
                </a:solidFill>
              </a:rPr>
              <a:t>Of File (EOF)</a:t>
            </a:r>
            <a:r>
              <a:rPr lang="en-US" dirty="0">
                <a:solidFill>
                  <a:srgbClr val="504FA1"/>
                </a:solidFill>
              </a:rPr>
              <a:t> </a:t>
            </a:r>
            <a:r>
              <a:rPr lang="en-US" dirty="0"/>
              <a:t>character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dirty="0"/>
              <a:t>” is stored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at </a:t>
            </a:r>
            <a:r>
              <a:rPr lang="en-US" dirty="0"/>
              <a:t>the end of the text </a:t>
            </a:r>
            <a:r>
              <a:rPr lang="en-US" dirty="0" smtClean="0"/>
              <a:t>file</a:t>
            </a:r>
            <a:r>
              <a:rPr lang="en-US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554" y="3260301"/>
            <a:ext cx="4138701" cy="27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1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file streaming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Python,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dirty="0"/>
              <a:t> function is used to read a document until it detects the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dirty="0" smtClean="0"/>
              <a:t>; </a:t>
            </a:r>
            <a:r>
              <a:rPr lang="en-US" dirty="0"/>
              <a:t>while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is used to read a document until it detects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/>
              <a:t> or reaches the end of the file.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Take </a:t>
            </a:r>
            <a:r>
              <a:rPr lang="en-US" dirty="0"/>
              <a:t>the following Python program as an example: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32" y="3743277"/>
            <a:ext cx="9047735" cy="228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8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file streaming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. When the document is opened, the hidden pointer points to the first character.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3240148"/>
            <a:ext cx="10845931" cy="85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3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file streaming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in the second line starts reading the document until the hidden pointer moves to the character after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/>
              <a:t> character.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10" y="3700834"/>
            <a:ext cx="10925699" cy="92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0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file streaming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in the third line starts reading the document from the position where the hidden pointer last stopped, until the hidden pointer moves to the character after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/>
              <a:t> character.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93" y="3651284"/>
            <a:ext cx="10573707" cy="82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3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file streaming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4.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in the fourth line starts reading the document from the position where the hidden pointer last stopped. Since no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/>
              <a:t> is detected by the time the function reached the end of file, the function stops reading.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78" y="3817689"/>
            <a:ext cx="9565643" cy="120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6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file streaming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/>
              <a:t>5. The hidden pointer reaches the end of file character.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in the fifth line returns an empty string.</a:t>
            </a:r>
          </a:p>
        </p:txBody>
      </p:sp>
    </p:spTree>
    <p:extLst>
      <p:ext uri="{BB962C8B-B14F-4D97-AF65-F5344CB8AC3E}">
        <p14:creationId xmlns:p14="http://schemas.microsoft.com/office/powerpoint/2010/main" val="383579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Shirley </a:t>
            </a:r>
            <a:r>
              <a:rPr lang="en-US" dirty="0"/>
              <a:t>has received the following text file “NewMember.txt”. The document stores the list of new members who join the Table Tennis Club this year, and each line shows a member’s name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She </a:t>
            </a:r>
            <a:r>
              <a:rPr lang="en-US" dirty="0"/>
              <a:t>writes the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newMemberList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to save the new members’ names in the document to list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member</a:t>
            </a:r>
            <a:r>
              <a:rPr lang="en-US" dirty="0"/>
              <a:t>, and then return this list:</a:t>
            </a:r>
          </a:p>
          <a:p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7.1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006" y="2486798"/>
            <a:ext cx="3339850" cy="19401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876" y="2476883"/>
            <a:ext cx="2913646" cy="19599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663" y="5470135"/>
            <a:ext cx="9380674" cy="7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6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the following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newMemberList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in Python</a:t>
            </a:r>
            <a:r>
              <a:rPr lang="en-US" dirty="0" smtClean="0"/>
              <a:t>.</a:t>
            </a: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newMemberList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member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open("NewMember.txt", "r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name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while ________________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member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member + [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name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f.close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7.1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75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7A3D4"/>
                </a:solidFill>
              </a:rPr>
              <a:t>◣ Solution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(name) &gt; 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7.1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48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Processing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Same as numbers (integers and floats), strings are one of the most frequently processed data types in Python</a:t>
            </a:r>
            <a:r>
              <a:rPr lang="en-US" dirty="0" smtClean="0"/>
              <a:t>. In </a:t>
            </a:r>
            <a:r>
              <a:rPr lang="en-US" dirty="0"/>
              <a:t>this section, we will learn more ways to process strings in Python.</a:t>
            </a:r>
          </a:p>
        </p:txBody>
      </p:sp>
    </p:spTree>
    <p:extLst>
      <p:ext uri="{BB962C8B-B14F-4D97-AF65-F5344CB8AC3E}">
        <p14:creationId xmlns:p14="http://schemas.microsoft.com/office/powerpoint/2010/main" val="418173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 strings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Python provides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lang="en-US" dirty="0"/>
              <a:t> function for us to search a string for the target string, and then return the search result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target string is found, the function returns the index of its first </a:t>
            </a:r>
            <a:r>
              <a:rPr lang="en-US" dirty="0" smtClean="0"/>
              <a:t>occurrence;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target string is not found, the function returns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909" y="4757502"/>
            <a:ext cx="4397381" cy="129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7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strings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An English sentence is formed by multiple words, which are separated from one another by whitespaces.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We </a:t>
            </a:r>
            <a:r>
              <a:rPr lang="en-US" dirty="0"/>
              <a:t>can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split()</a:t>
            </a:r>
            <a:r>
              <a:rPr lang="en-US" dirty="0"/>
              <a:t> function to split words into list items, and then the function returns this list. The following is a sample Python program: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24" y="3961563"/>
            <a:ext cx="10331259" cy="209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8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strings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Apart from splitting strings by the default </a:t>
            </a:r>
            <a:r>
              <a:rPr lang="en-US" b="1" dirty="0">
                <a:solidFill>
                  <a:srgbClr val="504FA1"/>
                </a:solidFill>
              </a:rPr>
              <a:t>delimiter</a:t>
            </a:r>
            <a:r>
              <a:rPr lang="en-US" dirty="0"/>
              <a:t> (i.e. whitespaces), we can specify another delimiter.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split()</a:t>
            </a:r>
            <a:r>
              <a:rPr lang="en-US" dirty="0"/>
              <a:t> function uses the input parameter as the delimiter.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Sample Python grogram: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00" y="3387847"/>
            <a:ext cx="10515000" cy="211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7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Replacing strings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often have to update the content of text files. Python provides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replace()</a:t>
            </a:r>
            <a:r>
              <a:rPr lang="en-US" dirty="0"/>
              <a:t> function, which returns the new string after the specified string has been updated.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5" y="3520344"/>
            <a:ext cx="4850596" cy="9978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69" y="2910462"/>
            <a:ext cx="3997171" cy="267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6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Replacing strings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Sample </a:t>
            </a:r>
            <a:r>
              <a:rPr lang="en-US" dirty="0"/>
              <a:t>Python program: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0" y="3260587"/>
            <a:ext cx="6221468" cy="137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2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Checkpoint 7.1 on P. 286 of the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a)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b)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7.1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86" y="2400152"/>
            <a:ext cx="8267480" cy="16869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886" y="4487638"/>
            <a:ext cx="9172825" cy="151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0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c)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d)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7.1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910" y="1443600"/>
            <a:ext cx="9282801" cy="15698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910" y="3474078"/>
            <a:ext cx="9224003" cy="19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8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Content into Text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7.3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Complete Lab </a:t>
            </a:r>
            <a:r>
              <a:rPr lang="en-US" dirty="0" smtClean="0"/>
              <a:t>7.2 </a:t>
            </a:r>
            <a:r>
              <a:rPr lang="en-US" dirty="0"/>
              <a:t>on </a:t>
            </a:r>
            <a:r>
              <a:rPr lang="en-US" dirty="0" smtClean="0"/>
              <a:t>P.288 </a:t>
            </a:r>
            <a:r>
              <a:rPr lang="en-US" dirty="0"/>
              <a:t>of the textbook.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05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Checkpoint 7.2 on P. 289 of the textbook.</a:t>
            </a:r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a)   LW </a:t>
            </a:r>
            <a:r>
              <a:rPr lang="en-US" dirty="0">
                <a:solidFill>
                  <a:srgbClr val="FF0000"/>
                </a:solidFill>
              </a:rPr>
              <a:t>LV D QLFH </a:t>
            </a:r>
            <a:r>
              <a:rPr lang="en-US" dirty="0" smtClean="0">
                <a:solidFill>
                  <a:srgbClr val="FF0000"/>
                </a:solidFill>
              </a:rPr>
              <a:t>GDB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b)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7.2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09" y="2520618"/>
            <a:ext cx="7664673" cy="36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7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d) NY NX F SNHJ </a:t>
            </a:r>
            <a:r>
              <a:rPr lang="en-US" dirty="0" smtClean="0">
                <a:solidFill>
                  <a:srgbClr val="FF0000"/>
                </a:solidFill>
              </a:rPr>
              <a:t>IFD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e) Change the code in line 6 to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encoded_char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encoded_char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X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7.2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84" y="1549767"/>
            <a:ext cx="8257563" cy="203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4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7.2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25" y="1519800"/>
            <a:ext cx="8575282" cy="211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0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 Text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7.4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can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remove()</a:t>
            </a:r>
            <a:r>
              <a:rPr lang="en-US" dirty="0"/>
              <a:t> function in the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-US" dirty="0"/>
              <a:t>” library to delete </a:t>
            </a:r>
            <a:r>
              <a:rPr lang="en-US" dirty="0" smtClean="0"/>
              <a:t>files: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Similarly</a:t>
            </a:r>
            <a:r>
              <a:rPr lang="en-US" dirty="0"/>
              <a:t>, to avoid run-time errors, we should check whether a file exists before trying to delete it.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49" y="2335415"/>
            <a:ext cx="4567589" cy="10150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03" y="4205294"/>
            <a:ext cx="4785479" cy="208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4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Records in a Text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7.5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Unlike internal </a:t>
            </a:r>
            <a:r>
              <a:rPr lang="en-US" dirty="0"/>
              <a:t>data (stored in variables) of a program, data stored in external files </a:t>
            </a:r>
            <a:r>
              <a:rPr lang="en-US" dirty="0" smtClean="0"/>
              <a:t>does </a:t>
            </a:r>
            <a:r>
              <a:rPr lang="en-US" dirty="0"/>
              <a:t>not disappear even when the program ends or the computer shuts </a:t>
            </a:r>
            <a:r>
              <a:rPr lang="en-US" dirty="0" smtClean="0"/>
              <a:t>down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This </a:t>
            </a:r>
            <a:r>
              <a:rPr lang="en-US" dirty="0"/>
              <a:t>chapter will show you how to update records in a text </a:t>
            </a:r>
            <a:r>
              <a:rPr lang="en-US" dirty="0" smtClean="0"/>
              <a:t>file.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37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Records in a Text File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7.5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/>
              <a:t>referring to the format of data storage in a database, we can store and display data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dirty="0"/>
              <a:t>rows and columns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column is a </a:t>
            </a:r>
            <a:r>
              <a:rPr lang="en-US" b="1" dirty="0">
                <a:solidFill>
                  <a:srgbClr val="504FA1"/>
                </a:solidFill>
              </a:rPr>
              <a:t>field</a:t>
            </a:r>
            <a:r>
              <a:rPr lang="en-US" dirty="0" smtClean="0"/>
              <a:t>;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row is a </a:t>
            </a:r>
            <a:r>
              <a:rPr lang="en-US" b="1" dirty="0">
                <a:solidFill>
                  <a:srgbClr val="504FA1"/>
                </a:solidFill>
              </a:rPr>
              <a:t>record</a:t>
            </a:r>
            <a:r>
              <a:rPr lang="en-US" dirty="0" smtClean="0"/>
              <a:t>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70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Records in a Text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7.5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Take the following table that stores contact information as an example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/>
              <a:t>Assume that we store the above data in a text file “phonebook.txt”, each line represents the record of a contact and each field is delimited by a semicolon. The format is as follows: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186" y="2176052"/>
            <a:ext cx="5231610" cy="16588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085" y="4835256"/>
            <a:ext cx="5613813" cy="158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1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records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update records in a text file by a program, we need to load the data into the program first, and then store and process the data in a two-dimensional list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following two-dimensional list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en-US" dirty="0"/>
              <a:t> displays the contact information in the text file “phonebook.txt”: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362" y="3949200"/>
            <a:ext cx="6324191" cy="214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8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records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load_record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saves the contact information in the text file to two-dimensional list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en-US" dirty="0"/>
              <a:t>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925" y="2869200"/>
            <a:ext cx="6291349" cy="275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records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print_record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print the items of </a:t>
            </a:r>
            <a:r>
              <a:rPr lang="en-US" dirty="0" smtClean="0"/>
              <a:t>two-dimensional </a:t>
            </a:r>
            <a:r>
              <a:rPr lang="en-US" dirty="0"/>
              <a:t>list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en-US" dirty="0"/>
              <a:t> in table format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/>
              <a:t>The following is the output in the shell after loading the data and calling the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print_record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904" y="2399852"/>
            <a:ext cx="5343827" cy="14988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00" y="4742753"/>
            <a:ext cx="5646200" cy="154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8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 for records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search_recordByFirstname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uses linear search to search for the existence of the target name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/>
              <a:t> in the list, and returns the search result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555" y="3387379"/>
            <a:ext cx="6116090" cy="193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5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 records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delete_recordByFirstname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replaces the whole record of the target name </a:t>
            </a:r>
            <a:r>
              <a:rPr lang="en-US" dirty="0" err="1"/>
              <a:t>firstname</a:t>
            </a:r>
            <a:r>
              <a:rPr lang="en-US" dirty="0"/>
              <a:t> with the string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  <a:r>
              <a:rPr lang="en-US" dirty="0"/>
              <a:t>” to indicate that the record has been </a:t>
            </a:r>
            <a:r>
              <a:rPr lang="en-US" dirty="0" smtClean="0"/>
              <a:t>deleted: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32" y="2967840"/>
            <a:ext cx="5811535" cy="197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4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records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is the output in the shell after loading the data and calling the sub-programs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delete_recordByFirstname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("Gary")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print_ record()</a:t>
            </a:r>
            <a:r>
              <a:rPr lang="en-US" dirty="0"/>
              <a:t> sequentially: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74" y="2869200"/>
            <a:ext cx="8080852" cy="219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6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a Text File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writes all the items of </a:t>
            </a:r>
            <a:r>
              <a:rPr lang="en-US" dirty="0" smtClean="0"/>
              <a:t>two-dimensional </a:t>
            </a:r>
            <a:r>
              <a:rPr lang="en-US" dirty="0"/>
              <a:t>list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en-US" dirty="0"/>
              <a:t> to the text file once again in a specific format: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26" y="2838583"/>
            <a:ext cx="10131947" cy="222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0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a Text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content of the updated text file “phonebook.txt” is as follows: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950" y="2529427"/>
            <a:ext cx="7435382" cy="20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6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records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add_record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firstname,lastname,noType,number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appends the record of a contact to the text file.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61" y="3041816"/>
            <a:ext cx="8711677" cy="133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3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records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content of the text file “phonebook.txt” after calling the </a:t>
            </a:r>
            <a:r>
              <a:rPr lang="en-US" dirty="0" smtClean="0"/>
              <a:t>sub-program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add_record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("Jay","Chow","Home","26573012")</a:t>
            </a:r>
            <a:r>
              <a:rPr lang="en-US" dirty="0"/>
              <a:t> is as follows: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589" y="3137316"/>
            <a:ext cx="6004536" cy="199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EN_Kelie_20230427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870A11EB-92D6-4F97-997A-48342F7B5A00}" vid="{0765A16F-C91A-4B03-A6B8-7E4395E092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DSEPPT_EN_Kelie_20230427</Template>
  <TotalTime>439</TotalTime>
  <Words>1458</Words>
  <Application>Microsoft Office PowerPoint</Application>
  <PresentationFormat>Widescreen</PresentationFormat>
  <Paragraphs>251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Noto Sans CJK KR Black</vt:lpstr>
      <vt:lpstr>Arial</vt:lpstr>
      <vt:lpstr>Courier New</vt:lpstr>
      <vt:lpstr>Myriad Pro</vt:lpstr>
      <vt:lpstr>Tw Cen MT</vt:lpstr>
      <vt:lpstr>DSEPPT_EN_Kelie_20230427</vt:lpstr>
      <vt:lpstr>Chapter 7 Handling of Text Files</vt:lpstr>
      <vt:lpstr>Reading Content from Text Files</vt:lpstr>
      <vt:lpstr>Reading Content from Text Files</vt:lpstr>
      <vt:lpstr>Reading Content from Text Files</vt:lpstr>
      <vt:lpstr>Opening text files</vt:lpstr>
      <vt:lpstr>Opening text files</vt:lpstr>
      <vt:lpstr>Opening text files</vt:lpstr>
      <vt:lpstr>Checking whether a text file exists</vt:lpstr>
      <vt:lpstr>Checking whether a text file exists</vt:lpstr>
      <vt:lpstr>Reading text files</vt:lpstr>
      <vt:lpstr>Text file streaming</vt:lpstr>
      <vt:lpstr>Text file streaming</vt:lpstr>
      <vt:lpstr>Text file streaming</vt:lpstr>
      <vt:lpstr>Text file streaming</vt:lpstr>
      <vt:lpstr>Text file streaming</vt:lpstr>
      <vt:lpstr>Text file streaming</vt:lpstr>
      <vt:lpstr>Text file streaming</vt:lpstr>
      <vt:lpstr>Text file streaming</vt:lpstr>
      <vt:lpstr>PowerPoint Presentation</vt:lpstr>
      <vt:lpstr>PowerPoint Presentation</vt:lpstr>
      <vt:lpstr>PowerPoint Presentation</vt:lpstr>
      <vt:lpstr>String Processing</vt:lpstr>
      <vt:lpstr>Searching strings</vt:lpstr>
      <vt:lpstr>Splitting strings</vt:lpstr>
      <vt:lpstr>Splitting strings</vt:lpstr>
      <vt:lpstr>Replacing strings</vt:lpstr>
      <vt:lpstr>Replacing strings</vt:lpstr>
      <vt:lpstr>PowerPoint Presentation</vt:lpstr>
      <vt:lpstr>PowerPoint Presentation</vt:lpstr>
      <vt:lpstr>Writing Content into Text Files</vt:lpstr>
      <vt:lpstr>PowerPoint Presentation</vt:lpstr>
      <vt:lpstr>PowerPoint Presentation</vt:lpstr>
      <vt:lpstr>PowerPoint Presentation</vt:lpstr>
      <vt:lpstr>Deleting Text Files</vt:lpstr>
      <vt:lpstr>Updating Records in a Text File</vt:lpstr>
      <vt:lpstr>Updating Records in a Text File</vt:lpstr>
      <vt:lpstr>Updating Records in a Text File</vt:lpstr>
      <vt:lpstr>Loading records</vt:lpstr>
      <vt:lpstr>Loading records</vt:lpstr>
      <vt:lpstr>Loading records</vt:lpstr>
      <vt:lpstr>Searching for records</vt:lpstr>
      <vt:lpstr>Deleting records</vt:lpstr>
      <vt:lpstr>Deleting records</vt:lpstr>
      <vt:lpstr>Updating a Text File</vt:lpstr>
      <vt:lpstr>Updating a Text File</vt:lpstr>
      <vt:lpstr>Adding records</vt:lpstr>
      <vt:lpstr>Adding records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Handling of Text Files</dc:title>
  <dc:creator>iClass</dc:creator>
  <cp:lastModifiedBy>iClass</cp:lastModifiedBy>
  <cp:revision>26</cp:revision>
  <dcterms:created xsi:type="dcterms:W3CDTF">2023-07-04T08:31:24Z</dcterms:created>
  <dcterms:modified xsi:type="dcterms:W3CDTF">2023-07-10T06:32:09Z</dcterms:modified>
</cp:coreProperties>
</file>