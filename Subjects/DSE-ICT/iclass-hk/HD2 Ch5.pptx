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5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70" autoAdjust="0"/>
  </p:normalViewPr>
  <p:slideViewPr>
    <p:cSldViewPr snapToGrid="0">
      <p:cViewPr varScale="1">
        <p:scale>
          <a:sx n="60" d="100"/>
          <a:sy n="60" d="100"/>
        </p:scale>
        <p:origin x="96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TW" altLang="en-US" sz="5400" b="1" dirty="0">
                <a:solidFill>
                  <a:srgbClr val="00A0A9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明德資訊及通訊科技</a:t>
            </a:r>
            <a:endParaRPr lang="en-GB" altLang="zh-TW" sz="5400" b="1" dirty="0">
              <a:solidFill>
                <a:srgbClr val="00A0A9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47D0310-AA82-8F1E-85B7-9D84E0B5E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113404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941542A-A967-C085-B406-0716C05FA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787011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1A92E3-3244-CFBD-6601-65380FC61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189260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9066DD1-D16A-E0C9-4F5E-5F3B3D94F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9331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0A19B2-6EE3-F634-8DE6-6BB0ACDC93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513027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959AFF4-B8A0-A3C7-7993-7FA7109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CEF8422-2834-DB27-5926-614C333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3A5034A-907A-8C5B-D5CC-924E35AB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278B562-C8FA-FAB0-08D4-4DD48144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8F1F850-D926-8BC4-36C0-7FD5EF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xmlns="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EDC08FA-FC71-5479-9731-ACADDACDB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934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378BB05-006A-84B6-7DC5-1C78180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6379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E1F04E3-1448-35F1-6590-2963551E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70901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6D7C970-CC55-F612-1833-02A18D88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4383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常見錯誤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試想想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84AD40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提示</a:t>
            </a:r>
            <a:endParaRPr lang="en-US" b="0" i="0" dirty="0">
              <a:solidFill>
                <a:srgbClr val="84AD40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類比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擴闊視野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古往今來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xmlns="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C6993D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網上資源</a:t>
            </a:r>
            <a:endParaRPr lang="en-US" b="0" i="0" dirty="0">
              <a:solidFill>
                <a:srgbClr val="C6993D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xmlns="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8/19/2022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21" r:id="rId12"/>
    <p:sldLayoutId id="2147483722" r:id="rId13"/>
    <p:sldLayoutId id="2147483723" r:id="rId14"/>
    <p:sldLayoutId id="2147483724" r:id="rId15"/>
    <p:sldLayoutId id="2147483706" r:id="rId16"/>
    <p:sldLayoutId id="2147483707" r:id="rId17"/>
    <p:sldLayoutId id="2147483708" r:id="rId18"/>
    <p:sldLayoutId id="2147483709" r:id="rId19"/>
    <p:sldLayoutId id="2147483712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10" r:id="rId28"/>
    <p:sldLayoutId id="214748371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rgbClr val="606060"/>
          </a:solidFill>
          <a:latin typeface="Noto Sans CJK TC Bold" panose="020B0800000000000000" pitchFamily="34" charset="-128"/>
          <a:ea typeface="Noto Sans CJK TC Bold" panose="020B08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第五課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Python </a:t>
            </a:r>
            <a:r>
              <a:rPr lang="zh-TW" altLang="en-US" dirty="0"/>
              <a:t>綜合解難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305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zh-TW" altLang="en-US" dirty="0">
                <a:latin typeface="+mn-lt"/>
                <a:ea typeface="Noto Sans CJK TC Bold" panose="020B0800000000000000" pitchFamily="34" charset="-128"/>
              </a:rPr>
              <a:t>學會 </a:t>
            </a:r>
            <a:r>
              <a:rPr lang="en-US" altLang="zh-TW" dirty="0">
                <a:latin typeface="+mn-lt"/>
                <a:ea typeface="Noto Sans CJK TC Bold" panose="020B0800000000000000" pitchFamily="34" charset="-128"/>
              </a:rPr>
              <a:t>Python </a:t>
            </a:r>
            <a:r>
              <a:rPr lang="zh-TW" altLang="en-US" dirty="0">
                <a:latin typeface="+mn-lt"/>
                <a:ea typeface="Noto Sans CJK TC Bold" panose="020B0800000000000000" pitchFamily="34" charset="-128"/>
              </a:rPr>
              <a:t>有什麼</a:t>
            </a:r>
            <a:r>
              <a:rPr lang="zh-TW" altLang="en-US" dirty="0" smtClean="0">
                <a:latin typeface="+mn-lt"/>
                <a:ea typeface="Noto Sans CJK TC Bold" panose="020B0800000000000000" pitchFamily="34" charset="-128"/>
              </a:rPr>
              <a:t>用？</a:t>
            </a:r>
            <a:endParaRPr lang="en-US" altLang="zh-TW" dirty="0" smtClean="0">
              <a:latin typeface="+mn-lt"/>
              <a:ea typeface="Noto Sans CJK TC Bold" panose="020B0800000000000000" pitchFamily="34" charset="-128"/>
            </a:endParaRPr>
          </a:p>
          <a:p>
            <a:pPr algn="ctr"/>
            <a:r>
              <a:rPr lang="zh-TW" altLang="en-US" dirty="0">
                <a:latin typeface="+mn-lt"/>
              </a:rPr>
              <a:t>現時，</a:t>
            </a:r>
            <a:r>
              <a:rPr lang="zh-TW" altLang="en-US" dirty="0" smtClean="0">
                <a:latin typeface="+mn-lt"/>
              </a:rPr>
              <a:t>一些</a:t>
            </a:r>
            <a:r>
              <a:rPr lang="zh-TW" altLang="en-US" dirty="0">
                <a:latin typeface="+mn-lt"/>
              </a:rPr>
              <a:t>會計和金融公司甚至要求員工至少掌握一門編程語言，以方便</a:t>
            </a:r>
            <a:r>
              <a:rPr lang="zh-TW" altLang="en-US" dirty="0" smtClean="0">
                <a:latin typeface="+mn-lt"/>
              </a:rPr>
              <a:t>工作。</a:t>
            </a:r>
            <a:endParaRPr lang="en-US" altLang="zh-TW" dirty="0" smtClean="0">
              <a:latin typeface="+mn-lt"/>
            </a:endParaRPr>
          </a:p>
          <a:p>
            <a:pPr algn="ctr"/>
            <a:r>
              <a:rPr lang="zh-TW" altLang="en-US" dirty="0">
                <a:latin typeface="+mn-lt"/>
              </a:rPr>
              <a:t>在 </a:t>
            </a:r>
            <a:r>
              <a:rPr lang="en-US" altLang="zh-TW" dirty="0">
                <a:latin typeface="+mn-lt"/>
              </a:rPr>
              <a:t>2021 </a:t>
            </a:r>
            <a:r>
              <a:rPr lang="zh-TW" altLang="en-US" dirty="0">
                <a:latin typeface="+mn-lt"/>
              </a:rPr>
              <a:t>年，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名列熱門編程語言的第三位。在名單的</a:t>
            </a:r>
            <a:r>
              <a:rPr lang="zh-TW" altLang="en-US" dirty="0" smtClean="0">
                <a:latin typeface="+mn-lt"/>
              </a:rPr>
              <a:t>前十</a:t>
            </a:r>
            <a:r>
              <a:rPr lang="zh-TW" altLang="en-US" dirty="0">
                <a:latin typeface="+mn-lt"/>
              </a:rPr>
              <a:t>名中，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是最為容易、資源最多、支援最多且免費的</a:t>
            </a:r>
            <a:r>
              <a:rPr lang="zh-TW" altLang="en-US" dirty="0" smtClean="0">
                <a:latin typeface="+mn-lt"/>
              </a:rPr>
              <a:t>編程語言。</a:t>
            </a:r>
            <a:endParaRPr lang="en-GB" dirty="0">
              <a:latin typeface="+mn-lt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5" r="60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3211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列表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5.1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在第三課中，曾提及一維陣列（或稱單</a:t>
            </a:r>
            <a:r>
              <a:rPr lang="zh-TW" altLang="en-US" dirty="0" smtClean="0">
                <a:latin typeface="+mn-lt"/>
              </a:rPr>
              <a:t>陣列</a:t>
            </a:r>
            <a:r>
              <a:rPr lang="en-GB" dirty="0" smtClean="0">
                <a:latin typeface="+mn-lt"/>
              </a:rPr>
              <a:t>）</a:t>
            </a:r>
            <a:r>
              <a:rPr lang="zh-TW" altLang="en-US" dirty="0">
                <a:latin typeface="+mn-lt"/>
              </a:rPr>
              <a:t>能夠有次序地儲存一連串</a:t>
            </a:r>
            <a:r>
              <a:rPr lang="zh-TW" altLang="en-US" dirty="0" smtClean="0">
                <a:latin typeface="+mn-lt"/>
              </a:rPr>
              <a:t>數據。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 smtClean="0">
                <a:latin typeface="+mn-lt"/>
              </a:rPr>
              <a:t>可是，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裏並沒有這類</a:t>
            </a:r>
            <a:r>
              <a:rPr lang="zh-TW" altLang="en-US" dirty="0" smtClean="0">
                <a:latin typeface="+mn-lt"/>
              </a:rPr>
              <a:t>陣列。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 smtClean="0">
                <a:latin typeface="+mn-lt"/>
              </a:rPr>
              <a:t>若要達到相似效果，用戶可以使用</a:t>
            </a:r>
            <a:r>
              <a:rPr lang="zh-TW" altLang="en-US" dirty="0">
                <a:latin typeface="+mn-lt"/>
              </a:rPr>
              <a:t>另一種數據結構 </a:t>
            </a:r>
            <a:r>
              <a:rPr lang="en-US" altLang="zh-TW" dirty="0">
                <a:latin typeface="+mn-lt"/>
              </a:rPr>
              <a:t>—</a:t>
            </a:r>
            <a:r>
              <a:rPr lang="en-US" altLang="zh-TW" dirty="0">
                <a:solidFill>
                  <a:srgbClr val="595A96"/>
                </a:solidFill>
                <a:latin typeface="+mn-lt"/>
              </a:rPr>
              <a:t> </a:t>
            </a:r>
            <a:r>
              <a:rPr lang="zh-TW" altLang="en-US" dirty="0" smtClean="0">
                <a:solidFill>
                  <a:srgbClr val="595A96"/>
                </a:solidFill>
                <a:latin typeface="+mn-lt"/>
                <a:ea typeface="Noto Sans CJK TC Bold" panose="020B0800000000000000" pitchFamily="34" charset="-128"/>
              </a:rPr>
              <a:t>列表</a:t>
            </a:r>
            <a:r>
              <a:rPr lang="zh-TW" altLang="en-US" b="1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683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陣列與 </a:t>
            </a:r>
            <a:r>
              <a:rPr lang="en-GB" dirty="0"/>
              <a:t>Python </a:t>
            </a:r>
            <a:r>
              <a:rPr lang="zh-TW" altLang="en-US" dirty="0"/>
              <a:t>列表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列表是一連串以某種次序排列的</a:t>
            </a:r>
            <a:r>
              <a:rPr lang="zh-TW" altLang="en-US" dirty="0" smtClean="0"/>
              <a:t>項目</a:t>
            </a:r>
            <a:r>
              <a:rPr lang="zh-TW" altLang="en-US" dirty="0"/>
              <a:t>，而這些項目不需像陣列一樣屬於同一種數據</a:t>
            </a:r>
            <a:r>
              <a:rPr lang="zh-TW" altLang="en-US" dirty="0" smtClean="0"/>
              <a:t>類型。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/>
              <a:t>本課將重點</a:t>
            </a:r>
            <a:r>
              <a:rPr lang="zh-TW" altLang="en-US" dirty="0" smtClean="0"/>
              <a:t>實踐</a:t>
            </a:r>
            <a:r>
              <a:rPr lang="zh-TW" altLang="en-US" dirty="0"/>
              <a:t>與陣列相關的算法，故運用列表時，只會儲存同一種數據</a:t>
            </a:r>
            <a:r>
              <a:rPr lang="zh-TW" altLang="en-US" dirty="0" smtClean="0"/>
              <a:t>類型。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840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of Python lists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在 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中，我們可以通過以下方式建立列表：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715733"/>
              </p:ext>
            </p:extLst>
          </p:nvPr>
        </p:nvGraphicFramePr>
        <p:xfrm>
          <a:off x="822959" y="2535382"/>
          <a:ext cx="10598727" cy="336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1629"/>
                <a:gridCol w="5877098"/>
              </a:tblGrid>
              <a:tr h="17456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解說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/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盒子類比圖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</a:tr>
              <a:tr h="149878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list1 = ["David", "Lily", "Ben"]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8780">
                <a:tc>
                  <a:txBody>
                    <a:bodyPr/>
                    <a:lstStyle/>
                    <a:p>
                      <a:r>
                        <a:rPr lang="da-D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list2 = [34, 23, 90, 56, 100]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40" y="2992849"/>
            <a:ext cx="4250577" cy="13862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862" y="4439381"/>
            <a:ext cx="5279333" cy="142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5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Python </a:t>
            </a:r>
            <a:r>
              <a:rPr lang="zh-TW" altLang="en-US" dirty="0" smtClean="0"/>
              <a:t>列表的基本運作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要存取項目，必須</a:t>
            </a:r>
            <a:r>
              <a:rPr lang="zh-TW" altLang="en-US" dirty="0" smtClean="0"/>
              <a:t>先建立</a:t>
            </a:r>
            <a:r>
              <a:rPr lang="zh-TW" altLang="en-US" dirty="0"/>
              <a:t>列表並賦予預設值。此過程名為過程稱為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初始化</a:t>
            </a:r>
            <a:r>
              <a:rPr lang="zh-TW" altLang="en-US" dirty="0" smtClean="0"/>
              <a:t>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79609"/>
              </p:ext>
            </p:extLst>
          </p:nvPr>
        </p:nvGraphicFramePr>
        <p:xfrm>
          <a:off x="822959" y="2535382"/>
          <a:ext cx="10598727" cy="336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9659"/>
                <a:gridCol w="7099068"/>
              </a:tblGrid>
              <a:tr h="17456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解說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 </a:t>
                      </a:r>
                      <a:r>
                        <a:rPr lang="en-US" altLang="zh-TW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/ 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盒子類比圖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</a:tr>
              <a:tr h="149878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list3 = [0]*10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8780">
                <a:tc>
                  <a:txBody>
                    <a:bodyPr/>
                    <a:lstStyle/>
                    <a:p>
                      <a:r>
                        <a:rPr lang="da-D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list4 = [""]*5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187" y="3167149"/>
            <a:ext cx="6950895" cy="1164517"/>
          </a:xfrm>
          <a:prstGeom prst="rect">
            <a:avLst/>
          </a:prstGeom>
        </p:spPr>
      </p:pic>
      <p:pic>
        <p:nvPicPr>
          <p:cNvPr id="8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113" y="4439449"/>
            <a:ext cx="4493283" cy="136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4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</a:t>
            </a:r>
            <a:r>
              <a:rPr lang="zh-TW" altLang="en-US" dirty="0"/>
              <a:t>列表的基本運作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我們可通過以下方式在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Python</a:t>
            </a:r>
            <a:r>
              <a:rPr lang="zh-TW" altLang="en-US" dirty="0">
                <a:latin typeface="+mn-lt"/>
              </a:rPr>
              <a:t> </a:t>
            </a:r>
            <a:r>
              <a:rPr lang="zh-TW" altLang="en-US" dirty="0" smtClean="0">
                <a:latin typeface="+mn-lt"/>
              </a:rPr>
              <a:t>更新列表中的項目：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59988"/>
              </p:ext>
            </p:extLst>
          </p:nvPr>
        </p:nvGraphicFramePr>
        <p:xfrm>
          <a:off x="930236" y="2370037"/>
          <a:ext cx="10423564" cy="3603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1782"/>
                <a:gridCol w="521178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解說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 </a:t>
                      </a:r>
                      <a:r>
                        <a:rPr lang="en-US" altLang="zh-TW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/ 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盒子類比圖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</a:tr>
              <a:tr h="161909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list2[0] = 28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09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list2[1] = list2[2] - 5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340" y="2927389"/>
            <a:ext cx="4546974" cy="12462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340" y="4578886"/>
            <a:ext cx="4494697" cy="126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0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</a:t>
            </a:r>
            <a:r>
              <a:rPr lang="zh-TW" altLang="en-US" dirty="0"/>
              <a:t>列表的基本運作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我們可通過以下方式在</a:t>
            </a:r>
            <a:r>
              <a:rPr lang="en-US" altLang="zh-TW" dirty="0">
                <a:latin typeface="+mn-lt"/>
              </a:rPr>
              <a:t> Python</a:t>
            </a:r>
            <a:r>
              <a:rPr lang="zh-TW" altLang="en-US" dirty="0">
                <a:latin typeface="+mn-lt"/>
              </a:rPr>
              <a:t> </a:t>
            </a:r>
            <a:r>
              <a:rPr lang="zh-TW" altLang="en-US" dirty="0" smtClean="0">
                <a:latin typeface="+mn-lt"/>
              </a:rPr>
              <a:t>輸出列表：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550463"/>
              </p:ext>
            </p:extLst>
          </p:nvPr>
        </p:nvGraphicFramePr>
        <p:xfrm>
          <a:off x="955174" y="2295222"/>
          <a:ext cx="10398626" cy="34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99313"/>
                <a:gridCol w="519931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</a:tr>
              <a:tr h="1552320">
                <a:tc>
                  <a:txBody>
                    <a:bodyPr/>
                    <a:lstStyle/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list1 = ["David", "Lily", "Ben"]</a:t>
                      </a:r>
                    </a:p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print(list1[1])</a:t>
                      </a:r>
                    </a:p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print(list1[0])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Lily</a:t>
                      </a:r>
                    </a:p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David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23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list2 = [34, 23, 90, 56, 100]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range(0, 5):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print(list2[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</a:t>
                      </a:r>
                    </a:p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90</a:t>
                      </a:r>
                    </a:p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</a:t>
                      </a:r>
                    </a:p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67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</a:t>
            </a:r>
            <a:r>
              <a:rPr lang="zh-TW" altLang="en-US" dirty="0"/>
              <a:t>列表的基本運作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我們可通過以下方式在</a:t>
            </a:r>
            <a:r>
              <a:rPr lang="en-US" altLang="zh-TW" dirty="0">
                <a:latin typeface="+mn-lt"/>
              </a:rPr>
              <a:t> Python</a:t>
            </a:r>
            <a:r>
              <a:rPr lang="zh-TW" altLang="en-US" dirty="0">
                <a:latin typeface="+mn-lt"/>
              </a:rPr>
              <a:t> </a:t>
            </a:r>
            <a:r>
              <a:rPr lang="zh-TW" altLang="en-US" dirty="0" smtClean="0">
                <a:latin typeface="+mn-lt"/>
              </a:rPr>
              <a:t>複製列表</a:t>
            </a:r>
            <a:r>
              <a:rPr lang="zh-TW" altLang="en-US" dirty="0">
                <a:latin typeface="+mn-lt"/>
              </a:rPr>
              <a:t>：</a:t>
            </a:r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236860"/>
              </p:ext>
            </p:extLst>
          </p:nvPr>
        </p:nvGraphicFramePr>
        <p:xfrm>
          <a:off x="946859" y="2253659"/>
          <a:ext cx="10406940" cy="3656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3470"/>
                <a:gridCol w="520347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Explanation/ box analogy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E9D"/>
                    </a:solidFill>
                  </a:tcPr>
                </a:tc>
              </a:tr>
              <a:tr h="329093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list2 = [34, 23, 90, 56, 100]</a:t>
                      </a:r>
                    </a:p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new_list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[0]*5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range(0, 5):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new_list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list2[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E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301" y="2797440"/>
            <a:ext cx="5037670" cy="29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1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03" y="2035175"/>
            <a:ext cx="10715625" cy="3905250"/>
          </a:xfrm>
          <a:prstGeom prst="rect">
            <a:avLst/>
          </a:prstGeom>
        </p:spPr>
      </p:pic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試指出導致以下程式無法運行或執行錯誤的原因。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</a:t>
            </a:r>
            <a:endParaRPr lang="en-GB" dirty="0"/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17" y="3022235"/>
            <a:ext cx="2657846" cy="67636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970" y="4685664"/>
            <a:ext cx="3500623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7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833562"/>
            <a:ext cx="10725150" cy="3190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376" y="2113682"/>
            <a:ext cx="5124900" cy="12193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376" y="3522327"/>
            <a:ext cx="497368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0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82 </a:t>
            </a:r>
            <a:r>
              <a:rPr lang="zh-TW" altLang="en-US" dirty="0" smtClean="0">
                <a:latin typeface="+mn-lt"/>
              </a:rPr>
              <a:t>頁的活動 </a:t>
            </a:r>
            <a:r>
              <a:rPr lang="en-US" altLang="zh-TW" dirty="0" smtClean="0">
                <a:latin typeface="+mn-lt"/>
              </a:rPr>
              <a:t>5.2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450" y="1815250"/>
            <a:ext cx="8595100" cy="4488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944" y="2314483"/>
            <a:ext cx="1190791" cy="9697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943" y="3442243"/>
            <a:ext cx="1190791" cy="9697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942" y="4810227"/>
            <a:ext cx="1190791" cy="128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4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t="406"/>
          <a:stretch/>
        </p:blipFill>
        <p:spPr>
          <a:xfrm>
            <a:off x="1798637" y="1386866"/>
            <a:ext cx="8594725" cy="4973468"/>
          </a:xfrm>
          <a:prstGeom prst="rect">
            <a:avLst/>
          </a:prstGeom>
        </p:spPr>
      </p:pic>
      <p:pic>
        <p:nvPicPr>
          <p:cNvPr id="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57" y="1443600"/>
            <a:ext cx="971686" cy="1419423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57" y="2982840"/>
            <a:ext cx="971686" cy="1419423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57" y="4721761"/>
            <a:ext cx="97168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9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83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5.1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</a:t>
            </a:r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914120"/>
            <a:ext cx="7820025" cy="195948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9" y="4009268"/>
            <a:ext cx="6527915" cy="215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2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 smtClean="0">
                <a:latin typeface="+mn-lt"/>
              </a:rPr>
              <a:t>   </a:t>
            </a:r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dirty="0" smtClean="0">
              <a:latin typeface="+mn-lt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dirty="0" smtClean="0">
              <a:latin typeface="+mn-lt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5.3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12" y="1443600"/>
            <a:ext cx="8562975" cy="17621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12" y="4011612"/>
            <a:ext cx="83343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99" y="1443600"/>
            <a:ext cx="7369175" cy="464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9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列表綜合應用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通過結合</a:t>
            </a:r>
            <a:r>
              <a:rPr lang="zh-TW" altLang="en-US" dirty="0"/>
              <a:t>不同的控制結構</a:t>
            </a:r>
            <a:r>
              <a:rPr lang="zh-TW" altLang="en-US" dirty="0" smtClean="0"/>
              <a:t>，我們可以設計並建立新</a:t>
            </a:r>
            <a:r>
              <a:rPr lang="zh-TW" altLang="en-US" dirty="0"/>
              <a:t>程式，以</a:t>
            </a:r>
            <a:r>
              <a:rPr lang="zh-TW" altLang="en-US" dirty="0" smtClean="0"/>
              <a:t>解決複雜</a:t>
            </a:r>
            <a:r>
              <a:rPr lang="zh-TW" altLang="en-US" dirty="0"/>
              <a:t>的問題。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26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列表運算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以下的程式將列表的項目逐一相加，計算這位同學完成 </a:t>
            </a:r>
            <a:r>
              <a:rPr lang="en-US" altLang="zh-TW" dirty="0">
                <a:latin typeface="+mn-lt"/>
              </a:rPr>
              <a:t>800 </a:t>
            </a:r>
            <a:r>
              <a:rPr lang="zh-TW" altLang="en-US" dirty="0">
                <a:latin typeface="+mn-lt"/>
              </a:rPr>
              <a:t>米跑所</a:t>
            </a:r>
            <a:r>
              <a:rPr lang="zh-TW" altLang="en-US" dirty="0" smtClean="0">
                <a:latin typeface="+mn-lt"/>
              </a:rPr>
              <a:t>需時間：</a:t>
            </a:r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 = [15.1, 14.9, 15.6, 16.1, 16.8, 17.0, 16.9, 16.5]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total =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8):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total = total + time[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print(total) #Output: 128.9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862" y="3057125"/>
            <a:ext cx="3036849" cy="32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8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列表運算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以下的程式將列表的總和除以列表長度，以計算這位同學跑 </a:t>
            </a:r>
            <a:r>
              <a:rPr lang="en-US" altLang="zh-TW" dirty="0">
                <a:latin typeface="+mn-lt"/>
              </a:rPr>
              <a:t>100 </a:t>
            </a:r>
            <a:r>
              <a:rPr lang="zh-TW" altLang="en-US" dirty="0">
                <a:latin typeface="+mn-lt"/>
              </a:rPr>
              <a:t>米</a:t>
            </a:r>
            <a:r>
              <a:rPr lang="zh-TW" altLang="en-US" dirty="0" smtClean="0">
                <a:latin typeface="+mn-lt"/>
              </a:rPr>
              <a:t>的平均</a:t>
            </a:r>
            <a:r>
              <a:rPr lang="zh-TW" altLang="en-US" dirty="0">
                <a:latin typeface="+mn-lt"/>
              </a:rPr>
              <a:t>時間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 = [15.1, 14.9, 15.6, 16.1, 16.8, 17.0, 16.9, 16.5]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total =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8):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total = total + time[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print(total)	#Output: 128.9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total/8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		#Output: 16.1125</a:t>
            </a:r>
          </a:p>
          <a:p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145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列表運算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在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中，</a:t>
            </a:r>
            <a:r>
              <a:rPr lang="en-US" altLang="zh-TW" dirty="0" err="1">
                <a:latin typeface="+mn-lt"/>
              </a:rPr>
              <a:t>len</a:t>
            </a:r>
            <a:r>
              <a:rPr lang="en-US" altLang="zh-TW" dirty="0">
                <a:latin typeface="+mn-lt"/>
              </a:rPr>
              <a:t>() </a:t>
            </a:r>
            <a:r>
              <a:rPr lang="zh-TW" altLang="en-US" dirty="0">
                <a:latin typeface="+mn-lt"/>
              </a:rPr>
              <a:t>函數能傳回列表長度，即列表共有多少個</a:t>
            </a:r>
            <a:r>
              <a:rPr lang="zh-TW" altLang="en-US" dirty="0" smtClean="0">
                <a:latin typeface="+mn-lt"/>
              </a:rPr>
              <a:t>項目。</a:t>
            </a:r>
            <a:endParaRPr lang="en-GB" dirty="0">
              <a:latin typeface="+mn-lt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37" y="2740025"/>
            <a:ext cx="82391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9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90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5.2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a)</a:t>
            </a:r>
          </a:p>
          <a:p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330" y="2012950"/>
            <a:ext cx="93059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(b)</a:t>
            </a:r>
          </a:p>
          <a:p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399" y="1443600"/>
            <a:ext cx="6600825" cy="484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1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(c)</a:t>
            </a:r>
          </a:p>
          <a:p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41293"/>
            <a:ext cx="6196012" cy="486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2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搜索列表中的項目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我們可通過以下方式在 </a:t>
            </a:r>
            <a:r>
              <a:rPr lang="en-US" altLang="zh-TW" dirty="0" smtClean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中運用</a:t>
            </a:r>
            <a:r>
              <a:rPr lang="zh-TW" altLang="en-US" dirty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線性</a:t>
            </a:r>
            <a:r>
              <a:rPr lang="zh-TW" altLang="en-US" dirty="0" smtClean="0">
                <a:solidFill>
                  <a:srgbClr val="595A96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檢索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endParaRPr lang="en-US" altLang="zh-TW" dirty="0" smtClean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target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found = False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N):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target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found =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print(found)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61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某大學公佈了獎學金得獎名單，共有三位同學得獎。此名單放入了列表 </a:t>
            </a:r>
            <a:r>
              <a:rPr lang="en-US" altLang="zh-TW" dirty="0">
                <a:latin typeface="+mn-lt"/>
              </a:rPr>
              <a:t>scholarship </a:t>
            </a:r>
            <a:r>
              <a:rPr lang="zh-TW" altLang="en-US" dirty="0">
                <a:latin typeface="+mn-lt"/>
              </a:rPr>
              <a:t>供</a:t>
            </a:r>
            <a:r>
              <a:rPr lang="zh-TW" altLang="en-US" dirty="0" smtClean="0">
                <a:latin typeface="+mn-lt"/>
              </a:rPr>
              <a:t>下載及</a:t>
            </a:r>
            <a:r>
              <a:rPr lang="zh-TW" altLang="en-US" dirty="0">
                <a:latin typeface="+mn-lt"/>
              </a:rPr>
              <a:t>查閱。英秀編寫了一個程式以查看同學是否得獎。以下是這個程式的輸出，粗體文字代表</a:t>
            </a:r>
            <a:r>
              <a:rPr lang="zh-TW" altLang="en-US" dirty="0" smtClean="0">
                <a:latin typeface="+mn-lt"/>
              </a:rPr>
              <a:t>用家</a:t>
            </a:r>
            <a:r>
              <a:rPr lang="zh-TW" altLang="en-US" dirty="0">
                <a:latin typeface="+mn-lt"/>
              </a:rPr>
              <a:t>的輸入：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5.2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06" y="3138869"/>
            <a:ext cx="6295469" cy="2833306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664" y="3138869"/>
            <a:ext cx="3724686" cy="207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0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sz="2400" dirty="0">
                <a:latin typeface="+mn-lt"/>
              </a:rPr>
              <a:t>試編寫 </a:t>
            </a:r>
            <a:r>
              <a:rPr lang="en-US" altLang="zh-TW" sz="2400" dirty="0">
                <a:latin typeface="+mn-lt"/>
              </a:rPr>
              <a:t>Python </a:t>
            </a:r>
            <a:r>
              <a:rPr lang="zh-TW" altLang="en-US" sz="2400" dirty="0">
                <a:latin typeface="+mn-lt"/>
              </a:rPr>
              <a:t>程式或算法</a:t>
            </a:r>
            <a:r>
              <a:rPr lang="zh-TW" altLang="en-US" sz="2400" dirty="0" smtClean="0">
                <a:latin typeface="+mn-lt"/>
              </a:rPr>
              <a:t>：</a:t>
            </a:r>
            <a:endParaRPr lang="en-HK" sz="2400" dirty="0">
              <a:latin typeface="+mn-lt"/>
            </a:endParaRPr>
          </a:p>
          <a:p>
            <a:endParaRPr lang="en-HK" sz="24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scholarship = ["002", "134", "192"]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application_num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input("Please input your number: 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found = False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):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application_num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scholarship[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found = True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found == True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print("Congratulation!")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print("Sorry, you are not on the list.")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5.2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701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sz="2400" dirty="0">
                <a:latin typeface="+mn-lt"/>
              </a:rPr>
              <a:t>試編寫 </a:t>
            </a:r>
            <a:r>
              <a:rPr lang="en-US" altLang="zh-TW" sz="2400" dirty="0">
                <a:latin typeface="+mn-lt"/>
              </a:rPr>
              <a:t>Python </a:t>
            </a:r>
            <a:r>
              <a:rPr lang="zh-TW" altLang="en-US" sz="2400" dirty="0">
                <a:latin typeface="+mn-lt"/>
              </a:rPr>
              <a:t>程式或算法</a:t>
            </a:r>
            <a:r>
              <a:rPr lang="zh-TW" altLang="en-US" sz="2400" dirty="0" smtClean="0">
                <a:latin typeface="+mn-lt"/>
              </a:rPr>
              <a:t>：</a:t>
            </a:r>
            <a:endParaRPr lang="en-HK" altLang="zh-TW" sz="2400" dirty="0" smtClean="0">
              <a:latin typeface="+mn-lt"/>
            </a:endParaRPr>
          </a:p>
          <a:p>
            <a:endParaRPr lang="en-HK" sz="24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scholarship = ["002", "134", "192"]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application_num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input("Please input your number: 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found = False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):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application_num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scholarship[</a:t>
            </a: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found = True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found == True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print("Congratulation!")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print("Sorry, you are not on the list.")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5.2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349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想像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為何 </a:t>
            </a:r>
            <a:r>
              <a:rPr lang="en-US" dirty="0" err="1">
                <a:latin typeface="+mn-lt"/>
              </a:rPr>
              <a:t>application_num</a:t>
            </a:r>
            <a:r>
              <a:rPr lang="en-US" dirty="0">
                <a:latin typeface="+mn-lt"/>
              </a:rPr>
              <a:t> </a:t>
            </a:r>
            <a:r>
              <a:rPr lang="zh-TW" altLang="en-US" dirty="0">
                <a:latin typeface="+mn-lt"/>
              </a:rPr>
              <a:t>使用字串而非整數作為其數據類型</a:t>
            </a:r>
            <a:r>
              <a:rPr lang="zh-TW" altLang="en-US" dirty="0" smtClean="0">
                <a:latin typeface="+mn-lt"/>
              </a:rPr>
              <a:t>？</a:t>
            </a:r>
            <a:endParaRPr lang="en-US" altLang="zh-TW" dirty="0" smtClean="0">
              <a:latin typeface="+mn-lt"/>
            </a:endParaRPr>
          </a:p>
          <a:p>
            <a:pPr>
              <a:buSzPct val="100000"/>
            </a:pPr>
            <a:r>
              <a:rPr lang="zh-TW" altLang="en-US" dirty="0">
                <a:solidFill>
                  <a:srgbClr val="FF0000"/>
                </a:solidFill>
                <a:latin typeface="+mn-lt"/>
              </a:rPr>
              <a:t>在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Python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中，數字不允許有前置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零（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leading zeros），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例如：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002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05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5.2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619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搜索列表中的項目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>
          <a:xfrm>
            <a:off x="838200" y="1548875"/>
            <a:ext cx="10515600" cy="4944000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sz="2600" dirty="0" smtClean="0">
                <a:latin typeface="+mn-lt"/>
              </a:rPr>
              <a:t>我們亦可以</a:t>
            </a:r>
            <a:r>
              <a:rPr lang="zh-TW" altLang="en-US" sz="2600" dirty="0">
                <a:latin typeface="+mn-lt"/>
              </a:rPr>
              <a:t>運用 </a:t>
            </a:r>
            <a:r>
              <a:rPr lang="en-US" altLang="zh-TW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TW" sz="2600" dirty="0">
                <a:latin typeface="+mn-lt"/>
              </a:rPr>
              <a:t> </a:t>
            </a:r>
            <a:r>
              <a:rPr lang="zh-TW" altLang="en-US" sz="2600" dirty="0" smtClean="0">
                <a:latin typeface="+mn-lt"/>
              </a:rPr>
              <a:t>循環找出</a:t>
            </a:r>
            <a:r>
              <a:rPr lang="zh-TW" altLang="en-US" sz="2600" dirty="0">
                <a:latin typeface="+mn-lt"/>
              </a:rPr>
              <a:t>列表中第一個儲存目標值的</a:t>
            </a:r>
            <a:r>
              <a:rPr lang="zh-TW" altLang="en-US" sz="2600" dirty="0" smtClean="0">
                <a:latin typeface="+mn-lt"/>
              </a:rPr>
              <a:t>索引。</a:t>
            </a:r>
            <a:endParaRPr lang="en-US" altLang="zh-TW" sz="2600" dirty="0" smtClean="0">
              <a:latin typeface="+mn-lt"/>
            </a:endParaRP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target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found = False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 = -1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N and found == False: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target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found =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index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print(index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07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98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5.3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5.3</a:t>
            </a:r>
            <a:endParaRPr lang="en-GB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99" y="1896406"/>
            <a:ext cx="7966511" cy="440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7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搜索列表中的項目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以下的算法 </a:t>
            </a:r>
            <a:r>
              <a:rPr lang="en-US" altLang="zh-TW" dirty="0">
                <a:latin typeface="+mn-lt"/>
              </a:rPr>
              <a:t>/ </a:t>
            </a:r>
            <a:r>
              <a:rPr lang="zh-TW" altLang="en-US" dirty="0">
                <a:latin typeface="+mn-lt"/>
              </a:rPr>
              <a:t>程式用以找出列表中大於輸入值的項目總數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bound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(input())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 =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range(0, N):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[k] &gt; bound: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count = count + 1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print(count)</a:t>
            </a:r>
          </a:p>
          <a:p>
            <a:endParaRPr lang="en-GB" dirty="0">
              <a:latin typeface="+mn-lt"/>
            </a:endParaRPr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154" y="2869200"/>
            <a:ext cx="3019846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5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林老師把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至 </a:t>
            </a:r>
            <a:r>
              <a:rPr lang="en-US" altLang="zh-TW" dirty="0">
                <a:latin typeface="+mn-lt"/>
              </a:rPr>
              <a:t>10 </a:t>
            </a:r>
            <a:r>
              <a:rPr lang="zh-TW" altLang="en-US" dirty="0">
                <a:latin typeface="+mn-lt"/>
              </a:rPr>
              <a:t>號同學的測驗成績按照學號順序記錄在列表 </a:t>
            </a:r>
            <a:r>
              <a:rPr lang="en-US" altLang="zh-TW" dirty="0">
                <a:latin typeface="+mn-lt"/>
              </a:rPr>
              <a:t>mark </a:t>
            </a:r>
            <a:r>
              <a:rPr lang="zh-TW" altLang="en-US" dirty="0">
                <a:latin typeface="+mn-lt"/>
              </a:rPr>
              <a:t>中，如下：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51" y="3066875"/>
            <a:ext cx="10183249" cy="8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3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HK" dirty="0">
                <a:latin typeface="+mn-lt"/>
              </a:rPr>
              <a:t>(a) </a:t>
            </a:r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程式或算法，找出有多少位同學取得 </a:t>
            </a:r>
            <a:r>
              <a:rPr lang="en-US" altLang="zh-TW" dirty="0">
                <a:latin typeface="+mn-lt"/>
              </a:rPr>
              <a:t>100 </a:t>
            </a:r>
            <a:r>
              <a:rPr lang="zh-TW" altLang="en-US" dirty="0">
                <a:latin typeface="+mn-lt"/>
              </a:rPr>
              <a:t>分。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/>
            </a:r>
            <a:br>
              <a:rPr lang="en-US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45, 79, 100, 50, 35, 90, 100, 60, 80]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search_mark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found 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search_mark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found = found + 1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print(found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839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HK" dirty="0">
                <a:latin typeface="+mn-lt"/>
              </a:rPr>
              <a:t>(a) </a:t>
            </a:r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程式或算法，找出有多少位同學取得 </a:t>
            </a:r>
            <a:r>
              <a:rPr lang="en-US" altLang="zh-TW" dirty="0">
                <a:latin typeface="+mn-lt"/>
              </a:rPr>
              <a:t>100 </a:t>
            </a:r>
            <a:r>
              <a:rPr lang="zh-TW" altLang="en-US" dirty="0">
                <a:latin typeface="+mn-lt"/>
              </a:rPr>
              <a:t>分</a:t>
            </a:r>
            <a:r>
              <a:rPr lang="zh-TW" altLang="en-US" dirty="0" smtClean="0">
                <a:latin typeface="+mn-lt"/>
              </a:rPr>
              <a:t>。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/>
            </a:r>
            <a:br>
              <a:rPr lang="en-US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45, 79, 100, 50, 35, 90, 100, 60, 80]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search_mark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100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found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search_mark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found = found + 1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print(found)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975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(b) </a:t>
            </a:r>
            <a:r>
              <a:rPr lang="zh-TW" altLang="en-US" dirty="0">
                <a:latin typeface="+mn-lt"/>
              </a:rPr>
              <a:t>林老師正統計有多少測驗不及格的同學需要補測。假設及格分數為 </a:t>
            </a:r>
            <a:r>
              <a:rPr lang="en-US" altLang="zh-TW" dirty="0">
                <a:latin typeface="+mn-lt"/>
              </a:rPr>
              <a:t>50 </a:t>
            </a:r>
            <a:r>
              <a:rPr lang="zh-TW" altLang="en-US" dirty="0">
                <a:latin typeface="+mn-lt"/>
              </a:rPr>
              <a:t>分，試寫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程式或</a:t>
            </a:r>
            <a:r>
              <a:rPr lang="zh-TW" altLang="en-US" dirty="0">
                <a:latin typeface="+mn-lt"/>
              </a:rPr>
              <a:t>算法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45, 79, 100, 50, 35, 90, 100, 60, 80]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50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fail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fail = fail + 1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print(fail)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1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(b) </a:t>
            </a:r>
            <a:r>
              <a:rPr lang="zh-TW" altLang="en-US" dirty="0">
                <a:latin typeface="+mn-lt"/>
              </a:rPr>
              <a:t>林老師正統計有多少測驗不及格的同學需要補測。假設及格分數為 </a:t>
            </a:r>
            <a:r>
              <a:rPr lang="en-US" altLang="zh-TW" dirty="0">
                <a:latin typeface="+mn-lt"/>
              </a:rPr>
              <a:t>50 </a:t>
            </a:r>
            <a:r>
              <a:rPr lang="zh-TW" altLang="en-US" dirty="0">
                <a:latin typeface="+mn-lt"/>
              </a:rPr>
              <a:t>分，試寫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 smtClean="0">
                <a:latin typeface="+mn-lt"/>
              </a:rPr>
              <a:t>程式或</a:t>
            </a:r>
            <a:r>
              <a:rPr lang="zh-TW" altLang="en-US" dirty="0">
                <a:latin typeface="+mn-lt"/>
              </a:rPr>
              <a:t>算法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45, 79, 100, 50, 35, 90, 100, 60, 80]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50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fail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fail = fail + 1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print(fail)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899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(c) </a:t>
            </a:r>
            <a:r>
              <a:rPr lang="zh-TW" altLang="en-US" dirty="0">
                <a:latin typeface="+mn-lt"/>
              </a:rPr>
              <a:t>林老師想找出哪些同學需要補測。試編寫算法或程式，找出那些需要補測的同學，並</a:t>
            </a:r>
            <a:r>
              <a:rPr lang="zh-TW" altLang="en-US" dirty="0" smtClean="0">
                <a:latin typeface="+mn-lt"/>
              </a:rPr>
              <a:t>列印該</a:t>
            </a:r>
            <a:r>
              <a:rPr lang="zh-TW" altLang="en-US" dirty="0">
                <a:latin typeface="+mn-lt"/>
              </a:rPr>
              <a:t>同學的學號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 smtClean="0">
              <a:latin typeface="+mn-lt"/>
            </a:endParaRPr>
          </a:p>
          <a:p>
            <a:endParaRPr lang="en-HK" dirty="0" smtClean="0"/>
          </a:p>
          <a:p>
            <a:pPr lvl="1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mark = [87, 45, 79, 100, 50, 35, 90, 100, 60, 80]</a:t>
            </a:r>
          </a:p>
          <a:p>
            <a:pPr lvl="1"/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50</a:t>
            </a:r>
          </a:p>
          <a:p>
            <a:pPr lvl="1"/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252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(c) </a:t>
            </a:r>
            <a:r>
              <a:rPr lang="zh-TW" altLang="en-US" dirty="0">
                <a:latin typeface="+mn-lt"/>
              </a:rPr>
              <a:t>林老師想找出哪些同學需要補測。試編寫算法或程式，找出那些需要補測的同學，並</a:t>
            </a:r>
            <a:r>
              <a:rPr lang="zh-TW" altLang="en-US" dirty="0" smtClean="0">
                <a:latin typeface="+mn-lt"/>
              </a:rPr>
              <a:t>列印該</a:t>
            </a:r>
            <a:r>
              <a:rPr lang="zh-TW" altLang="en-US" dirty="0">
                <a:latin typeface="+mn-lt"/>
              </a:rPr>
              <a:t>同學的學號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 smtClean="0">
              <a:latin typeface="+mn-lt"/>
            </a:endParaRPr>
          </a:p>
          <a:p>
            <a:endParaRPr lang="en-HK" dirty="0" smtClean="0"/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45, 79, 100, 50, 35, 90, 100, 60, 80]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50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passing_mark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print(i+1)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29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101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102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5.4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a)</a:t>
            </a: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859" y="1976254"/>
            <a:ext cx="7564895" cy="27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101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102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5.4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b)</a:t>
            </a: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99" y="1996773"/>
            <a:ext cx="8082302" cy="294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latin typeface="+mn-lt"/>
              </a:rPr>
              <a:t>  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5.4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323" y="1443600"/>
            <a:ext cx="8511427" cy="476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搜索列表中的項目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以下算法 </a:t>
            </a:r>
            <a:r>
              <a:rPr lang="en-US" altLang="zh-TW" dirty="0"/>
              <a:t>/ </a:t>
            </a:r>
            <a:r>
              <a:rPr lang="zh-TW" altLang="en-US" dirty="0"/>
              <a:t>程式能找出列表中最大的值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largest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N):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&gt; largest: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largest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print(largest)</a:t>
            </a:r>
          </a:p>
          <a:p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815" y="2640378"/>
            <a:ext cx="3962685" cy="25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林老師把 </a:t>
            </a:r>
            <a:r>
              <a:rPr lang="en-US" altLang="zh-TW" dirty="0">
                <a:latin typeface="+mn-lt"/>
              </a:rPr>
              <a:t>10 </a:t>
            </a:r>
            <a:r>
              <a:rPr lang="zh-TW" altLang="en-US" dirty="0">
                <a:latin typeface="+mn-lt"/>
              </a:rPr>
              <a:t>位學生的測驗成績記錄在列表 </a:t>
            </a:r>
            <a:r>
              <a:rPr lang="en-US" altLang="zh-TW" dirty="0">
                <a:latin typeface="+mn-lt"/>
              </a:rPr>
              <a:t>mark </a:t>
            </a:r>
            <a:r>
              <a:rPr lang="zh-TW" altLang="en-US" dirty="0">
                <a:latin typeface="+mn-lt"/>
              </a:rPr>
              <a:t>中，</a:t>
            </a:r>
            <a:r>
              <a:rPr lang="zh-TW" altLang="en-US" dirty="0" smtClean="0">
                <a:latin typeface="+mn-lt"/>
              </a:rPr>
              <a:t>如下：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(a) </a:t>
            </a:r>
            <a:r>
              <a:rPr lang="zh-TW" altLang="en-US" dirty="0">
                <a:latin typeface="+mn-lt"/>
              </a:rPr>
              <a:t>他設計了一個可以同時找出最高及最低的分數的程式，以下是這個程式的</a:t>
            </a:r>
            <a:r>
              <a:rPr lang="zh-TW" altLang="en-US" dirty="0" smtClean="0">
                <a:latin typeface="+mn-lt"/>
              </a:rPr>
              <a:t>輸出</a:t>
            </a:r>
            <a:r>
              <a:rPr lang="zh-TW" altLang="en-US" dirty="0">
                <a:latin typeface="+mn-lt"/>
              </a:rPr>
              <a:t>：</a:t>
            </a:r>
            <a:endParaRPr lang="en-US" dirty="0">
              <a:latin typeface="+mn-lt"/>
            </a:endParaRP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59" y="2076781"/>
            <a:ext cx="10106941" cy="814130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729" y="3854202"/>
            <a:ext cx="567769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0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85, 79, 100, 50, 35, 90, 100, 60, 80]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mark[0]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mark[0]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10):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mark[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mark[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highest mark is:",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lowest mark is:",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43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85, 79, 100, 50, 35, 90, 100, 60, 80]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mark[0]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mark[0]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10):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mark[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mark[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highest mark is:",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lowest mark is:",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58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HK" dirty="0">
                <a:latin typeface="+mn-lt"/>
              </a:rPr>
              <a:t>(b) </a:t>
            </a:r>
            <a:r>
              <a:rPr lang="zh-TW" altLang="en-US" dirty="0">
                <a:latin typeface="+mn-lt"/>
              </a:rPr>
              <a:t>假設列表內的分數是按學號排序的，即 </a:t>
            </a:r>
            <a:r>
              <a:rPr lang="en-US" altLang="zh-TW" dirty="0">
                <a:latin typeface="+mn-lt"/>
              </a:rPr>
              <a:t>mark[0] </a:t>
            </a:r>
            <a:r>
              <a:rPr lang="zh-TW" altLang="en-US" dirty="0">
                <a:latin typeface="+mn-lt"/>
              </a:rPr>
              <a:t>是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號同學的成績，</a:t>
            </a:r>
            <a:r>
              <a:rPr lang="en-US" altLang="zh-TW" dirty="0">
                <a:latin typeface="+mn-lt"/>
              </a:rPr>
              <a:t>mark[1]</a:t>
            </a:r>
            <a:r>
              <a:rPr lang="zh-TW" altLang="en-US" dirty="0">
                <a:latin typeface="+mn-lt"/>
              </a:rPr>
              <a:t>是 </a:t>
            </a:r>
            <a:r>
              <a:rPr lang="en-US" altLang="zh-TW" dirty="0">
                <a:latin typeface="+mn-lt"/>
              </a:rPr>
              <a:t>2 </a:t>
            </a:r>
            <a:r>
              <a:rPr lang="zh-TW" altLang="en-US" dirty="0">
                <a:latin typeface="+mn-lt"/>
              </a:rPr>
              <a:t>號同學的</a:t>
            </a:r>
          </a:p>
          <a:p>
            <a:pPr lvl="1"/>
            <a:r>
              <a:rPr lang="zh-TW" altLang="en-US" dirty="0">
                <a:latin typeface="+mn-lt"/>
              </a:rPr>
              <a:t>成績，如此類推。林老師想找出分數最低的同學。試編寫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85, 79, 100, 50, 35, 90, 100, 60, 80]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mark[0]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lowest_no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10):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mark[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lowest_no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lowest mark is student no.",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lowest_no+1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385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HK" dirty="0">
                <a:latin typeface="+mn-lt"/>
              </a:rPr>
              <a:t>(b) </a:t>
            </a:r>
            <a:r>
              <a:rPr lang="zh-TW" altLang="en-US" dirty="0">
                <a:latin typeface="+mn-lt"/>
              </a:rPr>
              <a:t>假設列表內的分數是按學號排序的，即 </a:t>
            </a:r>
            <a:r>
              <a:rPr lang="en-US" altLang="zh-TW" dirty="0">
                <a:latin typeface="+mn-lt"/>
              </a:rPr>
              <a:t>mark[0] </a:t>
            </a:r>
            <a:r>
              <a:rPr lang="zh-TW" altLang="en-US" dirty="0">
                <a:latin typeface="+mn-lt"/>
              </a:rPr>
              <a:t>是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號同學的成績，</a:t>
            </a:r>
            <a:r>
              <a:rPr lang="en-US" altLang="zh-TW" dirty="0">
                <a:latin typeface="+mn-lt"/>
              </a:rPr>
              <a:t>mark[1]</a:t>
            </a:r>
            <a:r>
              <a:rPr lang="zh-TW" altLang="en-US" dirty="0">
                <a:latin typeface="+mn-lt"/>
              </a:rPr>
              <a:t>是 </a:t>
            </a:r>
            <a:r>
              <a:rPr lang="en-US" altLang="zh-TW" dirty="0">
                <a:latin typeface="+mn-lt"/>
              </a:rPr>
              <a:t>2 </a:t>
            </a:r>
            <a:r>
              <a:rPr lang="zh-TW" altLang="en-US" dirty="0">
                <a:latin typeface="+mn-lt"/>
              </a:rPr>
              <a:t>號同學的</a:t>
            </a:r>
          </a:p>
          <a:p>
            <a:pPr lvl="1"/>
            <a:r>
              <a:rPr lang="zh-TW" altLang="en-US" dirty="0">
                <a:latin typeface="+mn-lt"/>
              </a:rPr>
              <a:t>成績，如此類推。林老師想找出分數最低的同學。試編寫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85, 79, 100, 50, 35, 90, 100, 60, 80]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mark[0]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lowest_no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10):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mark[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lowest_no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lowest mark is student no.",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lowest_no+1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419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>
                <a:latin typeface="+mn-lt"/>
              </a:rPr>
              <a:t>(c) </a:t>
            </a:r>
            <a:r>
              <a:rPr lang="zh-TW" altLang="en-US" dirty="0">
                <a:latin typeface="+mn-lt"/>
              </a:rPr>
              <a:t>林老師發現有時會多於一位同學取得最高分數。他想找出所有取得最高分數的同學，以下</a:t>
            </a:r>
          </a:p>
          <a:p>
            <a:r>
              <a:rPr lang="zh-TW" altLang="en-US" dirty="0">
                <a:latin typeface="+mn-lt"/>
              </a:rPr>
              <a:t>是這個程式的</a:t>
            </a:r>
            <a:r>
              <a:rPr lang="zh-TW" altLang="en-US" dirty="0" smtClean="0">
                <a:latin typeface="+mn-lt"/>
              </a:rPr>
              <a:t>輸出</a:t>
            </a:r>
            <a:r>
              <a:rPr lang="zh-TW" altLang="en-US" dirty="0">
                <a:latin typeface="+mn-lt"/>
              </a:rPr>
              <a:t>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41" y="2452558"/>
            <a:ext cx="7606309" cy="165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3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endParaRPr lang="en-US" altLang="zh-TW" dirty="0" smtClean="0">
              <a:latin typeface="+mn-lt"/>
            </a:endParaRPr>
          </a:p>
          <a:p>
            <a:endParaRPr lang="en-US" altLang="zh-TW" dirty="0" smtClean="0"/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85, 79, 100, 50, 35, 90, 100, 60, 80]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following student(s) got the highest mark:")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348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endParaRPr lang="en-US" altLang="zh-TW" dirty="0" smtClean="0">
              <a:latin typeface="+mn-lt"/>
            </a:endParaRPr>
          </a:p>
          <a:p>
            <a:endParaRPr lang="en-US" altLang="zh-TW" dirty="0" smtClean="0"/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mark = [87, 85, 79, 100, 50, 35, 90, 100, 60, 80]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print("The following student(s) got the highest mark:")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10):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mark[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highest_mark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print(i+1)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620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106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5.5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a)</a:t>
            </a: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1847629"/>
            <a:ext cx="7534873" cy="27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7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106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5.5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(b)</a:t>
            </a: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5.5</a:t>
            </a:r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527" y="1957730"/>
            <a:ext cx="7263373" cy="409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3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檢查列表中的值是否按次序排列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以下的算法 </a:t>
            </a:r>
            <a:r>
              <a:rPr lang="en-US" altLang="zh-TW" dirty="0"/>
              <a:t>/ </a:t>
            </a:r>
            <a:r>
              <a:rPr lang="zh-TW" altLang="en-US" dirty="0"/>
              <a:t>程式會檢查列表中的值是否由小至大順序</a:t>
            </a:r>
            <a:r>
              <a:rPr lang="zh-TW" altLang="en-US" dirty="0" smtClean="0"/>
              <a:t>排列。</a:t>
            </a:r>
            <a:endParaRPr lang="en-US" altLang="zh-TW" dirty="0" smtClean="0"/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range(0, N-1):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[k]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[k+1]: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307" y="2685849"/>
            <a:ext cx="3124636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8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TW" altLang="en-US" dirty="0"/>
              <a:t>某遊戲排行榜將頭十名的玩家分數由高至低順序排列。但由於玩家的分數不斷更新，程式</a:t>
            </a:r>
            <a:r>
              <a:rPr lang="zh-TW" altLang="en-US" dirty="0" smtClean="0"/>
              <a:t>需要不斷</a:t>
            </a:r>
            <a:r>
              <a:rPr lang="zh-TW" altLang="en-US" dirty="0"/>
              <a:t>檢查排行榜是否按該次序</a:t>
            </a:r>
            <a:r>
              <a:rPr lang="zh-TW" altLang="en-US" dirty="0" smtClean="0"/>
              <a:t>排列。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：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 = [99.8, 99.5, 98, 97.9, 97.6, 95.3, 95.2, 93.4, 92.1, 90.5]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score[k+1] &gt; score[k]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5.6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10" y="2304989"/>
            <a:ext cx="9959190" cy="75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2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TW" altLang="en-US" dirty="0"/>
              <a:t>某遊戲排行榜將頭十名的玩家分數由高至低順序排列。但由於玩家的分數不斷更新，程式</a:t>
            </a:r>
            <a:r>
              <a:rPr lang="zh-TW" altLang="en-US" dirty="0" smtClean="0"/>
              <a:t>需要不斷</a:t>
            </a:r>
            <a:r>
              <a:rPr lang="zh-TW" altLang="en-US" dirty="0"/>
              <a:t>檢查排行榜是否按該次序</a:t>
            </a:r>
            <a:r>
              <a:rPr lang="zh-TW" altLang="en-US" dirty="0" smtClean="0"/>
              <a:t>排列。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：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 = [99.8, 99.5, 98, 97.9, 97.6, 95.3, 95.2, 93.4, 92.1, 90.5]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score[k+1] &gt; score[k]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5.6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10" y="2304989"/>
            <a:ext cx="9959190" cy="75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4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108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109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5.6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  </a:t>
            </a:r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5.6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76" y="1933392"/>
            <a:ext cx="9582850" cy="25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9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latin typeface="+mn-lt"/>
              </a:rPr>
              <a:t> 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5.6</a:t>
            </a:r>
            <a:endParaRPr lang="en-GB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13" y="1443600"/>
            <a:ext cx="8731691" cy="47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7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加入或刪除列表中的項目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列表的大小會因加減項目而</a:t>
            </a:r>
            <a:r>
              <a:rPr lang="zh-TW" altLang="en-US" dirty="0" smtClean="0"/>
              <a:t>改變。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/>
              <a:t>以下的算法 </a:t>
            </a:r>
            <a:r>
              <a:rPr lang="en-US" altLang="zh-TW" dirty="0"/>
              <a:t>/ </a:t>
            </a:r>
            <a:r>
              <a:rPr lang="zh-TW" altLang="en-US" dirty="0"/>
              <a:t>程式會將列表索引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TW" dirty="0"/>
              <a:t> </a:t>
            </a:r>
            <a:r>
              <a:rPr lang="zh-TW" altLang="en-US" dirty="0"/>
              <a:t>的項目刪除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range(P, N-1):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[k+1]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N - 1</a:t>
            </a:r>
          </a:p>
          <a:p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533" y="3416124"/>
            <a:ext cx="5887417" cy="10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3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孫老師把參加了編程課外班的小組名單記錄在列表 </a:t>
            </a:r>
            <a:r>
              <a:rPr lang="en-US" altLang="zh-TW" dirty="0" err="1">
                <a:latin typeface="+mn-lt"/>
              </a:rPr>
              <a:t>eca_code</a:t>
            </a:r>
            <a:r>
              <a:rPr lang="en-US" altLang="zh-TW" dirty="0">
                <a:latin typeface="+mn-lt"/>
              </a:rPr>
              <a:t> </a:t>
            </a:r>
            <a:r>
              <a:rPr lang="zh-TW" altLang="en-US" dirty="0">
                <a:latin typeface="+mn-lt"/>
              </a:rPr>
              <a:t>中，</a:t>
            </a:r>
            <a:r>
              <a:rPr lang="zh-TW" altLang="en-US" dirty="0" smtClean="0">
                <a:latin typeface="+mn-lt"/>
              </a:rPr>
              <a:t>如下：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altLang="zh-TW" dirty="0">
                <a:latin typeface="+mn-lt"/>
              </a:rPr>
              <a:t>Paul </a:t>
            </a:r>
            <a:r>
              <a:rPr lang="zh-TW" altLang="en-US" dirty="0">
                <a:latin typeface="+mn-lt"/>
              </a:rPr>
              <a:t>向孫老師說他想退出編程班，所以孫老師把 </a:t>
            </a:r>
            <a:r>
              <a:rPr lang="en-US" altLang="zh-TW" dirty="0">
                <a:latin typeface="+mn-lt"/>
              </a:rPr>
              <a:t>Paul </a:t>
            </a:r>
            <a:r>
              <a:rPr lang="zh-TW" altLang="en-US" dirty="0">
                <a:latin typeface="+mn-lt"/>
              </a:rPr>
              <a:t>從小組名單中刪除。假設已知 </a:t>
            </a:r>
            <a:r>
              <a:rPr lang="en-US" altLang="zh-TW" dirty="0">
                <a:latin typeface="+mn-lt"/>
              </a:rPr>
              <a:t>Paul </a:t>
            </a:r>
            <a:r>
              <a:rPr lang="zh-TW" altLang="en-US" dirty="0" smtClean="0">
                <a:latin typeface="+mn-lt"/>
              </a:rPr>
              <a:t>位於列表</a:t>
            </a:r>
            <a:r>
              <a:rPr lang="zh-TW" altLang="en-US" dirty="0">
                <a:latin typeface="+mn-lt"/>
              </a:rPr>
              <a:t>索引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的位置，試編寫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</a:t>
            </a:r>
            <a:r>
              <a:rPr lang="zh-TW" altLang="en-US" dirty="0" smtClean="0"/>
              <a:t>：</a:t>
            </a:r>
            <a:endParaRPr lang="en-US" dirty="0"/>
          </a:p>
          <a:p>
            <a:pPr marL="457200" indent="-457200">
              <a:buAutoNum type="arabicPeriod"/>
            </a:pPr>
            <a:endParaRPr lang="en-HK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["Tony", "Paul", "Kelly", "Wendy", "Jack"]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range(1, 4)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k+1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 = ""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5.7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874" y="1933498"/>
            <a:ext cx="9316251" cy="89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3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孫老師把參加了編程課外班的小組名單記錄在列表 </a:t>
            </a:r>
            <a:r>
              <a:rPr lang="en-US" altLang="zh-TW" dirty="0" err="1">
                <a:latin typeface="+mn-lt"/>
              </a:rPr>
              <a:t>eca_code</a:t>
            </a:r>
            <a:r>
              <a:rPr lang="en-US" altLang="zh-TW" dirty="0">
                <a:latin typeface="+mn-lt"/>
              </a:rPr>
              <a:t> </a:t>
            </a:r>
            <a:r>
              <a:rPr lang="zh-TW" altLang="en-US" dirty="0">
                <a:latin typeface="+mn-lt"/>
              </a:rPr>
              <a:t>中，</a:t>
            </a:r>
            <a:r>
              <a:rPr lang="zh-TW" altLang="en-US" dirty="0" smtClean="0">
                <a:latin typeface="+mn-lt"/>
              </a:rPr>
              <a:t>如下：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altLang="zh-TW" dirty="0">
                <a:latin typeface="+mn-lt"/>
              </a:rPr>
              <a:t>Paul </a:t>
            </a:r>
            <a:r>
              <a:rPr lang="zh-TW" altLang="en-US" dirty="0">
                <a:latin typeface="+mn-lt"/>
              </a:rPr>
              <a:t>向孫老師說他想退出編程班，所以孫老師把 </a:t>
            </a:r>
            <a:r>
              <a:rPr lang="en-US" altLang="zh-TW" dirty="0">
                <a:latin typeface="+mn-lt"/>
              </a:rPr>
              <a:t>Paul </a:t>
            </a:r>
            <a:r>
              <a:rPr lang="zh-TW" altLang="en-US" dirty="0">
                <a:latin typeface="+mn-lt"/>
              </a:rPr>
              <a:t>從小組名單中刪除。假設已知 </a:t>
            </a:r>
            <a:r>
              <a:rPr lang="en-US" altLang="zh-TW" dirty="0">
                <a:latin typeface="+mn-lt"/>
              </a:rPr>
              <a:t>Paul </a:t>
            </a:r>
            <a:r>
              <a:rPr lang="zh-TW" altLang="en-US" dirty="0" smtClean="0">
                <a:latin typeface="+mn-lt"/>
              </a:rPr>
              <a:t>位於列表</a:t>
            </a:r>
            <a:r>
              <a:rPr lang="zh-TW" altLang="en-US" dirty="0">
                <a:latin typeface="+mn-lt"/>
              </a:rPr>
              <a:t>索引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的位置，試編寫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endParaRPr lang="en-US" dirty="0">
              <a:latin typeface="+mn-lt"/>
            </a:endParaRPr>
          </a:p>
          <a:p>
            <a:pPr marL="457200" indent="-457200">
              <a:buAutoNum type="arabicPeriod"/>
            </a:pPr>
            <a:endParaRPr lang="en-HK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["Tony", "Paul", "Kelly", "Wendy", "Jack"]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range(1, 4)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k+1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eca_code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 = ""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5.7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874" y="1933498"/>
            <a:ext cx="9316251" cy="89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3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加入或刪除列表中的項目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以下的算法</a:t>
            </a:r>
            <a:r>
              <a:rPr lang="en-US" altLang="zh-TW" dirty="0">
                <a:latin typeface="+mn-lt"/>
              </a:rPr>
              <a:t>/</a:t>
            </a:r>
            <a:r>
              <a:rPr lang="zh-TW" altLang="en-US" dirty="0">
                <a:latin typeface="+mn-lt"/>
              </a:rPr>
              <a:t>程式將新項目 </a:t>
            </a:r>
            <a:r>
              <a:rPr lang="en-GB" dirty="0" err="1">
                <a:latin typeface="+mn-lt"/>
              </a:rPr>
              <a:t>new_data</a:t>
            </a:r>
            <a:r>
              <a:rPr lang="en-GB" dirty="0">
                <a:latin typeface="+mn-lt"/>
              </a:rPr>
              <a:t> </a:t>
            </a:r>
            <a:r>
              <a:rPr lang="zh-TW" altLang="en-US" dirty="0">
                <a:latin typeface="+mn-lt"/>
              </a:rPr>
              <a:t>加入列表索引 </a:t>
            </a:r>
            <a:r>
              <a:rPr lang="en-GB" dirty="0">
                <a:latin typeface="+mn-lt"/>
              </a:rPr>
              <a:t>P </a:t>
            </a:r>
            <a:r>
              <a:rPr lang="zh-TW" altLang="en-US" dirty="0">
                <a:latin typeface="+mn-lt"/>
              </a:rPr>
              <a:t>的</a:t>
            </a:r>
            <a:r>
              <a:rPr lang="zh-TW" altLang="en-US" dirty="0" smtClean="0">
                <a:latin typeface="+mn-lt"/>
              </a:rPr>
              <a:t>位置。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[0]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range(N-1, P, -1):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[k-1]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[P]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new_data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n-lt"/>
            </a:endParaRPr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97" y="2658935"/>
            <a:ext cx="5620253" cy="22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9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112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5.7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HK" dirty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(a) </a:t>
            </a: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5.7</a:t>
            </a:r>
            <a:endParaRPr lang="en-GB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2306637"/>
            <a:ext cx="8639175" cy="23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9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(b) </a:t>
            </a: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5.7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1443600"/>
            <a:ext cx="83534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6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調動列表中的項目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64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以下的算法 </a:t>
            </a:r>
            <a:r>
              <a:rPr lang="en-US" altLang="zh-TW" dirty="0">
                <a:latin typeface="+mn-lt"/>
              </a:rPr>
              <a:t>/ </a:t>
            </a:r>
            <a:r>
              <a:rPr lang="zh-TW" altLang="en-US" dirty="0">
                <a:latin typeface="+mn-lt"/>
              </a:rPr>
              <a:t>程式將原本位於索引 </a:t>
            </a:r>
            <a:r>
              <a:rPr lang="en-US" altLang="zh-TW" dirty="0">
                <a:latin typeface="+mn-lt"/>
              </a:rPr>
              <a:t>P </a:t>
            </a:r>
            <a:r>
              <a:rPr lang="zh-TW" altLang="en-US" dirty="0">
                <a:latin typeface="+mn-lt"/>
              </a:rPr>
              <a:t>的項目調到列表的第一位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temp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[P]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range(P, 0, -1):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[k-1]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 = temp</a:t>
            </a:r>
          </a:p>
          <a:p>
            <a:endParaRPr lang="en-GB" dirty="0">
              <a:latin typeface="+mn-lt"/>
            </a:endParaRPr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0" y="2869200"/>
            <a:ext cx="5836361" cy="20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某學校舉辦開放日，老師將表演班別出演的先後次序儲存在列表 </a:t>
            </a:r>
            <a:r>
              <a:rPr lang="en-US" altLang="zh-TW" dirty="0">
                <a:latin typeface="+mn-lt"/>
              </a:rPr>
              <a:t>show</a:t>
            </a:r>
            <a:r>
              <a:rPr lang="zh-TW" altLang="en-US" dirty="0">
                <a:latin typeface="+mn-lt"/>
              </a:rPr>
              <a:t>，</a:t>
            </a:r>
            <a:r>
              <a:rPr lang="zh-TW" altLang="en-US" dirty="0" smtClean="0">
                <a:latin typeface="+mn-lt"/>
              </a:rPr>
              <a:t>如下</a:t>
            </a:r>
            <a:r>
              <a:rPr lang="zh-TW" altLang="en-US" dirty="0">
                <a:latin typeface="+mn-lt"/>
              </a:rPr>
              <a:t>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altLang="zh-TW" dirty="0">
                <a:latin typeface="+mn-lt"/>
              </a:rPr>
              <a:t>4E </a:t>
            </a:r>
            <a:r>
              <a:rPr lang="zh-TW" altLang="en-US" dirty="0">
                <a:latin typeface="+mn-lt"/>
              </a:rPr>
              <a:t>班提出提早表演的請求。假設已知 </a:t>
            </a:r>
            <a:r>
              <a:rPr lang="en-US" altLang="zh-TW" dirty="0">
                <a:latin typeface="+mn-lt"/>
              </a:rPr>
              <a:t>4E </a:t>
            </a:r>
            <a:r>
              <a:rPr lang="zh-TW" altLang="en-US" dirty="0">
                <a:latin typeface="+mn-lt"/>
              </a:rPr>
              <a:t>班在列表索引 </a:t>
            </a:r>
            <a:r>
              <a:rPr lang="en-US" altLang="zh-TW" dirty="0">
                <a:latin typeface="+mn-lt"/>
              </a:rPr>
              <a:t>3 </a:t>
            </a:r>
            <a:r>
              <a:rPr lang="zh-TW" altLang="en-US" dirty="0">
                <a:latin typeface="+mn-lt"/>
              </a:rPr>
              <a:t>的位置，試編寫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將班別</a:t>
            </a:r>
            <a:r>
              <a:rPr lang="zh-TW" altLang="en-US" dirty="0">
                <a:latin typeface="+mn-lt"/>
              </a:rPr>
              <a:t>調到最前</a:t>
            </a:r>
            <a:r>
              <a:rPr lang="zh-TW" altLang="en-US" dirty="0" smtClean="0">
                <a:latin typeface="+mn-lt"/>
              </a:rPr>
              <a:t>：</a:t>
            </a:r>
            <a:endParaRPr lang="en-US" dirty="0">
              <a:latin typeface="+mn-lt"/>
            </a:endParaRPr>
          </a:p>
          <a:p>
            <a:pPr lvl="1"/>
            <a:r>
              <a:rPr lang="en-HK" dirty="0"/>
              <a:t/>
            </a:r>
            <a:br>
              <a:rPr lang="en-HK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show = ["2A", "3B", "1C", "4E", "5A"]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temp =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show[3]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 0, -1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show[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 = show[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show[0]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temp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5.8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56" y="1981125"/>
            <a:ext cx="8811855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某學校舉辦開放日，老師將表演班別出演的先後次序儲存在列表 </a:t>
            </a:r>
            <a:r>
              <a:rPr lang="en-US" altLang="zh-TW" dirty="0">
                <a:latin typeface="+mn-lt"/>
              </a:rPr>
              <a:t>show</a:t>
            </a:r>
            <a:r>
              <a:rPr lang="zh-TW" altLang="en-US" dirty="0">
                <a:latin typeface="+mn-lt"/>
              </a:rPr>
              <a:t>，</a:t>
            </a:r>
            <a:r>
              <a:rPr lang="zh-TW" altLang="en-US" dirty="0" smtClean="0">
                <a:latin typeface="+mn-lt"/>
              </a:rPr>
              <a:t>如下</a:t>
            </a:r>
            <a:r>
              <a:rPr lang="zh-TW" altLang="en-US" dirty="0">
                <a:latin typeface="+mn-lt"/>
              </a:rPr>
              <a:t>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altLang="zh-TW" dirty="0">
                <a:latin typeface="+mn-lt"/>
              </a:rPr>
              <a:t>4E </a:t>
            </a:r>
            <a:r>
              <a:rPr lang="zh-TW" altLang="en-US" dirty="0">
                <a:latin typeface="+mn-lt"/>
              </a:rPr>
              <a:t>班提出提早表演的請求。假設已知 </a:t>
            </a:r>
            <a:r>
              <a:rPr lang="en-US" altLang="zh-TW" dirty="0">
                <a:latin typeface="+mn-lt"/>
              </a:rPr>
              <a:t>4E </a:t>
            </a:r>
            <a:r>
              <a:rPr lang="zh-TW" altLang="en-US" dirty="0">
                <a:latin typeface="+mn-lt"/>
              </a:rPr>
              <a:t>班在列表索引 </a:t>
            </a:r>
            <a:r>
              <a:rPr lang="en-US" altLang="zh-TW" dirty="0">
                <a:latin typeface="+mn-lt"/>
              </a:rPr>
              <a:t>3 </a:t>
            </a:r>
            <a:r>
              <a:rPr lang="zh-TW" altLang="en-US" dirty="0">
                <a:latin typeface="+mn-lt"/>
              </a:rPr>
              <a:t>的位置，試編寫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將班別</a:t>
            </a:r>
            <a:r>
              <a:rPr lang="zh-TW" altLang="en-US" dirty="0">
                <a:latin typeface="+mn-lt"/>
              </a:rPr>
              <a:t>調到最前</a:t>
            </a:r>
            <a:r>
              <a:rPr lang="zh-TW" altLang="en-US" dirty="0" smtClean="0">
                <a:latin typeface="+mn-lt"/>
              </a:rPr>
              <a:t>：</a:t>
            </a:r>
            <a:endParaRPr lang="en-US" dirty="0">
              <a:latin typeface="+mn-lt"/>
            </a:endParaRPr>
          </a:p>
          <a:p>
            <a:pPr lvl="1"/>
            <a:r>
              <a:rPr lang="en-HK" dirty="0"/>
              <a:t/>
            </a:r>
            <a:br>
              <a:rPr lang="en-HK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show = ["2A", "3B", "1C", "4E", "5A"]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temp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show[3]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 0, -1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show[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 = show[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show[0]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temp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5.8</a:t>
            </a:r>
            <a:endParaRPr lang="en-GB" dirty="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56" y="1981125"/>
            <a:ext cx="8811855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6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字串的綜合應用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5.3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在此例子中，字串 </a:t>
            </a:r>
            <a:r>
              <a:rPr lang="en-US" altLang="zh-TW" dirty="0" smtClean="0"/>
              <a:t>"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Work Hard!</a:t>
            </a:r>
            <a:r>
              <a:rPr lang="en-GB" dirty="0"/>
              <a:t>" </a:t>
            </a:r>
            <a:r>
              <a:rPr lang="zh-TW" altLang="en-US" dirty="0"/>
              <a:t>內的字符放入名為 </a:t>
            </a:r>
            <a:r>
              <a:rPr lang="en-GB" dirty="0"/>
              <a:t>word </a:t>
            </a:r>
            <a:r>
              <a:rPr lang="zh-TW" altLang="en-US" dirty="0"/>
              <a:t>的列表中，即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word[0]</a:t>
            </a:r>
            <a:r>
              <a:rPr lang="en-GB" dirty="0"/>
              <a:t> </a:t>
            </a:r>
            <a:r>
              <a:rPr lang="zh-TW" altLang="en-US" dirty="0"/>
              <a:t>的值</a:t>
            </a:r>
            <a:r>
              <a:rPr lang="zh-TW" altLang="en-US" dirty="0" smtClean="0"/>
              <a:t>是</a:t>
            </a:r>
            <a:r>
              <a:rPr lang="en-US" altLang="zh-TW" dirty="0" smtClean="0"/>
              <a:t>'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GB" dirty="0"/>
              <a:t>'。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87" y="2330296"/>
            <a:ext cx="7478025" cy="406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0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字串的綜合應用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5.3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87" y="2634750"/>
            <a:ext cx="9972675" cy="26289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75" y="2203237"/>
            <a:ext cx="100774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6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字串的綜合應用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5.3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然而，也有些列表操作不適用於</a:t>
            </a:r>
            <a:r>
              <a:rPr lang="zh-TW" altLang="en-US" dirty="0" smtClean="0"/>
              <a:t>字串。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2184675"/>
            <a:ext cx="8312650" cy="381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0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找出字符串的長度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Python </a:t>
            </a:r>
            <a:r>
              <a:rPr lang="zh-TW" altLang="en-US" dirty="0"/>
              <a:t>中，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TW" dirty="0"/>
              <a:t> </a:t>
            </a:r>
            <a:r>
              <a:rPr lang="zh-TW" altLang="en-US" dirty="0"/>
              <a:t>函數能傳回列表</a:t>
            </a:r>
            <a:r>
              <a:rPr lang="zh-TW" altLang="en-US" dirty="0" smtClean="0"/>
              <a:t>長度。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7" y="2675287"/>
            <a:ext cx="81629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9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找出字符是否存在於字串中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以下是運用 </a:t>
            </a:r>
            <a:r>
              <a:rPr lang="en-US" altLang="zh-TW" dirty="0"/>
              <a:t>for </a:t>
            </a:r>
            <a:r>
              <a:rPr lang="zh-TW" altLang="en-US" dirty="0"/>
              <a:t>循環逐一檢查字</a:t>
            </a:r>
            <a:r>
              <a:rPr lang="zh-TW" altLang="en-US" dirty="0" smtClean="0"/>
              <a:t>符的方式：</a:t>
            </a:r>
            <a:endParaRPr lang="en-US" altLang="zh-TW" dirty="0" smtClean="0"/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"Work Hard!"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target = "a"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found = False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 (0, N):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target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found =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print(found)</a:t>
            </a:r>
          </a:p>
          <a:p>
            <a:endParaRPr lang="en-GB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892" y="2553410"/>
            <a:ext cx="6325333" cy="175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0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英文元音字母（</a:t>
            </a:r>
            <a:r>
              <a:rPr lang="en-US" altLang="zh-TW" dirty="0">
                <a:latin typeface="+mn-lt"/>
              </a:rPr>
              <a:t>vowel letter</a:t>
            </a:r>
            <a:r>
              <a:rPr lang="zh-TW" altLang="en-US" dirty="0">
                <a:latin typeface="+mn-lt"/>
              </a:rPr>
              <a:t>）是指英語裏起着發聲作用的字母，即 </a:t>
            </a:r>
            <a:r>
              <a:rPr lang="en-US" altLang="zh-TW" dirty="0">
                <a:latin typeface="+mn-lt"/>
              </a:rPr>
              <a:t>a</a:t>
            </a:r>
            <a:r>
              <a:rPr lang="zh-TW" altLang="en-US" dirty="0">
                <a:latin typeface="+mn-lt"/>
              </a:rPr>
              <a:t>、</a:t>
            </a:r>
            <a:r>
              <a:rPr lang="en-US" altLang="zh-TW" dirty="0">
                <a:latin typeface="+mn-lt"/>
              </a:rPr>
              <a:t>e</a:t>
            </a:r>
            <a:r>
              <a:rPr lang="zh-TW" altLang="en-US" dirty="0">
                <a:latin typeface="+mn-lt"/>
              </a:rPr>
              <a:t>、</a:t>
            </a:r>
            <a:r>
              <a:rPr lang="en-US" altLang="zh-TW" dirty="0" err="1">
                <a:latin typeface="+mn-lt"/>
              </a:rPr>
              <a:t>i</a:t>
            </a:r>
            <a:r>
              <a:rPr lang="zh-TW" altLang="en-US" dirty="0">
                <a:latin typeface="+mn-lt"/>
              </a:rPr>
              <a:t>、</a:t>
            </a:r>
            <a:r>
              <a:rPr lang="en-US" altLang="zh-TW" dirty="0">
                <a:latin typeface="+mn-lt"/>
              </a:rPr>
              <a:t>o </a:t>
            </a:r>
            <a:r>
              <a:rPr lang="zh-TW" altLang="en-US" dirty="0">
                <a:latin typeface="+mn-lt"/>
              </a:rPr>
              <a:t>和 </a:t>
            </a:r>
            <a:r>
              <a:rPr lang="en-US" altLang="zh-TW" dirty="0">
                <a:latin typeface="+mn-lt"/>
              </a:rPr>
              <a:t>u</a:t>
            </a:r>
            <a:r>
              <a:rPr lang="zh-TW" altLang="en-US" dirty="0">
                <a:latin typeface="+mn-lt"/>
              </a:rPr>
              <a:t>。</a:t>
            </a:r>
            <a:r>
              <a:rPr lang="zh-TW" altLang="en-US" dirty="0" smtClean="0">
                <a:latin typeface="+mn-lt"/>
              </a:rPr>
              <a:t>設計程式讓</a:t>
            </a:r>
            <a:r>
              <a:rPr lang="zh-TW" altLang="en-US" dirty="0">
                <a:latin typeface="+mn-lt"/>
              </a:rPr>
              <a:t>用家輸入單詞，然後統計當中元音字母的總數。以下是這個程式的輸出：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5.9</a:t>
            </a:r>
            <a:endParaRPr lang="en-GB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17" y="3040162"/>
            <a:ext cx="5391150" cy="166687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984" y="2764943"/>
            <a:ext cx="3162692" cy="20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6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word = input()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(word)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length):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word[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"a" or word[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"e" or \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word[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or word[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"o" or word[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"u": 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count = count + 1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94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程式或算法</a:t>
            </a:r>
            <a:r>
              <a:rPr lang="zh-TW" altLang="en-US" dirty="0" smtClean="0">
                <a:latin typeface="+mn-lt"/>
              </a:rPr>
              <a:t>：</a:t>
            </a:r>
            <a:endParaRPr lang="en-US" altLang="zh-TW" dirty="0" smtClean="0">
              <a:latin typeface="+mn-lt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word = input()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(word)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length):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word[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"a" or word[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"e" or \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word[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or word[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"o" or word[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"u":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count = count + 1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31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想像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/>
              <a:t>程式能同時計算小寫及大寫字母嗎？如否，應如何改寫程式？</a:t>
            </a:r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29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119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120 </a:t>
            </a:r>
            <a:r>
              <a:rPr lang="zh-TW" altLang="en-US" dirty="0" smtClean="0">
                <a:latin typeface="+mn-lt"/>
              </a:rPr>
              <a:t>頁的測試站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5.8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76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5.8</a:t>
            </a:r>
            <a:endParaRPr lang="en-GB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765" y="1976313"/>
            <a:ext cx="9673709" cy="28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latin typeface="+mn-lt"/>
              </a:rPr>
              <a:t> 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r>
              <a:rPr lang="en-GB" dirty="0" smtClean="0"/>
              <a:t>.8</a:t>
            </a:r>
            <a:endParaRPr lang="en-US" dirty="0" smtClean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820" y="1443600"/>
            <a:ext cx="9825980" cy="323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3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找出字符是否存在於字串中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我們亦可運用</a:t>
            </a:r>
            <a:r>
              <a:rPr lang="en-US" altLang="zh-TW" dirty="0"/>
              <a:t> </a:t>
            </a:r>
            <a:r>
              <a:rPr lang="en-US" altLang="zh-TW" dirty="0" smtClean="0"/>
              <a:t>while </a:t>
            </a:r>
            <a:r>
              <a:rPr lang="zh-TW" altLang="en-US" dirty="0" smtClean="0"/>
              <a:t>循環尋找字符。</a:t>
            </a:r>
            <a:endParaRPr lang="en-US" altLang="zh-TW" dirty="0" smtClean="0"/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"Work Hard!“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target = "r“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 = -1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found = False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N and found == False: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if target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 index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 found = 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print(index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找出字符是否存在於字串中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79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從字串</a:t>
            </a:r>
            <a:r>
              <a:rPr lang="zh-TW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r>
              <a:rPr lang="zh-TW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提取部分的字符會成為子字串。</a:t>
            </a: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62" y="2170112"/>
            <a:ext cx="82200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2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試空運行以下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程式碼，並寫下程式的輸出：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5.3</a:t>
            </a:r>
            <a:endParaRPr lang="en-GB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12" y="1935439"/>
            <a:ext cx="6530975" cy="4273273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95" y="2784764"/>
            <a:ext cx="1881710" cy="1218334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880" y="4506673"/>
            <a:ext cx="1956526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5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/>
              <a:t>設計程式，讓用家輸入「全名」，然後分別列印他的姓氏和名字。以下是這個程式的</a:t>
            </a:r>
            <a:r>
              <a:rPr lang="zh-TW" altLang="en-US" dirty="0" smtClean="0"/>
              <a:t>輸出</a:t>
            </a:r>
            <a:r>
              <a:rPr lang="zh-TW" altLang="en-US" dirty="0"/>
              <a:t>：</a:t>
            </a:r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81</a:t>
            </a:fld>
            <a:endParaRPr lang="en-US" dirty="0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5.11</a:t>
            </a:r>
            <a:endParaRPr lang="en-GB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2517775"/>
            <a:ext cx="63722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1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r>
              <a:rPr lang="en-HK" dirty="0">
                <a:cs typeface="Courier New" panose="02070309020205020404" pitchFamily="49" charset="0"/>
              </a:rPr>
              <a:t/>
            </a:r>
            <a:br>
              <a:rPr lang="en-HK" dirty="0">
                <a:cs typeface="Courier New" panose="02070309020205020404" pitchFamily="49" charset="0"/>
              </a:rPr>
            </a:br>
            <a:endParaRPr lang="en-US" dirty="0"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input()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space = -1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N):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 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space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 != -1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space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space+1, 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print("Not a proper name")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4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法：</a:t>
            </a:r>
            <a:r>
              <a:rPr lang="en-HK" dirty="0">
                <a:cs typeface="Courier New" panose="02070309020205020404" pitchFamily="49" charset="0"/>
              </a:rPr>
              <a:t/>
            </a:r>
            <a:br>
              <a:rPr lang="en-HK" dirty="0">
                <a:cs typeface="Courier New" panose="02070309020205020404" pitchFamily="49" charset="0"/>
              </a:rPr>
            </a:br>
            <a:endParaRPr lang="en-US" dirty="0"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input()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space = -1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range(0, N):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 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space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 != -1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space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space+1, 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print("Not a proper name")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521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由於以上「全名」的格式必然為「名字、空格、姓氏」，故只需找出空格的位置，將空格前的</a:t>
            </a:r>
            <a:r>
              <a:rPr lang="zh-TW" altLang="en-US" dirty="0" smtClean="0">
                <a:latin typeface="+mn-lt"/>
              </a:rPr>
              <a:t>字串儲存</a:t>
            </a:r>
            <a:r>
              <a:rPr lang="zh-TW" altLang="en-US" dirty="0">
                <a:latin typeface="+mn-lt"/>
              </a:rPr>
              <a:t>在 </a:t>
            </a:r>
            <a:r>
              <a:rPr lang="en-US" dirty="0" err="1">
                <a:latin typeface="+mn-lt"/>
              </a:rPr>
              <a:t>firstname</a:t>
            </a:r>
            <a:r>
              <a:rPr lang="en-US" dirty="0">
                <a:latin typeface="+mn-lt"/>
              </a:rPr>
              <a:t>，</a:t>
            </a:r>
            <a:r>
              <a:rPr lang="zh-TW" altLang="en-US" dirty="0">
                <a:latin typeface="+mn-lt"/>
              </a:rPr>
              <a:t>空格後的字串儲存在 </a:t>
            </a:r>
            <a:r>
              <a:rPr lang="en-US" dirty="0" err="1">
                <a:latin typeface="+mn-lt"/>
              </a:rPr>
              <a:t>lastname</a:t>
            </a:r>
            <a:r>
              <a:rPr lang="en-US" dirty="0" smtClean="0">
                <a:latin typeface="+mn-lt"/>
              </a:rPr>
              <a:t>。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HK" b="1" dirty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想像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有人認為，以上的程式不能處理「</a:t>
            </a:r>
            <a:r>
              <a:rPr lang="en-US" dirty="0">
                <a:latin typeface="+mn-lt"/>
              </a:rPr>
              <a:t>Tai Man Chan」</a:t>
            </a:r>
            <a:r>
              <a:rPr lang="zh-TW" altLang="en-US" dirty="0">
                <a:latin typeface="+mn-lt"/>
              </a:rPr>
              <a:t>和「</a:t>
            </a:r>
            <a:r>
              <a:rPr lang="en-US" dirty="0">
                <a:latin typeface="+mn-lt"/>
              </a:rPr>
              <a:t>Siu Ming Chan」</a:t>
            </a:r>
            <a:r>
              <a:rPr lang="zh-TW" altLang="en-US" dirty="0">
                <a:latin typeface="+mn-lt"/>
              </a:rPr>
              <a:t>這類姓名。你同意</a:t>
            </a:r>
            <a:r>
              <a:rPr lang="zh-TW" altLang="en-US" dirty="0" smtClean="0">
                <a:latin typeface="+mn-lt"/>
              </a:rPr>
              <a:t>以上說法</a:t>
            </a:r>
            <a:r>
              <a:rPr lang="zh-TW" altLang="en-US" dirty="0">
                <a:latin typeface="+mn-lt"/>
              </a:rPr>
              <a:t>嗎？試解釋。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5.11</a:t>
            </a:r>
            <a:endParaRPr lang="en-GB" dirty="0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2806604"/>
            <a:ext cx="8754697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1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126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5.9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85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5.9</a:t>
            </a:r>
            <a:endParaRPr lang="en-GB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381" y="1887360"/>
            <a:ext cx="8343731" cy="422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7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判斷字符的類別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86</a:t>
            </a:fld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我們可以</a:t>
            </a:r>
            <a:r>
              <a:rPr lang="zh-TW" altLang="en-US" dirty="0">
                <a:latin typeface="+mn-lt"/>
              </a:rPr>
              <a:t>利用字符的 </a:t>
            </a:r>
            <a:r>
              <a:rPr lang="en-US" altLang="zh-TW" dirty="0">
                <a:latin typeface="+mn-lt"/>
              </a:rPr>
              <a:t>ASCII </a:t>
            </a:r>
            <a:r>
              <a:rPr lang="zh-TW" altLang="en-US" dirty="0">
                <a:latin typeface="+mn-lt"/>
              </a:rPr>
              <a:t>來比較字符的大小。</a:t>
            </a:r>
            <a:endParaRPr lang="en-GB" dirty="0">
              <a:latin typeface="+mn-lt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25" y="2563312"/>
            <a:ext cx="98107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5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判斷字符的類別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87" y="2463812"/>
            <a:ext cx="8162925" cy="2705100"/>
          </a:xfrm>
          <a:prstGeom prst="rect">
            <a:avLst/>
          </a:prstGeom>
        </p:spPr>
      </p:pic>
      <p:pic>
        <p:nvPicPr>
          <p:cNvPr id="6" name="內容版面配置區 5"/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791750" y="2107412"/>
            <a:ext cx="81819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1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判斷字符的類別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6717700" cy="4680000"/>
          </a:xfrm>
        </p:spPr>
        <p:txBody>
          <a:bodyPr/>
          <a:lstStyle/>
          <a:p>
            <a:r>
              <a:rPr lang="zh-TW" altLang="en-US" dirty="0" smtClean="0"/>
              <a:t>以下是 </a:t>
            </a:r>
            <a:r>
              <a:rPr lang="en-US" altLang="zh-TW" dirty="0" smtClean="0"/>
              <a:t>ASCII </a:t>
            </a:r>
            <a:r>
              <a:rPr lang="zh-TW" altLang="en-US" dirty="0" smtClean="0"/>
              <a:t>的特點：</a:t>
            </a:r>
            <a:endParaRPr lang="en-US" altLang="zh-TW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大寫字母和小寫字母按字母順序排列；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數字</a:t>
            </a:r>
            <a:r>
              <a:rPr lang="zh-TW" altLang="en-US" dirty="0"/>
              <a:t>按升序排列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zh-TW" altLang="en-US" dirty="0"/>
              <a:t>我們可以透過判斷字符的 </a:t>
            </a:r>
            <a:r>
              <a:rPr lang="en-US" altLang="zh-TW" dirty="0"/>
              <a:t>ASCII </a:t>
            </a:r>
            <a:r>
              <a:rPr lang="zh-TW" altLang="en-US" dirty="0"/>
              <a:t>是否在特定的範圍，從而</a:t>
            </a:r>
            <a:r>
              <a:rPr lang="zh-TW" altLang="en-US" dirty="0" smtClean="0"/>
              <a:t>判斷字</a:t>
            </a:r>
            <a:r>
              <a:rPr lang="zh-TW" altLang="en-US" dirty="0"/>
              <a:t>符的類別。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0" y="1267200"/>
            <a:ext cx="4366175" cy="443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9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設計程式，讓用家輸入一個字符，然後判斷這字符是大寫或小寫。以下是這個程式的</a:t>
            </a:r>
            <a:r>
              <a:rPr lang="zh-TW" altLang="en-US" dirty="0" smtClean="0">
                <a:latin typeface="+mn-lt"/>
              </a:rPr>
              <a:t>輸出：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</a:t>
            </a:r>
            <a:r>
              <a:rPr lang="zh-TW" altLang="en-US" dirty="0">
                <a:latin typeface="+mn-lt"/>
              </a:rPr>
              <a:t>：</a:t>
            </a:r>
            <a:endParaRPr lang="en-US" dirty="0">
              <a:latin typeface="+mn-lt"/>
            </a:endParaRPr>
          </a:p>
          <a:p>
            <a:pPr lvl="1"/>
            <a:endParaRPr lang="en-US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input()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"A"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"Z"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print("It is a capital letter.")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"a"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"z"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print("It is a small letter.")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5.12</a:t>
            </a:r>
            <a:endParaRPr lang="en-GB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45" y="1963737"/>
            <a:ext cx="6591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4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+mn-lt"/>
              </a:rPr>
              <a:t>設計程式，讓用家輸入一個字符，然後判斷這字符是大寫或小寫。以下是這個程式的</a:t>
            </a:r>
            <a:r>
              <a:rPr lang="zh-TW" altLang="en-US" dirty="0" smtClean="0">
                <a:latin typeface="+mn-lt"/>
              </a:rPr>
              <a:t>輸出：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zh-TW" altLang="en-US" dirty="0">
                <a:latin typeface="+mn-lt"/>
              </a:rPr>
              <a:t>試編寫 </a:t>
            </a:r>
            <a:r>
              <a:rPr lang="en-US" altLang="zh-TW" dirty="0">
                <a:latin typeface="+mn-lt"/>
              </a:rPr>
              <a:t>Python </a:t>
            </a:r>
            <a:r>
              <a:rPr lang="zh-TW" altLang="en-US" dirty="0">
                <a:latin typeface="+mn-lt"/>
              </a:rPr>
              <a:t>程式或算</a:t>
            </a:r>
            <a:r>
              <a:rPr lang="zh-TW" altLang="en-US" dirty="0" smtClean="0">
                <a:latin typeface="+mn-lt"/>
              </a:rPr>
              <a:t>法</a:t>
            </a:r>
            <a:r>
              <a:rPr lang="zh-TW" altLang="en-US" dirty="0">
                <a:latin typeface="+mn-lt"/>
              </a:rPr>
              <a:t>：</a:t>
            </a:r>
            <a:endParaRPr lang="en-US" dirty="0">
              <a:latin typeface="+mn-lt"/>
            </a:endParaRPr>
          </a:p>
          <a:p>
            <a:pPr lvl="1"/>
            <a:endParaRPr lang="en-US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input()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"A"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"Z"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print("It is a capital letter.")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"a"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"z"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print("It is a small letter.")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5.12</a:t>
            </a:r>
            <a:endParaRPr lang="en-GB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45" y="1963737"/>
            <a:ext cx="6591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3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5198500"/>
          </a:xfrm>
        </p:spPr>
        <p:txBody>
          <a:bodyPr>
            <a:normAutofit/>
          </a:bodyPr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大寫字母（</a:t>
            </a:r>
            <a:r>
              <a:rPr lang="en-US" altLang="zh-TW" dirty="0">
                <a:latin typeface="+mn-lt"/>
              </a:rPr>
              <a:t>A </a:t>
            </a:r>
            <a:r>
              <a:rPr lang="zh-TW" altLang="en-US" dirty="0">
                <a:latin typeface="+mn-lt"/>
              </a:rPr>
              <a:t>至 </a:t>
            </a:r>
            <a:r>
              <a:rPr lang="en-US" altLang="zh-TW" dirty="0">
                <a:latin typeface="+mn-lt"/>
              </a:rPr>
              <a:t>Z</a:t>
            </a:r>
            <a:r>
              <a:rPr lang="zh-TW" altLang="en-US" dirty="0">
                <a:latin typeface="+mn-lt"/>
              </a:rPr>
              <a:t>）和小寫字母（</a:t>
            </a:r>
            <a:r>
              <a:rPr lang="en-US" altLang="zh-TW" dirty="0">
                <a:latin typeface="+mn-lt"/>
              </a:rPr>
              <a:t>a </a:t>
            </a:r>
            <a:r>
              <a:rPr lang="zh-TW" altLang="en-US" dirty="0">
                <a:latin typeface="+mn-lt"/>
              </a:rPr>
              <a:t>至 </a:t>
            </a:r>
            <a:r>
              <a:rPr lang="en-US" altLang="zh-TW" dirty="0">
                <a:latin typeface="+mn-lt"/>
              </a:rPr>
              <a:t>z</a:t>
            </a:r>
            <a:r>
              <a:rPr lang="zh-TW" altLang="en-US" dirty="0">
                <a:latin typeface="+mn-lt"/>
              </a:rPr>
              <a:t>）的 </a:t>
            </a:r>
            <a:r>
              <a:rPr lang="en-US" altLang="zh-TW" dirty="0">
                <a:latin typeface="+mn-lt"/>
              </a:rPr>
              <a:t>ASCII </a:t>
            </a:r>
            <a:r>
              <a:rPr lang="zh-TW" altLang="en-US" dirty="0">
                <a:latin typeface="+mn-lt"/>
              </a:rPr>
              <a:t>其中一個特點是它們會按字母順序排列：</a:t>
            </a:r>
            <a:endParaRPr lang="en-US" dirty="0">
              <a:latin typeface="+mn-lt"/>
            </a:endParaRPr>
          </a:p>
          <a:p>
            <a:pPr>
              <a:buSzPct val="100000"/>
            </a:pPr>
            <a:r>
              <a:rPr lang="en-HK" b="1" dirty="0">
                <a:solidFill>
                  <a:srgbClr val="37A3D4"/>
                </a:solidFill>
              </a:rPr>
              <a:t/>
            </a:r>
            <a:br>
              <a:rPr lang="en-HK" b="1" dirty="0">
                <a:solidFill>
                  <a:srgbClr val="37A3D4"/>
                </a:solidFill>
              </a:rPr>
            </a:br>
            <a:r>
              <a:rPr lang="en-HK" b="1" dirty="0">
                <a:solidFill>
                  <a:srgbClr val="37A3D4"/>
                </a:solidFill>
              </a:rPr>
              <a:t/>
            </a:r>
            <a:br>
              <a:rPr lang="en-HK" b="1" dirty="0">
                <a:solidFill>
                  <a:srgbClr val="37A3D4"/>
                </a:solidFill>
              </a:rPr>
            </a:br>
            <a:r>
              <a:rPr lang="en-HK" b="1" dirty="0">
                <a:solidFill>
                  <a:srgbClr val="37A3D4"/>
                </a:solidFill>
              </a:rPr>
              <a:t/>
            </a:r>
            <a:br>
              <a:rPr lang="en-HK" b="1" dirty="0">
                <a:solidFill>
                  <a:srgbClr val="37A3D4"/>
                </a:solidFill>
              </a:rPr>
            </a:br>
            <a:r>
              <a:rPr lang="en-HK" b="1" dirty="0">
                <a:solidFill>
                  <a:srgbClr val="37A3D4"/>
                </a:solidFill>
              </a:rPr>
              <a:t/>
            </a:r>
            <a:br>
              <a:rPr lang="en-HK" b="1" dirty="0">
                <a:solidFill>
                  <a:srgbClr val="37A3D4"/>
                </a:solidFill>
              </a:rPr>
            </a:b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想像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如何判斷字符是否為數字（</a:t>
            </a:r>
            <a:r>
              <a:rPr lang="en-US" altLang="zh-TW" dirty="0">
                <a:latin typeface="+mn-lt"/>
              </a:rPr>
              <a:t>0 - 9</a:t>
            </a:r>
            <a:r>
              <a:rPr lang="zh-TW" altLang="en-US" dirty="0" smtClean="0">
                <a:latin typeface="+mn-lt"/>
              </a:rPr>
              <a:t>）？</a:t>
            </a:r>
            <a:endParaRPr lang="en-US" dirty="0">
              <a:latin typeface="+mn-lt"/>
            </a:endParaRPr>
          </a:p>
          <a:p>
            <a:pPr>
              <a:buSzPct val="100000"/>
            </a:pP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"0" and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inputLetter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"9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5.12</a:t>
            </a:r>
            <a:endParaRPr lang="en-GB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322723"/>
            <a:ext cx="9753600" cy="177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1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98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5.10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a)</a:t>
            </a: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5.10</a:t>
            </a:r>
            <a:endParaRPr lang="en-GB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210" y="2027054"/>
            <a:ext cx="7139111" cy="369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5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(b)</a:t>
            </a: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5.10</a:t>
            </a:r>
            <a:endParaRPr lang="en-GB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746" y="1443600"/>
            <a:ext cx="8654665" cy="31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latin typeface="+mn-lt"/>
              </a:rPr>
              <a:t>(c)</a:t>
            </a:r>
          </a:p>
          <a:p>
            <a:pPr marL="457200" indent="-457200">
              <a:buAutoNum type="arabicPeriod"/>
            </a:pPr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5.10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141" y="1443600"/>
            <a:ext cx="7617363" cy="484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+mn-lt"/>
              </a:rPr>
              <a:t>(d)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當密碼不符合要求時，並沒有要求用家重新輸入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/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要求密碼需要有至少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個特殊字符更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安全 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/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沒有雙重確認 （</a:t>
            </a:r>
            <a:r>
              <a:rPr lang="en-HK" dirty="0">
                <a:solidFill>
                  <a:srgbClr val="FF0000"/>
                </a:solidFill>
                <a:latin typeface="+mn-lt"/>
              </a:rPr>
              <a:t>Data Verification）</a:t>
            </a:r>
          </a:p>
          <a:p>
            <a:pPr lvl="1"/>
            <a:endParaRPr lang="en-HK" dirty="0">
              <a:latin typeface="+mn-lt"/>
            </a:endParaRPr>
          </a:p>
          <a:p>
            <a:pPr lvl="1"/>
            <a:r>
              <a:rPr lang="en-HK" dirty="0">
                <a:solidFill>
                  <a:srgbClr val="FF0000"/>
                </a:solidFill>
                <a:latin typeface="+mn-lt"/>
              </a:rPr>
              <a:t>(f)</a:t>
            </a:r>
            <a:br>
              <a:rPr lang="en-HK" dirty="0">
                <a:solidFill>
                  <a:srgbClr val="FF0000"/>
                </a:solidFill>
                <a:latin typeface="+mn-lt"/>
              </a:rPr>
            </a:br>
            <a:r>
              <a:rPr lang="en-HK" dirty="0">
                <a:solidFill>
                  <a:srgbClr val="FF0000"/>
                </a:solidFill>
                <a:latin typeface="+mn-lt"/>
              </a:rPr>
              <a:t/>
            </a:r>
            <a:br>
              <a:rPr lang="en-HK" dirty="0">
                <a:solidFill>
                  <a:srgbClr val="FF0000"/>
                </a:solidFill>
                <a:latin typeface="+mn-lt"/>
              </a:rPr>
            </a:br>
            <a:r>
              <a:rPr lang="en-HK" dirty="0">
                <a:solidFill>
                  <a:srgbClr val="FF0000"/>
                </a:solidFill>
                <a:latin typeface="+mn-lt"/>
              </a:rPr>
              <a:t/>
            </a:r>
            <a:br>
              <a:rPr lang="en-HK" dirty="0">
                <a:solidFill>
                  <a:srgbClr val="FF0000"/>
                </a:solidFill>
                <a:latin typeface="+mn-lt"/>
              </a:rPr>
            </a:br>
            <a:r>
              <a:rPr lang="en-HK" dirty="0">
                <a:solidFill>
                  <a:srgbClr val="FF0000"/>
                </a:solidFill>
                <a:latin typeface="+mn-lt"/>
              </a:rPr>
              <a:t/>
            </a:r>
            <a:br>
              <a:rPr lang="en-HK" dirty="0">
                <a:solidFill>
                  <a:srgbClr val="FF0000"/>
                </a:solidFill>
                <a:latin typeface="+mn-lt"/>
              </a:rPr>
            </a:br>
            <a:r>
              <a:rPr lang="en-HK" dirty="0">
                <a:solidFill>
                  <a:srgbClr val="FF0000"/>
                </a:solidFill>
                <a:latin typeface="+mn-lt"/>
              </a:rPr>
              <a:t/>
            </a:r>
            <a:br>
              <a:rPr lang="en-HK" dirty="0">
                <a:solidFill>
                  <a:srgbClr val="FF0000"/>
                </a:solidFill>
                <a:latin typeface="+mn-lt"/>
              </a:rPr>
            </a:br>
            <a:r>
              <a:rPr lang="en-HK" dirty="0">
                <a:solidFill>
                  <a:srgbClr val="FF0000"/>
                </a:solidFill>
                <a:latin typeface="+mn-lt"/>
              </a:rPr>
              <a:t/>
            </a:r>
            <a:br>
              <a:rPr lang="en-HK" dirty="0">
                <a:solidFill>
                  <a:srgbClr val="FF0000"/>
                </a:solidFill>
                <a:latin typeface="+mn-lt"/>
              </a:rPr>
            </a:br>
            <a:endParaRPr lang="en-HK" dirty="0">
              <a:solidFill>
                <a:srgbClr val="FF0000"/>
              </a:solidFill>
              <a:latin typeface="+mn-lt"/>
            </a:endParaRPr>
          </a:p>
          <a:p>
            <a:pPr lvl="1"/>
            <a:r>
              <a:rPr lang="en-HK" dirty="0">
                <a:solidFill>
                  <a:srgbClr val="FF0000"/>
                </a:solidFill>
                <a:latin typeface="+mn-lt"/>
              </a:rPr>
              <a:t>(g)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目的是數據校驗，雙重確認用戶輸入的密碼無誤。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5.10</a:t>
            </a:r>
            <a:endParaRPr lang="en-GB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39" y="2639924"/>
            <a:ext cx="8562831" cy="200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5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HK_Kelie_20220801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EPPT_HK_Kelie_20220801" id="{65F25E0B-E9C0-46F1-AB3B-56C4AD4346BF}" vid="{AA16955C-DB03-4B43-BEEC-E0AA3A935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DSEPPT_HK_Kelie_20220801</Template>
  <TotalTime>1135</TotalTime>
  <Words>2786</Words>
  <Application>Microsoft Office PowerPoint</Application>
  <PresentationFormat>寬螢幕</PresentationFormat>
  <Paragraphs>647</Paragraphs>
  <Slides>95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95</vt:i4>
      </vt:variant>
    </vt:vector>
  </HeadingPairs>
  <TitlesOfParts>
    <vt:vector size="104" baseType="lpstr">
      <vt:lpstr>Noto Sans CJK TC Bold</vt:lpstr>
      <vt:lpstr>Noto Sans CJK TC Light</vt:lpstr>
      <vt:lpstr>Noto Sans CJK TC Medium</vt:lpstr>
      <vt:lpstr>Noto Sans CJK TC Regular</vt:lpstr>
      <vt:lpstr>Arial</vt:lpstr>
      <vt:lpstr>Courier New</vt:lpstr>
      <vt:lpstr>Myriad Pro</vt:lpstr>
      <vt:lpstr>Tw Cen MT</vt:lpstr>
      <vt:lpstr>DSEPPT_HK_Kelie_20220801</vt:lpstr>
      <vt:lpstr>第五課 Python 綜合解難</vt:lpstr>
      <vt:lpstr>PowerPoint 簡報</vt:lpstr>
      <vt:lpstr>列表</vt:lpstr>
      <vt:lpstr>陣列與 Python 列表</vt:lpstr>
      <vt:lpstr>Basic operations of Python lists</vt:lpstr>
      <vt:lpstr>Python 列表的基本運作</vt:lpstr>
      <vt:lpstr>Python 列表的基本運作</vt:lpstr>
      <vt:lpstr>Python 列表的基本運作</vt:lpstr>
      <vt:lpstr>Python 列表的基本運作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列表綜合應用</vt:lpstr>
      <vt:lpstr>列表運算</vt:lpstr>
      <vt:lpstr>列表運算</vt:lpstr>
      <vt:lpstr>列表運算</vt:lpstr>
      <vt:lpstr>PowerPoint 簡報</vt:lpstr>
      <vt:lpstr>PowerPoint 簡報</vt:lpstr>
      <vt:lpstr>PowerPoint 簡報</vt:lpstr>
      <vt:lpstr>搜索列表中的項目</vt:lpstr>
      <vt:lpstr>PowerPoint 簡報</vt:lpstr>
      <vt:lpstr>PowerPoint 簡報</vt:lpstr>
      <vt:lpstr>PowerPoint 簡報</vt:lpstr>
      <vt:lpstr>PowerPoint 簡報</vt:lpstr>
      <vt:lpstr>搜索列表中的項目</vt:lpstr>
      <vt:lpstr>PowerPoint 簡報</vt:lpstr>
      <vt:lpstr>搜索列表中的項目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搜索列表中的項目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檢查列表中的值是否按次序排列</vt:lpstr>
      <vt:lpstr>PowerPoint 簡報</vt:lpstr>
      <vt:lpstr>PowerPoint 簡報</vt:lpstr>
      <vt:lpstr>PowerPoint 簡報</vt:lpstr>
      <vt:lpstr>PowerPoint 簡報</vt:lpstr>
      <vt:lpstr>加入或刪除列表中的項目</vt:lpstr>
      <vt:lpstr>PowerPoint 簡報</vt:lpstr>
      <vt:lpstr>PowerPoint 簡報</vt:lpstr>
      <vt:lpstr>加入或刪除列表中的項目</vt:lpstr>
      <vt:lpstr>PowerPoint 簡報</vt:lpstr>
      <vt:lpstr>PowerPoint 簡報</vt:lpstr>
      <vt:lpstr>調動列表中的項目</vt:lpstr>
      <vt:lpstr>PowerPoint 簡報</vt:lpstr>
      <vt:lpstr>PowerPoint 簡報</vt:lpstr>
      <vt:lpstr>Python 字串的綜合應用</vt:lpstr>
      <vt:lpstr>Python 字串的綜合應用</vt:lpstr>
      <vt:lpstr>Python 字串的綜合應用</vt:lpstr>
      <vt:lpstr>找出字符串的長度</vt:lpstr>
      <vt:lpstr>找出字符是否存在於字串中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找出字符是否存在於字串中</vt:lpstr>
      <vt:lpstr>找出字符是否存在於字串中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判斷字符的類別</vt:lpstr>
      <vt:lpstr>判斷字符的類別</vt:lpstr>
      <vt:lpstr>判斷字符的類別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Cherry</dc:creator>
  <cp:lastModifiedBy>Cherry</cp:lastModifiedBy>
  <cp:revision>31</cp:revision>
  <dcterms:created xsi:type="dcterms:W3CDTF">2022-08-17T09:32:17Z</dcterms:created>
  <dcterms:modified xsi:type="dcterms:W3CDTF">2022-08-19T07:55:49Z</dcterms:modified>
</cp:coreProperties>
</file>