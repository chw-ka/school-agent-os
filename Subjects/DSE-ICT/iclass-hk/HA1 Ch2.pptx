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A9C"/>
    <a:srgbClr val="504E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-Cover-HK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=""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=""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=""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=""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lnSpc>
                <a:spcPct val="100000"/>
              </a:lnSpc>
              <a:defRPr b="0">
                <a:solidFill>
                  <a:srgbClr val="007078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zh-TW" altLang="en-US" sz="5400" b="1" dirty="0">
                <a:solidFill>
                  <a:srgbClr val="00A0A9"/>
                </a:solidFill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明德資訊及通訊科技</a:t>
            </a:r>
            <a:endParaRPr lang="en-GB" altLang="zh-TW" sz="5400" b="1" dirty="0">
              <a:solidFill>
                <a:srgbClr val="00A0A9"/>
              </a:solidFill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9D8FD09F-D8A1-E336-3B87-044CB68F4B9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="" xmlns:a16="http://schemas.microsoft.com/office/drawing/2014/main" id="{069BCDB6-856A-6319-8C9A-5031698A31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B47D0310-AA82-8F1E-85B7-9D84E0B5E56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448" y="2853016"/>
            <a:ext cx="2113404" cy="5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66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-Cover-HK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=""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=""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=""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=""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lnSpc>
                <a:spcPct val="100000"/>
              </a:lnSpc>
              <a:defRPr b="0">
                <a:solidFill>
                  <a:srgbClr val="007078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A0A9"/>
                </a:solidFill>
                <a:effectLst/>
                <a:uLnTx/>
                <a:uFillTx/>
                <a:latin typeface="Noto Sans CJK TC Medium" panose="020B0600000000000000" pitchFamily="34" charset="-128"/>
                <a:ea typeface="Noto Sans CJK TC Medium" panose="020B0600000000000000" pitchFamily="34" charset="-128"/>
                <a:cs typeface="+mn-cs"/>
              </a:rPr>
              <a:t>明德資訊及通訊科技</a:t>
            </a:r>
            <a:endParaRPr kumimoji="0" lang="en-GB" altLang="zh-TW" sz="5400" b="1" i="0" u="none" strike="noStrike" kern="1200" cap="none" spc="0" normalizeH="0" baseline="0" noProof="0" dirty="0">
              <a:ln>
                <a:noFill/>
              </a:ln>
              <a:solidFill>
                <a:srgbClr val="00A0A9"/>
              </a:solidFill>
              <a:effectLst/>
              <a:uLnTx/>
              <a:uFillTx/>
              <a:latin typeface="Noto Sans CJK TC Medium" panose="020B0600000000000000" pitchFamily="34" charset="-128"/>
              <a:ea typeface="Noto Sans CJK TC Medium" panose="020B0600000000000000" pitchFamily="34" charset="-128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2DAD781-428A-67D8-7C55-666DFF21CB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736497C4-9FC9-151F-62D2-FB395805F0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A941542A-A967-C085-B406-0716C05FAE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448" y="2853016"/>
            <a:ext cx="2787011" cy="5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461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-Cover-HK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=""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=""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=""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=""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lnSpc>
                <a:spcPct val="100000"/>
              </a:lnSpc>
              <a:defRPr b="0">
                <a:solidFill>
                  <a:srgbClr val="007078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A0A9"/>
                </a:solidFill>
                <a:effectLst/>
                <a:uLnTx/>
                <a:uFillTx/>
                <a:latin typeface="Noto Sans CJK TC Medium" panose="020B0600000000000000" pitchFamily="34" charset="-128"/>
                <a:ea typeface="Noto Sans CJK TC Medium" panose="020B0600000000000000" pitchFamily="34" charset="-128"/>
                <a:cs typeface="+mn-cs"/>
              </a:rPr>
              <a:t>明德資訊及通訊科技</a:t>
            </a:r>
            <a:endParaRPr kumimoji="0" lang="en-GB" altLang="zh-TW" sz="5400" b="1" i="0" u="none" strike="noStrike" kern="1200" cap="none" spc="0" normalizeH="0" baseline="0" noProof="0" dirty="0">
              <a:ln>
                <a:noFill/>
              </a:ln>
              <a:solidFill>
                <a:srgbClr val="00A0A9"/>
              </a:solidFill>
              <a:effectLst/>
              <a:uLnTx/>
              <a:uFillTx/>
              <a:latin typeface="Noto Sans CJK TC Medium" panose="020B0600000000000000" pitchFamily="34" charset="-128"/>
              <a:ea typeface="Noto Sans CJK TC Medium" panose="020B0600000000000000" pitchFamily="34" charset="-128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217E881E-670F-B298-11FD-7D2AE51F6D8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A97AA30C-B131-11B2-D159-FECF538D59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D1A92E3-3244-CFBD-6601-65380FC61F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448" y="2853016"/>
            <a:ext cx="3189260" cy="5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414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-Cover-HK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=""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=""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=""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=""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lnSpc>
                <a:spcPct val="100000"/>
              </a:lnSpc>
              <a:defRPr b="0">
                <a:solidFill>
                  <a:srgbClr val="007078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A0A9"/>
                </a:solidFill>
                <a:effectLst/>
                <a:uLnTx/>
                <a:uFillTx/>
                <a:latin typeface="Noto Sans CJK TC Medium" panose="020B0600000000000000" pitchFamily="34" charset="-128"/>
                <a:ea typeface="Noto Sans CJK TC Medium" panose="020B0600000000000000" pitchFamily="34" charset="-128"/>
                <a:cs typeface="+mn-cs"/>
              </a:rPr>
              <a:t>明德資訊及通訊科技</a:t>
            </a:r>
            <a:endParaRPr kumimoji="0" lang="en-GB" altLang="zh-TW" sz="5400" b="1" i="0" u="none" strike="noStrike" kern="1200" cap="none" spc="0" normalizeH="0" baseline="0" noProof="0" dirty="0">
              <a:ln>
                <a:noFill/>
              </a:ln>
              <a:solidFill>
                <a:srgbClr val="00A0A9"/>
              </a:solidFill>
              <a:effectLst/>
              <a:uLnTx/>
              <a:uFillTx/>
              <a:latin typeface="Noto Sans CJK TC Medium" panose="020B0600000000000000" pitchFamily="34" charset="-128"/>
              <a:ea typeface="Noto Sans CJK TC Medium" panose="020B0600000000000000" pitchFamily="34" charset="-128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07506DF5-D585-C85A-7378-578CF95524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F6743423-DF9F-5DF4-442D-BF34F62A7AC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29066DD1-D16A-E0C9-4F5E-5F3B3D94FE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448" y="2853016"/>
            <a:ext cx="3933102" cy="5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52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-Cover-HK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="" xmlns:a16="http://schemas.microsoft.com/office/drawing/2014/main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="" xmlns:a16="http://schemas.microsoft.com/office/drawing/2014/main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="" xmlns:a16="http://schemas.microsoft.com/office/drawing/2014/main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="" xmlns:a16="http://schemas.microsoft.com/office/drawing/2014/main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="" xmlns:a16="http://schemas.microsoft.com/office/drawing/2014/main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lnSpc>
                <a:spcPct val="100000"/>
              </a:lnSpc>
              <a:defRPr b="0">
                <a:solidFill>
                  <a:srgbClr val="007078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A0A9"/>
                </a:solidFill>
                <a:effectLst/>
                <a:uLnTx/>
                <a:uFillTx/>
                <a:latin typeface="Noto Sans CJK TC Medium" panose="020B0600000000000000" pitchFamily="34" charset="-128"/>
                <a:ea typeface="Noto Sans CJK TC Medium" panose="020B0600000000000000" pitchFamily="34" charset="-128"/>
                <a:cs typeface="+mn-cs"/>
              </a:rPr>
              <a:t>明德資訊及通訊科技</a:t>
            </a:r>
            <a:endParaRPr kumimoji="0" lang="en-GB" altLang="zh-TW" sz="5400" b="1" i="0" u="none" strike="noStrike" kern="1200" cap="none" spc="0" normalizeH="0" baseline="0" noProof="0" dirty="0">
              <a:ln>
                <a:noFill/>
              </a:ln>
              <a:solidFill>
                <a:srgbClr val="00A0A9"/>
              </a:solidFill>
              <a:effectLst/>
              <a:uLnTx/>
              <a:uFillTx/>
              <a:latin typeface="Noto Sans CJK TC Medium" panose="020B0600000000000000" pitchFamily="34" charset="-128"/>
              <a:ea typeface="Noto Sans CJK TC Medium" panose="020B0600000000000000" pitchFamily="34" charset="-128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3CC61186-C2CB-33BF-880D-468C0FE8B48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0390D0C5-32B0-F4A3-8473-6945918A77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3E0A19B2-6EE3-F634-8DE6-6BB0ACDC932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448" y="2853016"/>
            <a:ext cx="5130272" cy="5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474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orange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F959AFF4-B8A0-A3C7-7993-7FA710926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9/21/2022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=""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624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blue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FCEF8422-2834-DB27-5926-614C3330A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>
            <a:lvl1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1pPr>
            <a:lvl2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2pPr>
            <a:lvl3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3pPr>
            <a:lvl4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4pPr>
            <a:lvl5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9/21/2022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=""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324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green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3A5034A-907A-8C5B-D5CC-924E35AB3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9/21/2022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=""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2894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red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7278B562-C8FA-FAB0-08D4-4DD481443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9/21/2022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=""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77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cyan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58F1F850-D926-8BC4-36C0-7FD5EFC48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>
            <a:lvl1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1pPr>
            <a:lvl2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2pPr>
            <a:lvl3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3pPr>
            <a:lvl4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4pPr>
            <a:lvl5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9/21/2022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="" xmlns:a16="http://schemas.microsoft.com/office/drawing/2014/main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0414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nip Diagonal Corner Rectangle 3">
            <a:extLst>
              <a:ext uri="{FF2B5EF4-FFF2-40B4-BE49-F238E27FC236}">
                <a16:creationId xmlns="" xmlns:a16="http://schemas.microsoft.com/office/drawing/2014/main" id="{B505DC89-2E6F-5786-39F5-2B4AC2C46AF0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C26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9/21/2022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="" xmlns:a16="http://schemas.microsoft.com/office/drawing/2014/main" id="{C34498B1-43FD-DC69-5B53-AFC4C547FB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="" xmlns:a16="http://schemas.microsoft.com/office/drawing/2014/main" id="{43D25585-2BA2-DAE6-6CD9-0856FBF8481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514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="" xmlns:a16="http://schemas.microsoft.com/office/drawing/2014/main" id="{72874D61-669D-1562-9471-3F57078BE147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2132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9/21/2022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="" xmlns:a16="http://schemas.microsoft.com/office/drawing/2014/main" id="{C34498B1-43FD-DC69-5B53-AFC4C547FB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="" xmlns:a16="http://schemas.microsoft.com/office/drawing/2014/main" id="{6B5BC051-110A-C89D-9342-F257EABF8C2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47905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="" xmlns:a16="http://schemas.microsoft.com/office/drawing/2014/main" id="{A2D0F62E-5468-5683-75D2-94AABF0D8A47}"/>
              </a:ext>
            </a:extLst>
          </p:cNvPr>
          <p:cNvSpPr>
            <a:spLocks noChangeAspect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0078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9/21/2022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="" xmlns:a16="http://schemas.microsoft.com/office/drawing/2014/main" id="{C34498B1-43FD-DC69-5B53-AFC4C547F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="" xmlns:a16="http://schemas.microsoft.com/office/drawing/2014/main" id="{AA369FF4-FA36-C573-1B73-72B7F94DBF1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6728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="" xmlns:a16="http://schemas.microsoft.com/office/drawing/2014/main" id="{4DAD662D-900F-5555-5351-CB7EA4561EB7}"/>
              </a:ext>
            </a:extLst>
          </p:cNvPr>
          <p:cNvSpPr>
            <a:spLocks noChangeAspect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B72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9/21/2022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="" xmlns:a16="http://schemas.microsoft.com/office/drawing/2014/main" id="{C34498B1-43FD-DC69-5B53-AFC4C547F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="" xmlns:a16="http://schemas.microsoft.com/office/drawing/2014/main" id="{8AEC8F0B-7C47-5026-ABEB-5E962B73948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9722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="" xmlns:a16="http://schemas.microsoft.com/office/drawing/2014/main" id="{215673C9-3F6B-C178-D494-7C8B73C3CDF6}"/>
              </a:ext>
            </a:extLst>
          </p:cNvPr>
          <p:cNvSpPr>
            <a:spLocks noChangeAspect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3F82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9/21/2022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="" xmlns:a16="http://schemas.microsoft.com/office/drawing/2014/main" id="{C34498B1-43FD-DC69-5B53-AFC4C547F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="" xmlns:a16="http://schemas.microsoft.com/office/drawing/2014/main" id="{C9063645-AAC5-51BC-FFC8-34CC9F594B5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43791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xample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AEDC08FA-FC71-5479-9731-ACADDACDB12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9/21/2022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="" xmlns:a16="http://schemas.microsoft.com/office/drawing/2014/main" id="{EB0149AE-399E-56CA-418B-96532FF191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469345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02632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eckpoint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3378BB05-006A-84B6-7DC5-1C78180EC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9/21/2022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="" xmlns:a16="http://schemas.microsoft.com/office/drawing/2014/main" id="{E63A75CB-E77D-CC21-A6EF-2A476E4BC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763795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1645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ctivity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7E1F04E3-1448-35F1-6590-2963551E3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9/21/2022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="" xmlns:a16="http://schemas.microsoft.com/office/drawing/2014/main" id="{E63A75CB-E77D-CC21-A6EF-2A476E4BC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470901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50399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b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A6D7C970-CC55-F612-1833-02A18D885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9/21/2022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="" xmlns:a16="http://schemas.microsoft.com/office/drawing/2014/main" id="{E63A75CB-E77D-CC21-A6EF-2A476E4BC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743839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82824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isconce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B7B0A839-D23C-1435-A186-FA67B6572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9/21/2022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=""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常見錯誤</a:t>
            </a:r>
            <a:endParaRPr lang="en-US" b="0" i="0" dirty="0"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="" xmlns:a16="http://schemas.microsoft.com/office/drawing/2014/main" id="{435FBDB0-6C27-C606-20C5-686A00F1877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693716" y="1609199"/>
            <a:ext cx="9660083" cy="215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042C0F3B-5325-9C8D-A663-14E64C0C815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93716" y="4024188"/>
            <a:ext cx="9658800" cy="216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68146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 ab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5F94735F-B64E-887A-0584-E2B7E148B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9/21/2022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=""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試想想</a:t>
            </a:r>
            <a:endParaRPr lang="en-US" b="0" i="0" dirty="0"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8" name="Content Placeholder 10">
            <a:extLst>
              <a:ext uri="{FF2B5EF4-FFF2-40B4-BE49-F238E27FC236}">
                <a16:creationId xmlns="" xmlns:a16="http://schemas.microsoft.com/office/drawing/2014/main" id="{69195DCF-0E55-AAB5-1074-39FAB8E195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1029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23F49635-7B62-1BF0-3627-0DEF2D36B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4923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9/21/2022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=""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solidFill>
                  <a:srgbClr val="84AD40"/>
                </a:solidFill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提示</a:t>
            </a:r>
            <a:endParaRPr lang="en-US" b="0" i="0" dirty="0">
              <a:solidFill>
                <a:srgbClr val="84AD40"/>
              </a:solidFill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8" name="Content Placeholder 10">
            <a:extLst>
              <a:ext uri="{FF2B5EF4-FFF2-40B4-BE49-F238E27FC236}">
                <a16:creationId xmlns="" xmlns:a16="http://schemas.microsoft.com/office/drawing/2014/main" id="{9E46E5CA-E96E-2DB9-64FE-5E1D76C77C9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29095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a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BE6276F9-8CAE-0301-EC9B-559DB9D08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9/21/2022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=""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solidFill>
                  <a:srgbClr val="7570B3"/>
                </a:solidFill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類比</a:t>
            </a:r>
            <a:endParaRPr lang="en-US" b="0" i="0" dirty="0">
              <a:solidFill>
                <a:srgbClr val="7570B3"/>
              </a:solidFill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8" name="Content Placeholder 10">
            <a:extLst>
              <a:ext uri="{FF2B5EF4-FFF2-40B4-BE49-F238E27FC236}">
                <a16:creationId xmlns="" xmlns:a16="http://schemas.microsoft.com/office/drawing/2014/main" id="{15CCE8C4-EE82-5FA1-86D9-7618ACBB4E8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7470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rich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4EC24769-7557-7417-69AD-C7D98D6EF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4923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9/21/2022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=""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solidFill>
                  <a:srgbClr val="7570B3"/>
                </a:solidFill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擴闊視野</a:t>
            </a:r>
            <a:endParaRPr lang="en-US" b="0" i="0" dirty="0">
              <a:solidFill>
                <a:srgbClr val="7570B3"/>
              </a:solidFill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8" name="Content Placeholder 10">
            <a:extLst>
              <a:ext uri="{FF2B5EF4-FFF2-40B4-BE49-F238E27FC236}">
                <a16:creationId xmlns="" xmlns:a16="http://schemas.microsoft.com/office/drawing/2014/main" id="{C0FDA7B9-3B4F-45FE-C0CB-6CE489DF46B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2345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storical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0A365613-9A6E-EC8F-CC4F-45C6843B5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9/21/2022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=""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solidFill>
                  <a:srgbClr val="7570B3"/>
                </a:solidFill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古往今來</a:t>
            </a:r>
            <a:endParaRPr lang="en-US" b="0" i="0" dirty="0">
              <a:solidFill>
                <a:srgbClr val="7570B3"/>
              </a:solidFill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9" name="Content Placeholder 10">
            <a:extLst>
              <a:ext uri="{FF2B5EF4-FFF2-40B4-BE49-F238E27FC236}">
                <a16:creationId xmlns="" xmlns:a16="http://schemas.microsoft.com/office/drawing/2014/main" id="{9FE9C956-B01C-9F5B-D06E-B224FA04F06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11021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EAM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99F6A893-6ACD-62D2-E506-31CE1C78B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9/21/2022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=""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7570B3"/>
                </a:solidFill>
              </a:rPr>
              <a:t>STEAM+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="" xmlns:a16="http://schemas.microsoft.com/office/drawing/2014/main" id="{D8CACC2A-8E2C-4654-1BEE-FF9B00C1EA1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75974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B852B39E-570D-BB77-3EC2-68BF2DA34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4923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9/21/2022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82711" y="6492875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="" xmlns:a16="http://schemas.microsoft.com/office/drawing/2014/main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solidFill>
                  <a:srgbClr val="C6993D"/>
                </a:solidFill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網上資源</a:t>
            </a:r>
            <a:endParaRPr lang="en-US" b="0" i="0" dirty="0">
              <a:solidFill>
                <a:srgbClr val="C6993D"/>
              </a:solidFill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9" name="Content Placeholder 10">
            <a:extLst>
              <a:ext uri="{FF2B5EF4-FFF2-40B4-BE49-F238E27FC236}">
                <a16:creationId xmlns="" xmlns:a16="http://schemas.microsoft.com/office/drawing/2014/main" id="{7873EF2F-CB2D-FF0C-FE7E-4E5878DAD73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78480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="" xmlns:a16="http://schemas.microsoft.com/office/drawing/2014/main" id="{D221140A-902D-C446-8456-B18F8CA1510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833800" y="1609200"/>
            <a:ext cx="2520000" cy="32832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1314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>
            <a:extLst>
              <a:ext uri="{FF2B5EF4-FFF2-40B4-BE49-F238E27FC236}">
                <a16:creationId xmlns="" xmlns:a16="http://schemas.microsoft.com/office/drawing/2014/main" id="{210F294E-2671-69F2-AD8E-91EF65CCF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9/21/2022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="" xmlns:a16="http://schemas.microsoft.com/office/drawing/2014/main" id="{BF720291-4918-3157-E8A0-2C33F0241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="" xmlns:a16="http://schemas.microsoft.com/office/drawing/2014/main" id="{284E269C-57B9-5795-9B37-30D8685C0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1251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2754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615CB804-96AA-A5E1-7170-B54411166665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CE581-C706-43BB-9E93-1B4DA785C440}" type="datetime1">
              <a:rPr lang="en-US" smtClean="0"/>
              <a:t>9/21/2022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="" xmlns:a16="http://schemas.microsoft.com/office/drawing/2014/main" id="{0F58C60C-B777-2B7A-945B-E3C184807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2431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21" r:id="rId12"/>
    <p:sldLayoutId id="2147483722" r:id="rId13"/>
    <p:sldLayoutId id="2147483723" r:id="rId14"/>
    <p:sldLayoutId id="2147483724" r:id="rId15"/>
    <p:sldLayoutId id="2147483706" r:id="rId16"/>
    <p:sldLayoutId id="2147483707" r:id="rId17"/>
    <p:sldLayoutId id="2147483708" r:id="rId18"/>
    <p:sldLayoutId id="2147483709" r:id="rId19"/>
    <p:sldLayoutId id="2147483712" r:id="rId20"/>
    <p:sldLayoutId id="2147483714" r:id="rId21"/>
    <p:sldLayoutId id="2147483715" r:id="rId22"/>
    <p:sldLayoutId id="2147483716" r:id="rId23"/>
    <p:sldLayoutId id="2147483717" r:id="rId24"/>
    <p:sldLayoutId id="2147483718" r:id="rId25"/>
    <p:sldLayoutId id="2147483719" r:id="rId26"/>
    <p:sldLayoutId id="2147483720" r:id="rId27"/>
    <p:sldLayoutId id="2147483710" r:id="rId28"/>
    <p:sldLayoutId id="2147483711" r:id="rId2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none" baseline="0">
          <a:solidFill>
            <a:srgbClr val="606060"/>
          </a:solidFill>
          <a:latin typeface="Noto Sans CJK TC Bold" panose="020B0800000000000000" pitchFamily="34" charset="-128"/>
          <a:ea typeface="Noto Sans CJK TC Bold" panose="020B0800000000000000" pitchFamily="34" charset="-128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None/>
        <a:defRPr sz="2000" kern="1200">
          <a:solidFill>
            <a:schemeClr val="tx1"/>
          </a:solidFill>
          <a:latin typeface="Noto Sans CJK TC Light" panose="020B0300000000000000" pitchFamily="34" charset="-128"/>
          <a:ea typeface="Noto Sans CJK TC Light" panose="020B0300000000000000" pitchFamily="34" charset="-128"/>
          <a:cs typeface="+mn-cs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800" kern="1200">
          <a:solidFill>
            <a:schemeClr val="tx1"/>
          </a:solidFill>
          <a:latin typeface="Noto Sans CJK TC Light" panose="020B0300000000000000" pitchFamily="34" charset="-128"/>
          <a:ea typeface="Noto Sans CJK TC Light" panose="020B0300000000000000" pitchFamily="34" charset="-128"/>
          <a:cs typeface="+mn-cs"/>
        </a:defRPr>
      </a:lvl2pPr>
      <a:lvl3pPr marL="9144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600" kern="1200">
          <a:solidFill>
            <a:schemeClr val="tx1"/>
          </a:solidFill>
          <a:latin typeface="Noto Sans CJK TC Light" panose="020B0300000000000000" pitchFamily="34" charset="-128"/>
          <a:ea typeface="Noto Sans CJK TC Light" panose="020B0300000000000000" pitchFamily="34" charset="-128"/>
          <a:cs typeface="+mn-cs"/>
        </a:defRPr>
      </a:lvl3pPr>
      <a:lvl4pPr marL="13716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400" kern="1200">
          <a:solidFill>
            <a:schemeClr val="tx1"/>
          </a:solidFill>
          <a:latin typeface="Noto Sans CJK TC Light" panose="020B0300000000000000" pitchFamily="34" charset="-128"/>
          <a:ea typeface="Noto Sans CJK TC Light" panose="020B0300000000000000" pitchFamily="34" charset="-128"/>
          <a:cs typeface="+mn-cs"/>
        </a:defRPr>
      </a:lvl4pPr>
      <a:lvl5pPr marL="18288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400" kern="1200">
          <a:solidFill>
            <a:schemeClr val="tx1"/>
          </a:solidFill>
          <a:latin typeface="Noto Sans CJK TC Light" panose="020B0300000000000000" pitchFamily="34" charset="-128"/>
          <a:ea typeface="Noto Sans CJK TC Light" panose="020B0300000000000000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7.emf"/><Relationship Id="rId4" Type="http://schemas.openxmlformats.org/officeDocument/2006/relationships/image" Target="../media/image36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第二課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/>
              <a:t>數據控制及數據組織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5642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algn="ctr"/>
            <a:r>
              <a:rPr lang="zh-TW" altLang="en-US" dirty="0" smtClean="0"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為什麼醫生能知道你的醫療記錄？</a:t>
            </a:r>
            <a:endParaRPr lang="en-US" altLang="zh-TW" dirty="0" smtClean="0">
              <a:latin typeface="Noto Sans CJK TC Bold" panose="020B0800000000000000" pitchFamily="34" charset="-128"/>
              <a:ea typeface="Noto Sans CJK TC Bold" panose="020B0800000000000000" pitchFamily="34" charset="-128"/>
            </a:endParaRPr>
          </a:p>
          <a:p>
            <a:pPr algn="ctr"/>
            <a:r>
              <a:rPr lang="en-US" altLang="zh-TW" dirty="0" smtClean="0">
                <a:latin typeface="Myriad Pro" panose="020B0503030403020204" pitchFamily="34" charset="0"/>
              </a:rPr>
              <a:t>2008</a:t>
            </a:r>
            <a:r>
              <a:rPr lang="zh-TW" altLang="en-US" dirty="0" smtClean="0">
                <a:latin typeface="Myriad Pro" panose="020B0503030403020204" pitchFamily="34" charset="0"/>
              </a:rPr>
              <a:t>年，香港政府開發了一個電子平台「醫健通」。此平台會展示所有參與者的電子健康記錄，將參與者的個人資料數碼化，並儲存於數據庫中。</a:t>
            </a:r>
            <a:endParaRPr lang="en-US" altLang="zh-TW" dirty="0" smtClean="0">
              <a:latin typeface="Myriad Pro" panose="020B0503030403020204" pitchFamily="34" charset="0"/>
            </a:endParaRPr>
          </a:p>
          <a:p>
            <a:pPr algn="ctr"/>
            <a:r>
              <a:rPr lang="zh-TW" altLang="en-US" dirty="0" smtClean="0">
                <a:latin typeface="Myriad Pro" panose="020B0503030403020204" pitchFamily="34" charset="0"/>
              </a:rPr>
              <a:t>這就是組織和控制數據的例子。</a:t>
            </a:r>
            <a:endParaRPr lang="en-GB" dirty="0">
              <a:latin typeface="Myriad Pro" panose="020B0503030403020204" pitchFamily="34" charset="0"/>
            </a:endParaRPr>
          </a:p>
        </p:txBody>
      </p:sp>
      <p:pic>
        <p:nvPicPr>
          <p:cNvPr id="6" name="圖片版面配置區 5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2" b="131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36151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數據分級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  <p:sp>
        <p:nvSpPr>
          <p:cNvPr id="8" name="文字版面配置區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2.1</a:t>
            </a:r>
            <a:endParaRPr lang="en-GB" dirty="0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/>
              <a:t>數據通常以</a:t>
            </a:r>
            <a:r>
              <a:rPr lang="zh-TW" altLang="en-US" dirty="0">
                <a:solidFill>
                  <a:srgbClr val="504E9F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分級形式</a:t>
            </a:r>
            <a:r>
              <a:rPr lang="zh-TW" altLang="en-US" dirty="0"/>
              <a:t>儲存。在數據分級中，每個較高層的數據都</a:t>
            </a:r>
            <a:r>
              <a:rPr lang="zh-TW" altLang="en-US" dirty="0" smtClean="0"/>
              <a:t>是較</a:t>
            </a:r>
            <a:r>
              <a:rPr lang="zh-TW" altLang="en-US" dirty="0"/>
              <a:t>低層項目的集合。</a:t>
            </a:r>
            <a:endParaRPr lang="en-GB" dirty="0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657" y="2275468"/>
            <a:ext cx="5431886" cy="4115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823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數據控制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2.2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/>
              <a:t>數據控制指管理數據的過程。此過程包括：</a:t>
            </a:r>
            <a:endParaRPr lang="en-US" altLang="zh-TW" dirty="0" smtClean="0"/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 smtClean="0"/>
              <a:t>數據有效性檢驗</a:t>
            </a:r>
            <a:endParaRPr lang="en-GB" altLang="zh-TW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 smtClean="0"/>
              <a:t>數據驗證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569205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無用輸入，無用輸出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/>
              <a:t>「無用輸入，無用輸出」指輸入不可靠或不</a:t>
            </a:r>
            <a:r>
              <a:rPr lang="zh-TW" altLang="en-US" dirty="0" smtClean="0"/>
              <a:t>協調的數據用作數據分析，導致無法得出有用的輸出結果。數據輸入錯誤包括：</a:t>
            </a:r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959296"/>
              </p:ext>
            </p:extLst>
          </p:nvPr>
        </p:nvGraphicFramePr>
        <p:xfrm>
          <a:off x="1553649" y="2573401"/>
          <a:ext cx="9029062" cy="3755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1105"/>
                <a:gridCol w="3937561"/>
                <a:gridCol w="3610396"/>
              </a:tblGrid>
              <a:tr h="410867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錯誤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8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說明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8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例子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897"/>
                    </a:solidFill>
                  </a:tcPr>
                </a:tc>
              </a:tr>
              <a:tr h="1114791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數據來源錯誤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數據來源提供了不正確的數據。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用戶錯誤地提供了一個不存在的</a:t>
                      </a:r>
                    </a:p>
                    <a:p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電子郵件地址。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4791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轉錄錯誤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數據被誤讀、誤聽或誤植。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打字員將「冶」打錯為「治」。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4791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換位錯誤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數據位置不正確。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某人於記錄一項交易時誤將兩</a:t>
                      </a:r>
                    </a:p>
                    <a:p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個相鄰數字調轉，令「</a:t>
                      </a:r>
                      <a:r>
                        <a:rPr lang="en-US" altLang="zh-TW" dirty="0" smtClean="0">
                          <a:latin typeface="+mn-lt"/>
                          <a:ea typeface="Noto Sans CJK TC Light" panose="020B0300000000000000" pitchFamily="34" charset="-128"/>
                        </a:rPr>
                        <a:t>$15</a:t>
                      </a:r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」</a:t>
                      </a:r>
                    </a:p>
                    <a:p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變成「</a:t>
                      </a:r>
                      <a:r>
                        <a:rPr lang="en-US" altLang="zh-TW" dirty="0" smtClean="0">
                          <a:latin typeface="+mn-lt"/>
                          <a:ea typeface="Noto Sans CJK TC Light" panose="020B0300000000000000" pitchFamily="34" charset="-128"/>
                        </a:rPr>
                        <a:t>$51</a:t>
                      </a:r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」。。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4541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數據有效性檢驗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6657632" cy="4680000"/>
          </a:xfrm>
        </p:spPr>
        <p:txBody>
          <a:bodyPr/>
          <a:lstStyle/>
          <a:p>
            <a:r>
              <a:rPr lang="zh-TW" altLang="en-US" dirty="0" smtClean="0">
                <a:solidFill>
                  <a:srgbClr val="504E9F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數據有效性檢驗</a:t>
            </a:r>
            <a:r>
              <a:rPr lang="zh-TW" altLang="en-US" dirty="0" smtClean="0"/>
              <a:t>可確保該數據合理並符合特定規則。</a:t>
            </a:r>
            <a:endParaRPr lang="en-US" altLang="zh-TW" dirty="0" smtClean="0"/>
          </a:p>
          <a:p>
            <a:endParaRPr lang="en-US" dirty="0" smtClean="0"/>
          </a:p>
          <a:p>
            <a:r>
              <a:rPr lang="zh-TW" altLang="en-US" dirty="0"/>
              <a:t>數據有效性檢驗通常由系統或程式</a:t>
            </a:r>
            <a:r>
              <a:rPr lang="zh-TW" altLang="en-US" dirty="0" smtClean="0"/>
              <a:t>運行，並被廣泛應用於線上平台。</a:t>
            </a:r>
            <a:endParaRPr lang="en-GB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0263" y="1433383"/>
            <a:ext cx="2987992" cy="466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748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數據有效性檢驗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/>
              <a:t>數據有效性檢驗有許多不同類型，包括</a:t>
            </a:r>
            <a:r>
              <a:rPr lang="zh-TW" altLang="en-US" dirty="0"/>
              <a:t>：</a:t>
            </a:r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847666"/>
              </p:ext>
            </p:extLst>
          </p:nvPr>
        </p:nvGraphicFramePr>
        <p:xfrm>
          <a:off x="1220597" y="2138762"/>
          <a:ext cx="9827019" cy="40114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2356"/>
                <a:gridCol w="3906982"/>
                <a:gridCol w="4297681"/>
              </a:tblGrid>
              <a:tr h="432262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類型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8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功能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8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例子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897"/>
                    </a:solidFill>
                  </a:tcPr>
                </a:tc>
              </a:tr>
              <a:tr h="58783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完整性檢查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確保必填欄位中有數據。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申請人必須提供姓名。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83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固定值檢查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確保數據只能來自一系列特定的值。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申請人的性別必須是「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M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」或「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F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」。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83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類型檢查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確保數據必須為特定類型。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申請人的年齡必須是數字。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83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範圍檢查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確保數據必須位於指定範圍內。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申請人的年齡必須大於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12 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歲。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83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長度檢查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確保數據的字符數必須在指定範圍內。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申請人必須提供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8 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個位的電話號碼。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83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格式檢查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確保數據必須採用特定格式。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申請人的電郵地址必須包含「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@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」符</a:t>
                      </a:r>
                    </a:p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號。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0149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數據有效性檢驗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/>
              <a:t>不同用戶界面有助使有效性檢驗更容易進行。</a:t>
            </a:r>
            <a:endParaRPr lang="en-US" altLang="zh-TW" dirty="0" smtClean="0"/>
          </a:p>
          <a:p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61899"/>
              </p:ext>
            </p:extLst>
          </p:nvPr>
        </p:nvGraphicFramePr>
        <p:xfrm>
          <a:off x="1453878" y="2036494"/>
          <a:ext cx="9514377" cy="4405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8108"/>
                <a:gridCol w="4384810"/>
                <a:gridCol w="3171459"/>
              </a:tblGrid>
              <a:tr h="44367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類型</a:t>
                      </a:r>
                      <a:endParaRPr lang="en-US" dirty="0"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8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有效性檢驗</a:t>
                      </a:r>
                      <a:endParaRPr lang="en-US" dirty="0"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8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例子</a:t>
                      </a:r>
                      <a:endParaRPr lang="en-US" dirty="0"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897"/>
                    </a:solidFill>
                  </a:tcPr>
                </a:tc>
              </a:tr>
              <a:tr h="90299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下拉式選單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固定值檢查：只可輸入其中一個特定值。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4544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單選按鈕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固定值檢查：只可輸入其中一個特定值。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4544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複選框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固定值檢查：只可輸入特定值，可選取多個值。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6831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日期選擇器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類型檢查：只可輸入日期。用戶不能選擇像「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32/08/2025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」 這樣的無效日期。</a:t>
                      </a:r>
                    </a:p>
                    <a:p>
                      <a:endParaRPr lang="en-US" altLang="zh-TW" sz="18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Noto Sans CJK TC Light" panose="020B0300000000000000" pitchFamily="34" charset="-128"/>
                        <a:cs typeface="+mn-cs"/>
                      </a:endParaRPr>
                    </a:p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格式檢查：日期必須為特定格式，如「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DD/MM/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YYYY」。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333" y="2551605"/>
            <a:ext cx="2727225" cy="799200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261" y="3417817"/>
            <a:ext cx="2051367" cy="691763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4261" y="4176592"/>
            <a:ext cx="2020193" cy="681251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2681" y="4924855"/>
            <a:ext cx="1452448" cy="149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159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類型檢查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/>
              <a:t>為方便組織和分析數據，同一欄位的數據應屬同一數據類型。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800" y="3163592"/>
            <a:ext cx="8871562" cy="2315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110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類型檢查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/>
              <a:t>以下為常用於數據欄位的數據類型：</a:t>
            </a:r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110171"/>
              </p:ext>
            </p:extLst>
          </p:nvPr>
        </p:nvGraphicFramePr>
        <p:xfrm>
          <a:off x="762000" y="2177930"/>
          <a:ext cx="10668000" cy="35970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38647"/>
                <a:gridCol w="2995353"/>
                <a:gridCol w="1333500"/>
                <a:gridCol w="1333500"/>
                <a:gridCol w="2667000"/>
              </a:tblGrid>
              <a:tr h="381209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數據類型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8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說明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89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數據值例子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89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用途例子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897"/>
                    </a:solidFill>
                  </a:tcPr>
                </a:tc>
              </a:tr>
              <a:tr h="767143"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整數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可以是正數或負數。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+mn-lt"/>
                          <a:ea typeface="Noto Sans CJK TC Light" panose="020B0300000000000000" pitchFamily="34" charset="-128"/>
                        </a:rPr>
                        <a:t>74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+mn-lt"/>
                          <a:ea typeface="Noto Sans CJK TC Light" panose="020B0300000000000000" pitchFamily="34" charset="-128"/>
                        </a:rPr>
                        <a:t>-29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學生人數、某人的年齡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7143"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浮點數</a:t>
                      </a:r>
                      <a:r>
                        <a:rPr lang="en-US" altLang="zh-TW" baseline="0" dirty="0" smtClean="0">
                          <a:latin typeface="+mn-lt"/>
                          <a:ea typeface="Noto Sans CJK TC Light" panose="020B0300000000000000" pitchFamily="34" charset="-128"/>
                        </a:rPr>
                        <a:t> / </a:t>
                      </a:r>
                      <a:r>
                        <a:rPr lang="zh-TW" altLang="en-US" baseline="0" dirty="0" smtClean="0">
                          <a:latin typeface="+mn-lt"/>
                          <a:ea typeface="Noto Sans CJK TC Light" panose="020B0300000000000000" pitchFamily="34" charset="-128"/>
                        </a:rPr>
                        <a:t>實數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可以是正數或負數。</a:t>
                      </a:r>
                    </a:p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可以有小數點和小數位。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+mn-lt"/>
                          <a:ea typeface="Noto Sans CJK TC Light" panose="020B0300000000000000" pitchFamily="34" charset="-128"/>
                        </a:rPr>
                        <a:t>2.09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+mn-lt"/>
                          <a:ea typeface="Noto Sans CJK TC Light" panose="020B0300000000000000" pitchFamily="34" charset="-128"/>
                        </a:rPr>
                        <a:t>1.00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某學生的分數、某人的身高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7143"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字串 </a:t>
                      </a:r>
                      <a:r>
                        <a:rPr lang="en-US" altLang="zh-TW" dirty="0" smtClean="0">
                          <a:latin typeface="+mn-lt"/>
                          <a:ea typeface="Noto Sans CJK TC Light" panose="020B0300000000000000" pitchFamily="34" charset="-128"/>
                        </a:rPr>
                        <a:t>/ </a:t>
                      </a:r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文字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由字符組成，其中包括英文字母、阿拉伯數字、中文字、符號等。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+mn-lt"/>
                          <a:ea typeface="Noto Sans CJK TC Light" panose="020B0300000000000000" pitchFamily="34" charset="-128"/>
                        </a:rPr>
                        <a:t>“RA^1$”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 </a:t>
                      </a:r>
                      <a:r>
                        <a:rPr lang="en-US" altLang="zh-CN" dirty="0" smtClean="0">
                          <a:latin typeface="+mn-lt"/>
                          <a:ea typeface="Noto Sans CJK TC Light" panose="020B0300000000000000" pitchFamily="34" charset="-128"/>
                        </a:rPr>
                        <a:t>"</a:t>
                      </a:r>
                      <a:r>
                        <a:rPr lang="zh-CN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日，月</a:t>
                      </a:r>
                      <a:r>
                        <a:rPr lang="en-US" altLang="zh-CN" dirty="0" smtClean="0">
                          <a:latin typeface="+mn-lt"/>
                          <a:ea typeface="Noto Sans CJK TC Light" panose="020B0300000000000000" pitchFamily="34" charset="-128"/>
                        </a:rPr>
                        <a:t>"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學生姓名、某人的地址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7143"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+mn-lt"/>
                          <a:ea typeface="Noto Sans CJK TC Light" panose="020B0300000000000000" pitchFamily="34" charset="-128"/>
                        </a:rPr>
                        <a:t>布爾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只能是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TRUE（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真）或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FALSE（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假）。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+mn-lt"/>
                          <a:ea typeface="Noto Sans CJK TC Light" panose="020B0300000000000000" pitchFamily="34" charset="-128"/>
                        </a:rPr>
                        <a:t>TRUE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latin typeface="+mn-lt"/>
                          <a:ea typeface="Noto Sans CJK TC Light" panose="020B0300000000000000" pitchFamily="34" charset="-128"/>
                        </a:rPr>
                        <a:t>FALSE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某學生是否合格、某</a:t>
                      </a:r>
                    </a:p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人是否在世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3254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檢查數位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504E9F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檢查數位</a:t>
            </a:r>
            <a:r>
              <a:rPr lang="zh-TW" altLang="en-US" dirty="0"/>
              <a:t>是一種數據有效性檢驗方式，常用於數字數據，例如</a:t>
            </a:r>
            <a:r>
              <a:rPr lang="zh-TW" altLang="en-US" dirty="0" smtClean="0"/>
              <a:t>身份證</a:t>
            </a:r>
            <a:r>
              <a:rPr lang="zh-TW" altLang="en-US" dirty="0"/>
              <a:t>號碼、書號、信用卡號碼等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endParaRPr lang="en-US" dirty="0"/>
          </a:p>
          <a:p>
            <a:r>
              <a:rPr lang="zh-TW" altLang="en-US" dirty="0"/>
              <a:t>檢查數位由特定算法生成，並附加到數據的結尾。檢查數位可以</a:t>
            </a:r>
            <a:r>
              <a:rPr lang="zh-TW" altLang="en-US" dirty="0" smtClean="0"/>
              <a:t>有多於</a:t>
            </a:r>
            <a:r>
              <a:rPr lang="zh-TW" altLang="en-US" dirty="0"/>
              <a:t>一個數位。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7281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奇偶檢測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>
                <a:latin typeface="+mn-lt"/>
              </a:rPr>
              <a:t>數據以二進制代碼的形式儲存在</a:t>
            </a:r>
            <a:r>
              <a:rPr lang="zh-TW" altLang="en-US" dirty="0" smtClean="0">
                <a:latin typeface="+mn-lt"/>
              </a:rPr>
              <a:t>電腦中，並僅由 </a:t>
            </a:r>
            <a:r>
              <a:rPr lang="en-US" altLang="zh-TW" dirty="0" smtClean="0">
                <a:latin typeface="+mn-lt"/>
              </a:rPr>
              <a:t>0 </a:t>
            </a:r>
            <a:r>
              <a:rPr lang="zh-TW" altLang="en-US" dirty="0" smtClean="0">
                <a:latin typeface="+mn-lt"/>
              </a:rPr>
              <a:t>和 </a:t>
            </a:r>
            <a:r>
              <a:rPr lang="en-US" altLang="zh-TW" dirty="0" smtClean="0">
                <a:latin typeface="+mn-lt"/>
              </a:rPr>
              <a:t>1 </a:t>
            </a:r>
            <a:r>
              <a:rPr lang="zh-TW" altLang="en-US" dirty="0" smtClean="0">
                <a:latin typeface="+mn-lt"/>
              </a:rPr>
              <a:t>組成。</a:t>
            </a:r>
            <a:endParaRPr lang="en-US" altLang="zh-TW" dirty="0" smtClean="0">
              <a:latin typeface="+mn-lt"/>
            </a:endParaRPr>
          </a:p>
          <a:p>
            <a:endParaRPr lang="en-US" dirty="0">
              <a:latin typeface="+mn-lt"/>
            </a:endParaRPr>
          </a:p>
          <a:p>
            <a:r>
              <a:rPr lang="zh-TW" altLang="en-US" dirty="0">
                <a:latin typeface="+mn-lt"/>
              </a:rPr>
              <a:t>在二進制代碼的</a:t>
            </a:r>
            <a:r>
              <a:rPr lang="zh-TW" altLang="en-US" dirty="0" smtClean="0">
                <a:latin typeface="+mn-lt"/>
              </a:rPr>
              <a:t>末尾附加類似</a:t>
            </a:r>
            <a:r>
              <a:rPr lang="zh-TW" altLang="en-US" dirty="0">
                <a:latin typeface="+mn-lt"/>
              </a:rPr>
              <a:t>檢查數位的</a:t>
            </a:r>
            <a:r>
              <a:rPr lang="zh-TW" altLang="en-US" dirty="0">
                <a:solidFill>
                  <a:srgbClr val="504E9F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奇偶檢驗位</a:t>
            </a:r>
            <a:r>
              <a:rPr lang="zh-TW" altLang="en-US" dirty="0">
                <a:latin typeface="+mn-lt"/>
              </a:rPr>
              <a:t>，可以確保代碼中 </a:t>
            </a:r>
            <a:r>
              <a:rPr lang="en-US" altLang="zh-TW" dirty="0">
                <a:latin typeface="+mn-lt"/>
              </a:rPr>
              <a:t>1 </a:t>
            </a:r>
            <a:r>
              <a:rPr lang="zh-TW" altLang="en-US" dirty="0">
                <a:latin typeface="+mn-lt"/>
              </a:rPr>
              <a:t>的總數是偶數或奇數。這就稱為</a:t>
            </a:r>
            <a:r>
              <a:rPr lang="zh-TW" altLang="en-US" dirty="0">
                <a:solidFill>
                  <a:srgbClr val="504E9F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奇偶檢測</a:t>
            </a:r>
            <a:r>
              <a:rPr lang="zh-TW" altLang="en-US" dirty="0" smtClean="0">
                <a:latin typeface="+mn-lt"/>
              </a:rPr>
              <a:t>。</a:t>
            </a:r>
            <a:endParaRPr lang="en-US" altLang="zh-TW" dirty="0" smtClean="0">
              <a:latin typeface="+mn-lt"/>
            </a:endParaRPr>
          </a:p>
          <a:p>
            <a:r>
              <a:rPr lang="zh-TW" altLang="en-US" dirty="0">
                <a:latin typeface="+mn-lt"/>
              </a:rPr>
              <a:t>奇偶檢測可分為兩類：</a:t>
            </a:r>
            <a:endParaRPr lang="en-GB" dirty="0">
              <a:latin typeface="+mn-lt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430263"/>
              </p:ext>
            </p:extLst>
          </p:nvPr>
        </p:nvGraphicFramePr>
        <p:xfrm>
          <a:off x="725600" y="4056665"/>
          <a:ext cx="10742000" cy="17575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5500"/>
                <a:gridCol w="2685500"/>
                <a:gridCol w="2685500"/>
                <a:gridCol w="2685500"/>
              </a:tblGrid>
              <a:tr h="436351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原始二進制代碼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89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1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的總數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89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根據奇偶檢測類型添加奇偶檢驗位後的二進制代碼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89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363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偶數檢測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8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奇數檢測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897"/>
                    </a:solidFill>
                  </a:tcPr>
                </a:tc>
              </a:tr>
              <a:tr h="44241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0000 000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0000 000</a:t>
                      </a:r>
                      <a:r>
                        <a:rPr lang="en-HK" b="1" dirty="0" smtClean="0">
                          <a:solidFill>
                            <a:srgbClr val="145897"/>
                          </a:solidFill>
                        </a:rPr>
                        <a:t>0</a:t>
                      </a:r>
                      <a:endParaRPr lang="en-US" b="1" dirty="0">
                        <a:solidFill>
                          <a:srgbClr val="145897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0000 000</a:t>
                      </a:r>
                      <a:r>
                        <a:rPr lang="en-HK" b="1" dirty="0" smtClean="0">
                          <a:solidFill>
                            <a:srgbClr val="145897"/>
                          </a:solidFill>
                        </a:rPr>
                        <a:t>1</a:t>
                      </a:r>
                      <a:endParaRPr lang="en-US" b="1" dirty="0">
                        <a:solidFill>
                          <a:srgbClr val="145897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241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1010</a:t>
                      </a:r>
                      <a:r>
                        <a:rPr lang="en-HK" baseline="0" dirty="0" smtClean="0"/>
                        <a:t> 101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1010 101</a:t>
                      </a:r>
                      <a:r>
                        <a:rPr lang="en-HK" b="1" dirty="0" smtClean="0">
                          <a:solidFill>
                            <a:srgbClr val="145897"/>
                          </a:solidFill>
                        </a:rPr>
                        <a:t>0</a:t>
                      </a:r>
                      <a:endParaRPr lang="en-US" b="1" dirty="0">
                        <a:solidFill>
                          <a:srgbClr val="145897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1010 101</a:t>
                      </a:r>
                      <a:r>
                        <a:rPr lang="en-HK" b="1" dirty="0" smtClean="0">
                          <a:solidFill>
                            <a:srgbClr val="145897"/>
                          </a:solidFill>
                        </a:rPr>
                        <a:t>1</a:t>
                      </a:r>
                      <a:endParaRPr lang="en-US" b="1" dirty="0">
                        <a:solidFill>
                          <a:srgbClr val="145897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8423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 smtClean="0">
                <a:latin typeface="+mn-lt"/>
              </a:rPr>
              <a:t>要以檢查數位來檢驗一組香港身份證號碼的有效性，我們應：</a:t>
            </a:r>
            <a:endParaRPr lang="en-US" altLang="zh-TW" dirty="0" smtClean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marL="1257300" lvl="2" indent="-342900">
              <a:buSzPct val="100000"/>
              <a:buAutoNum type="arabicParenBoth"/>
            </a:pPr>
            <a:r>
              <a:rPr lang="zh-TW" altLang="en-US" sz="2000" dirty="0">
                <a:latin typeface="+mn-lt"/>
              </a:rPr>
              <a:t>確保號碼開首的字符為一或兩個英文字母</a:t>
            </a:r>
            <a:r>
              <a:rPr lang="zh-TW" altLang="en-US" sz="2000" dirty="0" smtClean="0">
                <a:latin typeface="+mn-lt"/>
              </a:rPr>
              <a:t>。</a:t>
            </a:r>
            <a:endParaRPr lang="en-US" altLang="zh-TW" sz="2000" dirty="0" smtClean="0">
              <a:latin typeface="+mn-lt"/>
            </a:endParaRPr>
          </a:p>
          <a:p>
            <a:pPr marL="1257300" lvl="2" indent="-342900">
              <a:buSzPct val="100000"/>
              <a:buAutoNum type="arabicParenBoth"/>
            </a:pPr>
            <a:r>
              <a:rPr lang="zh-TW" altLang="en-US" sz="2000" dirty="0">
                <a:latin typeface="+mn-lt"/>
              </a:rPr>
              <a:t>確保號碼的加權和可被 </a:t>
            </a:r>
            <a:r>
              <a:rPr lang="en-US" altLang="zh-TW" sz="2000" dirty="0">
                <a:latin typeface="+mn-lt"/>
              </a:rPr>
              <a:t>11 </a:t>
            </a:r>
            <a:r>
              <a:rPr lang="zh-TW" altLang="en-US" sz="2000" dirty="0">
                <a:latin typeface="+mn-lt"/>
              </a:rPr>
              <a:t>整除</a:t>
            </a:r>
            <a:r>
              <a:rPr lang="zh-TW" altLang="en-US" sz="2000" dirty="0" smtClean="0">
                <a:latin typeface="+mn-lt"/>
              </a:rPr>
              <a:t>。</a:t>
            </a:r>
            <a:endParaRPr lang="en-US" altLang="zh-TW" sz="2000" dirty="0" smtClean="0">
              <a:latin typeface="+mn-lt"/>
            </a:endParaRPr>
          </a:p>
          <a:p>
            <a:pPr marL="1257300" lvl="2" indent="-342900">
              <a:buSzPct val="100000"/>
              <a:buAutoNum type="arabicParenBoth"/>
            </a:pPr>
            <a:r>
              <a:rPr lang="zh-TW" altLang="en-US" sz="2000" dirty="0">
                <a:latin typeface="+mn-lt"/>
              </a:rPr>
              <a:t>確保號碼不可包含多於 </a:t>
            </a:r>
            <a:r>
              <a:rPr lang="en-US" altLang="zh-TW" sz="2000" dirty="0">
                <a:latin typeface="+mn-lt"/>
              </a:rPr>
              <a:t>9 </a:t>
            </a:r>
            <a:r>
              <a:rPr lang="zh-TW" altLang="en-US" sz="2000" dirty="0">
                <a:latin typeface="+mn-lt"/>
              </a:rPr>
              <a:t>個字符，括號除外</a:t>
            </a:r>
            <a:r>
              <a:rPr lang="zh-TW" altLang="en-US" sz="2000" dirty="0" smtClean="0">
                <a:latin typeface="+mn-lt"/>
              </a:rPr>
              <a:t>。</a:t>
            </a:r>
            <a:r>
              <a:rPr lang="en-US" altLang="zh-TW" sz="2200" dirty="0">
                <a:latin typeface="+mn-lt"/>
              </a:rPr>
              <a:t>	</a:t>
            </a:r>
            <a:endParaRPr lang="en-US" altLang="zh-TW" sz="2200" dirty="0" smtClean="0">
              <a:latin typeface="+mn-lt"/>
            </a:endParaRPr>
          </a:p>
          <a:p>
            <a:pPr marL="800100" lvl="1" indent="-342900">
              <a:buSzPct val="100000"/>
              <a:buAutoNum type="alphaUcPeriod"/>
            </a:pPr>
            <a:r>
              <a:rPr lang="zh-TW" altLang="en-US" dirty="0" smtClean="0">
                <a:latin typeface="+mn-lt"/>
              </a:rPr>
              <a:t>只有</a:t>
            </a:r>
            <a:r>
              <a:rPr lang="en-HK" dirty="0" smtClean="0">
                <a:latin typeface="+mn-lt"/>
              </a:rPr>
              <a:t>(1)</a:t>
            </a:r>
          </a:p>
          <a:p>
            <a:pPr marL="800100" lvl="1" indent="-342900">
              <a:buSzPct val="100000"/>
              <a:buAutoNum type="alphaUcPeriod"/>
            </a:pPr>
            <a:r>
              <a:rPr lang="zh-TW" altLang="en-US" dirty="0">
                <a:latin typeface="+mn-lt"/>
              </a:rPr>
              <a:t>只有</a:t>
            </a:r>
            <a:r>
              <a:rPr lang="en-HK" dirty="0" smtClean="0">
                <a:latin typeface="+mn-lt"/>
              </a:rPr>
              <a:t>(</a:t>
            </a:r>
            <a:r>
              <a:rPr lang="en-HK" dirty="0">
                <a:latin typeface="+mn-lt"/>
              </a:rPr>
              <a:t>2) </a:t>
            </a:r>
            <a:endParaRPr lang="en-HK" dirty="0" smtClean="0">
              <a:latin typeface="+mn-lt"/>
            </a:endParaRPr>
          </a:p>
          <a:p>
            <a:pPr marL="800100" lvl="1" indent="-342900">
              <a:buSzPct val="100000"/>
              <a:buAutoNum type="alphaUcPeriod"/>
            </a:pPr>
            <a:r>
              <a:rPr lang="zh-TW" altLang="en-US" dirty="0" smtClean="0">
                <a:latin typeface="+mn-lt"/>
              </a:rPr>
              <a:t>只有 </a:t>
            </a:r>
            <a:r>
              <a:rPr lang="en-HK" dirty="0" smtClean="0">
                <a:latin typeface="+mn-lt"/>
              </a:rPr>
              <a:t>(</a:t>
            </a:r>
            <a:r>
              <a:rPr lang="en-HK" dirty="0">
                <a:latin typeface="+mn-lt"/>
              </a:rPr>
              <a:t>1) </a:t>
            </a:r>
            <a:r>
              <a:rPr lang="zh-TW" altLang="en-US" dirty="0" smtClean="0">
                <a:latin typeface="+mn-lt"/>
              </a:rPr>
              <a:t>和 </a:t>
            </a:r>
            <a:r>
              <a:rPr lang="en-HK" dirty="0" smtClean="0">
                <a:latin typeface="+mn-lt"/>
              </a:rPr>
              <a:t>(</a:t>
            </a:r>
            <a:r>
              <a:rPr lang="en-HK" dirty="0">
                <a:latin typeface="+mn-lt"/>
              </a:rPr>
              <a:t>3) </a:t>
            </a:r>
            <a:endParaRPr lang="en-HK" dirty="0" smtClean="0">
              <a:latin typeface="+mn-lt"/>
            </a:endParaRPr>
          </a:p>
          <a:p>
            <a:pPr marL="800100" lvl="1" indent="-342900">
              <a:buSzPct val="100000"/>
              <a:buAutoNum type="alphaUcPeriod"/>
            </a:pPr>
            <a:r>
              <a:rPr lang="zh-TW" altLang="en-US" dirty="0" smtClean="0">
                <a:latin typeface="+mn-lt"/>
              </a:rPr>
              <a:t>只有 </a:t>
            </a:r>
            <a:r>
              <a:rPr lang="en-HK" dirty="0" smtClean="0">
                <a:latin typeface="+mn-lt"/>
              </a:rPr>
              <a:t>(</a:t>
            </a:r>
            <a:r>
              <a:rPr lang="en-HK" dirty="0">
                <a:latin typeface="+mn-lt"/>
              </a:rPr>
              <a:t>2) </a:t>
            </a:r>
            <a:r>
              <a:rPr lang="zh-TW" altLang="en-US" dirty="0">
                <a:latin typeface="+mn-lt"/>
              </a:rPr>
              <a:t>和</a:t>
            </a:r>
            <a:r>
              <a:rPr lang="en-HK" dirty="0" smtClean="0">
                <a:latin typeface="+mn-lt"/>
              </a:rPr>
              <a:t> </a:t>
            </a:r>
            <a:r>
              <a:rPr lang="en-HK" dirty="0">
                <a:latin typeface="+mn-lt"/>
              </a:rPr>
              <a:t>(3</a:t>
            </a:r>
            <a:r>
              <a:rPr lang="en-HK" dirty="0" smtClean="0">
                <a:latin typeface="+mn-lt"/>
              </a:rPr>
              <a:t>)</a:t>
            </a:r>
            <a:endParaRPr lang="en-US" altLang="zh-TW" sz="2200" dirty="0"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9954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r>
              <a:rPr lang="zh-TW" altLang="en-US" b="1" dirty="0" smtClean="0">
                <a:solidFill>
                  <a:srgbClr val="37A3D4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分析</a:t>
            </a:r>
            <a:endParaRPr lang="en-HK" b="1" dirty="0">
              <a:solidFill>
                <a:srgbClr val="37A3D4"/>
              </a:solidFill>
              <a:latin typeface="Noto Sans CJK TC Bold" panose="020B0800000000000000" pitchFamily="34" charset="-128"/>
              <a:ea typeface="Noto Sans CJK TC Bold" panose="020B0800000000000000" pitchFamily="34" charset="-128"/>
            </a:endParaRPr>
          </a:p>
          <a:p>
            <a:r>
              <a:rPr lang="en-US" altLang="zh-TW" dirty="0" smtClean="0">
                <a:latin typeface="+mn-lt"/>
              </a:rPr>
              <a:t>(1) </a:t>
            </a:r>
            <a:r>
              <a:rPr lang="zh-TW" altLang="en-US" dirty="0" smtClean="0">
                <a:latin typeface="+mn-lt"/>
              </a:rPr>
              <a:t>是</a:t>
            </a:r>
            <a:r>
              <a:rPr lang="zh-TW" altLang="en-US" dirty="0">
                <a:latin typeface="+mn-lt"/>
              </a:rPr>
              <a:t>格式檢查，</a:t>
            </a:r>
            <a:r>
              <a:rPr lang="en-US" altLang="zh-TW" dirty="0">
                <a:latin typeface="+mn-lt"/>
              </a:rPr>
              <a:t>(3) </a:t>
            </a:r>
            <a:r>
              <a:rPr lang="zh-TW" altLang="en-US" dirty="0">
                <a:latin typeface="+mn-lt"/>
              </a:rPr>
              <a:t>是長度檢查，兩者都是檢驗香港身份證號碼有效性的合理方法。然而，只有 </a:t>
            </a:r>
            <a:r>
              <a:rPr lang="en-US" altLang="zh-TW" dirty="0">
                <a:latin typeface="+mn-lt"/>
              </a:rPr>
              <a:t>(2</a:t>
            </a:r>
            <a:r>
              <a:rPr lang="en-US" altLang="zh-TW" dirty="0" smtClean="0">
                <a:latin typeface="+mn-lt"/>
              </a:rPr>
              <a:t>)</a:t>
            </a:r>
            <a:r>
              <a:rPr lang="zh-TW" altLang="en-US" dirty="0" smtClean="0">
                <a:latin typeface="+mn-lt"/>
              </a:rPr>
              <a:t>是</a:t>
            </a:r>
            <a:r>
              <a:rPr lang="zh-TW" altLang="en-US" dirty="0">
                <a:latin typeface="+mn-lt"/>
              </a:rPr>
              <a:t>利用檢查數位進行有效性檢驗。</a:t>
            </a:r>
            <a:endParaRPr lang="en-HK" b="1" dirty="0">
              <a:solidFill>
                <a:srgbClr val="37A3D4"/>
              </a:solidFill>
              <a:latin typeface="+mn-lt"/>
            </a:endParaRPr>
          </a:p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endParaRPr lang="en-US" altLang="zh-TW" b="1" dirty="0" smtClean="0">
              <a:solidFill>
                <a:srgbClr val="37A3D4"/>
              </a:solidFill>
              <a:latin typeface="+mn-lt"/>
            </a:endParaRPr>
          </a:p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r>
              <a:rPr lang="zh-TW" altLang="en-US" b="1" dirty="0" smtClean="0">
                <a:solidFill>
                  <a:srgbClr val="37A3D4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答案</a:t>
            </a:r>
            <a:endParaRPr lang="en-HK" b="1" dirty="0">
              <a:solidFill>
                <a:srgbClr val="37A3D4"/>
              </a:solidFill>
              <a:latin typeface="Noto Sans CJK TC Bold" panose="020B0800000000000000" pitchFamily="34" charset="-128"/>
              <a:ea typeface="Noto Sans CJK TC Bold" panose="020B0800000000000000" pitchFamily="34" charset="-128"/>
            </a:endParaRPr>
          </a:p>
          <a:p>
            <a:pPr>
              <a:buSzPct val="100000"/>
            </a:pPr>
            <a:r>
              <a:rPr lang="zh-TW" altLang="en-US" dirty="0">
                <a:latin typeface="+mn-lt"/>
              </a:rPr>
              <a:t>正確答案是 </a:t>
            </a:r>
            <a:r>
              <a:rPr lang="en-US" altLang="zh-TW" dirty="0">
                <a:latin typeface="+mn-lt"/>
              </a:rPr>
              <a:t>B</a:t>
            </a:r>
            <a:r>
              <a:rPr lang="zh-TW" altLang="en-US" dirty="0" smtClean="0">
                <a:latin typeface="+mn-lt"/>
              </a:rPr>
              <a:t>。</a:t>
            </a:r>
            <a:endParaRPr lang="en-US" dirty="0">
              <a:latin typeface="+mn-lt"/>
            </a:endParaRP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3860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zh-TW" altLang="en-US" dirty="0">
                <a:latin typeface="+mn-lt"/>
              </a:rPr>
              <a:t>某數據傳輸系統接收了四組二進制代碼。如只有一組代碼通過了奇偶檢測，它是以下哪一</a:t>
            </a:r>
            <a:r>
              <a:rPr lang="zh-TW" altLang="en-US" dirty="0" smtClean="0">
                <a:latin typeface="+mn-lt"/>
              </a:rPr>
              <a:t>項呢？</a:t>
            </a:r>
            <a:endParaRPr lang="en-US" altLang="zh-TW" dirty="0" smtClean="0">
              <a:latin typeface="+mn-lt"/>
            </a:endParaRPr>
          </a:p>
          <a:p>
            <a:endParaRPr lang="en-US" altLang="zh-TW" dirty="0" smtClean="0">
              <a:latin typeface="+mn-lt"/>
            </a:endParaRPr>
          </a:p>
          <a:p>
            <a:pPr marL="914400" lvl="1" indent="-457200">
              <a:buSzPct val="100000"/>
              <a:buFont typeface="+mj-lt"/>
              <a:buAutoNum type="alphaUcPeriod"/>
            </a:pPr>
            <a:r>
              <a:rPr lang="en-HK" sz="2000" dirty="0">
                <a:latin typeface="+mn-lt"/>
              </a:rPr>
              <a:t>1101 1000</a:t>
            </a:r>
          </a:p>
          <a:p>
            <a:pPr marL="914400" lvl="1" indent="-457200">
              <a:buSzPct val="100000"/>
              <a:buFont typeface="+mj-lt"/>
              <a:buAutoNum type="alphaUcPeriod"/>
            </a:pPr>
            <a:r>
              <a:rPr lang="en-HK" sz="2000" dirty="0">
                <a:latin typeface="+mn-lt"/>
              </a:rPr>
              <a:t>1110 1011</a:t>
            </a:r>
          </a:p>
          <a:p>
            <a:pPr marL="914400" lvl="1" indent="-457200">
              <a:buSzPct val="100000"/>
              <a:buFont typeface="+mj-lt"/>
              <a:buAutoNum type="alphaUcPeriod"/>
            </a:pPr>
            <a:r>
              <a:rPr lang="en-HK" sz="2000" dirty="0">
                <a:latin typeface="+mn-lt"/>
              </a:rPr>
              <a:t>0010 0101</a:t>
            </a:r>
          </a:p>
          <a:p>
            <a:pPr marL="914400" lvl="1" indent="-457200">
              <a:buSzPct val="100000"/>
              <a:buFont typeface="+mj-lt"/>
              <a:buAutoNum type="alphaUcPeriod"/>
            </a:pPr>
            <a:r>
              <a:rPr lang="en-HK" sz="2000" dirty="0">
                <a:latin typeface="+mn-lt"/>
              </a:rPr>
              <a:t>0100 1000</a:t>
            </a: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15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72361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r>
              <a:rPr lang="zh-TW" altLang="en-US" b="1" dirty="0">
                <a:solidFill>
                  <a:srgbClr val="37A3D4"/>
                </a:solidFill>
                <a:latin typeface="+mn-lt"/>
              </a:rPr>
              <a:t>分析</a:t>
            </a:r>
            <a:endParaRPr lang="en-HK" b="1" dirty="0">
              <a:solidFill>
                <a:srgbClr val="37A3D4"/>
              </a:solidFill>
              <a:latin typeface="+mn-lt"/>
            </a:endParaRPr>
          </a:p>
          <a:p>
            <a:r>
              <a:rPr lang="zh-TW" altLang="en-US" dirty="0">
                <a:latin typeface="+mn-lt"/>
              </a:rPr>
              <a:t>問題沒有指明這裏使用的是哪一種奇偶檢測，但它明確表示只有一組代碼通過了奇偶檢測。因此</a:t>
            </a:r>
            <a:r>
              <a:rPr lang="zh-TW" altLang="en-US" dirty="0" smtClean="0">
                <a:latin typeface="+mn-lt"/>
              </a:rPr>
              <a:t>，我們</a:t>
            </a:r>
            <a:r>
              <a:rPr lang="zh-TW" altLang="en-US" dirty="0">
                <a:latin typeface="+mn-lt"/>
              </a:rPr>
              <a:t>需要點算每組代碼中 </a:t>
            </a:r>
            <a:r>
              <a:rPr lang="en-US" altLang="zh-TW" dirty="0">
                <a:latin typeface="+mn-lt"/>
              </a:rPr>
              <a:t>1 </a:t>
            </a:r>
            <a:r>
              <a:rPr lang="zh-TW" altLang="en-US" dirty="0">
                <a:latin typeface="+mn-lt"/>
              </a:rPr>
              <a:t>的總數。</a:t>
            </a:r>
            <a:endParaRPr lang="en-US" altLang="zh-TW" b="1" dirty="0">
              <a:solidFill>
                <a:srgbClr val="37A3D4"/>
              </a:solidFill>
              <a:latin typeface="+mn-lt"/>
            </a:endParaRPr>
          </a:p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endParaRPr lang="en-US" altLang="zh-TW" b="1" dirty="0" smtClean="0">
              <a:solidFill>
                <a:srgbClr val="37A3D4"/>
              </a:solidFill>
              <a:latin typeface="+mn-lt"/>
            </a:endParaRPr>
          </a:p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endParaRPr lang="en-US" altLang="zh-TW" b="1" dirty="0" smtClean="0">
              <a:solidFill>
                <a:srgbClr val="37A3D4"/>
              </a:solidFill>
              <a:latin typeface="+mn-lt"/>
            </a:endParaRPr>
          </a:p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endParaRPr lang="en-US" altLang="zh-TW" b="1" dirty="0" smtClean="0">
              <a:solidFill>
                <a:srgbClr val="37A3D4"/>
              </a:solidFill>
              <a:latin typeface="+mn-lt"/>
            </a:endParaRPr>
          </a:p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endParaRPr lang="en-US" altLang="zh-TW" b="1" dirty="0">
              <a:solidFill>
                <a:srgbClr val="37A3D4"/>
              </a:solidFill>
              <a:latin typeface="+mn-lt"/>
            </a:endParaRPr>
          </a:p>
          <a:p>
            <a:pPr>
              <a:buSzPct val="100000"/>
            </a:pPr>
            <a:r>
              <a:rPr lang="zh-TW" altLang="en-US" dirty="0">
                <a:latin typeface="+mn-lt"/>
              </a:rPr>
              <a:t>只有 </a:t>
            </a:r>
            <a:r>
              <a:rPr lang="en-US" altLang="zh-TW" dirty="0">
                <a:latin typeface="+mn-lt"/>
              </a:rPr>
              <a:t>1 </a:t>
            </a:r>
            <a:r>
              <a:rPr lang="zh-TW" altLang="en-US" dirty="0">
                <a:latin typeface="+mn-lt"/>
              </a:rPr>
              <a:t>的總數為單數的代碼會通過</a:t>
            </a:r>
            <a:r>
              <a:rPr lang="zh-TW" altLang="en-US" dirty="0" smtClean="0">
                <a:latin typeface="+mn-lt"/>
              </a:rPr>
              <a:t>檢測。</a:t>
            </a:r>
            <a:endParaRPr lang="en-US" altLang="zh-TW" dirty="0" smtClean="0">
              <a:latin typeface="+mn-lt"/>
            </a:endParaRPr>
          </a:p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r>
              <a:rPr lang="zh-TW" altLang="en-US" b="1" dirty="0" smtClean="0">
                <a:solidFill>
                  <a:srgbClr val="37A3D4"/>
                </a:solidFill>
                <a:latin typeface="+mn-lt"/>
              </a:rPr>
              <a:t>答案</a:t>
            </a:r>
            <a:endParaRPr lang="en-HK" b="1" dirty="0" smtClean="0">
              <a:solidFill>
                <a:srgbClr val="37A3D4"/>
              </a:solidFill>
              <a:latin typeface="+mn-lt"/>
            </a:endParaRPr>
          </a:p>
          <a:p>
            <a:pPr>
              <a:buSzPct val="100000"/>
            </a:pPr>
            <a:r>
              <a:rPr lang="zh-TW" altLang="en-US" dirty="0" smtClean="0">
                <a:latin typeface="+mn-lt"/>
              </a:rPr>
              <a:t>正確</a:t>
            </a:r>
            <a:r>
              <a:rPr lang="zh-TW" altLang="en-US" dirty="0">
                <a:latin typeface="+mn-lt"/>
              </a:rPr>
              <a:t>答案是 </a:t>
            </a:r>
            <a:r>
              <a:rPr lang="en-US" altLang="zh-TW" dirty="0">
                <a:latin typeface="+mn-lt"/>
              </a:rPr>
              <a:t>B</a:t>
            </a:r>
            <a:r>
              <a:rPr lang="zh-TW" altLang="en-US" dirty="0">
                <a:latin typeface="+mn-lt"/>
              </a:rPr>
              <a:t>。</a:t>
            </a:r>
            <a:endParaRPr lang="en-US" dirty="0">
              <a:latin typeface="+mn-lt"/>
            </a:endParaRP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16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2.1</a:t>
            </a:r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6182493"/>
              </p:ext>
            </p:extLst>
          </p:nvPr>
        </p:nvGraphicFramePr>
        <p:xfrm>
          <a:off x="3503253" y="2756284"/>
          <a:ext cx="5250051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2913"/>
                <a:gridCol w="2079285"/>
                <a:gridCol w="2027853"/>
              </a:tblGrid>
              <a:tr h="314929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選項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A3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二進制代碼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A3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1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n-lt"/>
                          <a:ea typeface="Noto Sans CJK TC Light" panose="020B0300000000000000" pitchFamily="34" charset="-128"/>
                        </a:rPr>
                        <a:t>的總數</a:t>
                      </a:r>
                      <a:endParaRPr lang="en-US" b="1" dirty="0">
                        <a:solidFill>
                          <a:schemeClr val="bg1"/>
                        </a:solidFill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A3D4"/>
                    </a:solidFill>
                  </a:tcPr>
                </a:tc>
              </a:tr>
              <a:tr h="314929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A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1101 1000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929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B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1110 1011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929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0010 0101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929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0100 1000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866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試完成課本第</a:t>
            </a:r>
            <a:r>
              <a:rPr lang="en-US" altLang="zh-TW" dirty="0">
                <a:latin typeface="+mn-lt"/>
              </a:rPr>
              <a:t> </a:t>
            </a:r>
            <a:r>
              <a:rPr lang="en-US" altLang="zh-TW" dirty="0" smtClean="0">
                <a:latin typeface="+mn-lt"/>
              </a:rPr>
              <a:t>40 </a:t>
            </a:r>
            <a:r>
              <a:rPr lang="zh-TW" altLang="en-US" dirty="0" smtClean="0">
                <a:latin typeface="+mn-lt"/>
              </a:rPr>
              <a:t>頁至第 </a:t>
            </a:r>
            <a:r>
              <a:rPr lang="en-US" altLang="zh-TW" dirty="0" smtClean="0">
                <a:latin typeface="+mn-lt"/>
              </a:rPr>
              <a:t>41 </a:t>
            </a:r>
            <a:r>
              <a:rPr lang="zh-TW" altLang="en-US" dirty="0" smtClean="0">
                <a:latin typeface="+mn-lt"/>
              </a:rPr>
              <a:t>頁的測試站 </a:t>
            </a:r>
            <a:r>
              <a:rPr lang="en-US" altLang="zh-TW" dirty="0" smtClean="0">
                <a:latin typeface="+mn-lt"/>
              </a:rPr>
              <a:t>2.1</a:t>
            </a:r>
            <a:r>
              <a:rPr lang="zh-TW" altLang="en-US" dirty="0" smtClean="0">
                <a:latin typeface="+mn-lt"/>
              </a:rPr>
              <a:t>。</a:t>
            </a:r>
            <a:endParaRPr lang="en-US" altLang="zh-TW" dirty="0" smtClean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marL="457200" indent="-457200">
              <a:buAutoNum type="arabicPeriod"/>
            </a:pPr>
            <a:r>
              <a:rPr lang="en-HK" dirty="0">
                <a:solidFill>
                  <a:srgbClr val="FF0000"/>
                </a:solidFill>
                <a:latin typeface="+mn-lt"/>
              </a:rPr>
              <a:t>B</a:t>
            </a:r>
          </a:p>
          <a:p>
            <a:pPr marL="457200" indent="-457200">
              <a:buAutoNum type="arabicPeriod"/>
            </a:pPr>
            <a:r>
              <a:rPr lang="en-HK" dirty="0">
                <a:solidFill>
                  <a:srgbClr val="FF0000"/>
                </a:solidFill>
                <a:latin typeface="+mn-lt"/>
              </a:rPr>
              <a:t>D</a:t>
            </a:r>
          </a:p>
          <a:p>
            <a:pPr marL="457200" indent="-457200">
              <a:buAutoNum type="arabicPeriod"/>
            </a:pPr>
            <a:r>
              <a:rPr lang="en-HK" dirty="0">
                <a:solidFill>
                  <a:srgbClr val="FF0000"/>
                </a:solidFill>
                <a:latin typeface="+mn-lt"/>
              </a:rPr>
              <a:t>C</a:t>
            </a:r>
            <a:endParaRPr lang="en-US" dirty="0">
              <a:solidFill>
                <a:srgbClr val="FF0000"/>
              </a:solidFill>
              <a:latin typeface="+mn-lt"/>
            </a:endParaRP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17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7593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數據驗證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18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/>
              <a:t>數據驗證是數據</a:t>
            </a:r>
            <a:r>
              <a:rPr lang="zh-TW" altLang="en-US" dirty="0" smtClean="0"/>
              <a:t>控制</a:t>
            </a:r>
            <a:r>
              <a:rPr lang="zh-TW" altLang="en-US" dirty="0"/>
              <a:t>的</a:t>
            </a:r>
            <a:r>
              <a:rPr lang="zh-TW" altLang="en-US" dirty="0" smtClean="0"/>
              <a:t>一部分，能夠協助驗證</a:t>
            </a:r>
            <a:r>
              <a:rPr lang="zh-TW" altLang="en-US" dirty="0"/>
              <a:t>數據在媒體之間</a:t>
            </a:r>
            <a:r>
              <a:rPr lang="zh-TW" altLang="en-US" dirty="0" smtClean="0"/>
              <a:t>傳輸</a:t>
            </a:r>
            <a:r>
              <a:rPr lang="zh-TW" altLang="en-US" dirty="0"/>
              <a:t>時是否保持準確和一致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不同類型的數據驗證包括：</a:t>
            </a:r>
            <a:endParaRPr lang="en-GB" dirty="0"/>
          </a:p>
        </p:txBody>
      </p:sp>
      <p:graphicFrame>
        <p:nvGraphicFramePr>
          <p:cNvPr id="8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320002"/>
              </p:ext>
            </p:extLst>
          </p:nvPr>
        </p:nvGraphicFramePr>
        <p:xfrm>
          <a:off x="1893730" y="2571213"/>
          <a:ext cx="8405740" cy="37179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85425"/>
                <a:gridCol w="4720315"/>
              </a:tblGrid>
              <a:tr h="483183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類型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8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說明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897"/>
                    </a:solidFill>
                  </a:tcPr>
                </a:tc>
              </a:tr>
              <a:tr h="1013424"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輸入數據兩次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操作員須輸入相同的數據兩次。</a:t>
                      </a:r>
                      <a:endParaRPr lang="en-US" dirty="0" smtClean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3424"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雙重數據輸入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由兩位操作員分別輸入相同的數據。</a:t>
                      </a:r>
                      <a:endParaRPr lang="en-US" dirty="0" smtClean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07956"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校對數據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由另一位操作員來比較所輸入之數據</a:t>
                      </a:r>
                    </a:p>
                    <a:p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和原始檔案。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0530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zh-TW" altLang="en-US" dirty="0">
                <a:latin typeface="Myriad Pro" panose="020B0503030403020204" pitchFamily="34" charset="0"/>
              </a:rPr>
              <a:t>阿發有一個網上論壇的帳戶。他想更改帳戶的電郵地址時，論壇要求他填寫以下的網上表單</a:t>
            </a:r>
            <a:r>
              <a:rPr lang="zh-TW" altLang="en-US" dirty="0" smtClean="0">
                <a:latin typeface="Myriad Pro" panose="020B0503030403020204" pitchFamily="34" charset="0"/>
              </a:rPr>
              <a:t>。阿</a:t>
            </a:r>
            <a:r>
              <a:rPr lang="zh-TW" altLang="en-US" dirty="0">
                <a:latin typeface="Myriad Pro" panose="020B0503030403020204" pitchFamily="34" charset="0"/>
              </a:rPr>
              <a:t>發嘗試提交表單時，發生了一些錯誤。這張網上表單應用了以下哪些數據控制方式</a:t>
            </a:r>
            <a:r>
              <a:rPr lang="zh-TW" altLang="en-US" dirty="0" smtClean="0">
                <a:latin typeface="Myriad Pro" panose="020B0503030403020204" pitchFamily="34" charset="0"/>
              </a:rPr>
              <a:t>？</a:t>
            </a:r>
            <a:endParaRPr lang="en-US" altLang="zh-TW" dirty="0" smtClean="0">
              <a:latin typeface="Myriad Pro" panose="020B0503030403020204" pitchFamily="34" charset="0"/>
            </a:endParaRPr>
          </a:p>
          <a:p>
            <a:pPr marL="1257300" lvl="2" indent="-342900">
              <a:buSzPct val="100000"/>
              <a:buAutoNum type="arabicParenBoth"/>
            </a:pPr>
            <a:r>
              <a:rPr lang="zh-TW" altLang="en-US" sz="2000" dirty="0">
                <a:latin typeface="Myriad Pro" panose="020B0503030403020204" pitchFamily="34" charset="0"/>
              </a:rPr>
              <a:t>類型</a:t>
            </a:r>
            <a:r>
              <a:rPr lang="zh-TW" altLang="en-US" sz="2000" dirty="0" smtClean="0">
                <a:latin typeface="Myriad Pro" panose="020B0503030403020204" pitchFamily="34" charset="0"/>
              </a:rPr>
              <a:t>檢查</a:t>
            </a:r>
            <a:endParaRPr lang="en-US" altLang="zh-TW" sz="2000" dirty="0" smtClean="0">
              <a:latin typeface="Myriad Pro" panose="020B0503030403020204" pitchFamily="34" charset="0"/>
            </a:endParaRPr>
          </a:p>
          <a:p>
            <a:pPr marL="1257300" lvl="2" indent="-342900">
              <a:buSzPct val="100000"/>
              <a:buAutoNum type="arabicParenBoth"/>
            </a:pPr>
            <a:r>
              <a:rPr lang="zh-TW" altLang="en-US" sz="2000" dirty="0" smtClean="0">
                <a:latin typeface="Myriad Pro" panose="020B0503030403020204" pitchFamily="34" charset="0"/>
              </a:rPr>
              <a:t>完整性檢查</a:t>
            </a:r>
            <a:endParaRPr lang="en-HK" sz="2000" dirty="0">
              <a:latin typeface="Myriad Pro" panose="020B0503030403020204" pitchFamily="34" charset="0"/>
            </a:endParaRPr>
          </a:p>
          <a:p>
            <a:pPr marL="1257300" lvl="2" indent="-342900">
              <a:buSzPct val="100000"/>
              <a:buAutoNum type="arabicParenBoth"/>
            </a:pPr>
            <a:r>
              <a:rPr lang="zh-TW" altLang="en-US" sz="2000" dirty="0">
                <a:latin typeface="Myriad Pro" panose="020B0503030403020204" pitchFamily="34" charset="0"/>
              </a:rPr>
              <a:t>輸入數據兩次作</a:t>
            </a:r>
            <a:r>
              <a:rPr lang="zh-TW" altLang="en-US" sz="2000" dirty="0" smtClean="0">
                <a:latin typeface="Myriad Pro" panose="020B0503030403020204" pitchFamily="34" charset="0"/>
              </a:rPr>
              <a:t>驗證</a:t>
            </a:r>
            <a:endParaRPr lang="en-US" altLang="zh-TW" sz="2000" dirty="0" smtClean="0">
              <a:latin typeface="Myriad Pro" panose="020B0503030403020204" pitchFamily="34" charset="0"/>
            </a:endParaRPr>
          </a:p>
          <a:p>
            <a:pPr marL="914400" lvl="1" indent="-457200">
              <a:buSzPct val="100000"/>
              <a:buAutoNum type="alphaUcPeriod"/>
            </a:pPr>
            <a:r>
              <a:rPr lang="zh-TW" altLang="en-US" sz="2000" dirty="0" smtClean="0">
                <a:latin typeface="Myriad Pro" panose="020B0503030403020204" pitchFamily="34" charset="0"/>
              </a:rPr>
              <a:t>只有 </a:t>
            </a:r>
            <a:r>
              <a:rPr lang="en-HK" sz="2000" dirty="0" smtClean="0">
                <a:latin typeface="Myriad Pro" panose="020B0503030403020204" pitchFamily="34" charset="0"/>
              </a:rPr>
              <a:t>(</a:t>
            </a:r>
            <a:r>
              <a:rPr lang="en-HK" sz="2000" dirty="0">
                <a:latin typeface="Myriad Pro" panose="020B0503030403020204" pitchFamily="34" charset="0"/>
              </a:rPr>
              <a:t>1) </a:t>
            </a:r>
            <a:r>
              <a:rPr lang="zh-TW" altLang="en-US" sz="2000" dirty="0" smtClean="0">
                <a:latin typeface="Myriad Pro" panose="020B0503030403020204" pitchFamily="34" charset="0"/>
              </a:rPr>
              <a:t>和 </a:t>
            </a:r>
            <a:r>
              <a:rPr lang="en-HK" sz="2000" dirty="0" smtClean="0">
                <a:latin typeface="Myriad Pro" panose="020B0503030403020204" pitchFamily="34" charset="0"/>
              </a:rPr>
              <a:t>(</a:t>
            </a:r>
            <a:r>
              <a:rPr lang="en-HK" sz="2000" dirty="0">
                <a:latin typeface="Myriad Pro" panose="020B0503030403020204" pitchFamily="34" charset="0"/>
              </a:rPr>
              <a:t>2</a:t>
            </a:r>
            <a:r>
              <a:rPr lang="en-HK" sz="2000" dirty="0" smtClean="0">
                <a:latin typeface="Myriad Pro" panose="020B0503030403020204" pitchFamily="34" charset="0"/>
              </a:rPr>
              <a:t>)</a:t>
            </a:r>
          </a:p>
          <a:p>
            <a:pPr marL="914400" lvl="1" indent="-457200">
              <a:buSzPct val="100000"/>
              <a:buAutoNum type="alphaUcPeriod"/>
            </a:pPr>
            <a:r>
              <a:rPr lang="zh-TW" altLang="en-US" sz="2000" dirty="0" smtClean="0">
                <a:latin typeface="Myriad Pro" panose="020B0503030403020204" pitchFamily="34" charset="0"/>
              </a:rPr>
              <a:t>只有</a:t>
            </a:r>
            <a:r>
              <a:rPr lang="en-HK" sz="2000" dirty="0" smtClean="0">
                <a:latin typeface="Myriad Pro" panose="020B0503030403020204" pitchFamily="34" charset="0"/>
              </a:rPr>
              <a:t> (</a:t>
            </a:r>
            <a:r>
              <a:rPr lang="en-HK" sz="2000" dirty="0">
                <a:latin typeface="Myriad Pro" panose="020B0503030403020204" pitchFamily="34" charset="0"/>
              </a:rPr>
              <a:t>1) </a:t>
            </a:r>
            <a:r>
              <a:rPr lang="zh-TW" altLang="en-US" sz="2000" dirty="0">
                <a:latin typeface="Myriad Pro" panose="020B0503030403020204" pitchFamily="34" charset="0"/>
              </a:rPr>
              <a:t>和</a:t>
            </a:r>
            <a:r>
              <a:rPr lang="en-HK" sz="2000" dirty="0" smtClean="0">
                <a:latin typeface="Myriad Pro" panose="020B0503030403020204" pitchFamily="34" charset="0"/>
              </a:rPr>
              <a:t> </a:t>
            </a:r>
            <a:r>
              <a:rPr lang="en-HK" sz="2000" dirty="0">
                <a:latin typeface="Myriad Pro" panose="020B0503030403020204" pitchFamily="34" charset="0"/>
              </a:rPr>
              <a:t>(3</a:t>
            </a:r>
            <a:r>
              <a:rPr lang="en-HK" sz="2000" dirty="0" smtClean="0">
                <a:latin typeface="Myriad Pro" panose="020B0503030403020204" pitchFamily="34" charset="0"/>
              </a:rPr>
              <a:t>)</a:t>
            </a:r>
          </a:p>
          <a:p>
            <a:pPr marL="914400" lvl="1" indent="-457200">
              <a:buSzPct val="100000"/>
              <a:buAutoNum type="alphaUcPeriod"/>
            </a:pPr>
            <a:r>
              <a:rPr lang="zh-TW" altLang="en-US" sz="2000" dirty="0" smtClean="0">
                <a:latin typeface="Myriad Pro" panose="020B0503030403020204" pitchFamily="34" charset="0"/>
              </a:rPr>
              <a:t>只有 </a:t>
            </a:r>
            <a:r>
              <a:rPr lang="en-HK" sz="2000" dirty="0" smtClean="0">
                <a:latin typeface="Myriad Pro" panose="020B0503030403020204" pitchFamily="34" charset="0"/>
              </a:rPr>
              <a:t>(</a:t>
            </a:r>
            <a:r>
              <a:rPr lang="en-HK" sz="2000" dirty="0">
                <a:latin typeface="Myriad Pro" panose="020B0503030403020204" pitchFamily="34" charset="0"/>
              </a:rPr>
              <a:t>2) </a:t>
            </a:r>
            <a:r>
              <a:rPr lang="zh-TW" altLang="en-US" sz="2000" dirty="0" smtClean="0">
                <a:latin typeface="Myriad Pro" panose="020B0503030403020204" pitchFamily="34" charset="0"/>
              </a:rPr>
              <a:t>和 </a:t>
            </a:r>
            <a:r>
              <a:rPr lang="en-HK" sz="2000" dirty="0" smtClean="0">
                <a:latin typeface="Myriad Pro" panose="020B0503030403020204" pitchFamily="34" charset="0"/>
              </a:rPr>
              <a:t>(</a:t>
            </a:r>
            <a:r>
              <a:rPr lang="en-HK" sz="2000" dirty="0">
                <a:latin typeface="Myriad Pro" panose="020B0503030403020204" pitchFamily="34" charset="0"/>
              </a:rPr>
              <a:t>3</a:t>
            </a:r>
            <a:r>
              <a:rPr lang="en-HK" sz="2000" dirty="0" smtClean="0">
                <a:latin typeface="Myriad Pro" panose="020B0503030403020204" pitchFamily="34" charset="0"/>
              </a:rPr>
              <a:t>)</a:t>
            </a:r>
          </a:p>
          <a:p>
            <a:pPr marL="914400" lvl="1" indent="-457200">
              <a:buSzPct val="100000"/>
              <a:buAutoNum type="alphaUcPeriod"/>
            </a:pPr>
            <a:r>
              <a:rPr lang="en-HK" sz="2000" dirty="0" smtClean="0">
                <a:latin typeface="Myriad Pro" panose="020B0503030403020204" pitchFamily="34" charset="0"/>
              </a:rPr>
              <a:t>(1)</a:t>
            </a:r>
            <a:r>
              <a:rPr lang="zh-TW" altLang="en-US" sz="2000" dirty="0">
                <a:latin typeface="Myriad Pro" panose="020B0503030403020204" pitchFamily="34" charset="0"/>
              </a:rPr>
              <a:t>、</a:t>
            </a:r>
            <a:r>
              <a:rPr lang="en-HK" sz="2000" dirty="0" smtClean="0">
                <a:latin typeface="Myriad Pro" panose="020B0503030403020204" pitchFamily="34" charset="0"/>
              </a:rPr>
              <a:t>(2</a:t>
            </a:r>
            <a:r>
              <a:rPr lang="en-HK" sz="2000" dirty="0">
                <a:latin typeface="Myriad Pro" panose="020B0503030403020204" pitchFamily="34" charset="0"/>
              </a:rPr>
              <a:t>) </a:t>
            </a:r>
            <a:r>
              <a:rPr lang="zh-TW" altLang="en-US" sz="2000" dirty="0">
                <a:latin typeface="Myriad Pro" panose="020B0503030403020204" pitchFamily="34" charset="0"/>
              </a:rPr>
              <a:t>和</a:t>
            </a:r>
            <a:r>
              <a:rPr lang="en-HK" sz="2000" dirty="0" smtClean="0">
                <a:latin typeface="Myriad Pro" panose="020B0503030403020204" pitchFamily="34" charset="0"/>
              </a:rPr>
              <a:t> </a:t>
            </a:r>
            <a:r>
              <a:rPr lang="en-HK" sz="2000" dirty="0">
                <a:latin typeface="Myriad Pro" panose="020B0503030403020204" pitchFamily="34" charset="0"/>
              </a:rPr>
              <a:t>(3)</a:t>
            </a:r>
            <a:endParaRPr lang="en-US" sz="2000" dirty="0">
              <a:latin typeface="Myriad Pro" panose="020B0503030403020204" pitchFamily="34" charset="0"/>
            </a:endParaRPr>
          </a:p>
          <a:p>
            <a:pPr marL="1257300" lvl="2" indent="-342900">
              <a:buSzPct val="100000"/>
              <a:buAutoNum type="arabicParenBoth"/>
            </a:pPr>
            <a:endParaRPr lang="en-US" altLang="zh-TW" sz="2000" dirty="0" smtClean="0">
              <a:latin typeface="Myriad Pro" panose="020B0503030403020204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2.2</a:t>
            </a:r>
            <a:endParaRPr lang="en-GB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682" y="2962298"/>
            <a:ext cx="5609323" cy="2517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684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r>
              <a:rPr lang="zh-TW" altLang="en-US" b="1" dirty="0">
                <a:solidFill>
                  <a:srgbClr val="37A3D4"/>
                </a:solidFill>
                <a:latin typeface="Myriad Pro" panose="020B0503030403020204" pitchFamily="34" charset="0"/>
                <a:ea typeface="Noto Sans CJK TC Bold" panose="020B0800000000000000" pitchFamily="34" charset="-128"/>
              </a:rPr>
              <a:t>分析</a:t>
            </a:r>
            <a:endParaRPr lang="en-HK" b="1" dirty="0">
              <a:solidFill>
                <a:srgbClr val="37A3D4"/>
              </a:solidFill>
              <a:latin typeface="Myriad Pro" panose="020B0503030403020204" pitchFamily="34" charset="0"/>
              <a:ea typeface="Noto Sans CJK TC Bold" panose="020B0800000000000000" pitchFamily="34" charset="-128"/>
            </a:endParaRPr>
          </a:p>
          <a:p>
            <a:r>
              <a:rPr lang="zh-TW" altLang="en-US" dirty="0">
                <a:latin typeface="Myriad Pro" panose="020B0503030403020204" pitchFamily="34" charset="0"/>
              </a:rPr>
              <a:t>「舊電郵地址」一欄不可留空。這意味著系統應用了完整性檢查，以確保該欄已被填妥</a:t>
            </a:r>
            <a:r>
              <a:rPr lang="zh-TW" altLang="en-US" dirty="0" smtClean="0">
                <a:latin typeface="Myriad Pro" panose="020B0503030403020204" pitchFamily="34" charset="0"/>
              </a:rPr>
              <a:t>。</a:t>
            </a:r>
            <a:endParaRPr lang="en-US" altLang="zh-TW" dirty="0" smtClean="0">
              <a:latin typeface="Myriad Pro" panose="020B0503030403020204" pitchFamily="34" charset="0"/>
            </a:endParaRPr>
          </a:p>
          <a:p>
            <a:r>
              <a:rPr lang="zh-TW" altLang="en-US" dirty="0">
                <a:latin typeface="Myriad Pro" panose="020B0503030403020204" pitchFamily="34" charset="0"/>
              </a:rPr>
              <a:t>「新電郵地址」一欄有錯誤訊息，指該電郵地址無效。原因是電郵地址並無包含「</a:t>
            </a:r>
            <a:r>
              <a:rPr lang="en-US" altLang="zh-TW" dirty="0">
                <a:latin typeface="Myriad Pro" panose="020B0503030403020204" pitchFamily="34" charset="0"/>
              </a:rPr>
              <a:t>@</a:t>
            </a:r>
            <a:r>
              <a:rPr lang="zh-TW" altLang="en-US" dirty="0">
                <a:latin typeface="Myriad Pro" panose="020B0503030403020204" pitchFamily="34" charset="0"/>
              </a:rPr>
              <a:t>」符號，</a:t>
            </a:r>
            <a:r>
              <a:rPr lang="zh-TW" altLang="en-US" dirty="0" smtClean="0">
                <a:latin typeface="Myriad Pro" panose="020B0503030403020204" pitchFamily="34" charset="0"/>
              </a:rPr>
              <a:t>所以格式</a:t>
            </a:r>
            <a:r>
              <a:rPr lang="zh-TW" altLang="en-US" dirty="0">
                <a:latin typeface="Myriad Pro" panose="020B0503030403020204" pitchFamily="34" charset="0"/>
              </a:rPr>
              <a:t>不正確。這項檢查是格式檢查而非類型檢查。</a:t>
            </a:r>
          </a:p>
          <a:p>
            <a:r>
              <a:rPr lang="zh-TW" altLang="en-US" dirty="0">
                <a:latin typeface="Myriad Pro" panose="020B0503030403020204" pitchFamily="34" charset="0"/>
              </a:rPr>
              <a:t>每名用戶均須輸入其新電郵地址兩次，代表系統用到輸入數據兩次作驗證</a:t>
            </a:r>
            <a:r>
              <a:rPr lang="zh-TW" altLang="en-US" dirty="0" smtClean="0">
                <a:latin typeface="Myriad Pro" panose="020B0503030403020204" pitchFamily="34" charset="0"/>
              </a:rPr>
              <a:t>。</a:t>
            </a:r>
            <a:endParaRPr lang="en-US" altLang="zh-TW" dirty="0" smtClean="0">
              <a:latin typeface="Myriad Pro" panose="020B0503030403020204" pitchFamily="34" charset="0"/>
            </a:endParaRPr>
          </a:p>
          <a:p>
            <a:endParaRPr lang="en-US" altLang="zh-TW" b="1" dirty="0">
              <a:solidFill>
                <a:srgbClr val="37A3D4"/>
              </a:solidFill>
              <a:latin typeface="Myriad Pro" panose="020B0503030403020204" pitchFamily="34" charset="0"/>
            </a:endParaRPr>
          </a:p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r>
              <a:rPr lang="zh-TW" altLang="en-US" b="1" dirty="0">
                <a:solidFill>
                  <a:srgbClr val="37A3D4"/>
                </a:solidFill>
                <a:latin typeface="Myriad Pro" panose="020B0503030403020204" pitchFamily="34" charset="0"/>
                <a:ea typeface="Noto Sans CJK TC Bold" panose="020B0800000000000000" pitchFamily="34" charset="-128"/>
              </a:rPr>
              <a:t>答案</a:t>
            </a:r>
            <a:endParaRPr lang="en-HK" b="1" dirty="0">
              <a:solidFill>
                <a:srgbClr val="37A3D4"/>
              </a:solidFill>
              <a:latin typeface="Myriad Pro" panose="020B0503030403020204" pitchFamily="34" charset="0"/>
              <a:ea typeface="Noto Sans CJK TC Bold" panose="020B0800000000000000" pitchFamily="34" charset="-128"/>
            </a:endParaRPr>
          </a:p>
          <a:p>
            <a:pPr>
              <a:buSzPct val="100000"/>
            </a:pPr>
            <a:r>
              <a:rPr lang="zh-TW" altLang="en-US" dirty="0">
                <a:latin typeface="Myriad Pro" panose="020B0503030403020204" pitchFamily="34" charset="0"/>
              </a:rPr>
              <a:t>正確答案是 </a:t>
            </a:r>
            <a:r>
              <a:rPr lang="en-US" altLang="zh-TW" dirty="0" smtClean="0">
                <a:latin typeface="Myriad Pro" panose="020B0503030403020204" pitchFamily="34" charset="0"/>
              </a:rPr>
              <a:t>C</a:t>
            </a:r>
            <a:r>
              <a:rPr lang="zh-TW" altLang="en-US" dirty="0" smtClean="0">
                <a:latin typeface="Myriad Pro" panose="020B0503030403020204" pitchFamily="34" charset="0"/>
              </a:rPr>
              <a:t>。</a:t>
            </a:r>
            <a:endParaRPr lang="en-US" dirty="0">
              <a:latin typeface="Myriad Pro" panose="020B0503030403020204" pitchFamily="34" charset="0"/>
            </a:endParaRP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20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6823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>
                <a:latin typeface="Myriad Pro" panose="020B0503030403020204" pitchFamily="34" charset="0"/>
              </a:rPr>
              <a:t>操作員正將紙本檔案中的幾個 </a:t>
            </a:r>
            <a:r>
              <a:rPr lang="en-US" altLang="zh-TW" dirty="0">
                <a:latin typeface="Myriad Pro" panose="020B0503030403020204" pitchFamily="34" charset="0"/>
              </a:rPr>
              <a:t>8 </a:t>
            </a:r>
            <a:r>
              <a:rPr lang="zh-TW" altLang="en-US" dirty="0">
                <a:latin typeface="Myriad Pro" panose="020B0503030403020204" pitchFamily="34" charset="0"/>
              </a:rPr>
              <a:t>位二進制代碼輸入到資訊系統中，但其中一個 </a:t>
            </a:r>
            <a:r>
              <a:rPr lang="en-US" altLang="zh-TW" dirty="0">
                <a:latin typeface="Myriad Pro" panose="020B0503030403020204" pitchFamily="34" charset="0"/>
              </a:rPr>
              <a:t>8 </a:t>
            </a:r>
            <a:r>
              <a:rPr lang="zh-TW" altLang="en-US" dirty="0">
                <a:latin typeface="Myriad Pro" panose="020B0503030403020204" pitchFamily="34" charset="0"/>
              </a:rPr>
              <a:t>位二進制</a:t>
            </a:r>
            <a:r>
              <a:rPr lang="zh-TW" altLang="en-US" dirty="0" smtClean="0">
                <a:latin typeface="Myriad Pro" panose="020B0503030403020204" pitchFamily="34" charset="0"/>
              </a:rPr>
              <a:t>代碼被</a:t>
            </a:r>
            <a:r>
              <a:rPr lang="zh-TW" altLang="en-US" dirty="0">
                <a:latin typeface="Myriad Pro" panose="020B0503030403020204" pitchFamily="34" charset="0"/>
              </a:rPr>
              <a:t>輸入錯誤，如下所示</a:t>
            </a:r>
            <a:r>
              <a:rPr lang="zh-TW" altLang="en-US" dirty="0" smtClean="0">
                <a:latin typeface="Myriad Pro" panose="020B0503030403020204" pitchFamily="34" charset="0"/>
              </a:rPr>
              <a:t>：</a:t>
            </a:r>
            <a:endParaRPr lang="en-US" altLang="zh-TW" dirty="0" smtClean="0">
              <a:latin typeface="Myriad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Myriad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 smtClean="0">
              <a:latin typeface="Myriad Pro" panose="020B0503030403020204" pitchFamily="34" charset="0"/>
            </a:endParaRPr>
          </a:p>
          <a:p>
            <a:r>
              <a:rPr lang="zh-TW" altLang="en-US" sz="2200" dirty="0">
                <a:latin typeface="Myriad Pro" panose="020B0503030403020204" pitchFamily="34" charset="0"/>
              </a:rPr>
              <a:t>以下哪項</a:t>
            </a:r>
            <a:r>
              <a:rPr lang="en-US" altLang="zh-TW" sz="2200" dirty="0">
                <a:latin typeface="Myriad Pro" panose="020B0503030403020204" pitchFamily="34" charset="0"/>
              </a:rPr>
              <a:t>/</a:t>
            </a:r>
            <a:r>
              <a:rPr lang="zh-TW" altLang="en-US" sz="2200" dirty="0">
                <a:latin typeface="Myriad Pro" panose="020B0503030403020204" pitchFamily="34" charset="0"/>
              </a:rPr>
              <a:t>些數據控制方式可以幫助操作員發現此錯誤</a:t>
            </a:r>
            <a:r>
              <a:rPr lang="zh-TW" altLang="en-US" sz="2200" dirty="0" smtClean="0">
                <a:latin typeface="Myriad Pro" panose="020B0503030403020204" pitchFamily="34" charset="0"/>
              </a:rPr>
              <a:t>？</a:t>
            </a:r>
            <a:endParaRPr lang="en-US" sz="2200" dirty="0" smtClean="0">
              <a:latin typeface="Myriad Pro" panose="020B0503030403020204" pitchFamily="34" charset="0"/>
            </a:endParaRPr>
          </a:p>
          <a:p>
            <a:pPr marL="1371600" lvl="2" indent="-457200">
              <a:buSzPct val="100000"/>
              <a:buAutoNum type="arabicParenBoth"/>
            </a:pPr>
            <a:r>
              <a:rPr lang="zh-TW" altLang="en-US" sz="2200" dirty="0">
                <a:latin typeface="Myriad Pro" panose="020B0503030403020204" pitchFamily="34" charset="0"/>
              </a:rPr>
              <a:t>雙重數據</a:t>
            </a:r>
            <a:r>
              <a:rPr lang="zh-TW" altLang="en-US" sz="2200" dirty="0" smtClean="0">
                <a:latin typeface="Myriad Pro" panose="020B0503030403020204" pitchFamily="34" charset="0"/>
              </a:rPr>
              <a:t>輸入</a:t>
            </a:r>
            <a:endParaRPr lang="en-US" altLang="zh-TW" sz="2200" dirty="0" smtClean="0">
              <a:latin typeface="Myriad Pro" panose="020B0503030403020204" pitchFamily="34" charset="0"/>
            </a:endParaRPr>
          </a:p>
          <a:p>
            <a:pPr marL="1371600" lvl="2" indent="-457200">
              <a:buSzPct val="100000"/>
              <a:buAutoNum type="arabicParenBoth"/>
            </a:pPr>
            <a:r>
              <a:rPr lang="zh-TW" altLang="en-US" sz="2200" dirty="0">
                <a:latin typeface="Myriad Pro" panose="020B0503030403020204" pitchFamily="34" charset="0"/>
              </a:rPr>
              <a:t>奇偶</a:t>
            </a:r>
            <a:r>
              <a:rPr lang="zh-TW" altLang="en-US" sz="2200" dirty="0" smtClean="0">
                <a:latin typeface="Myriad Pro" panose="020B0503030403020204" pitchFamily="34" charset="0"/>
              </a:rPr>
              <a:t>檢測</a:t>
            </a:r>
            <a:endParaRPr lang="en-US" altLang="zh-TW" sz="2200" dirty="0" smtClean="0">
              <a:latin typeface="Myriad Pro" panose="020B0503030403020204" pitchFamily="34" charset="0"/>
            </a:endParaRPr>
          </a:p>
          <a:p>
            <a:pPr marL="1371600" lvl="2" indent="-457200">
              <a:buSzPct val="100000"/>
              <a:buAutoNum type="arabicParenBoth"/>
            </a:pPr>
            <a:r>
              <a:rPr lang="zh-TW" altLang="en-US" sz="2200" dirty="0">
                <a:latin typeface="Myriad Pro" panose="020B0503030403020204" pitchFamily="34" charset="0"/>
              </a:rPr>
              <a:t>長度檢查</a:t>
            </a:r>
            <a:r>
              <a:rPr lang="en-HK" sz="2200" dirty="0">
                <a:latin typeface="Myriad Pro" panose="020B0503030403020204" pitchFamily="34" charset="0"/>
              </a:rPr>
              <a:t/>
            </a:r>
            <a:br>
              <a:rPr lang="en-HK" sz="2200" dirty="0">
                <a:latin typeface="Myriad Pro" panose="020B0503030403020204" pitchFamily="34" charset="0"/>
              </a:rPr>
            </a:br>
            <a:endParaRPr lang="en-HK" sz="2200" dirty="0">
              <a:latin typeface="Myriad Pro" panose="020B0503030403020204" pitchFamily="34" charset="0"/>
            </a:endParaRPr>
          </a:p>
          <a:p>
            <a:pPr marL="914400" lvl="1" indent="-457200">
              <a:buSzPct val="100000"/>
              <a:buAutoNum type="alphaUcPeriod"/>
            </a:pPr>
            <a:r>
              <a:rPr lang="zh-TW" altLang="en-US" sz="2200" dirty="0" smtClean="0">
                <a:latin typeface="Myriad Pro" panose="020B0503030403020204" pitchFamily="34" charset="0"/>
              </a:rPr>
              <a:t>只有 </a:t>
            </a:r>
            <a:r>
              <a:rPr lang="en-HK" sz="2200" dirty="0" smtClean="0">
                <a:latin typeface="Myriad Pro" panose="020B0503030403020204" pitchFamily="34" charset="0"/>
              </a:rPr>
              <a:t>(</a:t>
            </a:r>
            <a:r>
              <a:rPr lang="en-HK" sz="2200" dirty="0">
                <a:latin typeface="Myriad Pro" panose="020B0503030403020204" pitchFamily="34" charset="0"/>
              </a:rPr>
              <a:t>1) </a:t>
            </a:r>
            <a:endParaRPr lang="en-HK" sz="2200" dirty="0" smtClean="0">
              <a:latin typeface="Myriad Pro" panose="020B0503030403020204" pitchFamily="34" charset="0"/>
            </a:endParaRPr>
          </a:p>
          <a:p>
            <a:pPr marL="914400" lvl="1" indent="-457200">
              <a:buSzPct val="100000"/>
              <a:buAutoNum type="alphaUcPeriod"/>
            </a:pPr>
            <a:r>
              <a:rPr lang="zh-TW" altLang="en-US" sz="2200" dirty="0" smtClean="0">
                <a:latin typeface="Myriad Pro" panose="020B0503030403020204" pitchFamily="34" charset="0"/>
              </a:rPr>
              <a:t>只有 </a:t>
            </a:r>
            <a:r>
              <a:rPr lang="en-HK" sz="2200" dirty="0" smtClean="0">
                <a:latin typeface="Myriad Pro" panose="020B0503030403020204" pitchFamily="34" charset="0"/>
              </a:rPr>
              <a:t>(</a:t>
            </a:r>
            <a:r>
              <a:rPr lang="en-HK" sz="2200" dirty="0">
                <a:latin typeface="Myriad Pro" panose="020B0503030403020204" pitchFamily="34" charset="0"/>
              </a:rPr>
              <a:t>2</a:t>
            </a:r>
            <a:r>
              <a:rPr lang="en-HK" sz="2200" dirty="0" smtClean="0">
                <a:latin typeface="Myriad Pro" panose="020B0503030403020204" pitchFamily="34" charset="0"/>
              </a:rPr>
              <a:t>)</a:t>
            </a:r>
            <a:endParaRPr lang="en-HK" sz="2200" dirty="0">
              <a:latin typeface="Myriad Pro" panose="020B0503030403020204" pitchFamily="34" charset="0"/>
            </a:endParaRPr>
          </a:p>
          <a:p>
            <a:pPr marL="914400" lvl="1" indent="-457200">
              <a:buSzPct val="100000"/>
              <a:buAutoNum type="alphaUcPeriod"/>
            </a:pPr>
            <a:r>
              <a:rPr lang="zh-TW" altLang="en-US" sz="2200" dirty="0" smtClean="0">
                <a:latin typeface="Myriad Pro" panose="020B0503030403020204" pitchFamily="34" charset="0"/>
              </a:rPr>
              <a:t>只有 </a:t>
            </a:r>
            <a:r>
              <a:rPr lang="en-HK" sz="2200" dirty="0" smtClean="0">
                <a:latin typeface="Myriad Pro" panose="020B0503030403020204" pitchFamily="34" charset="0"/>
              </a:rPr>
              <a:t>(</a:t>
            </a:r>
            <a:r>
              <a:rPr lang="en-HK" sz="2200" dirty="0">
                <a:latin typeface="Myriad Pro" panose="020B0503030403020204" pitchFamily="34" charset="0"/>
              </a:rPr>
              <a:t>1) </a:t>
            </a:r>
            <a:r>
              <a:rPr lang="zh-TW" altLang="en-US" sz="2200" dirty="0" smtClean="0">
                <a:latin typeface="Myriad Pro" panose="020B0503030403020204" pitchFamily="34" charset="0"/>
              </a:rPr>
              <a:t>和 </a:t>
            </a:r>
            <a:r>
              <a:rPr lang="en-US" altLang="zh-TW" sz="2200" dirty="0" smtClean="0">
                <a:latin typeface="Myriad Pro" panose="020B0503030403020204" pitchFamily="34" charset="0"/>
              </a:rPr>
              <a:t>(</a:t>
            </a:r>
            <a:r>
              <a:rPr lang="en-HK" sz="2200" dirty="0" smtClean="0">
                <a:latin typeface="Myriad Pro" panose="020B0503030403020204" pitchFamily="34" charset="0"/>
              </a:rPr>
              <a:t>3)</a:t>
            </a:r>
            <a:endParaRPr lang="en-HK" sz="2200" dirty="0">
              <a:latin typeface="Myriad Pro" panose="020B0503030403020204" pitchFamily="34" charset="0"/>
            </a:endParaRPr>
          </a:p>
          <a:p>
            <a:pPr marL="914400" lvl="1" indent="-457200">
              <a:buSzPct val="100000"/>
              <a:buAutoNum type="alphaUcPeriod"/>
            </a:pPr>
            <a:r>
              <a:rPr lang="zh-TW" altLang="en-US" sz="2200" dirty="0" smtClean="0">
                <a:latin typeface="Myriad Pro" panose="020B0503030403020204" pitchFamily="34" charset="0"/>
              </a:rPr>
              <a:t>只有 </a:t>
            </a:r>
            <a:r>
              <a:rPr lang="en-HK" sz="2200" dirty="0" smtClean="0">
                <a:latin typeface="Myriad Pro" panose="020B0503030403020204" pitchFamily="34" charset="0"/>
              </a:rPr>
              <a:t>(</a:t>
            </a:r>
            <a:r>
              <a:rPr lang="en-HK" sz="2200" dirty="0">
                <a:latin typeface="Myriad Pro" panose="020B0503030403020204" pitchFamily="34" charset="0"/>
              </a:rPr>
              <a:t>2) </a:t>
            </a:r>
            <a:r>
              <a:rPr lang="zh-TW" altLang="en-US" sz="2200" dirty="0">
                <a:latin typeface="Myriad Pro" panose="020B0503030403020204" pitchFamily="34" charset="0"/>
              </a:rPr>
              <a:t>和</a:t>
            </a:r>
            <a:r>
              <a:rPr lang="en-HK" sz="2200" dirty="0" smtClean="0">
                <a:latin typeface="Myriad Pro" panose="020B0503030403020204" pitchFamily="34" charset="0"/>
              </a:rPr>
              <a:t> </a:t>
            </a:r>
            <a:r>
              <a:rPr lang="en-HK" sz="2200" dirty="0">
                <a:latin typeface="Myriad Pro" panose="020B0503030403020204" pitchFamily="34" charset="0"/>
              </a:rPr>
              <a:t>(3</a:t>
            </a:r>
            <a:r>
              <a:rPr lang="en-HK" sz="2200" dirty="0" smtClean="0">
                <a:latin typeface="Myriad Pro" panose="020B0503030403020204" pitchFamily="34" charset="0"/>
              </a:rPr>
              <a:t>)</a:t>
            </a:r>
            <a:endParaRPr lang="en-GB" dirty="0">
              <a:latin typeface="Myriad Pro" panose="020B0503030403020204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21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2.2</a:t>
            </a:r>
            <a:endParaRPr lang="en-GB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928" y="2034658"/>
            <a:ext cx="5170144" cy="838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791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數據庫的功能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22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2.3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/>
              <a:t>你知道大量的數據（如圖書館中的圖書數據）是如何組織、儲存和提取的嗎？</a:t>
            </a:r>
            <a:endParaRPr lang="en-US" altLang="zh-TW" dirty="0" smtClean="0"/>
          </a:p>
          <a:p>
            <a:r>
              <a:rPr lang="zh-TW" altLang="en-US" dirty="0" smtClean="0"/>
              <a:t>此過程須要運用數據庫。</a:t>
            </a:r>
            <a:endParaRPr lang="en-GB" dirty="0"/>
          </a:p>
        </p:txBody>
      </p:sp>
      <p:pic>
        <p:nvPicPr>
          <p:cNvPr id="8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921" y="2374088"/>
            <a:ext cx="4254160" cy="3809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154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組織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 smtClean="0"/>
              <a:t>A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/>
              <a:t>數據庫中的數據是根據數據庫結構來組織的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/>
              <a:t>良好的數據庫結構</a:t>
            </a:r>
            <a:r>
              <a:rPr lang="zh-TW" altLang="en-US" dirty="0" smtClean="0"/>
              <a:t>可以</a:t>
            </a:r>
            <a:r>
              <a:rPr lang="zh-TW" altLang="en-US" dirty="0"/>
              <a:t>使不同數據表之間的傳遞更流暢，並減少數據重複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舉例來說：</a:t>
            </a:r>
            <a:endParaRPr lang="en-GB" dirty="0"/>
          </a:p>
        </p:txBody>
      </p: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14134"/>
              </p:ext>
            </p:extLst>
          </p:nvPr>
        </p:nvGraphicFramePr>
        <p:xfrm>
          <a:off x="1810800" y="3201306"/>
          <a:ext cx="8297674" cy="29322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6806"/>
                <a:gridCol w="1686573"/>
                <a:gridCol w="5294295"/>
              </a:tblGrid>
              <a:tr h="452582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欄位名稱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8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數據類型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8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說明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897"/>
                    </a:solidFill>
                  </a:tcPr>
                </a:tc>
              </a:tr>
              <a:tr h="452582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SID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字串</a:t>
                      </a:r>
                      <a:endParaRPr lang="en-US" dirty="0" smtClean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學生獨一無二的學生編號。數字無法儲存</a:t>
                      </a:r>
                    </a:p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前置零，因此它必須儲存為文本。</a:t>
                      </a:r>
                      <a:endParaRPr lang="en-US" dirty="0" smtClean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582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NAME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字串</a:t>
                      </a:r>
                      <a:endParaRPr lang="en-US" dirty="0" smtClean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HK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學生的姓名</a:t>
                      </a:r>
                      <a:endParaRPr lang="en-US" dirty="0" smtClean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582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SEX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字串</a:t>
                      </a:r>
                      <a:endParaRPr lang="en-US" dirty="0" smtClean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HK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學生的性別</a:t>
                      </a:r>
                      <a:endParaRPr lang="en-US" dirty="0" smtClean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582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CLASS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字串</a:t>
                      </a:r>
                      <a:endParaRPr lang="en-US" dirty="0" smtClean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學生所屬的班級</a:t>
                      </a:r>
                      <a:endParaRPr lang="en-US" dirty="0" smtClean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1855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CNO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整數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HK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學生的學號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58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8978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儲存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/>
              <a:t>我們可以在數據庫中插入新記錄、</a:t>
            </a:r>
            <a:r>
              <a:rPr lang="zh-TW" altLang="en-US" dirty="0"/>
              <a:t>更改或刪除現有記錄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endParaRPr lang="en-GB" dirty="0"/>
          </a:p>
        </p:txBody>
      </p:sp>
      <p:graphicFrame>
        <p:nvGraphicFramePr>
          <p:cNvPr id="6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710793"/>
              </p:ext>
            </p:extLst>
          </p:nvPr>
        </p:nvGraphicFramePr>
        <p:xfrm>
          <a:off x="967971" y="2544071"/>
          <a:ext cx="10661534" cy="38484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88226"/>
                <a:gridCol w="6973308"/>
              </a:tblGrid>
              <a:tr h="113015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結構化查詢語言（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SQL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）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1826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圖形用戶界面（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GUI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）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068" y="2652005"/>
            <a:ext cx="6691424" cy="803197"/>
          </a:xfrm>
          <a:prstGeom prst="rect">
            <a:avLst/>
          </a:prstGeom>
        </p:spPr>
      </p:pic>
      <p:pic>
        <p:nvPicPr>
          <p:cNvPr id="8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9333" y="3974075"/>
            <a:ext cx="5190895" cy="2323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255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>
                <a:solidFill>
                  <a:srgbClr val="4D4D4D"/>
                </a:solidFill>
                <a:latin typeface="NotoSansCJKtc-Bold" panose="020B0800000000000000" pitchFamily="34" charset="-128"/>
                <a:ea typeface="NotoSansCJKtc-Bold" panose="020B0800000000000000" pitchFamily="34" charset="-128"/>
              </a:rPr>
              <a:t>提取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 smtClean="0"/>
              <a:t>C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/>
              <a:t>我們可以使用 </a:t>
            </a:r>
            <a:r>
              <a:rPr lang="en-US" altLang="zh-TW" dirty="0"/>
              <a:t>SQL </a:t>
            </a:r>
            <a:r>
              <a:rPr lang="zh-TW" altLang="en-US" dirty="0"/>
              <a:t>或通過 </a:t>
            </a:r>
            <a:r>
              <a:rPr lang="en-US" altLang="zh-TW" dirty="0"/>
              <a:t>GUI </a:t>
            </a:r>
            <a:r>
              <a:rPr lang="zh-TW" altLang="en-US" dirty="0"/>
              <a:t>從數據庫中提取特定數據。</a:t>
            </a:r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274237"/>
              </p:ext>
            </p:extLst>
          </p:nvPr>
        </p:nvGraphicFramePr>
        <p:xfrm>
          <a:off x="967971" y="2544071"/>
          <a:ext cx="9697258" cy="38484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54647"/>
                <a:gridCol w="6342611"/>
              </a:tblGrid>
              <a:tr h="113015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結構化查詢語言（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SQL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）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1826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圖形用戶界面（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GUI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Noto Sans CJK TC Light" panose="020B0300000000000000" pitchFamily="34" charset="-128"/>
                          <a:cs typeface="+mn-cs"/>
                        </a:rPr>
                        <a:t>）</a:t>
                      </a:r>
                      <a:endParaRPr lang="en-US" dirty="0">
                        <a:latin typeface="+mn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761" y="2711454"/>
            <a:ext cx="6759022" cy="82996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610" y="4254707"/>
            <a:ext cx="5819323" cy="1524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096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提取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/>
              <a:t>我們可以為頻繁搜尋的欄位建立索引，以加快提取數據的過程。</a:t>
            </a:r>
            <a:endParaRPr lang="en-US" altLang="zh-TW" dirty="0" smtClean="0"/>
          </a:p>
          <a:p>
            <a:r>
              <a:rPr lang="zh-TW" altLang="en-US" dirty="0"/>
              <a:t>為 </a:t>
            </a:r>
            <a:r>
              <a:rPr lang="en-US" altLang="zh-TW" dirty="0"/>
              <a:t>ENAME </a:t>
            </a:r>
            <a:r>
              <a:rPr lang="zh-TW" altLang="en-US" dirty="0"/>
              <a:t>加上索引會建立一個索引表，其中僅包含索引欄位和指向</a:t>
            </a:r>
            <a:r>
              <a:rPr lang="zh-TW" altLang="en-US" dirty="0" smtClean="0"/>
              <a:t>相關</a:t>
            </a:r>
            <a:r>
              <a:rPr lang="zh-TW" altLang="en-US" dirty="0"/>
              <a:t>記錄的指標。</a:t>
            </a:r>
            <a:endParaRPr lang="en-GB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800" y="2512800"/>
            <a:ext cx="9259330" cy="3886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4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檔案存取方式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2.4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/>
              <a:t>數據</a:t>
            </a:r>
            <a:r>
              <a:rPr lang="zh-TW" altLang="en-US" dirty="0"/>
              <a:t>可以儲存在不同的儲存設備中，它們決定了存取數據的方式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endParaRPr lang="en-US" dirty="0"/>
          </a:p>
          <a:p>
            <a:r>
              <a:rPr lang="zh-TW" altLang="en-US" dirty="0" smtClean="0"/>
              <a:t>常見的檔案存取方式有兩種</a:t>
            </a:r>
            <a:r>
              <a:rPr lang="zh-TW" altLang="en-US" dirty="0"/>
              <a:t>：</a:t>
            </a:r>
            <a:endParaRPr lang="en-GB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032" y="3148367"/>
            <a:ext cx="7873185" cy="282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325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順序存取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 smtClean="0"/>
              <a:t>A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/>
              <a:t>使用順序存取的儲存設備會按順序從頭開始寫入數據。順序存取的</a:t>
            </a:r>
            <a:r>
              <a:rPr lang="zh-TW" altLang="en-US" dirty="0"/>
              <a:t>存取速度，</a:t>
            </a:r>
            <a:r>
              <a:rPr lang="zh-TW" altLang="en-US" dirty="0" smtClean="0"/>
              <a:t>平均而言</a:t>
            </a:r>
            <a:r>
              <a:rPr lang="zh-TW" altLang="en-US" dirty="0"/>
              <a:t>會比直接存取</a:t>
            </a:r>
            <a:r>
              <a:rPr lang="zh-TW" altLang="en-US" dirty="0" smtClean="0"/>
              <a:t>慢。</a:t>
            </a:r>
            <a:endParaRPr lang="en-US" altLang="zh-TW" dirty="0" smtClean="0"/>
          </a:p>
          <a:p>
            <a:endParaRPr lang="en-US" dirty="0"/>
          </a:p>
          <a:p>
            <a:r>
              <a:rPr lang="zh-TW" altLang="en-US" dirty="0"/>
              <a:t>只會使用順序存取的儲存設備：</a:t>
            </a:r>
            <a:endParaRPr lang="en-GB" dirty="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268" y="3685206"/>
            <a:ext cx="2746488" cy="2105499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632346" y="569045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Noto Sans CJK TC Light" panose="020B0300000000000000" pitchFamily="34" charset="-128"/>
                <a:ea typeface="Noto Sans CJK TC Light" panose="020B0300000000000000" pitchFamily="34" charset="-128"/>
              </a:rPr>
              <a:t>磁帶</a:t>
            </a:r>
            <a:endParaRPr lang="en-US" dirty="0">
              <a:latin typeface="Noto Sans CJK TC Light" panose="020B0300000000000000" pitchFamily="34" charset="-128"/>
              <a:ea typeface="Noto Sans CJK TC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36106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直接存取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/>
              <a:t>使用直接存取的儲存設備可以在任何儲存位置寫入數據。直接存取的存取</a:t>
            </a:r>
            <a:r>
              <a:rPr lang="zh-TW" altLang="en-US" dirty="0" smtClean="0"/>
              <a:t>速度一般更</a:t>
            </a:r>
            <a:r>
              <a:rPr lang="zh-TW" altLang="en-US" dirty="0"/>
              <a:t>穩定</a:t>
            </a:r>
            <a:r>
              <a:rPr lang="zh-TW" altLang="en-US" dirty="0" smtClean="0"/>
              <a:t>，且速度比</a:t>
            </a:r>
            <a:r>
              <a:rPr lang="zh-TW" altLang="en-US" dirty="0"/>
              <a:t>順序存取快</a:t>
            </a:r>
            <a:r>
              <a:rPr lang="zh-TW" altLang="en-US" dirty="0" smtClean="0"/>
              <a:t>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能使用直接存取的儲存設備：</a:t>
            </a:r>
            <a:endParaRPr lang="en-US" altLang="zh-TW" dirty="0" smtClean="0"/>
          </a:p>
          <a:p>
            <a:endParaRPr lang="en-US" dirty="0"/>
          </a:p>
          <a:p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376" y="3709351"/>
            <a:ext cx="5212072" cy="18352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1" y="583704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latin typeface="Noto Sans CJK TC Light" panose="020B0300000000000000" pitchFamily="34" charset="-128"/>
                <a:ea typeface="Noto Sans CJK TC Light" panose="020B0300000000000000" pitchFamily="34" charset="-128"/>
              </a:rPr>
              <a:t>硬碟</a:t>
            </a:r>
            <a:endParaRPr lang="en-US" dirty="0">
              <a:latin typeface="Noto Sans CJK TC Light" panose="020B0300000000000000" pitchFamily="34" charset="-128"/>
              <a:ea typeface="Noto Sans CJK TC Light" panose="020B0300000000000000" pitchFamily="34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87741" y="583704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latin typeface="Noto Sans CJK TC Light" panose="020B0300000000000000" pitchFamily="34" charset="-128"/>
                <a:ea typeface="Noto Sans CJK TC Light" panose="020B0300000000000000" pitchFamily="34" charset="-128"/>
              </a:rPr>
              <a:t>隨身碟</a:t>
            </a:r>
            <a:endParaRPr lang="en-US" dirty="0">
              <a:latin typeface="Noto Sans CJK TC Light" panose="020B0300000000000000" pitchFamily="34" charset="-128"/>
              <a:ea typeface="Noto Sans CJK TC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68230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>
                <a:latin typeface="NotoSansCJKtc-Light" panose="020B0300000000000000" pitchFamily="34" charset="-128"/>
                <a:ea typeface="NotoSansCJKtc-Light" panose="020B0300000000000000" pitchFamily="34" charset="-128"/>
              </a:rPr>
              <a:t>一位老師想將</a:t>
            </a:r>
            <a:r>
              <a:rPr lang="en-US" altLang="zh-TW" dirty="0">
                <a:latin typeface="MyriadPro-Regular" panose="020B0503030403020204" pitchFamily="34" charset="0"/>
                <a:ea typeface="NotoSansCJKtc-Light" panose="020B0300000000000000" pitchFamily="34" charset="-128"/>
              </a:rPr>
              <a:t>1A</a:t>
            </a:r>
            <a:r>
              <a:rPr lang="zh-TW" altLang="en-US" dirty="0">
                <a:latin typeface="NotoSansCJKtc-Light" panose="020B0300000000000000" pitchFamily="34" charset="-128"/>
                <a:ea typeface="NotoSansCJKtc-Light" panose="020B0300000000000000" pitchFamily="34" charset="-128"/>
              </a:rPr>
              <a:t>班學生的資料儲存在一個數據庫表格中。數據表的結構如下</a:t>
            </a:r>
            <a:r>
              <a:rPr lang="zh-TW" altLang="en-US" dirty="0" smtClean="0">
                <a:latin typeface="NotoSansCJKtc-Light" panose="020B0300000000000000" pitchFamily="34" charset="-128"/>
                <a:ea typeface="NotoSansCJKtc-Light" panose="020B0300000000000000" pitchFamily="34" charset="-128"/>
              </a:rPr>
              <a:t>：</a:t>
            </a:r>
            <a:endParaRPr lang="en-US" altLang="zh-TW" dirty="0" smtClean="0">
              <a:latin typeface="NotoSansCJKtc-Light" panose="020B0300000000000000" pitchFamily="34" charset="-128"/>
              <a:ea typeface="NotoSansCJKtc-Light" panose="020B0300000000000000" pitchFamily="34" charset="-128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NotoSansCJKtc-Light" panose="020B0300000000000000" pitchFamily="34" charset="-128"/>
              <a:ea typeface="NotoSansCJKtc-Light" panose="020B0300000000000000" pitchFamily="34" charset="-128"/>
            </a:endParaRPr>
          </a:p>
          <a:p>
            <a:pPr marL="457200" indent="-457200">
              <a:buFont typeface="+mj-lt"/>
              <a:buAutoNum type="arabicPeriod"/>
            </a:pPr>
            <a:endParaRPr lang="en-US" dirty="0" smtClean="0">
              <a:latin typeface="NotoSansCJKtc-Light" panose="020B0300000000000000" pitchFamily="34" charset="-128"/>
              <a:ea typeface="NotoSansCJKtc-Light" panose="020B0300000000000000" pitchFamily="34" charset="-128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NotoSansCJKtc-Light" panose="020B0300000000000000" pitchFamily="34" charset="-128"/>
              <a:ea typeface="NotoSansCJKtc-Light" panose="020B0300000000000000" pitchFamily="34" charset="-128"/>
            </a:endParaRPr>
          </a:p>
          <a:p>
            <a:pPr lvl="1"/>
            <a:r>
              <a:rPr lang="zh-TW" altLang="en-US" dirty="0">
                <a:latin typeface="+mn-lt"/>
              </a:rPr>
              <a:t>以下哪種 </a:t>
            </a:r>
            <a:r>
              <a:rPr lang="en-US" altLang="zh-TW" dirty="0">
                <a:latin typeface="+mn-lt"/>
              </a:rPr>
              <a:t>/ </a:t>
            </a:r>
            <a:r>
              <a:rPr lang="zh-TW" altLang="en-US" dirty="0">
                <a:latin typeface="+mn-lt"/>
              </a:rPr>
              <a:t>些類型的有效性檢驗適合運用到 </a:t>
            </a:r>
            <a:r>
              <a:rPr lang="en-US" altLang="zh-TW" dirty="0">
                <a:latin typeface="+mn-lt"/>
              </a:rPr>
              <a:t>CNO </a:t>
            </a:r>
            <a:r>
              <a:rPr lang="zh-TW" altLang="en-US" dirty="0">
                <a:latin typeface="+mn-lt"/>
              </a:rPr>
              <a:t>欄位中</a:t>
            </a:r>
            <a:r>
              <a:rPr lang="zh-TW" altLang="en-US" dirty="0" smtClean="0">
                <a:latin typeface="+mn-lt"/>
              </a:rPr>
              <a:t>？</a:t>
            </a:r>
            <a:endParaRPr lang="en-US" dirty="0">
              <a:latin typeface="+mn-lt"/>
            </a:endParaRPr>
          </a:p>
          <a:p>
            <a:pPr marL="1257300" lvl="2" indent="-342900">
              <a:buSzPct val="100000"/>
              <a:buAutoNum type="arabicParenBoth"/>
            </a:pPr>
            <a:r>
              <a:rPr lang="zh-TW" altLang="en-US" sz="1800" dirty="0" smtClean="0">
                <a:latin typeface="+mn-lt"/>
              </a:rPr>
              <a:t>唯一性檢查</a:t>
            </a:r>
            <a:endParaRPr lang="en-HK" sz="1800" dirty="0">
              <a:latin typeface="+mn-lt"/>
            </a:endParaRPr>
          </a:p>
          <a:p>
            <a:pPr marL="1257300" lvl="2" indent="-342900">
              <a:buSzPct val="100000"/>
              <a:buAutoNum type="arabicParenBoth"/>
            </a:pPr>
            <a:r>
              <a:rPr lang="zh-TW" altLang="en-US" sz="1800" dirty="0" smtClean="0">
                <a:latin typeface="+mn-lt"/>
              </a:rPr>
              <a:t>類型檢查</a:t>
            </a:r>
            <a:endParaRPr lang="en-HK" sz="1800" dirty="0">
              <a:latin typeface="+mn-lt"/>
            </a:endParaRPr>
          </a:p>
          <a:p>
            <a:pPr marL="1257300" lvl="2" indent="-342900">
              <a:buSzPct val="100000"/>
              <a:buAutoNum type="arabicParenBoth"/>
            </a:pPr>
            <a:r>
              <a:rPr lang="zh-TW" altLang="en-US" sz="1800" dirty="0" smtClean="0">
                <a:latin typeface="+mn-lt"/>
              </a:rPr>
              <a:t>完整性檢查</a:t>
            </a:r>
            <a:endParaRPr lang="en-US" sz="1800" dirty="0">
              <a:latin typeface="+mn-lt"/>
            </a:endParaRPr>
          </a:p>
          <a:p>
            <a:pPr marL="800100" lvl="1" indent="-342900">
              <a:buSzPct val="100000"/>
              <a:buAutoNum type="alphaUcPeriod"/>
            </a:pPr>
            <a:r>
              <a:rPr lang="zh-TW" altLang="en-US" dirty="0" smtClean="0">
                <a:latin typeface="+mn-lt"/>
              </a:rPr>
              <a:t>只有 </a:t>
            </a:r>
            <a:r>
              <a:rPr lang="en-HK" dirty="0" smtClean="0">
                <a:latin typeface="+mn-lt"/>
              </a:rPr>
              <a:t>(2)</a:t>
            </a:r>
            <a:endParaRPr lang="en-HK" dirty="0">
              <a:latin typeface="+mn-lt"/>
            </a:endParaRPr>
          </a:p>
          <a:p>
            <a:pPr marL="800100" lvl="1" indent="-342900">
              <a:buSzPct val="100000"/>
              <a:buAutoNum type="alphaUcPeriod"/>
            </a:pPr>
            <a:r>
              <a:rPr lang="zh-TW" altLang="en-US" dirty="0" smtClean="0">
                <a:latin typeface="+mn-lt"/>
              </a:rPr>
              <a:t>只有 </a:t>
            </a:r>
            <a:r>
              <a:rPr lang="en-HK" dirty="0" smtClean="0">
                <a:latin typeface="+mn-lt"/>
              </a:rPr>
              <a:t>(</a:t>
            </a:r>
            <a:r>
              <a:rPr lang="en-HK" dirty="0">
                <a:latin typeface="+mn-lt"/>
              </a:rPr>
              <a:t>1) </a:t>
            </a:r>
            <a:r>
              <a:rPr lang="zh-TW" altLang="en-US" dirty="0">
                <a:latin typeface="+mn-lt"/>
              </a:rPr>
              <a:t>和</a:t>
            </a:r>
            <a:r>
              <a:rPr lang="en-HK" dirty="0" smtClean="0">
                <a:latin typeface="+mn-lt"/>
              </a:rPr>
              <a:t> </a:t>
            </a:r>
            <a:r>
              <a:rPr lang="en-HK" dirty="0">
                <a:latin typeface="+mn-lt"/>
              </a:rPr>
              <a:t>(2</a:t>
            </a:r>
            <a:r>
              <a:rPr lang="en-HK" dirty="0" smtClean="0">
                <a:latin typeface="+mn-lt"/>
              </a:rPr>
              <a:t>)</a:t>
            </a:r>
            <a:endParaRPr lang="en-HK" dirty="0">
              <a:latin typeface="+mn-lt"/>
            </a:endParaRPr>
          </a:p>
          <a:p>
            <a:pPr marL="800100" lvl="1" indent="-342900">
              <a:buSzPct val="100000"/>
              <a:buAutoNum type="alphaUcPeriod"/>
            </a:pPr>
            <a:r>
              <a:rPr lang="zh-TW" altLang="en-US" dirty="0" smtClean="0">
                <a:latin typeface="+mn-lt"/>
              </a:rPr>
              <a:t>只有 </a:t>
            </a:r>
            <a:r>
              <a:rPr lang="en-HK" dirty="0" smtClean="0">
                <a:latin typeface="+mn-lt"/>
              </a:rPr>
              <a:t>(2) </a:t>
            </a:r>
            <a:r>
              <a:rPr lang="zh-TW" altLang="en-US" dirty="0" smtClean="0">
                <a:latin typeface="+mn-lt"/>
              </a:rPr>
              <a:t>和</a:t>
            </a:r>
            <a:r>
              <a:rPr lang="en-HK" dirty="0" smtClean="0">
                <a:latin typeface="+mn-lt"/>
              </a:rPr>
              <a:t> </a:t>
            </a:r>
            <a:r>
              <a:rPr lang="en-HK" dirty="0">
                <a:latin typeface="+mn-lt"/>
              </a:rPr>
              <a:t>(3) </a:t>
            </a:r>
          </a:p>
          <a:p>
            <a:pPr marL="800100" lvl="1" indent="-342900">
              <a:buSzPct val="100000"/>
              <a:buAutoNum type="alphaUcPeriod"/>
            </a:pPr>
            <a:r>
              <a:rPr lang="zh-TW" altLang="en-US" dirty="0" smtClean="0">
                <a:latin typeface="+mn-lt"/>
              </a:rPr>
              <a:t>只有 </a:t>
            </a:r>
            <a:r>
              <a:rPr lang="en-HK" dirty="0" smtClean="0">
                <a:latin typeface="+mn-lt"/>
              </a:rPr>
              <a:t>(1)</a:t>
            </a:r>
            <a:r>
              <a:rPr lang="zh-TW" altLang="en-US" dirty="0" smtClean="0">
                <a:latin typeface="+mn-lt"/>
              </a:rPr>
              <a:t>、</a:t>
            </a:r>
            <a:r>
              <a:rPr lang="en-HK" dirty="0" smtClean="0">
                <a:latin typeface="+mn-lt"/>
              </a:rPr>
              <a:t>(2</a:t>
            </a:r>
            <a:r>
              <a:rPr lang="en-HK" dirty="0">
                <a:latin typeface="+mn-lt"/>
              </a:rPr>
              <a:t>) </a:t>
            </a:r>
            <a:r>
              <a:rPr lang="zh-TW" altLang="en-US" dirty="0">
                <a:latin typeface="+mn-lt"/>
              </a:rPr>
              <a:t>和</a:t>
            </a:r>
            <a:r>
              <a:rPr lang="en-HK" dirty="0" smtClean="0">
                <a:latin typeface="+mn-lt"/>
              </a:rPr>
              <a:t> </a:t>
            </a:r>
            <a:r>
              <a:rPr lang="en-HK" dirty="0">
                <a:latin typeface="+mn-lt"/>
              </a:rPr>
              <a:t>(3)</a:t>
            </a: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2.3</a:t>
            </a:r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395477"/>
              </p:ext>
            </p:extLst>
          </p:nvPr>
        </p:nvGraphicFramePr>
        <p:xfrm>
          <a:off x="3320472" y="1858508"/>
          <a:ext cx="6122788" cy="1341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0697"/>
                <a:gridCol w="1530697"/>
                <a:gridCol w="1530697"/>
                <a:gridCol w="1530697"/>
              </a:tblGrid>
              <a:tr h="12823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 smtClean="0">
                          <a:solidFill>
                            <a:schemeClr val="bg1"/>
                          </a:solidFill>
                          <a:latin typeface="+mn-lt"/>
                          <a:ea typeface="NotoSansCJKtc-Light" panose="020B0300000000000000" pitchFamily="34" charset="-128"/>
                        </a:rPr>
                        <a:t>欄位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+mn-lt"/>
                        <a:ea typeface="NotoSansCJKtc-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A3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 smtClean="0">
                          <a:solidFill>
                            <a:schemeClr val="bg1"/>
                          </a:solidFill>
                          <a:latin typeface="+mn-lt"/>
                          <a:ea typeface="NotoSansCJKtc-Light" panose="020B0300000000000000" pitchFamily="34" charset="-128"/>
                        </a:rPr>
                        <a:t>數據類型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+mn-lt"/>
                        <a:ea typeface="NotoSansCJKtc-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A3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 smtClean="0">
                          <a:solidFill>
                            <a:schemeClr val="bg1"/>
                          </a:solidFill>
                          <a:latin typeface="+mn-lt"/>
                          <a:ea typeface="NotoSansCJKtc-Light" panose="020B0300000000000000" pitchFamily="34" charset="-128"/>
                        </a:rPr>
                        <a:t>說明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+mn-lt"/>
                        <a:ea typeface="NotoSansCJKtc-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A3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dirty="0" smtClean="0">
                          <a:solidFill>
                            <a:schemeClr val="bg1"/>
                          </a:solidFill>
                          <a:latin typeface="+mn-lt"/>
                          <a:ea typeface="NotoSansCJKtc-Light" panose="020B0300000000000000" pitchFamily="34" charset="-128"/>
                        </a:rPr>
                        <a:t>例子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+mn-lt"/>
                        <a:ea typeface="NotoSansCJKtc-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A3D4"/>
                    </a:solidFill>
                  </a:tcPr>
                </a:tc>
              </a:tr>
              <a:tr h="289137">
                <a:tc>
                  <a:txBody>
                    <a:bodyPr/>
                    <a:lstStyle/>
                    <a:p>
                      <a:r>
                        <a:rPr lang="en-HK" sz="1600" dirty="0" smtClean="0">
                          <a:latin typeface="+mn-lt"/>
                          <a:ea typeface="NotoSansCJKtc-Light" panose="020B0300000000000000" pitchFamily="34" charset="-128"/>
                        </a:rPr>
                        <a:t>CNO</a:t>
                      </a:r>
                      <a:endParaRPr lang="en-US" sz="1600" dirty="0">
                        <a:latin typeface="+mn-lt"/>
                        <a:ea typeface="NotoSansCJKtc-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+mn-lt"/>
                          <a:ea typeface="NotoSansCJKtc-Light" panose="020B0300000000000000" pitchFamily="34" charset="-128"/>
                        </a:rPr>
                        <a:t>數字</a:t>
                      </a:r>
                      <a:endParaRPr lang="en-US" sz="1600" dirty="0">
                        <a:latin typeface="+mn-lt"/>
                        <a:ea typeface="NotoSansCJKtc-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+mn-lt"/>
                          <a:ea typeface="NotoSansCJKtc-Light" panose="020B0300000000000000" pitchFamily="34" charset="-128"/>
                        </a:rPr>
                        <a:t>班號</a:t>
                      </a:r>
                      <a:endParaRPr lang="en-US" sz="1600" dirty="0">
                        <a:latin typeface="+mn-lt"/>
                        <a:ea typeface="NotoSansCJKtc-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sz="1600" dirty="0" smtClean="0">
                          <a:latin typeface="+mn-lt"/>
                          <a:ea typeface="NotoSansCJKtc-Light" panose="020B0300000000000000" pitchFamily="34" charset="-128"/>
                        </a:rPr>
                        <a:t>1</a:t>
                      </a:r>
                      <a:endParaRPr lang="en-US" sz="1600" dirty="0">
                        <a:latin typeface="+mn-lt"/>
                        <a:ea typeface="NotoSansCJKtc-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HK" sz="1600" dirty="0" smtClean="0">
                          <a:latin typeface="+mn-lt"/>
                          <a:ea typeface="NotoSansCJKtc-Light" panose="020B0300000000000000" pitchFamily="34" charset="-128"/>
                        </a:rPr>
                        <a:t>NAME</a:t>
                      </a:r>
                      <a:endParaRPr lang="en-US" sz="1600" dirty="0">
                        <a:latin typeface="+mn-lt"/>
                        <a:ea typeface="NotoSansCJKtc-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+mn-lt"/>
                          <a:ea typeface="NotoSansCJKtc-Light" panose="020B0300000000000000" pitchFamily="34" charset="-128"/>
                        </a:rPr>
                        <a:t>文本</a:t>
                      </a:r>
                      <a:endParaRPr lang="en-US" sz="1600" dirty="0">
                        <a:latin typeface="+mn-lt"/>
                        <a:ea typeface="NotoSansCJKtc-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+mn-lt"/>
                          <a:ea typeface="NotoSansCJKtc-Light" panose="020B0300000000000000" pitchFamily="34" charset="-128"/>
                        </a:rPr>
                        <a:t>姓名</a:t>
                      </a:r>
                      <a:endParaRPr lang="en-US" sz="1600" dirty="0">
                        <a:latin typeface="+mn-lt"/>
                        <a:ea typeface="NotoSansCJKtc-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>
                          <a:latin typeface="+mn-lt"/>
                          <a:ea typeface="NotoSansCJKtc-Light" panose="020B0300000000000000" pitchFamily="34" charset="-128"/>
                        </a:rPr>
                        <a:t>陳大文</a:t>
                      </a:r>
                      <a:endParaRPr lang="en-US" sz="1600" dirty="0">
                        <a:latin typeface="+mn-lt"/>
                        <a:ea typeface="NotoSansCJKtc-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137">
                <a:tc>
                  <a:txBody>
                    <a:bodyPr/>
                    <a:lstStyle/>
                    <a:p>
                      <a:r>
                        <a:rPr lang="en-HK" sz="1600" dirty="0" smtClean="0">
                          <a:latin typeface="+mn-lt"/>
                          <a:ea typeface="NotoSansCJKtc-Light" panose="020B0300000000000000" pitchFamily="34" charset="-128"/>
                        </a:rPr>
                        <a:t>GENDER</a:t>
                      </a:r>
                      <a:endParaRPr lang="en-US" sz="1600" dirty="0">
                        <a:latin typeface="+mn-lt"/>
                        <a:ea typeface="NotoSansCJKtc-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+mn-lt"/>
                          <a:ea typeface="NotoSansCJKtc-Light" panose="020B0300000000000000" pitchFamily="34" charset="-128"/>
                        </a:rPr>
                        <a:t>文本</a:t>
                      </a:r>
                      <a:endParaRPr lang="en-US" sz="1600" dirty="0">
                        <a:latin typeface="+mn-lt"/>
                        <a:ea typeface="NotoSansCJKtc-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+mn-lt"/>
                          <a:ea typeface="NotoSansCJKtc-Light" panose="020B0300000000000000" pitchFamily="34" charset="-128"/>
                        </a:rPr>
                        <a:t>性別</a:t>
                      </a:r>
                      <a:endParaRPr lang="en-US" sz="1600" dirty="0">
                        <a:latin typeface="+mn-lt"/>
                        <a:ea typeface="NotoSansCJKtc-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HK" sz="1600" dirty="0" smtClean="0">
                          <a:latin typeface="+mn-lt"/>
                          <a:ea typeface="NotoSansCJKtc-Light" panose="020B0300000000000000" pitchFamily="34" charset="-128"/>
                        </a:rPr>
                        <a:t>M</a:t>
                      </a:r>
                      <a:endParaRPr lang="en-US" sz="1600" dirty="0">
                        <a:latin typeface="+mn-lt"/>
                        <a:ea typeface="NotoSansCJKtc-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2509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r>
              <a:rPr lang="zh-TW" altLang="en-US" b="1" dirty="0">
                <a:solidFill>
                  <a:srgbClr val="37A3D4"/>
                </a:solidFill>
                <a:latin typeface="Myriad Pro" panose="020B0503030403020204" pitchFamily="34" charset="0"/>
                <a:ea typeface="Noto Sans CJK TC Bold" panose="020B0800000000000000" pitchFamily="34" charset="-128"/>
              </a:rPr>
              <a:t>分析</a:t>
            </a:r>
            <a:endParaRPr lang="en-HK" b="1" dirty="0">
              <a:solidFill>
                <a:srgbClr val="37A3D4"/>
              </a:solidFill>
              <a:latin typeface="Myriad Pro" panose="020B0503030403020204" pitchFamily="34" charset="0"/>
              <a:ea typeface="Noto Sans CJK TC Bold" panose="020B0800000000000000" pitchFamily="34" charset="-128"/>
            </a:endParaRPr>
          </a:p>
          <a:p>
            <a:r>
              <a:rPr lang="zh-TW" altLang="en-US" dirty="0">
                <a:latin typeface="Myriad Pro" panose="020B0503030403020204" pitchFamily="34" charset="0"/>
              </a:rPr>
              <a:t>就 </a:t>
            </a:r>
            <a:r>
              <a:rPr lang="en-US" altLang="zh-TW" dirty="0">
                <a:latin typeface="Myriad Pro" panose="020B0503030403020204" pitchFamily="34" charset="0"/>
              </a:rPr>
              <a:t>(1) </a:t>
            </a:r>
            <a:r>
              <a:rPr lang="zh-TW" altLang="en-US" dirty="0">
                <a:latin typeface="Myriad Pro" panose="020B0503030403020204" pitchFamily="34" charset="0"/>
              </a:rPr>
              <a:t>而言，由於表中的所有資料都來自同一班的學生，即 </a:t>
            </a:r>
            <a:r>
              <a:rPr lang="en-US" altLang="zh-TW" dirty="0">
                <a:latin typeface="Myriad Pro" panose="020B0503030403020204" pitchFamily="34" charset="0"/>
              </a:rPr>
              <a:t>1A </a:t>
            </a:r>
            <a:r>
              <a:rPr lang="zh-TW" altLang="en-US" dirty="0">
                <a:latin typeface="Myriad Pro" panose="020B0503030403020204" pitchFamily="34" charset="0"/>
              </a:rPr>
              <a:t>班，所以學生的班號不應重複。</a:t>
            </a:r>
          </a:p>
          <a:p>
            <a:r>
              <a:rPr lang="zh-TW" altLang="en-US" dirty="0">
                <a:latin typeface="Myriad Pro" panose="020B0503030403020204" pitchFamily="34" charset="0"/>
              </a:rPr>
              <a:t>就 </a:t>
            </a:r>
            <a:r>
              <a:rPr lang="en-US" altLang="zh-TW" dirty="0">
                <a:latin typeface="Myriad Pro" panose="020B0503030403020204" pitchFamily="34" charset="0"/>
              </a:rPr>
              <a:t>(2) </a:t>
            </a:r>
            <a:r>
              <a:rPr lang="zh-TW" altLang="en-US" dirty="0">
                <a:latin typeface="Myriad Pro" panose="020B0503030403020204" pitchFamily="34" charset="0"/>
              </a:rPr>
              <a:t>而言，由於 </a:t>
            </a:r>
            <a:r>
              <a:rPr lang="en-US" altLang="zh-TW" dirty="0">
                <a:latin typeface="Myriad Pro" panose="020B0503030403020204" pitchFamily="34" charset="0"/>
              </a:rPr>
              <a:t>CNO </a:t>
            </a:r>
            <a:r>
              <a:rPr lang="zh-TW" altLang="en-US" dirty="0">
                <a:latin typeface="Myriad Pro" panose="020B0503030403020204" pitchFamily="34" charset="0"/>
              </a:rPr>
              <a:t>欄位中的數據類型為數字，故必須進行類型檢查。</a:t>
            </a:r>
          </a:p>
          <a:p>
            <a:r>
              <a:rPr lang="zh-TW" altLang="en-US" dirty="0">
                <a:latin typeface="Myriad Pro" panose="020B0503030403020204" pitchFamily="34" charset="0"/>
              </a:rPr>
              <a:t>就 </a:t>
            </a:r>
            <a:r>
              <a:rPr lang="en-US" altLang="zh-TW" dirty="0">
                <a:latin typeface="Myriad Pro" panose="020B0503030403020204" pitchFamily="34" charset="0"/>
              </a:rPr>
              <a:t>(3) </a:t>
            </a:r>
            <a:r>
              <a:rPr lang="zh-TW" altLang="en-US" dirty="0">
                <a:latin typeface="Myriad Pro" panose="020B0503030403020204" pitchFamily="34" charset="0"/>
              </a:rPr>
              <a:t>而言，每個學生都必須有班號</a:t>
            </a:r>
            <a:r>
              <a:rPr lang="zh-TW" altLang="en-US" dirty="0" smtClean="0">
                <a:latin typeface="Myriad Pro" panose="020B0503030403020204" pitchFamily="34" charset="0"/>
              </a:rPr>
              <a:t>。</a:t>
            </a:r>
            <a:endParaRPr lang="en-US" altLang="zh-TW" dirty="0" smtClean="0">
              <a:latin typeface="Myriad Pro" panose="020B0503030403020204" pitchFamily="34" charset="0"/>
            </a:endParaRPr>
          </a:p>
          <a:p>
            <a:endParaRPr lang="en-US" altLang="zh-TW" b="1" dirty="0">
              <a:solidFill>
                <a:srgbClr val="37A3D4"/>
              </a:solidFill>
              <a:latin typeface="Myriad Pro" panose="020B0503030403020204" pitchFamily="34" charset="0"/>
            </a:endParaRPr>
          </a:p>
          <a:p>
            <a:endParaRPr lang="en-US" altLang="zh-TW" b="1" dirty="0">
              <a:solidFill>
                <a:srgbClr val="37A3D4"/>
              </a:solidFill>
              <a:latin typeface="Myriad Pro" panose="020B0503030403020204" pitchFamily="34" charset="0"/>
            </a:endParaRPr>
          </a:p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r>
              <a:rPr lang="zh-TW" altLang="en-US" b="1" dirty="0">
                <a:solidFill>
                  <a:srgbClr val="37A3D4"/>
                </a:solidFill>
                <a:latin typeface="Myriad Pro" panose="020B0503030403020204" pitchFamily="34" charset="0"/>
                <a:ea typeface="Noto Sans CJK TC Bold" panose="020B0800000000000000" pitchFamily="34" charset="-128"/>
              </a:rPr>
              <a:t>答案</a:t>
            </a:r>
            <a:endParaRPr lang="en-HK" b="1" dirty="0">
              <a:solidFill>
                <a:srgbClr val="37A3D4"/>
              </a:solidFill>
              <a:latin typeface="Myriad Pro" panose="020B0503030403020204" pitchFamily="34" charset="0"/>
              <a:ea typeface="Noto Sans CJK TC Bold" panose="020B0800000000000000" pitchFamily="34" charset="-128"/>
            </a:endParaRPr>
          </a:p>
          <a:p>
            <a:pPr>
              <a:buSzPct val="100000"/>
            </a:pPr>
            <a:r>
              <a:rPr lang="zh-TW" altLang="en-US" dirty="0">
                <a:latin typeface="Myriad Pro" panose="020B0503030403020204" pitchFamily="34" charset="0"/>
              </a:rPr>
              <a:t>正確答案</a:t>
            </a:r>
            <a:r>
              <a:rPr lang="zh-TW" altLang="en-US" dirty="0" smtClean="0">
                <a:latin typeface="Myriad Pro" panose="020B0503030403020204" pitchFamily="34" charset="0"/>
              </a:rPr>
              <a:t>是</a:t>
            </a:r>
            <a:r>
              <a:rPr lang="en-US" altLang="zh-TW" dirty="0" smtClean="0">
                <a:latin typeface="Myriad Pro" panose="020B0503030403020204" pitchFamily="34" charset="0"/>
              </a:rPr>
              <a:t> D</a:t>
            </a:r>
            <a:r>
              <a:rPr lang="zh-TW" altLang="en-US" dirty="0" smtClean="0">
                <a:latin typeface="Myriad Pro" panose="020B0503030403020204" pitchFamily="34" charset="0"/>
              </a:rPr>
              <a:t>。</a:t>
            </a:r>
            <a:endParaRPr lang="en-US" dirty="0">
              <a:latin typeface="Myriad Pro" panose="020B0503030403020204" pitchFamily="34" charset="0"/>
            </a:endParaRP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31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805002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+mn-lt"/>
              </a:rPr>
              <a:t>試完成課本第 </a:t>
            </a:r>
            <a:r>
              <a:rPr lang="en-US" altLang="zh-TW" dirty="0" smtClean="0">
                <a:latin typeface="+mn-lt"/>
              </a:rPr>
              <a:t>51 </a:t>
            </a:r>
            <a:r>
              <a:rPr lang="zh-TW" altLang="en-US" dirty="0" smtClean="0">
                <a:latin typeface="+mn-lt"/>
              </a:rPr>
              <a:t>頁的測試站 </a:t>
            </a:r>
            <a:r>
              <a:rPr lang="en-US" altLang="zh-TW" dirty="0" smtClean="0">
                <a:latin typeface="+mn-lt"/>
              </a:rPr>
              <a:t>2.3</a:t>
            </a:r>
            <a:r>
              <a:rPr lang="zh-TW" altLang="en-US" dirty="0" smtClean="0">
                <a:latin typeface="+mn-lt"/>
              </a:rPr>
              <a:t>。</a:t>
            </a:r>
            <a:endParaRPr lang="en-US" altLang="zh-TW" dirty="0" smtClean="0">
              <a:latin typeface="+mn-lt"/>
            </a:endParaRPr>
          </a:p>
          <a:p>
            <a:endParaRPr lang="en-US" dirty="0">
              <a:latin typeface="+mn-lt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solidFill>
                  <a:srgbClr val="FF0000"/>
                </a:solidFill>
                <a:latin typeface="+mn-lt"/>
              </a:rPr>
              <a:t>B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+mn-lt"/>
              </a:rPr>
              <a:t>C</a:t>
            </a:r>
            <a:endParaRPr lang="en-GB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32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0767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SEPPT_HK_Kelie_20220801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SEPPT_HK_Kelie_20220801" id="{65F25E0B-E9C0-46F1-AB3B-56C4AD4346BF}" vid="{AA16955C-DB03-4B43-BEEC-E0AA3A93535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DSEPPT_HK_Kelie_20220801</Template>
  <TotalTime>2500</TotalTime>
  <Words>1966</Words>
  <Application>Microsoft Office PowerPoint</Application>
  <PresentationFormat>寬螢幕</PresentationFormat>
  <Paragraphs>362</Paragraphs>
  <Slides>32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32</vt:i4>
      </vt:variant>
    </vt:vector>
  </HeadingPairs>
  <TitlesOfParts>
    <vt:vector size="43" baseType="lpstr">
      <vt:lpstr>Noto Sans CJK TC Bold</vt:lpstr>
      <vt:lpstr>Noto Sans CJK TC Light</vt:lpstr>
      <vt:lpstr>Noto Sans CJK TC Medium</vt:lpstr>
      <vt:lpstr>Noto Sans CJK TC Regular</vt:lpstr>
      <vt:lpstr>NotoSansCJKtc-Bold</vt:lpstr>
      <vt:lpstr>NotoSansCJKtc-Light</vt:lpstr>
      <vt:lpstr>Arial</vt:lpstr>
      <vt:lpstr>Myriad Pro</vt:lpstr>
      <vt:lpstr>MyriadPro-Regular</vt:lpstr>
      <vt:lpstr>Tw Cen MT</vt:lpstr>
      <vt:lpstr>DSEPPT_HK_Kelie_20220801</vt:lpstr>
      <vt:lpstr>第二課 數據控制及數據組織</vt:lpstr>
      <vt:lpstr>PowerPoint 簡報</vt:lpstr>
      <vt:lpstr>數據分級</vt:lpstr>
      <vt:lpstr>數據控制</vt:lpstr>
      <vt:lpstr>無用輸入，無用輸出</vt:lpstr>
      <vt:lpstr>數據有效性檢驗</vt:lpstr>
      <vt:lpstr>數據有效性檢驗</vt:lpstr>
      <vt:lpstr>數據有效性檢驗</vt:lpstr>
      <vt:lpstr>類型檢查</vt:lpstr>
      <vt:lpstr>類型檢查</vt:lpstr>
      <vt:lpstr>檢查數位</vt:lpstr>
      <vt:lpstr>奇偶檢測</vt:lpstr>
      <vt:lpstr>PowerPoint 簡報</vt:lpstr>
      <vt:lpstr>PowerPoint 簡報</vt:lpstr>
      <vt:lpstr>PowerPoint 簡報</vt:lpstr>
      <vt:lpstr>PowerPoint 簡報</vt:lpstr>
      <vt:lpstr>PowerPoint 簡報</vt:lpstr>
      <vt:lpstr>數據驗證</vt:lpstr>
      <vt:lpstr>PowerPoint 簡報</vt:lpstr>
      <vt:lpstr>PowerPoint 簡報</vt:lpstr>
      <vt:lpstr>PowerPoint 簡報</vt:lpstr>
      <vt:lpstr>數據庫的功能</vt:lpstr>
      <vt:lpstr>組織</vt:lpstr>
      <vt:lpstr>儲存</vt:lpstr>
      <vt:lpstr>提取</vt:lpstr>
      <vt:lpstr>提取</vt:lpstr>
      <vt:lpstr>檔案存取方式</vt:lpstr>
      <vt:lpstr>順序存取</vt:lpstr>
      <vt:lpstr>直接存取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Cherry</dc:creator>
  <cp:lastModifiedBy>Cherry</cp:lastModifiedBy>
  <cp:revision>39</cp:revision>
  <dcterms:created xsi:type="dcterms:W3CDTF">2022-08-15T07:41:37Z</dcterms:created>
  <dcterms:modified xsi:type="dcterms:W3CDTF">2022-09-21T09:46:37Z</dcterms:modified>
</cp:coreProperties>
</file>