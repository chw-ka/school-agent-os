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303" r:id="rId26"/>
    <p:sldId id="281" r:id="rId27"/>
    <p:sldId id="282" r:id="rId28"/>
    <p:sldId id="283" r:id="rId29"/>
    <p:sldId id="284" r:id="rId30"/>
    <p:sldId id="304" r:id="rId31"/>
    <p:sldId id="305" r:id="rId32"/>
    <p:sldId id="285" r:id="rId33"/>
    <p:sldId id="306" r:id="rId34"/>
    <p:sldId id="307" r:id="rId35"/>
    <p:sldId id="308" r:id="rId36"/>
    <p:sldId id="286" r:id="rId37"/>
    <p:sldId id="287" r:id="rId38"/>
    <p:sldId id="288" r:id="rId39"/>
    <p:sldId id="289" r:id="rId40"/>
    <p:sldId id="290" r:id="rId41"/>
    <p:sldId id="291" r:id="rId42"/>
    <p:sldId id="309" r:id="rId43"/>
    <p:sldId id="292" r:id="rId44"/>
    <p:sldId id="293" r:id="rId45"/>
    <p:sldId id="295" r:id="rId46"/>
    <p:sldId id="294" r:id="rId47"/>
    <p:sldId id="296" r:id="rId48"/>
    <p:sldId id="297" r:id="rId49"/>
    <p:sldId id="298" r:id="rId50"/>
    <p:sldId id="299" r:id="rId51"/>
    <p:sldId id="310" r:id="rId52"/>
    <p:sldId id="311" r:id="rId53"/>
    <p:sldId id="300" r:id="rId54"/>
    <p:sldId id="301" r:id="rId55"/>
    <p:sldId id="302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A3D4"/>
    <a:srgbClr val="504FA1"/>
    <a:srgbClr val="7C25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7C56F-506D-1CBF-DAEA-5491D01967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314554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E4C03-EDAE-8A34-CB24-BDAA03524E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4093472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7C5F1C-1E54-2755-BD09-8B53BEC6C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42367" cy="505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B2444-920A-39A5-579B-B54FCADA56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511760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1E0BB-AC62-05F4-05B8-418A002D64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2660909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75235-0293-8136-6524-0EEAD91BBF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1813564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7CD102-4498-ACB1-C72C-8082CD0325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2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8E981E-C35F-E8F8-DE42-4B0CC68BF4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86487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FA34B-69E2-DB1D-D9D7-52FE3BD9BD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7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66CFB-18D0-6F75-8C97-40CC53CD96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91136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16255-5138-F681-0D2B-20384F1BB2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8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C0BD9D-B8ED-5511-960F-8CA63E3A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17F345-65C2-2CD1-DC0D-64AC50F1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11348A-7A65-4D63-9999-43FC28C9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6142E-F691-EA8F-3DCD-7E4A78F2E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C15972-37F2-DAE7-8C10-98E52C04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BB63A3-9AB5-EBAC-F6F9-327B2213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212307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F9B736-CC97-6F5A-03D8-7FA0AF19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704400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3E1F40-9013-EBB0-F98A-0AFCFACA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17099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9646B7-AEA6-E416-7BF3-052FDD7D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7612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MISCONCEPTION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THINK ABOUT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84AD40"/>
                </a:solidFill>
              </a:rPr>
              <a:t>TIP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ANALOGY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ENRICHMENT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HISTORICAL NOTE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6993D"/>
                </a:solidFill>
              </a:rPr>
              <a:t>RESOURCE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25" r:id="rId6"/>
    <p:sldLayoutId id="2147483726" r:id="rId7"/>
    <p:sldLayoutId id="2147483727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21" r:id="rId15"/>
    <p:sldLayoutId id="2147483722" r:id="rId16"/>
    <p:sldLayoutId id="2147483723" r:id="rId17"/>
    <p:sldLayoutId id="2147483724" r:id="rId18"/>
    <p:sldLayoutId id="2147483706" r:id="rId19"/>
    <p:sldLayoutId id="2147483707" r:id="rId20"/>
    <p:sldLayoutId id="2147483708" r:id="rId21"/>
    <p:sldLayoutId id="2147483709" r:id="rId22"/>
    <p:sldLayoutId id="2147483712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10" r:id="rId31"/>
    <p:sldLayoutId id="2147483711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none" baseline="0">
          <a:solidFill>
            <a:srgbClr val="606060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4</a:t>
            </a:r>
            <a:br>
              <a:rPr lang="en-US" dirty="0" smtClean="0"/>
            </a:br>
            <a:r>
              <a:rPr lang="en-US" dirty="0" smtClean="0"/>
              <a:t>Sub-programs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80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Sub-programs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As mentioned in previous parts, when we break down a complicated problem into several smaller and manageable sub-problems (also known as modules).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619" y="2869200"/>
            <a:ext cx="5535962" cy="26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7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Sub-programs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Similarly, when designing algorithms or writing programs, people often use a </a:t>
            </a:r>
            <a:r>
              <a:rPr lang="en-US" dirty="0" err="1"/>
              <a:t>modularised</a:t>
            </a:r>
            <a:r>
              <a:rPr lang="en-US" dirty="0"/>
              <a:t> design </a:t>
            </a:r>
            <a:r>
              <a:rPr lang="en-US" dirty="0" smtClean="0"/>
              <a:t>intentionally.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These modules in a program are called </a:t>
            </a:r>
            <a:r>
              <a:rPr lang="en-US" b="1" dirty="0">
                <a:solidFill>
                  <a:srgbClr val="504FA1"/>
                </a:solidFill>
              </a:rPr>
              <a:t>sub-programs</a:t>
            </a:r>
            <a:r>
              <a:rPr lang="en-US" dirty="0"/>
              <a:t> (also called </a:t>
            </a:r>
            <a:r>
              <a:rPr lang="en-US" b="1" dirty="0">
                <a:solidFill>
                  <a:srgbClr val="504FA1"/>
                </a:solidFill>
              </a:rPr>
              <a:t>functions</a:t>
            </a:r>
            <a:r>
              <a:rPr lang="en-US" dirty="0"/>
              <a:t> in Python). They can be used individually and repeatedly, and each of them represents multiple lines of code.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004" y="2563949"/>
            <a:ext cx="6407191" cy="263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4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sub-programs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Some sub-programs </a:t>
            </a:r>
            <a:r>
              <a:rPr lang="en-US" dirty="0"/>
              <a:t>have neither input parameters nor return values. They usually execute default code and are mainly for printing some information in the shell.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109" y="2986761"/>
            <a:ext cx="7321156" cy="299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36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sub-programs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Some </a:t>
            </a:r>
            <a:r>
              <a:rPr lang="en-US" dirty="0"/>
              <a:t>sub-programs have input parameters but no return values. They perform operations on parameters, yet do not return the results as return values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498" y="2935703"/>
            <a:ext cx="6414203" cy="26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8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sub-programs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type of sub-programs have return values even though there are no input parameters. They can produce return values without relying on parameters.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Some of these sub-programs directly use variables in the program to perform operations instead of obtaining input values in the form of parameters.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60" y="2636327"/>
            <a:ext cx="6848680" cy="262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99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sub-programs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This type of sub-programs have input parameters and return values.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335" y="2254771"/>
            <a:ext cx="7182530" cy="299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0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Sub-programs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Python programs, we </a:t>
            </a:r>
            <a:r>
              <a:rPr lang="en-US" b="1" dirty="0">
                <a:solidFill>
                  <a:srgbClr val="504FA1"/>
                </a:solidFill>
              </a:rPr>
              <a:t>call</a:t>
            </a:r>
            <a:r>
              <a:rPr lang="en-US" dirty="0"/>
              <a:t> a function by writing the function name and the required </a:t>
            </a:r>
            <a:r>
              <a:rPr lang="en-US" b="1" dirty="0">
                <a:solidFill>
                  <a:srgbClr val="504FA1"/>
                </a:solidFill>
              </a:rPr>
              <a:t>actual parameter</a:t>
            </a:r>
            <a:r>
              <a:rPr lang="en-US" dirty="0"/>
              <a:t>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520" y="2945803"/>
            <a:ext cx="3734160" cy="12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5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Sub-programs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If this function has a return value, a variable can be used to store the return value.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162" y="3204700"/>
            <a:ext cx="3439421" cy="126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3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Python has many built-in functions, providing users with frequently used functions.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type()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float()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are examples of Python built-in functions.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following are some more examples of common built-in functions: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" y="4339544"/>
            <a:ext cx="10017206" cy="205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73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use functions other than those provided by the built-in functions, we need to import a </a:t>
            </a:r>
            <a:r>
              <a:rPr lang="en-US" b="1" dirty="0">
                <a:solidFill>
                  <a:srgbClr val="504FA1"/>
                </a:solidFill>
              </a:rPr>
              <a:t>library</a:t>
            </a:r>
            <a:r>
              <a:rPr lang="en-US" dirty="0" smtClean="0"/>
              <a:t>. </a:t>
            </a:r>
            <a:r>
              <a:rPr lang="en-US" dirty="0"/>
              <a:t>A library is formed by many functions with related uses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Below are some mathematical functions in the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dirty="0"/>
              <a:t>” library: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54" y="3526134"/>
            <a:ext cx="10016291" cy="231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92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Randomness is a common element in lucky draws and games, which makes the result difficult to predict and brings surprise to the participants. Below are some random functions in the “random” library: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3052"/>
          <a:stretch/>
        </p:blipFill>
        <p:spPr>
          <a:xfrm>
            <a:off x="838800" y="3076408"/>
            <a:ext cx="10560545" cy="23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18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Checkpoint 4.1 on P. 111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1. (a)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74.8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    (b)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2. (a)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(b)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79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Sub-programs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Apart from calling built-in functions, we can define our own functions.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For instance, we are going to design a sub-program to add three parameters together and return the sum. The following is the Input-Process-Output cycle of the sub-program: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755" y="3595330"/>
            <a:ext cx="3651690" cy="269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9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Each sub-program or function represents multiple lines of code, and it must be defined before being called. In Python, we use the keyword </a:t>
            </a:r>
            <a:r>
              <a:rPr lang="en-US" b="1" dirty="0" err="1">
                <a:solidFill>
                  <a:srgbClr val="7C257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/>
              <a:t> to define a </a:t>
            </a:r>
            <a:r>
              <a:rPr lang="en-US" dirty="0" smtClean="0"/>
              <a:t>sub-program: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916" y="3003765"/>
            <a:ext cx="4548384" cy="24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17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244" y="1731554"/>
            <a:ext cx="9624716" cy="455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0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name of a sub-program is its </a:t>
            </a:r>
            <a:r>
              <a:rPr lang="en-US" b="1" dirty="0">
                <a:solidFill>
                  <a:srgbClr val="504FA1"/>
                </a:solidFill>
              </a:rPr>
              <a:t>identifier</a:t>
            </a:r>
            <a:r>
              <a:rPr lang="en-US" dirty="0"/>
              <a:t>. The rules for naming variables apply to naming sub-programs as well.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Every </a:t>
            </a:r>
            <a:r>
              <a:rPr lang="en-US" dirty="0"/>
              <a:t>identifier in the same </a:t>
            </a:r>
            <a:r>
              <a:rPr lang="en-US" dirty="0" smtClean="0"/>
              <a:t>program:</a:t>
            </a:r>
            <a:br>
              <a:rPr lang="en-US" dirty="0" smtClean="0"/>
            </a:b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</a:t>
            </a:r>
            <a:r>
              <a:rPr lang="en-US" dirty="0" smtClean="0"/>
              <a:t>ust </a:t>
            </a:r>
            <a:r>
              <a:rPr lang="en-US" dirty="0"/>
              <a:t>be </a:t>
            </a:r>
            <a:r>
              <a:rPr lang="en-US" dirty="0" smtClean="0"/>
              <a:t>unique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No </a:t>
            </a:r>
            <a:r>
              <a:rPr lang="en-US" dirty="0"/>
              <a:t>repetition is </a:t>
            </a:r>
            <a:r>
              <a:rPr lang="en-US" dirty="0" smtClean="0"/>
              <a:t>allowed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77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504FA1"/>
                </a:solidFill>
              </a:rPr>
              <a:t>formal parameters</a:t>
            </a:r>
            <a:r>
              <a:rPr lang="en-US" dirty="0"/>
              <a:t> to be passed to the sub-program are listed in the brackets.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following are some examples: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3848225"/>
            <a:ext cx="8700208" cy="132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9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a sub-program, the keyword </a:t>
            </a:r>
            <a:r>
              <a:rPr lang="en-US" b="1" dirty="0">
                <a:solidFill>
                  <a:srgbClr val="7C257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/>
              <a:t> means ending the sub-program call and sending back the piece of data to the position where the sub-program is called. This piece of data is called the </a:t>
            </a:r>
            <a:r>
              <a:rPr lang="en-US" b="1" dirty="0">
                <a:solidFill>
                  <a:srgbClr val="504FA1"/>
                </a:solidFill>
              </a:rPr>
              <a:t>return value</a:t>
            </a:r>
            <a:r>
              <a:rPr lang="en-US" dirty="0"/>
              <a:t>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3189333"/>
            <a:ext cx="8535853" cy="73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4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Take the sub-program for adding three parameters together as an example, the following is the Python code for defining the sub-program: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560" y="2711260"/>
            <a:ext cx="7646193" cy="296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1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sequence of calling a sub-program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After defining a sub-program, we can call it using its name, and call it repeatedly.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1240" b="616"/>
          <a:stretch/>
        </p:blipFill>
        <p:spPr>
          <a:xfrm>
            <a:off x="2759709" y="2079419"/>
            <a:ext cx="6400916" cy="431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sequence of calling a sub-program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sequence of calling </a:t>
            </a:r>
            <a:r>
              <a:rPr lang="en-US" dirty="0" smtClean="0"/>
              <a:t>sub-programs: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107" y="2068621"/>
            <a:ext cx="8659586" cy="422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9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Activity 4.1 on P. 115 of your textbook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The sub-program must be defined before being called.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0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Activity 4.2 on P. 116 of your textbook.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63" y="1872907"/>
            <a:ext cx="8453381" cy="443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54324"/>
            <a:ext cx="7803425" cy="504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1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The </a:t>
            </a:r>
            <a:r>
              <a:rPr lang="en-US" dirty="0"/>
              <a:t>following treasure map is divided into 6 × 8 cells. Chris defines a two-dimensional array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/>
              <a:t> to store the number of gold coins in each position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Chris writes a sub-program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coins(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j)</a:t>
            </a:r>
            <a:r>
              <a:rPr lang="en-US" dirty="0"/>
              <a:t> to return the total number of gold coins in position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C[i-1,j–1]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C[i+1,j+1]</a:t>
            </a:r>
            <a:r>
              <a:rPr lang="en-US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853" y="2352501"/>
            <a:ext cx="4103888" cy="284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7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(a) What </a:t>
            </a:r>
            <a:r>
              <a:rPr lang="en-US" dirty="0"/>
              <a:t>is the return value for calling sub-program coins(5, 2</a:t>
            </a:r>
            <a:r>
              <a:rPr lang="en-US" dirty="0" smtClean="0"/>
              <a:t>)?</a:t>
            </a:r>
          </a:p>
          <a:p>
            <a:endParaRPr lang="en-US" dirty="0" smtClean="0"/>
          </a:p>
          <a:p>
            <a:r>
              <a:rPr lang="en-US" dirty="0"/>
              <a:t>(b) (</a:t>
            </a:r>
            <a:r>
              <a:rPr lang="en-US" dirty="0" err="1"/>
              <a:t>i</a:t>
            </a:r>
            <a:r>
              <a:rPr lang="en-US" dirty="0"/>
              <a:t>) Which area has the most gold coins?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     (</a:t>
            </a:r>
            <a:r>
              <a:rPr lang="en-US" dirty="0"/>
              <a:t>ii) How many gold coins are there in this area?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2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(c) Complete </a:t>
            </a:r>
            <a:r>
              <a:rPr lang="en-US" dirty="0"/>
              <a:t>the following pseudocode for the sub-program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coins(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j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Sub-program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coins(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j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total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from 1 to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_____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 from 1 to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_____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total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total + 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 _____ , _____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_____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78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</a:t>
            </a:r>
            <a:r>
              <a:rPr lang="en-US" sz="1800" dirty="0"/>
              <a:t>Chris finds that the program cannot function properly when he calls </a:t>
            </a:r>
            <a:r>
              <a:rPr lang="en-US" sz="1800" dirty="0" smtClean="0"/>
              <a:t>the sub-program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coins(1, 7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 Explain </a:t>
            </a:r>
            <a:r>
              <a:rPr lang="en-US" dirty="0"/>
              <a:t>the cause of the above error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(ii) Rewrite the nested loop body in the sub-program to solve this problem.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97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37A3D4"/>
                </a:solidFill>
              </a:rPr>
              <a:t>◣ </a:t>
            </a:r>
            <a:r>
              <a:rPr lang="en-US" b="1" dirty="0">
                <a:solidFill>
                  <a:srgbClr val="37A3D4"/>
                </a:solidFill>
              </a:rPr>
              <a:t>Solution</a:t>
            </a:r>
          </a:p>
          <a:p>
            <a:r>
              <a:rPr lang="en-US" dirty="0" smtClean="0"/>
              <a:t>(a) 15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(b) (</a:t>
            </a: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coins(4, 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(</a:t>
            </a:r>
            <a:r>
              <a:rPr lang="en-US" dirty="0"/>
              <a:t>ii) </a:t>
            </a:r>
            <a:r>
              <a:rPr lang="en-US" dirty="0" smtClean="0"/>
              <a:t>46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(c</a:t>
            </a:r>
            <a:r>
              <a:rPr lang="en-US" dirty="0"/>
              <a:t>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Sub-program coins(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total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from 1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 from 1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total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total + C[i-2+x,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j-2+y]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total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58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(</a:t>
            </a:r>
            <a:r>
              <a:rPr lang="en-US" dirty="0" err="1"/>
              <a:t>i</a:t>
            </a:r>
            <a:r>
              <a:rPr lang="en-US" dirty="0"/>
              <a:t>) It is because the program reads items that are out of the range of the array index</a:t>
            </a:r>
            <a:r>
              <a:rPr lang="en-US" dirty="0" smtClean="0"/>
              <a:t>.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(</a:t>
            </a:r>
            <a:r>
              <a:rPr lang="en-US" dirty="0"/>
              <a:t>ii) Nested loop body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 &lt;= (i-2+x) &lt;= 6 AND 1 &lt;= j-2+y &lt;= 8 then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total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total + C[i-2+x, j-2+y]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9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Complete Checkpoint 4.2 on P. 120 of your textbook.</a:t>
            </a:r>
            <a:br>
              <a:rPr lang="en-US" dirty="0" smtClean="0"/>
            </a:b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(a)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X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Add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block at (X, 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(b)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Sub-program tri(n)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10-n+X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Add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block at (X, 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95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(c)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d)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Sub-program hole(t)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square(10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 from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t+1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10-t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for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Y from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t+1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10-t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Remove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 block at (X, 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110" y="1529543"/>
            <a:ext cx="2341555" cy="222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9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(e) </a:t>
            </a:r>
            <a:r>
              <a:rPr lang="en-US" dirty="0">
                <a:solidFill>
                  <a:srgbClr val="FF0000"/>
                </a:solidFill>
              </a:rPr>
              <a:t>Input parameters 1, 2, 3, 4 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     Sizes </a:t>
            </a:r>
            <a:r>
              <a:rPr lang="en-US" dirty="0">
                <a:solidFill>
                  <a:srgbClr val="FF0000"/>
                </a:solidFill>
              </a:rPr>
              <a:t>of the empty spaces 8 × 8 × 1, 6 × 6 × 1, 4 × 4 × 1, 2 × 2 ×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(f</a:t>
            </a:r>
            <a:r>
              <a:rPr lang="en-US" dirty="0">
                <a:solidFill>
                  <a:srgbClr val="FF0000"/>
                </a:solidFill>
              </a:rPr>
              <a:t>) A 3 × 3 × 3 cube at (1, 1, 1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(g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tri(10)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UP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3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(h)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10 down to 1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tri(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58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Activity 4.3 on P. 124 of your textbook.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 variable that exceeds the scope is used.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03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Python programs, each variable has a </a:t>
            </a:r>
            <a:r>
              <a:rPr lang="en-US" b="1" dirty="0">
                <a:solidFill>
                  <a:srgbClr val="504FA1"/>
                </a:solidFill>
              </a:rPr>
              <a:t>scope</a:t>
            </a:r>
            <a:r>
              <a:rPr lang="en-US" dirty="0"/>
              <a:t> in which it can be used. Variables can be </a:t>
            </a:r>
            <a:r>
              <a:rPr lang="en-US" dirty="0" err="1"/>
              <a:t>categorised</a:t>
            </a:r>
            <a:r>
              <a:rPr lang="en-US" dirty="0"/>
              <a:t> into local variables and global variables according to the regions they cover</a:t>
            </a:r>
          </a:p>
        </p:txBody>
      </p:sp>
    </p:spTree>
    <p:extLst>
      <p:ext uri="{BB962C8B-B14F-4D97-AF65-F5344CB8AC3E}">
        <p14:creationId xmlns:p14="http://schemas.microsoft.com/office/powerpoint/2010/main" val="126057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variables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variable declared within a sub-program is regarded as a </a:t>
            </a:r>
            <a:r>
              <a:rPr lang="en-US" b="1" dirty="0">
                <a:solidFill>
                  <a:srgbClr val="504FA1"/>
                </a:solidFill>
              </a:rPr>
              <a:t>local variable</a:t>
            </a:r>
            <a:r>
              <a:rPr lang="en-US" dirty="0"/>
              <a:t>. This variable is only valid within the sub-program</a:t>
            </a:r>
            <a:r>
              <a:rPr lang="en-US" dirty="0" smtClean="0"/>
              <a:t>.  After </a:t>
            </a:r>
            <a:r>
              <a:rPr lang="en-US" dirty="0"/>
              <a:t>the sub-program has ended, all local variables will be dropped.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60" y="2869200"/>
            <a:ext cx="6156625" cy="279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0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variable declared outside a sub-program is regarded as a </a:t>
            </a:r>
            <a:r>
              <a:rPr lang="en-US" b="1" dirty="0">
                <a:solidFill>
                  <a:srgbClr val="504FA1"/>
                </a:solidFill>
              </a:rPr>
              <a:t>global variable</a:t>
            </a:r>
            <a:r>
              <a:rPr lang="en-US" dirty="0"/>
              <a:t>. Its scope covers the whole program including all sub-programs.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94" y="2761272"/>
            <a:ext cx="7602011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30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variables</a:t>
            </a:r>
            <a:endParaRPr lang="en-US" b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change the value of a global variable in the sub-program, we need to use the keyword </a:t>
            </a:r>
            <a:r>
              <a:rPr lang="en-US" b="1" dirty="0">
                <a:solidFill>
                  <a:srgbClr val="7C257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dirty="0"/>
              <a:t> in the sub-program to represent the global variable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  <a:p>
            <a:r>
              <a:rPr lang="en-US" dirty="0"/>
              <a:t>Using the keyword global to refer to the global variable score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964" y="2599691"/>
            <a:ext cx="5721960" cy="30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2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Complete Checkpoint 4.3 on P. 126 of your textbook.</a:t>
            </a:r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(a) (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hasDigit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(username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&gt;= "0" and username[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&lt;= "9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     (</a:t>
            </a:r>
            <a:r>
              <a:rPr lang="en-US" dirty="0">
                <a:solidFill>
                  <a:srgbClr val="FF0000"/>
                </a:solidFill>
              </a:rPr>
              <a:t>ii)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noSpace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(username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"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96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(b)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checkExist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range(0,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(user)):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 == user[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False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c)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checkUsername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hasDigit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and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noSpace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and not(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checkExist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3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 Passing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4.5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When calling a sub-program that requires an input parameter, the actual parameter will </a:t>
            </a:r>
            <a:r>
              <a:rPr lang="en-US" dirty="0" smtClean="0"/>
              <a:t>be </a:t>
            </a:r>
            <a:r>
              <a:rPr lang="en-US" b="1" dirty="0" smtClean="0">
                <a:solidFill>
                  <a:srgbClr val="504FA1"/>
                </a:solidFill>
              </a:rPr>
              <a:t>passed</a:t>
            </a:r>
            <a:r>
              <a:rPr lang="en-US" dirty="0" smtClean="0"/>
              <a:t> </a:t>
            </a:r>
            <a:r>
              <a:rPr lang="en-US" dirty="0"/>
              <a:t>to the formal parameter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124" y="2610197"/>
            <a:ext cx="6054952" cy="355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0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immutable objects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Python, integers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), floats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), Booleans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dirty="0"/>
              <a:t>) and strings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/>
              <a:t>) are </a:t>
            </a:r>
            <a:r>
              <a:rPr lang="en-US" b="1" dirty="0">
                <a:solidFill>
                  <a:srgbClr val="504FA1"/>
                </a:solidFill>
              </a:rPr>
              <a:t>immutable </a:t>
            </a:r>
            <a:r>
              <a:rPr lang="en-US" b="1" dirty="0" smtClean="0">
                <a:solidFill>
                  <a:srgbClr val="504FA1"/>
                </a:solidFill>
              </a:rPr>
              <a:t>objects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/>
              <a:t>When calling a sub-program and passing an immutable object, the value of the actual parameter will be copied to the formal parameter of the sub-program.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5305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immutable objects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Modifications </a:t>
            </a:r>
            <a:r>
              <a:rPr lang="en-US" dirty="0"/>
              <a:t>made to the formal parameter </a:t>
            </a:r>
            <a:r>
              <a:rPr lang="en-US" dirty="0" smtClean="0"/>
              <a:t>within the </a:t>
            </a:r>
            <a:r>
              <a:rPr lang="en-US" dirty="0"/>
              <a:t>sub-program do not affect the value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</a:t>
            </a:r>
            <a:r>
              <a:rPr lang="en-US" dirty="0"/>
              <a:t>the actual parameter.</a:t>
            </a: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50" y="2765032"/>
            <a:ext cx="5556270" cy="362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832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mutable objects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Lists (list) are </a:t>
            </a:r>
            <a:r>
              <a:rPr lang="en-US" b="1" dirty="0">
                <a:solidFill>
                  <a:srgbClr val="504FA1"/>
                </a:solidFill>
              </a:rPr>
              <a:t>mutable objects</a:t>
            </a:r>
            <a:r>
              <a:rPr lang="en-US" dirty="0"/>
              <a:t> in Python. </a:t>
            </a:r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r>
              <a:rPr lang="en-US" dirty="0" smtClean="0"/>
              <a:t>When </a:t>
            </a:r>
            <a:r>
              <a:rPr lang="en-US" dirty="0"/>
              <a:t>calling a sub-program and passing a mutable object, the formal parameter of the sub-program will store the computer memory address of the actual parameter. </a:t>
            </a:r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The formal parameter is the </a:t>
            </a:r>
            <a:r>
              <a:rPr lang="en-US" b="1" dirty="0">
                <a:solidFill>
                  <a:srgbClr val="504FA1"/>
                </a:solidFill>
              </a:rPr>
              <a:t>pointer</a:t>
            </a:r>
            <a:r>
              <a:rPr lang="en-US" dirty="0"/>
              <a:t> of the actual parameter. When the sub-program is being run, the formal parameter will refer to the memory address of the actual parameter.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092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mutable objects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Therefore</a:t>
            </a:r>
            <a:r>
              <a:rPr lang="en-US" dirty="0"/>
              <a:t>, any modifications made to the formal </a:t>
            </a:r>
            <a:r>
              <a:rPr lang="en-US" dirty="0" smtClean="0"/>
              <a:t>parameter </a:t>
            </a:r>
            <a:r>
              <a:rPr lang="en-US" dirty="0"/>
              <a:t>within the sub-program will be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reflected </a:t>
            </a:r>
            <a:r>
              <a:rPr lang="en-US" dirty="0"/>
              <a:t>in the actual parameter.</a:t>
            </a: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111" y="2767362"/>
            <a:ext cx="5387662" cy="352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4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Complete Checkpoint 4.4 on P. 131 of your textbook.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(a)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b)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Sub-program TL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TR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273" y="1986741"/>
            <a:ext cx="2677462" cy="26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99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c)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Sub-program SQ(N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FW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(d)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45" y="3433155"/>
            <a:ext cx="2828073" cy="284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8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e)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Sub-program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MN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direction-1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TL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f)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Sub-program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direction &gt; 2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direction-2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TL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direction &lt; 2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direction+2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TL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465082" y="2125243"/>
            <a:ext cx="1837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cs typeface="Courier New" panose="02070309020205020404" pitchFamily="49" charset="0"/>
              </a:rPr>
              <a:t>or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direction+3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1497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700" dirty="0">
                <a:solidFill>
                  <a:srgbClr val="FF0000"/>
                </a:solidFill>
              </a:rPr>
              <a:t>(h)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Sub-program DIS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distance </a:t>
            </a:r>
            <a:r>
              <a:rPr lang="en-US" sz="17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lang="en-US" sz="17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 root of ((X-1)*(X-1) + (Y-1)*(Y-1</a:t>
            </a:r>
            <a:r>
              <a:rPr lang="en-US" sz="17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lang="en-US" sz="17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distance</a:t>
            </a:r>
            <a:b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 smtClean="0">
                <a:solidFill>
                  <a:srgbClr val="FF0000"/>
                </a:solidFill>
              </a:rPr>
              <a:t>(</a:t>
            </a:r>
            <a:r>
              <a:rPr lang="en-US" sz="1700" dirty="0" err="1" smtClean="0">
                <a:solidFill>
                  <a:srgbClr val="FF0000"/>
                </a:solidFill>
              </a:rPr>
              <a:t>i</a:t>
            </a:r>
            <a:r>
              <a:rPr lang="en-US" sz="1700" dirty="0">
                <a:solidFill>
                  <a:srgbClr val="FF0000"/>
                </a:solidFill>
              </a:rPr>
              <a:t>)</a:t>
            </a:r>
            <a:r>
              <a:rPr 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Sub-program GOTO(NX,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NY)</a:t>
            </a:r>
            <a:b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|NX - </a:t>
            </a:r>
            <a:r>
              <a:rPr 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X|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NX - X &gt; 0 (or NX &gt; X)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b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ME</a:t>
            </a:r>
            <a:b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MW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|NY - </a:t>
            </a:r>
            <a:r>
              <a:rPr 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Y|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NY - Y &gt; 0 (or NY &gt; Y)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b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MN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MS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75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(j)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GOTO(1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1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(k) </a:t>
            </a:r>
            <a:r>
              <a:rPr lang="en-US" dirty="0" smtClean="0"/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1 to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goUP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to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GOTO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to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goDOWN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down to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79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Stubs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Due to the benefits of </a:t>
            </a:r>
            <a:r>
              <a:rPr lang="en-US" dirty="0" err="1"/>
              <a:t>modularisation</a:t>
            </a:r>
            <a:r>
              <a:rPr lang="en-US" dirty="0"/>
              <a:t>, we often break down a complex </a:t>
            </a:r>
            <a:r>
              <a:rPr lang="en-US" dirty="0" smtClean="0"/>
              <a:t>program </a:t>
            </a:r>
            <a:r>
              <a:rPr lang="en-US" dirty="0"/>
              <a:t>into multiple sub-programs.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186" y="2869200"/>
            <a:ext cx="8026827" cy="186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666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Stubs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When our main program has many sub-programs, we may encounter the </a:t>
            </a:r>
            <a:r>
              <a:rPr lang="en-US" dirty="0" smtClean="0"/>
              <a:t>following </a:t>
            </a:r>
            <a:r>
              <a:rPr lang="en-US" dirty="0"/>
              <a:t>two problems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we have not finished writing all the sub-programs, the whole </a:t>
            </a:r>
            <a:r>
              <a:rPr lang="en-US" dirty="0" smtClean="0"/>
              <a:t>program </a:t>
            </a:r>
            <a:br>
              <a:rPr lang="en-US" dirty="0" smtClean="0"/>
            </a:br>
            <a:r>
              <a:rPr lang="en-US" dirty="0" smtClean="0"/>
              <a:t>cannot </a:t>
            </a:r>
            <a:r>
              <a:rPr lang="en-US" dirty="0"/>
              <a:t>function properly, or even cannot be compiled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an error occurs in the program, it is hard for us to determine </a:t>
            </a:r>
            <a:r>
              <a:rPr lang="en-US" dirty="0" smtClean="0"/>
              <a:t>which </a:t>
            </a:r>
            <a:br>
              <a:rPr lang="en-US" dirty="0" smtClean="0"/>
            </a:br>
            <a:r>
              <a:rPr lang="en-US" dirty="0" smtClean="0"/>
              <a:t>sub-program </a:t>
            </a:r>
            <a:r>
              <a:rPr lang="en-US" dirty="0"/>
              <a:t>causes the problem.</a:t>
            </a:r>
          </a:p>
        </p:txBody>
      </p:sp>
    </p:spTree>
    <p:extLst>
      <p:ext uri="{BB962C8B-B14F-4D97-AF65-F5344CB8AC3E}">
        <p14:creationId xmlns:p14="http://schemas.microsoft.com/office/powerpoint/2010/main" val="42785886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Stubs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Therefore, we need to use </a:t>
            </a:r>
            <a:r>
              <a:rPr lang="en-US" b="1" dirty="0">
                <a:solidFill>
                  <a:srgbClr val="504FA1"/>
                </a:solidFill>
              </a:rPr>
              <a:t>stubs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They </a:t>
            </a:r>
            <a:r>
              <a:rPr lang="en-US" dirty="0"/>
              <a:t>replace the main body of </a:t>
            </a:r>
            <a:r>
              <a:rPr lang="en-US" dirty="0" smtClean="0"/>
              <a:t>sub-programs </a:t>
            </a:r>
            <a:r>
              <a:rPr lang="en-US" dirty="0"/>
              <a:t>by short, simple and temporary code, allowing the main program to run even when the sub-programs have not been completed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Stubs </a:t>
            </a:r>
            <a:r>
              <a:rPr lang="en-US" dirty="0"/>
              <a:t>without a return value</a:t>
            </a:r>
            <a:r>
              <a:rPr lang="en-US" dirty="0" smtClean="0"/>
              <a:t>: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Stubs </a:t>
            </a:r>
            <a:r>
              <a:rPr lang="en-US" dirty="0"/>
              <a:t>with a return value: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113" y="3926925"/>
            <a:ext cx="5004338" cy="8177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791" y="5343801"/>
            <a:ext cx="7368367" cy="102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97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EN_Kelie_20230427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870A11EB-92D6-4F97-997A-48342F7B5A00}" vid="{0765A16F-C91A-4B03-A6B8-7E4395E092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DSEPPT_EN_Kelie_20230427</Template>
  <TotalTime>296</TotalTime>
  <Words>1410</Words>
  <Application>Microsoft Office PowerPoint</Application>
  <PresentationFormat>Widescreen</PresentationFormat>
  <Paragraphs>334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Noto Sans CJK KR Black</vt:lpstr>
      <vt:lpstr>Arial</vt:lpstr>
      <vt:lpstr>Courier New</vt:lpstr>
      <vt:lpstr>Myriad Pro</vt:lpstr>
      <vt:lpstr>Tw Cen MT</vt:lpstr>
      <vt:lpstr>Wingdings</vt:lpstr>
      <vt:lpstr>DSEPPT_EN_Kelie_20230427</vt:lpstr>
      <vt:lpstr>Chapter 4 Sub-programs </vt:lpstr>
      <vt:lpstr>Sub-programs</vt:lpstr>
      <vt:lpstr>Sub-programs</vt:lpstr>
      <vt:lpstr>Types of sub-programs</vt:lpstr>
      <vt:lpstr>Types of sub-programs</vt:lpstr>
      <vt:lpstr>Types of sub-programs</vt:lpstr>
      <vt:lpstr>Types of sub-programs</vt:lpstr>
      <vt:lpstr>Calling Sub-programs</vt:lpstr>
      <vt:lpstr>Calling Sub-programs</vt:lpstr>
      <vt:lpstr>Built-in functions</vt:lpstr>
      <vt:lpstr>Mathematical functions</vt:lpstr>
      <vt:lpstr>Random functions</vt:lpstr>
      <vt:lpstr>PowerPoint Presentation</vt:lpstr>
      <vt:lpstr>Defining Sub-programs</vt:lpstr>
      <vt:lpstr>Syntax</vt:lpstr>
      <vt:lpstr>Syntax</vt:lpstr>
      <vt:lpstr>Syntax</vt:lpstr>
      <vt:lpstr>Syntax</vt:lpstr>
      <vt:lpstr>Syntax</vt:lpstr>
      <vt:lpstr>Syntax</vt:lpstr>
      <vt:lpstr>The sequence of calling a sub-program</vt:lpstr>
      <vt:lpstr>The sequence of calling a sub-program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 Scopes</vt:lpstr>
      <vt:lpstr>Local variables</vt:lpstr>
      <vt:lpstr>Global variables</vt:lpstr>
      <vt:lpstr>Global variables</vt:lpstr>
      <vt:lpstr>PowerPoint Presentation</vt:lpstr>
      <vt:lpstr>PowerPoint Presentation</vt:lpstr>
      <vt:lpstr>Parameters Passing</vt:lpstr>
      <vt:lpstr>Passing immutable objects</vt:lpstr>
      <vt:lpstr>Passing immutable objects</vt:lpstr>
      <vt:lpstr>Passing mutable objects</vt:lpstr>
      <vt:lpstr>Passing mutable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Stubs</vt:lpstr>
      <vt:lpstr>Stubs</vt:lpstr>
      <vt:lpstr>Stubs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Sub-programs</dc:title>
  <dc:creator>iClass</dc:creator>
  <cp:lastModifiedBy>iClass</cp:lastModifiedBy>
  <cp:revision>25</cp:revision>
  <dcterms:created xsi:type="dcterms:W3CDTF">2023-05-18T01:59:33Z</dcterms:created>
  <dcterms:modified xsi:type="dcterms:W3CDTF">2023-05-18T06:55:56Z</dcterms:modified>
</cp:coreProperties>
</file>