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83" r:id="rId33"/>
    <p:sldId id="279" r:id="rId26"/>
    <p:sldId id="280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5.png"/><Relationship Id="rId4" Type="http://schemas.openxmlformats.org/officeDocument/2006/relationships/image" Target="../media/image3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1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立即加入 Google Classroom</a:t>
            </a:r>
          </a:p>
        </p:txBody>
      </p:sp>
      <p:pic>
        <p:nvPicPr>
          <p:cNvPr id="5" name="Picture 4" descr="classroom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840480" cy="38404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5212080"/>
            <a:ext cx="3840480" cy="685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Class Code：zgabqpbr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325880"/>
            <a:ext cx="7040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33333"/>
                </a:solidFill>
              </a:defRPr>
            </a:pPr>
            <a:r>
              <a:t>① 開手機 / 電腦 Google Classroom App 或瀏覽器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965960"/>
            <a:ext cx="7040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33333"/>
                </a:solidFill>
              </a:defRPr>
            </a:pPr>
            <a:r>
              <a:t>② 按「+」→「以代碼加入課程」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606040"/>
            <a:ext cx="7040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33333"/>
                </a:solidFill>
              </a:defRPr>
            </a:pPr>
            <a:r>
              <a:t>③ 輸入代碼：zgabqpbr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246120"/>
            <a:ext cx="7040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33333"/>
                </a:solidFill>
              </a:defRPr>
            </a:pPr>
            <a:r>
              <a:t>④ 或直接掃描左邊 QR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188720"/>
            <a:ext cx="7040880" cy="502920"/>
          </a:xfrm>
          <a:prstGeom prst="rect">
            <a:avLst/>
          </a:prstGeom>
          <a:solidFill>
            <a:srgbClr val="F0F4FF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1A3A5C"/>
                </a:solidFill>
              </a:defRPr>
            </a:pPr>
            <a:r>
              <a:t>課程內容：Task 3 Sample Prompt · 跟做筆記 · Feedback Form · 有用連結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77777"/>
                </a:solidFill>
              </a:defRPr>
            </a:pPr>
            <a:r>
              <a:t>https://classroom.google.com/c/ODU1MjQ4NzE0OTg1?cjc=zgabqpbr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2-about-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3-three-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429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Know These Three Buttons</a:t>
            </a:r>
          </a:p>
        </p:txBody>
      </p:sp>
      <p:pic>
        <p:nvPicPr>
          <p:cNvPr id="5" name="Picture 4" descr="m5sticks3-product-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02920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0" y="1849831"/>
            <a:ext cx="5943600" cy="5029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Power Button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2398471"/>
            <a:ext cx="566928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</a:defRPr>
            </a:pPr>
            <a:r>
              <a:rPr lang="en-US" dirty="0"/>
              <a:t>Single press </a:t>
            </a:r>
            <a:r>
              <a:rPr dirty="0"/>
              <a:t>to power ON</a:t>
            </a:r>
          </a:p>
          <a:p>
            <a:pPr algn="l">
              <a:defRPr sz="1700" b="0">
                <a:solidFill>
                  <a:srgbClr val="333333"/>
                </a:solidFill>
              </a:defRPr>
            </a:pPr>
            <a:r>
              <a:rPr lang="en-US" dirty="0"/>
              <a:t>Double p</a:t>
            </a:r>
            <a:r>
              <a:rPr dirty="0"/>
              <a:t>ress to sleep</a:t>
            </a:r>
            <a:br>
              <a:rPr lang="en-US" dirty="0"/>
            </a:br>
            <a:r>
              <a:rPr lang="en-US" dirty="0"/>
              <a:t>Hold 6 seconds to download mode (DON’T DO THAT)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5669280" y="3295001"/>
            <a:ext cx="5943600" cy="5029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Button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843641"/>
            <a:ext cx="56692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</a:defRPr>
            </a:pPr>
            <a:r>
              <a:rPr lang="en-US" dirty="0"/>
              <a:t>Blue </a:t>
            </a:r>
            <a:r>
              <a:rPr dirty="0"/>
              <a:t>button</a:t>
            </a:r>
            <a:r>
              <a:rPr lang="en-US" dirty="0"/>
              <a:t> (blue)</a:t>
            </a:r>
            <a:endParaRPr dirty="0"/>
          </a:p>
          <a:p>
            <a:pPr algn="l">
              <a:defRPr sz="1700" b="0">
                <a:solidFill>
                  <a:srgbClr val="333333"/>
                </a:solidFill>
              </a:defRPr>
            </a:pPr>
            <a:r>
              <a:rPr lang="en-US" dirty="0"/>
              <a:t>Normally means enter/select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5669280" y="4666601"/>
            <a:ext cx="5943600" cy="5029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Button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5215241"/>
            <a:ext cx="566928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</a:defRPr>
            </a:pPr>
            <a:r>
              <a:rPr dirty="0"/>
              <a:t>Right side button</a:t>
            </a:r>
          </a:p>
          <a:p>
            <a:pPr algn="l">
              <a:defRPr sz="1700" b="0">
                <a:solidFill>
                  <a:srgbClr val="333333"/>
                </a:solidFill>
              </a:defRPr>
            </a:pPr>
            <a:r>
              <a:rPr lang="en-US" dirty="0"/>
              <a:t>Single press means next. </a:t>
            </a:r>
            <a:br>
              <a:rPr lang="en-US" dirty="0"/>
            </a:br>
            <a:r>
              <a:rPr lang="en-US" dirty="0"/>
              <a:t>Double press means previous.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5-sticks3-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6-grou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7-task1-xiaoz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8-task1-try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9-recording-no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0-why-powerf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Live Demo: xiaozhi.me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1463040"/>
            <a:ext cx="5212080" cy="685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xiaozhi.me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E8FF"/>
                </a:solidFill>
              </a:defRPr>
            </a:pPr>
            <a:r>
              <a:t>Open browser → go to xiaozhi.me → log in</a:t>
            </a:r>
          </a:p>
          <a:p>
            <a:pPr algn="ctr">
              <a:defRPr sz="2200" b="0">
                <a:solidFill>
                  <a:srgbClr val="CCE8FF"/>
                </a:solidFill>
              </a:defRPr>
            </a:pPr>
            <a:endParaRPr/>
          </a:p>
          <a:p>
            <a:pPr algn="ctr">
              <a:defRPr sz="2200" b="0">
                <a:solidFill>
                  <a:srgbClr val="CCE8FF"/>
                </a:solidFill>
              </a:defRPr>
            </a:pPr>
            <a:r>
              <a:t>Show the Xiaozhi device management dashboard</a:t>
            </a:r>
          </a:p>
          <a:p>
            <a:pPr algn="ctr">
              <a:defRPr sz="2200" b="0">
                <a:solidFill>
                  <a:srgbClr val="CCE8FF"/>
                </a:solidFill>
              </a:defRPr>
            </a:pPr>
            <a:endParaRPr/>
          </a:p>
          <a:p>
            <a:pPr algn="ctr">
              <a:defRPr sz="2200" b="0">
                <a:solidFill>
                  <a:srgbClr val="CCE8FF"/>
                </a:solidFill>
              </a:defRPr>
            </a:pPr>
            <a:r>
              <a:t>Point out: Knowledge Base · MCP · Voice model settings</a:t>
            </a:r>
          </a:p>
        </p:txBody>
      </p:sp>
      <p:pic>
        <p:nvPicPr>
          <p:cNvPr id="6" name="Picture 5" descr="screen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029200"/>
            <a:ext cx="2947496" cy="1645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521208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CCFF"/>
                </a:solidFill>
              </a:defRPr>
            </a:pPr>
            <a:r>
              <a:t>UIFlow 2 IDE — used in Task 2 &amp;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Task 2: Install UIFlow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3A5C"/>
                </a:solidFill>
              </a:defRPr>
            </a:pPr>
            <a:r>
              <a:t>① Power ON → M5Launcher appears</a:t>
            </a:r>
          </a:p>
          <a:p>
            <a:pPr algn="l">
              <a:defRPr sz="2000" b="0">
                <a:solidFill>
                  <a:srgbClr val="1A3A5C"/>
                </a:solidFill>
              </a:defRPr>
            </a:pPr>
            <a:r>
              <a:t>② Press Button B immediately</a:t>
            </a:r>
          </a:p>
          <a:p>
            <a:pPr algn="l">
              <a:defRPr sz="2000" b="0">
                <a:solidFill>
                  <a:srgbClr val="1A3A5C"/>
                </a:solidFill>
              </a:defRPr>
            </a:pPr>
            <a:r>
              <a:t>③ Select OTA in menu</a:t>
            </a:r>
          </a:p>
          <a:p>
            <a:pPr algn="l">
              <a:defRPr sz="2000" b="0">
                <a:solidFill>
                  <a:srgbClr val="1A3A5C"/>
                </a:solidFill>
              </a:defRPr>
            </a:pPr>
            <a:r>
              <a:t>④ Choose UIFlow 2 from list</a:t>
            </a:r>
          </a:p>
          <a:p>
            <a:pPr algn="l">
              <a:defRPr sz="2000" b="0">
                <a:solidFill>
                  <a:srgbClr val="1A3A5C"/>
                </a:solidFill>
              </a:defRPr>
            </a:pPr>
            <a:r>
              <a:t>⑤ Wait for install to complete</a:t>
            </a:r>
          </a:p>
        </p:txBody>
      </p:sp>
      <p:pic>
        <p:nvPicPr>
          <p:cNvPr id="6" name="Picture 5" descr="d01-launcher-main-men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97280"/>
            <a:ext cx="3108960" cy="13631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2880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</a:defRPr>
            </a:pPr>
            <a:r>
              <a:t>① M5Launcher</a:t>
            </a:r>
          </a:p>
        </p:txBody>
      </p:sp>
      <p:pic>
        <p:nvPicPr>
          <p:cNvPr id="8" name="Picture 7" descr="d02-ota-app-li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1097280"/>
            <a:ext cx="2952268" cy="1737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78240" y="2880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</a:defRPr>
            </a:pPr>
            <a:r>
              <a:t>③ OTA list</a:t>
            </a:r>
          </a:p>
        </p:txBody>
      </p:sp>
      <p:pic>
        <p:nvPicPr>
          <p:cNvPr id="10" name="Picture 9" descr="d03-uiflow-detai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017520"/>
            <a:ext cx="2589920" cy="1737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0" y="4800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</a:defRPr>
            </a:pPr>
            <a:r>
              <a:t>④ UIFlow 2</a:t>
            </a:r>
          </a:p>
        </p:txBody>
      </p:sp>
      <p:pic>
        <p:nvPicPr>
          <p:cNvPr id="12" name="Picture 11" descr="d05-installing-f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3017520"/>
            <a:ext cx="3009687" cy="1737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78240" y="4800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</a:defRPr>
            </a:pPr>
            <a:r>
              <a:t>⑤ Installing…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5577840"/>
            <a:ext cx="457200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⏱  Takes about 1–2 minutes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3-infinite-possibil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Pair with UIFlow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3A5C"/>
                </a:solidFill>
              </a:defRPr>
            </a:pPr>
            <a:r>
              <a:t>① On device: press Cloud icon</a:t>
            </a:r>
          </a:p>
          <a:p>
            <a:pPr algn="l">
              <a:defRPr sz="2000" b="0">
                <a:solidFill>
                  <a:srgbClr val="1A3A5C"/>
                </a:solidFill>
              </a:defRPr>
            </a:pPr>
            <a:r>
              <a:t>② Note the 6-digit Access Code</a:t>
            </a:r>
          </a:p>
          <a:p>
            <a:pPr algn="l">
              <a:defRPr sz="2000" b="0">
                <a:solidFill>
                  <a:srgbClr val="1A3A5C"/>
                </a:solidFill>
              </a:defRPr>
            </a:pPr>
            <a:r>
              <a:t>③ Open uiflow2.m5stack.com</a:t>
            </a:r>
          </a:p>
          <a:p>
            <a:pPr algn="l">
              <a:defRPr sz="2000" b="0">
                <a:solidFill>
                  <a:srgbClr val="1A3A5C"/>
                </a:solidFill>
              </a:defRPr>
            </a:pPr>
            <a:r>
              <a:t>④ Click Connect Device → enter code</a:t>
            </a:r>
          </a:p>
          <a:p>
            <a:pPr algn="l">
              <a:defRPr sz="2000" b="0">
                <a:solidFill>
                  <a:srgbClr val="1A3A5C"/>
                </a:solidFill>
              </a:defRPr>
            </a:pPr>
            <a:r>
              <a:t>⑤ Click Run Once to test</a:t>
            </a:r>
          </a:p>
        </p:txBody>
      </p:sp>
      <p:pic>
        <p:nvPicPr>
          <p:cNvPr id="6" name="Picture 5" descr="d07-cloud-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23519"/>
            <a:ext cx="1701155" cy="26171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43808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rPr dirty="0"/>
              <a:t>② Device shows Access Code</a:t>
            </a:r>
          </a:p>
        </p:txBody>
      </p:sp>
      <p:pic>
        <p:nvPicPr>
          <p:cNvPr id="8" name="Picture 7" descr="screen-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401255"/>
            <a:ext cx="6720840" cy="41962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0" y="5669280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</a:defRPr>
            </a:pPr>
            <a:r>
              <a:rPr dirty="0"/>
              <a:t>④ </a:t>
            </a:r>
            <a:r>
              <a:rPr dirty="0" err="1"/>
              <a:t>UIFlow</a:t>
            </a:r>
            <a:r>
              <a:rPr dirty="0"/>
              <a:t> 2: Connect Device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577840"/>
            <a:ext cx="4754880" cy="5486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uiflow2.m5stack.com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5-block-coding-famili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6-no-one-c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7-ai-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8-vibe-coding-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9-task3-gemi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20-m5-api-tr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C62F5B-9313-57F5-693B-FC0EAC02D26D}"/>
              </a:ext>
            </a:extLst>
          </p:cNvPr>
          <p:cNvSpPr txBox="1"/>
          <p:nvPr/>
        </p:nvSpPr>
        <p:spPr>
          <a:xfrm>
            <a:off x="763030" y="1715181"/>
            <a:ext cx="10605186" cy="45243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TW" altLang="en-US" sz="2400" dirty="0">
                <a:effectLst/>
                <a:latin typeface="Helvetica" pitchFamily="2" charset="0"/>
              </a:rPr>
              <a:t>請參考 </a:t>
            </a:r>
            <a:r>
              <a:rPr lang="en-HK" sz="2400" dirty="0">
                <a:effectLst/>
                <a:latin typeface="Helvetica" pitchFamily="2" charset="0"/>
              </a:rPr>
              <a:t>M5StickS3 </a:t>
            </a:r>
            <a:r>
              <a:rPr lang="zh-TW" altLang="en-US" sz="2400" dirty="0">
                <a:effectLst/>
                <a:latin typeface="Helvetica" pitchFamily="2" charset="0"/>
              </a:rPr>
              <a:t>的官方 </a:t>
            </a:r>
            <a:r>
              <a:rPr lang="en-HK" sz="2400" dirty="0">
                <a:effectLst/>
                <a:latin typeface="Helvetica" pitchFamily="2" charset="0"/>
              </a:rPr>
              <a:t>UIFlow2 </a:t>
            </a:r>
            <a:r>
              <a:rPr lang="en-HK" sz="2400" dirty="0" err="1">
                <a:effectLst/>
                <a:latin typeface="Helvetica" pitchFamily="2" charset="0"/>
              </a:rPr>
              <a:t>MicroPython</a:t>
            </a:r>
            <a:r>
              <a:rPr lang="en-HK" sz="2400" dirty="0">
                <a:effectLst/>
                <a:latin typeface="Helvetica" pitchFamily="2" charset="0"/>
              </a:rPr>
              <a:t> API </a:t>
            </a:r>
            <a:r>
              <a:rPr lang="zh-TW" altLang="en-US" sz="2400" dirty="0">
                <a:effectLst/>
                <a:latin typeface="Helvetica" pitchFamily="2" charset="0"/>
              </a:rPr>
              <a:t>文件：</a:t>
            </a:r>
          </a:p>
          <a:p>
            <a:r>
              <a:rPr lang="en-HK" sz="2400" dirty="0">
                <a:effectLst/>
                <a:latin typeface="Helvetica" pitchFamily="2" charset="0"/>
              </a:rPr>
              <a:t>https://</a:t>
            </a:r>
            <a:r>
              <a:rPr lang="en-HK" sz="2400" dirty="0" err="1">
                <a:effectLst/>
                <a:latin typeface="Helvetica" pitchFamily="2" charset="0"/>
              </a:rPr>
              <a:t>uiflow-micropython.readthedocs.io</a:t>
            </a:r>
            <a:r>
              <a:rPr lang="en-HK" sz="2400" dirty="0">
                <a:effectLst/>
                <a:latin typeface="Helvetica" pitchFamily="2" charset="0"/>
              </a:rPr>
              <a:t>/</a:t>
            </a:r>
            <a:r>
              <a:rPr lang="en-HK" sz="2400" dirty="0" err="1">
                <a:effectLst/>
                <a:latin typeface="Helvetica" pitchFamily="2" charset="0"/>
              </a:rPr>
              <a:t>en</a:t>
            </a:r>
            <a:r>
              <a:rPr lang="en-HK" sz="2400" dirty="0">
                <a:effectLst/>
                <a:latin typeface="Helvetica" pitchFamily="2" charset="0"/>
              </a:rPr>
              <a:t>/latest/controllers/sticks3.html</a:t>
            </a:r>
          </a:p>
          <a:p>
            <a:endParaRPr lang="en-HK" sz="2400" dirty="0">
              <a:effectLst/>
              <a:latin typeface="Helvetica" pitchFamily="2" charset="0"/>
            </a:endParaRPr>
          </a:p>
          <a:p>
            <a:r>
              <a:rPr lang="zh-TW" altLang="en-US" sz="2400" dirty="0">
                <a:effectLst/>
                <a:latin typeface="Helvetica" pitchFamily="2" charset="0"/>
              </a:rPr>
              <a:t>我需要製作一個「考反應的遊戲」</a:t>
            </a:r>
            <a:endParaRPr lang="en-US" altLang="zh-TW" sz="2400" dirty="0">
              <a:effectLst/>
              <a:latin typeface="Helvetica" pitchFamily="2" charset="0"/>
            </a:endParaRPr>
          </a:p>
          <a:p>
            <a:endParaRPr lang="en-US" altLang="zh-TW" sz="2400" dirty="0">
              <a:latin typeface="Helvetica" pitchFamily="2" charset="0"/>
            </a:endParaRPr>
          </a:p>
          <a:p>
            <a:endParaRPr lang="en-US" altLang="zh-TW" sz="2400" dirty="0">
              <a:effectLst/>
              <a:latin typeface="Helvetica" pitchFamily="2" charset="0"/>
            </a:endParaRPr>
          </a:p>
          <a:p>
            <a:endParaRPr lang="en-US" altLang="zh-TW" sz="2400" dirty="0">
              <a:latin typeface="Helvetica" pitchFamily="2" charset="0"/>
            </a:endParaRPr>
          </a:p>
          <a:p>
            <a:endParaRPr lang="en-US" altLang="zh-TW" sz="2400" dirty="0">
              <a:latin typeface="Helvetica" pitchFamily="2" charset="0"/>
            </a:endParaRPr>
          </a:p>
          <a:p>
            <a:endParaRPr lang="en-US" altLang="zh-TW" sz="2400" dirty="0">
              <a:latin typeface="Helvetica" pitchFamily="2" charset="0"/>
            </a:endParaRPr>
          </a:p>
          <a:p>
            <a:endParaRPr lang="en-US" altLang="zh-TW" sz="2400" dirty="0">
              <a:latin typeface="Helvetica" pitchFamily="2" charset="0"/>
            </a:endParaRPr>
          </a:p>
          <a:p>
            <a:endParaRPr lang="en-US" altLang="zh-TW" sz="2400" dirty="0">
              <a:latin typeface="Helvetica" pitchFamily="2" charset="0"/>
            </a:endParaRPr>
          </a:p>
          <a:p>
            <a:endParaRPr lang="zh-TW" altLang="en-US" sz="2400" dirty="0">
              <a:effectLst/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21-two-buttons-v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22-deepseek-next-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24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m5sticks3-product-reference.png">
            <a:extLst>
              <a:ext uri="{FF2B5EF4-FFF2-40B4-BE49-F238E27FC236}">
                <a16:creationId xmlns:a16="http://schemas.microsoft.com/office/drawing/2014/main" id="{3360AE4D-5327-7993-A100-70F0AE913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435" y="2199502"/>
            <a:ext cx="1826329" cy="18263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9EEF45-A5AF-6454-F3EE-488A94EFC480}"/>
              </a:ext>
            </a:extLst>
          </p:cNvPr>
          <p:cNvSpPr txBox="1"/>
          <p:nvPr/>
        </p:nvSpPr>
        <p:spPr>
          <a:xfrm>
            <a:off x="9796435" y="4025831"/>
            <a:ext cx="23477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M3StickS3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EA5C42-5AAC-2687-87D3-87049B632B9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147"/>
          <a:stretch/>
        </p:blipFill>
        <p:spPr>
          <a:xfrm>
            <a:off x="2943140" y="2992810"/>
            <a:ext cx="6707487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25-qa-tha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3A5C"/>
                </a:solidFill>
              </a:defRPr>
            </a:pPr>
            <a:r>
              <a:t>課後 Feedback — 請掃 QR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555555"/>
                </a:solidFill>
              </a:defRPr>
            </a:pPr>
            <a:r>
              <a:t>STEAM 分享：M5StickS3 · 2026 年 6 月 22 日 · 約 3–5 分鐘</a:t>
            </a:r>
          </a:p>
        </p:txBody>
      </p:sp>
      <p:pic>
        <p:nvPicPr>
          <p:cNvPr id="4" name="Picture 3" descr="feedback-form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737360"/>
            <a:ext cx="384048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03520" y="1920240"/>
            <a:ext cx="6217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33333"/>
                </a:solidFill>
              </a:defRPr>
            </a:pPr>
            <a:r>
              <a:t>用手機掃描左邊 QR Code</a:t>
            </a:r>
          </a:p>
          <a:p>
            <a:pPr>
              <a:defRPr sz="2200" b="0">
                <a:solidFill>
                  <a:srgbClr val="333333"/>
                </a:solidFill>
              </a:defRPr>
            </a:pPr>
            <a:r>
              <a:t>填寫工作坊 feedback form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endParaRPr/>
          </a:p>
          <a:p>
            <a:pPr>
              <a:defRPr sz="2200" b="0">
                <a:solidFill>
                  <a:srgbClr val="333333"/>
                </a:solidFill>
              </a:defRPr>
            </a:pPr>
            <a:r>
              <a:t>或喺 Google Classroom</a:t>
            </a:r>
          </a:p>
          <a:p>
            <a:pPr>
              <a:defRPr sz="2200" b="0">
                <a:solidFill>
                  <a:srgbClr val="333333"/>
                </a:solidFill>
              </a:defRPr>
            </a:pPr>
            <a:r>
              <a:t>搵「課後 Feedback」連結</a:t>
            </a:r>
          </a:p>
          <a:p>
            <a:pPr>
              <a:defRPr sz="1600" b="0">
                <a:solidFill>
                  <a:srgbClr val="333333"/>
                </a:solidFill>
              </a:defRPr>
            </a:pPr>
            <a:endParaRPr/>
          </a:p>
          <a:p>
            <a:pPr>
              <a:defRPr sz="2400" b="1">
                <a:solidFill>
                  <a:srgbClr val="333333"/>
                </a:solidFill>
              </a:defRPr>
            </a:pPr>
            <a:r>
              <a:t>多謝各位同事！</a:t>
            </a:r>
          </a:p>
          <a:p>
            <a:pPr>
              <a:defRPr sz="1800" b="0">
                <a:solidFill>
                  <a:srgbClr val="333333"/>
                </a:solidFill>
              </a:defRPr>
            </a:pPr>
            <a:r>
              <a:t>有問題歡迎聯絡 Warren Chan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https://docs.google.com/forms/d/e/1FAIpQLSff43JQ-OeTZiGcfMKEM-Pyq_ByyzZ88Tekn4Y1kgGgcDYihw/viewform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</a:defRPr>
            </a:pPr>
            <a:r>
              <a:t>Want to Go Deeper?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 i="0">
                <a:solidFill>
                  <a:srgbClr val="2DD4BF"/>
                </a:solidFill>
              </a:defRPr>
            </a:pPr>
            <a:r>
              <a:t>My next workshop: Agentic AI for Educators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91640"/>
            <a:ext cx="3474720" cy="38404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2DD4BF"/>
                </a:solidFill>
              </a:defRPr>
            </a:pPr>
            <a:r>
              <a:t>① Chatbot</a:t>
            </a:r>
          </a:p>
          <a:p>
            <a:pPr algn="ctr">
              <a:defRPr sz="1400" b="0">
                <a:solidFill>
                  <a:srgbClr val="AABBCC"/>
                </a:solidFill>
              </a:defRPr>
            </a:pPr>
            <a:r>
              <a:t>今日已做 ✓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小智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</a:p>
          <a:p>
            <a:pPr algn="ctr">
              <a:defRPr sz="1500" b="0">
                <a:solidFill>
                  <a:srgbClr val="CCDDEE"/>
                </a:solidFill>
              </a:defRPr>
            </a:pPr>
            <a:r>
              <a:t>Ready-made AI</a:t>
            </a:r>
          </a:p>
          <a:p>
            <a:pPr algn="ctr">
              <a:defRPr sz="1500" b="0">
                <a:solidFill>
                  <a:srgbClr val="CCDDEE"/>
                </a:solidFill>
              </a:defRPr>
            </a:pPr>
            <a:r>
              <a:t>Use it in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22191" y="329184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0" i="0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4160520" y="1691640"/>
            <a:ext cx="3474720" cy="38404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F59E0B"/>
                </a:solidFill>
              </a:defRPr>
            </a:pPr>
            <a:r>
              <a:t>② Vibe Coding</a:t>
            </a:r>
          </a:p>
          <a:p>
            <a:pPr algn="ctr">
              <a:defRPr sz="1400" b="0">
                <a:solidFill>
                  <a:srgbClr val="AABBCC"/>
                </a:solidFill>
              </a:defRPr>
            </a:pPr>
            <a:r>
              <a:t>今日已做 ✓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Gemini + UIFlow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</a:p>
          <a:p>
            <a:pPr algn="ctr">
              <a:defRPr sz="1400" b="0">
                <a:solidFill>
                  <a:srgbClr val="CCDDEE"/>
                </a:solidFill>
              </a:defRPr>
            </a:pPr>
            <a:r>
              <a:t>Describe → AI codes</a:t>
            </a:r>
          </a:p>
          <a:p>
            <a:pPr algn="ctr">
              <a:defRPr sz="1400" b="0">
                <a:solidFill>
                  <a:srgbClr val="CCDDEE"/>
                </a:solidFill>
              </a:defRPr>
            </a:pPr>
            <a:r>
              <a:t>You review &amp;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2" y="329184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0" i="0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1691640"/>
            <a:ext cx="3749039" cy="3840480"/>
          </a:xfrm>
          <a:prstGeom prst="rect">
            <a:avLst/>
          </a:prstGeom>
          <a:solidFill>
            <a:srgbClr val="055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2DD4BF"/>
                </a:solidFill>
              </a:defRPr>
            </a:pPr>
            <a:r>
              <a:t>③ Agentic AI</a:t>
            </a:r>
          </a:p>
          <a:p>
            <a:pPr algn="ctr">
              <a:defRPr sz="1400" b="0">
                <a:solidFill>
                  <a:srgbClr val="2DD4BF"/>
                </a:solidFill>
              </a:defRPr>
            </a:pPr>
            <a:r>
              <a:t>下一步 →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Claude · Cursor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</a:p>
          <a:p>
            <a:pPr algn="ctr">
              <a:defRPr sz="1400" b="0">
                <a:solidFill>
                  <a:srgbClr val="CCDDEE"/>
                </a:solidFill>
              </a:defRPr>
            </a:pPr>
            <a:r>
              <a:t>Give a goal →</a:t>
            </a:r>
          </a:p>
          <a:p>
            <a:pPr algn="ctr">
              <a:defRPr sz="1400" b="0">
                <a:solidFill>
                  <a:srgbClr val="CCDDEE"/>
                </a:solidFill>
              </a:defRPr>
            </a:pPr>
            <a:r>
              <a:t>AI plans &amp; 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 i="1">
                <a:solidFill>
                  <a:srgbClr val="AABBCC"/>
                </a:solidFill>
              </a:defRPr>
            </a:pPr>
            <a:r>
              <a:t>業界已唔人手逐行寫 code — 你定目標，AI 計劃並執行。有興趣？歡迎聯絡 Warren Chan。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363</Words>
  <Application>Microsoft Macintosh PowerPoint</Application>
  <PresentationFormat>Widescreen</PresentationFormat>
  <Paragraphs>68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KA</cp:lastModifiedBy>
  <cp:revision>3</cp:revision>
  <dcterms:created xsi:type="dcterms:W3CDTF">2013-01-27T09:14:16Z</dcterms:created>
  <dcterms:modified xsi:type="dcterms:W3CDTF">2026-06-21T17:21:27Z</dcterms:modified>
  <cp:category/>
</cp:coreProperties>
</file>